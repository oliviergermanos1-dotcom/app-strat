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3.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4.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5.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6.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7.xml" ContentType="application/vnd.openxmlformats-officedocument.drawingml.chart+xml"/>
  <Override PartName="/ppt/charts/chart8.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9.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Types>
</file>

<file path=_rels/.rels><?xml version="1.0" encoding="UTF-8"?><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77" r:id="rId28"/>
    <p:sldId id="262" r:id="rId8"/>
    <p:sldId id="263" r:id="rId9"/>
    <p:sldId id="264" r:id="rId10"/>
    <p:sldId id="265" r:id="rId11"/>
    <p:sldId id="278" r:id="rId29"/>
    <p:sldId id="266" r:id="rId12"/>
    <p:sldId id="267" r:id="rId13"/>
    <p:sldId id="268" r:id="rId14"/>
    <p:sldId id="279" r:id="rId30"/>
    <p:sldId id="269" r:id="rId15"/>
    <p:sldId id="270" r:id="rId16"/>
    <p:sldId id="280" r:id="rId31"/>
    <p:sldId id="271" r:id="rId17"/>
    <p:sldId id="272" r:id="rId18"/>
    <p:sldId id="273" r:id="rId19"/>
    <p:sldId id="274" r:id="rId20"/>
    <p:sldId id="281" r:id="rId32"/>
    <p:sldId id="282" r:id="rId33"/>
    <p:sldId id="283" r:id="rId34"/>
    <p:sldId id="284" r:id="rId35"/>
    <p:sldId id="285" r:id="rId36"/>
    <p:sldId id="286" r:id="rId37"/>
    <p:sldId id="287" r:id="rId38"/>
    <p:sldId id="288" r:id="rId39"/>
    <p:sldId id="275" r:id="rId21"/>
    <p:sldId id="276"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7" d="100"/>
          <a:sy n="107" d="100"/>
        </p:scale>
        <p:origin x="636" y="10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s>
</file>

<file path=ppt/charts/_rels/chart1.xml.rels><?xml version="1.0" encoding="UTF-8"?><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0"/>
        <c:ser>
          <c:idx val="0"/>
          <c:order val="0"/>
          <c:tx>
            <c:strRef>
              <c:f>Sheet1!$B$1</c:f>
              <c:strCache>
                <c:ptCount val="1"/>
                <c:pt idx="0">
                  <c:v>Marché qualifié</c:v>
                </c:pt>
              </c:strCache>
            </c:strRef>
          </c:tx>
          <c:spPr>
            <a:solidFill>
              <a:srgbClr val="0A2240"/>
            </a:solidFill>
            <a:effectLst/>
          </c:spPr>
          <c:invertIfNegative val="0"/>
          <c:cat>
            <c:strRef>
              <c:f>Sheet1!$A$2:$A$6</c:f>
              <c:strCache>
                <c:ptCount val="5"/>
                <c:pt idx="0">
                  <c:v>Janv.</c:v>
                </c:pt>
                <c:pt idx="1">
                  <c:v>Févr.</c:v>
                </c:pt>
                <c:pt idx="2">
                  <c:v>Mars</c:v>
                </c:pt>
                <c:pt idx="3">
                  <c:v>Avr.</c:v>
                </c:pt>
                <c:pt idx="4">
                  <c:v>Mai</c:v>
                </c:pt>
              </c:strCache>
            </c:strRef>
          </c:cat>
          <c:val>
            <c:numRef>
              <c:f>Sheet1!$B$2:$B$6</c:f>
              <c:numCache>
                <c:formatCode>General</c:formatCode>
                <c:ptCount val="5"/>
                <c:pt idx="0">
                  <c:v>41912</c:v>
                </c:pt>
                <c:pt idx="1">
                  <c:v>37027</c:v>
                </c:pt>
                <c:pt idx="2">
                  <c:v>43965</c:v>
                </c:pt>
                <c:pt idx="3">
                  <c:v>38693</c:v>
                </c:pt>
                <c:pt idx="4">
                  <c:v>32392</c:v>
                </c:pt>
              </c:numCache>
            </c:numRef>
          </c:val>
          <c:extLst>
            <c:ext xmlns:c16="http://schemas.microsoft.com/office/drawing/2014/chart" uri="{C3380CC4-5D6E-409C-BE32-E72D297353CC}">
              <c16:uniqueId val="{00000000-89FF-4F7E-A4EC-4826F67E8EED}"/>
            </c:ext>
          </c:extLst>
        </c:ser>
        <c:ser>
          <c:idx val="1"/>
          <c:order val="1"/>
          <c:tx>
            <c:strRef>
              <c:f>Sheet1!$C$1</c:f>
              <c:strCache>
                <c:ptCount val="1"/>
                <c:pt idx="0">
                  <c:v>AGL</c:v>
                </c:pt>
              </c:strCache>
            </c:strRef>
          </c:tx>
          <c:spPr>
            <a:solidFill>
              <a:srgbClr val="C8A951"/>
            </a:solidFill>
            <a:effectLst/>
          </c:spPr>
          <c:invertIfNegative val="0"/>
          <c:cat>
            <c:strRef>
              <c:f>Sheet1!$A$2:$A$6</c:f>
              <c:strCache>
                <c:ptCount val="5"/>
                <c:pt idx="0">
                  <c:v>Janv.</c:v>
                </c:pt>
                <c:pt idx="1">
                  <c:v>Févr.</c:v>
                </c:pt>
                <c:pt idx="2">
                  <c:v>Mars</c:v>
                </c:pt>
                <c:pt idx="3">
                  <c:v>Avr.</c:v>
                </c:pt>
                <c:pt idx="4">
                  <c:v>Mai</c:v>
                </c:pt>
              </c:strCache>
            </c:strRef>
          </c:cat>
          <c:val>
            <c:numRef>
              <c:f>Sheet1!$C$2:$C$6</c:f>
              <c:numCache>
                <c:formatCode>General</c:formatCode>
                <c:ptCount val="5"/>
                <c:pt idx="0">
                  <c:v>3494</c:v>
                </c:pt>
                <c:pt idx="1">
                  <c:v>2541</c:v>
                </c:pt>
                <c:pt idx="2">
                  <c:v>3294</c:v>
                </c:pt>
                <c:pt idx="3">
                  <c:v>3275</c:v>
                </c:pt>
                <c:pt idx="4">
                  <c:v>2529</c:v>
                </c:pt>
              </c:numCache>
            </c:numRef>
          </c:val>
          <c:extLst>
            <c:ext xmlns:c16="http://schemas.microsoft.com/office/drawing/2014/chart" uri="{C3380CC4-5D6E-409C-BE32-E72D297353CC}">
              <c16:uniqueId val="{00000001-89FF-4F7E-A4EC-4826F67E8EED}"/>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pieChart>
        <c:varyColors val="1"/>
        <c:ser>
          <c:idx val="0"/>
          <c:order val="0"/>
          <c:tx>
            <c:strRef>
              <c:f>Sheet1!$B$1</c:f>
              <c:strCache>
                <c:ptCount val="1"/>
                <c:pt idx="0">
                  <c:v>TEU AGL</c:v>
                </c:pt>
              </c:strCache>
            </c:strRef>
          </c:tx>
          <c:spPr>
            <a:solidFill>
              <a:schemeClr val="accent1"/>
            </a:solidFill>
            <a:ln w="9525" cap="flat">
              <a:solidFill>
                <a:srgbClr val="F9F9F9"/>
              </a:solidFill>
              <a:prstDash val="solid"/>
              <a:round/>
            </a:ln>
            <a:effectLst/>
          </c:spPr>
          <c:dPt>
            <c:idx val="0"/>
            <c:bubble3D val="0"/>
            <c:spPr>
              <a:solidFill>
                <a:srgbClr val="0A2240"/>
              </a:solidFill>
              <a:effectLst/>
            </c:spPr>
            <c:extLst>
              <c:ext xmlns:c16="http://schemas.microsoft.com/office/drawing/2014/chart" uri="{C3380CC4-5D6E-409C-BE32-E72D297353CC}">
                <c16:uniqueId val="{00000001-189A-41D6-97B4-9036EDC549ED}"/>
              </c:ext>
            </c:extLst>
          </c:dPt>
          <c:dPt>
            <c:idx val="1"/>
            <c:bubble3D val="0"/>
            <c:spPr>
              <a:solidFill>
                <a:srgbClr val="C8A951"/>
              </a:solidFill>
              <a:effectLst/>
            </c:spPr>
            <c:extLst>
              <c:ext xmlns:c16="http://schemas.microsoft.com/office/drawing/2014/chart" uri="{C3380CC4-5D6E-409C-BE32-E72D297353CC}">
                <c16:uniqueId val="{00000003-189A-41D6-97B4-9036EDC549ED}"/>
              </c:ext>
            </c:extLst>
          </c:dPt>
          <c:dPt>
            <c:idx val="2"/>
            <c:bubble3D val="0"/>
            <c:spPr>
              <a:solidFill>
                <a:srgbClr val="1E40AF"/>
              </a:solidFill>
              <a:effectLst/>
            </c:spPr>
            <c:extLst>
              <c:ext xmlns:c16="http://schemas.microsoft.com/office/drawing/2014/chart" uri="{C3380CC4-5D6E-409C-BE32-E72D297353CC}">
                <c16:uniqueId val="{00000005-189A-41D6-97B4-9036EDC549ED}"/>
              </c:ext>
            </c:extLst>
          </c:dPt>
          <c:dPt>
            <c:idx val="3"/>
            <c:bubble3D val="0"/>
            <c:spPr>
              <a:solidFill>
                <a:srgbClr val="16A34A"/>
              </a:solidFill>
              <a:effectLst/>
            </c:spPr>
            <c:extLst>
              <c:ext xmlns:c16="http://schemas.microsoft.com/office/drawing/2014/chart" uri="{C3380CC4-5D6E-409C-BE32-E72D297353CC}">
                <c16:uniqueId val="{00000007-189A-41D6-97B4-9036EDC549ED}"/>
              </c:ext>
            </c:extLst>
          </c:dPt>
          <c:dPt>
            <c:idx val="4"/>
            <c:bubble3D val="0"/>
            <c:spPr>
              <a:solidFill>
                <a:srgbClr val="0891B2"/>
              </a:solidFill>
              <a:effectLst/>
            </c:spPr>
            <c:extLst>
              <c:ext xmlns:c16="http://schemas.microsoft.com/office/drawing/2014/chart" uri="{C3380CC4-5D6E-409C-BE32-E72D297353CC}">
                <c16:uniqueId val="{00000009-189A-41D6-97B4-9036EDC549ED}"/>
              </c:ext>
            </c:extLst>
          </c:dPt>
          <c:dPt>
            <c:idx val="5"/>
            <c:bubble3D val="0"/>
            <c:spPr>
              <a:solidFill>
                <a:srgbClr val="EA580C"/>
              </a:solidFill>
              <a:effectLst/>
            </c:spPr>
            <c:extLst>
              <c:ext xmlns:c16="http://schemas.microsoft.com/office/drawing/2014/chart" uri="{C3380CC4-5D6E-409C-BE32-E72D297353CC}">
                <c16:uniqueId val="{0000000B-189A-41D6-97B4-9036EDC549ED}"/>
              </c:ext>
            </c:extLst>
          </c:dPt>
          <c:dPt>
            <c:idx val="6"/>
            <c:bubble3D val="0"/>
            <c:spPr>
              <a:solidFill>
                <a:srgbClr val="DC2626"/>
              </a:solidFill>
              <a:effectLst/>
            </c:spPr>
            <c:extLst>
              <c:ext xmlns:c16="http://schemas.microsoft.com/office/drawing/2014/chart" uri="{C3380CC4-5D6E-409C-BE32-E72D297353CC}">
                <c16:uniqueId val="{0000000D-189A-41D6-97B4-9036EDC549ED}"/>
              </c:ext>
            </c:extLst>
          </c:dPt>
          <c:dPt>
            <c:idx val="7"/>
            <c:bubble3D val="0"/>
            <c:spPr>
              <a:solidFill>
                <a:srgbClr val="64748B"/>
              </a:solidFill>
              <a:effectLst/>
            </c:spPr>
            <c:extLst>
              <c:ext xmlns:c16="http://schemas.microsoft.com/office/drawing/2014/chart" uri="{C3380CC4-5D6E-409C-BE32-E72D297353CC}">
                <c16:uniqueId val="{0000000F-189A-41D6-97B4-9036EDC549ED}"/>
              </c:ext>
            </c:extLst>
          </c:dPt>
          <c:dPt>
            <c:idx val="8"/>
            <c:bubble3D val="0"/>
            <c:spPr>
              <a:solidFill>
                <a:srgbClr val="CBD5E1"/>
              </a:solidFill>
              <a:effectLst/>
            </c:spPr>
            <c:extLst>
              <c:ext xmlns:c16="http://schemas.microsoft.com/office/drawing/2014/chart" uri="{C3380CC4-5D6E-409C-BE32-E72D297353CC}">
                <c16:uniqueId val="{00000011-189A-41D6-97B4-9036EDC549ED}"/>
              </c:ext>
            </c:extLst>
          </c:dPt>
          <c:dLbls>
            <c:dLbl>
              <c:idx val="0"/>
              <c:numFmt formatCode="0%" sourceLinked="0"/>
              <c:spPr/>
              <c:txPr>
                <a:bodyPr/>
                <a:lstStyle/>
                <a:p>
                  <a:pPr>
                    <a:defRPr sz="9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189A-41D6-97B4-9036EDC549ED}"/>
                </c:ext>
              </c:extLst>
            </c:dLbl>
            <c:dLbl>
              <c:idx val="1"/>
              <c:numFmt formatCode="0%" sourceLinked="0"/>
              <c:spPr/>
              <c:txPr>
                <a:bodyPr/>
                <a:lstStyle/>
                <a:p>
                  <a:pPr>
                    <a:defRPr sz="9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189A-41D6-97B4-9036EDC549ED}"/>
                </c:ext>
              </c:extLst>
            </c:dLbl>
            <c:dLbl>
              <c:idx val="2"/>
              <c:numFmt formatCode="0%" sourceLinked="0"/>
              <c:spPr/>
              <c:txPr>
                <a:bodyPr/>
                <a:lstStyle/>
                <a:p>
                  <a:pPr>
                    <a:defRPr sz="9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189A-41D6-97B4-9036EDC549ED}"/>
                </c:ext>
              </c:extLst>
            </c:dLbl>
            <c:dLbl>
              <c:idx val="3"/>
              <c:numFmt formatCode="0%" sourceLinked="0"/>
              <c:spPr/>
              <c:txPr>
                <a:bodyPr/>
                <a:lstStyle/>
                <a:p>
                  <a:pPr>
                    <a:defRPr sz="9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189A-41D6-97B4-9036EDC549ED}"/>
                </c:ext>
              </c:extLst>
            </c:dLbl>
            <c:dLbl>
              <c:idx val="4"/>
              <c:numFmt formatCode="0%" sourceLinked="0"/>
              <c:spPr/>
              <c:txPr>
                <a:bodyPr/>
                <a:lstStyle/>
                <a:p>
                  <a:pPr>
                    <a:defRPr sz="9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9-189A-41D6-97B4-9036EDC549ED}"/>
                </c:ext>
              </c:extLst>
            </c:dLbl>
            <c:dLbl>
              <c:idx val="5"/>
              <c:numFmt formatCode="0%" sourceLinked="0"/>
              <c:spPr/>
              <c:txPr>
                <a:bodyPr/>
                <a:lstStyle/>
                <a:p>
                  <a:pPr>
                    <a:defRPr sz="9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B-189A-41D6-97B4-9036EDC549ED}"/>
                </c:ext>
              </c:extLst>
            </c:dLbl>
            <c:dLbl>
              <c:idx val="6"/>
              <c:numFmt formatCode="0%" sourceLinked="0"/>
              <c:spPr/>
              <c:txPr>
                <a:bodyPr/>
                <a:lstStyle/>
                <a:p>
                  <a:pPr>
                    <a:defRPr sz="9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D-189A-41D6-97B4-9036EDC549ED}"/>
                </c:ext>
              </c:extLst>
            </c:dLbl>
            <c:dLbl>
              <c:idx val="7"/>
              <c:numFmt formatCode="0%" sourceLinked="0"/>
              <c:spPr/>
              <c:txPr>
                <a:bodyPr/>
                <a:lstStyle/>
                <a:p>
                  <a:pPr>
                    <a:defRPr sz="9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F-189A-41D6-97B4-9036EDC549ED}"/>
                </c:ext>
              </c:extLst>
            </c:dLbl>
            <c:dLbl>
              <c:idx val="8"/>
              <c:numFmt formatCode="0%" sourceLinked="0"/>
              <c:spPr/>
              <c:txPr>
                <a:bodyPr/>
                <a:lstStyle/>
                <a:p>
                  <a:pPr>
                    <a:defRPr sz="9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11-189A-41D6-97B4-9036EDC549ED}"/>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Sheet1!$A$2:$A$10</c:f>
              <c:strCache>
                <c:ptCount val="9"/>
                <c:pt idx="0">
                  <c:v>Mat. Miniers</c:v>
                </c:pt>
                <c:pt idx="1">
                  <c:v>Emballages</c:v>
                </c:pt>
                <c:pt idx="2">
                  <c:v>Mat. Construction</c:v>
                </c:pt>
                <c:pt idx="3">
                  <c:v>Médicaments</c:v>
                </c:pt>
                <c:pt idx="4">
                  <c:v>PVC Résine</c:v>
                </c:pt>
                <c:pt idx="5">
                  <c:v>Papier</c:v>
                </c:pt>
                <c:pt idx="6">
                  <c:v>Cigarettes</c:v>
                </c:pt>
                <c:pt idx="7">
                  <c:v>Polyéthylène</c:v>
                </c:pt>
                <c:pt idx="8">
                  <c:v>Autres</c:v>
                </c:pt>
              </c:strCache>
            </c:strRef>
          </c:cat>
          <c:val>
            <c:numRef>
              <c:f>Sheet1!$B$2:$B$10</c:f>
              <c:numCache>
                <c:formatCode>General</c:formatCode>
                <c:ptCount val="9"/>
                <c:pt idx="0">
                  <c:v>1652</c:v>
                </c:pt>
                <c:pt idx="1">
                  <c:v>1046</c:v>
                </c:pt>
                <c:pt idx="2">
                  <c:v>972</c:v>
                </c:pt>
                <c:pt idx="3">
                  <c:v>972</c:v>
                </c:pt>
                <c:pt idx="4">
                  <c:v>933</c:v>
                </c:pt>
                <c:pt idx="5">
                  <c:v>771</c:v>
                </c:pt>
                <c:pt idx="6">
                  <c:v>665</c:v>
                </c:pt>
                <c:pt idx="7">
                  <c:v>574</c:v>
                </c:pt>
                <c:pt idx="8">
                  <c:v>2541</c:v>
                </c:pt>
              </c:numCache>
            </c:numRef>
          </c:val>
          <c:extLst>
            <c:ext xmlns:c16="http://schemas.microsoft.com/office/drawing/2014/chart" uri="{C3380CC4-5D6E-409C-BE32-E72D297353CC}">
              <c16:uniqueId val="{00000012-189A-41D6-97B4-9036EDC549ED}"/>
            </c:ext>
          </c:extLst>
        </c:ser>
        <c:dLbls>
          <c:showLegendKey val="0"/>
          <c:showVal val="0"/>
          <c:showCatName val="0"/>
          <c:showSerName val="0"/>
          <c:showPercent val="0"/>
          <c:showBubbleSize val="0"/>
          <c:showLeaderLines val="0"/>
        </c:dLbls>
        <c:firstSliceAng val="0"/>
      </c:pieChart>
      <c:spPr>
        <a:noFill/>
        <a:ln>
          <a:noFill/>
        </a:ln>
        <a:effectLst/>
      </c:spPr>
    </c:plotArea>
    <c:legend>
      <c:legendPos val="r"/>
      <c:overlay val="0"/>
      <c:txPr>
        <a:bodyPr/>
        <a:lstStyle/>
        <a:p>
          <a:pPr>
            <a:defRPr sz="9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0"/>
        <c:ser>
          <c:idx val="0"/>
          <c:order val="0"/>
          <c:tx>
            <c:strRef>
              <c:f>Sheet1!$B$1</c:f>
              <c:strCache>
                <c:ptCount val="1"/>
                <c:pt idx="0">
                  <c:v>Marché qualifié</c:v>
                </c:pt>
              </c:strCache>
            </c:strRef>
          </c:tx>
          <c:spPr>
            <a:solidFill>
              <a:srgbClr val="0A2240"/>
            </a:solidFill>
            <a:effectLst/>
          </c:spPr>
          <c:invertIfNegative val="0"/>
          <c:cat>
            <c:strRef>
              <c:f>Sheet1!$A$2:$A$6</c:f>
              <c:strCache>
                <c:ptCount val="5"/>
                <c:pt idx="0">
                  <c:v>Janv.</c:v>
                </c:pt>
                <c:pt idx="1">
                  <c:v>Févr.</c:v>
                </c:pt>
                <c:pt idx="2">
                  <c:v>Mars</c:v>
                </c:pt>
                <c:pt idx="3">
                  <c:v>Avr.</c:v>
                </c:pt>
                <c:pt idx="4">
                  <c:v>Mai</c:v>
                </c:pt>
              </c:strCache>
            </c:strRef>
          </c:cat>
          <c:val>
            <c:numRef>
              <c:f>Sheet1!$B$2:$B$6</c:f>
              <c:numCache>
                <c:formatCode>General</c:formatCode>
                <c:ptCount val="5"/>
                <c:pt idx="0">
                  <c:v>28586</c:v>
                </c:pt>
                <c:pt idx="1">
                  <c:v>26924</c:v>
                </c:pt>
                <c:pt idx="2">
                  <c:v>28125</c:v>
                </c:pt>
                <c:pt idx="3">
                  <c:v>31227</c:v>
                </c:pt>
                <c:pt idx="4">
                  <c:v>22421</c:v>
                </c:pt>
              </c:numCache>
            </c:numRef>
          </c:val>
          <c:extLst>
            <c:ext xmlns:c16="http://schemas.microsoft.com/office/drawing/2014/chart" uri="{C3380CC4-5D6E-409C-BE32-E72D297353CC}">
              <c16:uniqueId val="{00000000-29EC-4635-9BAE-97A7068BF1AA}"/>
            </c:ext>
          </c:extLst>
        </c:ser>
        <c:ser>
          <c:idx val="1"/>
          <c:order val="1"/>
          <c:tx>
            <c:strRef>
              <c:f>Sheet1!$C$1</c:f>
              <c:strCache>
                <c:ptCount val="1"/>
                <c:pt idx="0">
                  <c:v>AGL</c:v>
                </c:pt>
              </c:strCache>
            </c:strRef>
          </c:tx>
          <c:spPr>
            <a:solidFill>
              <a:srgbClr val="C8A951"/>
            </a:solidFill>
            <a:effectLst/>
          </c:spPr>
          <c:invertIfNegative val="0"/>
          <c:cat>
            <c:strRef>
              <c:f>Sheet1!$A$2:$A$6</c:f>
              <c:strCache>
                <c:ptCount val="5"/>
                <c:pt idx="0">
                  <c:v>Janv.</c:v>
                </c:pt>
                <c:pt idx="1">
                  <c:v>Févr.</c:v>
                </c:pt>
                <c:pt idx="2">
                  <c:v>Mars</c:v>
                </c:pt>
                <c:pt idx="3">
                  <c:v>Avr.</c:v>
                </c:pt>
                <c:pt idx="4">
                  <c:v>Mai</c:v>
                </c:pt>
              </c:strCache>
            </c:strRef>
          </c:cat>
          <c:val>
            <c:numRef>
              <c:f>Sheet1!$C$2:$C$6</c:f>
              <c:numCache>
                <c:formatCode>General</c:formatCode>
                <c:ptCount val="5"/>
                <c:pt idx="0">
                  <c:v>8672</c:v>
                </c:pt>
                <c:pt idx="1">
                  <c:v>6798</c:v>
                </c:pt>
                <c:pt idx="2">
                  <c:v>8109</c:v>
                </c:pt>
                <c:pt idx="3">
                  <c:v>7897</c:v>
                </c:pt>
                <c:pt idx="4">
                  <c:v>4496</c:v>
                </c:pt>
              </c:numCache>
            </c:numRef>
          </c:val>
          <c:extLst>
            <c:ext xmlns:c16="http://schemas.microsoft.com/office/drawing/2014/chart" uri="{C3380CC4-5D6E-409C-BE32-E72D297353CC}">
              <c16:uniqueId val="{00000001-29EC-4635-9BAE-97A7068BF1AA}"/>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pieChart>
        <c:varyColors val="1"/>
        <c:ser>
          <c:idx val="0"/>
          <c:order val="0"/>
          <c:tx>
            <c:strRef>
              <c:f>Sheet1!$B$1</c:f>
              <c:strCache>
                <c:ptCount val="1"/>
                <c:pt idx="0">
                  <c:v>TEU AGL</c:v>
                </c:pt>
              </c:strCache>
            </c:strRef>
          </c:tx>
          <c:spPr>
            <a:solidFill>
              <a:schemeClr val="accent1"/>
            </a:solidFill>
            <a:ln w="9525" cap="flat">
              <a:solidFill>
                <a:srgbClr val="F9F9F9"/>
              </a:solidFill>
              <a:prstDash val="solid"/>
              <a:round/>
            </a:ln>
            <a:effectLst/>
          </c:spPr>
          <c:dPt>
            <c:idx val="0"/>
            <c:bubble3D val="0"/>
            <c:spPr>
              <a:solidFill>
                <a:srgbClr val="0A2240"/>
              </a:solidFill>
              <a:effectLst/>
            </c:spPr>
            <c:extLst>
              <c:ext xmlns:c16="http://schemas.microsoft.com/office/drawing/2014/chart" uri="{C3380CC4-5D6E-409C-BE32-E72D297353CC}">
                <c16:uniqueId val="{00000001-0E26-4AA3-8E79-CB872187E7B1}"/>
              </c:ext>
            </c:extLst>
          </c:dPt>
          <c:dPt>
            <c:idx val="1"/>
            <c:bubble3D val="0"/>
            <c:spPr>
              <a:solidFill>
                <a:srgbClr val="C8A951"/>
              </a:solidFill>
              <a:effectLst/>
            </c:spPr>
            <c:extLst>
              <c:ext xmlns:c16="http://schemas.microsoft.com/office/drawing/2014/chart" uri="{C3380CC4-5D6E-409C-BE32-E72D297353CC}">
                <c16:uniqueId val="{00000003-0E26-4AA3-8E79-CB872187E7B1}"/>
              </c:ext>
            </c:extLst>
          </c:dPt>
          <c:dPt>
            <c:idx val="2"/>
            <c:bubble3D val="0"/>
            <c:spPr>
              <a:solidFill>
                <a:srgbClr val="1E40AF"/>
              </a:solidFill>
              <a:effectLst/>
            </c:spPr>
            <c:extLst>
              <c:ext xmlns:c16="http://schemas.microsoft.com/office/drawing/2014/chart" uri="{C3380CC4-5D6E-409C-BE32-E72D297353CC}">
                <c16:uniqueId val="{00000005-0E26-4AA3-8E79-CB872187E7B1}"/>
              </c:ext>
            </c:extLst>
          </c:dPt>
          <c:dPt>
            <c:idx val="3"/>
            <c:bubble3D val="0"/>
            <c:spPr>
              <a:solidFill>
                <a:srgbClr val="16A34A"/>
              </a:solidFill>
              <a:effectLst/>
            </c:spPr>
            <c:extLst>
              <c:ext xmlns:c16="http://schemas.microsoft.com/office/drawing/2014/chart" uri="{C3380CC4-5D6E-409C-BE32-E72D297353CC}">
                <c16:uniqueId val="{00000007-0E26-4AA3-8E79-CB872187E7B1}"/>
              </c:ext>
            </c:extLst>
          </c:dPt>
          <c:dPt>
            <c:idx val="4"/>
            <c:bubble3D val="0"/>
            <c:spPr>
              <a:solidFill>
                <a:srgbClr val="EA580C"/>
              </a:solidFill>
              <a:effectLst/>
            </c:spPr>
            <c:extLst>
              <c:ext xmlns:c16="http://schemas.microsoft.com/office/drawing/2014/chart" uri="{C3380CC4-5D6E-409C-BE32-E72D297353CC}">
                <c16:uniqueId val="{00000009-0E26-4AA3-8E79-CB872187E7B1}"/>
              </c:ext>
            </c:extLst>
          </c:dPt>
          <c:dPt>
            <c:idx val="5"/>
            <c:bubble3D val="0"/>
            <c:spPr>
              <a:solidFill>
                <a:srgbClr val="DC2626"/>
              </a:solidFill>
              <a:effectLst/>
            </c:spPr>
            <c:extLst>
              <c:ext xmlns:c16="http://schemas.microsoft.com/office/drawing/2014/chart" uri="{C3380CC4-5D6E-409C-BE32-E72D297353CC}">
                <c16:uniqueId val="{0000000B-0E26-4AA3-8E79-CB872187E7B1}"/>
              </c:ext>
            </c:extLst>
          </c:dPt>
          <c:dPt>
            <c:idx val="6"/>
            <c:bubble3D val="0"/>
            <c:spPr>
              <a:solidFill>
                <a:srgbClr val="0891B2"/>
              </a:solidFill>
              <a:effectLst/>
            </c:spPr>
            <c:extLst>
              <c:ext xmlns:c16="http://schemas.microsoft.com/office/drawing/2014/chart" uri="{C3380CC4-5D6E-409C-BE32-E72D297353CC}">
                <c16:uniqueId val="{0000000D-0E26-4AA3-8E79-CB872187E7B1}"/>
              </c:ext>
            </c:extLst>
          </c:dPt>
          <c:dPt>
            <c:idx val="7"/>
            <c:bubble3D val="0"/>
            <c:spPr>
              <a:solidFill>
                <a:srgbClr val="94A3B8"/>
              </a:solidFill>
              <a:effectLst/>
            </c:spPr>
            <c:extLst>
              <c:ext xmlns:c16="http://schemas.microsoft.com/office/drawing/2014/chart" uri="{C3380CC4-5D6E-409C-BE32-E72D297353CC}">
                <c16:uniqueId val="{0000000F-0E26-4AA3-8E79-CB872187E7B1}"/>
              </c:ext>
            </c:extLst>
          </c:dPt>
          <c:dLbls>
            <c:dLbl>
              <c:idx val="0"/>
              <c:numFmt formatCode="0%" sourceLinked="0"/>
              <c:spPr/>
              <c:txPr>
                <a:bodyPr/>
                <a:lstStyle/>
                <a:p>
                  <a:pPr>
                    <a:defRPr sz="9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0E26-4AA3-8E79-CB872187E7B1}"/>
                </c:ext>
              </c:extLst>
            </c:dLbl>
            <c:dLbl>
              <c:idx val="1"/>
              <c:numFmt formatCode="0%" sourceLinked="0"/>
              <c:spPr/>
              <c:txPr>
                <a:bodyPr/>
                <a:lstStyle/>
                <a:p>
                  <a:pPr>
                    <a:defRPr sz="9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0E26-4AA3-8E79-CB872187E7B1}"/>
                </c:ext>
              </c:extLst>
            </c:dLbl>
            <c:dLbl>
              <c:idx val="2"/>
              <c:numFmt formatCode="0%" sourceLinked="0"/>
              <c:spPr/>
              <c:txPr>
                <a:bodyPr/>
                <a:lstStyle/>
                <a:p>
                  <a:pPr>
                    <a:defRPr sz="9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0E26-4AA3-8E79-CB872187E7B1}"/>
                </c:ext>
              </c:extLst>
            </c:dLbl>
            <c:dLbl>
              <c:idx val="3"/>
              <c:numFmt formatCode="0%" sourceLinked="0"/>
              <c:spPr/>
              <c:txPr>
                <a:bodyPr/>
                <a:lstStyle/>
                <a:p>
                  <a:pPr>
                    <a:defRPr sz="9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0E26-4AA3-8E79-CB872187E7B1}"/>
                </c:ext>
              </c:extLst>
            </c:dLbl>
            <c:dLbl>
              <c:idx val="4"/>
              <c:numFmt formatCode="0%" sourceLinked="0"/>
              <c:spPr/>
              <c:txPr>
                <a:bodyPr/>
                <a:lstStyle/>
                <a:p>
                  <a:pPr>
                    <a:defRPr sz="9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9-0E26-4AA3-8E79-CB872187E7B1}"/>
                </c:ext>
              </c:extLst>
            </c:dLbl>
            <c:dLbl>
              <c:idx val="5"/>
              <c:numFmt formatCode="0%" sourceLinked="0"/>
              <c:spPr/>
              <c:txPr>
                <a:bodyPr/>
                <a:lstStyle/>
                <a:p>
                  <a:pPr>
                    <a:defRPr sz="9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B-0E26-4AA3-8E79-CB872187E7B1}"/>
                </c:ext>
              </c:extLst>
            </c:dLbl>
            <c:dLbl>
              <c:idx val="6"/>
              <c:numFmt formatCode="0%" sourceLinked="0"/>
              <c:spPr/>
              <c:txPr>
                <a:bodyPr/>
                <a:lstStyle/>
                <a:p>
                  <a:pPr>
                    <a:defRPr sz="9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D-0E26-4AA3-8E79-CB872187E7B1}"/>
                </c:ext>
              </c:extLst>
            </c:dLbl>
            <c:dLbl>
              <c:idx val="7"/>
              <c:numFmt formatCode="0%" sourceLinked="0"/>
              <c:spPr/>
              <c:txPr>
                <a:bodyPr/>
                <a:lstStyle/>
                <a:p>
                  <a:pPr>
                    <a:defRPr sz="9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F-0E26-4AA3-8E79-CB872187E7B1}"/>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Sheet1!$A$2:$A$9</c:f>
              <c:strCache>
                <c:ptCount val="8"/>
                <c:pt idx="0">
                  <c:v>Cacao</c:v>
                </c:pt>
                <c:pt idx="1">
                  <c:v>Caoutchouc</c:v>
                </c:pt>
                <c:pt idx="2">
                  <c:v>Dérivés Cacao</c:v>
                </c:pt>
                <c:pt idx="3">
                  <c:v>Bananes</c:v>
                </c:pt>
                <c:pt idx="4">
                  <c:v>Coton</c:v>
                </c:pt>
                <c:pt idx="5">
                  <c:v>Noix Cajou</c:v>
                </c:pt>
                <c:pt idx="6">
                  <c:v>Mangue</c:v>
                </c:pt>
                <c:pt idx="7">
                  <c:v>Autres</c:v>
                </c:pt>
              </c:strCache>
            </c:strRef>
          </c:cat>
          <c:val>
            <c:numRef>
              <c:f>Sheet1!$B$2:$B$9</c:f>
              <c:numCache>
                <c:formatCode>General</c:formatCode>
                <c:ptCount val="8"/>
                <c:pt idx="0">
                  <c:v>14980</c:v>
                </c:pt>
                <c:pt idx="1">
                  <c:v>6429</c:v>
                </c:pt>
                <c:pt idx="2">
                  <c:v>5574</c:v>
                </c:pt>
                <c:pt idx="3">
                  <c:v>5110</c:v>
                </c:pt>
                <c:pt idx="4">
                  <c:v>1212</c:v>
                </c:pt>
                <c:pt idx="5">
                  <c:v>704</c:v>
                </c:pt>
                <c:pt idx="6">
                  <c:v>502</c:v>
                </c:pt>
                <c:pt idx="7">
                  <c:v>1461</c:v>
                </c:pt>
              </c:numCache>
            </c:numRef>
          </c:val>
          <c:extLst>
            <c:ext xmlns:c16="http://schemas.microsoft.com/office/drawing/2014/chart" uri="{C3380CC4-5D6E-409C-BE32-E72D297353CC}">
              <c16:uniqueId val="{00000010-0E26-4AA3-8E79-CB872187E7B1}"/>
            </c:ext>
          </c:extLst>
        </c:ser>
        <c:dLbls>
          <c:showLegendKey val="0"/>
          <c:showVal val="0"/>
          <c:showCatName val="0"/>
          <c:showSerName val="0"/>
          <c:showPercent val="0"/>
          <c:showBubbleSize val="0"/>
          <c:showLeaderLines val="0"/>
        </c:dLbls>
        <c:firstSliceAng val="0"/>
      </c:pieChart>
      <c:spPr>
        <a:noFill/>
        <a:ln>
          <a:noFill/>
        </a:ln>
        <a:effectLst/>
      </c:spPr>
    </c:plotArea>
    <c:legend>
      <c:legendPos val="r"/>
      <c:overlay val="0"/>
      <c:txPr>
        <a:bodyPr/>
        <a:lstStyle/>
        <a:p>
          <a:pPr>
            <a:defRPr sz="9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0"/>
        <c:ser>
          <c:idx val="0"/>
          <c:order val="0"/>
          <c:tx>
            <c:strRef>
              <c:f>Sheet1!$B$1</c:f>
              <c:strCache>
                <c:ptCount val="1"/>
                <c:pt idx="0">
                  <c:v>Marché qualifié</c:v>
                </c:pt>
              </c:strCache>
            </c:strRef>
          </c:tx>
          <c:spPr>
            <a:solidFill>
              <a:srgbClr val="0A2240"/>
            </a:solidFill>
            <a:effectLst/>
          </c:spPr>
          <c:invertIfNegative val="0"/>
          <c:cat>
            <c:strRef>
              <c:f>Sheet1!$A$2:$A$6</c:f>
              <c:strCache>
                <c:ptCount val="5"/>
                <c:pt idx="0">
                  <c:v>Janv.</c:v>
                </c:pt>
                <c:pt idx="1">
                  <c:v>Févr.</c:v>
                </c:pt>
                <c:pt idx="2">
                  <c:v>Mars</c:v>
                </c:pt>
                <c:pt idx="3">
                  <c:v>Avr.</c:v>
                </c:pt>
                <c:pt idx="4">
                  <c:v>Mai</c:v>
                </c:pt>
              </c:strCache>
            </c:strRef>
          </c:cat>
          <c:val>
            <c:numRef>
              <c:f>Sheet1!$B$2:$B$6</c:f>
              <c:numCache>
                <c:formatCode>General</c:formatCode>
                <c:ptCount val="5"/>
                <c:pt idx="0">
                  <c:v>6318</c:v>
                </c:pt>
                <c:pt idx="1">
                  <c:v>5280</c:v>
                </c:pt>
                <c:pt idx="2">
                  <c:v>5769</c:v>
                </c:pt>
                <c:pt idx="3">
                  <c:v>6138</c:v>
                </c:pt>
                <c:pt idx="4">
                  <c:v>4952</c:v>
                </c:pt>
              </c:numCache>
            </c:numRef>
          </c:val>
          <c:extLst>
            <c:ext xmlns:c16="http://schemas.microsoft.com/office/drawing/2014/chart" uri="{C3380CC4-5D6E-409C-BE32-E72D297353CC}">
              <c16:uniqueId val="{00000000-6206-4E8D-BC49-0CC5151FC7BA}"/>
            </c:ext>
          </c:extLst>
        </c:ser>
        <c:ser>
          <c:idx val="1"/>
          <c:order val="1"/>
          <c:tx>
            <c:strRef>
              <c:f>Sheet1!$C$1</c:f>
              <c:strCache>
                <c:ptCount val="1"/>
                <c:pt idx="0">
                  <c:v>AGL</c:v>
                </c:pt>
              </c:strCache>
            </c:strRef>
          </c:tx>
          <c:spPr>
            <a:solidFill>
              <a:srgbClr val="C8A951"/>
            </a:solidFill>
            <a:effectLst/>
          </c:spPr>
          <c:invertIfNegative val="0"/>
          <c:cat>
            <c:strRef>
              <c:f>Sheet1!$A$2:$A$6</c:f>
              <c:strCache>
                <c:ptCount val="5"/>
                <c:pt idx="0">
                  <c:v>Janv.</c:v>
                </c:pt>
                <c:pt idx="1">
                  <c:v>Févr.</c:v>
                </c:pt>
                <c:pt idx="2">
                  <c:v>Mars</c:v>
                </c:pt>
                <c:pt idx="3">
                  <c:v>Avr.</c:v>
                </c:pt>
                <c:pt idx="4">
                  <c:v>Mai</c:v>
                </c:pt>
              </c:strCache>
            </c:strRef>
          </c:cat>
          <c:val>
            <c:numRef>
              <c:f>Sheet1!$C$2:$C$6</c:f>
              <c:numCache>
                <c:formatCode>General</c:formatCode>
                <c:ptCount val="5"/>
                <c:pt idx="0">
                  <c:v>1034</c:v>
                </c:pt>
                <c:pt idx="1">
                  <c:v>544</c:v>
                </c:pt>
                <c:pt idx="2">
                  <c:v>442</c:v>
                </c:pt>
                <c:pt idx="3">
                  <c:v>659</c:v>
                </c:pt>
                <c:pt idx="4">
                  <c:v>535</c:v>
                </c:pt>
              </c:numCache>
            </c:numRef>
          </c:val>
          <c:extLst>
            <c:ext xmlns:c16="http://schemas.microsoft.com/office/drawing/2014/chart" uri="{C3380CC4-5D6E-409C-BE32-E72D297353CC}">
              <c16:uniqueId val="{00000001-6206-4E8D-BC49-0CC5151FC7BA}"/>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0"/>
        <c:ser>
          <c:idx val="0"/>
          <c:order val="0"/>
          <c:tx>
            <c:strRef>
              <c:f>Sheet1!$B$1</c:f>
              <c:strCache>
                <c:ptCount val="1"/>
                <c:pt idx="0">
                  <c:v>Marché total</c:v>
                </c:pt>
              </c:strCache>
            </c:strRef>
          </c:tx>
          <c:spPr>
            <a:solidFill>
              <a:srgbClr val="0A2240"/>
            </a:solidFill>
            <a:effectLst/>
          </c:spPr>
          <c:invertIfNegative val="0"/>
          <c:cat>
            <c:strRef>
              <c:f>Sheet1!$A$2:$A$6</c:f>
              <c:strCache>
                <c:ptCount val="5"/>
                <c:pt idx="0">
                  <c:v>Janv.</c:v>
                </c:pt>
                <c:pt idx="1">
                  <c:v>Févr.</c:v>
                </c:pt>
                <c:pt idx="2">
                  <c:v>Mars</c:v>
                </c:pt>
                <c:pt idx="3">
                  <c:v>Avr.</c:v>
                </c:pt>
                <c:pt idx="4">
                  <c:v>Mai</c:v>
                </c:pt>
              </c:strCache>
            </c:strRef>
          </c:cat>
          <c:val>
            <c:numRef>
              <c:f>Sheet1!$B$2:$B$6</c:f>
              <c:numCache>
                <c:formatCode>General</c:formatCode>
                <c:ptCount val="5"/>
                <c:pt idx="0">
                  <c:v>450</c:v>
                </c:pt>
                <c:pt idx="1">
                  <c:v>879</c:v>
                </c:pt>
                <c:pt idx="2">
                  <c:v>997</c:v>
                </c:pt>
                <c:pt idx="3">
                  <c:v>1210</c:v>
                </c:pt>
                <c:pt idx="4">
                  <c:v>758</c:v>
                </c:pt>
              </c:numCache>
            </c:numRef>
          </c:val>
          <c:extLst>
            <c:ext xmlns:c16="http://schemas.microsoft.com/office/drawing/2014/chart" uri="{C3380CC4-5D6E-409C-BE32-E72D297353CC}">
              <c16:uniqueId val="{00000000-2BA9-45D6-92D7-2C3D1ABCEBE7}"/>
            </c:ext>
          </c:extLst>
        </c:ser>
        <c:ser>
          <c:idx val="1"/>
          <c:order val="1"/>
          <c:tx>
            <c:strRef>
              <c:f>Sheet1!$C$1</c:f>
              <c:strCache>
                <c:ptCount val="1"/>
                <c:pt idx="0">
                  <c:v>AGL</c:v>
                </c:pt>
              </c:strCache>
            </c:strRef>
          </c:tx>
          <c:spPr>
            <a:solidFill>
              <a:srgbClr val="C8A951"/>
            </a:solidFill>
            <a:effectLst/>
          </c:spPr>
          <c:invertIfNegative val="0"/>
          <c:cat>
            <c:strRef>
              <c:f>Sheet1!$A$2:$A$6</c:f>
              <c:strCache>
                <c:ptCount val="5"/>
                <c:pt idx="0">
                  <c:v>Janv.</c:v>
                </c:pt>
                <c:pt idx="1">
                  <c:v>Févr.</c:v>
                </c:pt>
                <c:pt idx="2">
                  <c:v>Mars</c:v>
                </c:pt>
                <c:pt idx="3">
                  <c:v>Avr.</c:v>
                </c:pt>
                <c:pt idx="4">
                  <c:v>Mai</c:v>
                </c:pt>
              </c:strCache>
            </c:strRef>
          </c:cat>
          <c:val>
            <c:numRef>
              <c:f>Sheet1!$C$2:$C$6</c:f>
              <c:numCache>
                <c:formatCode>General</c:formatCode>
                <c:ptCount val="5"/>
                <c:pt idx="0">
                  <c:v>228</c:v>
                </c:pt>
                <c:pt idx="1">
                  <c:v>641</c:v>
                </c:pt>
                <c:pt idx="2">
                  <c:v>717</c:v>
                </c:pt>
                <c:pt idx="3">
                  <c:v>824</c:v>
                </c:pt>
                <c:pt idx="4">
                  <c:v>430</c:v>
                </c:pt>
              </c:numCache>
            </c:numRef>
          </c:val>
          <c:extLst>
            <c:ext xmlns:c16="http://schemas.microsoft.com/office/drawing/2014/chart" uri="{C3380CC4-5D6E-409C-BE32-E72D297353CC}">
              <c16:uniqueId val="{00000001-2BA9-45D6-92D7-2C3D1ABCEBE7}"/>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0"/>
        <c:ser>
          <c:idx val="0"/>
          <c:order val="0"/>
          <c:tx>
            <c:strRef>
              <c:f>Sheet1!$B$1</c:f>
              <c:strCache>
                <c:ptCount val="1"/>
                <c:pt idx="0">
                  <c:v>2025 (kg)</c:v>
                </c:pt>
              </c:strCache>
            </c:strRef>
          </c:tx>
          <c:spPr>
            <a:solidFill>
              <a:srgbClr val="94A3B8"/>
            </a:solidFill>
            <a:effectLst/>
          </c:spPr>
          <c:invertIfNegative val="0"/>
          <c:cat>
            <c:strRef>
              <c:f>Sheet1!$A$2:$A$6</c:f>
              <c:strCache>
                <c:ptCount val="5"/>
                <c:pt idx="0">
                  <c:v>Janv.</c:v>
                </c:pt>
                <c:pt idx="1">
                  <c:v>Févr.</c:v>
                </c:pt>
                <c:pt idx="2">
                  <c:v>Mars</c:v>
                </c:pt>
                <c:pt idx="3">
                  <c:v>Avr.</c:v>
                </c:pt>
                <c:pt idx="4">
                  <c:v>Mai</c:v>
                </c:pt>
              </c:strCache>
            </c:strRef>
          </c:cat>
          <c:val>
            <c:numRef>
              <c:f>Sheet1!$B$2:$B$6</c:f>
              <c:numCache>
                <c:formatCode>General</c:formatCode>
                <c:ptCount val="5"/>
                <c:pt idx="0">
                  <c:v>1123124</c:v>
                </c:pt>
                <c:pt idx="1">
                  <c:v>1019220</c:v>
                </c:pt>
                <c:pt idx="2">
                  <c:v>1056542</c:v>
                </c:pt>
                <c:pt idx="3">
                  <c:v>1521266</c:v>
                </c:pt>
                <c:pt idx="4">
                  <c:v>1297798</c:v>
                </c:pt>
              </c:numCache>
            </c:numRef>
          </c:val>
          <c:extLst>
            <c:ext xmlns:c16="http://schemas.microsoft.com/office/drawing/2014/chart" uri="{C3380CC4-5D6E-409C-BE32-E72D297353CC}">
              <c16:uniqueId val="{00000000-0656-474E-AFC1-80E2CC253EC6}"/>
            </c:ext>
          </c:extLst>
        </c:ser>
        <c:ser>
          <c:idx val="1"/>
          <c:order val="1"/>
          <c:tx>
            <c:strRef>
              <c:f>Sheet1!$C$1</c:f>
              <c:strCache>
                <c:ptCount val="1"/>
                <c:pt idx="0">
                  <c:v>2026 (kg)</c:v>
                </c:pt>
              </c:strCache>
            </c:strRef>
          </c:tx>
          <c:spPr>
            <a:solidFill>
              <a:srgbClr val="0A2240"/>
            </a:solidFill>
            <a:effectLst/>
          </c:spPr>
          <c:invertIfNegative val="0"/>
          <c:cat>
            <c:strRef>
              <c:f>Sheet1!$A$2:$A$6</c:f>
              <c:strCache>
                <c:ptCount val="5"/>
                <c:pt idx="0">
                  <c:v>Janv.</c:v>
                </c:pt>
                <c:pt idx="1">
                  <c:v>Févr.</c:v>
                </c:pt>
                <c:pt idx="2">
                  <c:v>Mars</c:v>
                </c:pt>
                <c:pt idx="3">
                  <c:v>Avr.</c:v>
                </c:pt>
                <c:pt idx="4">
                  <c:v>Mai</c:v>
                </c:pt>
              </c:strCache>
            </c:strRef>
          </c:cat>
          <c:val>
            <c:numRef>
              <c:f>Sheet1!$C$2:$C$6</c:f>
              <c:numCache>
                <c:formatCode>General</c:formatCode>
                <c:ptCount val="5"/>
                <c:pt idx="0">
                  <c:v>1255447</c:v>
                </c:pt>
                <c:pt idx="1">
                  <c:v>1288728</c:v>
                </c:pt>
                <c:pt idx="2">
                  <c:v>1302140</c:v>
                </c:pt>
                <c:pt idx="3">
                  <c:v>988680</c:v>
                </c:pt>
                <c:pt idx="4">
                  <c:v>768254</c:v>
                </c:pt>
              </c:numCache>
            </c:numRef>
          </c:val>
          <c:extLst>
            <c:ext xmlns:c16="http://schemas.microsoft.com/office/drawing/2014/chart" uri="{C3380CC4-5D6E-409C-BE32-E72D297353CC}">
              <c16:uniqueId val="{00000001-0656-474E-AFC1-80E2CC253EC6}"/>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lineChart>
        <c:grouping val="standard"/>
        <c:varyColors val="0"/>
        <c:ser>
          <c:idx val="0"/>
          <c:order val="0"/>
          <c:tx>
            <c:strRef>
              <c:f>Sheet1!$B$1</c:f>
              <c:strCache>
                <c:ptCount val="1"/>
                <c:pt idx="0">
                  <c:v>PDM AGL (%)</c:v>
                </c:pt>
              </c:strCache>
            </c:strRef>
          </c:tx>
          <c:spPr>
            <a:ln w="38100" cap="flat">
              <a:solidFill>
                <a:srgbClr val="C8A951"/>
              </a:solidFill>
              <a:prstDash val="solid"/>
              <a:round/>
            </a:ln>
            <a:effectLst/>
          </c:spPr>
          <c:marker>
            <c:symbol val="circle"/>
            <c:size val="6"/>
            <c:spPr>
              <a:solidFill>
                <a:srgbClr val="C8A951"/>
              </a:solidFill>
              <a:ln w="9525" cap="flat">
                <a:solidFill>
                  <a:srgbClr val="C8A951"/>
                </a:solidFill>
                <a:prstDash val="solid"/>
                <a:round/>
              </a:ln>
              <a:effectLst/>
            </c:spPr>
          </c:marker>
          <c:dLbls>
            <c:numFmt formatCode="#,##0" sourceLinked="0"/>
            <c:spPr>
              <a:noFill/>
              <a:ln>
                <a:noFill/>
              </a:ln>
              <a:effectLst/>
            </c:spPr>
            <c:txPr>
              <a:bodyPr/>
              <a:lstStyle/>
              <a:p>
                <a:pPr>
                  <a:defRPr sz="1000" b="0" i="0" u="none" strike="noStrike">
                    <a:solidFill>
                      <a:srgbClr val="0A224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Janv.</c:v>
                </c:pt>
                <c:pt idx="1">
                  <c:v>Févr.</c:v>
                </c:pt>
                <c:pt idx="2">
                  <c:v>Mars</c:v>
                </c:pt>
                <c:pt idx="3">
                  <c:v>Avr.</c:v>
                </c:pt>
                <c:pt idx="4">
                  <c:v>Mai</c:v>
                </c:pt>
              </c:strCache>
            </c:strRef>
          </c:cat>
          <c:val>
            <c:numRef>
              <c:f>Sheet1!$B$2:$B$6</c:f>
              <c:numCache>
                <c:formatCode>General</c:formatCode>
                <c:ptCount val="5"/>
                <c:pt idx="0">
                  <c:v>10.9</c:v>
                </c:pt>
                <c:pt idx="1">
                  <c:v>15.6</c:v>
                </c:pt>
                <c:pt idx="2">
                  <c:v>22.2</c:v>
                </c:pt>
                <c:pt idx="3">
                  <c:v>30.3</c:v>
                </c:pt>
                <c:pt idx="4">
                  <c:v>31.2</c:v>
                </c:pt>
              </c:numCache>
            </c:numRef>
          </c:val>
          <c:smooth val="1"/>
          <c:extLst>
            <c:ext xmlns:c16="http://schemas.microsoft.com/office/drawing/2014/chart" uri="{C3380CC4-5D6E-409C-BE32-E72D297353CC}">
              <c16:uniqueId val="{00000000-B209-482C-B7E9-2C50DBDE056F}"/>
            </c:ext>
          </c:extLst>
        </c:ser>
        <c:dLbls>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pieChart>
        <c:varyColors val="1"/>
        <c:ser>
          <c:idx val="0"/>
          <c:order val="0"/>
          <c:tx>
            <c:strRef>
              <c:f>Sheet1!$B$1</c:f>
              <c:strCache>
                <c:ptCount val="1"/>
                <c:pt idx="0">
                  <c:v>kg AGL</c:v>
                </c:pt>
              </c:strCache>
            </c:strRef>
          </c:tx>
          <c:spPr>
            <a:solidFill>
              <a:schemeClr val="accent1"/>
            </a:solidFill>
            <a:ln w="9525" cap="flat">
              <a:solidFill>
                <a:srgbClr val="F9F9F9"/>
              </a:solidFill>
              <a:prstDash val="solid"/>
              <a:round/>
            </a:ln>
            <a:effectLst/>
          </c:spPr>
          <c:dPt>
            <c:idx val="0"/>
            <c:bubble3D val="0"/>
            <c:spPr>
              <a:solidFill>
                <a:srgbClr val="0A2240"/>
              </a:solidFill>
              <a:effectLst/>
            </c:spPr>
            <c:extLst>
              <c:ext xmlns:c16="http://schemas.microsoft.com/office/drawing/2014/chart" uri="{C3380CC4-5D6E-409C-BE32-E72D297353CC}">
                <c16:uniqueId val="{00000001-C9E0-4CA7-8B3B-4159F7F76B56}"/>
              </c:ext>
            </c:extLst>
          </c:dPt>
          <c:dPt>
            <c:idx val="1"/>
            <c:bubble3D val="0"/>
            <c:spPr>
              <a:solidFill>
                <a:srgbClr val="C8A951"/>
              </a:solidFill>
              <a:effectLst/>
            </c:spPr>
            <c:extLst>
              <c:ext xmlns:c16="http://schemas.microsoft.com/office/drawing/2014/chart" uri="{C3380CC4-5D6E-409C-BE32-E72D297353CC}">
                <c16:uniqueId val="{00000003-C9E0-4CA7-8B3B-4159F7F76B56}"/>
              </c:ext>
            </c:extLst>
          </c:dPt>
          <c:dPt>
            <c:idx val="2"/>
            <c:bubble3D val="0"/>
            <c:spPr>
              <a:solidFill>
                <a:srgbClr val="1E40AF"/>
              </a:solidFill>
              <a:effectLst/>
            </c:spPr>
            <c:extLst>
              <c:ext xmlns:c16="http://schemas.microsoft.com/office/drawing/2014/chart" uri="{C3380CC4-5D6E-409C-BE32-E72D297353CC}">
                <c16:uniqueId val="{00000005-C9E0-4CA7-8B3B-4159F7F76B56}"/>
              </c:ext>
            </c:extLst>
          </c:dPt>
          <c:dPt>
            <c:idx val="3"/>
            <c:bubble3D val="0"/>
            <c:spPr>
              <a:solidFill>
                <a:srgbClr val="16A34A"/>
              </a:solidFill>
              <a:effectLst/>
            </c:spPr>
            <c:extLst>
              <c:ext xmlns:c16="http://schemas.microsoft.com/office/drawing/2014/chart" uri="{C3380CC4-5D6E-409C-BE32-E72D297353CC}">
                <c16:uniqueId val="{00000007-C9E0-4CA7-8B3B-4159F7F76B56}"/>
              </c:ext>
            </c:extLst>
          </c:dPt>
          <c:dPt>
            <c:idx val="4"/>
            <c:bubble3D val="0"/>
            <c:spPr>
              <a:solidFill>
                <a:srgbClr val="0891B2"/>
              </a:solidFill>
              <a:effectLst/>
            </c:spPr>
            <c:extLst>
              <c:ext xmlns:c16="http://schemas.microsoft.com/office/drawing/2014/chart" uri="{C3380CC4-5D6E-409C-BE32-E72D297353CC}">
                <c16:uniqueId val="{00000009-C9E0-4CA7-8B3B-4159F7F76B56}"/>
              </c:ext>
            </c:extLst>
          </c:dPt>
          <c:dPt>
            <c:idx val="5"/>
            <c:bubble3D val="0"/>
            <c:spPr>
              <a:solidFill>
                <a:srgbClr val="EA580C"/>
              </a:solidFill>
              <a:effectLst/>
            </c:spPr>
            <c:extLst>
              <c:ext xmlns:c16="http://schemas.microsoft.com/office/drawing/2014/chart" uri="{C3380CC4-5D6E-409C-BE32-E72D297353CC}">
                <c16:uniqueId val="{0000000B-C9E0-4CA7-8B3B-4159F7F76B56}"/>
              </c:ext>
            </c:extLst>
          </c:dPt>
          <c:dPt>
            <c:idx val="6"/>
            <c:bubble3D val="0"/>
            <c:spPr>
              <a:solidFill>
                <a:srgbClr val="64748B"/>
              </a:solidFill>
              <a:effectLst/>
            </c:spPr>
            <c:extLst>
              <c:ext xmlns:c16="http://schemas.microsoft.com/office/drawing/2014/chart" uri="{C3380CC4-5D6E-409C-BE32-E72D297353CC}">
                <c16:uniqueId val="{0000000D-C9E0-4CA7-8B3B-4159F7F76B56}"/>
              </c:ext>
            </c:extLst>
          </c:dPt>
          <c:dPt>
            <c:idx val="7"/>
            <c:bubble3D val="0"/>
            <c:spPr>
              <a:solidFill>
                <a:srgbClr val="DC2626"/>
              </a:solidFill>
              <a:effectLst/>
            </c:spPr>
            <c:extLst>
              <c:ext xmlns:c16="http://schemas.microsoft.com/office/drawing/2014/chart" uri="{C3380CC4-5D6E-409C-BE32-E72D297353CC}">
                <c16:uniqueId val="{0000000F-C9E0-4CA7-8B3B-4159F7F76B56}"/>
              </c:ext>
            </c:extLst>
          </c:dPt>
          <c:dPt>
            <c:idx val="8"/>
            <c:bubble3D val="0"/>
            <c:spPr>
              <a:solidFill>
                <a:srgbClr val="94A3B8"/>
              </a:solidFill>
              <a:effectLst/>
            </c:spPr>
            <c:extLst>
              <c:ext xmlns:c16="http://schemas.microsoft.com/office/drawing/2014/chart" uri="{C3380CC4-5D6E-409C-BE32-E72D297353CC}">
                <c16:uniqueId val="{00000011-C9E0-4CA7-8B3B-4159F7F76B56}"/>
              </c:ext>
            </c:extLst>
          </c:dPt>
          <c:dLbls>
            <c:dLbl>
              <c:idx val="0"/>
              <c:numFmt formatCode="0%" sourceLinked="0"/>
              <c:spPr/>
              <c:txPr>
                <a:bodyPr/>
                <a:lstStyle/>
                <a:p>
                  <a:pPr>
                    <a:defRPr sz="9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C9E0-4CA7-8B3B-4159F7F76B56}"/>
                </c:ext>
              </c:extLst>
            </c:dLbl>
            <c:dLbl>
              <c:idx val="1"/>
              <c:numFmt formatCode="0%" sourceLinked="0"/>
              <c:spPr/>
              <c:txPr>
                <a:bodyPr/>
                <a:lstStyle/>
                <a:p>
                  <a:pPr>
                    <a:defRPr sz="9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C9E0-4CA7-8B3B-4159F7F76B56}"/>
                </c:ext>
              </c:extLst>
            </c:dLbl>
            <c:dLbl>
              <c:idx val="2"/>
              <c:numFmt formatCode="0%" sourceLinked="0"/>
              <c:spPr/>
              <c:txPr>
                <a:bodyPr/>
                <a:lstStyle/>
                <a:p>
                  <a:pPr>
                    <a:defRPr sz="9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C9E0-4CA7-8B3B-4159F7F76B56}"/>
                </c:ext>
              </c:extLst>
            </c:dLbl>
            <c:dLbl>
              <c:idx val="3"/>
              <c:numFmt formatCode="0%" sourceLinked="0"/>
              <c:spPr/>
              <c:txPr>
                <a:bodyPr/>
                <a:lstStyle/>
                <a:p>
                  <a:pPr>
                    <a:defRPr sz="9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C9E0-4CA7-8B3B-4159F7F76B56}"/>
                </c:ext>
              </c:extLst>
            </c:dLbl>
            <c:dLbl>
              <c:idx val="4"/>
              <c:numFmt formatCode="0%" sourceLinked="0"/>
              <c:spPr/>
              <c:txPr>
                <a:bodyPr/>
                <a:lstStyle/>
                <a:p>
                  <a:pPr>
                    <a:defRPr sz="9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9-C9E0-4CA7-8B3B-4159F7F76B56}"/>
                </c:ext>
              </c:extLst>
            </c:dLbl>
            <c:dLbl>
              <c:idx val="5"/>
              <c:numFmt formatCode="0%" sourceLinked="0"/>
              <c:spPr/>
              <c:txPr>
                <a:bodyPr/>
                <a:lstStyle/>
                <a:p>
                  <a:pPr>
                    <a:defRPr sz="9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B-C9E0-4CA7-8B3B-4159F7F76B56}"/>
                </c:ext>
              </c:extLst>
            </c:dLbl>
            <c:dLbl>
              <c:idx val="6"/>
              <c:numFmt formatCode="0%" sourceLinked="0"/>
              <c:spPr/>
              <c:txPr>
                <a:bodyPr/>
                <a:lstStyle/>
                <a:p>
                  <a:pPr>
                    <a:defRPr sz="9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D-C9E0-4CA7-8B3B-4159F7F76B56}"/>
                </c:ext>
              </c:extLst>
            </c:dLbl>
            <c:dLbl>
              <c:idx val="7"/>
              <c:numFmt formatCode="0%" sourceLinked="0"/>
              <c:spPr/>
              <c:txPr>
                <a:bodyPr/>
                <a:lstStyle/>
                <a:p>
                  <a:pPr>
                    <a:defRPr sz="9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F-C9E0-4CA7-8B3B-4159F7F76B56}"/>
                </c:ext>
              </c:extLst>
            </c:dLbl>
            <c:dLbl>
              <c:idx val="8"/>
              <c:numFmt formatCode="0%" sourceLinked="0"/>
              <c:spPr/>
              <c:txPr>
                <a:bodyPr/>
                <a:lstStyle/>
                <a:p>
                  <a:pPr>
                    <a:defRPr sz="9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11-C9E0-4CA7-8B3B-4159F7F76B56}"/>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Sheet1!$A$2:$A$10</c:f>
              <c:strCache>
                <c:ptCount val="9"/>
                <c:pt idx="0">
                  <c:v>Mat. Miniers</c:v>
                </c:pt>
                <c:pt idx="1">
                  <c:v>Prod. Alim.</c:v>
                </c:pt>
                <c:pt idx="2">
                  <c:v>Pièces Détachées</c:v>
                </c:pt>
                <c:pt idx="3">
                  <c:v>Médicaments</c:v>
                </c:pt>
                <c:pt idx="4">
                  <c:v>Fruits &amp; Lég.</c:v>
                </c:pt>
                <c:pt idx="5">
                  <c:v>Télécoms</c:v>
                </c:pt>
                <c:pt idx="6">
                  <c:v>Machines</c:v>
                </c:pt>
                <c:pt idx="7">
                  <c:v>Pétroliers</c:v>
                </c:pt>
                <c:pt idx="8">
                  <c:v>Autres</c:v>
                </c:pt>
              </c:strCache>
            </c:strRef>
          </c:cat>
          <c:val>
            <c:numRef>
              <c:f>Sheet1!$B$2:$B$10</c:f>
              <c:numCache>
                <c:formatCode>General</c:formatCode>
                <c:ptCount val="9"/>
                <c:pt idx="0">
                  <c:v>312500</c:v>
                </c:pt>
                <c:pt idx="1">
                  <c:v>204796</c:v>
                </c:pt>
                <c:pt idx="2">
                  <c:v>113670</c:v>
                </c:pt>
                <c:pt idx="3">
                  <c:v>94962</c:v>
                </c:pt>
                <c:pt idx="4">
                  <c:v>78674</c:v>
                </c:pt>
                <c:pt idx="5">
                  <c:v>60031</c:v>
                </c:pt>
                <c:pt idx="6">
                  <c:v>52319</c:v>
                </c:pt>
                <c:pt idx="7">
                  <c:v>27809</c:v>
                </c:pt>
                <c:pt idx="8">
                  <c:v>221233</c:v>
                </c:pt>
              </c:numCache>
            </c:numRef>
          </c:val>
          <c:extLst>
            <c:ext xmlns:c16="http://schemas.microsoft.com/office/drawing/2014/chart" uri="{C3380CC4-5D6E-409C-BE32-E72D297353CC}">
              <c16:uniqueId val="{00000012-C9E0-4CA7-8B3B-4159F7F76B56}"/>
            </c:ext>
          </c:extLst>
        </c:ser>
        <c:dLbls>
          <c:showLegendKey val="0"/>
          <c:showVal val="0"/>
          <c:showCatName val="0"/>
          <c:showSerName val="0"/>
          <c:showPercent val="0"/>
          <c:showBubbleSize val="0"/>
          <c:showLeaderLines val="0"/>
        </c:dLbls>
        <c:firstSliceAng val="0"/>
      </c:pieChart>
      <c:spPr>
        <a:noFill/>
        <a:ln>
          <a:noFill/>
        </a:ln>
        <a:effectLst/>
      </c:spPr>
    </c:plotArea>
    <c:legend>
      <c:legendPos val="r"/>
      <c:overlay val="0"/>
      <c:txPr>
        <a:bodyPr/>
        <a:lstStyle/>
        <a:p>
          <a:pPr>
            <a:defRPr sz="900"/>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91094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135DB41D-2CC9-9D2D-1850-A6734265ABE3}"/>
              </a:ext>
            </a:extLst>
          </p:cNvPr>
          <p:cNvSpPr txBox="1"/>
          <p:nvPr userDrawn="1">
            <p:extLst>
              <p:ext uri="{1162E1C5-73C7-4A58-AE30-91384D911F3F}">
                <p184:classification xmlns:p184="http://schemas.microsoft.com/office/powerpoint/2018/4/main" val="ftr"/>
              </p:ext>
            </p:extLst>
          </p:nvPr>
        </p:nvSpPr>
        <p:spPr>
          <a:xfrm>
            <a:off x="190500" y="6515100"/>
            <a:ext cx="1069975"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Sensitivity: Internal</a:t>
            </a:r>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1.xml.rels><?xml version="1.0" encoding="UTF-8"?><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3.xml.rels><?xml version="1.0" encoding="UTF-8"?><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6.xml.rels><?xml version="1.0" encoding="UTF-8"?><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chart" Target="../charts/chart8.xml"/></Relationships>
</file>

<file path=ppt/slides/_rels/slide18.xml.rels><?xml version="1.0" encoding="UTF-8"?><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0.xml.rels><?xml version="1.0" encoding="UTF-8"?><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png"/></Relationships>
</file>

<file path=ppt/slides/_rels/slide23.xml.rels><?xml version="1.0" encoding="UTF-8"?><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png"/></Relationships>
</file>

<file path=ppt/slides/_rels/slide24.xml.rels><?xml version="1.0" encoding="UTF-8"?><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png"/></Relationships>
</file>

<file path=ppt/slides/_rels/slide25.xml.rels><?xml version="1.0" encoding="UTF-8"?><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png"/></Relationships>
</file>

<file path=ppt/slides/_rels/slide26.xml.rels><?xml version="1.0" encoding="UTF-8"?><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png"/></Relationships>
</file>

<file path=ppt/slides/_rels/slide27.xml.rels><?xml version="1.0" encoding="UTF-8"?><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png"/></Relationships>
</file>

<file path=ppt/slides/_rels/slide28.xml.rels><?xml version="1.0" encoding="UTF-8"?><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png"/></Relationships>
</file>

<file path=ppt/slides/_rels/slide29.xml.rels><?xml version="1.0" encoding="UTF-8"?><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png"/></Relationships>
</file>

<file path=ppt/slides/_rels/slide30.xml.rels><?xml version="1.0" encoding="UTF-8"?><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png"/></Relationships>
</file>

<file path=ppt/slides/_rels/slide31.xml.rels><?xml version="1.0" encoding="UTF-8"?><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png"/></Relationships>
</file>

<file path=ppt/slides/_rels/slide32.xml.rels><?xml version="1.0" encoding="UTF-8"?><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png"/></Relationships>
</file>

<file path=ppt/slides/_rels/slide33.xml.rels><?xml version="1.0" encoding="UTF-8"?><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240"/>
        </a:solidFill>
        <a:effectLst/>
      </p:bgPr>
    </p:bg>
    <p:spTree>
      <p:nvGrpSpPr>
        <p:cNvPr id="1" name=""/>
        <p:cNvGrpSpPr/>
        <p:nvPr/>
      </p:nvGrpSpPr>
      <p:grpSpPr>
        <a:xfrm>
          <a:off x="0" y="0"/>
          <a:ext cx="0" cy="0"/>
          <a:chOff x="0" y="0"/>
          <a:chExt cx="0" cy="0"/>
        </a:xfrm>
      </p:grpSpPr>
      <p:pic>
        <p:nvPicPr>
          <p:cNvPr id="38" name="Image 37">
            <a:extLst>
              <a:ext uri="{FF2B5EF4-FFF2-40B4-BE49-F238E27FC236}">
                <a16:creationId xmlns:a16="http://schemas.microsoft.com/office/drawing/2014/main" id="{CB2D5DB8-BF17-D9DC-F146-26D7ED4545FC}"/>
              </a:ext>
            </a:extLst>
          </p:cNvPr>
          <p:cNvPicPr>
            <a:picLocks noChangeAspect="1"/>
          </p:cNvPicPr>
          <p:nvPr/>
        </p:nvPicPr>
        <p:blipFill>
          <a:blip r:embed="rId3"/>
          <a:stretch>
            <a:fillRect/>
          </a:stretch>
        </p:blipFill>
        <p:spPr>
          <a:xfrm>
            <a:off x="0" y="9084"/>
            <a:ext cx="12192000" cy="6839832"/>
          </a:xfrm>
          <a:prstGeom prst="rect">
            <a:avLst/>
          </a:prstGeom>
        </p:spPr>
      </p:pic>
      <p:sp>
        <p:nvSpPr>
          <p:cNvPr id="35" name="Text 33"/>
          <p:cNvSpPr/>
          <p:nvPr/>
        </p:nvSpPr>
        <p:spPr>
          <a:xfrm>
            <a:off x="0" y="6263640"/>
            <a:ext cx="12161520" cy="274320"/>
          </a:xfrm>
          <a:prstGeom prst="rect">
            <a:avLst/>
          </a:prstGeom>
          <a:noFill/>
          <a:ln/>
        </p:spPr>
        <p:txBody>
          <a:bodyPr wrap="square" rtlCol="0" anchor="ctr"/>
          <a:lstStyle/>
          <a:p>
            <a:pPr marL="0" indent="0" algn="ctr">
              <a:buNone/>
            </a:pPr>
            <a:r>
              <a:rPr lang="en-US" sz="1000" dirty="0">
                <a:solidFill>
                  <a:srgbClr val="CBD5E1"/>
                </a:solidFill>
                <a:latin typeface="Calibri" pitchFamily="34" charset="0"/>
                <a:ea typeface="Calibri" pitchFamily="34" charset="-122"/>
                <a:cs typeface="Calibri" pitchFamily="34" charset="-120"/>
              </a:rPr>
              <a:t>Direction Marketing &amp; RP  |  AGL Abidjan  |  Juin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0A2240"/>
          </a:solidFill>
          <a:ln w="12700">
            <a:solidFill>
              <a:srgbClr val="0A2240"/>
            </a:solidFill>
            <a:prstDash val="solid"/>
          </a:ln>
        </p:spPr>
        <p:txBody>
          <a:bodyPr/>
          <a:lstStyle/>
          <a:p>
            <a:endParaRPr lang="en-US"/>
          </a:p>
        </p:txBody>
      </p:sp>
      <p:sp>
        <p:nvSpPr>
          <p:cNvPr id="3" name="Text 1"/>
          <p:cNvSpPr/>
          <p:nvPr/>
        </p:nvSpPr>
        <p:spPr>
          <a:xfrm>
            <a:off x="365760" y="54864"/>
            <a:ext cx="11430000" cy="65836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SOMMAIRE</a:t>
            </a:r>
            <a:endParaRPr lang="en-US" sz="2400" dirty="0"/>
          </a:p>
        </p:txBody>
      </p:sp>
      <p:sp>
        <p:nvSpPr>
          <p:cNvPr id="4" name="Text 2"/>
          <p:cNvSpPr/>
          <p:nvPr/>
        </p:nvSpPr>
        <p:spPr>
          <a:xfrm>
            <a:off x="365760" y="676656"/>
            <a:ext cx="11430000" cy="329184"/>
          </a:xfrm>
          <a:prstGeom prst="rect">
            <a:avLst/>
          </a:prstGeom>
          <a:noFill/>
          <a:ln/>
        </p:spPr>
        <p:txBody>
          <a:bodyPr wrap="square" rtlCol="0" anchor="ctr"/>
          <a:lstStyle/>
          <a:p>
            <a:pPr marL="0" indent="0">
              <a:buNone/>
            </a:pPr>
            <a:r>
              <a:rPr lang="en-US" sz="1200" i="1" dirty="0">
                <a:solidFill>
                  <a:srgbClr val="C8A951"/>
                </a:solidFill>
                <a:latin typeface="Calibri" pitchFamily="34" charset="0"/>
                <a:ea typeface="Calibri" pitchFamily="34" charset="-122"/>
                <a:cs typeface="Calibri" pitchFamily="34" charset="-120"/>
              </a:rPr>
              <a:t>Analyse par métier – 5 segments + synthèse stratégique</a:t>
            </a:r>
            <a:endParaRPr lang="en-US" sz="1200" dirty="0"/>
          </a:p>
        </p:txBody>
      </p:sp>
      <p:sp>
        <p:nvSpPr>
          <p:cNvPr id="5" name="Shape 3"/>
          <p:cNvSpPr/>
          <p:nvPr/>
        </p:nvSpPr>
        <p:spPr>
          <a:xfrm>
            <a:off x="365760" y="1234440"/>
            <a:ext cx="3749040" cy="2331720"/>
          </a:xfrm>
          <a:prstGeom prst="roundRect">
            <a:avLst>
              <a:gd name="adj" fmla="val 3922"/>
            </a:avLst>
          </a:prstGeom>
          <a:solidFill>
            <a:srgbClr val="EDF2F7"/>
          </a:solidFill>
          <a:ln/>
          <a:effectLst>
            <a:outerShdw blurRad="63500" dist="25400" dir="2700000" algn="bl" rotWithShape="0">
              <a:srgbClr val="000000">
                <a:alpha val="10000"/>
              </a:srgbClr>
            </a:outerShdw>
          </a:effectLst>
        </p:spPr>
        <p:txBody>
          <a:bodyPr/>
          <a:lstStyle/>
          <a:p>
            <a:endParaRPr lang="en-US"/>
          </a:p>
        </p:txBody>
      </p:sp>
      <p:sp>
        <p:nvSpPr>
          <p:cNvPr id="6" name="Shape 4"/>
          <p:cNvSpPr/>
          <p:nvPr/>
        </p:nvSpPr>
        <p:spPr>
          <a:xfrm>
            <a:off x="530352" y="1399032"/>
            <a:ext cx="475488" cy="475488"/>
          </a:xfrm>
          <a:prstGeom prst="roundRect">
            <a:avLst>
              <a:gd name="adj" fmla="val 11538"/>
            </a:avLst>
          </a:prstGeom>
          <a:solidFill>
            <a:srgbClr val="0A2240"/>
          </a:solidFill>
          <a:ln/>
        </p:spPr>
        <p:txBody>
          <a:bodyPr/>
          <a:lstStyle/>
          <a:p>
            <a:endParaRPr lang="en-US"/>
          </a:p>
        </p:txBody>
      </p:sp>
      <p:sp>
        <p:nvSpPr>
          <p:cNvPr id="7" name="Text 5"/>
          <p:cNvSpPr/>
          <p:nvPr/>
        </p:nvSpPr>
        <p:spPr>
          <a:xfrm>
            <a:off x="530352" y="1389888"/>
            <a:ext cx="475488" cy="475488"/>
          </a:xfrm>
          <a:prstGeom prst="rect">
            <a:avLst/>
          </a:prstGeom>
          <a:no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01</a:t>
            </a:r>
            <a:endParaRPr lang="en-US" sz="1700" dirty="0"/>
          </a:p>
        </p:txBody>
      </p:sp>
      <p:sp>
        <p:nvSpPr>
          <p:cNvPr id="8" name="Text 6"/>
          <p:cNvSpPr/>
          <p:nvPr/>
        </p:nvSpPr>
        <p:spPr>
          <a:xfrm>
            <a:off x="475488" y="1984248"/>
            <a:ext cx="3529584" cy="457200"/>
          </a:xfrm>
          <a:prstGeom prst="rect">
            <a:avLst/>
          </a:prstGeom>
          <a:noFill/>
          <a:ln/>
        </p:spPr>
        <p:txBody>
          <a:bodyPr wrap="square" rtlCol="0" anchor="ctr"/>
          <a:lstStyle/>
          <a:p>
            <a:pPr marL="0" indent="0">
              <a:buNone/>
            </a:pPr>
            <a:r>
              <a:rPr lang="en-US" sz="1300" b="1" dirty="0">
                <a:solidFill>
                  <a:srgbClr val="0A2240"/>
                </a:solidFill>
                <a:latin typeface="Calibri" pitchFamily="34" charset="0"/>
                <a:ea typeface="Calibri" pitchFamily="34" charset="-122"/>
                <a:cs typeface="Calibri" pitchFamily="34" charset="-120"/>
              </a:rPr>
              <a:t>TIM – Transit Import Maritime</a:t>
            </a:r>
            <a:endParaRPr lang="en-US" sz="1300" dirty="0"/>
          </a:p>
        </p:txBody>
      </p:sp>
      <p:sp>
        <p:nvSpPr>
          <p:cNvPr id="9" name="Text 7"/>
          <p:cNvSpPr/>
          <p:nvPr/>
        </p:nvSpPr>
        <p:spPr>
          <a:xfrm>
            <a:off x="475488" y="2496312"/>
            <a:ext cx="3529584" cy="822960"/>
          </a:xfrm>
          <a:prstGeom prst="rect">
            <a:avLst/>
          </a:prstGeom>
          <a:noFill/>
          <a:ln/>
        </p:spPr>
        <p:txBody>
          <a:bodyPr wrap="square" rtlCol="0" anchor="ctr"/>
          <a:lstStyle/>
          <a:p>
            <a:pPr marL="0" indent="0">
              <a:buNone/>
            </a:pPr>
            <a:r>
              <a:rPr lang="en-US" sz="1050" dirty="0">
                <a:solidFill>
                  <a:srgbClr val="334155"/>
                </a:solidFill>
                <a:latin typeface="Calibri" pitchFamily="34" charset="0"/>
                <a:ea typeface="Calibri" pitchFamily="34" charset="-122"/>
                <a:cs typeface="Calibri" pitchFamily="34" charset="-120"/>
              </a:rPr>
              <a:t>Leader #1 – PDM 7,8% sur 193 989 TEU qualifiés</a:t>
            </a:r>
            <a:endParaRPr lang="en-US" sz="1050" dirty="0"/>
          </a:p>
        </p:txBody>
      </p:sp>
      <p:sp>
        <p:nvSpPr>
          <p:cNvPr id="10" name="Shape 8"/>
          <p:cNvSpPr/>
          <p:nvPr/>
        </p:nvSpPr>
        <p:spPr>
          <a:xfrm>
            <a:off x="4297680" y="1234440"/>
            <a:ext cx="3749040" cy="2331720"/>
          </a:xfrm>
          <a:prstGeom prst="roundRect">
            <a:avLst>
              <a:gd name="adj" fmla="val 3922"/>
            </a:avLst>
          </a:prstGeom>
          <a:solidFill>
            <a:srgbClr val="EDF2F7"/>
          </a:solidFill>
          <a:ln/>
          <a:effectLst>
            <a:outerShdw blurRad="63500" dist="25400" dir="2700000" algn="bl" rotWithShape="0">
              <a:srgbClr val="000000">
                <a:alpha val="10000"/>
              </a:srgbClr>
            </a:outerShdw>
          </a:effectLst>
        </p:spPr>
        <p:txBody>
          <a:bodyPr/>
          <a:lstStyle/>
          <a:p>
            <a:endParaRPr lang="en-US"/>
          </a:p>
        </p:txBody>
      </p:sp>
      <p:sp>
        <p:nvSpPr>
          <p:cNvPr id="11" name="Shape 9"/>
          <p:cNvSpPr/>
          <p:nvPr/>
        </p:nvSpPr>
        <p:spPr>
          <a:xfrm>
            <a:off x="4462272" y="1399032"/>
            <a:ext cx="475488" cy="475488"/>
          </a:xfrm>
          <a:prstGeom prst="roundRect">
            <a:avLst>
              <a:gd name="adj" fmla="val 11538"/>
            </a:avLst>
          </a:prstGeom>
          <a:solidFill>
            <a:srgbClr val="16A34A"/>
          </a:solidFill>
          <a:ln/>
        </p:spPr>
        <p:txBody>
          <a:bodyPr/>
          <a:lstStyle/>
          <a:p>
            <a:endParaRPr lang="en-US"/>
          </a:p>
        </p:txBody>
      </p:sp>
      <p:sp>
        <p:nvSpPr>
          <p:cNvPr id="12" name="Text 10"/>
          <p:cNvSpPr/>
          <p:nvPr/>
        </p:nvSpPr>
        <p:spPr>
          <a:xfrm>
            <a:off x="4462272" y="1389888"/>
            <a:ext cx="475488" cy="475488"/>
          </a:xfrm>
          <a:prstGeom prst="rect">
            <a:avLst/>
          </a:prstGeom>
          <a:no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02</a:t>
            </a:r>
            <a:endParaRPr lang="en-US" sz="1700" dirty="0"/>
          </a:p>
        </p:txBody>
      </p:sp>
      <p:sp>
        <p:nvSpPr>
          <p:cNvPr id="13" name="Text 11"/>
          <p:cNvSpPr/>
          <p:nvPr/>
        </p:nvSpPr>
        <p:spPr>
          <a:xfrm>
            <a:off x="4407408" y="1984248"/>
            <a:ext cx="3529584" cy="457200"/>
          </a:xfrm>
          <a:prstGeom prst="rect">
            <a:avLst/>
          </a:prstGeom>
          <a:noFill/>
          <a:ln/>
        </p:spPr>
        <p:txBody>
          <a:bodyPr wrap="square" rtlCol="0" anchor="ctr"/>
          <a:lstStyle/>
          <a:p>
            <a:pPr marL="0" indent="0">
              <a:buNone/>
            </a:pPr>
            <a:r>
              <a:rPr lang="en-US" sz="1300" b="1" dirty="0">
                <a:solidFill>
                  <a:srgbClr val="0A2240"/>
                </a:solidFill>
                <a:latin typeface="Calibri" pitchFamily="34" charset="0"/>
                <a:ea typeface="Calibri" pitchFamily="34" charset="-122"/>
                <a:cs typeface="Calibri" pitchFamily="34" charset="-120"/>
              </a:rPr>
              <a:t>TEM – Transit Export Maritime</a:t>
            </a:r>
            <a:endParaRPr lang="en-US" sz="1300" dirty="0"/>
          </a:p>
        </p:txBody>
      </p:sp>
      <p:sp>
        <p:nvSpPr>
          <p:cNvPr id="14" name="Text 12"/>
          <p:cNvSpPr/>
          <p:nvPr/>
        </p:nvSpPr>
        <p:spPr>
          <a:xfrm>
            <a:off x="4407408" y="2496312"/>
            <a:ext cx="3529584" cy="822960"/>
          </a:xfrm>
          <a:prstGeom prst="rect">
            <a:avLst/>
          </a:prstGeom>
          <a:noFill/>
          <a:ln/>
        </p:spPr>
        <p:txBody>
          <a:bodyPr wrap="square" rtlCol="0" anchor="ctr"/>
          <a:lstStyle/>
          <a:p>
            <a:pPr marL="0" indent="0">
              <a:buNone/>
            </a:pPr>
            <a:r>
              <a:rPr lang="en-US" sz="1050" dirty="0">
                <a:solidFill>
                  <a:srgbClr val="334155"/>
                </a:solidFill>
                <a:latin typeface="Calibri" pitchFamily="34" charset="0"/>
                <a:ea typeface="Calibri" pitchFamily="34" charset="-122"/>
                <a:cs typeface="Calibri" pitchFamily="34" charset="-120"/>
              </a:rPr>
              <a:t>Dominance absolue – 26,2% PDM sur 137 283 TEU</a:t>
            </a:r>
            <a:endParaRPr lang="en-US" sz="1050" dirty="0"/>
          </a:p>
        </p:txBody>
      </p:sp>
      <p:sp>
        <p:nvSpPr>
          <p:cNvPr id="15" name="Shape 13"/>
          <p:cNvSpPr/>
          <p:nvPr/>
        </p:nvSpPr>
        <p:spPr>
          <a:xfrm>
            <a:off x="8229600" y="1234440"/>
            <a:ext cx="3749040" cy="2331720"/>
          </a:xfrm>
          <a:prstGeom prst="roundRect">
            <a:avLst>
              <a:gd name="adj" fmla="val 3922"/>
            </a:avLst>
          </a:prstGeom>
          <a:solidFill>
            <a:srgbClr val="EDF2F7"/>
          </a:solidFill>
          <a:ln/>
          <a:effectLst>
            <a:outerShdw blurRad="63500" dist="25400" dir="2700000" algn="bl" rotWithShape="0">
              <a:srgbClr val="000000">
                <a:alpha val="10000"/>
              </a:srgbClr>
            </a:outerShdw>
          </a:effectLst>
        </p:spPr>
        <p:txBody>
          <a:bodyPr/>
          <a:lstStyle/>
          <a:p>
            <a:endParaRPr lang="en-US"/>
          </a:p>
        </p:txBody>
      </p:sp>
      <p:sp>
        <p:nvSpPr>
          <p:cNvPr id="16" name="Shape 14"/>
          <p:cNvSpPr/>
          <p:nvPr/>
        </p:nvSpPr>
        <p:spPr>
          <a:xfrm>
            <a:off x="8394192" y="1399032"/>
            <a:ext cx="475488" cy="475488"/>
          </a:xfrm>
          <a:prstGeom prst="roundRect">
            <a:avLst>
              <a:gd name="adj" fmla="val 11538"/>
            </a:avLst>
          </a:prstGeom>
          <a:solidFill>
            <a:srgbClr val="EA580C"/>
          </a:solidFill>
          <a:ln/>
        </p:spPr>
        <p:txBody>
          <a:bodyPr/>
          <a:lstStyle/>
          <a:p>
            <a:endParaRPr lang="en-US"/>
          </a:p>
        </p:txBody>
      </p:sp>
      <p:sp>
        <p:nvSpPr>
          <p:cNvPr id="17" name="Text 15"/>
          <p:cNvSpPr/>
          <p:nvPr/>
        </p:nvSpPr>
        <p:spPr>
          <a:xfrm>
            <a:off x="8394192" y="1389888"/>
            <a:ext cx="475488" cy="475488"/>
          </a:xfrm>
          <a:prstGeom prst="rect">
            <a:avLst/>
          </a:prstGeom>
          <a:no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03</a:t>
            </a:r>
            <a:endParaRPr lang="en-US" sz="1700" dirty="0"/>
          </a:p>
        </p:txBody>
      </p:sp>
      <p:sp>
        <p:nvSpPr>
          <p:cNvPr id="18" name="Text 16"/>
          <p:cNvSpPr/>
          <p:nvPr/>
        </p:nvSpPr>
        <p:spPr>
          <a:xfrm>
            <a:off x="8339328" y="1984248"/>
            <a:ext cx="3529584" cy="457200"/>
          </a:xfrm>
          <a:prstGeom prst="rect">
            <a:avLst/>
          </a:prstGeom>
          <a:noFill/>
          <a:ln/>
        </p:spPr>
        <p:txBody>
          <a:bodyPr wrap="square" rtlCol="0" anchor="ctr"/>
          <a:lstStyle/>
          <a:p>
            <a:pPr marL="0" indent="0">
              <a:buNone/>
            </a:pPr>
            <a:r>
              <a:rPr lang="en-US" sz="1300" b="1" dirty="0">
                <a:solidFill>
                  <a:srgbClr val="0A2240"/>
                </a:solidFill>
                <a:latin typeface="Calibri" pitchFamily="34" charset="0"/>
                <a:ea typeface="Calibri" pitchFamily="34" charset="-122"/>
                <a:cs typeface="Calibri" pitchFamily="34" charset="-120"/>
              </a:rPr>
              <a:t>Hinterland Import Maritime</a:t>
            </a:r>
            <a:endParaRPr lang="en-US" sz="1300" dirty="0"/>
          </a:p>
        </p:txBody>
      </p:sp>
      <p:sp>
        <p:nvSpPr>
          <p:cNvPr id="19" name="Text 17"/>
          <p:cNvSpPr/>
          <p:nvPr/>
        </p:nvSpPr>
        <p:spPr>
          <a:xfrm>
            <a:off x="8339328" y="2496312"/>
            <a:ext cx="3529584" cy="822960"/>
          </a:xfrm>
          <a:prstGeom prst="rect">
            <a:avLst/>
          </a:prstGeom>
          <a:noFill/>
          <a:ln/>
        </p:spPr>
        <p:txBody>
          <a:bodyPr wrap="square" rtlCol="0" anchor="ctr"/>
          <a:lstStyle/>
          <a:p>
            <a:pPr marL="0" indent="0">
              <a:buNone/>
            </a:pPr>
            <a:r>
              <a:rPr lang="en-US" sz="1050" dirty="0">
                <a:solidFill>
                  <a:srgbClr val="334155"/>
                </a:solidFill>
                <a:latin typeface="Calibri" pitchFamily="34" charset="0"/>
                <a:ea typeface="Calibri" pitchFamily="34" charset="-122"/>
                <a:cs typeface="Calibri" pitchFamily="34" charset="-120"/>
              </a:rPr>
              <a:t>#3 → objectif #2 : 11,3% PDM sur 28 457 TEU</a:t>
            </a:r>
            <a:endParaRPr lang="en-US" sz="1050" dirty="0"/>
          </a:p>
        </p:txBody>
      </p:sp>
      <p:sp>
        <p:nvSpPr>
          <p:cNvPr id="20" name="Shape 18"/>
          <p:cNvSpPr/>
          <p:nvPr/>
        </p:nvSpPr>
        <p:spPr>
          <a:xfrm>
            <a:off x="365760" y="3749040"/>
            <a:ext cx="3749040" cy="2331720"/>
          </a:xfrm>
          <a:prstGeom prst="roundRect">
            <a:avLst>
              <a:gd name="adj" fmla="val 3922"/>
            </a:avLst>
          </a:prstGeom>
          <a:solidFill>
            <a:srgbClr val="EDF2F7"/>
          </a:solidFill>
          <a:ln/>
          <a:effectLst>
            <a:outerShdw blurRad="63500" dist="25400" dir="2700000" algn="bl" rotWithShape="0">
              <a:srgbClr val="000000">
                <a:alpha val="10000"/>
              </a:srgbClr>
            </a:outerShdw>
          </a:effectLst>
        </p:spPr>
        <p:txBody>
          <a:bodyPr/>
          <a:lstStyle/>
          <a:p>
            <a:endParaRPr lang="en-US"/>
          </a:p>
        </p:txBody>
      </p:sp>
      <p:sp>
        <p:nvSpPr>
          <p:cNvPr id="21" name="Shape 19"/>
          <p:cNvSpPr/>
          <p:nvPr/>
        </p:nvSpPr>
        <p:spPr>
          <a:xfrm>
            <a:off x="530352" y="3913632"/>
            <a:ext cx="475488" cy="475488"/>
          </a:xfrm>
          <a:prstGeom prst="roundRect">
            <a:avLst>
              <a:gd name="adj" fmla="val 11538"/>
            </a:avLst>
          </a:prstGeom>
          <a:solidFill>
            <a:srgbClr val="1E40AF"/>
          </a:solidFill>
          <a:ln/>
        </p:spPr>
        <p:txBody>
          <a:bodyPr/>
          <a:lstStyle/>
          <a:p>
            <a:endParaRPr lang="en-US"/>
          </a:p>
        </p:txBody>
      </p:sp>
      <p:sp>
        <p:nvSpPr>
          <p:cNvPr id="22" name="Text 20"/>
          <p:cNvSpPr/>
          <p:nvPr/>
        </p:nvSpPr>
        <p:spPr>
          <a:xfrm>
            <a:off x="530352" y="3904488"/>
            <a:ext cx="475488" cy="475488"/>
          </a:xfrm>
          <a:prstGeom prst="rect">
            <a:avLst/>
          </a:prstGeom>
          <a:no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04</a:t>
            </a:r>
            <a:endParaRPr lang="en-US" sz="1700" dirty="0"/>
          </a:p>
        </p:txBody>
      </p:sp>
      <p:sp>
        <p:nvSpPr>
          <p:cNvPr id="23" name="Text 21"/>
          <p:cNvSpPr/>
          <p:nvPr/>
        </p:nvSpPr>
        <p:spPr>
          <a:xfrm>
            <a:off x="475488" y="4498848"/>
            <a:ext cx="3529584" cy="457200"/>
          </a:xfrm>
          <a:prstGeom prst="rect">
            <a:avLst/>
          </a:prstGeom>
          <a:noFill/>
          <a:ln/>
        </p:spPr>
        <p:txBody>
          <a:bodyPr wrap="square" rtlCol="0" anchor="ctr"/>
          <a:lstStyle/>
          <a:p>
            <a:pPr marL="0" indent="0">
              <a:buNone/>
            </a:pPr>
            <a:r>
              <a:rPr lang="en-US" sz="1300" b="1" dirty="0">
                <a:solidFill>
                  <a:srgbClr val="0A2240"/>
                </a:solidFill>
                <a:latin typeface="Calibri" pitchFamily="34" charset="0"/>
                <a:ea typeface="Calibri" pitchFamily="34" charset="-122"/>
                <a:cs typeface="Calibri" pitchFamily="34" charset="-120"/>
              </a:rPr>
              <a:t>Hinterland Export Maritime</a:t>
            </a:r>
            <a:endParaRPr lang="en-US" sz="1300" dirty="0"/>
          </a:p>
        </p:txBody>
      </p:sp>
      <p:sp>
        <p:nvSpPr>
          <p:cNvPr id="24" name="Text 22"/>
          <p:cNvSpPr/>
          <p:nvPr/>
        </p:nvSpPr>
        <p:spPr>
          <a:xfrm>
            <a:off x="475488" y="5010912"/>
            <a:ext cx="3529584" cy="822960"/>
          </a:xfrm>
          <a:prstGeom prst="rect">
            <a:avLst/>
          </a:prstGeom>
          <a:noFill/>
          <a:ln/>
        </p:spPr>
        <p:txBody>
          <a:bodyPr wrap="square" rtlCol="0" anchor="ctr"/>
          <a:lstStyle/>
          <a:p>
            <a:pPr marL="0" indent="0">
              <a:buNone/>
            </a:pPr>
            <a:r>
              <a:rPr lang="en-US" sz="1050" dirty="0">
                <a:solidFill>
                  <a:srgbClr val="334155"/>
                </a:solidFill>
                <a:latin typeface="Calibri" pitchFamily="34" charset="0"/>
                <a:ea typeface="Calibri" pitchFamily="34" charset="-122"/>
                <a:cs typeface="Calibri" pitchFamily="34" charset="-120"/>
              </a:rPr>
              <a:t>Leader #1 – 66,1% PDM  |  Bamako–Ouagadougou</a:t>
            </a:r>
            <a:endParaRPr lang="en-US" sz="1050" dirty="0"/>
          </a:p>
        </p:txBody>
      </p:sp>
      <p:sp>
        <p:nvSpPr>
          <p:cNvPr id="25" name="Shape 23"/>
          <p:cNvSpPr/>
          <p:nvPr/>
        </p:nvSpPr>
        <p:spPr>
          <a:xfrm>
            <a:off x="4297680" y="3749040"/>
            <a:ext cx="3749040" cy="2331720"/>
          </a:xfrm>
          <a:prstGeom prst="roundRect">
            <a:avLst>
              <a:gd name="adj" fmla="val 3922"/>
            </a:avLst>
          </a:prstGeom>
          <a:solidFill>
            <a:srgbClr val="EDF2F7"/>
          </a:solidFill>
          <a:ln/>
          <a:effectLst>
            <a:outerShdw blurRad="63500" dist="25400" dir="2700000" algn="bl" rotWithShape="0">
              <a:srgbClr val="000000">
                <a:alpha val="10000"/>
              </a:srgbClr>
            </a:outerShdw>
          </a:effectLst>
        </p:spPr>
        <p:txBody>
          <a:bodyPr/>
          <a:lstStyle/>
          <a:p>
            <a:endParaRPr lang="en-US"/>
          </a:p>
        </p:txBody>
      </p:sp>
      <p:sp>
        <p:nvSpPr>
          <p:cNvPr id="26" name="Shape 24"/>
          <p:cNvSpPr/>
          <p:nvPr/>
        </p:nvSpPr>
        <p:spPr>
          <a:xfrm>
            <a:off x="4462272" y="3913632"/>
            <a:ext cx="475488" cy="475488"/>
          </a:xfrm>
          <a:prstGeom prst="roundRect">
            <a:avLst>
              <a:gd name="adj" fmla="val 11538"/>
            </a:avLst>
          </a:prstGeom>
          <a:solidFill>
            <a:srgbClr val="0891B2"/>
          </a:solidFill>
          <a:ln/>
        </p:spPr>
        <p:txBody>
          <a:bodyPr/>
          <a:lstStyle/>
          <a:p>
            <a:endParaRPr lang="en-US"/>
          </a:p>
        </p:txBody>
      </p:sp>
      <p:sp>
        <p:nvSpPr>
          <p:cNvPr id="27" name="Text 25"/>
          <p:cNvSpPr/>
          <p:nvPr/>
        </p:nvSpPr>
        <p:spPr>
          <a:xfrm>
            <a:off x="4462272" y="3904488"/>
            <a:ext cx="475488" cy="475488"/>
          </a:xfrm>
          <a:prstGeom prst="rect">
            <a:avLst/>
          </a:prstGeom>
          <a:no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05</a:t>
            </a:r>
            <a:endParaRPr lang="en-US" sz="1700" dirty="0"/>
          </a:p>
        </p:txBody>
      </p:sp>
      <p:sp>
        <p:nvSpPr>
          <p:cNvPr id="28" name="Text 26"/>
          <p:cNvSpPr/>
          <p:nvPr/>
        </p:nvSpPr>
        <p:spPr>
          <a:xfrm>
            <a:off x="4407408" y="4498848"/>
            <a:ext cx="3529584" cy="457200"/>
          </a:xfrm>
          <a:prstGeom prst="rect">
            <a:avLst/>
          </a:prstGeom>
          <a:noFill/>
          <a:ln/>
        </p:spPr>
        <p:txBody>
          <a:bodyPr wrap="square" rtlCol="0" anchor="ctr"/>
          <a:lstStyle/>
          <a:p>
            <a:pPr marL="0" indent="0">
              <a:buNone/>
            </a:pPr>
            <a:r>
              <a:rPr lang="en-US" sz="1300" b="1" dirty="0">
                <a:solidFill>
                  <a:srgbClr val="0A2240"/>
                </a:solidFill>
                <a:latin typeface="Calibri" pitchFamily="34" charset="0"/>
                <a:ea typeface="Calibri" pitchFamily="34" charset="-122"/>
                <a:cs typeface="Calibri" pitchFamily="34" charset="-120"/>
              </a:rPr>
              <a:t>Aérien Import</a:t>
            </a:r>
            <a:endParaRPr lang="en-US" sz="1300" dirty="0"/>
          </a:p>
        </p:txBody>
      </p:sp>
      <p:sp>
        <p:nvSpPr>
          <p:cNvPr id="29" name="Text 27"/>
          <p:cNvSpPr/>
          <p:nvPr/>
        </p:nvSpPr>
        <p:spPr>
          <a:xfrm>
            <a:off x="4407408" y="5010912"/>
            <a:ext cx="3529584" cy="822960"/>
          </a:xfrm>
          <a:prstGeom prst="rect">
            <a:avLst/>
          </a:prstGeom>
          <a:noFill/>
          <a:ln/>
        </p:spPr>
        <p:txBody>
          <a:bodyPr wrap="square" rtlCol="0" anchor="ctr"/>
          <a:lstStyle/>
          <a:p>
            <a:pPr marL="0" indent="0">
              <a:buNone/>
            </a:pPr>
            <a:r>
              <a:rPr lang="en-US" sz="1050" dirty="0">
                <a:solidFill>
                  <a:srgbClr val="334155"/>
                </a:solidFill>
                <a:latin typeface="Calibri" pitchFamily="34" charset="0"/>
                <a:ea typeface="Calibri" pitchFamily="34" charset="-122"/>
                <a:cs typeface="Calibri" pitchFamily="34" charset="-120"/>
              </a:rPr>
              <a:t>#1 ABSOLU – 20,8% PDM  |  Croissance forte Jan→Mai</a:t>
            </a:r>
            <a:endParaRPr lang="en-US" sz="1050" dirty="0"/>
          </a:p>
        </p:txBody>
      </p:sp>
      <p:sp>
        <p:nvSpPr>
          <p:cNvPr id="30" name="Shape 28"/>
          <p:cNvSpPr/>
          <p:nvPr/>
        </p:nvSpPr>
        <p:spPr>
          <a:xfrm>
            <a:off x="8229600" y="3749040"/>
            <a:ext cx="3749040" cy="2331720"/>
          </a:xfrm>
          <a:prstGeom prst="roundRect">
            <a:avLst>
              <a:gd name="adj" fmla="val 3922"/>
            </a:avLst>
          </a:prstGeom>
          <a:solidFill>
            <a:srgbClr val="EDF2F7"/>
          </a:solidFill>
          <a:ln/>
          <a:effectLst>
            <a:outerShdw blurRad="63500" dist="25400" dir="2700000" algn="bl" rotWithShape="0">
              <a:srgbClr val="000000">
                <a:alpha val="10000"/>
              </a:srgbClr>
            </a:outerShdw>
          </a:effectLst>
        </p:spPr>
        <p:txBody>
          <a:bodyPr/>
          <a:lstStyle/>
          <a:p>
            <a:endParaRPr lang="en-US"/>
          </a:p>
        </p:txBody>
      </p:sp>
      <p:sp>
        <p:nvSpPr>
          <p:cNvPr id="31" name="Shape 29"/>
          <p:cNvSpPr/>
          <p:nvPr/>
        </p:nvSpPr>
        <p:spPr>
          <a:xfrm>
            <a:off x="8394192" y="3913632"/>
            <a:ext cx="475488" cy="475488"/>
          </a:xfrm>
          <a:prstGeom prst="roundRect">
            <a:avLst>
              <a:gd name="adj" fmla="val 11538"/>
            </a:avLst>
          </a:prstGeom>
          <a:solidFill>
            <a:srgbClr val="C8A951"/>
          </a:solidFill>
          <a:ln/>
        </p:spPr>
        <p:txBody>
          <a:bodyPr/>
          <a:lstStyle/>
          <a:p>
            <a:endParaRPr lang="en-US"/>
          </a:p>
        </p:txBody>
      </p:sp>
      <p:sp>
        <p:nvSpPr>
          <p:cNvPr id="32" name="Text 30"/>
          <p:cNvSpPr/>
          <p:nvPr/>
        </p:nvSpPr>
        <p:spPr>
          <a:xfrm>
            <a:off x="8394192" y="3904488"/>
            <a:ext cx="475488" cy="475488"/>
          </a:xfrm>
          <a:prstGeom prst="rect">
            <a:avLst/>
          </a:prstGeom>
          <a:no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06</a:t>
            </a:r>
            <a:endParaRPr lang="en-US" sz="1700" dirty="0"/>
          </a:p>
        </p:txBody>
      </p:sp>
      <p:sp>
        <p:nvSpPr>
          <p:cNvPr id="33" name="Text 31"/>
          <p:cNvSpPr/>
          <p:nvPr/>
        </p:nvSpPr>
        <p:spPr>
          <a:xfrm>
            <a:off x="8339328" y="4498848"/>
            <a:ext cx="3529584" cy="457200"/>
          </a:xfrm>
          <a:prstGeom prst="rect">
            <a:avLst/>
          </a:prstGeom>
          <a:noFill/>
          <a:ln/>
        </p:spPr>
        <p:txBody>
          <a:bodyPr wrap="square" rtlCol="0" anchor="ctr"/>
          <a:lstStyle/>
          <a:p>
            <a:pPr marL="0" indent="0">
              <a:buNone/>
            </a:pPr>
            <a:r>
              <a:rPr lang="en-US" sz="1300" b="1" dirty="0" err="1">
                <a:solidFill>
                  <a:srgbClr val="0A2240"/>
                </a:solidFill>
                <a:latin typeface="Calibri" pitchFamily="34" charset="0"/>
                <a:ea typeface="Calibri" pitchFamily="34" charset="-122"/>
                <a:cs typeface="Calibri" pitchFamily="34" charset="-120"/>
              </a:rPr>
              <a:t>Synthèses</a:t>
            </a:r>
            <a:endParaRPr lang="en-US" sz="1300" dirty="0"/>
          </a:p>
        </p:txBody>
      </p:sp>
      <p:sp>
        <p:nvSpPr>
          <p:cNvPr id="35" name="Shape 33"/>
          <p:cNvSpPr/>
          <p:nvPr/>
        </p:nvSpPr>
        <p:spPr>
          <a:xfrm>
            <a:off x="365760" y="6565392"/>
            <a:ext cx="11430000" cy="0"/>
          </a:xfrm>
          <a:prstGeom prst="line">
            <a:avLst/>
          </a:prstGeom>
          <a:noFill/>
          <a:ln w="6350">
            <a:solidFill>
              <a:srgbClr val="CBD5E1"/>
            </a:solidFill>
            <a:prstDash val="solid"/>
          </a:ln>
        </p:spPr>
        <p:txBody>
          <a:bodyPr/>
          <a:lstStyle/>
          <a:p>
            <a:endParaRPr lang="en-US"/>
          </a:p>
        </p:txBody>
      </p:sp>
      <p:sp>
        <p:nvSpPr>
          <p:cNvPr id="36" name="Text 34"/>
          <p:cNvSpPr/>
          <p:nvPr/>
        </p:nvSpPr>
        <p:spPr>
          <a:xfrm>
            <a:off x="365760" y="6601968"/>
            <a:ext cx="11430000" cy="201168"/>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Africa Global Logistics – Étude de Marché Jan–Mai 2026    p.2</a:t>
            </a:r>
            <a:endParaRPr lang="en-US" sz="850" dirty="0"/>
          </a:p>
        </p:txBody>
      </p:sp>
      <p:pic>
        <p:nvPicPr>
          <p:cNvPr id="38" name="Image 37" descr="Une image contenant texte, Police, Graphique, logo  Description générée automatiquement">
            <a:extLst>
              <a:ext uri="{FF2B5EF4-FFF2-40B4-BE49-F238E27FC236}">
                <a16:creationId xmlns:a16="http://schemas.microsoft.com/office/drawing/2014/main" id="{E92B6E1E-4FAE-EF05-65EF-C69B706E127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1488450" y="6549898"/>
            <a:ext cx="450027" cy="29240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A2240"/>
          </a:solidFill>
          <a:ln w="12700">
            <a:solidFill>
              <a:srgbClr val="0A2240"/>
            </a:solidFill>
            <a:prstDash val="solid"/>
          </a:ln>
        </p:spPr>
        <p:txBody>
          <a:bodyPr/>
          <a:lstStyle/>
          <a:p>
            <a:endParaRPr lang="en-US"/>
          </a:p>
        </p:txBody>
      </p:sp>
      <p:sp>
        <p:nvSpPr>
          <p:cNvPr id="3" name="Shape 1"/>
          <p:cNvSpPr/>
          <p:nvPr/>
        </p:nvSpPr>
        <p:spPr>
          <a:xfrm>
            <a:off x="4389120" y="3246120"/>
            <a:ext cx="3383280" cy="64008"/>
          </a:xfrm>
          <a:prstGeom prst="rect">
            <a:avLst/>
          </a:prstGeom>
          <a:solidFill>
            <a:srgbClr val="C8A951"/>
          </a:solidFill>
          <a:ln w="12700">
            <a:solidFill>
              <a:srgbClr val="C8A951"/>
            </a:solidFill>
            <a:prstDash val="solid"/>
          </a:ln>
        </p:spPr>
        <p:txBody>
          <a:bodyPr/>
          <a:lstStyle/>
          <a:p>
            <a:endParaRPr lang="en-US"/>
          </a:p>
        </p:txBody>
      </p:sp>
      <p:sp>
        <p:nvSpPr>
          <p:cNvPr id="4" name="Text 2"/>
          <p:cNvSpPr/>
          <p:nvPr/>
        </p:nvSpPr>
        <p:spPr>
          <a:xfrm>
            <a:off x="0" y="1645920"/>
            <a:ext cx="12161520" cy="1371600"/>
          </a:xfrm>
          <a:prstGeom prst="rect">
            <a:avLst/>
          </a:prstGeom>
          <a:noFill/>
          <a:ln/>
        </p:spPr>
        <p:txBody>
          <a:bodyPr wrap="square" rtlCol="0" anchor="ctr"/>
          <a:lstStyle/>
          <a:p>
            <a:pPr marL="0" indent="0" algn="ctr">
              <a:buNone/>
            </a:pPr>
            <a:r>
              <a:rPr lang="en-US" sz="11000" b="1" dirty="0">
                <a:solidFill>
                  <a:srgbClr val="FFFFFF">
                    <a:alpha val="12000"/>
                  </a:srgbClr>
                </a:solidFill>
                <a:latin typeface="Calibri" pitchFamily="34" charset="0"/>
                <a:ea typeface="Calibri" pitchFamily="34" charset="-122"/>
                <a:cs typeface="Calibri" pitchFamily="34" charset="-120"/>
              </a:rPr>
              <a:t>01</a:t>
            </a:r>
            <a:endParaRPr lang="en-US" sz="11000" dirty="0"/>
          </a:p>
        </p:txBody>
      </p:sp>
      <p:sp>
        <p:nvSpPr>
          <p:cNvPr id="5" name="Text 3"/>
          <p:cNvSpPr/>
          <p:nvPr/>
        </p:nvSpPr>
        <p:spPr>
          <a:xfrm>
            <a:off x="1371600" y="2651760"/>
            <a:ext cx="9418320" cy="822960"/>
          </a:xfrm>
          <a:prstGeom prst="rect">
            <a:avLst/>
          </a:prstGeom>
          <a:noFill/>
          <a:ln/>
        </p:spPr>
        <p:txBody>
          <a:bodyPr wrap="square" rtlCol="0" anchor="ctr"/>
          <a:lstStyle/>
          <a:p>
            <a:pPr marL="0" indent="0" algn="ctr">
              <a:buNone/>
            </a:pPr>
            <a:r>
              <a:rPr lang="en-US" sz="3400" b="1" dirty="0">
                <a:solidFill>
                  <a:srgbClr val="FFFFFF"/>
                </a:solidFill>
                <a:latin typeface="Calibri" pitchFamily="34" charset="0"/>
                <a:ea typeface="Calibri" pitchFamily="34" charset="-122"/>
                <a:cs typeface="Calibri" pitchFamily="34" charset="-120"/>
              </a:rPr>
              <a:t>TRANSIT IMPORT MARITIME (TIM)</a:t>
            </a:r>
            <a:endParaRPr lang="en-US" sz="3400" dirty="0"/>
          </a:p>
        </p:txBody>
      </p:sp>
      <p:sp>
        <p:nvSpPr>
          <p:cNvPr id="6" name="Text 4"/>
          <p:cNvSpPr/>
          <p:nvPr/>
        </p:nvSpPr>
        <p:spPr>
          <a:xfrm>
            <a:off x="1371600" y="3520440"/>
            <a:ext cx="9418320" cy="457200"/>
          </a:xfrm>
          <a:prstGeom prst="rect">
            <a:avLst/>
          </a:prstGeom>
          <a:noFill/>
          <a:ln/>
        </p:spPr>
        <p:txBody>
          <a:bodyPr wrap="square" rtlCol="0" anchor="ctr"/>
          <a:lstStyle/>
          <a:p>
            <a:pPr marL="0" indent="0" algn="ctr">
              <a:buNone/>
            </a:pPr>
            <a:r>
              <a:rPr lang="en-US" sz="1400" i="1" dirty="0">
                <a:solidFill>
                  <a:srgbClr val="C8A951"/>
                </a:solidFill>
                <a:latin typeface="Calibri" pitchFamily="34" charset="0"/>
                <a:ea typeface="Calibri" pitchFamily="34" charset="-122"/>
                <a:cs typeface="Calibri" pitchFamily="34" charset="-120"/>
              </a:rPr>
              <a:t>193 989 TEU qualifiés  |  PDM AGL : 7,8%  |  Leader #1</a:t>
            </a:r>
            <a:endParaRPr lang="en-US" sz="1400" dirty="0"/>
          </a:p>
        </p:txBody>
      </p:sp>
      <p:sp>
        <p:nvSpPr>
          <p:cNvPr id="7" name="Text 5"/>
          <p:cNvSpPr/>
          <p:nvPr/>
        </p:nvSpPr>
        <p:spPr>
          <a:xfrm>
            <a:off x="0" y="6263640"/>
            <a:ext cx="12161520" cy="347472"/>
          </a:xfrm>
          <a:prstGeom prst="rect">
            <a:avLst/>
          </a:prstGeom>
          <a:noFill/>
          <a:ln/>
        </p:spPr>
        <p:txBody>
          <a:bodyPr wrap="square" rtlCol="0" anchor="ctr"/>
          <a:lstStyle/>
          <a:p>
            <a:pPr marL="0" indent="0" algn="ctr">
              <a:buNone/>
            </a:pPr>
            <a:r>
              <a:rPr lang="en-US" sz="1000" dirty="0">
                <a:solidFill>
                  <a:srgbClr val="C8A951"/>
                </a:solidFill>
                <a:latin typeface="Calibri" pitchFamily="34" charset="0"/>
                <a:ea typeface="Calibri" pitchFamily="34" charset="-122"/>
                <a:cs typeface="Calibri" pitchFamily="34" charset="-120"/>
              </a:rPr>
              <a:t>Africa Global Logistics – Étude de Marché Jan–Mai 2026</a:t>
            </a:r>
            <a:endParaRPr lang="en-US" sz="1000" dirty="0"/>
          </a:p>
        </p:txBody>
      </p:sp>
      <p:pic>
        <p:nvPicPr>
          <p:cNvPr id="8" name="Image 7" descr="Une image contenant texte, Police, Graphique, logo  Description générée automatiquement">
            <a:extLst>
              <a:ext uri="{FF2B5EF4-FFF2-40B4-BE49-F238E27FC236}">
                <a16:creationId xmlns:a16="http://schemas.microsoft.com/office/drawing/2014/main" id="{BBA70A3D-C7DD-C40F-ACEB-2C05EBE40C3B}"/>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1369762" y="6214669"/>
            <a:ext cx="608878" cy="39562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0A2240"/>
          </a:solidFill>
          <a:ln w="12700">
            <a:solidFill>
              <a:srgbClr val="0A2240"/>
            </a:solidFill>
            <a:prstDash val="solid"/>
          </a:ln>
        </p:spPr>
        <p:txBody>
          <a:bodyPr/>
          <a:lstStyle/>
          <a:p>
            <a:endParaRPr lang="en-US"/>
          </a:p>
        </p:txBody>
      </p:sp>
      <p:sp>
        <p:nvSpPr>
          <p:cNvPr id="3" name="Text 1"/>
          <p:cNvSpPr/>
          <p:nvPr/>
        </p:nvSpPr>
        <p:spPr>
          <a:xfrm>
            <a:off x="365760" y="54864"/>
            <a:ext cx="11430000" cy="65836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TIM – VUE D'ENSEMBLE  |  Jan–Mai 2026</a:t>
            </a:r>
            <a:endParaRPr lang="en-US" sz="2400" dirty="0"/>
          </a:p>
        </p:txBody>
      </p:sp>
      <p:sp>
        <p:nvSpPr>
          <p:cNvPr id="4" name="Text 2"/>
          <p:cNvSpPr/>
          <p:nvPr/>
        </p:nvSpPr>
        <p:spPr>
          <a:xfrm>
            <a:off x="365760" y="676656"/>
            <a:ext cx="11430000" cy="329184"/>
          </a:xfrm>
          <a:prstGeom prst="rect">
            <a:avLst/>
          </a:prstGeom>
          <a:noFill/>
          <a:ln/>
        </p:spPr>
        <p:txBody>
          <a:bodyPr wrap="square" rtlCol="0" anchor="ctr"/>
          <a:lstStyle/>
          <a:p>
            <a:pPr marL="0" indent="0">
              <a:buNone/>
            </a:pPr>
            <a:r>
              <a:rPr lang="en-US" sz="1200" i="1" dirty="0">
                <a:solidFill>
                  <a:srgbClr val="C8A951"/>
                </a:solidFill>
                <a:latin typeface="Calibri" pitchFamily="34" charset="0"/>
                <a:ea typeface="Calibri" pitchFamily="34" charset="-122"/>
                <a:cs typeface="Calibri" pitchFamily="34" charset="-120"/>
              </a:rPr>
              <a:t>Marché qualifié : 193 989 TEU  |  AGL : 15 133 TEU  |  PDM AGL : 7,8% (Leader #1)</a:t>
            </a:r>
            <a:endParaRPr lang="en-US" sz="1200" dirty="0"/>
          </a:p>
        </p:txBody>
      </p:sp>
      <p:sp>
        <p:nvSpPr>
          <p:cNvPr id="5" name="Shape 3"/>
          <p:cNvSpPr/>
          <p:nvPr/>
        </p:nvSpPr>
        <p:spPr>
          <a:xfrm>
            <a:off x="320040" y="1143000"/>
            <a:ext cx="2148840" cy="1051560"/>
          </a:xfrm>
          <a:prstGeom prst="roundRect">
            <a:avLst>
              <a:gd name="adj" fmla="val 6957"/>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6" name="Text 4"/>
          <p:cNvSpPr/>
          <p:nvPr/>
        </p:nvSpPr>
        <p:spPr>
          <a:xfrm>
            <a:off x="411480" y="1234440"/>
            <a:ext cx="1965960" cy="274320"/>
          </a:xfrm>
          <a:prstGeom prst="rect">
            <a:avLst/>
          </a:prstGeom>
          <a:noFill/>
          <a:ln/>
        </p:spPr>
        <p:txBody>
          <a:bodyPr wrap="square" rtlCol="0" anchor="ctr"/>
          <a:lstStyle/>
          <a:p>
            <a:pPr marL="0" indent="0" algn="ctr">
              <a:buNone/>
            </a:pPr>
            <a:r>
              <a:rPr lang="en-US" sz="900" b="1" dirty="0">
                <a:solidFill>
                  <a:srgbClr val="64748B"/>
                </a:solidFill>
                <a:latin typeface="Calibri" pitchFamily="34" charset="0"/>
                <a:ea typeface="Calibri" pitchFamily="34" charset="-122"/>
                <a:cs typeface="Calibri" pitchFamily="34" charset="-120"/>
              </a:rPr>
              <a:t>MARCHÉ QUALIFIÉ</a:t>
            </a:r>
            <a:endParaRPr lang="en-US" sz="900" dirty="0"/>
          </a:p>
        </p:txBody>
      </p:sp>
      <p:sp>
        <p:nvSpPr>
          <p:cNvPr id="7" name="Text 5"/>
          <p:cNvSpPr/>
          <p:nvPr/>
        </p:nvSpPr>
        <p:spPr>
          <a:xfrm>
            <a:off x="365760" y="1490472"/>
            <a:ext cx="2057400" cy="457200"/>
          </a:xfrm>
          <a:prstGeom prst="rect">
            <a:avLst/>
          </a:prstGeom>
          <a:noFill/>
          <a:ln/>
        </p:spPr>
        <p:txBody>
          <a:bodyPr wrap="square" rtlCol="0" anchor="ctr"/>
          <a:lstStyle/>
          <a:p>
            <a:pPr marL="0" indent="0" algn="ctr">
              <a:buNone/>
            </a:pPr>
            <a:r>
              <a:rPr lang="en-US" sz="2100" b="1" dirty="0">
                <a:solidFill>
                  <a:srgbClr val="0A2240"/>
                </a:solidFill>
                <a:latin typeface="Calibri" pitchFamily="34" charset="0"/>
                <a:ea typeface="Calibri" pitchFamily="34" charset="-122"/>
                <a:cs typeface="Calibri" pitchFamily="34" charset="-120"/>
              </a:rPr>
              <a:t>193 989</a:t>
            </a:r>
            <a:endParaRPr lang="en-US" sz="2100" dirty="0"/>
          </a:p>
        </p:txBody>
      </p:sp>
      <p:sp>
        <p:nvSpPr>
          <p:cNvPr id="8" name="Text 6"/>
          <p:cNvSpPr/>
          <p:nvPr/>
        </p:nvSpPr>
        <p:spPr>
          <a:xfrm>
            <a:off x="393192" y="1901952"/>
            <a:ext cx="2002536" cy="201168"/>
          </a:xfrm>
          <a:prstGeom prst="rect">
            <a:avLst/>
          </a:prstGeom>
          <a:noFill/>
          <a:ln/>
        </p:spPr>
        <p:txBody>
          <a:bodyPr wrap="square" rtlCol="0" anchor="ctr"/>
          <a:lstStyle/>
          <a:p>
            <a:pPr marL="0" indent="0" algn="ctr">
              <a:buNone/>
            </a:pPr>
            <a:r>
              <a:rPr lang="en-US" sz="850" dirty="0">
                <a:solidFill>
                  <a:srgbClr val="64748B"/>
                </a:solidFill>
                <a:latin typeface="Calibri" pitchFamily="34" charset="0"/>
                <a:ea typeface="Calibri" pitchFamily="34" charset="-122"/>
                <a:cs typeface="Calibri" pitchFamily="34" charset="-120"/>
              </a:rPr>
              <a:t>TEU Jan–Mai 2026</a:t>
            </a:r>
            <a:endParaRPr lang="en-US" sz="850" dirty="0"/>
          </a:p>
        </p:txBody>
      </p:sp>
      <p:sp>
        <p:nvSpPr>
          <p:cNvPr id="9" name="Shape 7"/>
          <p:cNvSpPr/>
          <p:nvPr/>
        </p:nvSpPr>
        <p:spPr>
          <a:xfrm>
            <a:off x="2642616" y="1143000"/>
            <a:ext cx="2148840" cy="1051560"/>
          </a:xfrm>
          <a:prstGeom prst="roundRect">
            <a:avLst>
              <a:gd name="adj" fmla="val 6957"/>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10" name="Text 8"/>
          <p:cNvSpPr/>
          <p:nvPr/>
        </p:nvSpPr>
        <p:spPr>
          <a:xfrm>
            <a:off x="2734056" y="1234440"/>
            <a:ext cx="1965960" cy="274320"/>
          </a:xfrm>
          <a:prstGeom prst="rect">
            <a:avLst/>
          </a:prstGeom>
          <a:noFill/>
          <a:ln/>
        </p:spPr>
        <p:txBody>
          <a:bodyPr wrap="square" rtlCol="0" anchor="ctr"/>
          <a:lstStyle/>
          <a:p>
            <a:pPr marL="0" indent="0" algn="ctr">
              <a:buNone/>
            </a:pPr>
            <a:r>
              <a:rPr lang="en-US" sz="900" b="1" dirty="0">
                <a:solidFill>
                  <a:srgbClr val="64748B"/>
                </a:solidFill>
                <a:latin typeface="Calibri" pitchFamily="34" charset="0"/>
                <a:ea typeface="Calibri" pitchFamily="34" charset="-122"/>
                <a:cs typeface="Calibri" pitchFamily="34" charset="-120"/>
              </a:rPr>
              <a:t>VOLUME AGL</a:t>
            </a:r>
            <a:endParaRPr lang="en-US" sz="900" dirty="0"/>
          </a:p>
        </p:txBody>
      </p:sp>
      <p:sp>
        <p:nvSpPr>
          <p:cNvPr id="11" name="Text 9"/>
          <p:cNvSpPr/>
          <p:nvPr/>
        </p:nvSpPr>
        <p:spPr>
          <a:xfrm>
            <a:off x="2688336" y="1490472"/>
            <a:ext cx="2057400" cy="457200"/>
          </a:xfrm>
          <a:prstGeom prst="rect">
            <a:avLst/>
          </a:prstGeom>
          <a:noFill/>
          <a:ln/>
        </p:spPr>
        <p:txBody>
          <a:bodyPr wrap="square" rtlCol="0" anchor="ctr"/>
          <a:lstStyle/>
          <a:p>
            <a:pPr marL="0" indent="0" algn="ctr">
              <a:buNone/>
            </a:pPr>
            <a:r>
              <a:rPr lang="en-US" sz="2100" b="1" dirty="0">
                <a:solidFill>
                  <a:srgbClr val="0A2240"/>
                </a:solidFill>
                <a:latin typeface="Calibri" pitchFamily="34" charset="0"/>
                <a:ea typeface="Calibri" pitchFamily="34" charset="-122"/>
                <a:cs typeface="Calibri" pitchFamily="34" charset="-120"/>
              </a:rPr>
              <a:t>15 133</a:t>
            </a:r>
            <a:endParaRPr lang="en-US" sz="2100" dirty="0"/>
          </a:p>
        </p:txBody>
      </p:sp>
      <p:sp>
        <p:nvSpPr>
          <p:cNvPr id="12" name="Text 10"/>
          <p:cNvSpPr/>
          <p:nvPr/>
        </p:nvSpPr>
        <p:spPr>
          <a:xfrm>
            <a:off x="2715768" y="1901952"/>
            <a:ext cx="2002536" cy="201168"/>
          </a:xfrm>
          <a:prstGeom prst="rect">
            <a:avLst/>
          </a:prstGeom>
          <a:noFill/>
          <a:ln/>
        </p:spPr>
        <p:txBody>
          <a:bodyPr wrap="square" rtlCol="0" anchor="ctr"/>
          <a:lstStyle/>
          <a:p>
            <a:pPr marL="0" indent="0" algn="ctr">
              <a:buNone/>
            </a:pPr>
            <a:r>
              <a:rPr lang="en-US" sz="850" dirty="0">
                <a:solidFill>
                  <a:srgbClr val="64748B"/>
                </a:solidFill>
                <a:latin typeface="Calibri" pitchFamily="34" charset="0"/>
                <a:ea typeface="Calibri" pitchFamily="34" charset="-122"/>
                <a:cs typeface="Calibri" pitchFamily="34" charset="-120"/>
              </a:rPr>
              <a:t>TEU Jan–Mai 2026</a:t>
            </a:r>
            <a:endParaRPr lang="en-US" sz="850" dirty="0"/>
          </a:p>
        </p:txBody>
      </p:sp>
      <p:sp>
        <p:nvSpPr>
          <p:cNvPr id="13" name="Shape 11"/>
          <p:cNvSpPr/>
          <p:nvPr/>
        </p:nvSpPr>
        <p:spPr>
          <a:xfrm>
            <a:off x="4965192" y="1143000"/>
            <a:ext cx="2148840" cy="1051560"/>
          </a:xfrm>
          <a:prstGeom prst="roundRect">
            <a:avLst>
              <a:gd name="adj" fmla="val 6957"/>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14" name="Text 12"/>
          <p:cNvSpPr/>
          <p:nvPr/>
        </p:nvSpPr>
        <p:spPr>
          <a:xfrm>
            <a:off x="5056632" y="1234440"/>
            <a:ext cx="1965960" cy="274320"/>
          </a:xfrm>
          <a:prstGeom prst="rect">
            <a:avLst/>
          </a:prstGeom>
          <a:noFill/>
          <a:ln/>
        </p:spPr>
        <p:txBody>
          <a:bodyPr wrap="square" rtlCol="0" anchor="ctr"/>
          <a:lstStyle/>
          <a:p>
            <a:pPr marL="0" indent="0" algn="ctr">
              <a:buNone/>
            </a:pPr>
            <a:r>
              <a:rPr lang="en-US" sz="900" b="1" dirty="0">
                <a:solidFill>
                  <a:srgbClr val="64748B"/>
                </a:solidFill>
                <a:latin typeface="Calibri" pitchFamily="34" charset="0"/>
                <a:ea typeface="Calibri" pitchFamily="34" charset="-122"/>
                <a:cs typeface="Calibri" pitchFamily="34" charset="-120"/>
              </a:rPr>
              <a:t>PDM AGL</a:t>
            </a:r>
            <a:endParaRPr lang="en-US" sz="900" dirty="0"/>
          </a:p>
        </p:txBody>
      </p:sp>
      <p:sp>
        <p:nvSpPr>
          <p:cNvPr id="15" name="Text 13"/>
          <p:cNvSpPr/>
          <p:nvPr/>
        </p:nvSpPr>
        <p:spPr>
          <a:xfrm>
            <a:off x="5010912" y="1490472"/>
            <a:ext cx="2057400" cy="457200"/>
          </a:xfrm>
          <a:prstGeom prst="rect">
            <a:avLst/>
          </a:prstGeom>
          <a:noFill/>
          <a:ln/>
        </p:spPr>
        <p:txBody>
          <a:bodyPr wrap="square" rtlCol="0" anchor="ctr"/>
          <a:lstStyle/>
          <a:p>
            <a:pPr marL="0" indent="0" algn="ctr">
              <a:buNone/>
            </a:pPr>
            <a:r>
              <a:rPr lang="en-US" sz="2100" b="1" dirty="0">
                <a:solidFill>
                  <a:srgbClr val="16A34A"/>
                </a:solidFill>
                <a:latin typeface="Calibri" pitchFamily="34" charset="0"/>
                <a:ea typeface="Calibri" pitchFamily="34" charset="-122"/>
                <a:cs typeface="Calibri" pitchFamily="34" charset="-120"/>
              </a:rPr>
              <a:t>7,8 %</a:t>
            </a:r>
            <a:endParaRPr lang="en-US" sz="2100" dirty="0"/>
          </a:p>
        </p:txBody>
      </p:sp>
      <p:sp>
        <p:nvSpPr>
          <p:cNvPr id="16" name="Text 14"/>
          <p:cNvSpPr/>
          <p:nvPr/>
        </p:nvSpPr>
        <p:spPr>
          <a:xfrm>
            <a:off x="5038344" y="1901952"/>
            <a:ext cx="2002536" cy="201168"/>
          </a:xfrm>
          <a:prstGeom prst="rect">
            <a:avLst/>
          </a:prstGeom>
          <a:noFill/>
          <a:ln/>
        </p:spPr>
        <p:txBody>
          <a:bodyPr wrap="square" rtlCol="0" anchor="ctr"/>
          <a:lstStyle/>
          <a:p>
            <a:pPr marL="0" indent="0" algn="ctr">
              <a:buNone/>
            </a:pPr>
            <a:r>
              <a:rPr lang="en-US" sz="850" dirty="0">
                <a:solidFill>
                  <a:srgbClr val="64748B"/>
                </a:solidFill>
                <a:latin typeface="Calibri" pitchFamily="34" charset="0"/>
                <a:ea typeface="Calibri" pitchFamily="34" charset="-122"/>
                <a:cs typeface="Calibri" pitchFamily="34" charset="-120"/>
              </a:rPr>
              <a:t>#1 – Leader</a:t>
            </a:r>
            <a:endParaRPr lang="en-US" sz="850" dirty="0"/>
          </a:p>
        </p:txBody>
      </p:sp>
      <p:sp>
        <p:nvSpPr>
          <p:cNvPr id="17" name="Shape 15"/>
          <p:cNvSpPr/>
          <p:nvPr/>
        </p:nvSpPr>
        <p:spPr>
          <a:xfrm>
            <a:off x="7287768" y="1143000"/>
            <a:ext cx="2148840" cy="1051560"/>
          </a:xfrm>
          <a:prstGeom prst="roundRect">
            <a:avLst>
              <a:gd name="adj" fmla="val 6957"/>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18" name="Text 16"/>
          <p:cNvSpPr/>
          <p:nvPr/>
        </p:nvSpPr>
        <p:spPr>
          <a:xfrm>
            <a:off x="7379208" y="1234440"/>
            <a:ext cx="1965960" cy="274320"/>
          </a:xfrm>
          <a:prstGeom prst="rect">
            <a:avLst/>
          </a:prstGeom>
          <a:noFill/>
          <a:ln/>
        </p:spPr>
        <p:txBody>
          <a:bodyPr wrap="square" rtlCol="0" anchor="ctr"/>
          <a:lstStyle/>
          <a:p>
            <a:pPr marL="0" indent="0" algn="ctr">
              <a:buNone/>
            </a:pPr>
            <a:r>
              <a:rPr lang="en-US" sz="900" b="1" dirty="0">
                <a:solidFill>
                  <a:srgbClr val="64748B"/>
                </a:solidFill>
                <a:latin typeface="Calibri" pitchFamily="34" charset="0"/>
                <a:ea typeface="Calibri" pitchFamily="34" charset="-122"/>
                <a:cs typeface="Calibri" pitchFamily="34" charset="-120"/>
              </a:rPr>
              <a:t>ÉCART vs #2 STRACOTRANS</a:t>
            </a:r>
            <a:endParaRPr lang="en-US" sz="900" dirty="0"/>
          </a:p>
        </p:txBody>
      </p:sp>
      <p:sp>
        <p:nvSpPr>
          <p:cNvPr id="19" name="Text 17"/>
          <p:cNvSpPr/>
          <p:nvPr/>
        </p:nvSpPr>
        <p:spPr>
          <a:xfrm>
            <a:off x="7333488" y="1490472"/>
            <a:ext cx="2057400" cy="457200"/>
          </a:xfrm>
          <a:prstGeom prst="rect">
            <a:avLst/>
          </a:prstGeom>
          <a:noFill/>
          <a:ln/>
        </p:spPr>
        <p:txBody>
          <a:bodyPr wrap="square" rtlCol="0" anchor="ctr"/>
          <a:lstStyle/>
          <a:p>
            <a:pPr marL="0" indent="0" algn="ctr">
              <a:buNone/>
            </a:pPr>
            <a:r>
              <a:rPr lang="en-US" sz="2100" b="1" dirty="0">
                <a:solidFill>
                  <a:srgbClr val="EA580C"/>
                </a:solidFill>
                <a:latin typeface="Calibri" pitchFamily="34" charset="0"/>
                <a:ea typeface="Calibri" pitchFamily="34" charset="-122"/>
                <a:cs typeface="Calibri" pitchFamily="34" charset="-120"/>
              </a:rPr>
              <a:t>+558</a:t>
            </a:r>
            <a:endParaRPr lang="en-US" sz="2100" dirty="0"/>
          </a:p>
        </p:txBody>
      </p:sp>
      <p:sp>
        <p:nvSpPr>
          <p:cNvPr id="20" name="Text 18"/>
          <p:cNvSpPr/>
          <p:nvPr/>
        </p:nvSpPr>
        <p:spPr>
          <a:xfrm>
            <a:off x="7360920" y="1901952"/>
            <a:ext cx="2002536" cy="201168"/>
          </a:xfrm>
          <a:prstGeom prst="rect">
            <a:avLst/>
          </a:prstGeom>
          <a:noFill/>
          <a:ln/>
        </p:spPr>
        <p:txBody>
          <a:bodyPr wrap="square" rtlCol="0" anchor="ctr"/>
          <a:lstStyle/>
          <a:p>
            <a:pPr marL="0" indent="0" algn="ctr">
              <a:buNone/>
            </a:pPr>
            <a:r>
              <a:rPr lang="en-US" sz="850" dirty="0">
                <a:solidFill>
                  <a:srgbClr val="64748B"/>
                </a:solidFill>
                <a:latin typeface="Calibri" pitchFamily="34" charset="0"/>
                <a:ea typeface="Calibri" pitchFamily="34" charset="-122"/>
                <a:cs typeface="Calibri" pitchFamily="34" charset="-120"/>
              </a:rPr>
              <a:t>TEU d'avance</a:t>
            </a:r>
            <a:endParaRPr lang="en-US" sz="850" dirty="0"/>
          </a:p>
        </p:txBody>
      </p:sp>
      <p:sp>
        <p:nvSpPr>
          <p:cNvPr id="21" name="Shape 19"/>
          <p:cNvSpPr/>
          <p:nvPr/>
        </p:nvSpPr>
        <p:spPr>
          <a:xfrm>
            <a:off x="9610344" y="1143000"/>
            <a:ext cx="2148840" cy="1051560"/>
          </a:xfrm>
          <a:prstGeom prst="roundRect">
            <a:avLst>
              <a:gd name="adj" fmla="val 6957"/>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22" name="Text 20"/>
          <p:cNvSpPr/>
          <p:nvPr/>
        </p:nvSpPr>
        <p:spPr>
          <a:xfrm>
            <a:off x="9701784" y="1234440"/>
            <a:ext cx="1965960" cy="274320"/>
          </a:xfrm>
          <a:prstGeom prst="rect">
            <a:avLst/>
          </a:prstGeom>
          <a:noFill/>
          <a:ln/>
        </p:spPr>
        <p:txBody>
          <a:bodyPr wrap="square" rtlCol="0" anchor="ctr"/>
          <a:lstStyle/>
          <a:p>
            <a:pPr marL="0" indent="0" algn="ctr">
              <a:buNone/>
            </a:pPr>
            <a:r>
              <a:rPr lang="en-US" sz="900" b="1" dirty="0">
                <a:solidFill>
                  <a:srgbClr val="64748B"/>
                </a:solidFill>
                <a:latin typeface="Calibri" pitchFamily="34" charset="0"/>
                <a:ea typeface="Calibri" pitchFamily="34" charset="-122"/>
                <a:cs typeface="Calibri" pitchFamily="34" charset="-120"/>
              </a:rPr>
              <a:t>CUMUL PDM TOP 4</a:t>
            </a:r>
            <a:endParaRPr lang="en-US" sz="900" dirty="0"/>
          </a:p>
        </p:txBody>
      </p:sp>
      <p:sp>
        <p:nvSpPr>
          <p:cNvPr id="23" name="Text 21"/>
          <p:cNvSpPr/>
          <p:nvPr/>
        </p:nvSpPr>
        <p:spPr>
          <a:xfrm>
            <a:off x="9656064" y="1490472"/>
            <a:ext cx="2057400" cy="457200"/>
          </a:xfrm>
          <a:prstGeom prst="rect">
            <a:avLst/>
          </a:prstGeom>
          <a:noFill/>
          <a:ln/>
        </p:spPr>
        <p:txBody>
          <a:bodyPr wrap="square" rtlCol="0" anchor="ctr"/>
          <a:lstStyle/>
          <a:p>
            <a:pPr marL="0" indent="0" algn="ctr">
              <a:buNone/>
            </a:pPr>
            <a:r>
              <a:rPr lang="en-US" sz="2100" b="1" dirty="0">
                <a:solidFill>
                  <a:srgbClr val="1E40AF"/>
                </a:solidFill>
                <a:latin typeface="Calibri" pitchFamily="34" charset="0"/>
                <a:ea typeface="Calibri" pitchFamily="34" charset="-122"/>
                <a:cs typeface="Calibri" pitchFamily="34" charset="-120"/>
              </a:rPr>
              <a:t>29,1 %</a:t>
            </a:r>
            <a:endParaRPr lang="en-US" sz="2100" dirty="0"/>
          </a:p>
        </p:txBody>
      </p:sp>
      <p:sp>
        <p:nvSpPr>
          <p:cNvPr id="24" name="Text 22"/>
          <p:cNvSpPr/>
          <p:nvPr/>
        </p:nvSpPr>
        <p:spPr>
          <a:xfrm>
            <a:off x="9683496" y="1901952"/>
            <a:ext cx="2002536" cy="201168"/>
          </a:xfrm>
          <a:prstGeom prst="rect">
            <a:avLst/>
          </a:prstGeom>
          <a:noFill/>
          <a:ln/>
        </p:spPr>
        <p:txBody>
          <a:bodyPr wrap="square" rtlCol="0" anchor="ctr"/>
          <a:lstStyle/>
          <a:p>
            <a:pPr marL="0" indent="0" algn="ctr">
              <a:buNone/>
            </a:pPr>
            <a:r>
              <a:rPr lang="en-US" sz="850" dirty="0">
                <a:solidFill>
                  <a:srgbClr val="64748B"/>
                </a:solidFill>
                <a:latin typeface="Calibri" pitchFamily="34" charset="0"/>
                <a:ea typeface="Calibri" pitchFamily="34" charset="-122"/>
                <a:cs typeface="Calibri" pitchFamily="34" charset="-120"/>
              </a:rPr>
              <a:t>AGL+STRAC+TGR+GTC</a:t>
            </a:r>
            <a:endParaRPr lang="en-US" sz="850" dirty="0"/>
          </a:p>
        </p:txBody>
      </p:sp>
      <p:sp>
        <p:nvSpPr>
          <p:cNvPr id="25" name="Text 23"/>
          <p:cNvSpPr/>
          <p:nvPr/>
        </p:nvSpPr>
        <p:spPr>
          <a:xfrm>
            <a:off x="320040" y="2395728"/>
            <a:ext cx="6766560" cy="274320"/>
          </a:xfrm>
          <a:prstGeom prst="rect">
            <a:avLst/>
          </a:prstGeom>
          <a:noFill/>
          <a:ln/>
        </p:spPr>
        <p:txBody>
          <a:bodyPr wrap="square" rtlCol="0" anchor="ctr"/>
          <a:lstStyle/>
          <a:p>
            <a:pPr marL="0" indent="0">
              <a:buNone/>
            </a:pPr>
            <a:r>
              <a:rPr lang="en-US" sz="1200" b="1" dirty="0">
                <a:solidFill>
                  <a:srgbClr val="0A2240"/>
                </a:solidFill>
                <a:latin typeface="Calibri" pitchFamily="34" charset="0"/>
                <a:ea typeface="Calibri" pitchFamily="34" charset="-122"/>
                <a:cs typeface="Calibri" pitchFamily="34" charset="-120"/>
              </a:rPr>
              <a:t>Évolution mensuelle marché TIM &amp; AGL (TEU)</a:t>
            </a:r>
            <a:endParaRPr lang="en-US" sz="1200" dirty="0"/>
          </a:p>
        </p:txBody>
      </p:sp>
      <p:graphicFrame>
        <p:nvGraphicFramePr>
          <p:cNvPr id="26" name="Chart 0"/>
          <p:cNvGraphicFramePr/>
          <p:nvPr/>
        </p:nvGraphicFramePr>
        <p:xfrm>
          <a:off x="320040" y="2697480"/>
          <a:ext cx="6766560"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27" name="Text 24"/>
          <p:cNvSpPr/>
          <p:nvPr/>
        </p:nvSpPr>
        <p:spPr>
          <a:xfrm>
            <a:off x="7223760" y="2395728"/>
            <a:ext cx="4572000" cy="274320"/>
          </a:xfrm>
          <a:prstGeom prst="rect">
            <a:avLst/>
          </a:prstGeom>
          <a:noFill/>
          <a:ln/>
        </p:spPr>
        <p:txBody>
          <a:bodyPr wrap="square" rtlCol="0" anchor="ctr"/>
          <a:lstStyle/>
          <a:p>
            <a:pPr marL="0" indent="0">
              <a:buNone/>
            </a:pPr>
            <a:r>
              <a:rPr lang="en-US" sz="1200" b="1" dirty="0">
                <a:solidFill>
                  <a:srgbClr val="0A2240"/>
                </a:solidFill>
                <a:latin typeface="Calibri" pitchFamily="34" charset="0"/>
                <a:ea typeface="Calibri" pitchFamily="34" charset="-122"/>
                <a:cs typeface="Calibri" pitchFamily="34" charset="-120"/>
              </a:rPr>
              <a:t>PDM AGL par mois – TIM</a:t>
            </a:r>
            <a:endParaRPr lang="en-US" sz="1200" dirty="0"/>
          </a:p>
        </p:txBody>
      </p:sp>
      <p:sp>
        <p:nvSpPr>
          <p:cNvPr id="28" name="Shape 25"/>
          <p:cNvSpPr/>
          <p:nvPr/>
        </p:nvSpPr>
        <p:spPr>
          <a:xfrm>
            <a:off x="7223760" y="2655062"/>
            <a:ext cx="4572000" cy="548640"/>
          </a:xfrm>
          <a:prstGeom prst="roundRect">
            <a:avLst>
              <a:gd name="adj" fmla="val 10000"/>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29" name="Text 26"/>
          <p:cNvSpPr/>
          <p:nvPr/>
        </p:nvSpPr>
        <p:spPr>
          <a:xfrm>
            <a:off x="7360920" y="2655062"/>
            <a:ext cx="1417320" cy="548640"/>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Janvier</a:t>
            </a:r>
            <a:endParaRPr lang="en-US" sz="1100" dirty="0"/>
          </a:p>
        </p:txBody>
      </p:sp>
      <p:sp>
        <p:nvSpPr>
          <p:cNvPr id="30" name="Shape 27"/>
          <p:cNvSpPr/>
          <p:nvPr/>
        </p:nvSpPr>
        <p:spPr>
          <a:xfrm>
            <a:off x="8869680" y="2837942"/>
            <a:ext cx="2240280" cy="182880"/>
          </a:xfrm>
          <a:prstGeom prst="rect">
            <a:avLst/>
          </a:prstGeom>
          <a:solidFill>
            <a:srgbClr val="CBD5E1"/>
          </a:solidFill>
          <a:ln w="12700">
            <a:solidFill>
              <a:srgbClr val="CBD5E1"/>
            </a:solidFill>
            <a:prstDash val="solid"/>
          </a:ln>
        </p:spPr>
        <p:txBody>
          <a:bodyPr/>
          <a:lstStyle/>
          <a:p>
            <a:endParaRPr lang="en-US"/>
          </a:p>
        </p:txBody>
      </p:sp>
      <p:sp>
        <p:nvSpPr>
          <p:cNvPr id="31" name="Shape 28"/>
          <p:cNvSpPr/>
          <p:nvPr/>
        </p:nvSpPr>
        <p:spPr>
          <a:xfrm>
            <a:off x="8869680" y="2837942"/>
            <a:ext cx="1859432" cy="182880"/>
          </a:xfrm>
          <a:prstGeom prst="rect">
            <a:avLst/>
          </a:prstGeom>
          <a:solidFill>
            <a:srgbClr val="16A34A"/>
          </a:solidFill>
          <a:ln w="12700">
            <a:solidFill>
              <a:srgbClr val="16A34A"/>
            </a:solidFill>
            <a:prstDash val="solid"/>
          </a:ln>
        </p:spPr>
        <p:txBody>
          <a:bodyPr/>
          <a:lstStyle/>
          <a:p>
            <a:endParaRPr lang="en-US"/>
          </a:p>
        </p:txBody>
      </p:sp>
      <p:sp>
        <p:nvSpPr>
          <p:cNvPr id="32" name="Text 29"/>
          <p:cNvSpPr/>
          <p:nvPr/>
        </p:nvSpPr>
        <p:spPr>
          <a:xfrm>
            <a:off x="11109960" y="2655062"/>
            <a:ext cx="640080" cy="548640"/>
          </a:xfrm>
          <a:prstGeom prst="rect">
            <a:avLst/>
          </a:prstGeom>
          <a:noFill/>
          <a:ln/>
        </p:spPr>
        <p:txBody>
          <a:bodyPr wrap="square" rtlCol="0" anchor="ctr"/>
          <a:lstStyle/>
          <a:p>
            <a:pPr marL="0" indent="0" algn="r">
              <a:buNone/>
            </a:pPr>
            <a:r>
              <a:rPr lang="en-US" sz="1200" b="1" dirty="0">
                <a:solidFill>
                  <a:srgbClr val="16A34A"/>
                </a:solidFill>
                <a:latin typeface="Calibri" pitchFamily="34" charset="0"/>
                <a:ea typeface="Calibri" pitchFamily="34" charset="-122"/>
                <a:cs typeface="Calibri" pitchFamily="34" charset="-120"/>
              </a:rPr>
              <a:t>8.3%</a:t>
            </a:r>
            <a:endParaRPr lang="en-US" sz="1200" dirty="0"/>
          </a:p>
        </p:txBody>
      </p:sp>
      <p:sp>
        <p:nvSpPr>
          <p:cNvPr id="33" name="Shape 30"/>
          <p:cNvSpPr/>
          <p:nvPr/>
        </p:nvSpPr>
        <p:spPr>
          <a:xfrm>
            <a:off x="7223760" y="3313430"/>
            <a:ext cx="4572000" cy="548640"/>
          </a:xfrm>
          <a:prstGeom prst="roundRect">
            <a:avLst>
              <a:gd name="adj" fmla="val 10000"/>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34" name="Text 31"/>
          <p:cNvSpPr/>
          <p:nvPr/>
        </p:nvSpPr>
        <p:spPr>
          <a:xfrm>
            <a:off x="7360920" y="3313430"/>
            <a:ext cx="1417320" cy="548640"/>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Février</a:t>
            </a:r>
            <a:endParaRPr lang="en-US" sz="1100" dirty="0"/>
          </a:p>
        </p:txBody>
      </p:sp>
      <p:sp>
        <p:nvSpPr>
          <p:cNvPr id="35" name="Shape 32"/>
          <p:cNvSpPr/>
          <p:nvPr/>
        </p:nvSpPr>
        <p:spPr>
          <a:xfrm>
            <a:off x="8869680" y="3496310"/>
            <a:ext cx="2240280" cy="182880"/>
          </a:xfrm>
          <a:prstGeom prst="rect">
            <a:avLst/>
          </a:prstGeom>
          <a:solidFill>
            <a:srgbClr val="CBD5E1"/>
          </a:solidFill>
          <a:ln w="12700">
            <a:solidFill>
              <a:srgbClr val="CBD5E1"/>
            </a:solidFill>
            <a:prstDash val="solid"/>
          </a:ln>
        </p:spPr>
        <p:txBody>
          <a:bodyPr/>
          <a:lstStyle/>
          <a:p>
            <a:endParaRPr lang="en-US"/>
          </a:p>
        </p:txBody>
      </p:sp>
      <p:sp>
        <p:nvSpPr>
          <p:cNvPr id="36" name="Shape 33"/>
          <p:cNvSpPr/>
          <p:nvPr/>
        </p:nvSpPr>
        <p:spPr>
          <a:xfrm>
            <a:off x="8869680" y="3496310"/>
            <a:ext cx="1545793" cy="182880"/>
          </a:xfrm>
          <a:prstGeom prst="rect">
            <a:avLst/>
          </a:prstGeom>
          <a:solidFill>
            <a:srgbClr val="EA580C"/>
          </a:solidFill>
          <a:ln w="12700">
            <a:solidFill>
              <a:srgbClr val="EA580C"/>
            </a:solidFill>
            <a:prstDash val="solid"/>
          </a:ln>
        </p:spPr>
        <p:txBody>
          <a:bodyPr/>
          <a:lstStyle/>
          <a:p>
            <a:endParaRPr lang="en-US"/>
          </a:p>
        </p:txBody>
      </p:sp>
      <p:sp>
        <p:nvSpPr>
          <p:cNvPr id="37" name="Text 34"/>
          <p:cNvSpPr/>
          <p:nvPr/>
        </p:nvSpPr>
        <p:spPr>
          <a:xfrm>
            <a:off x="11109960" y="3313430"/>
            <a:ext cx="640080" cy="548640"/>
          </a:xfrm>
          <a:prstGeom prst="rect">
            <a:avLst/>
          </a:prstGeom>
          <a:noFill/>
          <a:ln/>
        </p:spPr>
        <p:txBody>
          <a:bodyPr wrap="square" rtlCol="0" anchor="ctr"/>
          <a:lstStyle/>
          <a:p>
            <a:pPr marL="0" indent="0" algn="r">
              <a:buNone/>
            </a:pPr>
            <a:r>
              <a:rPr lang="en-US" sz="1200" b="1" dirty="0">
                <a:solidFill>
                  <a:srgbClr val="EA580C"/>
                </a:solidFill>
                <a:latin typeface="Calibri" pitchFamily="34" charset="0"/>
                <a:ea typeface="Calibri" pitchFamily="34" charset="-122"/>
                <a:cs typeface="Calibri" pitchFamily="34" charset="-120"/>
              </a:rPr>
              <a:t>6.9%</a:t>
            </a:r>
            <a:endParaRPr lang="en-US" sz="1200" dirty="0"/>
          </a:p>
        </p:txBody>
      </p:sp>
      <p:sp>
        <p:nvSpPr>
          <p:cNvPr id="38" name="Shape 35"/>
          <p:cNvSpPr/>
          <p:nvPr/>
        </p:nvSpPr>
        <p:spPr>
          <a:xfrm>
            <a:off x="7223760" y="3971798"/>
            <a:ext cx="4572000" cy="548640"/>
          </a:xfrm>
          <a:prstGeom prst="roundRect">
            <a:avLst>
              <a:gd name="adj" fmla="val 10000"/>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39" name="Text 36"/>
          <p:cNvSpPr/>
          <p:nvPr/>
        </p:nvSpPr>
        <p:spPr>
          <a:xfrm>
            <a:off x="7360920" y="3971798"/>
            <a:ext cx="1417320" cy="548640"/>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Mars</a:t>
            </a:r>
            <a:endParaRPr lang="en-US" sz="1100" dirty="0"/>
          </a:p>
        </p:txBody>
      </p:sp>
      <p:sp>
        <p:nvSpPr>
          <p:cNvPr id="40" name="Shape 37"/>
          <p:cNvSpPr/>
          <p:nvPr/>
        </p:nvSpPr>
        <p:spPr>
          <a:xfrm>
            <a:off x="8869680" y="4154678"/>
            <a:ext cx="2240280" cy="182880"/>
          </a:xfrm>
          <a:prstGeom prst="rect">
            <a:avLst/>
          </a:prstGeom>
          <a:solidFill>
            <a:srgbClr val="CBD5E1"/>
          </a:solidFill>
          <a:ln w="12700">
            <a:solidFill>
              <a:srgbClr val="CBD5E1"/>
            </a:solidFill>
            <a:prstDash val="solid"/>
          </a:ln>
        </p:spPr>
        <p:txBody>
          <a:bodyPr/>
          <a:lstStyle/>
          <a:p>
            <a:endParaRPr lang="en-US"/>
          </a:p>
        </p:txBody>
      </p:sp>
      <p:sp>
        <p:nvSpPr>
          <p:cNvPr id="41" name="Shape 38"/>
          <p:cNvSpPr/>
          <p:nvPr/>
        </p:nvSpPr>
        <p:spPr>
          <a:xfrm>
            <a:off x="8869680" y="4154678"/>
            <a:ext cx="1680210" cy="182880"/>
          </a:xfrm>
          <a:prstGeom prst="rect">
            <a:avLst/>
          </a:prstGeom>
          <a:solidFill>
            <a:srgbClr val="EA580C"/>
          </a:solidFill>
          <a:ln w="12700">
            <a:solidFill>
              <a:srgbClr val="EA580C"/>
            </a:solidFill>
            <a:prstDash val="solid"/>
          </a:ln>
        </p:spPr>
        <p:txBody>
          <a:bodyPr/>
          <a:lstStyle/>
          <a:p>
            <a:endParaRPr lang="en-US"/>
          </a:p>
        </p:txBody>
      </p:sp>
      <p:sp>
        <p:nvSpPr>
          <p:cNvPr id="42" name="Text 39"/>
          <p:cNvSpPr/>
          <p:nvPr/>
        </p:nvSpPr>
        <p:spPr>
          <a:xfrm>
            <a:off x="11109960" y="3971798"/>
            <a:ext cx="640080" cy="548640"/>
          </a:xfrm>
          <a:prstGeom prst="rect">
            <a:avLst/>
          </a:prstGeom>
          <a:noFill/>
          <a:ln/>
        </p:spPr>
        <p:txBody>
          <a:bodyPr wrap="square" rtlCol="0" anchor="ctr"/>
          <a:lstStyle/>
          <a:p>
            <a:pPr marL="0" indent="0" algn="r">
              <a:buNone/>
            </a:pPr>
            <a:r>
              <a:rPr lang="en-US" sz="1200" b="1" dirty="0">
                <a:solidFill>
                  <a:srgbClr val="EA580C"/>
                </a:solidFill>
                <a:latin typeface="Calibri" pitchFamily="34" charset="0"/>
                <a:ea typeface="Calibri" pitchFamily="34" charset="-122"/>
                <a:cs typeface="Calibri" pitchFamily="34" charset="-120"/>
              </a:rPr>
              <a:t>7.5%</a:t>
            </a:r>
            <a:endParaRPr lang="en-US" sz="1200" dirty="0"/>
          </a:p>
        </p:txBody>
      </p:sp>
      <p:sp>
        <p:nvSpPr>
          <p:cNvPr id="43" name="Shape 40"/>
          <p:cNvSpPr/>
          <p:nvPr/>
        </p:nvSpPr>
        <p:spPr>
          <a:xfrm>
            <a:off x="7223760" y="4630166"/>
            <a:ext cx="4572000" cy="548640"/>
          </a:xfrm>
          <a:prstGeom prst="roundRect">
            <a:avLst>
              <a:gd name="adj" fmla="val 10000"/>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44" name="Text 41"/>
          <p:cNvSpPr/>
          <p:nvPr/>
        </p:nvSpPr>
        <p:spPr>
          <a:xfrm>
            <a:off x="7360920" y="4630166"/>
            <a:ext cx="1417320" cy="548640"/>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Avril</a:t>
            </a:r>
            <a:endParaRPr lang="en-US" sz="1100" dirty="0"/>
          </a:p>
        </p:txBody>
      </p:sp>
      <p:sp>
        <p:nvSpPr>
          <p:cNvPr id="45" name="Shape 42"/>
          <p:cNvSpPr/>
          <p:nvPr/>
        </p:nvSpPr>
        <p:spPr>
          <a:xfrm>
            <a:off x="8869680" y="4813046"/>
            <a:ext cx="2240280" cy="182880"/>
          </a:xfrm>
          <a:prstGeom prst="rect">
            <a:avLst/>
          </a:prstGeom>
          <a:solidFill>
            <a:srgbClr val="CBD5E1"/>
          </a:solidFill>
          <a:ln w="12700">
            <a:solidFill>
              <a:srgbClr val="CBD5E1"/>
            </a:solidFill>
            <a:prstDash val="solid"/>
          </a:ln>
        </p:spPr>
        <p:txBody>
          <a:bodyPr/>
          <a:lstStyle/>
          <a:p>
            <a:endParaRPr lang="en-US"/>
          </a:p>
        </p:txBody>
      </p:sp>
      <p:sp>
        <p:nvSpPr>
          <p:cNvPr id="46" name="Shape 43"/>
          <p:cNvSpPr/>
          <p:nvPr/>
        </p:nvSpPr>
        <p:spPr>
          <a:xfrm>
            <a:off x="8869680" y="4813046"/>
            <a:ext cx="1904238" cy="182880"/>
          </a:xfrm>
          <a:prstGeom prst="rect">
            <a:avLst/>
          </a:prstGeom>
          <a:solidFill>
            <a:srgbClr val="16A34A"/>
          </a:solidFill>
          <a:ln w="12700">
            <a:solidFill>
              <a:srgbClr val="16A34A"/>
            </a:solidFill>
            <a:prstDash val="solid"/>
          </a:ln>
        </p:spPr>
        <p:txBody>
          <a:bodyPr/>
          <a:lstStyle/>
          <a:p>
            <a:endParaRPr lang="en-US"/>
          </a:p>
        </p:txBody>
      </p:sp>
      <p:sp>
        <p:nvSpPr>
          <p:cNvPr id="47" name="Text 44"/>
          <p:cNvSpPr/>
          <p:nvPr/>
        </p:nvSpPr>
        <p:spPr>
          <a:xfrm>
            <a:off x="11109960" y="4630166"/>
            <a:ext cx="640080" cy="548640"/>
          </a:xfrm>
          <a:prstGeom prst="rect">
            <a:avLst/>
          </a:prstGeom>
          <a:noFill/>
          <a:ln/>
        </p:spPr>
        <p:txBody>
          <a:bodyPr wrap="square" rtlCol="0" anchor="ctr"/>
          <a:lstStyle/>
          <a:p>
            <a:pPr marL="0" indent="0" algn="r">
              <a:buNone/>
            </a:pPr>
            <a:r>
              <a:rPr lang="en-US" sz="1200" b="1" dirty="0">
                <a:solidFill>
                  <a:srgbClr val="16A34A"/>
                </a:solidFill>
                <a:latin typeface="Calibri" pitchFamily="34" charset="0"/>
                <a:ea typeface="Calibri" pitchFamily="34" charset="-122"/>
                <a:cs typeface="Calibri" pitchFamily="34" charset="-120"/>
              </a:rPr>
              <a:t>8.5%</a:t>
            </a:r>
            <a:endParaRPr lang="en-US" sz="1200" dirty="0"/>
          </a:p>
        </p:txBody>
      </p:sp>
      <p:sp>
        <p:nvSpPr>
          <p:cNvPr id="48" name="Shape 45"/>
          <p:cNvSpPr/>
          <p:nvPr/>
        </p:nvSpPr>
        <p:spPr>
          <a:xfrm>
            <a:off x="7223760" y="5288534"/>
            <a:ext cx="4572000" cy="548640"/>
          </a:xfrm>
          <a:prstGeom prst="roundRect">
            <a:avLst>
              <a:gd name="adj" fmla="val 10000"/>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49" name="Text 46"/>
          <p:cNvSpPr/>
          <p:nvPr/>
        </p:nvSpPr>
        <p:spPr>
          <a:xfrm>
            <a:off x="7360920" y="5288534"/>
            <a:ext cx="1417320" cy="548640"/>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Mai</a:t>
            </a:r>
            <a:endParaRPr lang="en-US" sz="1100" dirty="0"/>
          </a:p>
        </p:txBody>
      </p:sp>
      <p:sp>
        <p:nvSpPr>
          <p:cNvPr id="50" name="Shape 47"/>
          <p:cNvSpPr/>
          <p:nvPr/>
        </p:nvSpPr>
        <p:spPr>
          <a:xfrm>
            <a:off x="8869680" y="5471414"/>
            <a:ext cx="2240280" cy="182880"/>
          </a:xfrm>
          <a:prstGeom prst="rect">
            <a:avLst/>
          </a:prstGeom>
          <a:solidFill>
            <a:srgbClr val="CBD5E1"/>
          </a:solidFill>
          <a:ln w="12700">
            <a:solidFill>
              <a:srgbClr val="CBD5E1"/>
            </a:solidFill>
            <a:prstDash val="solid"/>
          </a:ln>
        </p:spPr>
        <p:txBody>
          <a:bodyPr/>
          <a:lstStyle/>
          <a:p>
            <a:endParaRPr lang="en-US"/>
          </a:p>
        </p:txBody>
      </p:sp>
      <p:sp>
        <p:nvSpPr>
          <p:cNvPr id="51" name="Shape 48"/>
          <p:cNvSpPr/>
          <p:nvPr/>
        </p:nvSpPr>
        <p:spPr>
          <a:xfrm>
            <a:off x="8869680" y="5471414"/>
            <a:ext cx="1747418" cy="182880"/>
          </a:xfrm>
          <a:prstGeom prst="rect">
            <a:avLst/>
          </a:prstGeom>
          <a:solidFill>
            <a:srgbClr val="EA580C"/>
          </a:solidFill>
          <a:ln w="12700">
            <a:solidFill>
              <a:srgbClr val="EA580C"/>
            </a:solidFill>
            <a:prstDash val="solid"/>
          </a:ln>
        </p:spPr>
        <p:txBody>
          <a:bodyPr/>
          <a:lstStyle/>
          <a:p>
            <a:endParaRPr lang="en-US"/>
          </a:p>
        </p:txBody>
      </p:sp>
      <p:sp>
        <p:nvSpPr>
          <p:cNvPr id="52" name="Text 49"/>
          <p:cNvSpPr/>
          <p:nvPr/>
        </p:nvSpPr>
        <p:spPr>
          <a:xfrm>
            <a:off x="11109960" y="5288534"/>
            <a:ext cx="640080" cy="548640"/>
          </a:xfrm>
          <a:prstGeom prst="rect">
            <a:avLst/>
          </a:prstGeom>
          <a:noFill/>
          <a:ln/>
        </p:spPr>
        <p:txBody>
          <a:bodyPr wrap="square" rtlCol="0" anchor="ctr"/>
          <a:lstStyle/>
          <a:p>
            <a:pPr marL="0" indent="0" algn="r">
              <a:buNone/>
            </a:pPr>
            <a:r>
              <a:rPr lang="en-US" sz="1200" b="1" dirty="0">
                <a:solidFill>
                  <a:srgbClr val="EA580C"/>
                </a:solidFill>
                <a:latin typeface="Calibri" pitchFamily="34" charset="0"/>
                <a:ea typeface="Calibri" pitchFamily="34" charset="-122"/>
                <a:cs typeface="Calibri" pitchFamily="34" charset="-120"/>
              </a:rPr>
              <a:t>7.8%</a:t>
            </a:r>
            <a:endParaRPr lang="en-US" sz="1200" dirty="0"/>
          </a:p>
        </p:txBody>
      </p:sp>
      <p:sp>
        <p:nvSpPr>
          <p:cNvPr id="53" name="Shape 50"/>
          <p:cNvSpPr/>
          <p:nvPr/>
        </p:nvSpPr>
        <p:spPr>
          <a:xfrm>
            <a:off x="7236460" y="5882640"/>
            <a:ext cx="4572000" cy="621792"/>
          </a:xfrm>
          <a:prstGeom prst="roundRect">
            <a:avLst>
              <a:gd name="adj" fmla="val 11765"/>
            </a:avLst>
          </a:prstGeom>
          <a:solidFill>
            <a:srgbClr val="EDF9F0"/>
          </a:solidFill>
          <a:ln/>
        </p:spPr>
        <p:txBody>
          <a:bodyPr/>
          <a:lstStyle/>
          <a:p>
            <a:endParaRPr lang="en-US"/>
          </a:p>
        </p:txBody>
      </p:sp>
      <p:sp>
        <p:nvSpPr>
          <p:cNvPr id="54" name="Text 51"/>
          <p:cNvSpPr/>
          <p:nvPr/>
        </p:nvSpPr>
        <p:spPr>
          <a:xfrm>
            <a:off x="7373620" y="5928360"/>
            <a:ext cx="4297680" cy="512064"/>
          </a:xfrm>
          <a:prstGeom prst="rect">
            <a:avLst/>
          </a:prstGeom>
          <a:noFill/>
          <a:ln/>
        </p:spPr>
        <p:txBody>
          <a:bodyPr wrap="square" rtlCol="0" anchor="ctr"/>
          <a:lstStyle/>
          <a:p>
            <a:pPr marL="0" indent="0">
              <a:buNone/>
            </a:pPr>
            <a:r>
              <a:rPr lang="en-US" sz="950" b="1" dirty="0">
                <a:solidFill>
                  <a:srgbClr val="16A34A"/>
                </a:solidFill>
                <a:latin typeface="Calibri" pitchFamily="34" charset="0"/>
                <a:ea typeface="Calibri" pitchFamily="34" charset="-122"/>
                <a:cs typeface="Calibri" pitchFamily="34" charset="-120"/>
              </a:rPr>
              <a:t>✓ PDM réelle (qualifiée) : </a:t>
            </a:r>
            <a:r>
              <a:rPr lang="en-US" sz="950" dirty="0">
                <a:solidFill>
                  <a:srgbClr val="0A2240"/>
                </a:solidFill>
                <a:latin typeface="Calibri" pitchFamily="34" charset="0"/>
                <a:ea typeface="Calibri" pitchFamily="34" charset="-122"/>
                <a:cs typeface="Calibri" pitchFamily="34" charset="-120"/>
              </a:rPr>
              <a:t>7,8% vs 7,3% brut. L'exclusion du Non Apuré révèle la vraie position AGL. </a:t>
            </a:r>
            <a:r>
              <a:rPr lang="en-US" sz="950" b="1" dirty="0">
                <a:solidFill>
                  <a:srgbClr val="EA580C"/>
                </a:solidFill>
                <a:latin typeface="Calibri" pitchFamily="34" charset="0"/>
                <a:ea typeface="Calibri" pitchFamily="34" charset="-122"/>
                <a:cs typeface="Calibri" pitchFamily="34" charset="-120"/>
              </a:rPr>
              <a:t>Avance sur STRACOTRANS : seulement +558 TEU — position à consolider en urgence.</a:t>
            </a:r>
            <a:endParaRPr lang="en-US" sz="950" dirty="0"/>
          </a:p>
        </p:txBody>
      </p:sp>
      <p:sp>
        <p:nvSpPr>
          <p:cNvPr id="55" name="Shape 52"/>
          <p:cNvSpPr/>
          <p:nvPr/>
        </p:nvSpPr>
        <p:spPr>
          <a:xfrm>
            <a:off x="365760" y="6565392"/>
            <a:ext cx="11430000" cy="0"/>
          </a:xfrm>
          <a:prstGeom prst="line">
            <a:avLst/>
          </a:prstGeom>
          <a:noFill/>
          <a:ln w="6350">
            <a:solidFill>
              <a:srgbClr val="CBD5E1"/>
            </a:solidFill>
            <a:prstDash val="solid"/>
          </a:ln>
        </p:spPr>
        <p:txBody>
          <a:bodyPr/>
          <a:lstStyle/>
          <a:p>
            <a:endParaRPr lang="en-US"/>
          </a:p>
        </p:txBody>
      </p:sp>
      <p:sp>
        <p:nvSpPr>
          <p:cNvPr id="56" name="Text 53"/>
          <p:cNvSpPr/>
          <p:nvPr/>
        </p:nvSpPr>
        <p:spPr>
          <a:xfrm>
            <a:off x="365760" y="6601968"/>
            <a:ext cx="11430000" cy="201168"/>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Africa Global Logistics – Étude de Marché Jan–Mai 2026  |  p.4</a:t>
            </a:r>
            <a:endParaRPr lang="en-US" sz="850" dirty="0"/>
          </a:p>
        </p:txBody>
      </p:sp>
      <p:pic>
        <p:nvPicPr>
          <p:cNvPr id="57" name="Image 56" descr="Une image contenant texte, Police, Graphique, logo  Description générée automatiquement">
            <a:extLst>
              <a:ext uri="{FF2B5EF4-FFF2-40B4-BE49-F238E27FC236}">
                <a16:creationId xmlns:a16="http://schemas.microsoft.com/office/drawing/2014/main" id="{D6A56221-1698-96AB-EAEB-87C51E96B7B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1488450" y="6549898"/>
            <a:ext cx="450027" cy="29240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0A2240"/>
          </a:solidFill>
          <a:ln w="12700">
            <a:solidFill>
              <a:srgbClr val="0A2240"/>
            </a:solidFill>
            <a:prstDash val="solid"/>
          </a:ln>
        </p:spPr>
        <p:txBody>
          <a:bodyPr/>
          <a:lstStyle/>
          <a:p>
            <a:endParaRPr lang="en-US"/>
          </a:p>
        </p:txBody>
      </p:sp>
      <p:sp>
        <p:nvSpPr>
          <p:cNvPr id="3" name="Text 1"/>
          <p:cNvSpPr/>
          <p:nvPr/>
        </p:nvSpPr>
        <p:spPr>
          <a:xfrm>
            <a:off x="365760" y="54864"/>
            <a:ext cx="11430000" cy="65836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TIM – ANALYSE CONCURRENTIELLE &amp; SEGMENTS</a:t>
            </a:r>
            <a:endParaRPr lang="en-US" sz="2400" dirty="0"/>
          </a:p>
        </p:txBody>
      </p:sp>
      <p:sp>
        <p:nvSpPr>
          <p:cNvPr id="4" name="Text 2"/>
          <p:cNvSpPr/>
          <p:nvPr/>
        </p:nvSpPr>
        <p:spPr>
          <a:xfrm>
            <a:off x="365760" y="676656"/>
            <a:ext cx="11430000" cy="329184"/>
          </a:xfrm>
          <a:prstGeom prst="rect">
            <a:avLst/>
          </a:prstGeom>
          <a:noFill/>
          <a:ln/>
        </p:spPr>
        <p:txBody>
          <a:bodyPr wrap="square" rtlCol="0" anchor="ctr"/>
          <a:lstStyle/>
          <a:p>
            <a:pPr marL="0" indent="0">
              <a:buNone/>
            </a:pPr>
            <a:r>
              <a:rPr lang="en-US" sz="1200" i="1" dirty="0">
                <a:solidFill>
                  <a:srgbClr val="C8A951"/>
                </a:solidFill>
                <a:latin typeface="Calibri" pitchFamily="34" charset="0"/>
                <a:ea typeface="Calibri" pitchFamily="34" charset="-122"/>
                <a:cs typeface="Calibri" pitchFamily="34" charset="-120"/>
              </a:rPr>
              <a:t>Classement PDM qualifié  |  Top marchandises AGL  |  Opportunités</a:t>
            </a:r>
            <a:endParaRPr lang="en-US" sz="1200" dirty="0"/>
          </a:p>
        </p:txBody>
      </p:sp>
      <p:sp>
        <p:nvSpPr>
          <p:cNvPr id="5" name="Text 3"/>
          <p:cNvSpPr/>
          <p:nvPr/>
        </p:nvSpPr>
        <p:spPr>
          <a:xfrm>
            <a:off x="320040" y="1143000"/>
            <a:ext cx="5943600" cy="274320"/>
          </a:xfrm>
          <a:prstGeom prst="rect">
            <a:avLst/>
          </a:prstGeom>
          <a:noFill/>
          <a:ln/>
        </p:spPr>
        <p:txBody>
          <a:bodyPr wrap="square" rtlCol="0" anchor="ctr"/>
          <a:lstStyle/>
          <a:p>
            <a:pPr marL="0" indent="0">
              <a:buNone/>
            </a:pPr>
            <a:r>
              <a:rPr lang="en-US" sz="1200" b="1" dirty="0">
                <a:solidFill>
                  <a:srgbClr val="0A2240"/>
                </a:solidFill>
                <a:latin typeface="Calibri" pitchFamily="34" charset="0"/>
                <a:ea typeface="Calibri" pitchFamily="34" charset="-122"/>
                <a:cs typeface="Calibri" pitchFamily="34" charset="-120"/>
              </a:rPr>
              <a:t>Classement Transitaires – TIM (hors Non Apuré, SIR CI, SMB)</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20040" y="1444752"/>
          <a:ext cx="5760720" cy="3721608"/>
        </p:xfrm>
        <a:graphic>
          <a:graphicData uri="http://schemas.openxmlformats.org/drawingml/2006/table">
            <a:tbl>
              <a:tblPr/>
              <a:tblGrid>
                <a:gridCol w="4572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tblGrid>
              <a:tr h="338328">
                <a:tc>
                  <a:txBody>
                    <a:bodyPr/>
                    <a:lstStyle/>
                    <a:p>
                      <a:pPr marL="0" indent="0">
                        <a:buNone/>
                      </a:pPr>
                      <a:r>
                        <a:rPr lang="en-US" sz="1000" b="1" dirty="0">
                          <a:solidFill>
                            <a:srgbClr val="FFFFFF"/>
                          </a:solidFill>
                        </a:rPr>
                        <a:t>Rang</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buNone/>
                      </a:pPr>
                      <a:r>
                        <a:rPr lang="en-US" sz="1000" b="1" dirty="0">
                          <a:solidFill>
                            <a:srgbClr val="FFFFFF"/>
                          </a:solidFill>
                        </a:rPr>
                        <a:t>Transitaire</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lgn="ctr">
                        <a:buNone/>
                      </a:pPr>
                      <a:r>
                        <a:rPr lang="en-US" sz="1000" b="1" dirty="0">
                          <a:solidFill>
                            <a:srgbClr val="FFFFFF"/>
                          </a:solidFill>
                        </a:rPr>
                        <a:t>TEU</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lgn="ctr">
                        <a:buNone/>
                      </a:pPr>
                      <a:r>
                        <a:rPr lang="en-US" sz="1000" b="1" dirty="0">
                          <a:solidFill>
                            <a:srgbClr val="FFFFFF"/>
                          </a:solidFill>
                        </a:rPr>
                        <a:t>PDM</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extLst>
                  <a:ext uri="{0D108BD9-81ED-4DB2-BD59-A6C34878D82A}">
                    <a16:rowId xmlns:a16="http://schemas.microsoft.com/office/drawing/2014/main" val="10000"/>
                  </a:ext>
                </a:extLst>
              </a:tr>
              <a:tr h="338328">
                <a:tc>
                  <a:txBody>
                    <a:bodyPr/>
                    <a:lstStyle/>
                    <a:p>
                      <a:pPr marL="0" indent="0" algn="ctr">
                        <a:buNone/>
                      </a:pPr>
                      <a:r>
                        <a:rPr lang="en-US" sz="950" b="1" dirty="0">
                          <a:solidFill>
                            <a:srgbClr val="FFFFFF"/>
                          </a:solidFill>
                        </a:rPr>
                        <a:t>#1</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C8A951"/>
                    </a:solidFill>
                  </a:tcPr>
                </a:tc>
                <a:tc>
                  <a:txBody>
                    <a:bodyPr/>
                    <a:lstStyle/>
                    <a:p>
                      <a:pPr marL="0" indent="0">
                        <a:buNone/>
                      </a:pPr>
                      <a:r>
                        <a:rPr lang="en-US" sz="950" b="1" dirty="0">
                          <a:solidFill>
                            <a:srgbClr val="0A2240"/>
                          </a:solidFill>
                        </a:rPr>
                        <a:t>AFRICA GLOBAL LOGISTICS</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9E6"/>
                    </a:solidFill>
                  </a:tcPr>
                </a:tc>
                <a:tc>
                  <a:txBody>
                    <a:bodyPr/>
                    <a:lstStyle/>
                    <a:p>
                      <a:pPr marL="0" indent="0" algn="ctr">
                        <a:buNone/>
                      </a:pPr>
                      <a:r>
                        <a:rPr lang="en-US" sz="950" b="1" dirty="0">
                          <a:solidFill>
                            <a:srgbClr val="0A2240"/>
                          </a:solidFill>
                        </a:rPr>
                        <a:t>15 133</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9E6"/>
                    </a:solidFill>
                  </a:tcPr>
                </a:tc>
                <a:tc>
                  <a:txBody>
                    <a:bodyPr/>
                    <a:lstStyle/>
                    <a:p>
                      <a:pPr marL="0" indent="0" algn="ctr">
                        <a:buNone/>
                      </a:pPr>
                      <a:r>
                        <a:rPr lang="en-US" sz="950" b="1" dirty="0">
                          <a:solidFill>
                            <a:srgbClr val="16A34A"/>
                          </a:solidFill>
                        </a:rPr>
                        <a:t>7,8 %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9E6"/>
                    </a:solidFill>
                  </a:tcPr>
                </a:tc>
                <a:extLst>
                  <a:ext uri="{0D108BD9-81ED-4DB2-BD59-A6C34878D82A}">
                    <a16:rowId xmlns:a16="http://schemas.microsoft.com/office/drawing/2014/main" val="10001"/>
                  </a:ext>
                </a:extLst>
              </a:tr>
              <a:tr h="338328">
                <a:tc>
                  <a:txBody>
                    <a:bodyPr/>
                    <a:lstStyle/>
                    <a:p>
                      <a:pPr marL="0" indent="0" algn="ctr">
                        <a:buNone/>
                      </a:pPr>
                      <a:r>
                        <a:rPr lang="en-US" sz="950" dirty="0">
                          <a:solidFill>
                            <a:srgbClr val="334155"/>
                          </a:solidFill>
                        </a:rPr>
                        <a:t>#2</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334155"/>
                          </a:solidFill>
                        </a:rPr>
                        <a:t>STRACOTRANS CI</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14 575</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7,5 %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38328">
                <a:tc>
                  <a:txBody>
                    <a:bodyPr/>
                    <a:lstStyle/>
                    <a:p>
                      <a:pPr marL="0" indent="0" algn="ctr">
                        <a:buNone/>
                      </a:pPr>
                      <a:r>
                        <a:rPr lang="en-US" sz="950" dirty="0">
                          <a:solidFill>
                            <a:srgbClr val="334155"/>
                          </a:solidFill>
                        </a:rPr>
                        <a:t>#3</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334155"/>
                          </a:solidFill>
                        </a:rPr>
                        <a:t>TGR (Transit Général Rapide)</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13 663</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7,0 %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8328">
                <a:tc>
                  <a:txBody>
                    <a:bodyPr/>
                    <a:lstStyle/>
                    <a:p>
                      <a:pPr marL="0" indent="0" algn="ctr">
                        <a:buNone/>
                      </a:pPr>
                      <a:r>
                        <a:rPr lang="en-US" sz="950" dirty="0">
                          <a:solidFill>
                            <a:srgbClr val="334155"/>
                          </a:solidFill>
                        </a:rPr>
                        <a:t>#4</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334155"/>
                          </a:solidFill>
                        </a:rPr>
                        <a:t>GENERAL TRANSIT CI</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12 028</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6,2 %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38328">
                <a:tc>
                  <a:txBody>
                    <a:bodyPr/>
                    <a:lstStyle/>
                    <a:p>
                      <a:pPr marL="0" indent="0" algn="ctr">
                        <a:buNone/>
                      </a:pPr>
                      <a:r>
                        <a:rPr lang="en-US" sz="950" dirty="0">
                          <a:solidFill>
                            <a:srgbClr val="334155"/>
                          </a:solidFill>
                        </a:rPr>
                        <a:t>#5</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334155"/>
                          </a:solidFill>
                        </a:rPr>
                        <a:t>DJAM DKS TRANSIT</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10 862</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5,6 %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38328">
                <a:tc>
                  <a:txBody>
                    <a:bodyPr/>
                    <a:lstStyle/>
                    <a:p>
                      <a:pPr marL="0" indent="0" algn="ctr">
                        <a:buNone/>
                      </a:pPr>
                      <a:r>
                        <a:rPr lang="en-US" sz="950" dirty="0">
                          <a:solidFill>
                            <a:srgbClr val="334155"/>
                          </a:solidFill>
                        </a:rPr>
                        <a:t>#6</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334155"/>
                          </a:solidFill>
                        </a:rPr>
                        <a:t>GLOBAL MANUTENTION CI</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10 203</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5,3 %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38328">
                <a:tc>
                  <a:txBody>
                    <a:bodyPr/>
                    <a:lstStyle/>
                    <a:p>
                      <a:pPr marL="0" indent="0" algn="ctr">
                        <a:buNone/>
                      </a:pPr>
                      <a:r>
                        <a:rPr lang="en-US" sz="950" dirty="0">
                          <a:solidFill>
                            <a:srgbClr val="334155"/>
                          </a:solidFill>
                        </a:rPr>
                        <a:t>#7</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334155"/>
                          </a:solidFill>
                        </a:rPr>
                        <a:t>PROFESIONNEL TRANSIT</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9 479</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4,9 %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38328">
                <a:tc>
                  <a:txBody>
                    <a:bodyPr/>
                    <a:lstStyle/>
                    <a:p>
                      <a:pPr marL="0" indent="0" algn="ctr">
                        <a:buNone/>
                      </a:pPr>
                      <a:r>
                        <a:rPr lang="en-US" sz="950" dirty="0">
                          <a:solidFill>
                            <a:srgbClr val="334155"/>
                          </a:solidFill>
                        </a:rPr>
                        <a:t>#8</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334155"/>
                          </a:solidFill>
                        </a:rPr>
                        <a:t>AG TRANSIT CI</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6 137</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3,2 %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38328">
                <a:tc>
                  <a:txBody>
                    <a:bodyPr/>
                    <a:lstStyle/>
                    <a:p>
                      <a:pPr marL="0" indent="0" algn="ctr">
                        <a:buNone/>
                      </a:pPr>
                      <a:r>
                        <a:rPr lang="en-US" sz="950" dirty="0">
                          <a:solidFill>
                            <a:srgbClr val="334155"/>
                          </a:solidFill>
                        </a:rPr>
                        <a:t>#9</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334155"/>
                          </a:solidFill>
                        </a:rPr>
                        <a:t>SDMA</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5 680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2,9 %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38328">
                <a:tc>
                  <a:txBody>
                    <a:bodyPr/>
                    <a:lstStyle/>
                    <a:p>
                      <a:pPr marL="0" indent="0" algn="ctr">
                        <a:buNone/>
                      </a:pPr>
                      <a:r>
                        <a:rPr lang="en-US" sz="950" dirty="0">
                          <a:solidFill>
                            <a:srgbClr val="334155"/>
                          </a:solidFill>
                        </a:rPr>
                        <a:t>#10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334155"/>
                          </a:solidFill>
                        </a:rPr>
                        <a:t>SAS TRANSIT</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5 274</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2,7 %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
        <p:nvSpPr>
          <p:cNvPr id="7" name="Text 4"/>
          <p:cNvSpPr/>
          <p:nvPr/>
        </p:nvSpPr>
        <p:spPr>
          <a:xfrm>
            <a:off x="6309360" y="1143000"/>
            <a:ext cx="5486400" cy="274320"/>
          </a:xfrm>
          <a:prstGeom prst="rect">
            <a:avLst/>
          </a:prstGeom>
          <a:noFill/>
          <a:ln/>
        </p:spPr>
        <p:txBody>
          <a:bodyPr wrap="square" rtlCol="0" anchor="ctr"/>
          <a:lstStyle/>
          <a:p>
            <a:pPr marL="0" indent="0">
              <a:buNone/>
            </a:pPr>
            <a:r>
              <a:rPr lang="en-US" sz="1200" b="1" dirty="0">
                <a:solidFill>
                  <a:srgbClr val="0A2240"/>
                </a:solidFill>
                <a:latin typeface="Calibri" pitchFamily="34" charset="0"/>
                <a:ea typeface="Calibri" pitchFamily="34" charset="-122"/>
                <a:cs typeface="Calibri" pitchFamily="34" charset="-120"/>
              </a:rPr>
              <a:t>PDM AGL par segment – TIM</a:t>
            </a:r>
            <a:endParaRPr lang="en-US" sz="1200" dirty="0"/>
          </a:p>
        </p:txBody>
      </p:sp>
      <p:sp>
        <p:nvSpPr>
          <p:cNvPr id="8" name="Shape 5"/>
          <p:cNvSpPr/>
          <p:nvPr/>
        </p:nvSpPr>
        <p:spPr>
          <a:xfrm>
            <a:off x="6309360" y="1444752"/>
            <a:ext cx="5577840" cy="411480"/>
          </a:xfrm>
          <a:prstGeom prst="roundRect">
            <a:avLst>
              <a:gd name="adj" fmla="val 8889"/>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9" name="Text 6"/>
          <p:cNvSpPr/>
          <p:nvPr/>
        </p:nvSpPr>
        <p:spPr>
          <a:xfrm>
            <a:off x="6446520" y="1444752"/>
            <a:ext cx="2286000" cy="411480"/>
          </a:xfrm>
          <a:prstGeom prst="rect">
            <a:avLst/>
          </a:prstGeom>
          <a:noFill/>
          <a:ln/>
        </p:spPr>
        <p:txBody>
          <a:bodyPr wrap="square" rtlCol="0" anchor="ctr"/>
          <a:lstStyle/>
          <a:p>
            <a:pPr marL="0" indent="0">
              <a:buNone/>
            </a:pPr>
            <a:r>
              <a:rPr lang="en-US" sz="900" dirty="0">
                <a:solidFill>
                  <a:srgbClr val="334155"/>
                </a:solidFill>
                <a:latin typeface="Calibri" pitchFamily="34" charset="0"/>
                <a:ea typeface="Calibri" pitchFamily="34" charset="-122"/>
                <a:cs typeface="Calibri" pitchFamily="34" charset="-120"/>
              </a:rPr>
              <a:t>MATÉRIELS MINIERS</a:t>
            </a:r>
            <a:endParaRPr lang="en-US" sz="900" dirty="0"/>
          </a:p>
        </p:txBody>
      </p:sp>
      <p:sp>
        <p:nvSpPr>
          <p:cNvPr id="10" name="Text 7"/>
          <p:cNvSpPr/>
          <p:nvPr/>
        </p:nvSpPr>
        <p:spPr>
          <a:xfrm>
            <a:off x="8778240" y="1444752"/>
            <a:ext cx="1097280" cy="411480"/>
          </a:xfrm>
          <a:prstGeom prst="rect">
            <a:avLst/>
          </a:prstGeom>
          <a:noFill/>
          <a:ln/>
        </p:spPr>
        <p:txBody>
          <a:bodyPr wrap="square" rtlCol="0" anchor="ctr"/>
          <a:lstStyle/>
          <a:p>
            <a:pPr marL="0" indent="0" algn="r">
              <a:buNone/>
            </a:pPr>
            <a:r>
              <a:rPr lang="en-US" sz="850" dirty="0">
                <a:solidFill>
                  <a:srgbClr val="64748B"/>
                </a:solidFill>
                <a:latin typeface="Calibri" pitchFamily="34" charset="0"/>
                <a:ea typeface="Calibri" pitchFamily="34" charset="-122"/>
                <a:cs typeface="Calibri" pitchFamily="34" charset="-120"/>
              </a:rPr>
              <a:t>2,231 TEU</a:t>
            </a:r>
            <a:endParaRPr lang="en-US" sz="850" dirty="0"/>
          </a:p>
        </p:txBody>
      </p:sp>
      <p:sp>
        <p:nvSpPr>
          <p:cNvPr id="11" name="Shape 8"/>
          <p:cNvSpPr/>
          <p:nvPr/>
        </p:nvSpPr>
        <p:spPr>
          <a:xfrm>
            <a:off x="9948672" y="1554480"/>
            <a:ext cx="1737360" cy="164592"/>
          </a:xfrm>
          <a:prstGeom prst="rect">
            <a:avLst/>
          </a:prstGeom>
          <a:solidFill>
            <a:srgbClr val="CBD5E1"/>
          </a:solidFill>
          <a:ln w="12700">
            <a:solidFill>
              <a:srgbClr val="CBD5E1"/>
            </a:solidFill>
            <a:prstDash val="solid"/>
          </a:ln>
        </p:spPr>
        <p:txBody>
          <a:bodyPr/>
          <a:lstStyle/>
          <a:p>
            <a:endParaRPr lang="en-US"/>
          </a:p>
        </p:txBody>
      </p:sp>
      <p:sp>
        <p:nvSpPr>
          <p:cNvPr id="12" name="Shape 9"/>
          <p:cNvSpPr/>
          <p:nvPr/>
        </p:nvSpPr>
        <p:spPr>
          <a:xfrm>
            <a:off x="9948672" y="1554480"/>
            <a:ext cx="1285646" cy="164592"/>
          </a:xfrm>
          <a:prstGeom prst="rect">
            <a:avLst/>
          </a:prstGeom>
          <a:solidFill>
            <a:srgbClr val="16A34A"/>
          </a:solidFill>
          <a:ln w="12700">
            <a:solidFill>
              <a:srgbClr val="16A34A"/>
            </a:solidFill>
            <a:prstDash val="solid"/>
          </a:ln>
        </p:spPr>
        <p:txBody>
          <a:bodyPr/>
          <a:lstStyle/>
          <a:p>
            <a:endParaRPr lang="en-US"/>
          </a:p>
        </p:txBody>
      </p:sp>
      <p:sp>
        <p:nvSpPr>
          <p:cNvPr id="13" name="Text 10"/>
          <p:cNvSpPr/>
          <p:nvPr/>
        </p:nvSpPr>
        <p:spPr>
          <a:xfrm>
            <a:off x="11722608" y="1444752"/>
            <a:ext cx="502920" cy="411480"/>
          </a:xfrm>
          <a:prstGeom prst="rect">
            <a:avLst/>
          </a:prstGeom>
          <a:noFill/>
          <a:ln/>
        </p:spPr>
        <p:txBody>
          <a:bodyPr wrap="square" rtlCol="0" anchor="ctr"/>
          <a:lstStyle/>
          <a:p>
            <a:pPr marL="0" indent="0" algn="r">
              <a:buNone/>
            </a:pPr>
            <a:r>
              <a:rPr lang="en-US" sz="950" b="1" dirty="0">
                <a:solidFill>
                  <a:srgbClr val="16A34A"/>
                </a:solidFill>
                <a:latin typeface="Calibri" pitchFamily="34" charset="0"/>
                <a:ea typeface="Calibri" pitchFamily="34" charset="-122"/>
                <a:cs typeface="Calibri" pitchFamily="34" charset="-120"/>
              </a:rPr>
              <a:t>74%</a:t>
            </a:r>
            <a:endParaRPr lang="en-US" sz="950" dirty="0"/>
          </a:p>
        </p:txBody>
      </p:sp>
      <p:sp>
        <p:nvSpPr>
          <p:cNvPr id="14" name="Shape 11"/>
          <p:cNvSpPr/>
          <p:nvPr/>
        </p:nvSpPr>
        <p:spPr>
          <a:xfrm>
            <a:off x="6309360" y="1901952"/>
            <a:ext cx="5577840" cy="411480"/>
          </a:xfrm>
          <a:prstGeom prst="roundRect">
            <a:avLst>
              <a:gd name="adj" fmla="val 8889"/>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15" name="Text 12"/>
          <p:cNvSpPr/>
          <p:nvPr/>
        </p:nvSpPr>
        <p:spPr>
          <a:xfrm>
            <a:off x="6446520" y="1901952"/>
            <a:ext cx="2286000" cy="411480"/>
          </a:xfrm>
          <a:prstGeom prst="rect">
            <a:avLst/>
          </a:prstGeom>
          <a:noFill/>
          <a:ln/>
        </p:spPr>
        <p:txBody>
          <a:bodyPr wrap="square" rtlCol="0" anchor="ctr"/>
          <a:lstStyle/>
          <a:p>
            <a:pPr marL="0" indent="0">
              <a:buNone/>
            </a:pPr>
            <a:r>
              <a:rPr lang="en-US" sz="900" dirty="0">
                <a:solidFill>
                  <a:srgbClr val="334155"/>
                </a:solidFill>
                <a:latin typeface="Calibri" pitchFamily="34" charset="0"/>
                <a:ea typeface="Calibri" pitchFamily="34" charset="-122"/>
                <a:cs typeface="Calibri" pitchFamily="34" charset="-120"/>
              </a:rPr>
              <a:t>MÉDICAMENTS</a:t>
            </a:r>
            <a:endParaRPr lang="en-US" sz="900" dirty="0"/>
          </a:p>
        </p:txBody>
      </p:sp>
      <p:sp>
        <p:nvSpPr>
          <p:cNvPr id="16" name="Text 13"/>
          <p:cNvSpPr/>
          <p:nvPr/>
        </p:nvSpPr>
        <p:spPr>
          <a:xfrm>
            <a:off x="8778240" y="1901952"/>
            <a:ext cx="1097280" cy="411480"/>
          </a:xfrm>
          <a:prstGeom prst="rect">
            <a:avLst/>
          </a:prstGeom>
          <a:noFill/>
          <a:ln/>
        </p:spPr>
        <p:txBody>
          <a:bodyPr wrap="square" rtlCol="0" anchor="ctr"/>
          <a:lstStyle/>
          <a:p>
            <a:pPr marL="0" indent="0" algn="r">
              <a:buNone/>
            </a:pPr>
            <a:r>
              <a:rPr lang="en-US" sz="850" dirty="0">
                <a:solidFill>
                  <a:srgbClr val="64748B"/>
                </a:solidFill>
                <a:latin typeface="Calibri" pitchFamily="34" charset="0"/>
                <a:ea typeface="Calibri" pitchFamily="34" charset="-122"/>
                <a:cs typeface="Calibri" pitchFamily="34" charset="-120"/>
              </a:rPr>
              <a:t>1,936 TEU</a:t>
            </a:r>
            <a:endParaRPr lang="en-US" sz="850" dirty="0"/>
          </a:p>
        </p:txBody>
      </p:sp>
      <p:sp>
        <p:nvSpPr>
          <p:cNvPr id="17" name="Shape 14"/>
          <p:cNvSpPr/>
          <p:nvPr/>
        </p:nvSpPr>
        <p:spPr>
          <a:xfrm>
            <a:off x="9948672" y="2011680"/>
            <a:ext cx="1737360" cy="164592"/>
          </a:xfrm>
          <a:prstGeom prst="rect">
            <a:avLst/>
          </a:prstGeom>
          <a:solidFill>
            <a:srgbClr val="CBD5E1"/>
          </a:solidFill>
          <a:ln w="12700">
            <a:solidFill>
              <a:srgbClr val="CBD5E1"/>
            </a:solidFill>
            <a:prstDash val="solid"/>
          </a:ln>
        </p:spPr>
        <p:txBody>
          <a:bodyPr/>
          <a:lstStyle/>
          <a:p>
            <a:endParaRPr lang="en-US"/>
          </a:p>
        </p:txBody>
      </p:sp>
      <p:sp>
        <p:nvSpPr>
          <p:cNvPr id="18" name="Shape 15"/>
          <p:cNvSpPr/>
          <p:nvPr/>
        </p:nvSpPr>
        <p:spPr>
          <a:xfrm>
            <a:off x="9948672" y="2011680"/>
            <a:ext cx="872155" cy="164592"/>
          </a:xfrm>
          <a:prstGeom prst="rect">
            <a:avLst/>
          </a:prstGeom>
          <a:solidFill>
            <a:srgbClr val="16A34A"/>
          </a:solidFill>
          <a:ln w="12700">
            <a:solidFill>
              <a:srgbClr val="16A34A"/>
            </a:solidFill>
            <a:prstDash val="solid"/>
          </a:ln>
        </p:spPr>
        <p:txBody>
          <a:bodyPr/>
          <a:lstStyle/>
          <a:p>
            <a:endParaRPr lang="en-US"/>
          </a:p>
        </p:txBody>
      </p:sp>
      <p:sp>
        <p:nvSpPr>
          <p:cNvPr id="19" name="Text 16"/>
          <p:cNvSpPr/>
          <p:nvPr/>
        </p:nvSpPr>
        <p:spPr>
          <a:xfrm>
            <a:off x="11722608" y="1901952"/>
            <a:ext cx="502920" cy="411480"/>
          </a:xfrm>
          <a:prstGeom prst="rect">
            <a:avLst/>
          </a:prstGeom>
          <a:noFill/>
          <a:ln/>
        </p:spPr>
        <p:txBody>
          <a:bodyPr wrap="square" rtlCol="0" anchor="ctr"/>
          <a:lstStyle/>
          <a:p>
            <a:pPr marL="0" indent="0" algn="r">
              <a:buNone/>
            </a:pPr>
            <a:r>
              <a:rPr lang="en-US" sz="950" b="1" dirty="0">
                <a:solidFill>
                  <a:srgbClr val="16A34A"/>
                </a:solidFill>
                <a:latin typeface="Calibri" pitchFamily="34" charset="0"/>
                <a:ea typeface="Calibri" pitchFamily="34" charset="-122"/>
                <a:cs typeface="Calibri" pitchFamily="34" charset="-120"/>
              </a:rPr>
              <a:t>50%</a:t>
            </a:r>
            <a:endParaRPr lang="en-US" sz="950" dirty="0"/>
          </a:p>
        </p:txBody>
      </p:sp>
      <p:sp>
        <p:nvSpPr>
          <p:cNvPr id="20" name="Shape 17"/>
          <p:cNvSpPr/>
          <p:nvPr/>
        </p:nvSpPr>
        <p:spPr>
          <a:xfrm>
            <a:off x="6309360" y="2359152"/>
            <a:ext cx="5577840" cy="411480"/>
          </a:xfrm>
          <a:prstGeom prst="roundRect">
            <a:avLst>
              <a:gd name="adj" fmla="val 8889"/>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21" name="Text 18"/>
          <p:cNvSpPr/>
          <p:nvPr/>
        </p:nvSpPr>
        <p:spPr>
          <a:xfrm>
            <a:off x="6446520" y="2359152"/>
            <a:ext cx="2286000" cy="411480"/>
          </a:xfrm>
          <a:prstGeom prst="rect">
            <a:avLst/>
          </a:prstGeom>
          <a:noFill/>
          <a:ln/>
        </p:spPr>
        <p:txBody>
          <a:bodyPr wrap="square" rtlCol="0" anchor="ctr"/>
          <a:lstStyle/>
          <a:p>
            <a:pPr marL="0" indent="0">
              <a:buNone/>
            </a:pPr>
            <a:r>
              <a:rPr lang="en-US" sz="900" dirty="0">
                <a:solidFill>
                  <a:srgbClr val="334155"/>
                </a:solidFill>
                <a:latin typeface="Calibri" pitchFamily="34" charset="0"/>
                <a:ea typeface="Calibri" pitchFamily="34" charset="-122"/>
                <a:cs typeface="Calibri" pitchFamily="34" charset="-120"/>
              </a:rPr>
              <a:t>PVC RÉSINE</a:t>
            </a:r>
            <a:endParaRPr lang="en-US" sz="900" dirty="0"/>
          </a:p>
        </p:txBody>
      </p:sp>
      <p:sp>
        <p:nvSpPr>
          <p:cNvPr id="22" name="Text 19"/>
          <p:cNvSpPr/>
          <p:nvPr/>
        </p:nvSpPr>
        <p:spPr>
          <a:xfrm>
            <a:off x="8778240" y="2359152"/>
            <a:ext cx="1097280" cy="411480"/>
          </a:xfrm>
          <a:prstGeom prst="rect">
            <a:avLst/>
          </a:prstGeom>
          <a:noFill/>
          <a:ln/>
        </p:spPr>
        <p:txBody>
          <a:bodyPr wrap="square" rtlCol="0" anchor="ctr"/>
          <a:lstStyle/>
          <a:p>
            <a:pPr marL="0" indent="0" algn="r">
              <a:buNone/>
            </a:pPr>
            <a:r>
              <a:rPr lang="en-US" sz="850" dirty="0">
                <a:solidFill>
                  <a:srgbClr val="64748B"/>
                </a:solidFill>
                <a:latin typeface="Calibri" pitchFamily="34" charset="0"/>
                <a:ea typeface="Calibri" pitchFamily="34" charset="-122"/>
                <a:cs typeface="Calibri" pitchFamily="34" charset="-120"/>
              </a:rPr>
              <a:t>2,881 TEU</a:t>
            </a:r>
            <a:endParaRPr lang="en-US" sz="850" dirty="0"/>
          </a:p>
        </p:txBody>
      </p:sp>
      <p:sp>
        <p:nvSpPr>
          <p:cNvPr id="23" name="Shape 20"/>
          <p:cNvSpPr/>
          <p:nvPr/>
        </p:nvSpPr>
        <p:spPr>
          <a:xfrm>
            <a:off x="9948672" y="2468880"/>
            <a:ext cx="1737360" cy="164592"/>
          </a:xfrm>
          <a:prstGeom prst="rect">
            <a:avLst/>
          </a:prstGeom>
          <a:solidFill>
            <a:srgbClr val="CBD5E1"/>
          </a:solidFill>
          <a:ln w="12700">
            <a:solidFill>
              <a:srgbClr val="CBD5E1"/>
            </a:solidFill>
            <a:prstDash val="solid"/>
          </a:ln>
        </p:spPr>
        <p:txBody>
          <a:bodyPr/>
          <a:lstStyle/>
          <a:p>
            <a:endParaRPr lang="en-US"/>
          </a:p>
        </p:txBody>
      </p:sp>
      <p:sp>
        <p:nvSpPr>
          <p:cNvPr id="24" name="Shape 21"/>
          <p:cNvSpPr/>
          <p:nvPr/>
        </p:nvSpPr>
        <p:spPr>
          <a:xfrm>
            <a:off x="9948672" y="2468880"/>
            <a:ext cx="562905" cy="164592"/>
          </a:xfrm>
          <a:prstGeom prst="rect">
            <a:avLst/>
          </a:prstGeom>
          <a:solidFill>
            <a:srgbClr val="1E40AF"/>
          </a:solidFill>
          <a:ln w="12700">
            <a:solidFill>
              <a:srgbClr val="1E40AF"/>
            </a:solidFill>
            <a:prstDash val="solid"/>
          </a:ln>
        </p:spPr>
        <p:txBody>
          <a:bodyPr/>
          <a:lstStyle/>
          <a:p>
            <a:endParaRPr lang="en-US"/>
          </a:p>
        </p:txBody>
      </p:sp>
      <p:sp>
        <p:nvSpPr>
          <p:cNvPr id="25" name="Text 22"/>
          <p:cNvSpPr/>
          <p:nvPr/>
        </p:nvSpPr>
        <p:spPr>
          <a:xfrm>
            <a:off x="11722608" y="2359152"/>
            <a:ext cx="502920" cy="411480"/>
          </a:xfrm>
          <a:prstGeom prst="rect">
            <a:avLst/>
          </a:prstGeom>
          <a:noFill/>
          <a:ln/>
        </p:spPr>
        <p:txBody>
          <a:bodyPr wrap="square" rtlCol="0" anchor="ctr"/>
          <a:lstStyle/>
          <a:p>
            <a:pPr marL="0" indent="0" algn="r">
              <a:buNone/>
            </a:pPr>
            <a:r>
              <a:rPr lang="en-US" sz="950" b="1" dirty="0">
                <a:solidFill>
                  <a:srgbClr val="1E40AF"/>
                </a:solidFill>
                <a:latin typeface="Calibri" pitchFamily="34" charset="0"/>
                <a:ea typeface="Calibri" pitchFamily="34" charset="-122"/>
                <a:cs typeface="Calibri" pitchFamily="34" charset="-120"/>
              </a:rPr>
              <a:t>32%</a:t>
            </a:r>
            <a:endParaRPr lang="en-US" sz="950" dirty="0"/>
          </a:p>
        </p:txBody>
      </p:sp>
      <p:sp>
        <p:nvSpPr>
          <p:cNvPr id="26" name="Shape 23"/>
          <p:cNvSpPr/>
          <p:nvPr/>
        </p:nvSpPr>
        <p:spPr>
          <a:xfrm>
            <a:off x="6309360" y="2816352"/>
            <a:ext cx="5577840" cy="411480"/>
          </a:xfrm>
          <a:prstGeom prst="roundRect">
            <a:avLst>
              <a:gd name="adj" fmla="val 8889"/>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27" name="Text 24"/>
          <p:cNvSpPr/>
          <p:nvPr/>
        </p:nvSpPr>
        <p:spPr>
          <a:xfrm>
            <a:off x="6446520" y="2816352"/>
            <a:ext cx="2286000" cy="411480"/>
          </a:xfrm>
          <a:prstGeom prst="rect">
            <a:avLst/>
          </a:prstGeom>
          <a:noFill/>
          <a:ln/>
        </p:spPr>
        <p:txBody>
          <a:bodyPr wrap="square" rtlCol="0" anchor="ctr"/>
          <a:lstStyle/>
          <a:p>
            <a:pPr marL="0" indent="0">
              <a:buNone/>
            </a:pPr>
            <a:r>
              <a:rPr lang="en-US" sz="900" dirty="0">
                <a:solidFill>
                  <a:srgbClr val="334155"/>
                </a:solidFill>
                <a:latin typeface="Calibri" pitchFamily="34" charset="0"/>
                <a:ea typeface="Calibri" pitchFamily="34" charset="-122"/>
                <a:cs typeface="Calibri" pitchFamily="34" charset="-120"/>
              </a:rPr>
              <a:t>MATÉR. CONSTRUCTION</a:t>
            </a:r>
            <a:endParaRPr lang="en-US" sz="900" dirty="0"/>
          </a:p>
        </p:txBody>
      </p:sp>
      <p:sp>
        <p:nvSpPr>
          <p:cNvPr id="28" name="Text 25"/>
          <p:cNvSpPr/>
          <p:nvPr/>
        </p:nvSpPr>
        <p:spPr>
          <a:xfrm>
            <a:off x="8778240" y="2816352"/>
            <a:ext cx="1097280" cy="411480"/>
          </a:xfrm>
          <a:prstGeom prst="rect">
            <a:avLst/>
          </a:prstGeom>
          <a:noFill/>
          <a:ln/>
        </p:spPr>
        <p:txBody>
          <a:bodyPr wrap="square" rtlCol="0" anchor="ctr"/>
          <a:lstStyle/>
          <a:p>
            <a:pPr marL="0" indent="0" algn="r">
              <a:buNone/>
            </a:pPr>
            <a:r>
              <a:rPr lang="en-US" sz="850" dirty="0">
                <a:solidFill>
                  <a:srgbClr val="64748B"/>
                </a:solidFill>
                <a:latin typeface="Calibri" pitchFamily="34" charset="0"/>
                <a:ea typeface="Calibri" pitchFamily="34" charset="-122"/>
                <a:cs typeface="Calibri" pitchFamily="34" charset="-120"/>
              </a:rPr>
              <a:t>5,478 TEU</a:t>
            </a:r>
            <a:endParaRPr lang="en-US" sz="850" dirty="0"/>
          </a:p>
        </p:txBody>
      </p:sp>
      <p:sp>
        <p:nvSpPr>
          <p:cNvPr id="29" name="Shape 26"/>
          <p:cNvSpPr/>
          <p:nvPr/>
        </p:nvSpPr>
        <p:spPr>
          <a:xfrm>
            <a:off x="9948672" y="2926080"/>
            <a:ext cx="1737360" cy="164592"/>
          </a:xfrm>
          <a:prstGeom prst="rect">
            <a:avLst/>
          </a:prstGeom>
          <a:solidFill>
            <a:srgbClr val="CBD5E1"/>
          </a:solidFill>
          <a:ln w="12700">
            <a:solidFill>
              <a:srgbClr val="CBD5E1"/>
            </a:solidFill>
            <a:prstDash val="solid"/>
          </a:ln>
        </p:spPr>
        <p:txBody>
          <a:bodyPr/>
          <a:lstStyle/>
          <a:p>
            <a:endParaRPr lang="en-US"/>
          </a:p>
        </p:txBody>
      </p:sp>
      <p:sp>
        <p:nvSpPr>
          <p:cNvPr id="30" name="Shape 27"/>
          <p:cNvSpPr/>
          <p:nvPr/>
        </p:nvSpPr>
        <p:spPr>
          <a:xfrm>
            <a:off x="9948672" y="2926080"/>
            <a:ext cx="307513" cy="164592"/>
          </a:xfrm>
          <a:prstGeom prst="rect">
            <a:avLst/>
          </a:prstGeom>
          <a:solidFill>
            <a:srgbClr val="EA580C"/>
          </a:solidFill>
          <a:ln w="12700">
            <a:solidFill>
              <a:srgbClr val="EA580C"/>
            </a:solidFill>
            <a:prstDash val="solid"/>
          </a:ln>
        </p:spPr>
        <p:txBody>
          <a:bodyPr/>
          <a:lstStyle/>
          <a:p>
            <a:endParaRPr lang="en-US"/>
          </a:p>
        </p:txBody>
      </p:sp>
      <p:sp>
        <p:nvSpPr>
          <p:cNvPr id="31" name="Text 28"/>
          <p:cNvSpPr/>
          <p:nvPr/>
        </p:nvSpPr>
        <p:spPr>
          <a:xfrm>
            <a:off x="11722608" y="2816352"/>
            <a:ext cx="502920" cy="411480"/>
          </a:xfrm>
          <a:prstGeom prst="rect">
            <a:avLst/>
          </a:prstGeom>
          <a:noFill/>
          <a:ln/>
        </p:spPr>
        <p:txBody>
          <a:bodyPr wrap="square" rtlCol="0" anchor="ctr"/>
          <a:lstStyle/>
          <a:p>
            <a:pPr marL="0" indent="0" algn="r">
              <a:buNone/>
            </a:pPr>
            <a:r>
              <a:rPr lang="en-US" sz="950" b="1" dirty="0">
                <a:solidFill>
                  <a:srgbClr val="EA580C"/>
                </a:solidFill>
                <a:latin typeface="Calibri" pitchFamily="34" charset="0"/>
                <a:ea typeface="Calibri" pitchFamily="34" charset="-122"/>
                <a:cs typeface="Calibri" pitchFamily="34" charset="-120"/>
              </a:rPr>
              <a:t>18%</a:t>
            </a:r>
            <a:endParaRPr lang="en-US" sz="950" dirty="0"/>
          </a:p>
        </p:txBody>
      </p:sp>
      <p:sp>
        <p:nvSpPr>
          <p:cNvPr id="32" name="Shape 29"/>
          <p:cNvSpPr/>
          <p:nvPr/>
        </p:nvSpPr>
        <p:spPr>
          <a:xfrm>
            <a:off x="6309360" y="3273552"/>
            <a:ext cx="5577840" cy="411480"/>
          </a:xfrm>
          <a:prstGeom prst="roundRect">
            <a:avLst>
              <a:gd name="adj" fmla="val 8889"/>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33" name="Text 30"/>
          <p:cNvSpPr/>
          <p:nvPr/>
        </p:nvSpPr>
        <p:spPr>
          <a:xfrm>
            <a:off x="6446520" y="3273552"/>
            <a:ext cx="2286000" cy="411480"/>
          </a:xfrm>
          <a:prstGeom prst="rect">
            <a:avLst/>
          </a:prstGeom>
          <a:noFill/>
          <a:ln/>
        </p:spPr>
        <p:txBody>
          <a:bodyPr wrap="square" rtlCol="0" anchor="ctr"/>
          <a:lstStyle/>
          <a:p>
            <a:pPr marL="0" indent="0">
              <a:buNone/>
            </a:pPr>
            <a:r>
              <a:rPr lang="en-US" sz="900" dirty="0">
                <a:solidFill>
                  <a:srgbClr val="334155"/>
                </a:solidFill>
                <a:latin typeface="Calibri" pitchFamily="34" charset="0"/>
                <a:ea typeface="Calibri" pitchFamily="34" charset="-122"/>
                <a:cs typeface="Calibri" pitchFamily="34" charset="-120"/>
              </a:rPr>
              <a:t>PAPIER &amp; DÉRIVÉS</a:t>
            </a:r>
            <a:endParaRPr lang="en-US" sz="900" dirty="0"/>
          </a:p>
        </p:txBody>
      </p:sp>
      <p:sp>
        <p:nvSpPr>
          <p:cNvPr id="34" name="Text 31"/>
          <p:cNvSpPr/>
          <p:nvPr/>
        </p:nvSpPr>
        <p:spPr>
          <a:xfrm>
            <a:off x="8778240" y="3273552"/>
            <a:ext cx="1097280" cy="411480"/>
          </a:xfrm>
          <a:prstGeom prst="rect">
            <a:avLst/>
          </a:prstGeom>
          <a:noFill/>
          <a:ln/>
        </p:spPr>
        <p:txBody>
          <a:bodyPr wrap="square" rtlCol="0" anchor="ctr"/>
          <a:lstStyle/>
          <a:p>
            <a:pPr marL="0" indent="0" algn="r">
              <a:buNone/>
            </a:pPr>
            <a:r>
              <a:rPr lang="en-US" sz="850" dirty="0">
                <a:solidFill>
                  <a:srgbClr val="64748B"/>
                </a:solidFill>
                <a:latin typeface="Calibri" pitchFamily="34" charset="0"/>
                <a:ea typeface="Calibri" pitchFamily="34" charset="-122"/>
                <a:cs typeface="Calibri" pitchFamily="34" charset="-120"/>
              </a:rPr>
              <a:t>5,024 TEU</a:t>
            </a:r>
            <a:endParaRPr lang="en-US" sz="850" dirty="0"/>
          </a:p>
        </p:txBody>
      </p:sp>
      <p:sp>
        <p:nvSpPr>
          <p:cNvPr id="35" name="Shape 32"/>
          <p:cNvSpPr/>
          <p:nvPr/>
        </p:nvSpPr>
        <p:spPr>
          <a:xfrm>
            <a:off x="9948672" y="3383280"/>
            <a:ext cx="1737360" cy="164592"/>
          </a:xfrm>
          <a:prstGeom prst="rect">
            <a:avLst/>
          </a:prstGeom>
          <a:solidFill>
            <a:srgbClr val="CBD5E1"/>
          </a:solidFill>
          <a:ln w="12700">
            <a:solidFill>
              <a:srgbClr val="CBD5E1"/>
            </a:solidFill>
            <a:prstDash val="solid"/>
          </a:ln>
        </p:spPr>
        <p:txBody>
          <a:bodyPr/>
          <a:lstStyle/>
          <a:p>
            <a:endParaRPr lang="en-US"/>
          </a:p>
        </p:txBody>
      </p:sp>
      <p:sp>
        <p:nvSpPr>
          <p:cNvPr id="36" name="Shape 33"/>
          <p:cNvSpPr/>
          <p:nvPr/>
        </p:nvSpPr>
        <p:spPr>
          <a:xfrm>
            <a:off x="9948672" y="3383280"/>
            <a:ext cx="265816" cy="164592"/>
          </a:xfrm>
          <a:prstGeom prst="rect">
            <a:avLst/>
          </a:prstGeom>
          <a:solidFill>
            <a:srgbClr val="EA580C"/>
          </a:solidFill>
          <a:ln w="12700">
            <a:solidFill>
              <a:srgbClr val="EA580C"/>
            </a:solidFill>
            <a:prstDash val="solid"/>
          </a:ln>
        </p:spPr>
        <p:txBody>
          <a:bodyPr/>
          <a:lstStyle/>
          <a:p>
            <a:endParaRPr lang="en-US"/>
          </a:p>
        </p:txBody>
      </p:sp>
      <p:sp>
        <p:nvSpPr>
          <p:cNvPr id="37" name="Text 34"/>
          <p:cNvSpPr/>
          <p:nvPr/>
        </p:nvSpPr>
        <p:spPr>
          <a:xfrm>
            <a:off x="11722608" y="3273552"/>
            <a:ext cx="502920" cy="411480"/>
          </a:xfrm>
          <a:prstGeom prst="rect">
            <a:avLst/>
          </a:prstGeom>
          <a:noFill/>
          <a:ln/>
        </p:spPr>
        <p:txBody>
          <a:bodyPr wrap="square" rtlCol="0" anchor="ctr"/>
          <a:lstStyle/>
          <a:p>
            <a:pPr marL="0" indent="0" algn="r">
              <a:buNone/>
            </a:pPr>
            <a:r>
              <a:rPr lang="en-US" sz="950" b="1" dirty="0">
                <a:solidFill>
                  <a:srgbClr val="EA580C"/>
                </a:solidFill>
                <a:latin typeface="Calibri" pitchFamily="34" charset="0"/>
                <a:ea typeface="Calibri" pitchFamily="34" charset="-122"/>
                <a:cs typeface="Calibri" pitchFamily="34" charset="-120"/>
              </a:rPr>
              <a:t>15%</a:t>
            </a:r>
            <a:endParaRPr lang="en-US" sz="950" dirty="0"/>
          </a:p>
        </p:txBody>
      </p:sp>
      <p:sp>
        <p:nvSpPr>
          <p:cNvPr id="38" name="Shape 35"/>
          <p:cNvSpPr/>
          <p:nvPr/>
        </p:nvSpPr>
        <p:spPr>
          <a:xfrm>
            <a:off x="6309360" y="3730752"/>
            <a:ext cx="5577840" cy="411480"/>
          </a:xfrm>
          <a:prstGeom prst="roundRect">
            <a:avLst>
              <a:gd name="adj" fmla="val 8889"/>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39" name="Text 36"/>
          <p:cNvSpPr/>
          <p:nvPr/>
        </p:nvSpPr>
        <p:spPr>
          <a:xfrm>
            <a:off x="6446520" y="3730752"/>
            <a:ext cx="2286000" cy="411480"/>
          </a:xfrm>
          <a:prstGeom prst="rect">
            <a:avLst/>
          </a:prstGeom>
          <a:noFill/>
          <a:ln/>
        </p:spPr>
        <p:txBody>
          <a:bodyPr wrap="square" rtlCol="0" anchor="ctr"/>
          <a:lstStyle/>
          <a:p>
            <a:pPr marL="0" indent="0">
              <a:buNone/>
            </a:pPr>
            <a:r>
              <a:rPr lang="en-US" sz="900" dirty="0">
                <a:solidFill>
                  <a:srgbClr val="334155"/>
                </a:solidFill>
                <a:latin typeface="Calibri" pitchFamily="34" charset="0"/>
                <a:ea typeface="Calibri" pitchFamily="34" charset="-122"/>
                <a:cs typeface="Calibri" pitchFamily="34" charset="-120"/>
              </a:rPr>
              <a:t>LAIT EN POUDRE</a:t>
            </a:r>
            <a:endParaRPr lang="en-US" sz="900" dirty="0"/>
          </a:p>
        </p:txBody>
      </p:sp>
      <p:sp>
        <p:nvSpPr>
          <p:cNvPr id="40" name="Text 37"/>
          <p:cNvSpPr/>
          <p:nvPr/>
        </p:nvSpPr>
        <p:spPr>
          <a:xfrm>
            <a:off x="8778240" y="3730752"/>
            <a:ext cx="1097280" cy="411480"/>
          </a:xfrm>
          <a:prstGeom prst="rect">
            <a:avLst/>
          </a:prstGeom>
          <a:noFill/>
          <a:ln/>
        </p:spPr>
        <p:txBody>
          <a:bodyPr wrap="square" rtlCol="0" anchor="ctr"/>
          <a:lstStyle/>
          <a:p>
            <a:pPr marL="0" indent="0" algn="r">
              <a:buNone/>
            </a:pPr>
            <a:r>
              <a:rPr lang="en-US" sz="850" dirty="0">
                <a:solidFill>
                  <a:srgbClr val="64748B"/>
                </a:solidFill>
                <a:latin typeface="Calibri" pitchFamily="34" charset="0"/>
                <a:ea typeface="Calibri" pitchFamily="34" charset="-122"/>
                <a:cs typeface="Calibri" pitchFamily="34" charset="-120"/>
              </a:rPr>
              <a:t>1,121 TEU</a:t>
            </a:r>
            <a:endParaRPr lang="en-US" sz="850" dirty="0"/>
          </a:p>
        </p:txBody>
      </p:sp>
      <p:sp>
        <p:nvSpPr>
          <p:cNvPr id="41" name="Shape 38"/>
          <p:cNvSpPr/>
          <p:nvPr/>
        </p:nvSpPr>
        <p:spPr>
          <a:xfrm>
            <a:off x="9948672" y="3840480"/>
            <a:ext cx="1737360" cy="164592"/>
          </a:xfrm>
          <a:prstGeom prst="rect">
            <a:avLst/>
          </a:prstGeom>
          <a:solidFill>
            <a:srgbClr val="CBD5E1"/>
          </a:solidFill>
          <a:ln w="12700">
            <a:solidFill>
              <a:srgbClr val="CBD5E1"/>
            </a:solidFill>
            <a:prstDash val="solid"/>
          </a:ln>
        </p:spPr>
        <p:txBody>
          <a:bodyPr/>
          <a:lstStyle/>
          <a:p>
            <a:endParaRPr lang="en-US"/>
          </a:p>
        </p:txBody>
      </p:sp>
      <p:sp>
        <p:nvSpPr>
          <p:cNvPr id="42" name="Shape 39"/>
          <p:cNvSpPr/>
          <p:nvPr/>
        </p:nvSpPr>
        <p:spPr>
          <a:xfrm>
            <a:off x="9948672" y="3840480"/>
            <a:ext cx="238018" cy="164592"/>
          </a:xfrm>
          <a:prstGeom prst="rect">
            <a:avLst/>
          </a:prstGeom>
          <a:solidFill>
            <a:srgbClr val="EA580C"/>
          </a:solidFill>
          <a:ln w="12700">
            <a:solidFill>
              <a:srgbClr val="EA580C"/>
            </a:solidFill>
            <a:prstDash val="solid"/>
          </a:ln>
        </p:spPr>
        <p:txBody>
          <a:bodyPr/>
          <a:lstStyle/>
          <a:p>
            <a:endParaRPr lang="en-US"/>
          </a:p>
        </p:txBody>
      </p:sp>
      <p:sp>
        <p:nvSpPr>
          <p:cNvPr id="43" name="Text 40"/>
          <p:cNvSpPr/>
          <p:nvPr/>
        </p:nvSpPr>
        <p:spPr>
          <a:xfrm>
            <a:off x="11722608" y="3730752"/>
            <a:ext cx="502920" cy="411480"/>
          </a:xfrm>
          <a:prstGeom prst="rect">
            <a:avLst/>
          </a:prstGeom>
          <a:noFill/>
          <a:ln/>
        </p:spPr>
        <p:txBody>
          <a:bodyPr wrap="square" rtlCol="0" anchor="ctr"/>
          <a:lstStyle/>
          <a:p>
            <a:pPr marL="0" indent="0" algn="r">
              <a:buNone/>
            </a:pPr>
            <a:r>
              <a:rPr lang="en-US" sz="950" b="1" dirty="0">
                <a:solidFill>
                  <a:srgbClr val="EA580C"/>
                </a:solidFill>
                <a:latin typeface="Calibri" pitchFamily="34" charset="0"/>
                <a:ea typeface="Calibri" pitchFamily="34" charset="-122"/>
                <a:cs typeface="Calibri" pitchFamily="34" charset="-120"/>
              </a:rPr>
              <a:t>14%</a:t>
            </a:r>
            <a:endParaRPr lang="en-US" sz="950" dirty="0"/>
          </a:p>
        </p:txBody>
      </p:sp>
      <p:sp>
        <p:nvSpPr>
          <p:cNvPr id="44" name="Shape 41"/>
          <p:cNvSpPr/>
          <p:nvPr/>
        </p:nvSpPr>
        <p:spPr>
          <a:xfrm>
            <a:off x="6309360" y="4187952"/>
            <a:ext cx="5577840" cy="411480"/>
          </a:xfrm>
          <a:prstGeom prst="roundRect">
            <a:avLst>
              <a:gd name="adj" fmla="val 8889"/>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45" name="Text 42"/>
          <p:cNvSpPr/>
          <p:nvPr/>
        </p:nvSpPr>
        <p:spPr>
          <a:xfrm>
            <a:off x="6446520" y="4187952"/>
            <a:ext cx="2286000" cy="411480"/>
          </a:xfrm>
          <a:prstGeom prst="rect">
            <a:avLst/>
          </a:prstGeom>
          <a:noFill/>
          <a:ln/>
        </p:spPr>
        <p:txBody>
          <a:bodyPr wrap="square" rtlCol="0" anchor="ctr"/>
          <a:lstStyle/>
          <a:p>
            <a:pPr marL="0" indent="0">
              <a:buNone/>
            </a:pPr>
            <a:r>
              <a:rPr lang="en-US" sz="900" dirty="0">
                <a:solidFill>
                  <a:srgbClr val="334155"/>
                </a:solidFill>
                <a:latin typeface="Calibri" pitchFamily="34" charset="0"/>
                <a:ea typeface="Calibri" pitchFamily="34" charset="-122"/>
                <a:cs typeface="Calibri" pitchFamily="34" charset="-120"/>
              </a:rPr>
              <a:t>EMBALLAGES</a:t>
            </a:r>
            <a:endParaRPr lang="en-US" sz="900" dirty="0"/>
          </a:p>
        </p:txBody>
      </p:sp>
      <p:sp>
        <p:nvSpPr>
          <p:cNvPr id="46" name="Text 43"/>
          <p:cNvSpPr/>
          <p:nvPr/>
        </p:nvSpPr>
        <p:spPr>
          <a:xfrm>
            <a:off x="8778240" y="4187952"/>
            <a:ext cx="1097280" cy="411480"/>
          </a:xfrm>
          <a:prstGeom prst="rect">
            <a:avLst/>
          </a:prstGeom>
          <a:noFill/>
          <a:ln/>
        </p:spPr>
        <p:txBody>
          <a:bodyPr wrap="square" rtlCol="0" anchor="ctr"/>
          <a:lstStyle/>
          <a:p>
            <a:pPr marL="0" indent="0" algn="r">
              <a:buNone/>
            </a:pPr>
            <a:r>
              <a:rPr lang="en-US" sz="850" dirty="0">
                <a:solidFill>
                  <a:srgbClr val="64748B"/>
                </a:solidFill>
                <a:latin typeface="Calibri" pitchFamily="34" charset="0"/>
                <a:ea typeface="Calibri" pitchFamily="34" charset="-122"/>
                <a:cs typeface="Calibri" pitchFamily="34" charset="-120"/>
              </a:rPr>
              <a:t>8,951 TEU</a:t>
            </a:r>
            <a:endParaRPr lang="en-US" sz="850" dirty="0"/>
          </a:p>
        </p:txBody>
      </p:sp>
      <p:sp>
        <p:nvSpPr>
          <p:cNvPr id="47" name="Shape 44"/>
          <p:cNvSpPr/>
          <p:nvPr/>
        </p:nvSpPr>
        <p:spPr>
          <a:xfrm>
            <a:off x="9948672" y="4297680"/>
            <a:ext cx="1737360" cy="164592"/>
          </a:xfrm>
          <a:prstGeom prst="rect">
            <a:avLst/>
          </a:prstGeom>
          <a:solidFill>
            <a:srgbClr val="CBD5E1"/>
          </a:solidFill>
          <a:ln w="12700">
            <a:solidFill>
              <a:srgbClr val="CBD5E1"/>
            </a:solidFill>
            <a:prstDash val="solid"/>
          </a:ln>
        </p:spPr>
        <p:txBody>
          <a:bodyPr/>
          <a:lstStyle/>
          <a:p>
            <a:endParaRPr lang="en-US"/>
          </a:p>
        </p:txBody>
      </p:sp>
      <p:sp>
        <p:nvSpPr>
          <p:cNvPr id="48" name="Shape 45"/>
          <p:cNvSpPr/>
          <p:nvPr/>
        </p:nvSpPr>
        <p:spPr>
          <a:xfrm>
            <a:off x="9948672" y="4297680"/>
            <a:ext cx="203271" cy="164592"/>
          </a:xfrm>
          <a:prstGeom prst="rect">
            <a:avLst/>
          </a:prstGeom>
          <a:solidFill>
            <a:srgbClr val="0891B2"/>
          </a:solidFill>
          <a:ln w="12700">
            <a:solidFill>
              <a:srgbClr val="0891B2"/>
            </a:solidFill>
            <a:prstDash val="solid"/>
          </a:ln>
        </p:spPr>
        <p:txBody>
          <a:bodyPr/>
          <a:lstStyle/>
          <a:p>
            <a:endParaRPr lang="en-US"/>
          </a:p>
        </p:txBody>
      </p:sp>
      <p:sp>
        <p:nvSpPr>
          <p:cNvPr id="49" name="Text 46"/>
          <p:cNvSpPr/>
          <p:nvPr/>
        </p:nvSpPr>
        <p:spPr>
          <a:xfrm>
            <a:off x="11722608" y="4187952"/>
            <a:ext cx="502920" cy="411480"/>
          </a:xfrm>
          <a:prstGeom prst="rect">
            <a:avLst/>
          </a:prstGeom>
          <a:noFill/>
          <a:ln/>
        </p:spPr>
        <p:txBody>
          <a:bodyPr wrap="square" rtlCol="0" anchor="ctr"/>
          <a:lstStyle/>
          <a:p>
            <a:pPr marL="0" indent="0" algn="r">
              <a:buNone/>
            </a:pPr>
            <a:r>
              <a:rPr lang="en-US" sz="950" b="1" dirty="0">
                <a:solidFill>
                  <a:srgbClr val="0891B2"/>
                </a:solidFill>
                <a:latin typeface="Calibri" pitchFamily="34" charset="0"/>
                <a:ea typeface="Calibri" pitchFamily="34" charset="-122"/>
                <a:cs typeface="Calibri" pitchFamily="34" charset="-120"/>
              </a:rPr>
              <a:t>12%</a:t>
            </a:r>
            <a:endParaRPr lang="en-US" sz="950" dirty="0"/>
          </a:p>
        </p:txBody>
      </p:sp>
      <p:sp>
        <p:nvSpPr>
          <p:cNvPr id="50" name="Shape 47"/>
          <p:cNvSpPr/>
          <p:nvPr/>
        </p:nvSpPr>
        <p:spPr>
          <a:xfrm>
            <a:off x="6309360" y="4645152"/>
            <a:ext cx="5577840" cy="411480"/>
          </a:xfrm>
          <a:prstGeom prst="roundRect">
            <a:avLst>
              <a:gd name="adj" fmla="val 8889"/>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51" name="Text 48"/>
          <p:cNvSpPr/>
          <p:nvPr/>
        </p:nvSpPr>
        <p:spPr>
          <a:xfrm>
            <a:off x="6446520" y="4645152"/>
            <a:ext cx="2286000" cy="411480"/>
          </a:xfrm>
          <a:prstGeom prst="rect">
            <a:avLst/>
          </a:prstGeom>
          <a:noFill/>
          <a:ln/>
        </p:spPr>
        <p:txBody>
          <a:bodyPr wrap="square" rtlCol="0" anchor="ctr"/>
          <a:lstStyle/>
          <a:p>
            <a:pPr marL="0" indent="0">
              <a:buNone/>
            </a:pPr>
            <a:r>
              <a:rPr lang="en-US" sz="900" dirty="0">
                <a:solidFill>
                  <a:srgbClr val="334155"/>
                </a:solidFill>
                <a:latin typeface="Calibri" pitchFamily="34" charset="0"/>
                <a:ea typeface="Calibri" pitchFamily="34" charset="-122"/>
                <a:cs typeface="Calibri" pitchFamily="34" charset="-120"/>
              </a:rPr>
              <a:t>MACHINES</a:t>
            </a:r>
            <a:endParaRPr lang="en-US" sz="900" dirty="0"/>
          </a:p>
        </p:txBody>
      </p:sp>
      <p:sp>
        <p:nvSpPr>
          <p:cNvPr id="52" name="Text 49"/>
          <p:cNvSpPr/>
          <p:nvPr/>
        </p:nvSpPr>
        <p:spPr>
          <a:xfrm>
            <a:off x="8778240" y="4645152"/>
            <a:ext cx="1097280" cy="411480"/>
          </a:xfrm>
          <a:prstGeom prst="rect">
            <a:avLst/>
          </a:prstGeom>
          <a:noFill/>
          <a:ln/>
        </p:spPr>
        <p:txBody>
          <a:bodyPr wrap="square" rtlCol="0" anchor="ctr"/>
          <a:lstStyle/>
          <a:p>
            <a:pPr marL="0" indent="0" algn="r">
              <a:buNone/>
            </a:pPr>
            <a:r>
              <a:rPr lang="en-US" sz="850" dirty="0">
                <a:solidFill>
                  <a:srgbClr val="64748B"/>
                </a:solidFill>
                <a:latin typeface="Calibri" pitchFamily="34" charset="0"/>
                <a:ea typeface="Calibri" pitchFamily="34" charset="-122"/>
                <a:cs typeface="Calibri" pitchFamily="34" charset="-120"/>
              </a:rPr>
              <a:t>4,781 TEU</a:t>
            </a:r>
            <a:endParaRPr lang="en-US" sz="850" dirty="0"/>
          </a:p>
        </p:txBody>
      </p:sp>
      <p:sp>
        <p:nvSpPr>
          <p:cNvPr id="53" name="Shape 50"/>
          <p:cNvSpPr/>
          <p:nvPr/>
        </p:nvSpPr>
        <p:spPr>
          <a:xfrm>
            <a:off x="9948672" y="4754880"/>
            <a:ext cx="1737360" cy="164592"/>
          </a:xfrm>
          <a:prstGeom prst="rect">
            <a:avLst/>
          </a:prstGeom>
          <a:solidFill>
            <a:srgbClr val="CBD5E1"/>
          </a:solidFill>
          <a:ln w="12700">
            <a:solidFill>
              <a:srgbClr val="CBD5E1"/>
            </a:solidFill>
            <a:prstDash val="solid"/>
          </a:ln>
        </p:spPr>
        <p:txBody>
          <a:bodyPr/>
          <a:lstStyle/>
          <a:p>
            <a:endParaRPr lang="en-US"/>
          </a:p>
        </p:txBody>
      </p:sp>
      <p:sp>
        <p:nvSpPr>
          <p:cNvPr id="54" name="Shape 51"/>
          <p:cNvSpPr/>
          <p:nvPr/>
        </p:nvSpPr>
        <p:spPr>
          <a:xfrm>
            <a:off x="9948672" y="4754880"/>
            <a:ext cx="182423" cy="164592"/>
          </a:xfrm>
          <a:prstGeom prst="rect">
            <a:avLst/>
          </a:prstGeom>
          <a:solidFill>
            <a:srgbClr val="0891B2"/>
          </a:solidFill>
          <a:ln w="12700">
            <a:solidFill>
              <a:srgbClr val="0891B2"/>
            </a:solidFill>
            <a:prstDash val="solid"/>
          </a:ln>
        </p:spPr>
        <p:txBody>
          <a:bodyPr/>
          <a:lstStyle/>
          <a:p>
            <a:endParaRPr lang="en-US"/>
          </a:p>
        </p:txBody>
      </p:sp>
      <p:sp>
        <p:nvSpPr>
          <p:cNvPr id="55" name="Text 52"/>
          <p:cNvSpPr/>
          <p:nvPr/>
        </p:nvSpPr>
        <p:spPr>
          <a:xfrm>
            <a:off x="11722608" y="4645152"/>
            <a:ext cx="502920" cy="411480"/>
          </a:xfrm>
          <a:prstGeom prst="rect">
            <a:avLst/>
          </a:prstGeom>
          <a:noFill/>
          <a:ln/>
        </p:spPr>
        <p:txBody>
          <a:bodyPr wrap="square" rtlCol="0" anchor="ctr"/>
          <a:lstStyle/>
          <a:p>
            <a:pPr marL="0" indent="0" algn="r">
              <a:buNone/>
            </a:pPr>
            <a:r>
              <a:rPr lang="en-US" sz="950" b="1" dirty="0">
                <a:solidFill>
                  <a:srgbClr val="0891B2"/>
                </a:solidFill>
                <a:latin typeface="Calibri" pitchFamily="34" charset="0"/>
                <a:ea typeface="Calibri" pitchFamily="34" charset="-122"/>
                <a:cs typeface="Calibri" pitchFamily="34" charset="-120"/>
              </a:rPr>
              <a:t>11%</a:t>
            </a:r>
            <a:endParaRPr lang="en-US" sz="950" dirty="0"/>
          </a:p>
        </p:txBody>
      </p:sp>
      <p:sp>
        <p:nvSpPr>
          <p:cNvPr id="56" name="Shape 53"/>
          <p:cNvSpPr/>
          <p:nvPr/>
        </p:nvSpPr>
        <p:spPr>
          <a:xfrm>
            <a:off x="6309360" y="5102352"/>
            <a:ext cx="5577840" cy="411480"/>
          </a:xfrm>
          <a:prstGeom prst="roundRect">
            <a:avLst>
              <a:gd name="adj" fmla="val 8889"/>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57" name="Text 54"/>
          <p:cNvSpPr/>
          <p:nvPr/>
        </p:nvSpPr>
        <p:spPr>
          <a:xfrm>
            <a:off x="6446520" y="5102352"/>
            <a:ext cx="2286000" cy="411480"/>
          </a:xfrm>
          <a:prstGeom prst="rect">
            <a:avLst/>
          </a:prstGeom>
          <a:noFill/>
          <a:ln/>
        </p:spPr>
        <p:txBody>
          <a:bodyPr wrap="square" rtlCol="0" anchor="ctr"/>
          <a:lstStyle/>
          <a:p>
            <a:pPr marL="0" indent="0">
              <a:buNone/>
            </a:pPr>
            <a:r>
              <a:rPr lang="en-US" sz="900" dirty="0">
                <a:solidFill>
                  <a:srgbClr val="334155"/>
                </a:solidFill>
                <a:latin typeface="Calibri" pitchFamily="34" charset="0"/>
                <a:ea typeface="Calibri" pitchFamily="34" charset="-122"/>
                <a:cs typeface="Calibri" pitchFamily="34" charset="-120"/>
              </a:rPr>
              <a:t>PRODUITS MER CONGELÉ</a:t>
            </a:r>
            <a:endParaRPr lang="en-US" sz="900" dirty="0"/>
          </a:p>
        </p:txBody>
      </p:sp>
      <p:sp>
        <p:nvSpPr>
          <p:cNvPr id="58" name="Text 55"/>
          <p:cNvSpPr/>
          <p:nvPr/>
        </p:nvSpPr>
        <p:spPr>
          <a:xfrm>
            <a:off x="8778240" y="5102352"/>
            <a:ext cx="1097280" cy="411480"/>
          </a:xfrm>
          <a:prstGeom prst="rect">
            <a:avLst/>
          </a:prstGeom>
          <a:noFill/>
          <a:ln/>
        </p:spPr>
        <p:txBody>
          <a:bodyPr wrap="square" rtlCol="0" anchor="ctr"/>
          <a:lstStyle/>
          <a:p>
            <a:pPr marL="0" indent="0" algn="r">
              <a:buNone/>
            </a:pPr>
            <a:r>
              <a:rPr lang="en-US" sz="850" dirty="0">
                <a:solidFill>
                  <a:srgbClr val="64748B"/>
                </a:solidFill>
                <a:latin typeface="Calibri" pitchFamily="34" charset="0"/>
                <a:ea typeface="Calibri" pitchFamily="34" charset="-122"/>
                <a:cs typeface="Calibri" pitchFamily="34" charset="-120"/>
              </a:rPr>
              <a:t>22,915 TEU</a:t>
            </a:r>
            <a:endParaRPr lang="en-US" sz="850" dirty="0"/>
          </a:p>
        </p:txBody>
      </p:sp>
      <p:sp>
        <p:nvSpPr>
          <p:cNvPr id="59" name="Shape 56"/>
          <p:cNvSpPr/>
          <p:nvPr/>
        </p:nvSpPr>
        <p:spPr>
          <a:xfrm>
            <a:off x="9948672" y="5212080"/>
            <a:ext cx="1737360" cy="164592"/>
          </a:xfrm>
          <a:prstGeom prst="rect">
            <a:avLst/>
          </a:prstGeom>
          <a:solidFill>
            <a:srgbClr val="CBD5E1"/>
          </a:solidFill>
          <a:ln w="12700">
            <a:solidFill>
              <a:srgbClr val="CBD5E1"/>
            </a:solidFill>
            <a:prstDash val="solid"/>
          </a:ln>
        </p:spPr>
        <p:txBody>
          <a:bodyPr/>
          <a:lstStyle/>
          <a:p>
            <a:endParaRPr lang="en-US"/>
          </a:p>
        </p:txBody>
      </p:sp>
      <p:sp>
        <p:nvSpPr>
          <p:cNvPr id="60" name="Shape 57"/>
          <p:cNvSpPr/>
          <p:nvPr/>
        </p:nvSpPr>
        <p:spPr>
          <a:xfrm>
            <a:off x="9948672" y="5212080"/>
            <a:ext cx="41697" cy="164592"/>
          </a:xfrm>
          <a:prstGeom prst="rect">
            <a:avLst/>
          </a:prstGeom>
          <a:solidFill>
            <a:srgbClr val="DC2626"/>
          </a:solidFill>
          <a:ln w="12700">
            <a:solidFill>
              <a:srgbClr val="DC2626"/>
            </a:solidFill>
            <a:prstDash val="solid"/>
          </a:ln>
        </p:spPr>
        <p:txBody>
          <a:bodyPr/>
          <a:lstStyle/>
          <a:p>
            <a:endParaRPr lang="en-US"/>
          </a:p>
        </p:txBody>
      </p:sp>
      <p:sp>
        <p:nvSpPr>
          <p:cNvPr id="61" name="Text 58"/>
          <p:cNvSpPr/>
          <p:nvPr/>
        </p:nvSpPr>
        <p:spPr>
          <a:xfrm>
            <a:off x="11722608" y="5102352"/>
            <a:ext cx="502920" cy="411480"/>
          </a:xfrm>
          <a:prstGeom prst="rect">
            <a:avLst/>
          </a:prstGeom>
          <a:noFill/>
          <a:ln/>
        </p:spPr>
        <p:txBody>
          <a:bodyPr wrap="square" rtlCol="0" anchor="ctr"/>
          <a:lstStyle/>
          <a:p>
            <a:pPr marL="0" indent="0" algn="r">
              <a:buNone/>
            </a:pPr>
            <a:r>
              <a:rPr lang="en-US" sz="950" b="1" dirty="0">
                <a:solidFill>
                  <a:srgbClr val="DC2626"/>
                </a:solidFill>
                <a:latin typeface="Calibri" pitchFamily="34" charset="0"/>
                <a:ea typeface="Calibri" pitchFamily="34" charset="-122"/>
                <a:cs typeface="Calibri" pitchFamily="34" charset="-120"/>
              </a:rPr>
              <a:t>2%</a:t>
            </a:r>
            <a:endParaRPr lang="en-US" sz="950" dirty="0"/>
          </a:p>
        </p:txBody>
      </p:sp>
      <p:sp>
        <p:nvSpPr>
          <p:cNvPr id="62" name="Shape 59"/>
          <p:cNvSpPr/>
          <p:nvPr/>
        </p:nvSpPr>
        <p:spPr>
          <a:xfrm>
            <a:off x="6309360" y="5559552"/>
            <a:ext cx="5577840" cy="411480"/>
          </a:xfrm>
          <a:prstGeom prst="roundRect">
            <a:avLst>
              <a:gd name="adj" fmla="val 8889"/>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63" name="Text 60"/>
          <p:cNvSpPr/>
          <p:nvPr/>
        </p:nvSpPr>
        <p:spPr>
          <a:xfrm>
            <a:off x="6446520" y="5559552"/>
            <a:ext cx="2286000" cy="411480"/>
          </a:xfrm>
          <a:prstGeom prst="rect">
            <a:avLst/>
          </a:prstGeom>
          <a:noFill/>
          <a:ln/>
        </p:spPr>
        <p:txBody>
          <a:bodyPr wrap="square" rtlCol="0" anchor="ctr"/>
          <a:lstStyle/>
          <a:p>
            <a:pPr marL="0" indent="0">
              <a:buNone/>
            </a:pPr>
            <a:r>
              <a:rPr lang="en-US" sz="900" dirty="0">
                <a:solidFill>
                  <a:srgbClr val="334155"/>
                </a:solidFill>
                <a:latin typeface="Calibri" pitchFamily="34" charset="0"/>
                <a:ea typeface="Calibri" pitchFamily="34" charset="-122"/>
                <a:cs typeface="Calibri" pitchFamily="34" charset="-120"/>
              </a:rPr>
              <a:t>RIZ</a:t>
            </a:r>
            <a:endParaRPr lang="en-US" sz="900" dirty="0"/>
          </a:p>
        </p:txBody>
      </p:sp>
      <p:sp>
        <p:nvSpPr>
          <p:cNvPr id="64" name="Text 61"/>
          <p:cNvSpPr/>
          <p:nvPr/>
        </p:nvSpPr>
        <p:spPr>
          <a:xfrm>
            <a:off x="8778240" y="5559552"/>
            <a:ext cx="1097280" cy="411480"/>
          </a:xfrm>
          <a:prstGeom prst="rect">
            <a:avLst/>
          </a:prstGeom>
          <a:noFill/>
          <a:ln/>
        </p:spPr>
        <p:txBody>
          <a:bodyPr wrap="square" rtlCol="0" anchor="ctr"/>
          <a:lstStyle/>
          <a:p>
            <a:pPr marL="0" indent="0" algn="r">
              <a:buNone/>
            </a:pPr>
            <a:r>
              <a:rPr lang="en-US" sz="850" dirty="0">
                <a:solidFill>
                  <a:srgbClr val="64748B"/>
                </a:solidFill>
                <a:latin typeface="Calibri" pitchFamily="34" charset="0"/>
                <a:ea typeface="Calibri" pitchFamily="34" charset="-122"/>
                <a:cs typeface="Calibri" pitchFamily="34" charset="-120"/>
              </a:rPr>
              <a:t>9,586 TEU</a:t>
            </a:r>
            <a:endParaRPr lang="en-US" sz="850" dirty="0"/>
          </a:p>
        </p:txBody>
      </p:sp>
      <p:sp>
        <p:nvSpPr>
          <p:cNvPr id="65" name="Shape 62"/>
          <p:cNvSpPr/>
          <p:nvPr/>
        </p:nvSpPr>
        <p:spPr>
          <a:xfrm>
            <a:off x="9948672" y="5669280"/>
            <a:ext cx="1737360" cy="164592"/>
          </a:xfrm>
          <a:prstGeom prst="rect">
            <a:avLst/>
          </a:prstGeom>
          <a:solidFill>
            <a:srgbClr val="CBD5E1"/>
          </a:solidFill>
          <a:ln w="12700">
            <a:solidFill>
              <a:srgbClr val="CBD5E1"/>
            </a:solidFill>
            <a:prstDash val="solid"/>
          </a:ln>
        </p:spPr>
        <p:txBody>
          <a:bodyPr/>
          <a:lstStyle/>
          <a:p>
            <a:endParaRPr lang="en-US"/>
          </a:p>
        </p:txBody>
      </p:sp>
      <p:sp>
        <p:nvSpPr>
          <p:cNvPr id="66" name="Shape 63"/>
          <p:cNvSpPr/>
          <p:nvPr/>
        </p:nvSpPr>
        <p:spPr>
          <a:xfrm>
            <a:off x="9948672" y="5669280"/>
            <a:ext cx="5212" cy="164592"/>
          </a:xfrm>
          <a:prstGeom prst="rect">
            <a:avLst/>
          </a:prstGeom>
          <a:solidFill>
            <a:srgbClr val="DC2626"/>
          </a:solidFill>
          <a:ln w="12700">
            <a:solidFill>
              <a:srgbClr val="DC2626"/>
            </a:solidFill>
            <a:prstDash val="solid"/>
          </a:ln>
        </p:spPr>
        <p:txBody>
          <a:bodyPr/>
          <a:lstStyle/>
          <a:p>
            <a:endParaRPr lang="en-US"/>
          </a:p>
        </p:txBody>
      </p:sp>
      <p:sp>
        <p:nvSpPr>
          <p:cNvPr id="67" name="Text 64"/>
          <p:cNvSpPr/>
          <p:nvPr/>
        </p:nvSpPr>
        <p:spPr>
          <a:xfrm>
            <a:off x="11722608" y="5559552"/>
            <a:ext cx="502920" cy="411480"/>
          </a:xfrm>
          <a:prstGeom prst="rect">
            <a:avLst/>
          </a:prstGeom>
          <a:noFill/>
          <a:ln/>
        </p:spPr>
        <p:txBody>
          <a:bodyPr wrap="square" rtlCol="0" anchor="ctr"/>
          <a:lstStyle/>
          <a:p>
            <a:pPr marL="0" indent="0" algn="r">
              <a:buNone/>
            </a:pPr>
            <a:r>
              <a:rPr lang="en-US" sz="950" b="1" dirty="0">
                <a:solidFill>
                  <a:srgbClr val="DC2626"/>
                </a:solidFill>
                <a:latin typeface="Calibri" pitchFamily="34" charset="0"/>
                <a:ea typeface="Calibri" pitchFamily="34" charset="-122"/>
                <a:cs typeface="Calibri" pitchFamily="34" charset="-120"/>
              </a:rPr>
              <a:t>0%</a:t>
            </a:r>
            <a:endParaRPr lang="en-US" sz="950" dirty="0"/>
          </a:p>
        </p:txBody>
      </p:sp>
      <p:sp>
        <p:nvSpPr>
          <p:cNvPr id="68" name="Shape 65"/>
          <p:cNvSpPr/>
          <p:nvPr/>
        </p:nvSpPr>
        <p:spPr>
          <a:xfrm>
            <a:off x="6309360" y="6016752"/>
            <a:ext cx="5577840" cy="411480"/>
          </a:xfrm>
          <a:prstGeom prst="roundRect">
            <a:avLst>
              <a:gd name="adj" fmla="val 8889"/>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69" name="Text 66"/>
          <p:cNvSpPr/>
          <p:nvPr/>
        </p:nvSpPr>
        <p:spPr>
          <a:xfrm>
            <a:off x="6446520" y="6016752"/>
            <a:ext cx="2286000" cy="411480"/>
          </a:xfrm>
          <a:prstGeom prst="rect">
            <a:avLst/>
          </a:prstGeom>
          <a:noFill/>
          <a:ln/>
        </p:spPr>
        <p:txBody>
          <a:bodyPr wrap="square" rtlCol="0" anchor="ctr"/>
          <a:lstStyle/>
          <a:p>
            <a:pPr marL="0" indent="0">
              <a:buNone/>
            </a:pPr>
            <a:r>
              <a:rPr lang="en-US" sz="900" dirty="0">
                <a:solidFill>
                  <a:srgbClr val="334155"/>
                </a:solidFill>
                <a:latin typeface="Calibri" pitchFamily="34" charset="0"/>
                <a:ea typeface="Calibri" pitchFamily="34" charset="-122"/>
                <a:cs typeface="Calibri" pitchFamily="34" charset="-120"/>
              </a:rPr>
              <a:t>VIANDES CONGELÉES</a:t>
            </a:r>
            <a:endParaRPr lang="en-US" sz="900" dirty="0"/>
          </a:p>
        </p:txBody>
      </p:sp>
      <p:sp>
        <p:nvSpPr>
          <p:cNvPr id="70" name="Text 67"/>
          <p:cNvSpPr/>
          <p:nvPr/>
        </p:nvSpPr>
        <p:spPr>
          <a:xfrm>
            <a:off x="8778240" y="6016752"/>
            <a:ext cx="1097280" cy="411480"/>
          </a:xfrm>
          <a:prstGeom prst="rect">
            <a:avLst/>
          </a:prstGeom>
          <a:noFill/>
          <a:ln/>
        </p:spPr>
        <p:txBody>
          <a:bodyPr wrap="square" rtlCol="0" anchor="ctr"/>
          <a:lstStyle/>
          <a:p>
            <a:pPr marL="0" indent="0" algn="r">
              <a:buNone/>
            </a:pPr>
            <a:r>
              <a:rPr lang="en-US" sz="850" dirty="0">
                <a:solidFill>
                  <a:srgbClr val="64748B"/>
                </a:solidFill>
                <a:latin typeface="Calibri" pitchFamily="34" charset="0"/>
                <a:ea typeface="Calibri" pitchFamily="34" charset="-122"/>
                <a:cs typeface="Calibri" pitchFamily="34" charset="-120"/>
              </a:rPr>
              <a:t>9,470 TEU</a:t>
            </a:r>
            <a:endParaRPr lang="en-US" sz="850" dirty="0"/>
          </a:p>
        </p:txBody>
      </p:sp>
      <p:sp>
        <p:nvSpPr>
          <p:cNvPr id="71" name="Shape 68"/>
          <p:cNvSpPr/>
          <p:nvPr/>
        </p:nvSpPr>
        <p:spPr>
          <a:xfrm>
            <a:off x="9948672" y="6126480"/>
            <a:ext cx="1737360" cy="164592"/>
          </a:xfrm>
          <a:prstGeom prst="rect">
            <a:avLst/>
          </a:prstGeom>
          <a:solidFill>
            <a:srgbClr val="CBD5E1"/>
          </a:solidFill>
          <a:ln w="12700">
            <a:solidFill>
              <a:srgbClr val="CBD5E1"/>
            </a:solidFill>
            <a:prstDash val="solid"/>
          </a:ln>
        </p:spPr>
        <p:txBody>
          <a:bodyPr/>
          <a:lstStyle/>
          <a:p>
            <a:endParaRPr lang="en-US"/>
          </a:p>
        </p:txBody>
      </p:sp>
      <p:sp>
        <p:nvSpPr>
          <p:cNvPr id="72" name="Shape 69"/>
          <p:cNvSpPr/>
          <p:nvPr/>
        </p:nvSpPr>
        <p:spPr>
          <a:xfrm>
            <a:off x="9948672" y="6126480"/>
            <a:ext cx="31272" cy="164592"/>
          </a:xfrm>
          <a:prstGeom prst="rect">
            <a:avLst/>
          </a:prstGeom>
          <a:solidFill>
            <a:srgbClr val="DC2626"/>
          </a:solidFill>
          <a:ln w="12700">
            <a:solidFill>
              <a:srgbClr val="DC2626"/>
            </a:solidFill>
            <a:prstDash val="solid"/>
          </a:ln>
        </p:spPr>
        <p:txBody>
          <a:bodyPr/>
          <a:lstStyle/>
          <a:p>
            <a:endParaRPr lang="en-US"/>
          </a:p>
        </p:txBody>
      </p:sp>
      <p:sp>
        <p:nvSpPr>
          <p:cNvPr id="73" name="Text 70"/>
          <p:cNvSpPr/>
          <p:nvPr/>
        </p:nvSpPr>
        <p:spPr>
          <a:xfrm>
            <a:off x="11722608" y="6016752"/>
            <a:ext cx="502920" cy="411480"/>
          </a:xfrm>
          <a:prstGeom prst="rect">
            <a:avLst/>
          </a:prstGeom>
          <a:noFill/>
          <a:ln/>
        </p:spPr>
        <p:txBody>
          <a:bodyPr wrap="square" rtlCol="0" anchor="ctr"/>
          <a:lstStyle/>
          <a:p>
            <a:pPr marL="0" indent="0" algn="r">
              <a:buNone/>
            </a:pPr>
            <a:r>
              <a:rPr lang="en-US" sz="950" b="1" dirty="0">
                <a:solidFill>
                  <a:srgbClr val="DC2626"/>
                </a:solidFill>
                <a:latin typeface="Calibri" pitchFamily="34" charset="0"/>
                <a:ea typeface="Calibri" pitchFamily="34" charset="-122"/>
                <a:cs typeface="Calibri" pitchFamily="34" charset="-120"/>
              </a:rPr>
              <a:t>2%</a:t>
            </a:r>
            <a:endParaRPr lang="en-US" sz="950" dirty="0"/>
          </a:p>
        </p:txBody>
      </p:sp>
      <p:sp>
        <p:nvSpPr>
          <p:cNvPr id="74" name="Shape 71"/>
          <p:cNvSpPr/>
          <p:nvPr/>
        </p:nvSpPr>
        <p:spPr>
          <a:xfrm>
            <a:off x="320040" y="5257800"/>
            <a:ext cx="5775960" cy="603504"/>
          </a:xfrm>
          <a:prstGeom prst="roundRect">
            <a:avLst>
              <a:gd name="adj" fmla="val 8000"/>
            </a:avLst>
          </a:prstGeom>
          <a:solidFill>
            <a:srgbClr val="FFF5E6"/>
          </a:solidFill>
          <a:ln/>
        </p:spPr>
        <p:txBody>
          <a:bodyPr/>
          <a:lstStyle/>
          <a:p>
            <a:endParaRPr lang="en-US"/>
          </a:p>
        </p:txBody>
      </p:sp>
      <p:sp>
        <p:nvSpPr>
          <p:cNvPr id="75" name="Text 72"/>
          <p:cNvSpPr/>
          <p:nvPr/>
        </p:nvSpPr>
        <p:spPr>
          <a:xfrm>
            <a:off x="502920" y="5120640"/>
            <a:ext cx="5064162" cy="914400"/>
          </a:xfrm>
          <a:prstGeom prst="rect">
            <a:avLst/>
          </a:prstGeom>
          <a:noFill/>
          <a:ln/>
        </p:spPr>
        <p:txBody>
          <a:bodyPr wrap="square" rtlCol="0" anchor="ctr"/>
          <a:lstStyle/>
          <a:p>
            <a:pPr marL="0" indent="0">
              <a:buNone/>
            </a:pPr>
            <a:r>
              <a:rPr lang="en-US" sz="1000" b="1" dirty="0">
                <a:solidFill>
                  <a:srgbClr val="EA580C"/>
                </a:solidFill>
                <a:latin typeface="Calibri" pitchFamily="34" charset="0"/>
                <a:ea typeface="Calibri" pitchFamily="34" charset="-122"/>
                <a:cs typeface="Calibri" pitchFamily="34" charset="-120"/>
              </a:rPr>
              <a:t>💡 INSIGHT TIM : </a:t>
            </a:r>
            <a:r>
              <a:rPr lang="en-US" sz="1000" dirty="0">
                <a:solidFill>
                  <a:srgbClr val="0A2240"/>
                </a:solidFill>
                <a:latin typeface="Calibri" pitchFamily="34" charset="0"/>
                <a:ea typeface="Calibri" pitchFamily="34" charset="-122"/>
                <a:cs typeface="Calibri" pitchFamily="34" charset="-120"/>
              </a:rPr>
              <a:t>Leader de justesse (+558 TEU sur STRACOTRANS). Forces : Mat. Miniers (74% PDM), Médicaments (50%), PVC (32%). </a:t>
            </a:r>
            <a:endParaRPr lang="en-US" sz="1000" dirty="0"/>
          </a:p>
        </p:txBody>
      </p:sp>
      <p:sp>
        <p:nvSpPr>
          <p:cNvPr id="76" name="Shape 73"/>
          <p:cNvSpPr/>
          <p:nvPr/>
        </p:nvSpPr>
        <p:spPr>
          <a:xfrm>
            <a:off x="365760" y="6565392"/>
            <a:ext cx="11430000" cy="0"/>
          </a:xfrm>
          <a:prstGeom prst="line">
            <a:avLst/>
          </a:prstGeom>
          <a:noFill/>
          <a:ln w="6350">
            <a:solidFill>
              <a:srgbClr val="CBD5E1"/>
            </a:solidFill>
            <a:prstDash val="solid"/>
          </a:ln>
        </p:spPr>
        <p:txBody>
          <a:bodyPr/>
          <a:lstStyle/>
          <a:p>
            <a:endParaRPr lang="en-US"/>
          </a:p>
        </p:txBody>
      </p:sp>
      <p:sp>
        <p:nvSpPr>
          <p:cNvPr id="77" name="Text 74"/>
          <p:cNvSpPr/>
          <p:nvPr/>
        </p:nvSpPr>
        <p:spPr>
          <a:xfrm>
            <a:off x="365760" y="6601968"/>
            <a:ext cx="11430000" cy="201168"/>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Africa Global Logistics – Étude de Marché Jan–Mai 2026  |   p.5</a:t>
            </a:r>
            <a:endParaRPr lang="en-US" sz="850" dirty="0"/>
          </a:p>
        </p:txBody>
      </p:sp>
      <p:pic>
        <p:nvPicPr>
          <p:cNvPr id="79" name="Image 78" descr="Une image contenant texte, Police, Graphique, logo  Description générée automatiquement">
            <a:extLst>
              <a:ext uri="{FF2B5EF4-FFF2-40B4-BE49-F238E27FC236}">
                <a16:creationId xmlns:a16="http://schemas.microsoft.com/office/drawing/2014/main" id="{C36B8C15-02E9-D5C5-EC26-61B4E2D013D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1488450" y="6549898"/>
            <a:ext cx="450027" cy="29240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0A2240"/>
          </a:solidFill>
          <a:ln w="12700">
            <a:solidFill>
              <a:srgbClr val="0A2240"/>
            </a:solidFill>
            <a:prstDash val="solid"/>
          </a:ln>
        </p:spPr>
        <p:txBody>
          <a:bodyPr/>
          <a:lstStyle/>
          <a:p>
            <a:endParaRPr lang="en-US"/>
          </a:p>
        </p:txBody>
      </p:sp>
      <p:sp>
        <p:nvSpPr>
          <p:cNvPr id="3" name="Text 1"/>
          <p:cNvSpPr/>
          <p:nvPr/>
        </p:nvSpPr>
        <p:spPr>
          <a:xfrm>
            <a:off x="365760" y="54864"/>
            <a:ext cx="11430000" cy="65836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TIM – CLIENTÈLE AGL</a:t>
            </a:r>
            <a:endParaRPr lang="en-US" sz="2400" dirty="0"/>
          </a:p>
        </p:txBody>
      </p:sp>
      <p:sp>
        <p:nvSpPr>
          <p:cNvPr id="4" name="Text 2"/>
          <p:cNvSpPr/>
          <p:nvPr/>
        </p:nvSpPr>
        <p:spPr>
          <a:xfrm>
            <a:off x="365760" y="676656"/>
            <a:ext cx="11430000" cy="329184"/>
          </a:xfrm>
          <a:prstGeom prst="rect">
            <a:avLst/>
          </a:prstGeom>
          <a:noFill/>
          <a:ln/>
        </p:spPr>
        <p:txBody>
          <a:bodyPr wrap="square" rtlCol="0" anchor="ctr"/>
          <a:lstStyle/>
          <a:p>
            <a:pPr marL="0" indent="0">
              <a:buNone/>
            </a:pPr>
            <a:r>
              <a:rPr lang="en-US" sz="1200" i="1" dirty="0">
                <a:solidFill>
                  <a:srgbClr val="C8A951"/>
                </a:solidFill>
                <a:latin typeface="Calibri" pitchFamily="34" charset="0"/>
                <a:ea typeface="Calibri" pitchFamily="34" charset="-122"/>
                <a:cs typeface="Calibri" pitchFamily="34" charset="-120"/>
              </a:rPr>
              <a:t>Top 10 destinataires  |  Mix marchandises  |  Risques concentration</a:t>
            </a:r>
            <a:endParaRPr lang="en-US" sz="1200" dirty="0"/>
          </a:p>
        </p:txBody>
      </p:sp>
      <p:sp>
        <p:nvSpPr>
          <p:cNvPr id="5" name="Text 3"/>
          <p:cNvSpPr/>
          <p:nvPr/>
        </p:nvSpPr>
        <p:spPr>
          <a:xfrm>
            <a:off x="320040" y="1143000"/>
            <a:ext cx="5852160" cy="274320"/>
          </a:xfrm>
          <a:prstGeom prst="rect">
            <a:avLst/>
          </a:prstGeom>
          <a:noFill/>
          <a:ln/>
        </p:spPr>
        <p:txBody>
          <a:bodyPr wrap="square" rtlCol="0" anchor="ctr"/>
          <a:lstStyle/>
          <a:p>
            <a:pPr marL="0" indent="0">
              <a:buNone/>
            </a:pPr>
            <a:r>
              <a:rPr lang="en-US" sz="1200" b="1" dirty="0">
                <a:solidFill>
                  <a:srgbClr val="0A2240"/>
                </a:solidFill>
                <a:latin typeface="Calibri" pitchFamily="34" charset="0"/>
                <a:ea typeface="Calibri" pitchFamily="34" charset="-122"/>
                <a:cs typeface="Calibri" pitchFamily="34" charset="-120"/>
              </a:rPr>
              <a:t>Top 10 clients AGL – TIM (Destinataires, TEU)</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20040" y="1444752"/>
          <a:ext cx="5943600" cy="3779520"/>
        </p:xfrm>
        <a:graphic>
          <a:graphicData uri="http://schemas.openxmlformats.org/drawingml/2006/table">
            <a:tbl>
              <a:tblPr/>
              <a:tblGrid>
                <a:gridCol w="28346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50876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tblGrid>
              <a:tr h="338328">
                <a:tc>
                  <a:txBody>
                    <a:bodyPr/>
                    <a:lstStyle/>
                    <a:p>
                      <a:pPr marL="0" indent="0">
                        <a:buNone/>
                      </a:pPr>
                      <a:r>
                        <a:rPr lang="en-US" sz="1000" b="1" dirty="0">
                          <a:solidFill>
                            <a:srgbClr val="FFFFFF"/>
                          </a:solidFill>
                        </a:rPr>
                        <a:t>Client (Destinataire)</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lgn="ctr">
                        <a:buNone/>
                      </a:pPr>
                      <a:r>
                        <a:rPr lang="en-US" sz="1000" b="1" dirty="0">
                          <a:solidFill>
                            <a:srgbClr val="FFFFFF"/>
                          </a:solidFill>
                        </a:rPr>
                        <a:t>TEU</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buNone/>
                      </a:pPr>
                      <a:r>
                        <a:rPr lang="en-US" sz="1000" b="1" dirty="0">
                          <a:solidFill>
                            <a:srgbClr val="FFFFFF"/>
                          </a:solidFill>
                        </a:rPr>
                        <a:t>Segment</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lgn="ctr">
                        <a:buNone/>
                      </a:pPr>
                      <a:r>
                        <a:rPr lang="en-US" sz="1000" b="1" dirty="0">
                          <a:solidFill>
                            <a:srgbClr val="FFFFFF"/>
                          </a:solidFill>
                        </a:rPr>
                        <a:t>% Vol. AGL</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extLst>
                  <a:ext uri="{0D108BD9-81ED-4DB2-BD59-A6C34878D82A}">
                    <a16:rowId xmlns:a16="http://schemas.microsoft.com/office/drawing/2014/main" val="10000"/>
                  </a:ext>
                </a:extLst>
              </a:tr>
              <a:tr h="338328">
                <a:tc>
                  <a:txBody>
                    <a:bodyPr/>
                    <a:lstStyle/>
                    <a:p>
                      <a:pPr marL="0" indent="0">
                        <a:buNone/>
                      </a:pPr>
                      <a:r>
                        <a:rPr lang="en-US" sz="950" dirty="0">
                          <a:solidFill>
                            <a:srgbClr val="334155"/>
                          </a:solidFill>
                        </a:rPr>
                        <a:t>K1 MINING SA CI</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9E6"/>
                    </a:solidFill>
                  </a:tcPr>
                </a:tc>
                <a:tc>
                  <a:txBody>
                    <a:bodyPr/>
                    <a:lstStyle/>
                    <a:p>
                      <a:pPr marL="0" indent="0" algn="ctr">
                        <a:buNone/>
                      </a:pPr>
                      <a:r>
                        <a:rPr lang="en-US" sz="950" b="1" dirty="0">
                          <a:solidFill>
                            <a:srgbClr val="0A2240"/>
                          </a:solidFill>
                        </a:rPr>
                        <a:t>1 531</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9E6"/>
                    </a:solidFill>
                  </a:tcPr>
                </a:tc>
                <a:tc>
                  <a:txBody>
                    <a:bodyPr/>
                    <a:lstStyle/>
                    <a:p>
                      <a:pPr marL="0" indent="0">
                        <a:buNone/>
                      </a:pPr>
                      <a:r>
                        <a:rPr lang="en-US" sz="900" i="1" dirty="0">
                          <a:solidFill>
                            <a:srgbClr val="64748B"/>
                          </a:solidFill>
                        </a:rPr>
                        <a:t>Matériels Miniers</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9E6"/>
                    </a:solidFill>
                  </a:tcPr>
                </a:tc>
                <a:tc>
                  <a:txBody>
                    <a:bodyPr/>
                    <a:lstStyle/>
                    <a:p>
                      <a:pPr marL="0" indent="0" algn="ctr">
                        <a:buNone/>
                      </a:pPr>
                      <a:r>
                        <a:rPr lang="en-US" sz="950" b="1" dirty="0">
                          <a:solidFill>
                            <a:srgbClr val="EA580C"/>
                          </a:solidFill>
                        </a:rPr>
                        <a:t>10,1%</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9E6"/>
                    </a:solidFill>
                  </a:tcPr>
                </a:tc>
                <a:extLst>
                  <a:ext uri="{0D108BD9-81ED-4DB2-BD59-A6C34878D82A}">
                    <a16:rowId xmlns:a16="http://schemas.microsoft.com/office/drawing/2014/main" val="10001"/>
                  </a:ext>
                </a:extLst>
              </a:tr>
              <a:tr h="338328">
                <a:tc>
                  <a:txBody>
                    <a:bodyPr/>
                    <a:lstStyle/>
                    <a:p>
                      <a:pPr marL="0" indent="0">
                        <a:buNone/>
                      </a:pPr>
                      <a:r>
                        <a:rPr lang="en-US" sz="950" dirty="0">
                          <a:solidFill>
                            <a:srgbClr val="334155"/>
                          </a:solidFill>
                        </a:rPr>
                        <a:t>SITAB CI</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876</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00" i="1" dirty="0">
                          <a:solidFill>
                            <a:srgbClr val="64748B"/>
                          </a:solidFill>
                        </a:rPr>
                        <a:t>Cigares/Cigarettes</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64748B"/>
                          </a:solidFill>
                        </a:rPr>
                        <a:t>5,8%</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38328">
                <a:tc>
                  <a:txBody>
                    <a:bodyPr/>
                    <a:lstStyle/>
                    <a:p>
                      <a:pPr marL="0" indent="0">
                        <a:buNone/>
                      </a:pPr>
                      <a:r>
                        <a:rPr lang="en-US" sz="950" dirty="0">
                          <a:solidFill>
                            <a:srgbClr val="334155"/>
                          </a:solidFill>
                        </a:rPr>
                        <a:t>SCCI (PVC Compoundage CI)</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790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00" i="1" dirty="0">
                          <a:solidFill>
                            <a:srgbClr val="64748B"/>
                          </a:solidFill>
                        </a:rPr>
                        <a:t>PVC Résine</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64748B"/>
                          </a:solidFill>
                        </a:rPr>
                        <a:t>5,2%</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8328">
                <a:tc>
                  <a:txBody>
                    <a:bodyPr/>
                    <a:lstStyle/>
                    <a:p>
                      <a:pPr marL="0" indent="0">
                        <a:buNone/>
                      </a:pPr>
                      <a:r>
                        <a:rPr lang="en-US" sz="950" dirty="0">
                          <a:solidFill>
                            <a:srgbClr val="334155"/>
                          </a:solidFill>
                        </a:rPr>
                        <a:t>ALLIAD CI</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687</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00" i="1" dirty="0">
                          <a:solidFill>
                            <a:srgbClr val="64748B"/>
                          </a:solidFill>
                        </a:rPr>
                        <a:t>Polyéthylène</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64748B"/>
                          </a:solidFill>
                        </a:rPr>
                        <a:t>4,5%</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38328">
                <a:tc>
                  <a:txBody>
                    <a:bodyPr/>
                    <a:lstStyle/>
                    <a:p>
                      <a:pPr marL="0" indent="0">
                        <a:buNone/>
                      </a:pPr>
                      <a:r>
                        <a:rPr lang="en-US" sz="950" dirty="0">
                          <a:solidFill>
                            <a:srgbClr val="334155"/>
                          </a:solidFill>
                        </a:rPr>
                        <a:t>SOCIFAD</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480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00" i="1" dirty="0">
                          <a:solidFill>
                            <a:srgbClr val="64748B"/>
                          </a:solidFill>
                        </a:rPr>
                        <a:t>Articles Divers</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64748B"/>
                          </a:solidFill>
                        </a:rPr>
                        <a:t>3,2%</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38328">
                <a:tc>
                  <a:txBody>
                    <a:bodyPr/>
                    <a:lstStyle/>
                    <a:p>
                      <a:pPr marL="0" indent="0">
                        <a:buNone/>
                      </a:pPr>
                      <a:r>
                        <a:rPr lang="en-US" sz="950" dirty="0">
                          <a:solidFill>
                            <a:srgbClr val="334155"/>
                          </a:solidFill>
                        </a:rPr>
                        <a:t>STE PROD ALIM CONGELÉ CI</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418</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00" i="1" dirty="0">
                          <a:solidFill>
                            <a:srgbClr val="64748B"/>
                          </a:solidFill>
                        </a:rPr>
                        <a:t>Prod. Mer Congelé</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64748B"/>
                          </a:solidFill>
                        </a:rPr>
                        <a:t>2,8%</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38328">
                <a:tc>
                  <a:txBody>
                    <a:bodyPr/>
                    <a:lstStyle/>
                    <a:p>
                      <a:pPr marL="0" indent="0">
                        <a:buNone/>
                      </a:pPr>
                      <a:r>
                        <a:rPr lang="en-US" sz="950" dirty="0">
                          <a:solidFill>
                            <a:srgbClr val="334155"/>
                          </a:solidFill>
                        </a:rPr>
                        <a:t>SONACO CI</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417</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00" i="1" dirty="0">
                          <a:solidFill>
                            <a:srgbClr val="64748B"/>
                          </a:solidFill>
                        </a:rPr>
                        <a:t>Cigarettes</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64748B"/>
                          </a:solidFill>
                        </a:rPr>
                        <a:t>2,8%</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38328">
                <a:tc>
                  <a:txBody>
                    <a:bodyPr/>
                    <a:lstStyle/>
                    <a:p>
                      <a:pPr marL="0" indent="0">
                        <a:buNone/>
                      </a:pPr>
                      <a:r>
                        <a:rPr lang="en-US" sz="950" dirty="0">
                          <a:solidFill>
                            <a:srgbClr val="334155"/>
                          </a:solidFill>
                        </a:rPr>
                        <a:t>UBIPHARM CÔTE D'IVOIRE</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399</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00" i="1" dirty="0">
                          <a:solidFill>
                            <a:srgbClr val="64748B"/>
                          </a:solidFill>
                        </a:rPr>
                        <a:t>Médicaments</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64748B"/>
                          </a:solidFill>
                        </a:rPr>
                        <a:t>2,6%</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38328">
                <a:tc>
                  <a:txBody>
                    <a:bodyPr/>
                    <a:lstStyle/>
                    <a:p>
                      <a:pPr marL="0" indent="0">
                        <a:buNone/>
                      </a:pPr>
                      <a:r>
                        <a:rPr lang="en-US" sz="950" dirty="0">
                          <a:solidFill>
                            <a:srgbClr val="334155"/>
                          </a:solidFill>
                        </a:rPr>
                        <a:t>SOLIBRA</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373</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00" i="1" dirty="0">
                          <a:solidFill>
                            <a:srgbClr val="64748B"/>
                          </a:solidFill>
                        </a:rPr>
                        <a:t>Boissons</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64748B"/>
                          </a:solidFill>
                        </a:rPr>
                        <a:t>2,5%</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38328">
                <a:tc>
                  <a:txBody>
                    <a:bodyPr/>
                    <a:lstStyle/>
                    <a:p>
                      <a:pPr marL="0" indent="0">
                        <a:buNone/>
                      </a:pPr>
                      <a:r>
                        <a:rPr lang="en-US" sz="950" dirty="0">
                          <a:solidFill>
                            <a:srgbClr val="334155"/>
                          </a:solidFill>
                        </a:rPr>
                        <a:t>STE TRANSFO INDUS CI</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363</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00" i="1" dirty="0">
                          <a:solidFill>
                            <a:srgbClr val="64748B"/>
                          </a:solidFill>
                        </a:rPr>
                        <a:t>Emballages</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64748B"/>
                          </a:solidFill>
                        </a:rPr>
                        <a:t>2,4%</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
        <p:nvSpPr>
          <p:cNvPr id="6" name="Text 4"/>
          <p:cNvSpPr/>
          <p:nvPr/>
        </p:nvSpPr>
        <p:spPr>
          <a:xfrm>
            <a:off x="6400800" y="1143000"/>
            <a:ext cx="5303520" cy="274320"/>
          </a:xfrm>
          <a:prstGeom prst="rect">
            <a:avLst/>
          </a:prstGeom>
          <a:noFill/>
          <a:ln/>
        </p:spPr>
        <p:txBody>
          <a:bodyPr wrap="square" rtlCol="0" anchor="ctr"/>
          <a:lstStyle/>
          <a:p>
            <a:pPr marL="0" indent="0">
              <a:buNone/>
            </a:pPr>
            <a:r>
              <a:rPr lang="en-US" sz="1200" b="1" dirty="0">
                <a:solidFill>
                  <a:srgbClr val="0A2240"/>
                </a:solidFill>
                <a:latin typeface="Calibri" pitchFamily="34" charset="0"/>
                <a:ea typeface="Calibri" pitchFamily="34" charset="-122"/>
                <a:cs typeface="Calibri" pitchFamily="34" charset="-120"/>
              </a:rPr>
              <a:t>Mix marchandises AGL – TIM</a:t>
            </a:r>
            <a:endParaRPr lang="en-US" sz="1200" dirty="0"/>
          </a:p>
        </p:txBody>
      </p:sp>
      <p:graphicFrame>
        <p:nvGraphicFramePr>
          <p:cNvPr id="8" name="Chart 0"/>
          <p:cNvGraphicFramePr/>
          <p:nvPr/>
        </p:nvGraphicFramePr>
        <p:xfrm>
          <a:off x="6400800" y="1463040"/>
          <a:ext cx="530352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5"/>
          <p:cNvSpPr/>
          <p:nvPr/>
        </p:nvSpPr>
        <p:spPr>
          <a:xfrm>
            <a:off x="320040" y="5314633"/>
            <a:ext cx="5943600" cy="768096"/>
          </a:xfrm>
          <a:prstGeom prst="roundRect">
            <a:avLst>
              <a:gd name="adj" fmla="val 8772"/>
            </a:avLst>
          </a:prstGeom>
          <a:solidFill>
            <a:srgbClr val="EDF2F7"/>
          </a:solidFill>
          <a:ln/>
        </p:spPr>
        <p:txBody>
          <a:bodyPr/>
          <a:lstStyle/>
          <a:p>
            <a:endParaRPr lang="en-US"/>
          </a:p>
        </p:txBody>
      </p:sp>
      <p:sp>
        <p:nvSpPr>
          <p:cNvPr id="10" name="Text 6"/>
          <p:cNvSpPr/>
          <p:nvPr/>
        </p:nvSpPr>
        <p:spPr>
          <a:xfrm>
            <a:off x="457200" y="5212080"/>
            <a:ext cx="5669280" cy="914400"/>
          </a:xfrm>
          <a:prstGeom prst="rect">
            <a:avLst/>
          </a:prstGeom>
          <a:noFill/>
          <a:ln/>
        </p:spPr>
        <p:txBody>
          <a:bodyPr wrap="square" rtlCol="0" anchor="ctr"/>
          <a:lstStyle/>
          <a:p>
            <a:pPr marL="0" indent="0">
              <a:buNone/>
            </a:pPr>
            <a:r>
              <a:rPr lang="en-US" sz="950" b="1" dirty="0">
                <a:solidFill>
                  <a:srgbClr val="EA580C"/>
                </a:solidFill>
                <a:latin typeface="Calibri" pitchFamily="34" charset="0"/>
                <a:ea typeface="Calibri" pitchFamily="34" charset="-122"/>
                <a:cs typeface="Calibri" pitchFamily="34" charset="-120"/>
              </a:rPr>
              <a:t>⚠ Concentration : </a:t>
            </a:r>
            <a:r>
              <a:rPr lang="en-US" sz="950" dirty="0">
                <a:solidFill>
                  <a:srgbClr val="0A2240"/>
                </a:solidFill>
                <a:latin typeface="Calibri" pitchFamily="34" charset="0"/>
                <a:ea typeface="Calibri" pitchFamily="34" charset="-122"/>
                <a:cs typeface="Calibri" pitchFamily="34" charset="-120"/>
              </a:rPr>
              <a:t>K1 Mining seul = 10,1% du volume AGL TIM. Risque client unique.
</a:t>
            </a:r>
            <a:r>
              <a:rPr lang="en-US" sz="950" b="1" dirty="0">
                <a:solidFill>
                  <a:srgbClr val="16A34A"/>
                </a:solidFill>
                <a:latin typeface="Calibri" pitchFamily="34" charset="0"/>
                <a:ea typeface="Calibri" pitchFamily="34" charset="-122"/>
                <a:cs typeface="Calibri" pitchFamily="34" charset="-120"/>
              </a:rPr>
              <a:t>✓ Opportunités cross-sell : </a:t>
            </a:r>
            <a:r>
              <a:rPr lang="en-US" sz="950" dirty="0">
                <a:solidFill>
                  <a:srgbClr val="0A2240"/>
                </a:solidFill>
                <a:latin typeface="Calibri" pitchFamily="34" charset="0"/>
                <a:ea typeface="Calibri" pitchFamily="34" charset="-122"/>
                <a:cs typeface="Calibri" pitchFamily="34" charset="-120"/>
              </a:rPr>
              <a:t>SITAB (TIM+AER), UBIPHARM (TIM+AER+HINT IMP), SOLIBRA = clients multi-métiers à développer.</a:t>
            </a:r>
            <a:endParaRPr lang="en-US" sz="950" dirty="0"/>
          </a:p>
        </p:txBody>
      </p:sp>
      <p:sp>
        <p:nvSpPr>
          <p:cNvPr id="11" name="Shape 7"/>
          <p:cNvSpPr/>
          <p:nvPr/>
        </p:nvSpPr>
        <p:spPr>
          <a:xfrm>
            <a:off x="365760" y="6565392"/>
            <a:ext cx="11430000" cy="0"/>
          </a:xfrm>
          <a:prstGeom prst="line">
            <a:avLst/>
          </a:prstGeom>
          <a:noFill/>
          <a:ln w="6350">
            <a:solidFill>
              <a:srgbClr val="CBD5E1"/>
            </a:solidFill>
            <a:prstDash val="solid"/>
          </a:ln>
        </p:spPr>
        <p:txBody>
          <a:bodyPr/>
          <a:lstStyle/>
          <a:p>
            <a:endParaRPr lang="en-US"/>
          </a:p>
        </p:txBody>
      </p:sp>
      <p:sp>
        <p:nvSpPr>
          <p:cNvPr id="12" name="Text 8"/>
          <p:cNvSpPr/>
          <p:nvPr/>
        </p:nvSpPr>
        <p:spPr>
          <a:xfrm>
            <a:off x="365760" y="6601968"/>
            <a:ext cx="11430000" cy="201168"/>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Africa Global Logistics – Étude de Marché Jan–Mai 2026 |  p.6</a:t>
            </a:r>
            <a:endParaRPr lang="en-US" sz="850" dirty="0"/>
          </a:p>
        </p:txBody>
      </p:sp>
      <p:pic>
        <p:nvPicPr>
          <p:cNvPr id="14" name="Image 13" descr="Une image contenant texte, Police, Graphique, logo  Description générée automatiquement">
            <a:extLst>
              <a:ext uri="{FF2B5EF4-FFF2-40B4-BE49-F238E27FC236}">
                <a16:creationId xmlns:a16="http://schemas.microsoft.com/office/drawing/2014/main" id="{0C1FBD17-6D58-F6B9-B482-F17080ED7BD8}"/>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1488450" y="6549898"/>
            <a:ext cx="450027" cy="29240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A2240"/>
          </a:solidFill>
          <a:ln w="12700">
            <a:solidFill>
              <a:srgbClr val="0A2240"/>
            </a:solidFill>
            <a:prstDash val="solid"/>
          </a:ln>
        </p:spPr>
        <p:txBody>
          <a:bodyPr/>
          <a:lstStyle/>
          <a:p>
            <a:endParaRPr lang="en-US"/>
          </a:p>
        </p:txBody>
      </p:sp>
      <p:sp>
        <p:nvSpPr>
          <p:cNvPr id="3" name="Shape 1"/>
          <p:cNvSpPr/>
          <p:nvPr/>
        </p:nvSpPr>
        <p:spPr>
          <a:xfrm>
            <a:off x="4389120" y="3246120"/>
            <a:ext cx="3383280" cy="64008"/>
          </a:xfrm>
          <a:prstGeom prst="rect">
            <a:avLst/>
          </a:prstGeom>
          <a:solidFill>
            <a:srgbClr val="C8A951"/>
          </a:solidFill>
          <a:ln w="12700">
            <a:solidFill>
              <a:srgbClr val="C8A951"/>
            </a:solidFill>
            <a:prstDash val="solid"/>
          </a:ln>
        </p:spPr>
        <p:txBody>
          <a:bodyPr/>
          <a:lstStyle/>
          <a:p>
            <a:endParaRPr lang="en-US"/>
          </a:p>
        </p:txBody>
      </p:sp>
      <p:sp>
        <p:nvSpPr>
          <p:cNvPr id="4" name="Text 2"/>
          <p:cNvSpPr/>
          <p:nvPr/>
        </p:nvSpPr>
        <p:spPr>
          <a:xfrm>
            <a:off x="0" y="1645920"/>
            <a:ext cx="12161520" cy="1371600"/>
          </a:xfrm>
          <a:prstGeom prst="rect">
            <a:avLst/>
          </a:prstGeom>
          <a:noFill/>
          <a:ln/>
        </p:spPr>
        <p:txBody>
          <a:bodyPr wrap="square" rtlCol="0" anchor="ctr"/>
          <a:lstStyle/>
          <a:p>
            <a:pPr marL="0" indent="0" algn="ctr">
              <a:buNone/>
            </a:pPr>
            <a:r>
              <a:rPr lang="en-US" sz="11000" b="1" dirty="0">
                <a:solidFill>
                  <a:srgbClr val="FFFFFF">
                    <a:alpha val="12000"/>
                  </a:srgbClr>
                </a:solidFill>
                <a:latin typeface="Calibri" pitchFamily="34" charset="0"/>
                <a:ea typeface="Calibri" pitchFamily="34" charset="-122"/>
                <a:cs typeface="Calibri" pitchFamily="34" charset="-120"/>
              </a:rPr>
              <a:t>02</a:t>
            </a:r>
            <a:endParaRPr lang="en-US" sz="11000" dirty="0"/>
          </a:p>
        </p:txBody>
      </p:sp>
      <p:sp>
        <p:nvSpPr>
          <p:cNvPr id="5" name="Text 3"/>
          <p:cNvSpPr/>
          <p:nvPr/>
        </p:nvSpPr>
        <p:spPr>
          <a:xfrm>
            <a:off x="1371600" y="2651760"/>
            <a:ext cx="9418320" cy="822960"/>
          </a:xfrm>
          <a:prstGeom prst="rect">
            <a:avLst/>
          </a:prstGeom>
          <a:noFill/>
          <a:ln/>
        </p:spPr>
        <p:txBody>
          <a:bodyPr wrap="square" rtlCol="0" anchor="ctr"/>
          <a:lstStyle/>
          <a:p>
            <a:pPr marL="0" indent="0" algn="ctr">
              <a:buNone/>
            </a:pPr>
            <a:r>
              <a:rPr lang="en-US" sz="3400" b="1" dirty="0">
                <a:solidFill>
                  <a:srgbClr val="FFFFFF"/>
                </a:solidFill>
                <a:latin typeface="Calibri" pitchFamily="34" charset="0"/>
                <a:ea typeface="Calibri" pitchFamily="34" charset="-122"/>
                <a:cs typeface="Calibri" pitchFamily="34" charset="-120"/>
              </a:rPr>
              <a:t>TRANSIT EXPORT MARITIME (TEM)</a:t>
            </a:r>
            <a:endParaRPr lang="en-US" sz="3400" dirty="0"/>
          </a:p>
        </p:txBody>
      </p:sp>
      <p:sp>
        <p:nvSpPr>
          <p:cNvPr id="6" name="Text 4"/>
          <p:cNvSpPr/>
          <p:nvPr/>
        </p:nvSpPr>
        <p:spPr>
          <a:xfrm>
            <a:off x="1371600" y="3520440"/>
            <a:ext cx="9418320" cy="457200"/>
          </a:xfrm>
          <a:prstGeom prst="rect">
            <a:avLst/>
          </a:prstGeom>
          <a:noFill/>
          <a:ln/>
        </p:spPr>
        <p:txBody>
          <a:bodyPr wrap="square" rtlCol="0" anchor="ctr"/>
          <a:lstStyle/>
          <a:p>
            <a:pPr marL="0" indent="0" algn="ctr">
              <a:buNone/>
            </a:pPr>
            <a:r>
              <a:rPr lang="en-US" sz="1400" i="1" dirty="0">
                <a:solidFill>
                  <a:srgbClr val="C8A951"/>
                </a:solidFill>
                <a:latin typeface="Calibri" pitchFamily="34" charset="0"/>
                <a:ea typeface="Calibri" pitchFamily="34" charset="-122"/>
                <a:cs typeface="Calibri" pitchFamily="34" charset="-120"/>
              </a:rPr>
              <a:t>137 283 TEU  |  PDM AGL : 26,2%  |  #1 incontesté, ×4,7 le second</a:t>
            </a:r>
            <a:endParaRPr lang="en-US" sz="1400" dirty="0"/>
          </a:p>
        </p:txBody>
      </p:sp>
      <p:sp>
        <p:nvSpPr>
          <p:cNvPr id="7" name="Text 5"/>
          <p:cNvSpPr/>
          <p:nvPr/>
        </p:nvSpPr>
        <p:spPr>
          <a:xfrm>
            <a:off x="0" y="6263640"/>
            <a:ext cx="12161520" cy="347472"/>
          </a:xfrm>
          <a:prstGeom prst="rect">
            <a:avLst/>
          </a:prstGeom>
          <a:noFill/>
          <a:ln/>
        </p:spPr>
        <p:txBody>
          <a:bodyPr wrap="square" rtlCol="0" anchor="ctr"/>
          <a:lstStyle/>
          <a:p>
            <a:pPr marL="0" indent="0" algn="ctr">
              <a:buNone/>
            </a:pPr>
            <a:r>
              <a:rPr lang="en-US" sz="1000" dirty="0">
                <a:solidFill>
                  <a:srgbClr val="C8A951"/>
                </a:solidFill>
                <a:latin typeface="Calibri" pitchFamily="34" charset="0"/>
                <a:ea typeface="Calibri" pitchFamily="34" charset="-122"/>
                <a:cs typeface="Calibri" pitchFamily="34" charset="-120"/>
              </a:rPr>
              <a:t>Africa Global Logistics – Étude de Marché Jan–Mai 2026</a:t>
            </a:r>
            <a:endParaRPr lang="en-US" sz="1000" dirty="0"/>
          </a:p>
        </p:txBody>
      </p:sp>
      <p:pic>
        <p:nvPicPr>
          <p:cNvPr id="8" name="Image 7" descr="Une image contenant texte, Police, Graphique, logo  Description générée automatiquement">
            <a:extLst>
              <a:ext uri="{FF2B5EF4-FFF2-40B4-BE49-F238E27FC236}">
                <a16:creationId xmlns:a16="http://schemas.microsoft.com/office/drawing/2014/main" id="{83B1ACA3-4BE6-5862-6993-15A6D44B101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1369762" y="6214669"/>
            <a:ext cx="608878" cy="39562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0A2240"/>
          </a:solidFill>
          <a:ln w="12700">
            <a:solidFill>
              <a:srgbClr val="0A2240"/>
            </a:solidFill>
            <a:prstDash val="solid"/>
          </a:ln>
        </p:spPr>
        <p:txBody>
          <a:bodyPr/>
          <a:lstStyle/>
          <a:p>
            <a:endParaRPr lang="en-US"/>
          </a:p>
        </p:txBody>
      </p:sp>
      <p:sp>
        <p:nvSpPr>
          <p:cNvPr id="3" name="Text 1"/>
          <p:cNvSpPr/>
          <p:nvPr/>
        </p:nvSpPr>
        <p:spPr>
          <a:xfrm>
            <a:off x="365760" y="54864"/>
            <a:ext cx="11430000" cy="65836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TEM – VUE D'ENSEMBLE  |  Jan–Mai 2026</a:t>
            </a:r>
            <a:endParaRPr lang="en-US" sz="2400" dirty="0"/>
          </a:p>
        </p:txBody>
      </p:sp>
      <p:sp>
        <p:nvSpPr>
          <p:cNvPr id="4" name="Text 2"/>
          <p:cNvSpPr/>
          <p:nvPr/>
        </p:nvSpPr>
        <p:spPr>
          <a:xfrm>
            <a:off x="365760" y="676656"/>
            <a:ext cx="11430000" cy="329184"/>
          </a:xfrm>
          <a:prstGeom prst="rect">
            <a:avLst/>
          </a:prstGeom>
          <a:noFill/>
          <a:ln/>
        </p:spPr>
        <p:txBody>
          <a:bodyPr wrap="square" rtlCol="0" anchor="ctr"/>
          <a:lstStyle/>
          <a:p>
            <a:pPr marL="0" indent="0">
              <a:buNone/>
            </a:pPr>
            <a:r>
              <a:rPr lang="en-US" sz="1200" i="1" dirty="0">
                <a:solidFill>
                  <a:srgbClr val="C8A951"/>
                </a:solidFill>
                <a:latin typeface="Calibri" pitchFamily="34" charset="0"/>
                <a:ea typeface="Calibri" pitchFamily="34" charset="-122"/>
                <a:cs typeface="Calibri" pitchFamily="34" charset="-120"/>
              </a:rPr>
              <a:t>Leader absolu – PDM AGL 26,2%  |  Marché : 137 283 TEU  |  ×4,7 sur le 2ème</a:t>
            </a:r>
            <a:endParaRPr lang="en-US" sz="1200" dirty="0"/>
          </a:p>
        </p:txBody>
      </p:sp>
      <p:sp>
        <p:nvSpPr>
          <p:cNvPr id="5" name="Shape 3"/>
          <p:cNvSpPr/>
          <p:nvPr/>
        </p:nvSpPr>
        <p:spPr>
          <a:xfrm>
            <a:off x="320040" y="1143000"/>
            <a:ext cx="2148840" cy="1051560"/>
          </a:xfrm>
          <a:prstGeom prst="roundRect">
            <a:avLst>
              <a:gd name="adj" fmla="val 6957"/>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6" name="Text 4"/>
          <p:cNvSpPr/>
          <p:nvPr/>
        </p:nvSpPr>
        <p:spPr>
          <a:xfrm>
            <a:off x="411480" y="1234440"/>
            <a:ext cx="1965960" cy="274320"/>
          </a:xfrm>
          <a:prstGeom prst="rect">
            <a:avLst/>
          </a:prstGeom>
          <a:noFill/>
          <a:ln/>
        </p:spPr>
        <p:txBody>
          <a:bodyPr wrap="square" rtlCol="0" anchor="ctr"/>
          <a:lstStyle/>
          <a:p>
            <a:pPr marL="0" indent="0" algn="ctr">
              <a:buNone/>
            </a:pPr>
            <a:r>
              <a:rPr lang="en-US" sz="900" b="1" dirty="0">
                <a:solidFill>
                  <a:srgbClr val="64748B"/>
                </a:solidFill>
                <a:latin typeface="Calibri" pitchFamily="34" charset="0"/>
                <a:ea typeface="Calibri" pitchFamily="34" charset="-122"/>
                <a:cs typeface="Calibri" pitchFamily="34" charset="-120"/>
              </a:rPr>
              <a:t>MARCHÉ QUALIFIÉ</a:t>
            </a:r>
            <a:endParaRPr lang="en-US" sz="900" dirty="0"/>
          </a:p>
        </p:txBody>
      </p:sp>
      <p:sp>
        <p:nvSpPr>
          <p:cNvPr id="7" name="Text 5"/>
          <p:cNvSpPr/>
          <p:nvPr/>
        </p:nvSpPr>
        <p:spPr>
          <a:xfrm>
            <a:off x="365760" y="1490472"/>
            <a:ext cx="2057400" cy="457200"/>
          </a:xfrm>
          <a:prstGeom prst="rect">
            <a:avLst/>
          </a:prstGeom>
          <a:noFill/>
          <a:ln/>
        </p:spPr>
        <p:txBody>
          <a:bodyPr wrap="square" rtlCol="0" anchor="ctr"/>
          <a:lstStyle/>
          <a:p>
            <a:pPr marL="0" indent="0" algn="ctr">
              <a:buNone/>
            </a:pPr>
            <a:r>
              <a:rPr lang="en-US" sz="2100" b="1" dirty="0">
                <a:solidFill>
                  <a:srgbClr val="0A2240"/>
                </a:solidFill>
                <a:latin typeface="Calibri" pitchFamily="34" charset="0"/>
                <a:ea typeface="Calibri" pitchFamily="34" charset="-122"/>
                <a:cs typeface="Calibri" pitchFamily="34" charset="-120"/>
              </a:rPr>
              <a:t>137 283</a:t>
            </a:r>
            <a:endParaRPr lang="en-US" sz="2100" dirty="0"/>
          </a:p>
        </p:txBody>
      </p:sp>
      <p:sp>
        <p:nvSpPr>
          <p:cNvPr id="8" name="Text 6"/>
          <p:cNvSpPr/>
          <p:nvPr/>
        </p:nvSpPr>
        <p:spPr>
          <a:xfrm>
            <a:off x="393192" y="1901952"/>
            <a:ext cx="2002536" cy="201168"/>
          </a:xfrm>
          <a:prstGeom prst="rect">
            <a:avLst/>
          </a:prstGeom>
          <a:noFill/>
          <a:ln/>
        </p:spPr>
        <p:txBody>
          <a:bodyPr wrap="square" rtlCol="0" anchor="ctr"/>
          <a:lstStyle/>
          <a:p>
            <a:pPr marL="0" indent="0" algn="ctr">
              <a:buNone/>
            </a:pPr>
            <a:r>
              <a:rPr lang="en-US" sz="850" dirty="0">
                <a:solidFill>
                  <a:srgbClr val="64748B"/>
                </a:solidFill>
                <a:latin typeface="Calibri" pitchFamily="34" charset="0"/>
                <a:ea typeface="Calibri" pitchFamily="34" charset="-122"/>
                <a:cs typeface="Calibri" pitchFamily="34" charset="-120"/>
              </a:rPr>
              <a:t>TEU Jan–Mai</a:t>
            </a:r>
            <a:endParaRPr lang="en-US" sz="850" dirty="0"/>
          </a:p>
        </p:txBody>
      </p:sp>
      <p:sp>
        <p:nvSpPr>
          <p:cNvPr id="9" name="Shape 7"/>
          <p:cNvSpPr/>
          <p:nvPr/>
        </p:nvSpPr>
        <p:spPr>
          <a:xfrm>
            <a:off x="2642616" y="1143000"/>
            <a:ext cx="2148840" cy="1051560"/>
          </a:xfrm>
          <a:prstGeom prst="roundRect">
            <a:avLst>
              <a:gd name="adj" fmla="val 6957"/>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10" name="Text 8"/>
          <p:cNvSpPr/>
          <p:nvPr/>
        </p:nvSpPr>
        <p:spPr>
          <a:xfrm>
            <a:off x="2734056" y="1234440"/>
            <a:ext cx="1965960" cy="274320"/>
          </a:xfrm>
          <a:prstGeom prst="rect">
            <a:avLst/>
          </a:prstGeom>
          <a:noFill/>
          <a:ln/>
        </p:spPr>
        <p:txBody>
          <a:bodyPr wrap="square" rtlCol="0" anchor="ctr"/>
          <a:lstStyle/>
          <a:p>
            <a:pPr marL="0" indent="0" algn="ctr">
              <a:buNone/>
            </a:pPr>
            <a:r>
              <a:rPr lang="en-US" sz="900" b="1" dirty="0">
                <a:solidFill>
                  <a:srgbClr val="64748B"/>
                </a:solidFill>
                <a:latin typeface="Calibri" pitchFamily="34" charset="0"/>
                <a:ea typeface="Calibri" pitchFamily="34" charset="-122"/>
                <a:cs typeface="Calibri" pitchFamily="34" charset="-120"/>
              </a:rPr>
              <a:t>VOLUME AGL</a:t>
            </a:r>
            <a:endParaRPr lang="en-US" sz="900" dirty="0"/>
          </a:p>
        </p:txBody>
      </p:sp>
      <p:sp>
        <p:nvSpPr>
          <p:cNvPr id="11" name="Text 9"/>
          <p:cNvSpPr/>
          <p:nvPr/>
        </p:nvSpPr>
        <p:spPr>
          <a:xfrm>
            <a:off x="2688336" y="1490472"/>
            <a:ext cx="2057400" cy="457200"/>
          </a:xfrm>
          <a:prstGeom prst="rect">
            <a:avLst/>
          </a:prstGeom>
          <a:noFill/>
          <a:ln/>
        </p:spPr>
        <p:txBody>
          <a:bodyPr wrap="square" rtlCol="0" anchor="ctr"/>
          <a:lstStyle/>
          <a:p>
            <a:pPr marL="0" indent="0" algn="ctr">
              <a:buNone/>
            </a:pPr>
            <a:r>
              <a:rPr lang="en-US" sz="2100" b="1" dirty="0">
                <a:solidFill>
                  <a:srgbClr val="0A2240"/>
                </a:solidFill>
                <a:latin typeface="Calibri" pitchFamily="34" charset="0"/>
                <a:ea typeface="Calibri" pitchFamily="34" charset="-122"/>
                <a:cs typeface="Calibri" pitchFamily="34" charset="-120"/>
              </a:rPr>
              <a:t>35 972</a:t>
            </a:r>
            <a:endParaRPr lang="en-US" sz="2100" dirty="0"/>
          </a:p>
        </p:txBody>
      </p:sp>
      <p:sp>
        <p:nvSpPr>
          <p:cNvPr id="12" name="Text 10"/>
          <p:cNvSpPr/>
          <p:nvPr/>
        </p:nvSpPr>
        <p:spPr>
          <a:xfrm>
            <a:off x="2715768" y="1901952"/>
            <a:ext cx="2002536" cy="201168"/>
          </a:xfrm>
          <a:prstGeom prst="rect">
            <a:avLst/>
          </a:prstGeom>
          <a:noFill/>
          <a:ln/>
        </p:spPr>
        <p:txBody>
          <a:bodyPr wrap="square" rtlCol="0" anchor="ctr"/>
          <a:lstStyle/>
          <a:p>
            <a:pPr marL="0" indent="0" algn="ctr">
              <a:buNone/>
            </a:pPr>
            <a:r>
              <a:rPr lang="en-US" sz="850" dirty="0">
                <a:solidFill>
                  <a:srgbClr val="64748B"/>
                </a:solidFill>
                <a:latin typeface="Calibri" pitchFamily="34" charset="0"/>
                <a:ea typeface="Calibri" pitchFamily="34" charset="-122"/>
                <a:cs typeface="Calibri" pitchFamily="34" charset="-120"/>
              </a:rPr>
              <a:t>TEU Jan–Mai</a:t>
            </a:r>
            <a:endParaRPr lang="en-US" sz="850" dirty="0"/>
          </a:p>
        </p:txBody>
      </p:sp>
      <p:sp>
        <p:nvSpPr>
          <p:cNvPr id="13" name="Shape 11"/>
          <p:cNvSpPr/>
          <p:nvPr/>
        </p:nvSpPr>
        <p:spPr>
          <a:xfrm>
            <a:off x="4965192" y="1143000"/>
            <a:ext cx="2148840" cy="1051560"/>
          </a:xfrm>
          <a:prstGeom prst="roundRect">
            <a:avLst>
              <a:gd name="adj" fmla="val 6957"/>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14" name="Text 12"/>
          <p:cNvSpPr/>
          <p:nvPr/>
        </p:nvSpPr>
        <p:spPr>
          <a:xfrm>
            <a:off x="5056632" y="1234440"/>
            <a:ext cx="1965960" cy="274320"/>
          </a:xfrm>
          <a:prstGeom prst="rect">
            <a:avLst/>
          </a:prstGeom>
          <a:noFill/>
          <a:ln/>
        </p:spPr>
        <p:txBody>
          <a:bodyPr wrap="square" rtlCol="0" anchor="ctr"/>
          <a:lstStyle/>
          <a:p>
            <a:pPr marL="0" indent="0" algn="ctr">
              <a:buNone/>
            </a:pPr>
            <a:r>
              <a:rPr lang="en-US" sz="900" b="1" dirty="0">
                <a:solidFill>
                  <a:srgbClr val="64748B"/>
                </a:solidFill>
                <a:latin typeface="Calibri" pitchFamily="34" charset="0"/>
                <a:ea typeface="Calibri" pitchFamily="34" charset="-122"/>
                <a:cs typeface="Calibri" pitchFamily="34" charset="-120"/>
              </a:rPr>
              <a:t>PDM AGL</a:t>
            </a:r>
            <a:endParaRPr lang="en-US" sz="900" dirty="0"/>
          </a:p>
        </p:txBody>
      </p:sp>
      <p:sp>
        <p:nvSpPr>
          <p:cNvPr id="15" name="Text 13"/>
          <p:cNvSpPr/>
          <p:nvPr/>
        </p:nvSpPr>
        <p:spPr>
          <a:xfrm>
            <a:off x="5010912" y="1490472"/>
            <a:ext cx="2057400" cy="457200"/>
          </a:xfrm>
          <a:prstGeom prst="rect">
            <a:avLst/>
          </a:prstGeom>
          <a:noFill/>
          <a:ln/>
        </p:spPr>
        <p:txBody>
          <a:bodyPr wrap="square" rtlCol="0" anchor="ctr"/>
          <a:lstStyle/>
          <a:p>
            <a:pPr marL="0" indent="0" algn="ctr">
              <a:buNone/>
            </a:pPr>
            <a:r>
              <a:rPr lang="en-US" sz="2100" b="1" dirty="0">
                <a:solidFill>
                  <a:srgbClr val="16A34A"/>
                </a:solidFill>
                <a:latin typeface="Calibri" pitchFamily="34" charset="0"/>
                <a:ea typeface="Calibri" pitchFamily="34" charset="-122"/>
                <a:cs typeface="Calibri" pitchFamily="34" charset="-120"/>
              </a:rPr>
              <a:t>26,2 %</a:t>
            </a:r>
            <a:endParaRPr lang="en-US" sz="2100" dirty="0"/>
          </a:p>
        </p:txBody>
      </p:sp>
      <p:sp>
        <p:nvSpPr>
          <p:cNvPr id="16" name="Text 14"/>
          <p:cNvSpPr/>
          <p:nvPr/>
        </p:nvSpPr>
        <p:spPr>
          <a:xfrm>
            <a:off x="5038344" y="1901952"/>
            <a:ext cx="2002536" cy="201168"/>
          </a:xfrm>
          <a:prstGeom prst="rect">
            <a:avLst/>
          </a:prstGeom>
          <a:noFill/>
          <a:ln/>
        </p:spPr>
        <p:txBody>
          <a:bodyPr wrap="square" rtlCol="0" anchor="ctr"/>
          <a:lstStyle/>
          <a:p>
            <a:pPr marL="0" indent="0" algn="ctr">
              <a:buNone/>
            </a:pPr>
            <a:r>
              <a:rPr lang="en-US" sz="850" dirty="0">
                <a:solidFill>
                  <a:srgbClr val="64748B"/>
                </a:solidFill>
                <a:latin typeface="Calibri" pitchFamily="34" charset="0"/>
                <a:ea typeface="Calibri" pitchFamily="34" charset="-122"/>
                <a:cs typeface="Calibri" pitchFamily="34" charset="-120"/>
              </a:rPr>
              <a:t>#1 – Dominance absolue</a:t>
            </a:r>
            <a:endParaRPr lang="en-US" sz="850" dirty="0"/>
          </a:p>
        </p:txBody>
      </p:sp>
      <p:sp>
        <p:nvSpPr>
          <p:cNvPr id="17" name="Shape 15"/>
          <p:cNvSpPr/>
          <p:nvPr/>
        </p:nvSpPr>
        <p:spPr>
          <a:xfrm>
            <a:off x="7287768" y="1143000"/>
            <a:ext cx="2148840" cy="1051560"/>
          </a:xfrm>
          <a:prstGeom prst="roundRect">
            <a:avLst>
              <a:gd name="adj" fmla="val 6957"/>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18" name="Text 16"/>
          <p:cNvSpPr/>
          <p:nvPr/>
        </p:nvSpPr>
        <p:spPr>
          <a:xfrm>
            <a:off x="7379208" y="1234440"/>
            <a:ext cx="1965960" cy="274320"/>
          </a:xfrm>
          <a:prstGeom prst="rect">
            <a:avLst/>
          </a:prstGeom>
          <a:noFill/>
          <a:ln/>
        </p:spPr>
        <p:txBody>
          <a:bodyPr wrap="square" rtlCol="0" anchor="ctr"/>
          <a:lstStyle/>
          <a:p>
            <a:pPr marL="0" indent="0" algn="ctr">
              <a:buNone/>
            </a:pPr>
            <a:r>
              <a:rPr lang="en-US" sz="900" b="1" dirty="0">
                <a:solidFill>
                  <a:srgbClr val="64748B"/>
                </a:solidFill>
                <a:latin typeface="Calibri" pitchFamily="34" charset="0"/>
                <a:ea typeface="Calibri" pitchFamily="34" charset="-122"/>
                <a:cs typeface="Calibri" pitchFamily="34" charset="-120"/>
              </a:rPr>
              <a:t>ÉCART vs #2 MAERSK</a:t>
            </a:r>
            <a:endParaRPr lang="en-US" sz="900" dirty="0"/>
          </a:p>
        </p:txBody>
      </p:sp>
      <p:sp>
        <p:nvSpPr>
          <p:cNvPr id="19" name="Text 17"/>
          <p:cNvSpPr/>
          <p:nvPr/>
        </p:nvSpPr>
        <p:spPr>
          <a:xfrm>
            <a:off x="7333488" y="1490472"/>
            <a:ext cx="2057400" cy="457200"/>
          </a:xfrm>
          <a:prstGeom prst="rect">
            <a:avLst/>
          </a:prstGeom>
          <a:noFill/>
          <a:ln/>
        </p:spPr>
        <p:txBody>
          <a:bodyPr wrap="square" rtlCol="0" anchor="ctr"/>
          <a:lstStyle/>
          <a:p>
            <a:pPr marL="0" indent="0" algn="ctr">
              <a:buNone/>
            </a:pPr>
            <a:r>
              <a:rPr lang="en-US" sz="2100" b="1" dirty="0">
                <a:solidFill>
                  <a:srgbClr val="16A34A"/>
                </a:solidFill>
                <a:latin typeface="Calibri" pitchFamily="34" charset="0"/>
                <a:ea typeface="Calibri" pitchFamily="34" charset="-122"/>
                <a:cs typeface="Calibri" pitchFamily="34" charset="-120"/>
              </a:rPr>
              <a:t>×4,7</a:t>
            </a:r>
            <a:endParaRPr lang="en-US" sz="2100" dirty="0"/>
          </a:p>
        </p:txBody>
      </p:sp>
      <p:sp>
        <p:nvSpPr>
          <p:cNvPr id="20" name="Text 18"/>
          <p:cNvSpPr/>
          <p:nvPr/>
        </p:nvSpPr>
        <p:spPr>
          <a:xfrm>
            <a:off x="7360920" y="1901952"/>
            <a:ext cx="2002536" cy="201168"/>
          </a:xfrm>
          <a:prstGeom prst="rect">
            <a:avLst/>
          </a:prstGeom>
          <a:noFill/>
          <a:ln/>
        </p:spPr>
        <p:txBody>
          <a:bodyPr wrap="square" rtlCol="0" anchor="ctr"/>
          <a:lstStyle/>
          <a:p>
            <a:pPr marL="0" indent="0" algn="ctr">
              <a:buNone/>
            </a:pPr>
            <a:r>
              <a:rPr lang="en-US" sz="850" dirty="0">
                <a:solidFill>
                  <a:srgbClr val="64748B"/>
                </a:solidFill>
                <a:latin typeface="Calibri" pitchFamily="34" charset="0"/>
                <a:ea typeface="Calibri" pitchFamily="34" charset="-122"/>
                <a:cs typeface="Calibri" pitchFamily="34" charset="-120"/>
              </a:rPr>
              <a:t>28 242 TEU d'avance</a:t>
            </a:r>
            <a:endParaRPr lang="en-US" sz="850" dirty="0"/>
          </a:p>
        </p:txBody>
      </p:sp>
      <p:sp>
        <p:nvSpPr>
          <p:cNvPr id="21" name="Shape 19"/>
          <p:cNvSpPr/>
          <p:nvPr/>
        </p:nvSpPr>
        <p:spPr>
          <a:xfrm>
            <a:off x="9610344" y="1143000"/>
            <a:ext cx="2148840" cy="1051560"/>
          </a:xfrm>
          <a:prstGeom prst="roundRect">
            <a:avLst>
              <a:gd name="adj" fmla="val 6957"/>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22" name="Text 20"/>
          <p:cNvSpPr/>
          <p:nvPr/>
        </p:nvSpPr>
        <p:spPr>
          <a:xfrm>
            <a:off x="9701784" y="1234440"/>
            <a:ext cx="1965960" cy="274320"/>
          </a:xfrm>
          <a:prstGeom prst="rect">
            <a:avLst/>
          </a:prstGeom>
          <a:noFill/>
          <a:ln/>
        </p:spPr>
        <p:txBody>
          <a:bodyPr wrap="square" rtlCol="0" anchor="ctr"/>
          <a:lstStyle/>
          <a:p>
            <a:pPr marL="0" indent="0" algn="ctr">
              <a:buNone/>
            </a:pPr>
            <a:r>
              <a:rPr lang="en-US" sz="900" b="1" dirty="0">
                <a:solidFill>
                  <a:srgbClr val="64748B"/>
                </a:solidFill>
                <a:latin typeface="Calibri" pitchFamily="34" charset="0"/>
                <a:ea typeface="Calibri" pitchFamily="34" charset="-122"/>
                <a:cs typeface="Calibri" pitchFamily="34" charset="-120"/>
              </a:rPr>
              <a:t>PDM JANV. (PEAK)</a:t>
            </a:r>
            <a:endParaRPr lang="en-US" sz="900" dirty="0"/>
          </a:p>
        </p:txBody>
      </p:sp>
      <p:sp>
        <p:nvSpPr>
          <p:cNvPr id="23" name="Text 21"/>
          <p:cNvSpPr/>
          <p:nvPr/>
        </p:nvSpPr>
        <p:spPr>
          <a:xfrm>
            <a:off x="9656064" y="1490472"/>
            <a:ext cx="2057400" cy="457200"/>
          </a:xfrm>
          <a:prstGeom prst="rect">
            <a:avLst/>
          </a:prstGeom>
          <a:noFill/>
          <a:ln/>
        </p:spPr>
        <p:txBody>
          <a:bodyPr wrap="square" rtlCol="0" anchor="ctr"/>
          <a:lstStyle/>
          <a:p>
            <a:pPr marL="0" indent="0" algn="ctr">
              <a:buNone/>
            </a:pPr>
            <a:r>
              <a:rPr lang="en-US" sz="2100" b="1" dirty="0">
                <a:solidFill>
                  <a:srgbClr val="1E40AF"/>
                </a:solidFill>
                <a:latin typeface="Calibri" pitchFamily="34" charset="0"/>
                <a:ea typeface="Calibri" pitchFamily="34" charset="-122"/>
                <a:cs typeface="Calibri" pitchFamily="34" charset="-120"/>
              </a:rPr>
              <a:t>30,3 %</a:t>
            </a:r>
            <a:endParaRPr lang="en-US" sz="2100" dirty="0"/>
          </a:p>
        </p:txBody>
      </p:sp>
      <p:sp>
        <p:nvSpPr>
          <p:cNvPr id="24" name="Text 22"/>
          <p:cNvSpPr/>
          <p:nvPr/>
        </p:nvSpPr>
        <p:spPr>
          <a:xfrm>
            <a:off x="9683496" y="1901952"/>
            <a:ext cx="2002536" cy="201168"/>
          </a:xfrm>
          <a:prstGeom prst="rect">
            <a:avLst/>
          </a:prstGeom>
          <a:noFill/>
          <a:ln/>
        </p:spPr>
        <p:txBody>
          <a:bodyPr wrap="square" rtlCol="0" anchor="ctr"/>
          <a:lstStyle/>
          <a:p>
            <a:pPr marL="0" indent="0" algn="ctr">
              <a:buNone/>
            </a:pPr>
            <a:r>
              <a:rPr lang="en-US" sz="850" dirty="0">
                <a:solidFill>
                  <a:srgbClr val="64748B"/>
                </a:solidFill>
                <a:latin typeface="Calibri" pitchFamily="34" charset="0"/>
                <a:ea typeface="Calibri" pitchFamily="34" charset="-122"/>
                <a:cs typeface="Calibri" pitchFamily="34" charset="-120"/>
              </a:rPr>
              <a:t>PDM max de la période</a:t>
            </a:r>
            <a:endParaRPr lang="en-US" sz="850" dirty="0"/>
          </a:p>
        </p:txBody>
      </p:sp>
      <p:sp>
        <p:nvSpPr>
          <p:cNvPr id="25" name="Text 23"/>
          <p:cNvSpPr/>
          <p:nvPr/>
        </p:nvSpPr>
        <p:spPr>
          <a:xfrm>
            <a:off x="320040" y="2395728"/>
            <a:ext cx="6766560" cy="274320"/>
          </a:xfrm>
          <a:prstGeom prst="rect">
            <a:avLst/>
          </a:prstGeom>
          <a:noFill/>
          <a:ln/>
        </p:spPr>
        <p:txBody>
          <a:bodyPr wrap="square" rtlCol="0" anchor="ctr"/>
          <a:lstStyle/>
          <a:p>
            <a:pPr marL="0" indent="0">
              <a:buNone/>
            </a:pPr>
            <a:r>
              <a:rPr lang="en-US" sz="1200" b="1" dirty="0">
                <a:solidFill>
                  <a:srgbClr val="0A2240"/>
                </a:solidFill>
                <a:latin typeface="Calibri" pitchFamily="34" charset="0"/>
                <a:ea typeface="Calibri" pitchFamily="34" charset="-122"/>
                <a:cs typeface="Calibri" pitchFamily="34" charset="-120"/>
              </a:rPr>
              <a:t>Évolution mensuelle marché TEM &amp; AGL (TEU)</a:t>
            </a:r>
            <a:endParaRPr lang="en-US" sz="1200" dirty="0"/>
          </a:p>
        </p:txBody>
      </p:sp>
      <p:graphicFrame>
        <p:nvGraphicFramePr>
          <p:cNvPr id="26" name="Chart 0"/>
          <p:cNvGraphicFramePr/>
          <p:nvPr/>
        </p:nvGraphicFramePr>
        <p:xfrm>
          <a:off x="320040" y="2697480"/>
          <a:ext cx="6766560"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27" name="Text 24"/>
          <p:cNvSpPr/>
          <p:nvPr/>
        </p:nvSpPr>
        <p:spPr>
          <a:xfrm>
            <a:off x="7223760" y="2395728"/>
            <a:ext cx="4572000" cy="274320"/>
          </a:xfrm>
          <a:prstGeom prst="rect">
            <a:avLst/>
          </a:prstGeom>
          <a:noFill/>
          <a:ln/>
        </p:spPr>
        <p:txBody>
          <a:bodyPr wrap="square" rtlCol="0" anchor="ctr"/>
          <a:lstStyle/>
          <a:p>
            <a:pPr marL="0" indent="0">
              <a:buNone/>
            </a:pPr>
            <a:r>
              <a:rPr lang="en-US" sz="1200" b="1" dirty="0">
                <a:solidFill>
                  <a:srgbClr val="0A2240"/>
                </a:solidFill>
                <a:latin typeface="Calibri" pitchFamily="34" charset="0"/>
                <a:ea typeface="Calibri" pitchFamily="34" charset="-122"/>
                <a:cs typeface="Calibri" pitchFamily="34" charset="-120"/>
              </a:rPr>
              <a:t>PDM AGL par mois – TEM</a:t>
            </a:r>
            <a:endParaRPr lang="en-US" sz="1200" dirty="0"/>
          </a:p>
        </p:txBody>
      </p:sp>
      <p:sp>
        <p:nvSpPr>
          <p:cNvPr id="28" name="Shape 25"/>
          <p:cNvSpPr/>
          <p:nvPr/>
        </p:nvSpPr>
        <p:spPr>
          <a:xfrm>
            <a:off x="7223760" y="2635262"/>
            <a:ext cx="4572000" cy="548640"/>
          </a:xfrm>
          <a:prstGeom prst="roundRect">
            <a:avLst>
              <a:gd name="adj" fmla="val 10000"/>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29" name="Text 26"/>
          <p:cNvSpPr/>
          <p:nvPr/>
        </p:nvSpPr>
        <p:spPr>
          <a:xfrm>
            <a:off x="7360920" y="2635262"/>
            <a:ext cx="1417320" cy="548640"/>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Janvier</a:t>
            </a:r>
            <a:endParaRPr lang="en-US" sz="1100" dirty="0"/>
          </a:p>
        </p:txBody>
      </p:sp>
      <p:sp>
        <p:nvSpPr>
          <p:cNvPr id="30" name="Shape 27"/>
          <p:cNvSpPr/>
          <p:nvPr/>
        </p:nvSpPr>
        <p:spPr>
          <a:xfrm>
            <a:off x="8869680" y="2818142"/>
            <a:ext cx="2240280" cy="182880"/>
          </a:xfrm>
          <a:prstGeom prst="rect">
            <a:avLst/>
          </a:prstGeom>
          <a:solidFill>
            <a:srgbClr val="CBD5E1"/>
          </a:solidFill>
          <a:ln w="12700">
            <a:solidFill>
              <a:srgbClr val="CBD5E1"/>
            </a:solidFill>
            <a:prstDash val="solid"/>
          </a:ln>
        </p:spPr>
        <p:txBody>
          <a:bodyPr/>
          <a:lstStyle/>
          <a:p>
            <a:endParaRPr lang="en-US"/>
          </a:p>
        </p:txBody>
      </p:sp>
      <p:sp>
        <p:nvSpPr>
          <p:cNvPr id="31" name="Shape 28"/>
          <p:cNvSpPr/>
          <p:nvPr/>
        </p:nvSpPr>
        <p:spPr>
          <a:xfrm>
            <a:off x="8869680" y="2818142"/>
            <a:ext cx="1939442" cy="182880"/>
          </a:xfrm>
          <a:prstGeom prst="rect">
            <a:avLst/>
          </a:prstGeom>
          <a:solidFill>
            <a:srgbClr val="16A34A"/>
          </a:solidFill>
          <a:ln w="12700">
            <a:solidFill>
              <a:srgbClr val="16A34A"/>
            </a:solidFill>
            <a:prstDash val="solid"/>
          </a:ln>
        </p:spPr>
        <p:txBody>
          <a:bodyPr/>
          <a:lstStyle/>
          <a:p>
            <a:endParaRPr lang="en-US"/>
          </a:p>
        </p:txBody>
      </p:sp>
      <p:sp>
        <p:nvSpPr>
          <p:cNvPr id="32" name="Text 29"/>
          <p:cNvSpPr/>
          <p:nvPr/>
        </p:nvSpPr>
        <p:spPr>
          <a:xfrm>
            <a:off x="11109960" y="2635262"/>
            <a:ext cx="640080" cy="548640"/>
          </a:xfrm>
          <a:prstGeom prst="rect">
            <a:avLst/>
          </a:prstGeom>
          <a:noFill/>
          <a:ln/>
        </p:spPr>
        <p:txBody>
          <a:bodyPr wrap="square" rtlCol="0" anchor="ctr"/>
          <a:lstStyle/>
          <a:p>
            <a:pPr marL="0" indent="0" algn="r">
              <a:buNone/>
            </a:pPr>
            <a:r>
              <a:rPr lang="en-US" sz="1200" b="1" dirty="0">
                <a:solidFill>
                  <a:srgbClr val="16A34A"/>
                </a:solidFill>
                <a:latin typeface="Calibri" pitchFamily="34" charset="0"/>
                <a:ea typeface="Calibri" pitchFamily="34" charset="-122"/>
                <a:cs typeface="Calibri" pitchFamily="34" charset="-120"/>
              </a:rPr>
              <a:t>30.3%</a:t>
            </a:r>
            <a:endParaRPr lang="en-US" sz="1200" dirty="0"/>
          </a:p>
        </p:txBody>
      </p:sp>
      <p:sp>
        <p:nvSpPr>
          <p:cNvPr id="33" name="Shape 30"/>
          <p:cNvSpPr/>
          <p:nvPr/>
        </p:nvSpPr>
        <p:spPr>
          <a:xfrm>
            <a:off x="7223760" y="3293630"/>
            <a:ext cx="4572000" cy="548640"/>
          </a:xfrm>
          <a:prstGeom prst="roundRect">
            <a:avLst>
              <a:gd name="adj" fmla="val 10000"/>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34" name="Text 31"/>
          <p:cNvSpPr/>
          <p:nvPr/>
        </p:nvSpPr>
        <p:spPr>
          <a:xfrm>
            <a:off x="7360920" y="3293630"/>
            <a:ext cx="1417320" cy="548640"/>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Février</a:t>
            </a:r>
            <a:endParaRPr lang="en-US" sz="1100" dirty="0"/>
          </a:p>
        </p:txBody>
      </p:sp>
      <p:sp>
        <p:nvSpPr>
          <p:cNvPr id="35" name="Shape 32"/>
          <p:cNvSpPr/>
          <p:nvPr/>
        </p:nvSpPr>
        <p:spPr>
          <a:xfrm>
            <a:off x="8869680" y="3476510"/>
            <a:ext cx="2240280" cy="182880"/>
          </a:xfrm>
          <a:prstGeom prst="rect">
            <a:avLst/>
          </a:prstGeom>
          <a:solidFill>
            <a:srgbClr val="CBD5E1"/>
          </a:solidFill>
          <a:ln w="12700">
            <a:solidFill>
              <a:srgbClr val="CBD5E1"/>
            </a:solidFill>
            <a:prstDash val="solid"/>
          </a:ln>
        </p:spPr>
        <p:txBody>
          <a:bodyPr/>
          <a:lstStyle/>
          <a:p>
            <a:endParaRPr lang="en-US"/>
          </a:p>
        </p:txBody>
      </p:sp>
      <p:sp>
        <p:nvSpPr>
          <p:cNvPr id="36" name="Shape 33"/>
          <p:cNvSpPr/>
          <p:nvPr/>
        </p:nvSpPr>
        <p:spPr>
          <a:xfrm>
            <a:off x="8869680" y="3476510"/>
            <a:ext cx="1613002" cy="182880"/>
          </a:xfrm>
          <a:prstGeom prst="rect">
            <a:avLst/>
          </a:prstGeom>
          <a:solidFill>
            <a:srgbClr val="EA580C"/>
          </a:solidFill>
          <a:ln w="12700">
            <a:solidFill>
              <a:srgbClr val="EA580C"/>
            </a:solidFill>
            <a:prstDash val="solid"/>
          </a:ln>
        </p:spPr>
        <p:txBody>
          <a:bodyPr/>
          <a:lstStyle/>
          <a:p>
            <a:endParaRPr lang="en-US"/>
          </a:p>
        </p:txBody>
      </p:sp>
      <p:sp>
        <p:nvSpPr>
          <p:cNvPr id="37" name="Text 34"/>
          <p:cNvSpPr/>
          <p:nvPr/>
        </p:nvSpPr>
        <p:spPr>
          <a:xfrm>
            <a:off x="11109960" y="3293630"/>
            <a:ext cx="640080" cy="548640"/>
          </a:xfrm>
          <a:prstGeom prst="rect">
            <a:avLst/>
          </a:prstGeom>
          <a:noFill/>
          <a:ln/>
        </p:spPr>
        <p:txBody>
          <a:bodyPr wrap="square" rtlCol="0" anchor="ctr"/>
          <a:lstStyle/>
          <a:p>
            <a:pPr marL="0" indent="0" algn="r">
              <a:buNone/>
            </a:pPr>
            <a:r>
              <a:rPr lang="en-US" sz="1200" b="1" dirty="0">
                <a:solidFill>
                  <a:srgbClr val="EA580C"/>
                </a:solidFill>
                <a:latin typeface="Calibri" pitchFamily="34" charset="0"/>
                <a:ea typeface="Calibri" pitchFamily="34" charset="-122"/>
                <a:cs typeface="Calibri" pitchFamily="34" charset="-120"/>
              </a:rPr>
              <a:t>25.2%</a:t>
            </a:r>
            <a:endParaRPr lang="en-US" sz="1200" dirty="0"/>
          </a:p>
        </p:txBody>
      </p:sp>
      <p:sp>
        <p:nvSpPr>
          <p:cNvPr id="38" name="Shape 35"/>
          <p:cNvSpPr/>
          <p:nvPr/>
        </p:nvSpPr>
        <p:spPr>
          <a:xfrm>
            <a:off x="7223760" y="3951998"/>
            <a:ext cx="4572000" cy="548640"/>
          </a:xfrm>
          <a:prstGeom prst="roundRect">
            <a:avLst>
              <a:gd name="adj" fmla="val 10000"/>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39" name="Text 36"/>
          <p:cNvSpPr/>
          <p:nvPr/>
        </p:nvSpPr>
        <p:spPr>
          <a:xfrm>
            <a:off x="7360920" y="3951998"/>
            <a:ext cx="1417320" cy="548640"/>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Mars</a:t>
            </a:r>
            <a:endParaRPr lang="en-US" sz="1100" dirty="0"/>
          </a:p>
        </p:txBody>
      </p:sp>
      <p:sp>
        <p:nvSpPr>
          <p:cNvPr id="40" name="Shape 37"/>
          <p:cNvSpPr/>
          <p:nvPr/>
        </p:nvSpPr>
        <p:spPr>
          <a:xfrm>
            <a:off x="8869680" y="4134878"/>
            <a:ext cx="2240280" cy="182880"/>
          </a:xfrm>
          <a:prstGeom prst="rect">
            <a:avLst/>
          </a:prstGeom>
          <a:solidFill>
            <a:srgbClr val="CBD5E1"/>
          </a:solidFill>
          <a:ln w="12700">
            <a:solidFill>
              <a:srgbClr val="CBD5E1"/>
            </a:solidFill>
            <a:prstDash val="solid"/>
          </a:ln>
        </p:spPr>
        <p:txBody>
          <a:bodyPr/>
          <a:lstStyle/>
          <a:p>
            <a:endParaRPr lang="en-US"/>
          </a:p>
        </p:txBody>
      </p:sp>
      <p:sp>
        <p:nvSpPr>
          <p:cNvPr id="41" name="Shape 38"/>
          <p:cNvSpPr/>
          <p:nvPr/>
        </p:nvSpPr>
        <p:spPr>
          <a:xfrm>
            <a:off x="8869680" y="4134878"/>
            <a:ext cx="1843430" cy="182880"/>
          </a:xfrm>
          <a:prstGeom prst="rect">
            <a:avLst/>
          </a:prstGeom>
          <a:solidFill>
            <a:srgbClr val="16A34A"/>
          </a:solidFill>
          <a:ln w="12700">
            <a:solidFill>
              <a:srgbClr val="16A34A"/>
            </a:solidFill>
            <a:prstDash val="solid"/>
          </a:ln>
        </p:spPr>
        <p:txBody>
          <a:bodyPr/>
          <a:lstStyle/>
          <a:p>
            <a:endParaRPr lang="en-US"/>
          </a:p>
        </p:txBody>
      </p:sp>
      <p:sp>
        <p:nvSpPr>
          <p:cNvPr id="42" name="Text 39"/>
          <p:cNvSpPr/>
          <p:nvPr/>
        </p:nvSpPr>
        <p:spPr>
          <a:xfrm>
            <a:off x="11109960" y="3951998"/>
            <a:ext cx="640080" cy="548640"/>
          </a:xfrm>
          <a:prstGeom prst="rect">
            <a:avLst/>
          </a:prstGeom>
          <a:noFill/>
          <a:ln/>
        </p:spPr>
        <p:txBody>
          <a:bodyPr wrap="square" rtlCol="0" anchor="ctr"/>
          <a:lstStyle/>
          <a:p>
            <a:pPr marL="0" indent="0" algn="r">
              <a:buNone/>
            </a:pPr>
            <a:r>
              <a:rPr lang="en-US" sz="1200" b="1" dirty="0">
                <a:solidFill>
                  <a:srgbClr val="16A34A"/>
                </a:solidFill>
                <a:latin typeface="Calibri" pitchFamily="34" charset="0"/>
                <a:ea typeface="Calibri" pitchFamily="34" charset="-122"/>
                <a:cs typeface="Calibri" pitchFamily="34" charset="-120"/>
              </a:rPr>
              <a:t>28.8%</a:t>
            </a:r>
            <a:endParaRPr lang="en-US" sz="1200" dirty="0"/>
          </a:p>
        </p:txBody>
      </p:sp>
      <p:sp>
        <p:nvSpPr>
          <p:cNvPr id="43" name="Shape 40"/>
          <p:cNvSpPr/>
          <p:nvPr/>
        </p:nvSpPr>
        <p:spPr>
          <a:xfrm>
            <a:off x="7223760" y="4610366"/>
            <a:ext cx="4572000" cy="548640"/>
          </a:xfrm>
          <a:prstGeom prst="roundRect">
            <a:avLst>
              <a:gd name="adj" fmla="val 10000"/>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44" name="Text 41"/>
          <p:cNvSpPr/>
          <p:nvPr/>
        </p:nvSpPr>
        <p:spPr>
          <a:xfrm>
            <a:off x="7360920" y="4610366"/>
            <a:ext cx="1417320" cy="548640"/>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Avril</a:t>
            </a:r>
            <a:endParaRPr lang="en-US" sz="1100" dirty="0"/>
          </a:p>
        </p:txBody>
      </p:sp>
      <p:sp>
        <p:nvSpPr>
          <p:cNvPr id="45" name="Shape 42"/>
          <p:cNvSpPr/>
          <p:nvPr/>
        </p:nvSpPr>
        <p:spPr>
          <a:xfrm>
            <a:off x="8869680" y="4793246"/>
            <a:ext cx="2240280" cy="182880"/>
          </a:xfrm>
          <a:prstGeom prst="rect">
            <a:avLst/>
          </a:prstGeom>
          <a:solidFill>
            <a:srgbClr val="CBD5E1"/>
          </a:solidFill>
          <a:ln w="12700">
            <a:solidFill>
              <a:srgbClr val="CBD5E1"/>
            </a:solidFill>
            <a:prstDash val="solid"/>
          </a:ln>
        </p:spPr>
        <p:txBody>
          <a:bodyPr/>
          <a:lstStyle/>
          <a:p>
            <a:endParaRPr lang="en-US"/>
          </a:p>
        </p:txBody>
      </p:sp>
      <p:sp>
        <p:nvSpPr>
          <p:cNvPr id="46" name="Shape 43"/>
          <p:cNvSpPr/>
          <p:nvPr/>
        </p:nvSpPr>
        <p:spPr>
          <a:xfrm>
            <a:off x="8869680" y="4793246"/>
            <a:ext cx="1619402" cy="182880"/>
          </a:xfrm>
          <a:prstGeom prst="rect">
            <a:avLst/>
          </a:prstGeom>
          <a:solidFill>
            <a:srgbClr val="EA580C"/>
          </a:solidFill>
          <a:ln w="12700">
            <a:solidFill>
              <a:srgbClr val="EA580C"/>
            </a:solidFill>
            <a:prstDash val="solid"/>
          </a:ln>
        </p:spPr>
        <p:txBody>
          <a:bodyPr/>
          <a:lstStyle/>
          <a:p>
            <a:endParaRPr lang="en-US"/>
          </a:p>
        </p:txBody>
      </p:sp>
      <p:sp>
        <p:nvSpPr>
          <p:cNvPr id="47" name="Text 44"/>
          <p:cNvSpPr/>
          <p:nvPr/>
        </p:nvSpPr>
        <p:spPr>
          <a:xfrm>
            <a:off x="11109960" y="4610366"/>
            <a:ext cx="640080" cy="548640"/>
          </a:xfrm>
          <a:prstGeom prst="rect">
            <a:avLst/>
          </a:prstGeom>
          <a:noFill/>
          <a:ln/>
        </p:spPr>
        <p:txBody>
          <a:bodyPr wrap="square" rtlCol="0" anchor="ctr"/>
          <a:lstStyle/>
          <a:p>
            <a:pPr marL="0" indent="0" algn="r">
              <a:buNone/>
            </a:pPr>
            <a:r>
              <a:rPr lang="en-US" sz="1200" b="1" dirty="0">
                <a:solidFill>
                  <a:srgbClr val="EA580C"/>
                </a:solidFill>
                <a:latin typeface="Calibri" pitchFamily="34" charset="0"/>
                <a:ea typeface="Calibri" pitchFamily="34" charset="-122"/>
                <a:cs typeface="Calibri" pitchFamily="34" charset="-120"/>
              </a:rPr>
              <a:t>25.3%</a:t>
            </a:r>
            <a:endParaRPr lang="en-US" sz="1200" dirty="0"/>
          </a:p>
        </p:txBody>
      </p:sp>
      <p:sp>
        <p:nvSpPr>
          <p:cNvPr id="48" name="Shape 45"/>
          <p:cNvSpPr/>
          <p:nvPr/>
        </p:nvSpPr>
        <p:spPr>
          <a:xfrm>
            <a:off x="7223760" y="5268734"/>
            <a:ext cx="4572000" cy="548640"/>
          </a:xfrm>
          <a:prstGeom prst="roundRect">
            <a:avLst>
              <a:gd name="adj" fmla="val 10000"/>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49" name="Text 46"/>
          <p:cNvSpPr/>
          <p:nvPr/>
        </p:nvSpPr>
        <p:spPr>
          <a:xfrm>
            <a:off x="7360920" y="5268734"/>
            <a:ext cx="1417320" cy="548640"/>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Mai</a:t>
            </a:r>
            <a:endParaRPr lang="en-US" sz="1100" dirty="0"/>
          </a:p>
        </p:txBody>
      </p:sp>
      <p:sp>
        <p:nvSpPr>
          <p:cNvPr id="50" name="Shape 47"/>
          <p:cNvSpPr/>
          <p:nvPr/>
        </p:nvSpPr>
        <p:spPr>
          <a:xfrm>
            <a:off x="8869680" y="5451614"/>
            <a:ext cx="2240280" cy="182880"/>
          </a:xfrm>
          <a:prstGeom prst="rect">
            <a:avLst/>
          </a:prstGeom>
          <a:solidFill>
            <a:srgbClr val="CBD5E1"/>
          </a:solidFill>
          <a:ln w="12700">
            <a:solidFill>
              <a:srgbClr val="CBD5E1"/>
            </a:solidFill>
            <a:prstDash val="solid"/>
          </a:ln>
        </p:spPr>
        <p:txBody>
          <a:bodyPr/>
          <a:lstStyle/>
          <a:p>
            <a:endParaRPr lang="en-US"/>
          </a:p>
        </p:txBody>
      </p:sp>
      <p:sp>
        <p:nvSpPr>
          <p:cNvPr id="51" name="Shape 48"/>
          <p:cNvSpPr/>
          <p:nvPr/>
        </p:nvSpPr>
        <p:spPr>
          <a:xfrm>
            <a:off x="8869680" y="5451614"/>
            <a:ext cx="1286561" cy="182880"/>
          </a:xfrm>
          <a:prstGeom prst="rect">
            <a:avLst/>
          </a:prstGeom>
          <a:solidFill>
            <a:srgbClr val="DC2626"/>
          </a:solidFill>
          <a:ln w="12700">
            <a:solidFill>
              <a:srgbClr val="DC2626"/>
            </a:solidFill>
            <a:prstDash val="solid"/>
          </a:ln>
        </p:spPr>
        <p:txBody>
          <a:bodyPr/>
          <a:lstStyle/>
          <a:p>
            <a:endParaRPr lang="en-US"/>
          </a:p>
        </p:txBody>
      </p:sp>
      <p:sp>
        <p:nvSpPr>
          <p:cNvPr id="52" name="Text 49"/>
          <p:cNvSpPr/>
          <p:nvPr/>
        </p:nvSpPr>
        <p:spPr>
          <a:xfrm>
            <a:off x="11109960" y="5268734"/>
            <a:ext cx="640080" cy="548640"/>
          </a:xfrm>
          <a:prstGeom prst="rect">
            <a:avLst/>
          </a:prstGeom>
          <a:noFill/>
          <a:ln/>
        </p:spPr>
        <p:txBody>
          <a:bodyPr wrap="square" rtlCol="0" anchor="ctr"/>
          <a:lstStyle/>
          <a:p>
            <a:pPr marL="0" indent="0" algn="r">
              <a:buNone/>
            </a:pPr>
            <a:r>
              <a:rPr lang="en-US" sz="1200" b="1" dirty="0">
                <a:solidFill>
                  <a:srgbClr val="DC2626"/>
                </a:solidFill>
                <a:latin typeface="Calibri" pitchFamily="34" charset="0"/>
                <a:ea typeface="Calibri" pitchFamily="34" charset="-122"/>
                <a:cs typeface="Calibri" pitchFamily="34" charset="-120"/>
              </a:rPr>
              <a:t>20.1%</a:t>
            </a:r>
            <a:endParaRPr lang="en-US" sz="1200" dirty="0"/>
          </a:p>
        </p:txBody>
      </p:sp>
      <p:sp>
        <p:nvSpPr>
          <p:cNvPr id="53" name="Shape 50"/>
          <p:cNvSpPr/>
          <p:nvPr/>
        </p:nvSpPr>
        <p:spPr>
          <a:xfrm>
            <a:off x="7223760" y="5882635"/>
            <a:ext cx="4572000" cy="621792"/>
          </a:xfrm>
          <a:prstGeom prst="roundRect">
            <a:avLst>
              <a:gd name="adj" fmla="val 11765"/>
            </a:avLst>
          </a:prstGeom>
          <a:solidFill>
            <a:srgbClr val="FFF0F0"/>
          </a:solidFill>
          <a:ln/>
        </p:spPr>
        <p:txBody>
          <a:bodyPr/>
          <a:lstStyle/>
          <a:p>
            <a:endParaRPr lang="en-US"/>
          </a:p>
        </p:txBody>
      </p:sp>
      <p:sp>
        <p:nvSpPr>
          <p:cNvPr id="54" name="Text 51"/>
          <p:cNvSpPr/>
          <p:nvPr/>
        </p:nvSpPr>
        <p:spPr>
          <a:xfrm>
            <a:off x="7360920" y="5928355"/>
            <a:ext cx="4297680" cy="512064"/>
          </a:xfrm>
          <a:prstGeom prst="rect">
            <a:avLst/>
          </a:prstGeom>
          <a:noFill/>
          <a:ln/>
        </p:spPr>
        <p:txBody>
          <a:bodyPr wrap="square" rtlCol="0" anchor="ctr"/>
          <a:lstStyle/>
          <a:p>
            <a:pPr marL="0" indent="0">
              <a:buNone/>
            </a:pPr>
            <a:r>
              <a:rPr lang="en-US" sz="950" b="1" dirty="0">
                <a:solidFill>
                  <a:srgbClr val="DC2626"/>
                </a:solidFill>
                <a:latin typeface="Calibri" pitchFamily="34" charset="0"/>
                <a:ea typeface="Calibri" pitchFamily="34" charset="-122"/>
                <a:cs typeface="Calibri" pitchFamily="34" charset="-120"/>
              </a:rPr>
              <a:t>⚠ ALERTE MAI : </a:t>
            </a:r>
            <a:r>
              <a:rPr lang="en-US" sz="950" dirty="0">
                <a:solidFill>
                  <a:srgbClr val="0A2240"/>
                </a:solidFill>
                <a:latin typeface="Calibri" pitchFamily="34" charset="0"/>
                <a:ea typeface="Calibri" pitchFamily="34" charset="-122"/>
                <a:cs typeface="Calibri" pitchFamily="34" charset="-120"/>
              </a:rPr>
              <a:t>PDM chute à 20,1% (–10,2 pts vs Janvier). Marché en recul de –22% (28 586→22 421 TEU). Causes probables : fin saison cacao, recul cajou. Plan de relance à activer juin–juillet.</a:t>
            </a:r>
            <a:endParaRPr lang="en-US" sz="950" dirty="0"/>
          </a:p>
        </p:txBody>
      </p:sp>
      <p:sp>
        <p:nvSpPr>
          <p:cNvPr id="55" name="Shape 52"/>
          <p:cNvSpPr/>
          <p:nvPr/>
        </p:nvSpPr>
        <p:spPr>
          <a:xfrm>
            <a:off x="365760" y="6565392"/>
            <a:ext cx="11430000" cy="0"/>
          </a:xfrm>
          <a:prstGeom prst="line">
            <a:avLst/>
          </a:prstGeom>
          <a:noFill/>
          <a:ln w="6350">
            <a:solidFill>
              <a:srgbClr val="CBD5E1"/>
            </a:solidFill>
            <a:prstDash val="solid"/>
          </a:ln>
        </p:spPr>
        <p:txBody>
          <a:bodyPr/>
          <a:lstStyle/>
          <a:p>
            <a:endParaRPr lang="en-US"/>
          </a:p>
        </p:txBody>
      </p:sp>
      <p:sp>
        <p:nvSpPr>
          <p:cNvPr id="56" name="Text 53"/>
          <p:cNvSpPr/>
          <p:nvPr/>
        </p:nvSpPr>
        <p:spPr>
          <a:xfrm>
            <a:off x="365760" y="6601968"/>
            <a:ext cx="11430000" cy="201168"/>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Africa Global Logistics – Étude de Marché Jan–Mai 2026  |   p.8</a:t>
            </a:r>
            <a:endParaRPr lang="en-US" sz="850" dirty="0"/>
          </a:p>
        </p:txBody>
      </p:sp>
      <p:pic>
        <p:nvPicPr>
          <p:cNvPr id="58" name="Image 57" descr="Une image contenant texte, Police, Graphique, logo  Description générée automatiquement">
            <a:extLst>
              <a:ext uri="{FF2B5EF4-FFF2-40B4-BE49-F238E27FC236}">
                <a16:creationId xmlns:a16="http://schemas.microsoft.com/office/drawing/2014/main" id="{9DCCA267-354C-5B08-2F44-CDC9398B5E40}"/>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1488450" y="6549898"/>
            <a:ext cx="450027" cy="29240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0A2240"/>
          </a:solidFill>
          <a:ln w="12700">
            <a:solidFill>
              <a:srgbClr val="0A2240"/>
            </a:solidFill>
            <a:prstDash val="solid"/>
          </a:ln>
        </p:spPr>
        <p:txBody>
          <a:bodyPr/>
          <a:lstStyle/>
          <a:p>
            <a:endParaRPr lang="en-US"/>
          </a:p>
        </p:txBody>
      </p:sp>
      <p:sp>
        <p:nvSpPr>
          <p:cNvPr id="3" name="Text 1"/>
          <p:cNvSpPr/>
          <p:nvPr/>
        </p:nvSpPr>
        <p:spPr>
          <a:xfrm>
            <a:off x="365760" y="54864"/>
            <a:ext cx="11430000" cy="65836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TEM – SEGMENTS &amp; CONCURRENTS</a:t>
            </a:r>
            <a:endParaRPr lang="en-US" sz="2400" dirty="0"/>
          </a:p>
        </p:txBody>
      </p:sp>
      <p:sp>
        <p:nvSpPr>
          <p:cNvPr id="4" name="Text 2"/>
          <p:cNvSpPr/>
          <p:nvPr/>
        </p:nvSpPr>
        <p:spPr>
          <a:xfrm>
            <a:off x="365760" y="676656"/>
            <a:ext cx="11430000" cy="329184"/>
          </a:xfrm>
          <a:prstGeom prst="rect">
            <a:avLst/>
          </a:prstGeom>
          <a:noFill/>
          <a:ln/>
        </p:spPr>
        <p:txBody>
          <a:bodyPr wrap="square" rtlCol="0" anchor="ctr"/>
          <a:lstStyle/>
          <a:p>
            <a:pPr marL="0" indent="0">
              <a:buNone/>
            </a:pPr>
            <a:r>
              <a:rPr lang="en-US" sz="1200" i="1" dirty="0">
                <a:solidFill>
                  <a:srgbClr val="C8A951"/>
                </a:solidFill>
                <a:latin typeface="Calibri" pitchFamily="34" charset="0"/>
                <a:ea typeface="Calibri" pitchFamily="34" charset="-122"/>
                <a:cs typeface="Calibri" pitchFamily="34" charset="-120"/>
              </a:rPr>
              <a:t>Matières premières agricoles  |  PDM AGL par filière  |  Corridors</a:t>
            </a:r>
            <a:endParaRPr lang="en-US" sz="1200" dirty="0"/>
          </a:p>
        </p:txBody>
      </p:sp>
      <p:sp>
        <p:nvSpPr>
          <p:cNvPr id="5" name="Text 3"/>
          <p:cNvSpPr/>
          <p:nvPr/>
        </p:nvSpPr>
        <p:spPr>
          <a:xfrm>
            <a:off x="320040" y="1143000"/>
            <a:ext cx="5669280" cy="274320"/>
          </a:xfrm>
          <a:prstGeom prst="rect">
            <a:avLst/>
          </a:prstGeom>
          <a:noFill/>
          <a:ln/>
        </p:spPr>
        <p:txBody>
          <a:bodyPr wrap="square" rtlCol="0" anchor="ctr"/>
          <a:lstStyle/>
          <a:p>
            <a:pPr marL="0" indent="0">
              <a:buNone/>
            </a:pPr>
            <a:r>
              <a:rPr lang="en-US" sz="1200" b="1" dirty="0">
                <a:solidFill>
                  <a:srgbClr val="0A2240"/>
                </a:solidFill>
                <a:latin typeface="Calibri" pitchFamily="34" charset="0"/>
                <a:ea typeface="Calibri" pitchFamily="34" charset="-122"/>
                <a:cs typeface="Calibri" pitchFamily="34" charset="-120"/>
              </a:rPr>
              <a:t>PDM AGL par filière export – TEM</a:t>
            </a:r>
            <a:endParaRPr lang="en-US" sz="1200" dirty="0"/>
          </a:p>
        </p:txBody>
      </p:sp>
      <p:sp>
        <p:nvSpPr>
          <p:cNvPr id="6" name="Shape 4"/>
          <p:cNvSpPr/>
          <p:nvPr/>
        </p:nvSpPr>
        <p:spPr>
          <a:xfrm>
            <a:off x="320040" y="1463040"/>
            <a:ext cx="5669280" cy="466344"/>
          </a:xfrm>
          <a:prstGeom prst="roundRect">
            <a:avLst>
              <a:gd name="adj" fmla="val 7843"/>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7" name="Text 5"/>
          <p:cNvSpPr/>
          <p:nvPr/>
        </p:nvSpPr>
        <p:spPr>
          <a:xfrm>
            <a:off x="457200" y="1463040"/>
            <a:ext cx="2103120" cy="466344"/>
          </a:xfrm>
          <a:prstGeom prst="rect">
            <a:avLst/>
          </a:prstGeom>
          <a:noFill/>
          <a:ln/>
        </p:spPr>
        <p:txBody>
          <a:bodyPr wrap="square" rtlCol="0" anchor="ctr"/>
          <a:lstStyle/>
          <a:p>
            <a:pPr marL="0" indent="0">
              <a:buNone/>
            </a:pPr>
            <a:r>
              <a:rPr lang="en-US" sz="950" dirty="0">
                <a:solidFill>
                  <a:srgbClr val="334155"/>
                </a:solidFill>
                <a:latin typeface="Calibri" pitchFamily="34" charset="0"/>
                <a:ea typeface="Calibri" pitchFamily="34" charset="-122"/>
                <a:cs typeface="Calibri" pitchFamily="34" charset="-120"/>
              </a:rPr>
              <a:t>BANANES</a:t>
            </a:r>
            <a:endParaRPr lang="en-US" sz="950" dirty="0"/>
          </a:p>
        </p:txBody>
      </p:sp>
      <p:sp>
        <p:nvSpPr>
          <p:cNvPr id="8" name="Text 6"/>
          <p:cNvSpPr/>
          <p:nvPr/>
        </p:nvSpPr>
        <p:spPr>
          <a:xfrm>
            <a:off x="2606040" y="1463040"/>
            <a:ext cx="1280160" cy="466344"/>
          </a:xfrm>
          <a:prstGeom prst="rect">
            <a:avLst/>
          </a:prstGeom>
          <a:noFill/>
          <a:ln/>
        </p:spPr>
        <p:txBody>
          <a:bodyPr wrap="square" rtlCol="0" anchor="ctr"/>
          <a:lstStyle/>
          <a:p>
            <a:pPr marL="0" indent="0" algn="ctr">
              <a:buNone/>
            </a:pPr>
            <a:r>
              <a:rPr lang="en-US" sz="850" dirty="0">
                <a:solidFill>
                  <a:srgbClr val="64748B"/>
                </a:solidFill>
                <a:latin typeface="Calibri" pitchFamily="34" charset="0"/>
                <a:ea typeface="Calibri" pitchFamily="34" charset="-122"/>
                <a:cs typeface="Calibri" pitchFamily="34" charset="-120"/>
              </a:rPr>
              <a:t>Mkt: 6,908 TEU</a:t>
            </a:r>
            <a:endParaRPr lang="en-US" sz="850" dirty="0"/>
          </a:p>
        </p:txBody>
      </p:sp>
      <p:sp>
        <p:nvSpPr>
          <p:cNvPr id="9" name="Shape 7"/>
          <p:cNvSpPr/>
          <p:nvPr/>
        </p:nvSpPr>
        <p:spPr>
          <a:xfrm>
            <a:off x="3931920" y="1591056"/>
            <a:ext cx="1463040" cy="182880"/>
          </a:xfrm>
          <a:prstGeom prst="rect">
            <a:avLst/>
          </a:prstGeom>
          <a:solidFill>
            <a:srgbClr val="CBD5E1"/>
          </a:solidFill>
          <a:ln w="12700">
            <a:solidFill>
              <a:srgbClr val="CBD5E1"/>
            </a:solidFill>
            <a:prstDash val="solid"/>
          </a:ln>
        </p:spPr>
        <p:txBody>
          <a:bodyPr/>
          <a:lstStyle/>
          <a:p>
            <a:endParaRPr lang="en-US"/>
          </a:p>
        </p:txBody>
      </p:sp>
      <p:sp>
        <p:nvSpPr>
          <p:cNvPr id="10" name="Shape 8"/>
          <p:cNvSpPr/>
          <p:nvPr/>
        </p:nvSpPr>
        <p:spPr>
          <a:xfrm>
            <a:off x="3931920" y="1591056"/>
            <a:ext cx="1082650" cy="182880"/>
          </a:xfrm>
          <a:prstGeom prst="rect">
            <a:avLst/>
          </a:prstGeom>
          <a:solidFill>
            <a:srgbClr val="16A34A"/>
          </a:solidFill>
          <a:ln w="12700">
            <a:solidFill>
              <a:srgbClr val="16A34A"/>
            </a:solidFill>
            <a:prstDash val="solid"/>
          </a:ln>
        </p:spPr>
        <p:txBody>
          <a:bodyPr/>
          <a:lstStyle/>
          <a:p>
            <a:endParaRPr lang="en-US"/>
          </a:p>
        </p:txBody>
      </p:sp>
      <p:sp>
        <p:nvSpPr>
          <p:cNvPr id="11" name="Text 9"/>
          <p:cNvSpPr/>
          <p:nvPr/>
        </p:nvSpPr>
        <p:spPr>
          <a:xfrm>
            <a:off x="5440680" y="1463040"/>
            <a:ext cx="502920" cy="466344"/>
          </a:xfrm>
          <a:prstGeom prst="rect">
            <a:avLst/>
          </a:prstGeom>
          <a:noFill/>
          <a:ln/>
        </p:spPr>
        <p:txBody>
          <a:bodyPr wrap="square" rtlCol="0" anchor="ctr"/>
          <a:lstStyle/>
          <a:p>
            <a:pPr marL="0" indent="0" algn="r">
              <a:buNone/>
            </a:pPr>
            <a:r>
              <a:rPr lang="en-US" sz="1000" b="1" dirty="0">
                <a:solidFill>
                  <a:srgbClr val="16A34A"/>
                </a:solidFill>
                <a:latin typeface="Calibri" pitchFamily="34" charset="0"/>
                <a:ea typeface="Calibri" pitchFamily="34" charset="-122"/>
                <a:cs typeface="Calibri" pitchFamily="34" charset="-120"/>
              </a:rPr>
              <a:t>74%</a:t>
            </a:r>
            <a:endParaRPr lang="en-US" sz="1000" dirty="0"/>
          </a:p>
        </p:txBody>
      </p:sp>
      <p:sp>
        <p:nvSpPr>
          <p:cNvPr id="12" name="Shape 10"/>
          <p:cNvSpPr/>
          <p:nvPr/>
        </p:nvSpPr>
        <p:spPr>
          <a:xfrm>
            <a:off x="320040" y="1984248"/>
            <a:ext cx="5669280" cy="466344"/>
          </a:xfrm>
          <a:prstGeom prst="roundRect">
            <a:avLst>
              <a:gd name="adj" fmla="val 7843"/>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13" name="Text 11"/>
          <p:cNvSpPr/>
          <p:nvPr/>
        </p:nvSpPr>
        <p:spPr>
          <a:xfrm>
            <a:off x="457200" y="1984248"/>
            <a:ext cx="2103120" cy="466344"/>
          </a:xfrm>
          <a:prstGeom prst="rect">
            <a:avLst/>
          </a:prstGeom>
          <a:noFill/>
          <a:ln/>
        </p:spPr>
        <p:txBody>
          <a:bodyPr wrap="square" rtlCol="0" anchor="ctr"/>
          <a:lstStyle/>
          <a:p>
            <a:pPr marL="0" indent="0">
              <a:buNone/>
            </a:pPr>
            <a:r>
              <a:rPr lang="en-US" sz="950" dirty="0">
                <a:solidFill>
                  <a:srgbClr val="334155"/>
                </a:solidFill>
                <a:latin typeface="Calibri" pitchFamily="34" charset="0"/>
                <a:ea typeface="Calibri" pitchFamily="34" charset="-122"/>
                <a:cs typeface="Calibri" pitchFamily="34" charset="-120"/>
              </a:rPr>
              <a:t>DÉRIVÉS DE CACAO</a:t>
            </a:r>
            <a:endParaRPr lang="en-US" sz="950" dirty="0"/>
          </a:p>
        </p:txBody>
      </p:sp>
      <p:sp>
        <p:nvSpPr>
          <p:cNvPr id="14" name="Text 12"/>
          <p:cNvSpPr/>
          <p:nvPr/>
        </p:nvSpPr>
        <p:spPr>
          <a:xfrm>
            <a:off x="2606040" y="1984248"/>
            <a:ext cx="1280160" cy="466344"/>
          </a:xfrm>
          <a:prstGeom prst="rect">
            <a:avLst/>
          </a:prstGeom>
          <a:noFill/>
          <a:ln/>
        </p:spPr>
        <p:txBody>
          <a:bodyPr wrap="square" rtlCol="0" anchor="ctr"/>
          <a:lstStyle/>
          <a:p>
            <a:pPr marL="0" indent="0" algn="ctr">
              <a:buNone/>
            </a:pPr>
            <a:r>
              <a:rPr lang="en-US" sz="850" dirty="0">
                <a:solidFill>
                  <a:srgbClr val="64748B"/>
                </a:solidFill>
                <a:latin typeface="Calibri" pitchFamily="34" charset="0"/>
                <a:ea typeface="Calibri" pitchFamily="34" charset="-122"/>
                <a:cs typeface="Calibri" pitchFamily="34" charset="-120"/>
              </a:rPr>
              <a:t>Mkt: 11,411 TEU</a:t>
            </a:r>
            <a:endParaRPr lang="en-US" sz="850" dirty="0"/>
          </a:p>
        </p:txBody>
      </p:sp>
      <p:sp>
        <p:nvSpPr>
          <p:cNvPr id="15" name="Shape 13"/>
          <p:cNvSpPr/>
          <p:nvPr/>
        </p:nvSpPr>
        <p:spPr>
          <a:xfrm>
            <a:off x="3931920" y="2112264"/>
            <a:ext cx="1463040" cy="182880"/>
          </a:xfrm>
          <a:prstGeom prst="rect">
            <a:avLst/>
          </a:prstGeom>
          <a:solidFill>
            <a:srgbClr val="CBD5E1"/>
          </a:solidFill>
          <a:ln w="12700">
            <a:solidFill>
              <a:srgbClr val="CBD5E1"/>
            </a:solidFill>
            <a:prstDash val="solid"/>
          </a:ln>
        </p:spPr>
        <p:txBody>
          <a:bodyPr/>
          <a:lstStyle/>
          <a:p>
            <a:endParaRPr lang="en-US"/>
          </a:p>
        </p:txBody>
      </p:sp>
      <p:sp>
        <p:nvSpPr>
          <p:cNvPr id="16" name="Shape 14"/>
          <p:cNvSpPr/>
          <p:nvPr/>
        </p:nvSpPr>
        <p:spPr>
          <a:xfrm>
            <a:off x="3931920" y="2112264"/>
            <a:ext cx="713964" cy="182880"/>
          </a:xfrm>
          <a:prstGeom prst="rect">
            <a:avLst/>
          </a:prstGeom>
          <a:solidFill>
            <a:srgbClr val="16A34A"/>
          </a:solidFill>
          <a:ln w="12700">
            <a:solidFill>
              <a:srgbClr val="16A34A"/>
            </a:solidFill>
            <a:prstDash val="solid"/>
          </a:ln>
        </p:spPr>
        <p:txBody>
          <a:bodyPr/>
          <a:lstStyle/>
          <a:p>
            <a:endParaRPr lang="en-US"/>
          </a:p>
        </p:txBody>
      </p:sp>
      <p:sp>
        <p:nvSpPr>
          <p:cNvPr id="17" name="Text 15"/>
          <p:cNvSpPr/>
          <p:nvPr/>
        </p:nvSpPr>
        <p:spPr>
          <a:xfrm>
            <a:off x="5440680" y="1984248"/>
            <a:ext cx="502920" cy="466344"/>
          </a:xfrm>
          <a:prstGeom prst="rect">
            <a:avLst/>
          </a:prstGeom>
          <a:noFill/>
          <a:ln/>
        </p:spPr>
        <p:txBody>
          <a:bodyPr wrap="square" rtlCol="0" anchor="ctr"/>
          <a:lstStyle/>
          <a:p>
            <a:pPr marL="0" indent="0" algn="r">
              <a:buNone/>
            </a:pPr>
            <a:r>
              <a:rPr lang="en-US" sz="1000" b="1" dirty="0">
                <a:solidFill>
                  <a:srgbClr val="16A34A"/>
                </a:solidFill>
                <a:latin typeface="Calibri" pitchFamily="34" charset="0"/>
                <a:ea typeface="Calibri" pitchFamily="34" charset="-122"/>
                <a:cs typeface="Calibri" pitchFamily="34" charset="-120"/>
              </a:rPr>
              <a:t>49%</a:t>
            </a:r>
            <a:endParaRPr lang="en-US" sz="1000" dirty="0"/>
          </a:p>
        </p:txBody>
      </p:sp>
      <p:sp>
        <p:nvSpPr>
          <p:cNvPr id="18" name="Shape 16"/>
          <p:cNvSpPr/>
          <p:nvPr/>
        </p:nvSpPr>
        <p:spPr>
          <a:xfrm>
            <a:off x="320040" y="2505456"/>
            <a:ext cx="5669280" cy="466344"/>
          </a:xfrm>
          <a:prstGeom prst="roundRect">
            <a:avLst>
              <a:gd name="adj" fmla="val 7843"/>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19" name="Text 17"/>
          <p:cNvSpPr/>
          <p:nvPr/>
        </p:nvSpPr>
        <p:spPr>
          <a:xfrm>
            <a:off x="457200" y="2505456"/>
            <a:ext cx="2103120" cy="466344"/>
          </a:xfrm>
          <a:prstGeom prst="rect">
            <a:avLst/>
          </a:prstGeom>
          <a:noFill/>
          <a:ln/>
        </p:spPr>
        <p:txBody>
          <a:bodyPr wrap="square" rtlCol="0" anchor="ctr"/>
          <a:lstStyle/>
          <a:p>
            <a:pPr marL="0" indent="0">
              <a:buNone/>
            </a:pPr>
            <a:r>
              <a:rPr lang="en-US" sz="950" dirty="0">
                <a:solidFill>
                  <a:srgbClr val="334155"/>
                </a:solidFill>
                <a:latin typeface="Calibri" pitchFamily="34" charset="0"/>
                <a:ea typeface="Calibri" pitchFamily="34" charset="-122"/>
                <a:cs typeface="Calibri" pitchFamily="34" charset="-120"/>
              </a:rPr>
              <a:t>CACAO</a:t>
            </a:r>
            <a:endParaRPr lang="en-US" sz="950" dirty="0"/>
          </a:p>
        </p:txBody>
      </p:sp>
      <p:sp>
        <p:nvSpPr>
          <p:cNvPr id="20" name="Text 18"/>
          <p:cNvSpPr/>
          <p:nvPr/>
        </p:nvSpPr>
        <p:spPr>
          <a:xfrm>
            <a:off x="2606040" y="2505456"/>
            <a:ext cx="1280160" cy="466344"/>
          </a:xfrm>
          <a:prstGeom prst="rect">
            <a:avLst/>
          </a:prstGeom>
          <a:noFill/>
          <a:ln/>
        </p:spPr>
        <p:txBody>
          <a:bodyPr wrap="square" rtlCol="0" anchor="ctr"/>
          <a:lstStyle/>
          <a:p>
            <a:pPr marL="0" indent="0" algn="ctr">
              <a:buNone/>
            </a:pPr>
            <a:r>
              <a:rPr lang="en-US" sz="850" dirty="0">
                <a:solidFill>
                  <a:srgbClr val="64748B"/>
                </a:solidFill>
                <a:latin typeface="Calibri" pitchFamily="34" charset="0"/>
                <a:ea typeface="Calibri" pitchFamily="34" charset="-122"/>
                <a:cs typeface="Calibri" pitchFamily="34" charset="-120"/>
              </a:rPr>
              <a:t>Mkt: 46,407 TEU</a:t>
            </a:r>
            <a:endParaRPr lang="en-US" sz="850" dirty="0"/>
          </a:p>
        </p:txBody>
      </p:sp>
      <p:sp>
        <p:nvSpPr>
          <p:cNvPr id="21" name="Shape 19"/>
          <p:cNvSpPr/>
          <p:nvPr/>
        </p:nvSpPr>
        <p:spPr>
          <a:xfrm>
            <a:off x="3931920" y="2633472"/>
            <a:ext cx="1463040" cy="182880"/>
          </a:xfrm>
          <a:prstGeom prst="rect">
            <a:avLst/>
          </a:prstGeom>
          <a:solidFill>
            <a:srgbClr val="CBD5E1"/>
          </a:solidFill>
          <a:ln w="12700">
            <a:solidFill>
              <a:srgbClr val="CBD5E1"/>
            </a:solidFill>
            <a:prstDash val="solid"/>
          </a:ln>
        </p:spPr>
        <p:txBody>
          <a:bodyPr/>
          <a:lstStyle/>
          <a:p>
            <a:endParaRPr lang="en-US"/>
          </a:p>
        </p:txBody>
      </p:sp>
      <p:sp>
        <p:nvSpPr>
          <p:cNvPr id="22" name="Shape 20"/>
          <p:cNvSpPr/>
          <p:nvPr/>
        </p:nvSpPr>
        <p:spPr>
          <a:xfrm>
            <a:off x="3931920" y="2633472"/>
            <a:ext cx="472562" cy="182880"/>
          </a:xfrm>
          <a:prstGeom prst="rect">
            <a:avLst/>
          </a:prstGeom>
          <a:solidFill>
            <a:srgbClr val="1E40AF"/>
          </a:solidFill>
          <a:ln w="12700">
            <a:solidFill>
              <a:srgbClr val="1E40AF"/>
            </a:solidFill>
            <a:prstDash val="solid"/>
          </a:ln>
        </p:spPr>
        <p:txBody>
          <a:bodyPr/>
          <a:lstStyle/>
          <a:p>
            <a:endParaRPr lang="en-US"/>
          </a:p>
        </p:txBody>
      </p:sp>
      <p:sp>
        <p:nvSpPr>
          <p:cNvPr id="23" name="Text 21"/>
          <p:cNvSpPr/>
          <p:nvPr/>
        </p:nvSpPr>
        <p:spPr>
          <a:xfrm>
            <a:off x="5440680" y="2505456"/>
            <a:ext cx="502920" cy="466344"/>
          </a:xfrm>
          <a:prstGeom prst="rect">
            <a:avLst/>
          </a:prstGeom>
          <a:noFill/>
          <a:ln/>
        </p:spPr>
        <p:txBody>
          <a:bodyPr wrap="square" rtlCol="0" anchor="ctr"/>
          <a:lstStyle/>
          <a:p>
            <a:pPr marL="0" indent="0" algn="r">
              <a:buNone/>
            </a:pPr>
            <a:r>
              <a:rPr lang="en-US" sz="1000" b="1" dirty="0">
                <a:solidFill>
                  <a:srgbClr val="1E40AF"/>
                </a:solidFill>
                <a:latin typeface="Calibri" pitchFamily="34" charset="0"/>
                <a:ea typeface="Calibri" pitchFamily="34" charset="-122"/>
                <a:cs typeface="Calibri" pitchFamily="34" charset="-120"/>
              </a:rPr>
              <a:t>32%</a:t>
            </a:r>
            <a:endParaRPr lang="en-US" sz="1000" dirty="0"/>
          </a:p>
        </p:txBody>
      </p:sp>
      <p:sp>
        <p:nvSpPr>
          <p:cNvPr id="24" name="Shape 22"/>
          <p:cNvSpPr/>
          <p:nvPr/>
        </p:nvSpPr>
        <p:spPr>
          <a:xfrm>
            <a:off x="320040" y="3026664"/>
            <a:ext cx="5669280" cy="466344"/>
          </a:xfrm>
          <a:prstGeom prst="roundRect">
            <a:avLst>
              <a:gd name="adj" fmla="val 7843"/>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25" name="Text 23"/>
          <p:cNvSpPr/>
          <p:nvPr/>
        </p:nvSpPr>
        <p:spPr>
          <a:xfrm>
            <a:off x="457200" y="3026664"/>
            <a:ext cx="2103120" cy="466344"/>
          </a:xfrm>
          <a:prstGeom prst="rect">
            <a:avLst/>
          </a:prstGeom>
          <a:noFill/>
          <a:ln/>
        </p:spPr>
        <p:txBody>
          <a:bodyPr wrap="square" rtlCol="0" anchor="ctr"/>
          <a:lstStyle/>
          <a:p>
            <a:pPr marL="0" indent="0">
              <a:buNone/>
            </a:pPr>
            <a:r>
              <a:rPr lang="en-US" sz="950" dirty="0">
                <a:solidFill>
                  <a:srgbClr val="334155"/>
                </a:solidFill>
                <a:latin typeface="Calibri" pitchFamily="34" charset="0"/>
                <a:ea typeface="Calibri" pitchFamily="34" charset="-122"/>
                <a:cs typeface="Calibri" pitchFamily="34" charset="-120"/>
              </a:rPr>
              <a:t>COTON</a:t>
            </a:r>
            <a:endParaRPr lang="en-US" sz="950" dirty="0"/>
          </a:p>
        </p:txBody>
      </p:sp>
      <p:sp>
        <p:nvSpPr>
          <p:cNvPr id="26" name="Text 24"/>
          <p:cNvSpPr/>
          <p:nvPr/>
        </p:nvSpPr>
        <p:spPr>
          <a:xfrm>
            <a:off x="2606040" y="3026664"/>
            <a:ext cx="1280160" cy="466344"/>
          </a:xfrm>
          <a:prstGeom prst="rect">
            <a:avLst/>
          </a:prstGeom>
          <a:noFill/>
          <a:ln/>
        </p:spPr>
        <p:txBody>
          <a:bodyPr wrap="square" rtlCol="0" anchor="ctr"/>
          <a:lstStyle/>
          <a:p>
            <a:pPr marL="0" indent="0" algn="ctr">
              <a:buNone/>
            </a:pPr>
            <a:r>
              <a:rPr lang="en-US" sz="850" dirty="0">
                <a:solidFill>
                  <a:srgbClr val="64748B"/>
                </a:solidFill>
                <a:latin typeface="Calibri" pitchFamily="34" charset="0"/>
                <a:ea typeface="Calibri" pitchFamily="34" charset="-122"/>
                <a:cs typeface="Calibri" pitchFamily="34" charset="-120"/>
              </a:rPr>
              <a:t>Mkt: 4,179 TEU</a:t>
            </a:r>
            <a:endParaRPr lang="en-US" sz="850" dirty="0"/>
          </a:p>
        </p:txBody>
      </p:sp>
      <p:sp>
        <p:nvSpPr>
          <p:cNvPr id="27" name="Shape 25"/>
          <p:cNvSpPr/>
          <p:nvPr/>
        </p:nvSpPr>
        <p:spPr>
          <a:xfrm>
            <a:off x="3931920" y="3154680"/>
            <a:ext cx="1463040" cy="182880"/>
          </a:xfrm>
          <a:prstGeom prst="rect">
            <a:avLst/>
          </a:prstGeom>
          <a:solidFill>
            <a:srgbClr val="CBD5E1"/>
          </a:solidFill>
          <a:ln w="12700">
            <a:solidFill>
              <a:srgbClr val="CBD5E1"/>
            </a:solidFill>
            <a:prstDash val="solid"/>
          </a:ln>
        </p:spPr>
        <p:txBody>
          <a:bodyPr/>
          <a:lstStyle/>
          <a:p>
            <a:endParaRPr lang="en-US"/>
          </a:p>
        </p:txBody>
      </p:sp>
      <p:sp>
        <p:nvSpPr>
          <p:cNvPr id="28" name="Shape 26"/>
          <p:cNvSpPr/>
          <p:nvPr/>
        </p:nvSpPr>
        <p:spPr>
          <a:xfrm>
            <a:off x="3931920" y="3154680"/>
            <a:ext cx="424282" cy="182880"/>
          </a:xfrm>
          <a:prstGeom prst="rect">
            <a:avLst/>
          </a:prstGeom>
          <a:solidFill>
            <a:srgbClr val="1E40AF"/>
          </a:solidFill>
          <a:ln w="12700">
            <a:solidFill>
              <a:srgbClr val="1E40AF"/>
            </a:solidFill>
            <a:prstDash val="solid"/>
          </a:ln>
        </p:spPr>
        <p:txBody>
          <a:bodyPr/>
          <a:lstStyle/>
          <a:p>
            <a:endParaRPr lang="en-US"/>
          </a:p>
        </p:txBody>
      </p:sp>
      <p:sp>
        <p:nvSpPr>
          <p:cNvPr id="29" name="Text 27"/>
          <p:cNvSpPr/>
          <p:nvPr/>
        </p:nvSpPr>
        <p:spPr>
          <a:xfrm>
            <a:off x="5440680" y="3026664"/>
            <a:ext cx="502920" cy="466344"/>
          </a:xfrm>
          <a:prstGeom prst="rect">
            <a:avLst/>
          </a:prstGeom>
          <a:noFill/>
          <a:ln/>
        </p:spPr>
        <p:txBody>
          <a:bodyPr wrap="square" rtlCol="0" anchor="ctr"/>
          <a:lstStyle/>
          <a:p>
            <a:pPr marL="0" indent="0" algn="r">
              <a:buNone/>
            </a:pPr>
            <a:r>
              <a:rPr lang="en-US" sz="1000" b="1" dirty="0">
                <a:solidFill>
                  <a:srgbClr val="1E40AF"/>
                </a:solidFill>
                <a:latin typeface="Calibri" pitchFamily="34" charset="0"/>
                <a:ea typeface="Calibri" pitchFamily="34" charset="-122"/>
                <a:cs typeface="Calibri" pitchFamily="34" charset="-120"/>
              </a:rPr>
              <a:t>29%</a:t>
            </a:r>
            <a:endParaRPr lang="en-US" sz="1000" dirty="0"/>
          </a:p>
        </p:txBody>
      </p:sp>
      <p:sp>
        <p:nvSpPr>
          <p:cNvPr id="30" name="Shape 28"/>
          <p:cNvSpPr/>
          <p:nvPr/>
        </p:nvSpPr>
        <p:spPr>
          <a:xfrm>
            <a:off x="320040" y="3547872"/>
            <a:ext cx="5669280" cy="466344"/>
          </a:xfrm>
          <a:prstGeom prst="roundRect">
            <a:avLst>
              <a:gd name="adj" fmla="val 7843"/>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31" name="Text 29"/>
          <p:cNvSpPr/>
          <p:nvPr/>
        </p:nvSpPr>
        <p:spPr>
          <a:xfrm>
            <a:off x="457200" y="3547872"/>
            <a:ext cx="2103120" cy="466344"/>
          </a:xfrm>
          <a:prstGeom prst="rect">
            <a:avLst/>
          </a:prstGeom>
          <a:noFill/>
          <a:ln/>
        </p:spPr>
        <p:txBody>
          <a:bodyPr wrap="square" rtlCol="0" anchor="ctr"/>
          <a:lstStyle/>
          <a:p>
            <a:pPr marL="0" indent="0">
              <a:buNone/>
            </a:pPr>
            <a:r>
              <a:rPr lang="en-US" sz="950" dirty="0">
                <a:solidFill>
                  <a:srgbClr val="334155"/>
                </a:solidFill>
                <a:latin typeface="Calibri" pitchFamily="34" charset="0"/>
                <a:ea typeface="Calibri" pitchFamily="34" charset="-122"/>
                <a:cs typeface="Calibri" pitchFamily="34" charset="-120"/>
              </a:rPr>
              <a:t>CAOUTCHOUC USINE</a:t>
            </a:r>
            <a:endParaRPr lang="en-US" sz="950" dirty="0"/>
          </a:p>
        </p:txBody>
      </p:sp>
      <p:sp>
        <p:nvSpPr>
          <p:cNvPr id="32" name="Text 30"/>
          <p:cNvSpPr/>
          <p:nvPr/>
        </p:nvSpPr>
        <p:spPr>
          <a:xfrm>
            <a:off x="2606040" y="3547872"/>
            <a:ext cx="1280160" cy="466344"/>
          </a:xfrm>
          <a:prstGeom prst="rect">
            <a:avLst/>
          </a:prstGeom>
          <a:noFill/>
          <a:ln/>
        </p:spPr>
        <p:txBody>
          <a:bodyPr wrap="square" rtlCol="0" anchor="ctr"/>
          <a:lstStyle/>
          <a:p>
            <a:pPr marL="0" indent="0" algn="ctr">
              <a:buNone/>
            </a:pPr>
            <a:r>
              <a:rPr lang="en-US" sz="850" dirty="0">
                <a:solidFill>
                  <a:srgbClr val="64748B"/>
                </a:solidFill>
                <a:latin typeface="Calibri" pitchFamily="34" charset="0"/>
                <a:ea typeface="Calibri" pitchFamily="34" charset="-122"/>
                <a:cs typeface="Calibri" pitchFamily="34" charset="-120"/>
              </a:rPr>
              <a:t>Mkt: 35,516 TEU</a:t>
            </a:r>
            <a:endParaRPr lang="en-US" sz="850" dirty="0"/>
          </a:p>
        </p:txBody>
      </p:sp>
      <p:sp>
        <p:nvSpPr>
          <p:cNvPr id="33" name="Shape 31"/>
          <p:cNvSpPr/>
          <p:nvPr/>
        </p:nvSpPr>
        <p:spPr>
          <a:xfrm>
            <a:off x="3931920" y="3675888"/>
            <a:ext cx="1463040" cy="182880"/>
          </a:xfrm>
          <a:prstGeom prst="rect">
            <a:avLst/>
          </a:prstGeom>
          <a:solidFill>
            <a:srgbClr val="CBD5E1"/>
          </a:solidFill>
          <a:ln w="12700">
            <a:solidFill>
              <a:srgbClr val="CBD5E1"/>
            </a:solidFill>
            <a:prstDash val="solid"/>
          </a:ln>
        </p:spPr>
        <p:txBody>
          <a:bodyPr/>
          <a:lstStyle/>
          <a:p>
            <a:endParaRPr lang="en-US"/>
          </a:p>
        </p:txBody>
      </p:sp>
      <p:sp>
        <p:nvSpPr>
          <p:cNvPr id="34" name="Shape 32"/>
          <p:cNvSpPr/>
          <p:nvPr/>
        </p:nvSpPr>
        <p:spPr>
          <a:xfrm>
            <a:off x="3931920" y="3675888"/>
            <a:ext cx="264810" cy="182880"/>
          </a:xfrm>
          <a:prstGeom prst="rect">
            <a:avLst/>
          </a:prstGeom>
          <a:solidFill>
            <a:srgbClr val="EA580C"/>
          </a:solidFill>
          <a:ln w="12700">
            <a:solidFill>
              <a:srgbClr val="EA580C"/>
            </a:solidFill>
            <a:prstDash val="solid"/>
          </a:ln>
        </p:spPr>
        <p:txBody>
          <a:bodyPr/>
          <a:lstStyle/>
          <a:p>
            <a:endParaRPr lang="en-US"/>
          </a:p>
        </p:txBody>
      </p:sp>
      <p:sp>
        <p:nvSpPr>
          <p:cNvPr id="35" name="Text 33"/>
          <p:cNvSpPr/>
          <p:nvPr/>
        </p:nvSpPr>
        <p:spPr>
          <a:xfrm>
            <a:off x="5440680" y="3547872"/>
            <a:ext cx="502920" cy="466344"/>
          </a:xfrm>
          <a:prstGeom prst="rect">
            <a:avLst/>
          </a:prstGeom>
          <a:noFill/>
          <a:ln/>
        </p:spPr>
        <p:txBody>
          <a:bodyPr wrap="square" rtlCol="0" anchor="ctr"/>
          <a:lstStyle/>
          <a:p>
            <a:pPr marL="0" indent="0" algn="r">
              <a:buNone/>
            </a:pPr>
            <a:r>
              <a:rPr lang="en-US" sz="1000" b="1" dirty="0">
                <a:solidFill>
                  <a:srgbClr val="EA580C"/>
                </a:solidFill>
                <a:latin typeface="Calibri" pitchFamily="34" charset="0"/>
                <a:ea typeface="Calibri" pitchFamily="34" charset="-122"/>
                <a:cs typeface="Calibri" pitchFamily="34" charset="-120"/>
              </a:rPr>
              <a:t>18%</a:t>
            </a:r>
            <a:endParaRPr lang="en-US" sz="1000" dirty="0"/>
          </a:p>
        </p:txBody>
      </p:sp>
      <p:sp>
        <p:nvSpPr>
          <p:cNvPr id="36" name="Shape 34"/>
          <p:cNvSpPr/>
          <p:nvPr/>
        </p:nvSpPr>
        <p:spPr>
          <a:xfrm>
            <a:off x="320040" y="4069080"/>
            <a:ext cx="5669280" cy="466344"/>
          </a:xfrm>
          <a:prstGeom prst="roundRect">
            <a:avLst>
              <a:gd name="adj" fmla="val 7843"/>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37" name="Text 35"/>
          <p:cNvSpPr/>
          <p:nvPr/>
        </p:nvSpPr>
        <p:spPr>
          <a:xfrm>
            <a:off x="457200" y="4069080"/>
            <a:ext cx="2103120" cy="466344"/>
          </a:xfrm>
          <a:prstGeom prst="rect">
            <a:avLst/>
          </a:prstGeom>
          <a:noFill/>
          <a:ln/>
        </p:spPr>
        <p:txBody>
          <a:bodyPr wrap="square" rtlCol="0" anchor="ctr"/>
          <a:lstStyle/>
          <a:p>
            <a:pPr marL="0" indent="0">
              <a:buNone/>
            </a:pPr>
            <a:r>
              <a:rPr lang="en-US" sz="950" dirty="0">
                <a:solidFill>
                  <a:srgbClr val="334155"/>
                </a:solidFill>
                <a:latin typeface="Calibri" pitchFamily="34" charset="0"/>
                <a:ea typeface="Calibri" pitchFamily="34" charset="-122"/>
                <a:cs typeface="Calibri" pitchFamily="34" charset="-120"/>
              </a:rPr>
              <a:t>MANGUE</a:t>
            </a:r>
            <a:endParaRPr lang="en-US" sz="950" dirty="0"/>
          </a:p>
        </p:txBody>
      </p:sp>
      <p:sp>
        <p:nvSpPr>
          <p:cNvPr id="38" name="Text 36"/>
          <p:cNvSpPr/>
          <p:nvPr/>
        </p:nvSpPr>
        <p:spPr>
          <a:xfrm>
            <a:off x="2606040" y="4069080"/>
            <a:ext cx="1280160" cy="466344"/>
          </a:xfrm>
          <a:prstGeom prst="rect">
            <a:avLst/>
          </a:prstGeom>
          <a:noFill/>
          <a:ln/>
        </p:spPr>
        <p:txBody>
          <a:bodyPr wrap="square" rtlCol="0" anchor="ctr"/>
          <a:lstStyle/>
          <a:p>
            <a:pPr marL="0" indent="0" algn="ctr">
              <a:buNone/>
            </a:pPr>
            <a:r>
              <a:rPr lang="en-US" sz="850" dirty="0">
                <a:solidFill>
                  <a:srgbClr val="64748B"/>
                </a:solidFill>
                <a:latin typeface="Calibri" pitchFamily="34" charset="0"/>
                <a:ea typeface="Calibri" pitchFamily="34" charset="-122"/>
                <a:cs typeface="Calibri" pitchFamily="34" charset="-120"/>
              </a:rPr>
              <a:t>Mkt: 3,777 TEU</a:t>
            </a:r>
            <a:endParaRPr lang="en-US" sz="850" dirty="0"/>
          </a:p>
        </p:txBody>
      </p:sp>
      <p:sp>
        <p:nvSpPr>
          <p:cNvPr id="39" name="Shape 37"/>
          <p:cNvSpPr/>
          <p:nvPr/>
        </p:nvSpPr>
        <p:spPr>
          <a:xfrm>
            <a:off x="3931920" y="4197096"/>
            <a:ext cx="1463040" cy="182880"/>
          </a:xfrm>
          <a:prstGeom prst="rect">
            <a:avLst/>
          </a:prstGeom>
          <a:solidFill>
            <a:srgbClr val="CBD5E1"/>
          </a:solidFill>
          <a:ln w="12700">
            <a:solidFill>
              <a:srgbClr val="CBD5E1"/>
            </a:solidFill>
            <a:prstDash val="solid"/>
          </a:ln>
        </p:spPr>
        <p:txBody>
          <a:bodyPr/>
          <a:lstStyle/>
          <a:p>
            <a:endParaRPr lang="en-US"/>
          </a:p>
        </p:txBody>
      </p:sp>
      <p:sp>
        <p:nvSpPr>
          <p:cNvPr id="40" name="Shape 38"/>
          <p:cNvSpPr/>
          <p:nvPr/>
        </p:nvSpPr>
        <p:spPr>
          <a:xfrm>
            <a:off x="3931920" y="4197096"/>
            <a:ext cx="194584" cy="182880"/>
          </a:xfrm>
          <a:prstGeom prst="rect">
            <a:avLst/>
          </a:prstGeom>
          <a:solidFill>
            <a:srgbClr val="EA580C"/>
          </a:solidFill>
          <a:ln w="12700">
            <a:solidFill>
              <a:srgbClr val="EA580C"/>
            </a:solidFill>
            <a:prstDash val="solid"/>
          </a:ln>
        </p:spPr>
        <p:txBody>
          <a:bodyPr/>
          <a:lstStyle/>
          <a:p>
            <a:endParaRPr lang="en-US"/>
          </a:p>
        </p:txBody>
      </p:sp>
      <p:sp>
        <p:nvSpPr>
          <p:cNvPr id="41" name="Text 39"/>
          <p:cNvSpPr/>
          <p:nvPr/>
        </p:nvSpPr>
        <p:spPr>
          <a:xfrm>
            <a:off x="5440680" y="4069080"/>
            <a:ext cx="502920" cy="466344"/>
          </a:xfrm>
          <a:prstGeom prst="rect">
            <a:avLst/>
          </a:prstGeom>
          <a:noFill/>
          <a:ln/>
        </p:spPr>
        <p:txBody>
          <a:bodyPr wrap="square" rtlCol="0" anchor="ctr"/>
          <a:lstStyle/>
          <a:p>
            <a:pPr marL="0" indent="0" algn="r">
              <a:buNone/>
            </a:pPr>
            <a:r>
              <a:rPr lang="en-US" sz="1000" b="1" dirty="0">
                <a:solidFill>
                  <a:srgbClr val="EA580C"/>
                </a:solidFill>
                <a:latin typeface="Calibri" pitchFamily="34" charset="0"/>
                <a:ea typeface="Calibri" pitchFamily="34" charset="-122"/>
                <a:cs typeface="Calibri" pitchFamily="34" charset="-120"/>
              </a:rPr>
              <a:t>13%</a:t>
            </a:r>
            <a:endParaRPr lang="en-US" sz="1000" dirty="0"/>
          </a:p>
        </p:txBody>
      </p:sp>
      <p:sp>
        <p:nvSpPr>
          <p:cNvPr id="42" name="Shape 40"/>
          <p:cNvSpPr/>
          <p:nvPr/>
        </p:nvSpPr>
        <p:spPr>
          <a:xfrm>
            <a:off x="320040" y="4590288"/>
            <a:ext cx="5669280" cy="466344"/>
          </a:xfrm>
          <a:prstGeom prst="roundRect">
            <a:avLst>
              <a:gd name="adj" fmla="val 7843"/>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43" name="Text 41"/>
          <p:cNvSpPr/>
          <p:nvPr/>
        </p:nvSpPr>
        <p:spPr>
          <a:xfrm>
            <a:off x="457200" y="4590288"/>
            <a:ext cx="2103120" cy="466344"/>
          </a:xfrm>
          <a:prstGeom prst="rect">
            <a:avLst/>
          </a:prstGeom>
          <a:noFill/>
          <a:ln/>
        </p:spPr>
        <p:txBody>
          <a:bodyPr wrap="square" rtlCol="0" anchor="ctr"/>
          <a:lstStyle/>
          <a:p>
            <a:pPr marL="0" indent="0">
              <a:buNone/>
            </a:pPr>
            <a:r>
              <a:rPr lang="en-US" sz="950" dirty="0">
                <a:solidFill>
                  <a:srgbClr val="334155"/>
                </a:solidFill>
                <a:latin typeface="Calibri" pitchFamily="34" charset="0"/>
                <a:ea typeface="Calibri" pitchFamily="34" charset="-122"/>
                <a:cs typeface="Calibri" pitchFamily="34" charset="-120"/>
              </a:rPr>
              <a:t>AMANDE DE CAJOU</a:t>
            </a:r>
            <a:endParaRPr lang="en-US" sz="950" dirty="0"/>
          </a:p>
        </p:txBody>
      </p:sp>
      <p:sp>
        <p:nvSpPr>
          <p:cNvPr id="44" name="Text 42"/>
          <p:cNvSpPr/>
          <p:nvPr/>
        </p:nvSpPr>
        <p:spPr>
          <a:xfrm>
            <a:off x="2606040" y="4590288"/>
            <a:ext cx="1280160" cy="466344"/>
          </a:xfrm>
          <a:prstGeom prst="rect">
            <a:avLst/>
          </a:prstGeom>
          <a:noFill/>
          <a:ln/>
        </p:spPr>
        <p:txBody>
          <a:bodyPr wrap="square" rtlCol="0" anchor="ctr"/>
          <a:lstStyle/>
          <a:p>
            <a:pPr marL="0" indent="0" algn="ctr">
              <a:buNone/>
            </a:pPr>
            <a:r>
              <a:rPr lang="en-US" sz="850" dirty="0">
                <a:solidFill>
                  <a:srgbClr val="64748B"/>
                </a:solidFill>
                <a:latin typeface="Calibri" pitchFamily="34" charset="0"/>
                <a:ea typeface="Calibri" pitchFamily="34" charset="-122"/>
                <a:cs typeface="Calibri" pitchFamily="34" charset="-120"/>
              </a:rPr>
              <a:t>Mkt: 2,744 TEU</a:t>
            </a:r>
            <a:endParaRPr lang="en-US" sz="850" dirty="0"/>
          </a:p>
        </p:txBody>
      </p:sp>
      <p:sp>
        <p:nvSpPr>
          <p:cNvPr id="45" name="Shape 43"/>
          <p:cNvSpPr/>
          <p:nvPr/>
        </p:nvSpPr>
        <p:spPr>
          <a:xfrm>
            <a:off x="3931920" y="4718304"/>
            <a:ext cx="1463040" cy="182880"/>
          </a:xfrm>
          <a:prstGeom prst="rect">
            <a:avLst/>
          </a:prstGeom>
          <a:solidFill>
            <a:srgbClr val="CBD5E1"/>
          </a:solidFill>
          <a:ln w="12700">
            <a:solidFill>
              <a:srgbClr val="CBD5E1"/>
            </a:solidFill>
            <a:prstDash val="solid"/>
          </a:ln>
        </p:spPr>
        <p:txBody>
          <a:bodyPr/>
          <a:lstStyle/>
          <a:p>
            <a:endParaRPr lang="en-US"/>
          </a:p>
        </p:txBody>
      </p:sp>
      <p:sp>
        <p:nvSpPr>
          <p:cNvPr id="46" name="Shape 44"/>
          <p:cNvSpPr/>
          <p:nvPr/>
        </p:nvSpPr>
        <p:spPr>
          <a:xfrm>
            <a:off x="3931920" y="4718304"/>
            <a:ext cx="99487" cy="182880"/>
          </a:xfrm>
          <a:prstGeom prst="rect">
            <a:avLst/>
          </a:prstGeom>
          <a:solidFill>
            <a:srgbClr val="0891B2"/>
          </a:solidFill>
          <a:ln w="12700">
            <a:solidFill>
              <a:srgbClr val="0891B2"/>
            </a:solidFill>
            <a:prstDash val="solid"/>
          </a:ln>
        </p:spPr>
        <p:txBody>
          <a:bodyPr/>
          <a:lstStyle/>
          <a:p>
            <a:endParaRPr lang="en-US"/>
          </a:p>
        </p:txBody>
      </p:sp>
      <p:sp>
        <p:nvSpPr>
          <p:cNvPr id="47" name="Text 45"/>
          <p:cNvSpPr/>
          <p:nvPr/>
        </p:nvSpPr>
        <p:spPr>
          <a:xfrm>
            <a:off x="5440680" y="4590288"/>
            <a:ext cx="502920" cy="466344"/>
          </a:xfrm>
          <a:prstGeom prst="rect">
            <a:avLst/>
          </a:prstGeom>
          <a:noFill/>
          <a:ln/>
        </p:spPr>
        <p:txBody>
          <a:bodyPr wrap="square" rtlCol="0" anchor="ctr"/>
          <a:lstStyle/>
          <a:p>
            <a:pPr marL="0" indent="0" algn="r">
              <a:buNone/>
            </a:pPr>
            <a:r>
              <a:rPr lang="en-US" sz="1000" b="1" dirty="0">
                <a:solidFill>
                  <a:srgbClr val="0891B2"/>
                </a:solidFill>
                <a:latin typeface="Calibri" pitchFamily="34" charset="0"/>
                <a:ea typeface="Calibri" pitchFamily="34" charset="-122"/>
                <a:cs typeface="Calibri" pitchFamily="34" charset="-120"/>
              </a:rPr>
              <a:t>7%</a:t>
            </a:r>
            <a:endParaRPr lang="en-US" sz="1000" dirty="0"/>
          </a:p>
        </p:txBody>
      </p:sp>
      <p:sp>
        <p:nvSpPr>
          <p:cNvPr id="48" name="Shape 46"/>
          <p:cNvSpPr/>
          <p:nvPr/>
        </p:nvSpPr>
        <p:spPr>
          <a:xfrm>
            <a:off x="320040" y="5111496"/>
            <a:ext cx="5669280" cy="466344"/>
          </a:xfrm>
          <a:prstGeom prst="roundRect">
            <a:avLst>
              <a:gd name="adj" fmla="val 7843"/>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49" name="Text 47"/>
          <p:cNvSpPr/>
          <p:nvPr/>
        </p:nvSpPr>
        <p:spPr>
          <a:xfrm>
            <a:off x="457200" y="5111496"/>
            <a:ext cx="2103120" cy="466344"/>
          </a:xfrm>
          <a:prstGeom prst="rect">
            <a:avLst/>
          </a:prstGeom>
          <a:noFill/>
          <a:ln/>
        </p:spPr>
        <p:txBody>
          <a:bodyPr wrap="square" rtlCol="0" anchor="ctr"/>
          <a:lstStyle/>
          <a:p>
            <a:pPr marL="0" indent="0">
              <a:buNone/>
            </a:pPr>
            <a:r>
              <a:rPr lang="en-US" sz="950" dirty="0">
                <a:solidFill>
                  <a:srgbClr val="334155"/>
                </a:solidFill>
                <a:latin typeface="Calibri" pitchFamily="34" charset="0"/>
                <a:ea typeface="Calibri" pitchFamily="34" charset="-122"/>
                <a:cs typeface="Calibri" pitchFamily="34" charset="-120"/>
              </a:rPr>
              <a:t>NOIX DE CAJOU</a:t>
            </a:r>
            <a:endParaRPr lang="en-US" sz="950" dirty="0"/>
          </a:p>
        </p:txBody>
      </p:sp>
      <p:sp>
        <p:nvSpPr>
          <p:cNvPr id="50" name="Text 48"/>
          <p:cNvSpPr/>
          <p:nvPr/>
        </p:nvSpPr>
        <p:spPr>
          <a:xfrm>
            <a:off x="2606040" y="5111496"/>
            <a:ext cx="1280160" cy="466344"/>
          </a:xfrm>
          <a:prstGeom prst="rect">
            <a:avLst/>
          </a:prstGeom>
          <a:noFill/>
          <a:ln/>
        </p:spPr>
        <p:txBody>
          <a:bodyPr wrap="square" rtlCol="0" anchor="ctr"/>
          <a:lstStyle/>
          <a:p>
            <a:pPr marL="0" indent="0" algn="ctr">
              <a:buNone/>
            </a:pPr>
            <a:r>
              <a:rPr lang="en-US" sz="850" dirty="0">
                <a:solidFill>
                  <a:srgbClr val="64748B"/>
                </a:solidFill>
                <a:latin typeface="Calibri" pitchFamily="34" charset="0"/>
                <a:ea typeface="Calibri" pitchFamily="34" charset="-122"/>
                <a:cs typeface="Calibri" pitchFamily="34" charset="-120"/>
              </a:rPr>
              <a:t>Mkt: 13,129 TEU</a:t>
            </a:r>
            <a:endParaRPr lang="en-US" sz="850" dirty="0"/>
          </a:p>
        </p:txBody>
      </p:sp>
      <p:sp>
        <p:nvSpPr>
          <p:cNvPr id="51" name="Shape 49"/>
          <p:cNvSpPr/>
          <p:nvPr/>
        </p:nvSpPr>
        <p:spPr>
          <a:xfrm>
            <a:off x="3931920" y="5239512"/>
            <a:ext cx="1463040" cy="182880"/>
          </a:xfrm>
          <a:prstGeom prst="rect">
            <a:avLst/>
          </a:prstGeom>
          <a:solidFill>
            <a:srgbClr val="CBD5E1"/>
          </a:solidFill>
          <a:ln w="12700">
            <a:solidFill>
              <a:srgbClr val="CBD5E1"/>
            </a:solidFill>
            <a:prstDash val="solid"/>
          </a:ln>
        </p:spPr>
        <p:txBody>
          <a:bodyPr/>
          <a:lstStyle/>
          <a:p>
            <a:endParaRPr lang="en-US"/>
          </a:p>
        </p:txBody>
      </p:sp>
      <p:sp>
        <p:nvSpPr>
          <p:cNvPr id="52" name="Shape 50"/>
          <p:cNvSpPr/>
          <p:nvPr/>
        </p:nvSpPr>
        <p:spPr>
          <a:xfrm>
            <a:off x="3931920" y="5239512"/>
            <a:ext cx="79004" cy="182880"/>
          </a:xfrm>
          <a:prstGeom prst="rect">
            <a:avLst/>
          </a:prstGeom>
          <a:solidFill>
            <a:srgbClr val="DC2626"/>
          </a:solidFill>
          <a:ln w="12700">
            <a:solidFill>
              <a:srgbClr val="DC2626"/>
            </a:solidFill>
            <a:prstDash val="solid"/>
          </a:ln>
        </p:spPr>
        <p:txBody>
          <a:bodyPr/>
          <a:lstStyle/>
          <a:p>
            <a:endParaRPr lang="en-US"/>
          </a:p>
        </p:txBody>
      </p:sp>
      <p:sp>
        <p:nvSpPr>
          <p:cNvPr id="53" name="Text 51"/>
          <p:cNvSpPr/>
          <p:nvPr/>
        </p:nvSpPr>
        <p:spPr>
          <a:xfrm>
            <a:off x="5440680" y="5111496"/>
            <a:ext cx="502920" cy="466344"/>
          </a:xfrm>
          <a:prstGeom prst="rect">
            <a:avLst/>
          </a:prstGeom>
          <a:noFill/>
          <a:ln/>
        </p:spPr>
        <p:txBody>
          <a:bodyPr wrap="square" rtlCol="0" anchor="ctr"/>
          <a:lstStyle/>
          <a:p>
            <a:pPr marL="0" indent="0" algn="r">
              <a:buNone/>
            </a:pPr>
            <a:r>
              <a:rPr lang="en-US" sz="1000" b="1" dirty="0">
                <a:solidFill>
                  <a:srgbClr val="DC2626"/>
                </a:solidFill>
                <a:latin typeface="Calibri" pitchFamily="34" charset="0"/>
                <a:ea typeface="Calibri" pitchFamily="34" charset="-122"/>
                <a:cs typeface="Calibri" pitchFamily="34" charset="-120"/>
              </a:rPr>
              <a:t>5%</a:t>
            </a:r>
            <a:endParaRPr lang="en-US" sz="1000" dirty="0"/>
          </a:p>
        </p:txBody>
      </p:sp>
      <p:sp>
        <p:nvSpPr>
          <p:cNvPr id="54" name="Text 52"/>
          <p:cNvSpPr/>
          <p:nvPr/>
        </p:nvSpPr>
        <p:spPr>
          <a:xfrm>
            <a:off x="6126480" y="1143000"/>
            <a:ext cx="5669280" cy="274320"/>
          </a:xfrm>
          <a:prstGeom prst="rect">
            <a:avLst/>
          </a:prstGeom>
          <a:noFill/>
          <a:ln/>
        </p:spPr>
        <p:txBody>
          <a:bodyPr wrap="square" rtlCol="0" anchor="ctr"/>
          <a:lstStyle/>
          <a:p>
            <a:pPr marL="0" indent="0">
              <a:buNone/>
            </a:pPr>
            <a:r>
              <a:rPr lang="en-US" sz="1200" b="1" dirty="0">
                <a:solidFill>
                  <a:srgbClr val="0A2240"/>
                </a:solidFill>
                <a:latin typeface="Calibri" pitchFamily="34" charset="0"/>
                <a:ea typeface="Calibri" pitchFamily="34" charset="-122"/>
                <a:cs typeface="Calibri" pitchFamily="34" charset="-120"/>
              </a:rPr>
              <a:t>Classement concurrentiel – TEM</a:t>
            </a:r>
            <a:endParaRPr lang="en-US" sz="12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6126480" y="1463040"/>
          <a:ext cx="5669280" cy="3721608"/>
        </p:xfrm>
        <a:graphic>
          <a:graphicData uri="http://schemas.openxmlformats.org/drawingml/2006/table">
            <a:tbl>
              <a:tblPr/>
              <a:tblGrid>
                <a:gridCol w="50292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338328">
                <a:tc>
                  <a:txBody>
                    <a:bodyPr/>
                    <a:lstStyle/>
                    <a:p>
                      <a:pPr marL="0" indent="0">
                        <a:buNone/>
                      </a:pPr>
                      <a:r>
                        <a:rPr lang="en-US" sz="1000" b="1" dirty="0">
                          <a:solidFill>
                            <a:srgbClr val="FFFFFF"/>
                          </a:solidFill>
                        </a:rPr>
                        <a:t>Rang</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buNone/>
                      </a:pPr>
                      <a:r>
                        <a:rPr lang="en-US" sz="1000" b="1" dirty="0">
                          <a:solidFill>
                            <a:srgbClr val="FFFFFF"/>
                          </a:solidFill>
                        </a:rPr>
                        <a:t>Transitaire</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lgn="ctr">
                        <a:buNone/>
                      </a:pPr>
                      <a:r>
                        <a:rPr lang="en-US" sz="1000" b="1" dirty="0">
                          <a:solidFill>
                            <a:srgbClr val="FFFFFF"/>
                          </a:solidFill>
                        </a:rPr>
                        <a:t>TEU</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lgn="ctr">
                        <a:buNone/>
                      </a:pPr>
                      <a:r>
                        <a:rPr lang="en-US" sz="1000" b="1" dirty="0">
                          <a:solidFill>
                            <a:srgbClr val="FFFFFF"/>
                          </a:solidFill>
                        </a:rPr>
                        <a:t>PDM</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extLst>
                  <a:ext uri="{0D108BD9-81ED-4DB2-BD59-A6C34878D82A}">
                    <a16:rowId xmlns:a16="http://schemas.microsoft.com/office/drawing/2014/main" val="10000"/>
                  </a:ext>
                </a:extLst>
              </a:tr>
              <a:tr h="338328">
                <a:tc>
                  <a:txBody>
                    <a:bodyPr/>
                    <a:lstStyle/>
                    <a:p>
                      <a:pPr marL="0" indent="0" algn="ctr">
                        <a:buNone/>
                      </a:pPr>
                      <a:r>
                        <a:rPr lang="en-US" sz="950" b="1" dirty="0">
                          <a:solidFill>
                            <a:srgbClr val="FFFFFF"/>
                          </a:solidFill>
                        </a:rPr>
                        <a:t>#1</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C8A951"/>
                    </a:solidFill>
                  </a:tcPr>
                </a:tc>
                <a:tc>
                  <a:txBody>
                    <a:bodyPr/>
                    <a:lstStyle/>
                    <a:p>
                      <a:pPr marL="0" indent="0">
                        <a:buNone/>
                      </a:pPr>
                      <a:r>
                        <a:rPr lang="en-US" sz="950" b="1" dirty="0">
                          <a:solidFill>
                            <a:srgbClr val="0A2240"/>
                          </a:solidFill>
                        </a:rPr>
                        <a:t>AFRICA GLOBAL LOGISTICS</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9E6"/>
                    </a:solidFill>
                  </a:tcPr>
                </a:tc>
                <a:tc>
                  <a:txBody>
                    <a:bodyPr/>
                    <a:lstStyle/>
                    <a:p>
                      <a:pPr marL="0" indent="0" algn="ctr">
                        <a:buNone/>
                      </a:pPr>
                      <a:r>
                        <a:rPr lang="en-US" sz="950" b="1" dirty="0">
                          <a:solidFill>
                            <a:srgbClr val="0A2240"/>
                          </a:solidFill>
                        </a:rPr>
                        <a:t>35 972</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9E6"/>
                    </a:solidFill>
                  </a:tcPr>
                </a:tc>
                <a:tc>
                  <a:txBody>
                    <a:bodyPr/>
                    <a:lstStyle/>
                    <a:p>
                      <a:pPr marL="0" indent="0" algn="ctr">
                        <a:buNone/>
                      </a:pPr>
                      <a:r>
                        <a:rPr lang="en-US" sz="950" b="1" dirty="0">
                          <a:solidFill>
                            <a:srgbClr val="16A34A"/>
                          </a:solidFill>
                        </a:rPr>
                        <a:t>26,2 %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9E6"/>
                    </a:solidFill>
                  </a:tcPr>
                </a:tc>
                <a:extLst>
                  <a:ext uri="{0D108BD9-81ED-4DB2-BD59-A6C34878D82A}">
                    <a16:rowId xmlns:a16="http://schemas.microsoft.com/office/drawing/2014/main" val="10001"/>
                  </a:ext>
                </a:extLst>
              </a:tr>
              <a:tr h="338328">
                <a:tc>
                  <a:txBody>
                    <a:bodyPr/>
                    <a:lstStyle/>
                    <a:p>
                      <a:pPr marL="0" indent="0" algn="ctr">
                        <a:buNone/>
                      </a:pPr>
                      <a:r>
                        <a:rPr lang="en-US" sz="950" dirty="0">
                          <a:solidFill>
                            <a:srgbClr val="334155"/>
                          </a:solidFill>
                        </a:rPr>
                        <a:t>#2</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334155"/>
                          </a:solidFill>
                        </a:rPr>
                        <a:t>MAERSK LOGISTIC</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7 730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5,6 %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38328">
                <a:tc>
                  <a:txBody>
                    <a:bodyPr/>
                    <a:lstStyle/>
                    <a:p>
                      <a:pPr marL="0" indent="0" algn="ctr">
                        <a:buNone/>
                      </a:pPr>
                      <a:r>
                        <a:rPr lang="en-US" sz="950" dirty="0">
                          <a:solidFill>
                            <a:srgbClr val="334155"/>
                          </a:solidFill>
                        </a:rPr>
                        <a:t>#3</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334155"/>
                          </a:solidFill>
                        </a:rPr>
                        <a:t>MANTRA IVOIRE</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7 671</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5,6 %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8328">
                <a:tc>
                  <a:txBody>
                    <a:bodyPr/>
                    <a:lstStyle/>
                    <a:p>
                      <a:pPr marL="0" indent="0" algn="ctr">
                        <a:buNone/>
                      </a:pPr>
                      <a:r>
                        <a:rPr lang="en-US" sz="950" dirty="0">
                          <a:solidFill>
                            <a:srgbClr val="334155"/>
                          </a:solidFill>
                        </a:rPr>
                        <a:t>#4</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334155"/>
                          </a:solidFill>
                        </a:rPr>
                        <a:t>GLOBAL MANUTENTION CI</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5 893</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4,3 %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38328">
                <a:tc>
                  <a:txBody>
                    <a:bodyPr/>
                    <a:lstStyle/>
                    <a:p>
                      <a:pPr marL="0" indent="0" algn="ctr">
                        <a:buNone/>
                      </a:pPr>
                      <a:r>
                        <a:rPr lang="en-US" sz="950" dirty="0">
                          <a:solidFill>
                            <a:srgbClr val="334155"/>
                          </a:solidFill>
                        </a:rPr>
                        <a:t>#5</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334155"/>
                          </a:solidFill>
                        </a:rPr>
                        <a:t>OTL</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5 760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4,2 %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38328">
                <a:tc>
                  <a:txBody>
                    <a:bodyPr/>
                    <a:lstStyle/>
                    <a:p>
                      <a:pPr marL="0" indent="0" algn="ctr">
                        <a:buNone/>
                      </a:pPr>
                      <a:r>
                        <a:rPr lang="en-US" sz="950" dirty="0">
                          <a:solidFill>
                            <a:srgbClr val="334155"/>
                          </a:solidFill>
                        </a:rPr>
                        <a:t>#6</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334155"/>
                          </a:solidFill>
                        </a:rPr>
                        <a:t>MEDLOG CI</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4 921</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3,6 %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38328">
                <a:tc>
                  <a:txBody>
                    <a:bodyPr/>
                    <a:lstStyle/>
                    <a:p>
                      <a:pPr marL="0" indent="0" algn="ctr">
                        <a:buNone/>
                      </a:pPr>
                      <a:r>
                        <a:rPr lang="en-US" sz="950" dirty="0">
                          <a:solidFill>
                            <a:srgbClr val="334155"/>
                          </a:solidFill>
                        </a:rPr>
                        <a:t>#7</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334155"/>
                          </a:solidFill>
                        </a:rPr>
                        <a:t>SDMA</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4 902</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3,6 %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38328">
                <a:tc>
                  <a:txBody>
                    <a:bodyPr/>
                    <a:lstStyle/>
                    <a:p>
                      <a:pPr marL="0" indent="0" algn="ctr">
                        <a:buNone/>
                      </a:pPr>
                      <a:r>
                        <a:rPr lang="en-US" sz="950" dirty="0">
                          <a:solidFill>
                            <a:srgbClr val="334155"/>
                          </a:solidFill>
                        </a:rPr>
                        <a:t>#8</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334155"/>
                          </a:solidFill>
                        </a:rPr>
                        <a:t>PACKING SERVICE INTL</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4 411</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3,2 %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38328">
                <a:tc>
                  <a:txBody>
                    <a:bodyPr/>
                    <a:lstStyle/>
                    <a:p>
                      <a:pPr marL="0" indent="0" algn="ctr">
                        <a:buNone/>
                      </a:pPr>
                      <a:r>
                        <a:rPr lang="en-US" sz="950" dirty="0">
                          <a:solidFill>
                            <a:srgbClr val="334155"/>
                          </a:solidFill>
                        </a:rPr>
                        <a:t>#9</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334155"/>
                          </a:solidFill>
                        </a:rPr>
                        <a:t>MOVIS TRANSIT CI</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4 067</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3,0 %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38328">
                <a:tc>
                  <a:txBody>
                    <a:bodyPr/>
                    <a:lstStyle/>
                    <a:p>
                      <a:pPr marL="0" indent="0" algn="ctr">
                        <a:buNone/>
                      </a:pPr>
                      <a:r>
                        <a:rPr lang="en-US" sz="950" dirty="0">
                          <a:solidFill>
                            <a:srgbClr val="334155"/>
                          </a:solidFill>
                        </a:rPr>
                        <a:t>#10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334155"/>
                          </a:solidFill>
                        </a:rPr>
                        <a:t>GTS CI</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4 010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2,9 %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
        <p:nvSpPr>
          <p:cNvPr id="56" name="Shape 53"/>
          <p:cNvSpPr/>
          <p:nvPr/>
        </p:nvSpPr>
        <p:spPr>
          <a:xfrm>
            <a:off x="320040" y="5861304"/>
            <a:ext cx="11521440" cy="548639"/>
          </a:xfrm>
          <a:prstGeom prst="roundRect">
            <a:avLst>
              <a:gd name="adj" fmla="val 9524"/>
            </a:avLst>
          </a:prstGeom>
          <a:solidFill>
            <a:srgbClr val="FFF9E6"/>
          </a:solidFill>
          <a:ln/>
        </p:spPr>
        <p:txBody>
          <a:bodyPr/>
          <a:lstStyle/>
          <a:p>
            <a:endParaRPr lang="en-US"/>
          </a:p>
        </p:txBody>
      </p:sp>
      <p:sp>
        <p:nvSpPr>
          <p:cNvPr id="57" name="Text 54"/>
          <p:cNvSpPr/>
          <p:nvPr/>
        </p:nvSpPr>
        <p:spPr>
          <a:xfrm>
            <a:off x="502920" y="5733288"/>
            <a:ext cx="11155680" cy="804672"/>
          </a:xfrm>
          <a:prstGeom prst="rect">
            <a:avLst/>
          </a:prstGeom>
          <a:noFill/>
          <a:ln/>
        </p:spPr>
        <p:txBody>
          <a:bodyPr wrap="square" rtlCol="0" anchor="ctr"/>
          <a:lstStyle/>
          <a:p>
            <a:pPr marL="0" indent="0">
              <a:buNone/>
            </a:pPr>
            <a:r>
              <a:rPr lang="en-US" sz="1000" b="1" dirty="0">
                <a:solidFill>
                  <a:srgbClr val="16A34A"/>
                </a:solidFill>
                <a:latin typeface="Calibri" pitchFamily="34" charset="0"/>
                <a:ea typeface="Calibri" pitchFamily="34" charset="-122"/>
                <a:cs typeface="Calibri" pitchFamily="34" charset="-120"/>
              </a:rPr>
              <a:t>🏆 POSITION TEM : </a:t>
            </a:r>
            <a:r>
              <a:rPr lang="en-US" sz="1000" dirty="0">
                <a:solidFill>
                  <a:srgbClr val="0A2240"/>
                </a:solidFill>
                <a:latin typeface="Calibri" pitchFamily="34" charset="0"/>
                <a:ea typeface="Calibri" pitchFamily="34" charset="-122"/>
                <a:cs typeface="Calibri" pitchFamily="34" charset="-120"/>
              </a:rPr>
              <a:t>AGL détient 26,2% du marché qualifié – soit 4,7x le 2ème acteur. Positions fortes : Bananes (74% PDM), Dérivés cacao (48,8%), Cacao (32,3%). </a:t>
            </a:r>
            <a:r>
              <a:rPr lang="en-US" sz="1000" b="1" dirty="0">
                <a:solidFill>
                  <a:srgbClr val="EA580C"/>
                </a:solidFill>
                <a:latin typeface="Calibri" pitchFamily="34" charset="0"/>
                <a:ea typeface="Calibri" pitchFamily="34" charset="-122"/>
                <a:cs typeface="Calibri" pitchFamily="34" charset="-120"/>
              </a:rPr>
              <a:t>Levier prioritaire : Noix de Cajou (13 129 TEU marché, seulement 5,4% PDM AGL) = +860 TEU si PDM portée à 12%.</a:t>
            </a:r>
            <a:endParaRPr lang="en-US" sz="1000" dirty="0"/>
          </a:p>
        </p:txBody>
      </p:sp>
      <p:sp>
        <p:nvSpPr>
          <p:cNvPr id="58" name="Shape 55"/>
          <p:cNvSpPr/>
          <p:nvPr/>
        </p:nvSpPr>
        <p:spPr>
          <a:xfrm>
            <a:off x="365760" y="6565392"/>
            <a:ext cx="11430000" cy="0"/>
          </a:xfrm>
          <a:prstGeom prst="line">
            <a:avLst/>
          </a:prstGeom>
          <a:noFill/>
          <a:ln w="6350">
            <a:solidFill>
              <a:srgbClr val="CBD5E1"/>
            </a:solidFill>
            <a:prstDash val="solid"/>
          </a:ln>
        </p:spPr>
        <p:txBody>
          <a:bodyPr/>
          <a:lstStyle/>
          <a:p>
            <a:endParaRPr lang="en-US"/>
          </a:p>
        </p:txBody>
      </p:sp>
      <p:sp>
        <p:nvSpPr>
          <p:cNvPr id="59" name="Text 56"/>
          <p:cNvSpPr/>
          <p:nvPr/>
        </p:nvSpPr>
        <p:spPr>
          <a:xfrm>
            <a:off x="365760" y="6601968"/>
            <a:ext cx="11430000" cy="201168"/>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Africa Global Logistics – Étude de Marché Jan–Mai 2026  |  p.9</a:t>
            </a:r>
            <a:endParaRPr lang="en-US" sz="850" dirty="0"/>
          </a:p>
        </p:txBody>
      </p:sp>
      <p:pic>
        <p:nvPicPr>
          <p:cNvPr id="61" name="Image 60" descr="Une image contenant texte, Police, Graphique, logo  Description générée automatiquement">
            <a:extLst>
              <a:ext uri="{FF2B5EF4-FFF2-40B4-BE49-F238E27FC236}">
                <a16:creationId xmlns:a16="http://schemas.microsoft.com/office/drawing/2014/main" id="{1738DC30-403B-89FE-2849-E1A61052A9A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1488450" y="6549898"/>
            <a:ext cx="450027" cy="29240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0A2240"/>
          </a:solidFill>
          <a:ln w="12700">
            <a:solidFill>
              <a:srgbClr val="0A2240"/>
            </a:solidFill>
            <a:prstDash val="solid"/>
          </a:ln>
        </p:spPr>
        <p:txBody>
          <a:bodyPr/>
          <a:lstStyle/>
          <a:p>
            <a:endParaRPr lang="en-US"/>
          </a:p>
        </p:txBody>
      </p:sp>
      <p:sp>
        <p:nvSpPr>
          <p:cNvPr id="3" name="Text 1"/>
          <p:cNvSpPr/>
          <p:nvPr/>
        </p:nvSpPr>
        <p:spPr>
          <a:xfrm>
            <a:off x="365760" y="54864"/>
            <a:ext cx="11430000" cy="65836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TEM – CLIENTÈLE CHARGEURS AGL</a:t>
            </a:r>
            <a:endParaRPr lang="en-US" sz="2400" dirty="0"/>
          </a:p>
        </p:txBody>
      </p:sp>
      <p:sp>
        <p:nvSpPr>
          <p:cNvPr id="4" name="Text 2"/>
          <p:cNvSpPr/>
          <p:nvPr/>
        </p:nvSpPr>
        <p:spPr>
          <a:xfrm>
            <a:off x="365760" y="676656"/>
            <a:ext cx="11430000" cy="329184"/>
          </a:xfrm>
          <a:prstGeom prst="rect">
            <a:avLst/>
          </a:prstGeom>
          <a:noFill/>
          <a:ln/>
        </p:spPr>
        <p:txBody>
          <a:bodyPr wrap="square" rtlCol="0" anchor="ctr"/>
          <a:lstStyle/>
          <a:p>
            <a:pPr marL="0" indent="0">
              <a:buNone/>
            </a:pPr>
            <a:r>
              <a:rPr lang="en-US" sz="1200" i="1" dirty="0">
                <a:solidFill>
                  <a:srgbClr val="C8A951"/>
                </a:solidFill>
                <a:latin typeface="Calibri" pitchFamily="34" charset="0"/>
                <a:ea typeface="Calibri" pitchFamily="34" charset="-122"/>
                <a:cs typeface="Calibri" pitchFamily="34" charset="-120"/>
              </a:rPr>
              <a:t>Top 10 chargeurs  |  Répartition filières  |  Risques &amp; opportunités</a:t>
            </a:r>
            <a:endParaRPr lang="en-US" sz="1200" dirty="0"/>
          </a:p>
        </p:txBody>
      </p:sp>
      <p:sp>
        <p:nvSpPr>
          <p:cNvPr id="5" name="Text 3"/>
          <p:cNvSpPr/>
          <p:nvPr/>
        </p:nvSpPr>
        <p:spPr>
          <a:xfrm>
            <a:off x="320040" y="1143000"/>
            <a:ext cx="5852160" cy="274320"/>
          </a:xfrm>
          <a:prstGeom prst="rect">
            <a:avLst/>
          </a:prstGeom>
          <a:noFill/>
          <a:ln/>
        </p:spPr>
        <p:txBody>
          <a:bodyPr wrap="square" rtlCol="0" anchor="ctr"/>
          <a:lstStyle/>
          <a:p>
            <a:pPr marL="0" indent="0">
              <a:buNone/>
            </a:pPr>
            <a:r>
              <a:rPr lang="en-US" sz="1200" b="1" dirty="0">
                <a:solidFill>
                  <a:srgbClr val="0A2240"/>
                </a:solidFill>
                <a:latin typeface="Calibri" pitchFamily="34" charset="0"/>
                <a:ea typeface="Calibri" pitchFamily="34" charset="-122"/>
                <a:cs typeface="Calibri" pitchFamily="34" charset="-120"/>
              </a:rPr>
              <a:t>Top 10 chargeurs AGL – TEM (TEU)</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20040" y="1463040"/>
          <a:ext cx="5943600" cy="3779520"/>
        </p:xfrm>
        <a:graphic>
          <a:graphicData uri="http://schemas.openxmlformats.org/drawingml/2006/table">
            <a:tbl>
              <a:tblPr/>
              <a:tblGrid>
                <a:gridCol w="28346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50876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tblGrid>
              <a:tr h="338328">
                <a:tc>
                  <a:txBody>
                    <a:bodyPr/>
                    <a:lstStyle/>
                    <a:p>
                      <a:pPr marL="0" indent="0">
                        <a:buNone/>
                      </a:pPr>
                      <a:r>
                        <a:rPr lang="en-US" sz="1000" b="1" dirty="0">
                          <a:solidFill>
                            <a:srgbClr val="FFFFFF"/>
                          </a:solidFill>
                        </a:rPr>
                        <a:t>Chargeur</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lgn="ctr">
                        <a:buNone/>
                      </a:pPr>
                      <a:r>
                        <a:rPr lang="en-US" sz="1000" b="1" dirty="0">
                          <a:solidFill>
                            <a:srgbClr val="FFFFFF"/>
                          </a:solidFill>
                        </a:rPr>
                        <a:t>TEU</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buNone/>
                      </a:pPr>
                      <a:r>
                        <a:rPr lang="en-US" sz="1000" b="1" dirty="0">
                          <a:solidFill>
                            <a:srgbClr val="FFFFFF"/>
                          </a:solidFill>
                        </a:rPr>
                        <a:t>Filière</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lgn="ctr">
                        <a:buNone/>
                      </a:pPr>
                      <a:r>
                        <a:rPr lang="en-US" sz="1000" b="1" dirty="0">
                          <a:solidFill>
                            <a:srgbClr val="FFFFFF"/>
                          </a:solidFill>
                        </a:rPr>
                        <a:t>% Vol. AGL</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extLst>
                  <a:ext uri="{0D108BD9-81ED-4DB2-BD59-A6C34878D82A}">
                    <a16:rowId xmlns:a16="http://schemas.microsoft.com/office/drawing/2014/main" val="10000"/>
                  </a:ext>
                </a:extLst>
              </a:tr>
              <a:tr h="338328">
                <a:tc>
                  <a:txBody>
                    <a:bodyPr/>
                    <a:lstStyle/>
                    <a:p>
                      <a:pPr marL="0" indent="0">
                        <a:buNone/>
                      </a:pPr>
                      <a:r>
                        <a:rPr lang="en-US" sz="950" dirty="0">
                          <a:solidFill>
                            <a:srgbClr val="334155"/>
                          </a:solidFill>
                        </a:rPr>
                        <a:t>CARGILL WEST AFRICA (CACAO)</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9E6"/>
                    </a:solidFill>
                  </a:tcPr>
                </a:tc>
                <a:tc>
                  <a:txBody>
                    <a:bodyPr/>
                    <a:lstStyle/>
                    <a:p>
                      <a:pPr marL="0" indent="0" algn="ctr">
                        <a:buNone/>
                      </a:pPr>
                      <a:r>
                        <a:rPr lang="en-US" sz="950" b="1" dirty="0">
                          <a:solidFill>
                            <a:srgbClr val="0A2240"/>
                          </a:solidFill>
                        </a:rPr>
                        <a:t>3 219</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9E6"/>
                    </a:solidFill>
                  </a:tcPr>
                </a:tc>
                <a:tc>
                  <a:txBody>
                    <a:bodyPr/>
                    <a:lstStyle/>
                    <a:p>
                      <a:pPr marL="0" indent="0">
                        <a:buNone/>
                      </a:pPr>
                      <a:r>
                        <a:rPr lang="en-US" sz="900" i="1" dirty="0">
                          <a:solidFill>
                            <a:srgbClr val="64748B"/>
                          </a:solidFill>
                        </a:rPr>
                        <a:t>Cacao</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9E6"/>
                    </a:solidFill>
                  </a:tcPr>
                </a:tc>
                <a:tc>
                  <a:txBody>
                    <a:bodyPr/>
                    <a:lstStyle/>
                    <a:p>
                      <a:pPr marL="0" indent="0" algn="ctr">
                        <a:buNone/>
                      </a:pPr>
                      <a:r>
                        <a:rPr lang="en-US" sz="950" dirty="0">
                          <a:solidFill>
                            <a:srgbClr val="EA580C"/>
                          </a:solidFill>
                        </a:rPr>
                        <a:t>9,0%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9E6"/>
                    </a:solidFill>
                  </a:tcPr>
                </a:tc>
                <a:extLst>
                  <a:ext uri="{0D108BD9-81ED-4DB2-BD59-A6C34878D82A}">
                    <a16:rowId xmlns:a16="http://schemas.microsoft.com/office/drawing/2014/main" val="10001"/>
                  </a:ext>
                </a:extLst>
              </a:tr>
              <a:tr h="338328">
                <a:tc>
                  <a:txBody>
                    <a:bodyPr/>
                    <a:lstStyle/>
                    <a:p>
                      <a:pPr marL="0" indent="0">
                        <a:buNone/>
                      </a:pPr>
                      <a:r>
                        <a:rPr lang="en-US" sz="950" dirty="0">
                          <a:solidFill>
                            <a:srgbClr val="334155"/>
                          </a:solidFill>
                        </a:rPr>
                        <a:t>JEAN EGLIN (PLANTATION)</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2 500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00" i="1" dirty="0">
                          <a:solidFill>
                            <a:srgbClr val="64748B"/>
                          </a:solidFill>
                        </a:rPr>
                        <a:t>Bananes</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64748B"/>
                          </a:solidFill>
                        </a:rPr>
                        <a:t>6,9%</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38328">
                <a:tc>
                  <a:txBody>
                    <a:bodyPr/>
                    <a:lstStyle/>
                    <a:p>
                      <a:pPr marL="0" indent="0">
                        <a:buNone/>
                      </a:pPr>
                      <a:r>
                        <a:rPr lang="en-US" sz="950" dirty="0">
                          <a:solidFill>
                            <a:srgbClr val="334155"/>
                          </a:solidFill>
                        </a:rPr>
                        <a:t>AFRICA SOURCING PRODUCE CI</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2 425</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00" i="1" dirty="0">
                          <a:solidFill>
                            <a:srgbClr val="64748B"/>
                          </a:solidFill>
                        </a:rPr>
                        <a:t>Bananes</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64748B"/>
                          </a:solidFill>
                        </a:rPr>
                        <a:t>6,7%</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8328">
                <a:tc>
                  <a:txBody>
                    <a:bodyPr/>
                    <a:lstStyle/>
                    <a:p>
                      <a:pPr marL="0" indent="0">
                        <a:buNone/>
                      </a:pPr>
                      <a:r>
                        <a:rPr lang="en-US" sz="950" dirty="0">
                          <a:solidFill>
                            <a:srgbClr val="334155"/>
                          </a:solidFill>
                        </a:rPr>
                        <a:t>CARGILL COCOA SA (DÉRIVÉS)</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2 264</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00" i="1" dirty="0">
                          <a:solidFill>
                            <a:srgbClr val="64748B"/>
                          </a:solidFill>
                        </a:rPr>
                        <a:t>Dérivés cacao</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64748B"/>
                          </a:solidFill>
                        </a:rPr>
                        <a:t>6,3%</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38328">
                <a:tc>
                  <a:txBody>
                    <a:bodyPr/>
                    <a:lstStyle/>
                    <a:p>
                      <a:pPr marL="0" indent="0">
                        <a:buNone/>
                      </a:pPr>
                      <a:r>
                        <a:rPr lang="en-US" sz="950" dirty="0">
                          <a:solidFill>
                            <a:srgbClr val="334155"/>
                          </a:solidFill>
                        </a:rPr>
                        <a:t>CYRIAN INTERNATIONAL CI</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2 191</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00" i="1" dirty="0">
                          <a:solidFill>
                            <a:srgbClr val="64748B"/>
                          </a:solidFill>
                        </a:rPr>
                        <a:t>Bananes</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64748B"/>
                          </a:solidFill>
                        </a:rPr>
                        <a:t>6,1%</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38328">
                <a:tc>
                  <a:txBody>
                    <a:bodyPr/>
                    <a:lstStyle/>
                    <a:p>
                      <a:pPr marL="0" indent="0">
                        <a:buNone/>
                      </a:pPr>
                      <a:r>
                        <a:rPr lang="en-US" sz="950" dirty="0">
                          <a:solidFill>
                            <a:srgbClr val="334155"/>
                          </a:solidFill>
                        </a:rPr>
                        <a:t>OLAM COCOA PROCESSING</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2 068</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00" i="1" dirty="0">
                          <a:solidFill>
                            <a:srgbClr val="64748B"/>
                          </a:solidFill>
                        </a:rPr>
                        <a:t>Cacao</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64748B"/>
                          </a:solidFill>
                        </a:rPr>
                        <a:t>5,7%</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38328">
                <a:tc>
                  <a:txBody>
                    <a:bodyPr/>
                    <a:lstStyle/>
                    <a:p>
                      <a:pPr marL="0" indent="0">
                        <a:buNone/>
                      </a:pPr>
                      <a:r>
                        <a:rPr lang="en-US" sz="950" dirty="0">
                          <a:solidFill>
                            <a:srgbClr val="334155"/>
                          </a:solidFill>
                        </a:rPr>
                        <a:t>KINEDEN COMMODITIES SA CI</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1 256</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00" i="1" dirty="0">
                          <a:solidFill>
                            <a:srgbClr val="64748B"/>
                          </a:solidFill>
                        </a:rPr>
                        <a:t>Cacao</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64748B"/>
                          </a:solidFill>
                        </a:rPr>
                        <a:t>3,5%</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38328">
                <a:tc>
                  <a:txBody>
                    <a:bodyPr/>
                    <a:lstStyle/>
                    <a:p>
                      <a:pPr marL="0" indent="0">
                        <a:buNone/>
                      </a:pPr>
                      <a:r>
                        <a:rPr lang="en-US" sz="950" dirty="0">
                          <a:solidFill>
                            <a:srgbClr val="334155"/>
                          </a:solidFill>
                        </a:rPr>
                        <a:t>OLAM AGRI RUBBER</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1 203</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00" i="1" dirty="0">
                          <a:solidFill>
                            <a:srgbClr val="64748B"/>
                          </a:solidFill>
                        </a:rPr>
                        <a:t>Caoutchouc</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64748B"/>
                          </a:solidFill>
                        </a:rPr>
                        <a:t>3,3%</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38328">
                <a:tc>
                  <a:txBody>
                    <a:bodyPr/>
                    <a:lstStyle/>
                    <a:p>
                      <a:pPr marL="0" indent="0">
                        <a:buNone/>
                      </a:pPr>
                      <a:r>
                        <a:rPr lang="en-US" sz="950" dirty="0">
                          <a:solidFill>
                            <a:srgbClr val="334155"/>
                          </a:solidFill>
                        </a:rPr>
                        <a:t>SAPH</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1 155</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00" i="1" dirty="0">
                          <a:solidFill>
                            <a:srgbClr val="64748B"/>
                          </a:solidFill>
                        </a:rPr>
                        <a:t>Caoutchouc</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64748B"/>
                          </a:solidFill>
                        </a:rPr>
                        <a:t>3,2%</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38328">
                <a:tc>
                  <a:txBody>
                    <a:bodyPr/>
                    <a:lstStyle/>
                    <a:p>
                      <a:pPr marL="0" indent="0">
                        <a:buNone/>
                      </a:pPr>
                      <a:r>
                        <a:rPr lang="en-US" sz="950" dirty="0">
                          <a:solidFill>
                            <a:srgbClr val="334155"/>
                          </a:solidFill>
                        </a:rPr>
                        <a:t>IVOIRE COTON</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1 092</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00" i="1" dirty="0">
                          <a:solidFill>
                            <a:srgbClr val="64748B"/>
                          </a:solidFill>
                        </a:rPr>
                        <a:t>Coton</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64748B"/>
                          </a:solidFill>
                        </a:rPr>
                        <a:t>3,0%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
        <p:nvSpPr>
          <p:cNvPr id="7" name="Text 4"/>
          <p:cNvSpPr/>
          <p:nvPr/>
        </p:nvSpPr>
        <p:spPr>
          <a:xfrm>
            <a:off x="6400800" y="1143000"/>
            <a:ext cx="5303520" cy="274320"/>
          </a:xfrm>
          <a:prstGeom prst="rect">
            <a:avLst/>
          </a:prstGeom>
          <a:noFill/>
          <a:ln/>
        </p:spPr>
        <p:txBody>
          <a:bodyPr wrap="square" rtlCol="0" anchor="ctr"/>
          <a:lstStyle/>
          <a:p>
            <a:pPr marL="0" indent="0">
              <a:buNone/>
            </a:pPr>
            <a:r>
              <a:rPr lang="en-US" sz="1200" b="1" dirty="0">
                <a:solidFill>
                  <a:srgbClr val="0A2240"/>
                </a:solidFill>
                <a:latin typeface="Calibri" pitchFamily="34" charset="0"/>
                <a:ea typeface="Calibri" pitchFamily="34" charset="-122"/>
                <a:cs typeface="Calibri" pitchFamily="34" charset="-120"/>
              </a:rPr>
              <a:t>Répartition AGL par filière export – TEM</a:t>
            </a:r>
            <a:endParaRPr lang="en-US" sz="1200" dirty="0"/>
          </a:p>
        </p:txBody>
      </p:sp>
      <p:graphicFrame>
        <p:nvGraphicFramePr>
          <p:cNvPr id="8" name="Chart 0"/>
          <p:cNvGraphicFramePr/>
          <p:nvPr/>
        </p:nvGraphicFramePr>
        <p:xfrm>
          <a:off x="6400800" y="1463040"/>
          <a:ext cx="5303520" cy="352044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5"/>
          <p:cNvSpPr/>
          <p:nvPr/>
        </p:nvSpPr>
        <p:spPr>
          <a:xfrm>
            <a:off x="320040" y="5138928"/>
            <a:ext cx="11521440" cy="1042416"/>
          </a:xfrm>
          <a:prstGeom prst="roundRect">
            <a:avLst>
              <a:gd name="adj" fmla="val 8772"/>
            </a:avLst>
          </a:prstGeom>
          <a:solidFill>
            <a:srgbClr val="EDF2F7"/>
          </a:solidFill>
          <a:ln/>
        </p:spPr>
        <p:txBody>
          <a:bodyPr/>
          <a:lstStyle/>
          <a:p>
            <a:endParaRPr lang="en-US"/>
          </a:p>
        </p:txBody>
      </p:sp>
      <p:sp>
        <p:nvSpPr>
          <p:cNvPr id="10" name="Text 6"/>
          <p:cNvSpPr/>
          <p:nvPr/>
        </p:nvSpPr>
        <p:spPr>
          <a:xfrm>
            <a:off x="457200" y="5212080"/>
            <a:ext cx="11155680" cy="914400"/>
          </a:xfrm>
          <a:prstGeom prst="rect">
            <a:avLst/>
          </a:prstGeom>
          <a:noFill/>
          <a:ln/>
        </p:spPr>
        <p:txBody>
          <a:bodyPr wrap="square" rtlCol="0" anchor="ctr"/>
          <a:lstStyle/>
          <a:p>
            <a:pPr marL="0" indent="0">
              <a:buNone/>
            </a:pPr>
            <a:r>
              <a:rPr lang="en-US" sz="950" b="1" dirty="0">
                <a:solidFill>
                  <a:srgbClr val="EA580C"/>
                </a:solidFill>
                <a:latin typeface="Calibri" pitchFamily="34" charset="0"/>
                <a:ea typeface="Calibri" pitchFamily="34" charset="-122"/>
                <a:cs typeface="Calibri" pitchFamily="34" charset="-120"/>
              </a:rPr>
              <a:t>⚠ Cargill groupe (Cacao + Dérivés) = 15,3% du volume AGL TEM. Concentration filière cacao à surveiller.
</a:t>
            </a:r>
            <a:r>
              <a:rPr lang="en-US" sz="950" dirty="0">
                <a:solidFill>
                  <a:srgbClr val="16A34A"/>
                </a:solidFill>
                <a:latin typeface="Calibri" pitchFamily="34" charset="0"/>
                <a:ea typeface="Calibri" pitchFamily="34" charset="-122"/>
                <a:cs typeface="Calibri" pitchFamily="34" charset="-120"/>
              </a:rPr>
              <a:t>✓ Bananes (74% PDM) : JEAN EGLIN, AFRICA SOURCING, CYRIAN = 3 chargeurs = 23,1% du volume. Fidélisation critique.
</a:t>
            </a:r>
            <a:r>
              <a:rPr lang="en-US" sz="950" dirty="0">
                <a:solidFill>
                  <a:srgbClr val="1E40AF"/>
                </a:solidFill>
                <a:latin typeface="Calibri" pitchFamily="34" charset="0"/>
                <a:ea typeface="Calibri" pitchFamily="34" charset="-122"/>
                <a:cs typeface="Calibri" pitchFamily="34" charset="-120"/>
              </a:rPr>
              <a:t>▶ Cajou (5,4% PDM, 13 129 TEU marché) : objectif +860 TEU via approche commerciale OUTSPAN CI, STE IVOIRIENNE NOIX.</a:t>
            </a:r>
            <a:endParaRPr lang="en-US" sz="950" dirty="0"/>
          </a:p>
        </p:txBody>
      </p:sp>
      <p:sp>
        <p:nvSpPr>
          <p:cNvPr id="6" name="Shape 7"/>
          <p:cNvSpPr/>
          <p:nvPr/>
        </p:nvSpPr>
        <p:spPr>
          <a:xfrm>
            <a:off x="365760" y="6565392"/>
            <a:ext cx="11430000" cy="0"/>
          </a:xfrm>
          <a:prstGeom prst="line">
            <a:avLst/>
          </a:prstGeom>
          <a:noFill/>
          <a:ln w="6350">
            <a:solidFill>
              <a:srgbClr val="CBD5E1"/>
            </a:solidFill>
            <a:prstDash val="solid"/>
          </a:ln>
        </p:spPr>
        <p:txBody>
          <a:bodyPr/>
          <a:lstStyle/>
          <a:p>
            <a:endParaRPr lang="en-US"/>
          </a:p>
        </p:txBody>
      </p:sp>
      <p:sp>
        <p:nvSpPr>
          <p:cNvPr id="12" name="Text 8"/>
          <p:cNvSpPr/>
          <p:nvPr/>
        </p:nvSpPr>
        <p:spPr>
          <a:xfrm>
            <a:off x="365760" y="6601968"/>
            <a:ext cx="11430000" cy="201168"/>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Africa Global Logistics – Étude de Marché Jan–Mai 2026  |  p.10</a:t>
            </a:r>
            <a:endParaRPr lang="en-US" sz="850" dirty="0"/>
          </a:p>
        </p:txBody>
      </p:sp>
      <p:pic>
        <p:nvPicPr>
          <p:cNvPr id="14" name="Image 13" descr="Une image contenant texte, Police, Graphique, logo  Description générée automatiquement">
            <a:extLst>
              <a:ext uri="{FF2B5EF4-FFF2-40B4-BE49-F238E27FC236}">
                <a16:creationId xmlns:a16="http://schemas.microsoft.com/office/drawing/2014/main" id="{B61F3B58-64A0-3B59-38FE-4C35B374B528}"/>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1488450" y="6549898"/>
            <a:ext cx="450027" cy="29240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A2240"/>
          </a:solidFill>
          <a:ln w="12700">
            <a:solidFill>
              <a:srgbClr val="0A2240"/>
            </a:solidFill>
            <a:prstDash val="solid"/>
          </a:ln>
        </p:spPr>
        <p:txBody>
          <a:bodyPr/>
          <a:lstStyle/>
          <a:p>
            <a:endParaRPr lang="en-US"/>
          </a:p>
        </p:txBody>
      </p:sp>
      <p:sp>
        <p:nvSpPr>
          <p:cNvPr id="3" name="Shape 1"/>
          <p:cNvSpPr/>
          <p:nvPr/>
        </p:nvSpPr>
        <p:spPr>
          <a:xfrm>
            <a:off x="4389120" y="3246120"/>
            <a:ext cx="3383280" cy="64008"/>
          </a:xfrm>
          <a:prstGeom prst="rect">
            <a:avLst/>
          </a:prstGeom>
          <a:solidFill>
            <a:srgbClr val="C8A951"/>
          </a:solidFill>
          <a:ln w="12700">
            <a:solidFill>
              <a:srgbClr val="C8A951"/>
            </a:solidFill>
            <a:prstDash val="solid"/>
          </a:ln>
        </p:spPr>
        <p:txBody>
          <a:bodyPr/>
          <a:lstStyle/>
          <a:p>
            <a:endParaRPr lang="en-US"/>
          </a:p>
        </p:txBody>
      </p:sp>
      <p:sp>
        <p:nvSpPr>
          <p:cNvPr id="4" name="Text 2"/>
          <p:cNvSpPr/>
          <p:nvPr/>
        </p:nvSpPr>
        <p:spPr>
          <a:xfrm>
            <a:off x="0" y="1645920"/>
            <a:ext cx="12161520" cy="1371600"/>
          </a:xfrm>
          <a:prstGeom prst="rect">
            <a:avLst/>
          </a:prstGeom>
          <a:noFill/>
          <a:ln/>
        </p:spPr>
        <p:txBody>
          <a:bodyPr wrap="square" rtlCol="0" anchor="ctr"/>
          <a:lstStyle/>
          <a:p>
            <a:pPr marL="0" indent="0" algn="ctr">
              <a:buNone/>
            </a:pPr>
            <a:r>
              <a:rPr lang="en-US" sz="11000" b="1" dirty="0">
                <a:solidFill>
                  <a:srgbClr val="FFFFFF">
                    <a:alpha val="12000"/>
                  </a:srgbClr>
                </a:solidFill>
                <a:latin typeface="Calibri" pitchFamily="34" charset="0"/>
                <a:ea typeface="Calibri" pitchFamily="34" charset="-122"/>
                <a:cs typeface="Calibri" pitchFamily="34" charset="-120"/>
              </a:rPr>
              <a:t>03</a:t>
            </a:r>
            <a:endParaRPr lang="en-US" sz="11000" dirty="0"/>
          </a:p>
        </p:txBody>
      </p:sp>
      <p:sp>
        <p:nvSpPr>
          <p:cNvPr id="5" name="Text 3"/>
          <p:cNvSpPr/>
          <p:nvPr/>
        </p:nvSpPr>
        <p:spPr>
          <a:xfrm>
            <a:off x="1371600" y="2651760"/>
            <a:ext cx="9418320" cy="822960"/>
          </a:xfrm>
          <a:prstGeom prst="rect">
            <a:avLst/>
          </a:prstGeom>
          <a:noFill/>
          <a:ln/>
        </p:spPr>
        <p:txBody>
          <a:bodyPr wrap="square" rtlCol="0" anchor="ctr"/>
          <a:lstStyle/>
          <a:p>
            <a:pPr marL="0" indent="0" algn="ctr">
              <a:buNone/>
            </a:pPr>
            <a:r>
              <a:rPr lang="en-US" sz="3400" b="1" dirty="0">
                <a:solidFill>
                  <a:srgbClr val="FFFFFF"/>
                </a:solidFill>
                <a:latin typeface="Calibri" pitchFamily="34" charset="0"/>
                <a:ea typeface="Calibri" pitchFamily="34" charset="-122"/>
                <a:cs typeface="Calibri" pitchFamily="34" charset="-120"/>
              </a:rPr>
              <a:t>HINTERLAND IMPORT MARITIME</a:t>
            </a:r>
            <a:endParaRPr lang="en-US" sz="3400" dirty="0"/>
          </a:p>
        </p:txBody>
      </p:sp>
      <p:sp>
        <p:nvSpPr>
          <p:cNvPr id="6" name="Text 4"/>
          <p:cNvSpPr/>
          <p:nvPr/>
        </p:nvSpPr>
        <p:spPr>
          <a:xfrm>
            <a:off x="1371600" y="3520440"/>
            <a:ext cx="9418320" cy="457200"/>
          </a:xfrm>
          <a:prstGeom prst="rect">
            <a:avLst/>
          </a:prstGeom>
          <a:noFill/>
          <a:ln/>
        </p:spPr>
        <p:txBody>
          <a:bodyPr wrap="square" rtlCol="0" anchor="ctr"/>
          <a:lstStyle/>
          <a:p>
            <a:pPr marL="0" indent="0" algn="ctr">
              <a:buNone/>
            </a:pPr>
            <a:r>
              <a:rPr lang="en-US" sz="1400" i="1" dirty="0">
                <a:solidFill>
                  <a:srgbClr val="C8A951"/>
                </a:solidFill>
                <a:latin typeface="Calibri" pitchFamily="34" charset="0"/>
                <a:ea typeface="Calibri" pitchFamily="34" charset="-122"/>
                <a:cs typeface="Calibri" pitchFamily="34" charset="-120"/>
              </a:rPr>
              <a:t>28 457 TEU qualifiés  |  AGL #3 – PDM 11,3%  |  Objectif : rang #2</a:t>
            </a:r>
            <a:endParaRPr lang="en-US" sz="1400" dirty="0"/>
          </a:p>
        </p:txBody>
      </p:sp>
      <p:sp>
        <p:nvSpPr>
          <p:cNvPr id="7" name="Text 5"/>
          <p:cNvSpPr/>
          <p:nvPr/>
        </p:nvSpPr>
        <p:spPr>
          <a:xfrm>
            <a:off x="0" y="6263640"/>
            <a:ext cx="12161520" cy="347472"/>
          </a:xfrm>
          <a:prstGeom prst="rect">
            <a:avLst/>
          </a:prstGeom>
          <a:noFill/>
          <a:ln/>
        </p:spPr>
        <p:txBody>
          <a:bodyPr wrap="square" rtlCol="0" anchor="ctr"/>
          <a:lstStyle/>
          <a:p>
            <a:pPr marL="0" indent="0" algn="ctr">
              <a:buNone/>
            </a:pPr>
            <a:r>
              <a:rPr lang="en-US" sz="1000" dirty="0">
                <a:solidFill>
                  <a:srgbClr val="C8A951"/>
                </a:solidFill>
                <a:latin typeface="Calibri" pitchFamily="34" charset="0"/>
                <a:ea typeface="Calibri" pitchFamily="34" charset="-122"/>
                <a:cs typeface="Calibri" pitchFamily="34" charset="-120"/>
              </a:rPr>
              <a:t>Africa Global Logistics – Étude de Marché Jan–Mai 2026</a:t>
            </a:r>
            <a:endParaRPr lang="en-US" sz="1000" dirty="0"/>
          </a:p>
        </p:txBody>
      </p:sp>
      <p:pic>
        <p:nvPicPr>
          <p:cNvPr id="8" name="Image 7" descr="Une image contenant texte, Police, Graphique, logo  Description générée automatiquement">
            <a:extLst>
              <a:ext uri="{FF2B5EF4-FFF2-40B4-BE49-F238E27FC236}">
                <a16:creationId xmlns:a16="http://schemas.microsoft.com/office/drawing/2014/main" id="{30A5CFCC-2900-3A3E-3E26-7EC469C3948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1369762" y="6214669"/>
            <a:ext cx="608878" cy="39562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0A2240"/>
          </a:solidFill>
          <a:ln w="12700">
            <a:solidFill>
              <a:srgbClr val="0A2240"/>
            </a:solidFill>
            <a:prstDash val="solid"/>
          </a:ln>
        </p:spPr>
        <p:txBody>
          <a:bodyPr/>
          <a:lstStyle/>
          <a:p>
            <a:endParaRPr lang="en-US"/>
          </a:p>
        </p:txBody>
      </p:sp>
      <p:sp>
        <p:nvSpPr>
          <p:cNvPr id="3" name="Text 1"/>
          <p:cNvSpPr/>
          <p:nvPr/>
        </p:nvSpPr>
        <p:spPr>
          <a:xfrm>
            <a:off x="365760" y="54864"/>
            <a:ext cx="11430000" cy="65836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HINTERLAND IMPORT – VUE D'ENSEMBLE  |  Jan–Mai 2026</a:t>
            </a:r>
            <a:endParaRPr lang="en-US" sz="2400" dirty="0"/>
          </a:p>
        </p:txBody>
      </p:sp>
      <p:sp>
        <p:nvSpPr>
          <p:cNvPr id="4" name="Text 2"/>
          <p:cNvSpPr/>
          <p:nvPr/>
        </p:nvSpPr>
        <p:spPr>
          <a:xfrm>
            <a:off x="365760" y="676656"/>
            <a:ext cx="11430000" cy="329184"/>
          </a:xfrm>
          <a:prstGeom prst="rect">
            <a:avLst/>
          </a:prstGeom>
          <a:noFill/>
          <a:ln/>
        </p:spPr>
        <p:txBody>
          <a:bodyPr wrap="square" rtlCol="0" anchor="ctr"/>
          <a:lstStyle/>
          <a:p>
            <a:pPr marL="0" indent="0">
              <a:buNone/>
            </a:pPr>
            <a:r>
              <a:rPr lang="en-US" sz="1200" i="1" dirty="0">
                <a:solidFill>
                  <a:srgbClr val="C8A951"/>
                </a:solidFill>
                <a:latin typeface="Calibri" pitchFamily="34" charset="0"/>
                <a:ea typeface="Calibri" pitchFamily="34" charset="-122"/>
                <a:cs typeface="Calibri" pitchFamily="34" charset="-120"/>
              </a:rPr>
              <a:t>Marché qualifié : 28 457 TEU  |  AGL : 3 214 TEU  |  PDM : 11,3%  |  Rang : #3</a:t>
            </a:r>
            <a:endParaRPr lang="en-US" sz="1200" dirty="0"/>
          </a:p>
        </p:txBody>
      </p:sp>
      <p:sp>
        <p:nvSpPr>
          <p:cNvPr id="5" name="Shape 3"/>
          <p:cNvSpPr/>
          <p:nvPr/>
        </p:nvSpPr>
        <p:spPr>
          <a:xfrm>
            <a:off x="320040" y="1143000"/>
            <a:ext cx="2148840" cy="1051560"/>
          </a:xfrm>
          <a:prstGeom prst="roundRect">
            <a:avLst>
              <a:gd name="adj" fmla="val 6957"/>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6" name="Text 4"/>
          <p:cNvSpPr/>
          <p:nvPr/>
        </p:nvSpPr>
        <p:spPr>
          <a:xfrm>
            <a:off x="411480" y="1234440"/>
            <a:ext cx="1965960" cy="274320"/>
          </a:xfrm>
          <a:prstGeom prst="rect">
            <a:avLst/>
          </a:prstGeom>
          <a:noFill/>
          <a:ln/>
        </p:spPr>
        <p:txBody>
          <a:bodyPr wrap="square" rtlCol="0" anchor="ctr"/>
          <a:lstStyle/>
          <a:p>
            <a:pPr marL="0" indent="0" algn="ctr">
              <a:buNone/>
            </a:pPr>
            <a:r>
              <a:rPr lang="en-US" sz="900" b="1" dirty="0">
                <a:solidFill>
                  <a:srgbClr val="64748B"/>
                </a:solidFill>
                <a:latin typeface="Calibri" pitchFamily="34" charset="0"/>
                <a:ea typeface="Calibri" pitchFamily="34" charset="-122"/>
                <a:cs typeface="Calibri" pitchFamily="34" charset="-120"/>
              </a:rPr>
              <a:t>MARCHÉ QUALIFIÉ</a:t>
            </a:r>
            <a:endParaRPr lang="en-US" sz="900" dirty="0"/>
          </a:p>
        </p:txBody>
      </p:sp>
      <p:sp>
        <p:nvSpPr>
          <p:cNvPr id="7" name="Text 5"/>
          <p:cNvSpPr/>
          <p:nvPr/>
        </p:nvSpPr>
        <p:spPr>
          <a:xfrm>
            <a:off x="365760" y="1490472"/>
            <a:ext cx="2057400" cy="457200"/>
          </a:xfrm>
          <a:prstGeom prst="rect">
            <a:avLst/>
          </a:prstGeom>
          <a:noFill/>
          <a:ln/>
        </p:spPr>
        <p:txBody>
          <a:bodyPr wrap="square" rtlCol="0" anchor="ctr"/>
          <a:lstStyle/>
          <a:p>
            <a:pPr marL="0" indent="0" algn="ctr">
              <a:buNone/>
            </a:pPr>
            <a:r>
              <a:rPr lang="en-US" sz="2100" b="1" dirty="0">
                <a:solidFill>
                  <a:srgbClr val="0A2240"/>
                </a:solidFill>
                <a:latin typeface="Calibri" pitchFamily="34" charset="0"/>
                <a:ea typeface="Calibri" pitchFamily="34" charset="-122"/>
                <a:cs typeface="Calibri" pitchFamily="34" charset="-120"/>
              </a:rPr>
              <a:t>28 457</a:t>
            </a:r>
            <a:endParaRPr lang="en-US" sz="2100" dirty="0"/>
          </a:p>
        </p:txBody>
      </p:sp>
      <p:sp>
        <p:nvSpPr>
          <p:cNvPr id="8" name="Text 6"/>
          <p:cNvSpPr/>
          <p:nvPr/>
        </p:nvSpPr>
        <p:spPr>
          <a:xfrm>
            <a:off x="393192" y="1901952"/>
            <a:ext cx="2002536" cy="201168"/>
          </a:xfrm>
          <a:prstGeom prst="rect">
            <a:avLst/>
          </a:prstGeom>
          <a:noFill/>
          <a:ln/>
        </p:spPr>
        <p:txBody>
          <a:bodyPr wrap="square" rtlCol="0" anchor="ctr"/>
          <a:lstStyle/>
          <a:p>
            <a:pPr marL="0" indent="0" algn="ctr">
              <a:buNone/>
            </a:pPr>
            <a:r>
              <a:rPr lang="en-US" sz="850" dirty="0">
                <a:solidFill>
                  <a:srgbClr val="64748B"/>
                </a:solidFill>
                <a:latin typeface="Calibri" pitchFamily="34" charset="0"/>
                <a:ea typeface="Calibri" pitchFamily="34" charset="-122"/>
                <a:cs typeface="Calibri" pitchFamily="34" charset="-120"/>
              </a:rPr>
              <a:t>TEU Jan–Mai</a:t>
            </a:r>
            <a:endParaRPr lang="en-US" sz="850" dirty="0"/>
          </a:p>
        </p:txBody>
      </p:sp>
      <p:sp>
        <p:nvSpPr>
          <p:cNvPr id="9" name="Shape 7"/>
          <p:cNvSpPr/>
          <p:nvPr/>
        </p:nvSpPr>
        <p:spPr>
          <a:xfrm>
            <a:off x="2642616" y="1143000"/>
            <a:ext cx="2148840" cy="1051560"/>
          </a:xfrm>
          <a:prstGeom prst="roundRect">
            <a:avLst>
              <a:gd name="adj" fmla="val 6957"/>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10" name="Text 8"/>
          <p:cNvSpPr/>
          <p:nvPr/>
        </p:nvSpPr>
        <p:spPr>
          <a:xfrm>
            <a:off x="2734056" y="1234440"/>
            <a:ext cx="1965960" cy="274320"/>
          </a:xfrm>
          <a:prstGeom prst="rect">
            <a:avLst/>
          </a:prstGeom>
          <a:noFill/>
          <a:ln/>
        </p:spPr>
        <p:txBody>
          <a:bodyPr wrap="square" rtlCol="0" anchor="ctr"/>
          <a:lstStyle/>
          <a:p>
            <a:pPr marL="0" indent="0" algn="ctr">
              <a:buNone/>
            </a:pPr>
            <a:r>
              <a:rPr lang="en-US" sz="900" b="1" dirty="0">
                <a:solidFill>
                  <a:srgbClr val="64748B"/>
                </a:solidFill>
                <a:latin typeface="Calibri" pitchFamily="34" charset="0"/>
                <a:ea typeface="Calibri" pitchFamily="34" charset="-122"/>
                <a:cs typeface="Calibri" pitchFamily="34" charset="-120"/>
              </a:rPr>
              <a:t>VOLUME AGL</a:t>
            </a:r>
            <a:endParaRPr lang="en-US" sz="900" dirty="0"/>
          </a:p>
        </p:txBody>
      </p:sp>
      <p:sp>
        <p:nvSpPr>
          <p:cNvPr id="11" name="Text 9"/>
          <p:cNvSpPr/>
          <p:nvPr/>
        </p:nvSpPr>
        <p:spPr>
          <a:xfrm>
            <a:off x="2688336" y="1490472"/>
            <a:ext cx="2057400" cy="457200"/>
          </a:xfrm>
          <a:prstGeom prst="rect">
            <a:avLst/>
          </a:prstGeom>
          <a:noFill/>
          <a:ln/>
        </p:spPr>
        <p:txBody>
          <a:bodyPr wrap="square" rtlCol="0" anchor="ctr"/>
          <a:lstStyle/>
          <a:p>
            <a:pPr marL="0" indent="0" algn="ctr">
              <a:buNone/>
            </a:pPr>
            <a:r>
              <a:rPr lang="en-US" sz="2100" b="1" dirty="0">
                <a:solidFill>
                  <a:srgbClr val="0A2240"/>
                </a:solidFill>
                <a:latin typeface="Calibri" pitchFamily="34" charset="0"/>
                <a:ea typeface="Calibri" pitchFamily="34" charset="-122"/>
                <a:cs typeface="Calibri" pitchFamily="34" charset="-120"/>
              </a:rPr>
              <a:t>3 214</a:t>
            </a:r>
            <a:endParaRPr lang="en-US" sz="2100" dirty="0"/>
          </a:p>
        </p:txBody>
      </p:sp>
      <p:sp>
        <p:nvSpPr>
          <p:cNvPr id="12" name="Text 10"/>
          <p:cNvSpPr/>
          <p:nvPr/>
        </p:nvSpPr>
        <p:spPr>
          <a:xfrm>
            <a:off x="2715768" y="1901952"/>
            <a:ext cx="2002536" cy="201168"/>
          </a:xfrm>
          <a:prstGeom prst="rect">
            <a:avLst/>
          </a:prstGeom>
          <a:noFill/>
          <a:ln/>
        </p:spPr>
        <p:txBody>
          <a:bodyPr wrap="square" rtlCol="0" anchor="ctr"/>
          <a:lstStyle/>
          <a:p>
            <a:pPr marL="0" indent="0" algn="ctr">
              <a:buNone/>
            </a:pPr>
            <a:r>
              <a:rPr lang="en-US" sz="850" dirty="0">
                <a:solidFill>
                  <a:srgbClr val="64748B"/>
                </a:solidFill>
                <a:latin typeface="Calibri" pitchFamily="34" charset="0"/>
                <a:ea typeface="Calibri" pitchFamily="34" charset="-122"/>
                <a:cs typeface="Calibri" pitchFamily="34" charset="-120"/>
              </a:rPr>
              <a:t>TEU Jan–Mai</a:t>
            </a:r>
            <a:endParaRPr lang="en-US" sz="850" dirty="0"/>
          </a:p>
        </p:txBody>
      </p:sp>
      <p:sp>
        <p:nvSpPr>
          <p:cNvPr id="13" name="Shape 11"/>
          <p:cNvSpPr/>
          <p:nvPr/>
        </p:nvSpPr>
        <p:spPr>
          <a:xfrm>
            <a:off x="4965192" y="1143000"/>
            <a:ext cx="2148840" cy="1051560"/>
          </a:xfrm>
          <a:prstGeom prst="roundRect">
            <a:avLst>
              <a:gd name="adj" fmla="val 6957"/>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14" name="Text 12"/>
          <p:cNvSpPr/>
          <p:nvPr/>
        </p:nvSpPr>
        <p:spPr>
          <a:xfrm>
            <a:off x="5056632" y="1234440"/>
            <a:ext cx="1965960" cy="274320"/>
          </a:xfrm>
          <a:prstGeom prst="rect">
            <a:avLst/>
          </a:prstGeom>
          <a:noFill/>
          <a:ln/>
        </p:spPr>
        <p:txBody>
          <a:bodyPr wrap="square" rtlCol="0" anchor="ctr"/>
          <a:lstStyle/>
          <a:p>
            <a:pPr marL="0" indent="0" algn="ctr">
              <a:buNone/>
            </a:pPr>
            <a:r>
              <a:rPr lang="en-US" sz="900" b="1" dirty="0">
                <a:solidFill>
                  <a:srgbClr val="64748B"/>
                </a:solidFill>
                <a:latin typeface="Calibri" pitchFamily="34" charset="0"/>
                <a:ea typeface="Calibri" pitchFamily="34" charset="-122"/>
                <a:cs typeface="Calibri" pitchFamily="34" charset="-120"/>
              </a:rPr>
              <a:t>PDM AGL</a:t>
            </a:r>
            <a:endParaRPr lang="en-US" sz="900" dirty="0"/>
          </a:p>
        </p:txBody>
      </p:sp>
      <p:sp>
        <p:nvSpPr>
          <p:cNvPr id="15" name="Text 13"/>
          <p:cNvSpPr/>
          <p:nvPr/>
        </p:nvSpPr>
        <p:spPr>
          <a:xfrm>
            <a:off x="5010912" y="1490472"/>
            <a:ext cx="2057400" cy="457200"/>
          </a:xfrm>
          <a:prstGeom prst="rect">
            <a:avLst/>
          </a:prstGeom>
          <a:noFill/>
          <a:ln/>
        </p:spPr>
        <p:txBody>
          <a:bodyPr wrap="square" rtlCol="0" anchor="ctr"/>
          <a:lstStyle/>
          <a:p>
            <a:pPr marL="0" indent="0" algn="ctr">
              <a:buNone/>
            </a:pPr>
            <a:r>
              <a:rPr lang="en-US" sz="2100" b="1" dirty="0">
                <a:solidFill>
                  <a:srgbClr val="EA580C"/>
                </a:solidFill>
                <a:latin typeface="Calibri" pitchFamily="34" charset="0"/>
                <a:ea typeface="Calibri" pitchFamily="34" charset="-122"/>
                <a:cs typeface="Calibri" pitchFamily="34" charset="-120"/>
              </a:rPr>
              <a:t>11,3 %</a:t>
            </a:r>
            <a:endParaRPr lang="en-US" sz="2100" dirty="0"/>
          </a:p>
        </p:txBody>
      </p:sp>
      <p:sp>
        <p:nvSpPr>
          <p:cNvPr id="16" name="Text 14"/>
          <p:cNvSpPr/>
          <p:nvPr/>
        </p:nvSpPr>
        <p:spPr>
          <a:xfrm>
            <a:off x="5038344" y="1901952"/>
            <a:ext cx="2002536" cy="201168"/>
          </a:xfrm>
          <a:prstGeom prst="rect">
            <a:avLst/>
          </a:prstGeom>
          <a:noFill/>
          <a:ln/>
        </p:spPr>
        <p:txBody>
          <a:bodyPr wrap="square" rtlCol="0" anchor="ctr"/>
          <a:lstStyle/>
          <a:p>
            <a:pPr marL="0" indent="0" algn="ctr">
              <a:buNone/>
            </a:pPr>
            <a:r>
              <a:rPr lang="en-US" sz="850" dirty="0">
                <a:solidFill>
                  <a:srgbClr val="64748B"/>
                </a:solidFill>
                <a:latin typeface="Calibri" pitchFamily="34" charset="0"/>
                <a:ea typeface="Calibri" pitchFamily="34" charset="-122"/>
                <a:cs typeface="Calibri" pitchFamily="34" charset="-120"/>
              </a:rPr>
              <a:t>#3 – Progression vs brut</a:t>
            </a:r>
            <a:endParaRPr lang="en-US" sz="850" dirty="0"/>
          </a:p>
        </p:txBody>
      </p:sp>
      <p:sp>
        <p:nvSpPr>
          <p:cNvPr id="17" name="Shape 15"/>
          <p:cNvSpPr/>
          <p:nvPr/>
        </p:nvSpPr>
        <p:spPr>
          <a:xfrm>
            <a:off x="7287768" y="1143000"/>
            <a:ext cx="2148840" cy="1051560"/>
          </a:xfrm>
          <a:prstGeom prst="roundRect">
            <a:avLst>
              <a:gd name="adj" fmla="val 6957"/>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18" name="Text 16"/>
          <p:cNvSpPr/>
          <p:nvPr/>
        </p:nvSpPr>
        <p:spPr>
          <a:xfrm>
            <a:off x="7379208" y="1234440"/>
            <a:ext cx="1965960" cy="274320"/>
          </a:xfrm>
          <a:prstGeom prst="rect">
            <a:avLst/>
          </a:prstGeom>
          <a:noFill/>
          <a:ln/>
        </p:spPr>
        <p:txBody>
          <a:bodyPr wrap="square" rtlCol="0" anchor="ctr"/>
          <a:lstStyle/>
          <a:p>
            <a:pPr marL="0" indent="0" algn="ctr">
              <a:buNone/>
            </a:pPr>
            <a:r>
              <a:rPr lang="en-US" sz="900" b="1" dirty="0">
                <a:solidFill>
                  <a:srgbClr val="64748B"/>
                </a:solidFill>
                <a:latin typeface="Calibri" pitchFamily="34" charset="0"/>
                <a:ea typeface="Calibri" pitchFamily="34" charset="-122"/>
                <a:cs typeface="Calibri" pitchFamily="34" charset="-120"/>
              </a:rPr>
              <a:t>LEADER UCT</a:t>
            </a:r>
            <a:endParaRPr lang="en-US" sz="900" dirty="0"/>
          </a:p>
        </p:txBody>
      </p:sp>
      <p:sp>
        <p:nvSpPr>
          <p:cNvPr id="19" name="Text 17"/>
          <p:cNvSpPr/>
          <p:nvPr/>
        </p:nvSpPr>
        <p:spPr>
          <a:xfrm>
            <a:off x="7333488" y="1490472"/>
            <a:ext cx="2057400" cy="457200"/>
          </a:xfrm>
          <a:prstGeom prst="rect">
            <a:avLst/>
          </a:prstGeom>
          <a:noFill/>
          <a:ln/>
        </p:spPr>
        <p:txBody>
          <a:bodyPr wrap="square" rtlCol="0" anchor="ctr"/>
          <a:lstStyle/>
          <a:p>
            <a:pPr marL="0" indent="0" algn="ctr">
              <a:buNone/>
            </a:pPr>
            <a:r>
              <a:rPr lang="en-US" sz="2100" b="1" dirty="0">
                <a:solidFill>
                  <a:srgbClr val="DC2626"/>
                </a:solidFill>
                <a:latin typeface="Calibri" pitchFamily="34" charset="0"/>
                <a:ea typeface="Calibri" pitchFamily="34" charset="-122"/>
                <a:cs typeface="Calibri" pitchFamily="34" charset="-120"/>
              </a:rPr>
              <a:t>26,6 %</a:t>
            </a:r>
            <a:endParaRPr lang="en-US" sz="2100" dirty="0"/>
          </a:p>
        </p:txBody>
      </p:sp>
      <p:sp>
        <p:nvSpPr>
          <p:cNvPr id="20" name="Text 18"/>
          <p:cNvSpPr/>
          <p:nvPr/>
        </p:nvSpPr>
        <p:spPr>
          <a:xfrm>
            <a:off x="7360920" y="1901952"/>
            <a:ext cx="2002536" cy="201168"/>
          </a:xfrm>
          <a:prstGeom prst="rect">
            <a:avLst/>
          </a:prstGeom>
          <a:noFill/>
          <a:ln/>
        </p:spPr>
        <p:txBody>
          <a:bodyPr wrap="square" rtlCol="0" anchor="ctr"/>
          <a:lstStyle/>
          <a:p>
            <a:pPr marL="0" indent="0" algn="ctr">
              <a:buNone/>
            </a:pPr>
            <a:r>
              <a:rPr lang="en-US" sz="850" dirty="0">
                <a:solidFill>
                  <a:srgbClr val="64748B"/>
                </a:solidFill>
                <a:latin typeface="Calibri" pitchFamily="34" charset="0"/>
                <a:ea typeface="Calibri" pitchFamily="34" charset="-122"/>
                <a:cs typeface="Calibri" pitchFamily="34" charset="-120"/>
              </a:rPr>
              <a:t>7 559 TEU – Écart ×2,4</a:t>
            </a:r>
            <a:endParaRPr lang="en-US" sz="850" dirty="0"/>
          </a:p>
        </p:txBody>
      </p:sp>
      <p:sp>
        <p:nvSpPr>
          <p:cNvPr id="21" name="Shape 19"/>
          <p:cNvSpPr/>
          <p:nvPr/>
        </p:nvSpPr>
        <p:spPr>
          <a:xfrm>
            <a:off x="9610344" y="1143000"/>
            <a:ext cx="2148840" cy="1051560"/>
          </a:xfrm>
          <a:prstGeom prst="roundRect">
            <a:avLst>
              <a:gd name="adj" fmla="val 6957"/>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22" name="Text 20"/>
          <p:cNvSpPr/>
          <p:nvPr/>
        </p:nvSpPr>
        <p:spPr>
          <a:xfrm>
            <a:off x="9701784" y="1234440"/>
            <a:ext cx="1965960" cy="274320"/>
          </a:xfrm>
          <a:prstGeom prst="rect">
            <a:avLst/>
          </a:prstGeom>
          <a:noFill/>
          <a:ln/>
        </p:spPr>
        <p:txBody>
          <a:bodyPr wrap="square" rtlCol="0" anchor="ctr"/>
          <a:lstStyle/>
          <a:p>
            <a:pPr marL="0" indent="0" algn="ctr">
              <a:buNone/>
            </a:pPr>
            <a:r>
              <a:rPr lang="en-US" sz="900" b="1" dirty="0">
                <a:solidFill>
                  <a:srgbClr val="64748B"/>
                </a:solidFill>
                <a:latin typeface="Calibri" pitchFamily="34" charset="0"/>
                <a:ea typeface="Calibri" pitchFamily="34" charset="-122"/>
                <a:cs typeface="Calibri" pitchFamily="34" charset="-120"/>
              </a:rPr>
              <a:t>PDM JANV. (PEAK)</a:t>
            </a:r>
            <a:endParaRPr lang="en-US" sz="900" dirty="0"/>
          </a:p>
        </p:txBody>
      </p:sp>
      <p:sp>
        <p:nvSpPr>
          <p:cNvPr id="23" name="Text 21"/>
          <p:cNvSpPr/>
          <p:nvPr/>
        </p:nvSpPr>
        <p:spPr>
          <a:xfrm>
            <a:off x="9656064" y="1490472"/>
            <a:ext cx="2057400" cy="457200"/>
          </a:xfrm>
          <a:prstGeom prst="rect">
            <a:avLst/>
          </a:prstGeom>
          <a:noFill/>
          <a:ln/>
        </p:spPr>
        <p:txBody>
          <a:bodyPr wrap="square" rtlCol="0" anchor="ctr"/>
          <a:lstStyle/>
          <a:p>
            <a:pPr marL="0" indent="0" algn="ctr">
              <a:buNone/>
            </a:pPr>
            <a:r>
              <a:rPr lang="en-US" sz="2100" b="1" dirty="0">
                <a:solidFill>
                  <a:srgbClr val="16A34A"/>
                </a:solidFill>
                <a:latin typeface="Calibri" pitchFamily="34" charset="0"/>
                <a:ea typeface="Calibri" pitchFamily="34" charset="-122"/>
                <a:cs typeface="Calibri" pitchFamily="34" charset="-120"/>
              </a:rPr>
              <a:t>16,4 %</a:t>
            </a:r>
            <a:endParaRPr lang="en-US" sz="2100" dirty="0"/>
          </a:p>
        </p:txBody>
      </p:sp>
      <p:sp>
        <p:nvSpPr>
          <p:cNvPr id="24" name="Text 22"/>
          <p:cNvSpPr/>
          <p:nvPr/>
        </p:nvSpPr>
        <p:spPr>
          <a:xfrm>
            <a:off x="9683496" y="1901952"/>
            <a:ext cx="2002536" cy="201168"/>
          </a:xfrm>
          <a:prstGeom prst="rect">
            <a:avLst/>
          </a:prstGeom>
          <a:noFill/>
          <a:ln/>
        </p:spPr>
        <p:txBody>
          <a:bodyPr wrap="square" rtlCol="0" anchor="ctr"/>
          <a:lstStyle/>
          <a:p>
            <a:pPr marL="0" indent="0" algn="ctr">
              <a:buNone/>
            </a:pPr>
            <a:r>
              <a:rPr lang="en-US" sz="850" dirty="0">
                <a:solidFill>
                  <a:srgbClr val="64748B"/>
                </a:solidFill>
                <a:latin typeface="Calibri" pitchFamily="34" charset="0"/>
                <a:ea typeface="Calibri" pitchFamily="34" charset="-122"/>
                <a:cs typeface="Calibri" pitchFamily="34" charset="-120"/>
              </a:rPr>
              <a:t>Meilleure PDM période</a:t>
            </a:r>
            <a:endParaRPr lang="en-US" sz="850" dirty="0"/>
          </a:p>
        </p:txBody>
      </p:sp>
      <p:sp>
        <p:nvSpPr>
          <p:cNvPr id="25" name="Text 23"/>
          <p:cNvSpPr/>
          <p:nvPr/>
        </p:nvSpPr>
        <p:spPr>
          <a:xfrm>
            <a:off x="320040" y="2395728"/>
            <a:ext cx="6766560" cy="274320"/>
          </a:xfrm>
          <a:prstGeom prst="rect">
            <a:avLst/>
          </a:prstGeom>
          <a:noFill/>
          <a:ln/>
        </p:spPr>
        <p:txBody>
          <a:bodyPr wrap="square" rtlCol="0" anchor="ctr"/>
          <a:lstStyle/>
          <a:p>
            <a:pPr marL="0" indent="0">
              <a:buNone/>
            </a:pPr>
            <a:r>
              <a:rPr lang="en-US" sz="1200" b="1" dirty="0">
                <a:solidFill>
                  <a:srgbClr val="0A2240"/>
                </a:solidFill>
                <a:latin typeface="Calibri" pitchFamily="34" charset="0"/>
                <a:ea typeface="Calibri" pitchFamily="34" charset="-122"/>
                <a:cs typeface="Calibri" pitchFamily="34" charset="-120"/>
              </a:rPr>
              <a:t>Évolution mensuelle marché qualifié &amp; AGL – Hinterland Import</a:t>
            </a:r>
            <a:endParaRPr lang="en-US" sz="1200" dirty="0"/>
          </a:p>
        </p:txBody>
      </p:sp>
      <p:graphicFrame>
        <p:nvGraphicFramePr>
          <p:cNvPr id="26" name="Chart 0"/>
          <p:cNvGraphicFramePr/>
          <p:nvPr/>
        </p:nvGraphicFramePr>
        <p:xfrm>
          <a:off x="320040" y="2697480"/>
          <a:ext cx="6766560"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27" name="Text 24"/>
          <p:cNvSpPr/>
          <p:nvPr/>
        </p:nvSpPr>
        <p:spPr>
          <a:xfrm>
            <a:off x="7223760" y="2395728"/>
            <a:ext cx="4572000" cy="274320"/>
          </a:xfrm>
          <a:prstGeom prst="rect">
            <a:avLst/>
          </a:prstGeom>
          <a:noFill/>
          <a:ln/>
        </p:spPr>
        <p:txBody>
          <a:bodyPr wrap="square" rtlCol="0" anchor="ctr"/>
          <a:lstStyle/>
          <a:p>
            <a:pPr marL="0" indent="0">
              <a:buNone/>
            </a:pPr>
            <a:r>
              <a:rPr lang="en-US" sz="1200" b="1" dirty="0">
                <a:solidFill>
                  <a:srgbClr val="0A2240"/>
                </a:solidFill>
                <a:latin typeface="Calibri" pitchFamily="34" charset="0"/>
                <a:ea typeface="Calibri" pitchFamily="34" charset="-122"/>
                <a:cs typeface="Calibri" pitchFamily="34" charset="-120"/>
              </a:rPr>
              <a:t>PDM AGL par mois – Hinterland Import</a:t>
            </a:r>
            <a:endParaRPr lang="en-US" sz="1200" dirty="0"/>
          </a:p>
        </p:txBody>
      </p:sp>
      <p:sp>
        <p:nvSpPr>
          <p:cNvPr id="28" name="Shape 25"/>
          <p:cNvSpPr/>
          <p:nvPr/>
        </p:nvSpPr>
        <p:spPr>
          <a:xfrm>
            <a:off x="7223760" y="2644227"/>
            <a:ext cx="4572000" cy="548640"/>
          </a:xfrm>
          <a:prstGeom prst="roundRect">
            <a:avLst>
              <a:gd name="adj" fmla="val 10000"/>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29" name="Text 26"/>
          <p:cNvSpPr/>
          <p:nvPr/>
        </p:nvSpPr>
        <p:spPr>
          <a:xfrm>
            <a:off x="7360920" y="2644227"/>
            <a:ext cx="1417320" cy="548640"/>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Janvier</a:t>
            </a:r>
            <a:endParaRPr lang="en-US" sz="1100" dirty="0"/>
          </a:p>
        </p:txBody>
      </p:sp>
      <p:sp>
        <p:nvSpPr>
          <p:cNvPr id="30" name="Shape 27"/>
          <p:cNvSpPr/>
          <p:nvPr/>
        </p:nvSpPr>
        <p:spPr>
          <a:xfrm>
            <a:off x="8869680" y="2827107"/>
            <a:ext cx="2240280" cy="182880"/>
          </a:xfrm>
          <a:prstGeom prst="rect">
            <a:avLst/>
          </a:prstGeom>
          <a:solidFill>
            <a:srgbClr val="CBD5E1"/>
          </a:solidFill>
          <a:ln w="12700">
            <a:solidFill>
              <a:srgbClr val="CBD5E1"/>
            </a:solidFill>
            <a:prstDash val="solid"/>
          </a:ln>
        </p:spPr>
        <p:txBody>
          <a:bodyPr/>
          <a:lstStyle/>
          <a:p>
            <a:endParaRPr lang="en-US"/>
          </a:p>
        </p:txBody>
      </p:sp>
      <p:sp>
        <p:nvSpPr>
          <p:cNvPr id="31" name="Shape 28"/>
          <p:cNvSpPr/>
          <p:nvPr/>
        </p:nvSpPr>
        <p:spPr>
          <a:xfrm>
            <a:off x="8869680" y="2827107"/>
            <a:ext cx="1837030" cy="182880"/>
          </a:xfrm>
          <a:prstGeom prst="rect">
            <a:avLst/>
          </a:prstGeom>
          <a:solidFill>
            <a:srgbClr val="16A34A"/>
          </a:solidFill>
          <a:ln w="12700">
            <a:solidFill>
              <a:srgbClr val="16A34A"/>
            </a:solidFill>
            <a:prstDash val="solid"/>
          </a:ln>
        </p:spPr>
        <p:txBody>
          <a:bodyPr/>
          <a:lstStyle/>
          <a:p>
            <a:endParaRPr lang="en-US"/>
          </a:p>
        </p:txBody>
      </p:sp>
      <p:sp>
        <p:nvSpPr>
          <p:cNvPr id="32" name="Text 29"/>
          <p:cNvSpPr/>
          <p:nvPr/>
        </p:nvSpPr>
        <p:spPr>
          <a:xfrm>
            <a:off x="11109960" y="2644227"/>
            <a:ext cx="640080" cy="548640"/>
          </a:xfrm>
          <a:prstGeom prst="rect">
            <a:avLst/>
          </a:prstGeom>
          <a:noFill/>
          <a:ln/>
        </p:spPr>
        <p:txBody>
          <a:bodyPr wrap="square" rtlCol="0" anchor="ctr"/>
          <a:lstStyle/>
          <a:p>
            <a:pPr marL="0" indent="0" algn="r">
              <a:buNone/>
            </a:pPr>
            <a:r>
              <a:rPr lang="en-US" sz="1200" b="1" dirty="0">
                <a:solidFill>
                  <a:srgbClr val="16A34A"/>
                </a:solidFill>
                <a:latin typeface="Calibri" pitchFamily="34" charset="0"/>
                <a:ea typeface="Calibri" pitchFamily="34" charset="-122"/>
                <a:cs typeface="Calibri" pitchFamily="34" charset="-120"/>
              </a:rPr>
              <a:t>16.4%</a:t>
            </a:r>
            <a:endParaRPr lang="en-US" sz="1200" dirty="0"/>
          </a:p>
        </p:txBody>
      </p:sp>
      <p:sp>
        <p:nvSpPr>
          <p:cNvPr id="33" name="Shape 30"/>
          <p:cNvSpPr/>
          <p:nvPr/>
        </p:nvSpPr>
        <p:spPr>
          <a:xfrm>
            <a:off x="7223760" y="3302595"/>
            <a:ext cx="4572000" cy="548640"/>
          </a:xfrm>
          <a:prstGeom prst="roundRect">
            <a:avLst>
              <a:gd name="adj" fmla="val 10000"/>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34" name="Text 31"/>
          <p:cNvSpPr/>
          <p:nvPr/>
        </p:nvSpPr>
        <p:spPr>
          <a:xfrm>
            <a:off x="7360920" y="3302595"/>
            <a:ext cx="1417320" cy="548640"/>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Février</a:t>
            </a:r>
            <a:endParaRPr lang="en-US" sz="1100" dirty="0"/>
          </a:p>
        </p:txBody>
      </p:sp>
      <p:sp>
        <p:nvSpPr>
          <p:cNvPr id="35" name="Shape 32"/>
          <p:cNvSpPr/>
          <p:nvPr/>
        </p:nvSpPr>
        <p:spPr>
          <a:xfrm>
            <a:off x="8869680" y="3485475"/>
            <a:ext cx="2240280" cy="182880"/>
          </a:xfrm>
          <a:prstGeom prst="rect">
            <a:avLst/>
          </a:prstGeom>
          <a:solidFill>
            <a:srgbClr val="CBD5E1"/>
          </a:solidFill>
          <a:ln w="12700">
            <a:solidFill>
              <a:srgbClr val="CBD5E1"/>
            </a:solidFill>
            <a:prstDash val="solid"/>
          </a:ln>
        </p:spPr>
        <p:txBody>
          <a:bodyPr/>
          <a:lstStyle/>
          <a:p>
            <a:endParaRPr lang="en-US"/>
          </a:p>
        </p:txBody>
      </p:sp>
      <p:sp>
        <p:nvSpPr>
          <p:cNvPr id="36" name="Shape 33"/>
          <p:cNvSpPr/>
          <p:nvPr/>
        </p:nvSpPr>
        <p:spPr>
          <a:xfrm>
            <a:off x="8869680" y="3485475"/>
            <a:ext cx="1153744" cy="182880"/>
          </a:xfrm>
          <a:prstGeom prst="rect">
            <a:avLst/>
          </a:prstGeom>
          <a:solidFill>
            <a:srgbClr val="EA580C"/>
          </a:solidFill>
          <a:ln w="12700">
            <a:solidFill>
              <a:srgbClr val="EA580C"/>
            </a:solidFill>
            <a:prstDash val="solid"/>
          </a:ln>
        </p:spPr>
        <p:txBody>
          <a:bodyPr/>
          <a:lstStyle/>
          <a:p>
            <a:endParaRPr lang="en-US"/>
          </a:p>
        </p:txBody>
      </p:sp>
      <p:sp>
        <p:nvSpPr>
          <p:cNvPr id="37" name="Text 34"/>
          <p:cNvSpPr/>
          <p:nvPr/>
        </p:nvSpPr>
        <p:spPr>
          <a:xfrm>
            <a:off x="11109960" y="3302595"/>
            <a:ext cx="640080" cy="548640"/>
          </a:xfrm>
          <a:prstGeom prst="rect">
            <a:avLst/>
          </a:prstGeom>
          <a:noFill/>
          <a:ln/>
        </p:spPr>
        <p:txBody>
          <a:bodyPr wrap="square" rtlCol="0" anchor="ctr"/>
          <a:lstStyle/>
          <a:p>
            <a:pPr marL="0" indent="0" algn="r">
              <a:buNone/>
            </a:pPr>
            <a:r>
              <a:rPr lang="en-US" sz="1200" b="1" dirty="0">
                <a:solidFill>
                  <a:srgbClr val="EA580C"/>
                </a:solidFill>
                <a:latin typeface="Calibri" pitchFamily="34" charset="0"/>
                <a:ea typeface="Calibri" pitchFamily="34" charset="-122"/>
                <a:cs typeface="Calibri" pitchFamily="34" charset="-120"/>
              </a:rPr>
              <a:t>10.3%</a:t>
            </a:r>
            <a:endParaRPr lang="en-US" sz="1200" dirty="0"/>
          </a:p>
        </p:txBody>
      </p:sp>
      <p:sp>
        <p:nvSpPr>
          <p:cNvPr id="38" name="Shape 35"/>
          <p:cNvSpPr/>
          <p:nvPr/>
        </p:nvSpPr>
        <p:spPr>
          <a:xfrm>
            <a:off x="7223760" y="3960963"/>
            <a:ext cx="4572000" cy="548640"/>
          </a:xfrm>
          <a:prstGeom prst="roundRect">
            <a:avLst>
              <a:gd name="adj" fmla="val 10000"/>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39" name="Text 36"/>
          <p:cNvSpPr/>
          <p:nvPr/>
        </p:nvSpPr>
        <p:spPr>
          <a:xfrm>
            <a:off x="7360920" y="3960963"/>
            <a:ext cx="1417320" cy="548640"/>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Mars</a:t>
            </a:r>
            <a:endParaRPr lang="en-US" sz="1100" dirty="0"/>
          </a:p>
        </p:txBody>
      </p:sp>
      <p:sp>
        <p:nvSpPr>
          <p:cNvPr id="40" name="Shape 37"/>
          <p:cNvSpPr/>
          <p:nvPr/>
        </p:nvSpPr>
        <p:spPr>
          <a:xfrm>
            <a:off x="8869680" y="4143843"/>
            <a:ext cx="2240280" cy="182880"/>
          </a:xfrm>
          <a:prstGeom prst="rect">
            <a:avLst/>
          </a:prstGeom>
          <a:solidFill>
            <a:srgbClr val="CBD5E1"/>
          </a:solidFill>
          <a:ln w="12700">
            <a:solidFill>
              <a:srgbClr val="CBD5E1"/>
            </a:solidFill>
            <a:prstDash val="solid"/>
          </a:ln>
        </p:spPr>
        <p:txBody>
          <a:bodyPr/>
          <a:lstStyle/>
          <a:p>
            <a:endParaRPr lang="en-US"/>
          </a:p>
        </p:txBody>
      </p:sp>
      <p:sp>
        <p:nvSpPr>
          <p:cNvPr id="41" name="Shape 38"/>
          <p:cNvSpPr/>
          <p:nvPr/>
        </p:nvSpPr>
        <p:spPr>
          <a:xfrm>
            <a:off x="8869680" y="4143843"/>
            <a:ext cx="862508" cy="182880"/>
          </a:xfrm>
          <a:prstGeom prst="rect">
            <a:avLst/>
          </a:prstGeom>
          <a:solidFill>
            <a:srgbClr val="DC2626"/>
          </a:solidFill>
          <a:ln w="12700">
            <a:solidFill>
              <a:srgbClr val="DC2626"/>
            </a:solidFill>
            <a:prstDash val="solid"/>
          </a:ln>
        </p:spPr>
        <p:txBody>
          <a:bodyPr/>
          <a:lstStyle/>
          <a:p>
            <a:endParaRPr lang="en-US"/>
          </a:p>
        </p:txBody>
      </p:sp>
      <p:sp>
        <p:nvSpPr>
          <p:cNvPr id="42" name="Text 39"/>
          <p:cNvSpPr/>
          <p:nvPr/>
        </p:nvSpPr>
        <p:spPr>
          <a:xfrm>
            <a:off x="11109960" y="3960963"/>
            <a:ext cx="640080" cy="548640"/>
          </a:xfrm>
          <a:prstGeom prst="rect">
            <a:avLst/>
          </a:prstGeom>
          <a:noFill/>
          <a:ln/>
        </p:spPr>
        <p:txBody>
          <a:bodyPr wrap="square" rtlCol="0" anchor="ctr"/>
          <a:lstStyle/>
          <a:p>
            <a:pPr marL="0" indent="0" algn="r">
              <a:buNone/>
            </a:pPr>
            <a:r>
              <a:rPr lang="en-US" sz="1200" b="1" dirty="0">
                <a:solidFill>
                  <a:srgbClr val="DC2626"/>
                </a:solidFill>
                <a:latin typeface="Calibri" pitchFamily="34" charset="0"/>
                <a:ea typeface="Calibri" pitchFamily="34" charset="-122"/>
                <a:cs typeface="Calibri" pitchFamily="34" charset="-120"/>
              </a:rPr>
              <a:t>7.7%</a:t>
            </a:r>
            <a:endParaRPr lang="en-US" sz="1200" dirty="0"/>
          </a:p>
        </p:txBody>
      </p:sp>
      <p:sp>
        <p:nvSpPr>
          <p:cNvPr id="43" name="Shape 40"/>
          <p:cNvSpPr/>
          <p:nvPr/>
        </p:nvSpPr>
        <p:spPr>
          <a:xfrm>
            <a:off x="7223760" y="4619331"/>
            <a:ext cx="4572000" cy="548640"/>
          </a:xfrm>
          <a:prstGeom prst="roundRect">
            <a:avLst>
              <a:gd name="adj" fmla="val 10000"/>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44" name="Text 41"/>
          <p:cNvSpPr/>
          <p:nvPr/>
        </p:nvSpPr>
        <p:spPr>
          <a:xfrm>
            <a:off x="7360920" y="4619331"/>
            <a:ext cx="1417320" cy="548640"/>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Avril</a:t>
            </a:r>
            <a:endParaRPr lang="en-US" sz="1100" dirty="0"/>
          </a:p>
        </p:txBody>
      </p:sp>
      <p:sp>
        <p:nvSpPr>
          <p:cNvPr id="45" name="Shape 42"/>
          <p:cNvSpPr/>
          <p:nvPr/>
        </p:nvSpPr>
        <p:spPr>
          <a:xfrm>
            <a:off x="8869680" y="4802211"/>
            <a:ext cx="2240280" cy="182880"/>
          </a:xfrm>
          <a:prstGeom prst="rect">
            <a:avLst/>
          </a:prstGeom>
          <a:solidFill>
            <a:srgbClr val="CBD5E1"/>
          </a:solidFill>
          <a:ln w="12700">
            <a:solidFill>
              <a:srgbClr val="CBD5E1"/>
            </a:solidFill>
            <a:prstDash val="solid"/>
          </a:ln>
        </p:spPr>
        <p:txBody>
          <a:bodyPr/>
          <a:lstStyle/>
          <a:p>
            <a:endParaRPr lang="en-US"/>
          </a:p>
        </p:txBody>
      </p:sp>
      <p:sp>
        <p:nvSpPr>
          <p:cNvPr id="46" name="Shape 43"/>
          <p:cNvSpPr/>
          <p:nvPr/>
        </p:nvSpPr>
        <p:spPr>
          <a:xfrm>
            <a:off x="8869680" y="4802211"/>
            <a:ext cx="1198550" cy="182880"/>
          </a:xfrm>
          <a:prstGeom prst="rect">
            <a:avLst/>
          </a:prstGeom>
          <a:solidFill>
            <a:srgbClr val="EA580C"/>
          </a:solidFill>
          <a:ln w="12700">
            <a:solidFill>
              <a:srgbClr val="EA580C"/>
            </a:solidFill>
            <a:prstDash val="solid"/>
          </a:ln>
        </p:spPr>
        <p:txBody>
          <a:bodyPr/>
          <a:lstStyle/>
          <a:p>
            <a:endParaRPr lang="en-US"/>
          </a:p>
        </p:txBody>
      </p:sp>
      <p:sp>
        <p:nvSpPr>
          <p:cNvPr id="47" name="Text 44"/>
          <p:cNvSpPr/>
          <p:nvPr/>
        </p:nvSpPr>
        <p:spPr>
          <a:xfrm>
            <a:off x="11109960" y="4619331"/>
            <a:ext cx="640080" cy="548640"/>
          </a:xfrm>
          <a:prstGeom prst="rect">
            <a:avLst/>
          </a:prstGeom>
          <a:noFill/>
          <a:ln/>
        </p:spPr>
        <p:txBody>
          <a:bodyPr wrap="square" rtlCol="0" anchor="ctr"/>
          <a:lstStyle/>
          <a:p>
            <a:pPr marL="0" indent="0" algn="r">
              <a:buNone/>
            </a:pPr>
            <a:r>
              <a:rPr lang="en-US" sz="1200" b="1" dirty="0">
                <a:solidFill>
                  <a:srgbClr val="EA580C"/>
                </a:solidFill>
                <a:latin typeface="Calibri" pitchFamily="34" charset="0"/>
                <a:ea typeface="Calibri" pitchFamily="34" charset="-122"/>
                <a:cs typeface="Calibri" pitchFamily="34" charset="-120"/>
              </a:rPr>
              <a:t>10.7%</a:t>
            </a:r>
            <a:endParaRPr lang="en-US" sz="1200" dirty="0"/>
          </a:p>
        </p:txBody>
      </p:sp>
      <p:sp>
        <p:nvSpPr>
          <p:cNvPr id="48" name="Shape 45"/>
          <p:cNvSpPr/>
          <p:nvPr/>
        </p:nvSpPr>
        <p:spPr>
          <a:xfrm>
            <a:off x="7223760" y="5277699"/>
            <a:ext cx="4572000" cy="548640"/>
          </a:xfrm>
          <a:prstGeom prst="roundRect">
            <a:avLst>
              <a:gd name="adj" fmla="val 10000"/>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49" name="Text 46"/>
          <p:cNvSpPr/>
          <p:nvPr/>
        </p:nvSpPr>
        <p:spPr>
          <a:xfrm>
            <a:off x="7360920" y="5277699"/>
            <a:ext cx="1417320" cy="548640"/>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Mai</a:t>
            </a:r>
            <a:endParaRPr lang="en-US" sz="1100" dirty="0"/>
          </a:p>
        </p:txBody>
      </p:sp>
      <p:sp>
        <p:nvSpPr>
          <p:cNvPr id="50" name="Shape 47"/>
          <p:cNvSpPr/>
          <p:nvPr/>
        </p:nvSpPr>
        <p:spPr>
          <a:xfrm>
            <a:off x="8869680" y="5460579"/>
            <a:ext cx="2240280" cy="182880"/>
          </a:xfrm>
          <a:prstGeom prst="rect">
            <a:avLst/>
          </a:prstGeom>
          <a:solidFill>
            <a:srgbClr val="CBD5E1"/>
          </a:solidFill>
          <a:ln w="12700">
            <a:solidFill>
              <a:srgbClr val="CBD5E1"/>
            </a:solidFill>
            <a:prstDash val="solid"/>
          </a:ln>
        </p:spPr>
        <p:txBody>
          <a:bodyPr/>
          <a:lstStyle/>
          <a:p>
            <a:endParaRPr lang="en-US"/>
          </a:p>
        </p:txBody>
      </p:sp>
      <p:sp>
        <p:nvSpPr>
          <p:cNvPr id="51" name="Shape 48"/>
          <p:cNvSpPr/>
          <p:nvPr/>
        </p:nvSpPr>
        <p:spPr>
          <a:xfrm>
            <a:off x="8869680" y="5460579"/>
            <a:ext cx="1209751" cy="182880"/>
          </a:xfrm>
          <a:prstGeom prst="rect">
            <a:avLst/>
          </a:prstGeom>
          <a:solidFill>
            <a:srgbClr val="EA580C"/>
          </a:solidFill>
          <a:ln w="12700">
            <a:solidFill>
              <a:srgbClr val="EA580C"/>
            </a:solidFill>
            <a:prstDash val="solid"/>
          </a:ln>
        </p:spPr>
        <p:txBody>
          <a:bodyPr/>
          <a:lstStyle/>
          <a:p>
            <a:endParaRPr lang="en-US"/>
          </a:p>
        </p:txBody>
      </p:sp>
      <p:sp>
        <p:nvSpPr>
          <p:cNvPr id="52" name="Text 49"/>
          <p:cNvSpPr/>
          <p:nvPr/>
        </p:nvSpPr>
        <p:spPr>
          <a:xfrm>
            <a:off x="11109960" y="5277699"/>
            <a:ext cx="640080" cy="548640"/>
          </a:xfrm>
          <a:prstGeom prst="rect">
            <a:avLst/>
          </a:prstGeom>
          <a:noFill/>
          <a:ln/>
        </p:spPr>
        <p:txBody>
          <a:bodyPr wrap="square" rtlCol="0" anchor="ctr"/>
          <a:lstStyle/>
          <a:p>
            <a:pPr marL="0" indent="0" algn="r">
              <a:buNone/>
            </a:pPr>
            <a:r>
              <a:rPr lang="en-US" sz="1200" b="1" dirty="0">
                <a:solidFill>
                  <a:srgbClr val="EA580C"/>
                </a:solidFill>
                <a:latin typeface="Calibri" pitchFamily="34" charset="0"/>
                <a:ea typeface="Calibri" pitchFamily="34" charset="-122"/>
                <a:cs typeface="Calibri" pitchFamily="34" charset="-120"/>
              </a:rPr>
              <a:t>10.8%</a:t>
            </a:r>
            <a:endParaRPr lang="en-US" sz="1200" dirty="0"/>
          </a:p>
        </p:txBody>
      </p:sp>
      <p:sp>
        <p:nvSpPr>
          <p:cNvPr id="53" name="Shape 50"/>
          <p:cNvSpPr/>
          <p:nvPr/>
        </p:nvSpPr>
        <p:spPr>
          <a:xfrm>
            <a:off x="7223760" y="5891600"/>
            <a:ext cx="4572000" cy="621792"/>
          </a:xfrm>
          <a:prstGeom prst="roundRect">
            <a:avLst>
              <a:gd name="adj" fmla="val 11765"/>
            </a:avLst>
          </a:prstGeom>
          <a:solidFill>
            <a:srgbClr val="EDF9F0"/>
          </a:solidFill>
          <a:ln/>
        </p:spPr>
        <p:txBody>
          <a:bodyPr/>
          <a:lstStyle/>
          <a:p>
            <a:endParaRPr lang="en-US"/>
          </a:p>
        </p:txBody>
      </p:sp>
      <p:sp>
        <p:nvSpPr>
          <p:cNvPr id="54" name="Text 51"/>
          <p:cNvSpPr/>
          <p:nvPr/>
        </p:nvSpPr>
        <p:spPr>
          <a:xfrm>
            <a:off x="7360920" y="5937320"/>
            <a:ext cx="4297680" cy="512064"/>
          </a:xfrm>
          <a:prstGeom prst="rect">
            <a:avLst/>
          </a:prstGeom>
          <a:noFill/>
          <a:ln/>
        </p:spPr>
        <p:txBody>
          <a:bodyPr wrap="square" rtlCol="0" anchor="ctr"/>
          <a:lstStyle/>
          <a:p>
            <a:pPr marL="0" indent="0">
              <a:buNone/>
            </a:pPr>
            <a:r>
              <a:rPr lang="en-US" sz="950" b="1" dirty="0">
                <a:solidFill>
                  <a:srgbClr val="16A34A"/>
                </a:solidFill>
                <a:latin typeface="Calibri" pitchFamily="34" charset="0"/>
                <a:ea typeface="Calibri" pitchFamily="34" charset="-122"/>
                <a:cs typeface="Calibri" pitchFamily="34" charset="-120"/>
              </a:rPr>
              <a:t>Destinations : </a:t>
            </a:r>
            <a:r>
              <a:rPr lang="en-US" sz="950" dirty="0">
                <a:solidFill>
                  <a:srgbClr val="0A2240"/>
                </a:solidFill>
                <a:latin typeface="Calibri" pitchFamily="34" charset="0"/>
                <a:ea typeface="Calibri" pitchFamily="34" charset="-122"/>
                <a:cs typeface="Calibri" pitchFamily="34" charset="-120"/>
              </a:rPr>
              <a:t>Bamako 55,5% (17 407 TEU) | Ouagadougou 40,0% (12 549 TEU) | Bobo-Dioulasso 2,1%</a:t>
            </a:r>
            <a:endParaRPr lang="en-US" sz="950" dirty="0"/>
          </a:p>
          <a:p>
            <a:pPr marL="0" indent="0">
              <a:buNone/>
            </a:pPr>
            <a:r>
              <a:rPr lang="en-US" sz="950" dirty="0">
                <a:solidFill>
                  <a:srgbClr val="0A2240"/>
                </a:solidFill>
                <a:latin typeface="Calibri" pitchFamily="34" charset="0"/>
                <a:ea typeface="Calibri" pitchFamily="34" charset="-122"/>
                <a:cs typeface="Calibri" pitchFamily="34" charset="-120"/>
              </a:rPr>
              <a:t>Origines : Chine 55,5% | Indonésie 7,1% | Inde 6,8%</a:t>
            </a:r>
            <a:endParaRPr lang="en-US" sz="950" dirty="0"/>
          </a:p>
        </p:txBody>
      </p:sp>
      <p:sp>
        <p:nvSpPr>
          <p:cNvPr id="55" name="Shape 52"/>
          <p:cNvSpPr/>
          <p:nvPr/>
        </p:nvSpPr>
        <p:spPr>
          <a:xfrm>
            <a:off x="365760" y="6565392"/>
            <a:ext cx="11430000" cy="0"/>
          </a:xfrm>
          <a:prstGeom prst="line">
            <a:avLst/>
          </a:prstGeom>
          <a:noFill/>
          <a:ln w="6350">
            <a:solidFill>
              <a:srgbClr val="CBD5E1"/>
            </a:solidFill>
            <a:prstDash val="solid"/>
          </a:ln>
        </p:spPr>
        <p:txBody>
          <a:bodyPr/>
          <a:lstStyle/>
          <a:p>
            <a:endParaRPr lang="en-US"/>
          </a:p>
        </p:txBody>
      </p:sp>
      <p:sp>
        <p:nvSpPr>
          <p:cNvPr id="56" name="Text 53"/>
          <p:cNvSpPr/>
          <p:nvPr/>
        </p:nvSpPr>
        <p:spPr>
          <a:xfrm>
            <a:off x="365760" y="6601968"/>
            <a:ext cx="11430000" cy="201168"/>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Africa Global Logistics – Étude de Marché Jan–Mai 2026  |  p.12</a:t>
            </a:r>
            <a:endParaRPr lang="en-US" sz="850" dirty="0"/>
          </a:p>
        </p:txBody>
      </p:sp>
      <p:pic>
        <p:nvPicPr>
          <p:cNvPr id="58" name="Image 57" descr="Une image contenant texte, Police, Graphique, logo  Description générée automatiquement">
            <a:extLst>
              <a:ext uri="{FF2B5EF4-FFF2-40B4-BE49-F238E27FC236}">
                <a16:creationId xmlns:a16="http://schemas.microsoft.com/office/drawing/2014/main" id="{7E2D2627-44F7-2F64-2B99-5403D0A45800}"/>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1488450" y="6549898"/>
            <a:ext cx="450027" cy="29240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0A2240"/>
          </a:solidFill>
          <a:ln w="12700">
            <a:solidFill>
              <a:srgbClr val="0A2240"/>
            </a:solidFill>
            <a:prstDash val="solid"/>
          </a:ln>
        </p:spPr>
        <p:txBody>
          <a:bodyPr/>
          <a:lstStyle/>
          <a:p>
            <a:endParaRPr lang="en-US"/>
          </a:p>
        </p:txBody>
      </p:sp>
      <p:sp>
        <p:nvSpPr>
          <p:cNvPr id="3" name="Text 1"/>
          <p:cNvSpPr/>
          <p:nvPr/>
        </p:nvSpPr>
        <p:spPr>
          <a:xfrm>
            <a:off x="365760" y="54864"/>
            <a:ext cx="11430000" cy="65836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HINTERLAND IMPORT – CONCURRENTS &amp; SEGMENTS</a:t>
            </a:r>
            <a:endParaRPr lang="en-US" sz="2400" dirty="0"/>
          </a:p>
        </p:txBody>
      </p:sp>
      <p:sp>
        <p:nvSpPr>
          <p:cNvPr id="4" name="Text 2"/>
          <p:cNvSpPr/>
          <p:nvPr/>
        </p:nvSpPr>
        <p:spPr>
          <a:xfrm>
            <a:off x="365760" y="676656"/>
            <a:ext cx="11430000" cy="329184"/>
          </a:xfrm>
          <a:prstGeom prst="rect">
            <a:avLst/>
          </a:prstGeom>
          <a:noFill/>
          <a:ln/>
        </p:spPr>
        <p:txBody>
          <a:bodyPr wrap="square" rtlCol="0" anchor="ctr"/>
          <a:lstStyle/>
          <a:p>
            <a:pPr marL="0" indent="0">
              <a:buNone/>
            </a:pPr>
            <a:r>
              <a:rPr lang="en-US" sz="1200" i="1" dirty="0">
                <a:solidFill>
                  <a:srgbClr val="C8A951"/>
                </a:solidFill>
                <a:latin typeface="Calibri" pitchFamily="34" charset="0"/>
                <a:ea typeface="Calibri" pitchFamily="34" charset="-122"/>
                <a:cs typeface="Calibri" pitchFamily="34" charset="-120"/>
              </a:rPr>
              <a:t>UCT &amp; Sitracom dominent  |  AGL en reconquête  |  Cibles prioritaires</a:t>
            </a:r>
            <a:endParaRPr lang="en-US" sz="1200" dirty="0"/>
          </a:p>
        </p:txBody>
      </p:sp>
      <p:sp>
        <p:nvSpPr>
          <p:cNvPr id="5" name="Text 3"/>
          <p:cNvSpPr/>
          <p:nvPr/>
        </p:nvSpPr>
        <p:spPr>
          <a:xfrm>
            <a:off x="320040" y="1143000"/>
            <a:ext cx="5669280" cy="274320"/>
          </a:xfrm>
          <a:prstGeom prst="rect">
            <a:avLst/>
          </a:prstGeom>
          <a:noFill/>
          <a:ln/>
        </p:spPr>
        <p:txBody>
          <a:bodyPr wrap="square" rtlCol="0" anchor="ctr"/>
          <a:lstStyle/>
          <a:p>
            <a:pPr marL="0" indent="0">
              <a:buNone/>
            </a:pPr>
            <a:r>
              <a:rPr lang="en-US" sz="1200" b="1" dirty="0">
                <a:solidFill>
                  <a:srgbClr val="0A2240"/>
                </a:solidFill>
                <a:latin typeface="Calibri" pitchFamily="34" charset="0"/>
                <a:ea typeface="Calibri" pitchFamily="34" charset="-122"/>
                <a:cs typeface="Calibri" pitchFamily="34" charset="-120"/>
              </a:rPr>
              <a:t>Classement transitaires – Hinterland Import (qualifié)</a:t>
            </a:r>
            <a:endParaRPr lang="en-US" sz="1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320040" y="1463040"/>
          <a:ext cx="5760720" cy="3721608"/>
        </p:xfrm>
        <a:graphic>
          <a:graphicData uri="http://schemas.openxmlformats.org/drawingml/2006/table">
            <a:tbl>
              <a:tblPr/>
              <a:tblGrid>
                <a:gridCol w="4572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tblGrid>
              <a:tr h="338328">
                <a:tc>
                  <a:txBody>
                    <a:bodyPr/>
                    <a:lstStyle/>
                    <a:p>
                      <a:pPr marL="0" indent="0">
                        <a:buNone/>
                      </a:pPr>
                      <a:r>
                        <a:rPr lang="en-US" sz="1000" b="1" dirty="0">
                          <a:solidFill>
                            <a:srgbClr val="FFFFFF"/>
                          </a:solidFill>
                        </a:rPr>
                        <a:t>Rang</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buNone/>
                      </a:pPr>
                      <a:r>
                        <a:rPr lang="en-US" sz="1000" b="1" dirty="0">
                          <a:solidFill>
                            <a:srgbClr val="FFFFFF"/>
                          </a:solidFill>
                        </a:rPr>
                        <a:t>Transitaire</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lgn="ctr">
                        <a:buNone/>
                      </a:pPr>
                      <a:r>
                        <a:rPr lang="en-US" sz="1000" b="1" dirty="0">
                          <a:solidFill>
                            <a:srgbClr val="FFFFFF"/>
                          </a:solidFill>
                        </a:rPr>
                        <a:t>TEU</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lgn="ctr">
                        <a:buNone/>
                      </a:pPr>
                      <a:r>
                        <a:rPr lang="en-US" sz="1000" b="1" dirty="0">
                          <a:solidFill>
                            <a:srgbClr val="FFFFFF"/>
                          </a:solidFill>
                        </a:rPr>
                        <a:t>PDM</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extLst>
                  <a:ext uri="{0D108BD9-81ED-4DB2-BD59-A6C34878D82A}">
                    <a16:rowId xmlns:a16="http://schemas.microsoft.com/office/drawing/2014/main" val="10000"/>
                  </a:ext>
                </a:extLst>
              </a:tr>
              <a:tr h="338328">
                <a:tc>
                  <a:txBody>
                    <a:bodyPr/>
                    <a:lstStyle/>
                    <a:p>
                      <a:pPr marL="0" indent="0" algn="ctr">
                        <a:buNone/>
                      </a:pPr>
                      <a:r>
                        <a:rPr lang="en-US" sz="950" dirty="0">
                          <a:solidFill>
                            <a:srgbClr val="334155"/>
                          </a:solidFill>
                        </a:rPr>
                        <a:t>#1</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334155"/>
                          </a:solidFill>
                        </a:rPr>
                        <a:t>UNION CENTER TRANSIT CI</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7 559</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26,6 %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8328">
                <a:tc>
                  <a:txBody>
                    <a:bodyPr/>
                    <a:lstStyle/>
                    <a:p>
                      <a:pPr marL="0" indent="0" algn="ctr">
                        <a:buNone/>
                      </a:pPr>
                      <a:r>
                        <a:rPr lang="en-US" sz="950" dirty="0">
                          <a:solidFill>
                            <a:srgbClr val="334155"/>
                          </a:solidFill>
                        </a:rPr>
                        <a:t>#2</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334155"/>
                          </a:solidFill>
                        </a:rPr>
                        <a:t>SITRACOM CI</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7 208</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25,3 %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38328">
                <a:tc>
                  <a:txBody>
                    <a:bodyPr/>
                    <a:lstStyle/>
                    <a:p>
                      <a:pPr marL="0" indent="0" algn="ctr">
                        <a:buNone/>
                      </a:pPr>
                      <a:r>
                        <a:rPr lang="en-US" sz="950" b="1" dirty="0">
                          <a:solidFill>
                            <a:srgbClr val="FFFFFF"/>
                          </a:solidFill>
                        </a:rPr>
                        <a:t>#3</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C8A951"/>
                    </a:solidFill>
                  </a:tcPr>
                </a:tc>
                <a:tc>
                  <a:txBody>
                    <a:bodyPr/>
                    <a:lstStyle/>
                    <a:p>
                      <a:pPr marL="0" indent="0">
                        <a:buNone/>
                      </a:pPr>
                      <a:r>
                        <a:rPr lang="en-US" sz="950" b="1" dirty="0">
                          <a:solidFill>
                            <a:srgbClr val="0A2240"/>
                          </a:solidFill>
                        </a:rPr>
                        <a:t>AFRICA GLOBAL LOGISTICS</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9E6"/>
                    </a:solidFill>
                  </a:tcPr>
                </a:tc>
                <a:tc>
                  <a:txBody>
                    <a:bodyPr/>
                    <a:lstStyle/>
                    <a:p>
                      <a:pPr marL="0" indent="0" algn="ctr">
                        <a:buNone/>
                      </a:pPr>
                      <a:r>
                        <a:rPr lang="en-US" sz="950" b="1" dirty="0">
                          <a:solidFill>
                            <a:srgbClr val="0A2240"/>
                          </a:solidFill>
                        </a:rPr>
                        <a:t>3 214</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9E6"/>
                    </a:solidFill>
                  </a:tcPr>
                </a:tc>
                <a:tc>
                  <a:txBody>
                    <a:bodyPr/>
                    <a:lstStyle/>
                    <a:p>
                      <a:pPr marL="0" indent="0" algn="ctr">
                        <a:buNone/>
                      </a:pPr>
                      <a:r>
                        <a:rPr lang="en-US" sz="950" b="1" dirty="0">
                          <a:solidFill>
                            <a:srgbClr val="EA580C"/>
                          </a:solidFill>
                        </a:rPr>
                        <a:t>11,3 %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9E6"/>
                    </a:solidFill>
                  </a:tcPr>
                </a:tc>
                <a:extLst>
                  <a:ext uri="{0D108BD9-81ED-4DB2-BD59-A6C34878D82A}">
                    <a16:rowId xmlns:a16="http://schemas.microsoft.com/office/drawing/2014/main" val="10003"/>
                  </a:ext>
                </a:extLst>
              </a:tr>
              <a:tr h="338328">
                <a:tc>
                  <a:txBody>
                    <a:bodyPr/>
                    <a:lstStyle/>
                    <a:p>
                      <a:pPr marL="0" indent="0" algn="ctr">
                        <a:buNone/>
                      </a:pPr>
                      <a:r>
                        <a:rPr lang="en-US" sz="950" dirty="0">
                          <a:solidFill>
                            <a:srgbClr val="334155"/>
                          </a:solidFill>
                        </a:rPr>
                        <a:t>#4</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334155"/>
                          </a:solidFill>
                        </a:rPr>
                        <a:t>ECOTRAM CI</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1 249</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4,4 %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38328">
                <a:tc>
                  <a:txBody>
                    <a:bodyPr/>
                    <a:lstStyle/>
                    <a:p>
                      <a:pPr marL="0" indent="0" algn="ctr">
                        <a:buNone/>
                      </a:pPr>
                      <a:r>
                        <a:rPr lang="en-US" sz="950" dirty="0">
                          <a:solidFill>
                            <a:srgbClr val="334155"/>
                          </a:solidFill>
                        </a:rPr>
                        <a:t>#5</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334155"/>
                          </a:solidFill>
                        </a:rPr>
                        <a:t>CEVA LOGISTICS CI</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1 242</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4,4 %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38328">
                <a:tc>
                  <a:txBody>
                    <a:bodyPr/>
                    <a:lstStyle/>
                    <a:p>
                      <a:pPr marL="0" indent="0" algn="ctr">
                        <a:buNone/>
                      </a:pPr>
                      <a:r>
                        <a:rPr lang="en-US" sz="950" dirty="0">
                          <a:solidFill>
                            <a:srgbClr val="334155"/>
                          </a:solidFill>
                        </a:rPr>
                        <a:t>#6</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334155"/>
                          </a:solidFill>
                        </a:rPr>
                        <a:t>MAERSK LOGISTIC</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1 062</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3,7 %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38328">
                <a:tc>
                  <a:txBody>
                    <a:bodyPr/>
                    <a:lstStyle/>
                    <a:p>
                      <a:pPr marL="0" indent="0" algn="ctr">
                        <a:buNone/>
                      </a:pPr>
                      <a:r>
                        <a:rPr lang="en-US" sz="950" dirty="0">
                          <a:solidFill>
                            <a:srgbClr val="334155"/>
                          </a:solidFill>
                        </a:rPr>
                        <a:t>#7</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334155"/>
                          </a:solidFill>
                        </a:rPr>
                        <a:t>FM GENERAL SERVICES</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955</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3,4 %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38328">
                <a:tc>
                  <a:txBody>
                    <a:bodyPr/>
                    <a:lstStyle/>
                    <a:p>
                      <a:pPr marL="0" indent="0" algn="ctr">
                        <a:buNone/>
                      </a:pPr>
                      <a:r>
                        <a:rPr lang="en-US" sz="950" dirty="0">
                          <a:solidFill>
                            <a:srgbClr val="334155"/>
                          </a:solidFill>
                        </a:rPr>
                        <a:t>#8</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334155"/>
                          </a:solidFill>
                        </a:rPr>
                        <a:t>EBURNEENE LOG. TRANSIT.</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928</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3,3 %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38328">
                <a:tc>
                  <a:txBody>
                    <a:bodyPr/>
                    <a:lstStyle/>
                    <a:p>
                      <a:pPr marL="0" indent="0" algn="ctr">
                        <a:buNone/>
                      </a:pPr>
                      <a:r>
                        <a:rPr lang="en-US" sz="950" dirty="0">
                          <a:solidFill>
                            <a:srgbClr val="334155"/>
                          </a:solidFill>
                        </a:rPr>
                        <a:t>#9</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334155"/>
                          </a:solidFill>
                        </a:rPr>
                        <a:t>SOCOCIB TRANSIT</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886</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3,1 %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38328">
                <a:tc>
                  <a:txBody>
                    <a:bodyPr/>
                    <a:lstStyle/>
                    <a:p>
                      <a:pPr marL="0" indent="0" algn="ctr">
                        <a:buNone/>
                      </a:pPr>
                      <a:r>
                        <a:rPr lang="en-US" sz="950" dirty="0">
                          <a:solidFill>
                            <a:srgbClr val="334155"/>
                          </a:solidFill>
                        </a:rPr>
                        <a:t>#10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334155"/>
                          </a:solidFill>
                        </a:rPr>
                        <a:t>MEDLOG CI</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855</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3,0 %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
        <p:nvSpPr>
          <p:cNvPr id="7" name="Text 4"/>
          <p:cNvSpPr/>
          <p:nvPr/>
        </p:nvSpPr>
        <p:spPr>
          <a:xfrm>
            <a:off x="6217920" y="1143000"/>
            <a:ext cx="5577840" cy="274320"/>
          </a:xfrm>
          <a:prstGeom prst="rect">
            <a:avLst/>
          </a:prstGeom>
          <a:noFill/>
          <a:ln/>
        </p:spPr>
        <p:txBody>
          <a:bodyPr wrap="square" rtlCol="0" anchor="ctr"/>
          <a:lstStyle/>
          <a:p>
            <a:pPr marL="0" indent="0">
              <a:buNone/>
            </a:pPr>
            <a:r>
              <a:rPr lang="en-US" sz="1200" b="1" dirty="0">
                <a:solidFill>
                  <a:srgbClr val="0A2240"/>
                </a:solidFill>
                <a:latin typeface="Calibri" pitchFamily="34" charset="0"/>
                <a:ea typeface="Calibri" pitchFamily="34" charset="-122"/>
                <a:cs typeface="Calibri" pitchFamily="34" charset="-120"/>
              </a:rPr>
              <a:t>PDM AGL par marchandise – Hinterland Import</a:t>
            </a:r>
            <a:endParaRPr lang="en-US" sz="1200" dirty="0"/>
          </a:p>
        </p:txBody>
      </p:sp>
      <p:sp>
        <p:nvSpPr>
          <p:cNvPr id="8" name="Text 5"/>
          <p:cNvSpPr/>
          <p:nvPr/>
        </p:nvSpPr>
        <p:spPr>
          <a:xfrm>
            <a:off x="6217920" y="1463040"/>
            <a:ext cx="2286000" cy="438912"/>
          </a:xfrm>
          <a:prstGeom prst="rect">
            <a:avLst/>
          </a:prstGeom>
          <a:noFill/>
          <a:ln/>
        </p:spPr>
        <p:txBody>
          <a:bodyPr wrap="square" rtlCol="0" anchor="ctr"/>
          <a:lstStyle/>
          <a:p>
            <a:pPr marL="0" indent="0">
              <a:buNone/>
            </a:pPr>
            <a:r>
              <a:rPr lang="en-US" sz="900" dirty="0">
                <a:solidFill>
                  <a:srgbClr val="334155"/>
                </a:solidFill>
                <a:latin typeface="Calibri" pitchFamily="34" charset="0"/>
                <a:ea typeface="Calibri" pitchFamily="34" charset="-122"/>
                <a:cs typeface="Calibri" pitchFamily="34" charset="-120"/>
              </a:rPr>
              <a:t>MALT</a:t>
            </a:r>
            <a:endParaRPr lang="en-US" sz="900" dirty="0"/>
          </a:p>
        </p:txBody>
      </p:sp>
      <p:sp>
        <p:nvSpPr>
          <p:cNvPr id="9" name="Text 6"/>
          <p:cNvSpPr/>
          <p:nvPr/>
        </p:nvSpPr>
        <p:spPr>
          <a:xfrm>
            <a:off x="8549640" y="1463040"/>
            <a:ext cx="1143000" cy="438912"/>
          </a:xfrm>
          <a:prstGeom prst="rect">
            <a:avLst/>
          </a:prstGeom>
          <a:noFill/>
          <a:ln/>
        </p:spPr>
        <p:txBody>
          <a:bodyPr wrap="square" rtlCol="0" anchor="ctr"/>
          <a:lstStyle/>
          <a:p>
            <a:pPr marL="0" indent="0" algn="r">
              <a:buNone/>
            </a:pPr>
            <a:r>
              <a:rPr lang="en-US" sz="850" dirty="0">
                <a:solidFill>
                  <a:srgbClr val="64748B"/>
                </a:solidFill>
                <a:latin typeface="Calibri" pitchFamily="34" charset="0"/>
                <a:ea typeface="Calibri" pitchFamily="34" charset="-122"/>
                <a:cs typeface="Calibri" pitchFamily="34" charset="-120"/>
              </a:rPr>
              <a:t>439 TEU</a:t>
            </a:r>
            <a:endParaRPr lang="en-US" sz="850" dirty="0"/>
          </a:p>
        </p:txBody>
      </p:sp>
      <p:sp>
        <p:nvSpPr>
          <p:cNvPr id="10" name="Shape 7"/>
          <p:cNvSpPr/>
          <p:nvPr/>
        </p:nvSpPr>
        <p:spPr>
          <a:xfrm>
            <a:off x="9738360" y="1581912"/>
            <a:ext cx="1554480" cy="164592"/>
          </a:xfrm>
          <a:prstGeom prst="rect">
            <a:avLst/>
          </a:prstGeom>
          <a:solidFill>
            <a:srgbClr val="CBD5E1"/>
          </a:solidFill>
          <a:ln w="12700">
            <a:solidFill>
              <a:srgbClr val="CBD5E1"/>
            </a:solidFill>
            <a:prstDash val="solid"/>
          </a:ln>
        </p:spPr>
        <p:txBody>
          <a:bodyPr/>
          <a:lstStyle/>
          <a:p>
            <a:endParaRPr lang="en-US"/>
          </a:p>
        </p:txBody>
      </p:sp>
      <p:sp>
        <p:nvSpPr>
          <p:cNvPr id="11" name="Shape 8"/>
          <p:cNvSpPr/>
          <p:nvPr/>
        </p:nvSpPr>
        <p:spPr>
          <a:xfrm>
            <a:off x="9738360" y="1581912"/>
            <a:ext cx="1136325" cy="164592"/>
          </a:xfrm>
          <a:prstGeom prst="rect">
            <a:avLst/>
          </a:prstGeom>
          <a:solidFill>
            <a:srgbClr val="16A34A"/>
          </a:solidFill>
          <a:ln w="12700">
            <a:solidFill>
              <a:srgbClr val="16A34A"/>
            </a:solidFill>
            <a:prstDash val="solid"/>
          </a:ln>
        </p:spPr>
        <p:txBody>
          <a:bodyPr/>
          <a:lstStyle/>
          <a:p>
            <a:endParaRPr lang="en-US"/>
          </a:p>
        </p:txBody>
      </p:sp>
      <p:sp>
        <p:nvSpPr>
          <p:cNvPr id="12" name="Text 9"/>
          <p:cNvSpPr/>
          <p:nvPr/>
        </p:nvSpPr>
        <p:spPr>
          <a:xfrm>
            <a:off x="11320272" y="1463040"/>
            <a:ext cx="530352" cy="438912"/>
          </a:xfrm>
          <a:prstGeom prst="rect">
            <a:avLst/>
          </a:prstGeom>
          <a:noFill/>
          <a:ln/>
        </p:spPr>
        <p:txBody>
          <a:bodyPr wrap="square" rtlCol="0" anchor="ctr"/>
          <a:lstStyle/>
          <a:p>
            <a:pPr marL="0" indent="0" algn="r">
              <a:buNone/>
            </a:pPr>
            <a:r>
              <a:rPr lang="en-US" sz="950" b="1" dirty="0">
                <a:solidFill>
                  <a:srgbClr val="16A34A"/>
                </a:solidFill>
                <a:latin typeface="Calibri" pitchFamily="34" charset="0"/>
                <a:ea typeface="Calibri" pitchFamily="34" charset="-122"/>
                <a:cs typeface="Calibri" pitchFamily="34" charset="-120"/>
              </a:rPr>
              <a:t>73%</a:t>
            </a:r>
            <a:endParaRPr lang="en-US" sz="950" dirty="0"/>
          </a:p>
        </p:txBody>
      </p:sp>
      <p:sp>
        <p:nvSpPr>
          <p:cNvPr id="13" name="Text 10"/>
          <p:cNvSpPr/>
          <p:nvPr/>
        </p:nvSpPr>
        <p:spPr>
          <a:xfrm>
            <a:off x="6217920" y="1920240"/>
            <a:ext cx="2286000" cy="438912"/>
          </a:xfrm>
          <a:prstGeom prst="rect">
            <a:avLst/>
          </a:prstGeom>
          <a:noFill/>
          <a:ln/>
        </p:spPr>
        <p:txBody>
          <a:bodyPr wrap="square" rtlCol="0" anchor="ctr"/>
          <a:lstStyle/>
          <a:p>
            <a:pPr marL="0" indent="0">
              <a:buNone/>
            </a:pPr>
            <a:r>
              <a:rPr lang="en-US" sz="900" dirty="0">
                <a:solidFill>
                  <a:srgbClr val="334155"/>
                </a:solidFill>
                <a:latin typeface="Calibri" pitchFamily="34" charset="0"/>
                <a:ea typeface="Calibri" pitchFamily="34" charset="-122"/>
                <a:cs typeface="Calibri" pitchFamily="34" charset="-120"/>
              </a:rPr>
              <a:t>MATÉRIELS MINIERS</a:t>
            </a:r>
            <a:endParaRPr lang="en-US" sz="900" dirty="0"/>
          </a:p>
        </p:txBody>
      </p:sp>
      <p:sp>
        <p:nvSpPr>
          <p:cNvPr id="6" name="Text 11"/>
          <p:cNvSpPr/>
          <p:nvPr/>
        </p:nvSpPr>
        <p:spPr>
          <a:xfrm>
            <a:off x="8549640" y="1920240"/>
            <a:ext cx="1143000" cy="438912"/>
          </a:xfrm>
          <a:prstGeom prst="rect">
            <a:avLst/>
          </a:prstGeom>
          <a:noFill/>
          <a:ln/>
        </p:spPr>
        <p:txBody>
          <a:bodyPr wrap="square" rtlCol="0" anchor="ctr"/>
          <a:lstStyle/>
          <a:p>
            <a:pPr marL="0" indent="0" algn="r">
              <a:buNone/>
            </a:pPr>
            <a:r>
              <a:rPr lang="en-US" sz="850" dirty="0">
                <a:solidFill>
                  <a:srgbClr val="64748B"/>
                </a:solidFill>
                <a:latin typeface="Calibri" pitchFamily="34" charset="0"/>
                <a:ea typeface="Calibri" pitchFamily="34" charset="-122"/>
                <a:cs typeface="Calibri" pitchFamily="34" charset="-120"/>
              </a:rPr>
              <a:t>600 TEU</a:t>
            </a:r>
            <a:endParaRPr lang="en-US" sz="850" dirty="0"/>
          </a:p>
        </p:txBody>
      </p:sp>
      <p:sp>
        <p:nvSpPr>
          <p:cNvPr id="15" name="Shape 12"/>
          <p:cNvSpPr/>
          <p:nvPr/>
        </p:nvSpPr>
        <p:spPr>
          <a:xfrm>
            <a:off x="9738360" y="2039112"/>
            <a:ext cx="1554480" cy="164592"/>
          </a:xfrm>
          <a:prstGeom prst="rect">
            <a:avLst/>
          </a:prstGeom>
          <a:solidFill>
            <a:srgbClr val="CBD5E1"/>
          </a:solidFill>
          <a:ln w="12700">
            <a:solidFill>
              <a:srgbClr val="CBD5E1"/>
            </a:solidFill>
            <a:prstDash val="solid"/>
          </a:ln>
        </p:spPr>
        <p:txBody>
          <a:bodyPr/>
          <a:lstStyle/>
          <a:p>
            <a:endParaRPr lang="en-US"/>
          </a:p>
        </p:txBody>
      </p:sp>
      <p:sp>
        <p:nvSpPr>
          <p:cNvPr id="16" name="Shape 13"/>
          <p:cNvSpPr/>
          <p:nvPr/>
        </p:nvSpPr>
        <p:spPr>
          <a:xfrm>
            <a:off x="9738360" y="2039112"/>
            <a:ext cx="777240" cy="164592"/>
          </a:xfrm>
          <a:prstGeom prst="rect">
            <a:avLst/>
          </a:prstGeom>
          <a:solidFill>
            <a:srgbClr val="16A34A"/>
          </a:solidFill>
          <a:ln w="12700">
            <a:solidFill>
              <a:srgbClr val="16A34A"/>
            </a:solidFill>
            <a:prstDash val="solid"/>
          </a:ln>
        </p:spPr>
        <p:txBody>
          <a:bodyPr/>
          <a:lstStyle/>
          <a:p>
            <a:endParaRPr lang="en-US"/>
          </a:p>
        </p:txBody>
      </p:sp>
      <p:sp>
        <p:nvSpPr>
          <p:cNvPr id="17" name="Text 14"/>
          <p:cNvSpPr/>
          <p:nvPr/>
        </p:nvSpPr>
        <p:spPr>
          <a:xfrm>
            <a:off x="11320272" y="1920240"/>
            <a:ext cx="530352" cy="438912"/>
          </a:xfrm>
          <a:prstGeom prst="rect">
            <a:avLst/>
          </a:prstGeom>
          <a:noFill/>
          <a:ln/>
        </p:spPr>
        <p:txBody>
          <a:bodyPr wrap="square" rtlCol="0" anchor="ctr"/>
          <a:lstStyle/>
          <a:p>
            <a:pPr marL="0" indent="0" algn="r">
              <a:buNone/>
            </a:pPr>
            <a:r>
              <a:rPr lang="en-US" sz="950" b="1" dirty="0">
                <a:solidFill>
                  <a:srgbClr val="16A34A"/>
                </a:solidFill>
                <a:latin typeface="Calibri" pitchFamily="34" charset="0"/>
                <a:ea typeface="Calibri" pitchFamily="34" charset="-122"/>
                <a:cs typeface="Calibri" pitchFamily="34" charset="-120"/>
              </a:rPr>
              <a:t>50%</a:t>
            </a:r>
            <a:endParaRPr lang="en-US" sz="950" dirty="0"/>
          </a:p>
        </p:txBody>
      </p:sp>
      <p:sp>
        <p:nvSpPr>
          <p:cNvPr id="18" name="Text 15"/>
          <p:cNvSpPr/>
          <p:nvPr/>
        </p:nvSpPr>
        <p:spPr>
          <a:xfrm>
            <a:off x="6217920" y="2377440"/>
            <a:ext cx="2286000" cy="438912"/>
          </a:xfrm>
          <a:prstGeom prst="rect">
            <a:avLst/>
          </a:prstGeom>
          <a:noFill/>
          <a:ln/>
        </p:spPr>
        <p:txBody>
          <a:bodyPr wrap="square" rtlCol="0" anchor="ctr"/>
          <a:lstStyle/>
          <a:p>
            <a:pPr marL="0" indent="0">
              <a:buNone/>
            </a:pPr>
            <a:r>
              <a:rPr lang="en-US" sz="900" dirty="0">
                <a:solidFill>
                  <a:srgbClr val="334155"/>
                </a:solidFill>
                <a:latin typeface="Calibri" pitchFamily="34" charset="0"/>
                <a:ea typeface="Calibri" pitchFamily="34" charset="-122"/>
                <a:cs typeface="Calibri" pitchFamily="34" charset="-120"/>
              </a:rPr>
              <a:t>PÂTES ALIMENTAIRES</a:t>
            </a:r>
            <a:endParaRPr lang="en-US" sz="900" dirty="0"/>
          </a:p>
        </p:txBody>
      </p:sp>
      <p:sp>
        <p:nvSpPr>
          <p:cNvPr id="19" name="Text 16"/>
          <p:cNvSpPr/>
          <p:nvPr/>
        </p:nvSpPr>
        <p:spPr>
          <a:xfrm>
            <a:off x="8549640" y="2377440"/>
            <a:ext cx="1143000" cy="438912"/>
          </a:xfrm>
          <a:prstGeom prst="rect">
            <a:avLst/>
          </a:prstGeom>
          <a:noFill/>
          <a:ln/>
        </p:spPr>
        <p:txBody>
          <a:bodyPr wrap="square" rtlCol="0" anchor="ctr"/>
          <a:lstStyle/>
          <a:p>
            <a:pPr marL="0" indent="0" algn="r">
              <a:buNone/>
            </a:pPr>
            <a:r>
              <a:rPr lang="en-US" sz="850" dirty="0">
                <a:solidFill>
                  <a:srgbClr val="64748B"/>
                </a:solidFill>
                <a:latin typeface="Calibri" pitchFamily="34" charset="0"/>
                <a:ea typeface="Calibri" pitchFamily="34" charset="-122"/>
                <a:cs typeface="Calibri" pitchFamily="34" charset="-120"/>
              </a:rPr>
              <a:t>528 TEU</a:t>
            </a:r>
            <a:endParaRPr lang="en-US" sz="850" dirty="0"/>
          </a:p>
        </p:txBody>
      </p:sp>
      <p:sp>
        <p:nvSpPr>
          <p:cNvPr id="20" name="Shape 17"/>
          <p:cNvSpPr/>
          <p:nvPr/>
        </p:nvSpPr>
        <p:spPr>
          <a:xfrm>
            <a:off x="9738360" y="2496312"/>
            <a:ext cx="1554480" cy="164592"/>
          </a:xfrm>
          <a:prstGeom prst="rect">
            <a:avLst/>
          </a:prstGeom>
          <a:solidFill>
            <a:srgbClr val="CBD5E1"/>
          </a:solidFill>
          <a:ln w="12700">
            <a:solidFill>
              <a:srgbClr val="CBD5E1"/>
            </a:solidFill>
            <a:prstDash val="solid"/>
          </a:ln>
        </p:spPr>
        <p:txBody>
          <a:bodyPr/>
          <a:lstStyle/>
          <a:p>
            <a:endParaRPr lang="en-US"/>
          </a:p>
        </p:txBody>
      </p:sp>
      <p:sp>
        <p:nvSpPr>
          <p:cNvPr id="21" name="Shape 18"/>
          <p:cNvSpPr/>
          <p:nvPr/>
        </p:nvSpPr>
        <p:spPr>
          <a:xfrm>
            <a:off x="9738360" y="2496312"/>
            <a:ext cx="483443" cy="164592"/>
          </a:xfrm>
          <a:prstGeom prst="rect">
            <a:avLst/>
          </a:prstGeom>
          <a:solidFill>
            <a:srgbClr val="1E40AF"/>
          </a:solidFill>
          <a:ln w="12700">
            <a:solidFill>
              <a:srgbClr val="1E40AF"/>
            </a:solidFill>
            <a:prstDash val="solid"/>
          </a:ln>
        </p:spPr>
        <p:txBody>
          <a:bodyPr/>
          <a:lstStyle/>
          <a:p>
            <a:endParaRPr lang="en-US"/>
          </a:p>
        </p:txBody>
      </p:sp>
      <p:sp>
        <p:nvSpPr>
          <p:cNvPr id="22" name="Text 19"/>
          <p:cNvSpPr/>
          <p:nvPr/>
        </p:nvSpPr>
        <p:spPr>
          <a:xfrm>
            <a:off x="11320272" y="2377440"/>
            <a:ext cx="530352" cy="438912"/>
          </a:xfrm>
          <a:prstGeom prst="rect">
            <a:avLst/>
          </a:prstGeom>
          <a:noFill/>
          <a:ln/>
        </p:spPr>
        <p:txBody>
          <a:bodyPr wrap="square" rtlCol="0" anchor="ctr"/>
          <a:lstStyle/>
          <a:p>
            <a:pPr marL="0" indent="0" algn="r">
              <a:buNone/>
            </a:pPr>
            <a:r>
              <a:rPr lang="en-US" sz="950" b="1" dirty="0">
                <a:solidFill>
                  <a:srgbClr val="1E40AF"/>
                </a:solidFill>
                <a:latin typeface="Calibri" pitchFamily="34" charset="0"/>
                <a:ea typeface="Calibri" pitchFamily="34" charset="-122"/>
                <a:cs typeface="Calibri" pitchFamily="34" charset="-120"/>
              </a:rPr>
              <a:t>31%</a:t>
            </a:r>
            <a:endParaRPr lang="en-US" sz="950" dirty="0"/>
          </a:p>
        </p:txBody>
      </p:sp>
      <p:sp>
        <p:nvSpPr>
          <p:cNvPr id="23" name="Text 20"/>
          <p:cNvSpPr/>
          <p:nvPr/>
        </p:nvSpPr>
        <p:spPr>
          <a:xfrm>
            <a:off x="6217920" y="2834640"/>
            <a:ext cx="2286000" cy="438912"/>
          </a:xfrm>
          <a:prstGeom prst="rect">
            <a:avLst/>
          </a:prstGeom>
          <a:noFill/>
          <a:ln/>
        </p:spPr>
        <p:txBody>
          <a:bodyPr wrap="square" rtlCol="0" anchor="ctr"/>
          <a:lstStyle/>
          <a:p>
            <a:pPr marL="0" indent="0">
              <a:buNone/>
            </a:pPr>
            <a:r>
              <a:rPr lang="en-US" sz="900" dirty="0">
                <a:solidFill>
                  <a:srgbClr val="334155"/>
                </a:solidFill>
                <a:latin typeface="Calibri" pitchFamily="34" charset="0"/>
                <a:ea typeface="Calibri" pitchFamily="34" charset="-122"/>
                <a:cs typeface="Calibri" pitchFamily="34" charset="-120"/>
              </a:rPr>
              <a:t>HUILE ALIMENTAIRE</a:t>
            </a:r>
            <a:endParaRPr lang="en-US" sz="900" dirty="0"/>
          </a:p>
        </p:txBody>
      </p:sp>
      <p:sp>
        <p:nvSpPr>
          <p:cNvPr id="24" name="Text 21"/>
          <p:cNvSpPr/>
          <p:nvPr/>
        </p:nvSpPr>
        <p:spPr>
          <a:xfrm>
            <a:off x="8549640" y="2834640"/>
            <a:ext cx="1143000" cy="438912"/>
          </a:xfrm>
          <a:prstGeom prst="rect">
            <a:avLst/>
          </a:prstGeom>
          <a:noFill/>
          <a:ln/>
        </p:spPr>
        <p:txBody>
          <a:bodyPr wrap="square" rtlCol="0" anchor="ctr"/>
          <a:lstStyle/>
          <a:p>
            <a:pPr marL="0" indent="0" algn="r">
              <a:buNone/>
            </a:pPr>
            <a:r>
              <a:rPr lang="en-US" sz="850" dirty="0">
                <a:solidFill>
                  <a:srgbClr val="64748B"/>
                </a:solidFill>
                <a:latin typeface="Calibri" pitchFamily="34" charset="0"/>
                <a:ea typeface="Calibri" pitchFamily="34" charset="-122"/>
                <a:cs typeface="Calibri" pitchFamily="34" charset="-120"/>
              </a:rPr>
              <a:t>3,069 TEU</a:t>
            </a:r>
            <a:endParaRPr lang="en-US" sz="850" dirty="0"/>
          </a:p>
        </p:txBody>
      </p:sp>
      <p:sp>
        <p:nvSpPr>
          <p:cNvPr id="25" name="Shape 22"/>
          <p:cNvSpPr/>
          <p:nvPr/>
        </p:nvSpPr>
        <p:spPr>
          <a:xfrm>
            <a:off x="9738360" y="2953512"/>
            <a:ext cx="1554480" cy="164592"/>
          </a:xfrm>
          <a:prstGeom prst="rect">
            <a:avLst/>
          </a:prstGeom>
          <a:solidFill>
            <a:srgbClr val="CBD5E1"/>
          </a:solidFill>
          <a:ln w="12700">
            <a:solidFill>
              <a:srgbClr val="CBD5E1"/>
            </a:solidFill>
            <a:prstDash val="solid"/>
          </a:ln>
        </p:spPr>
        <p:txBody>
          <a:bodyPr/>
          <a:lstStyle/>
          <a:p>
            <a:endParaRPr lang="en-US"/>
          </a:p>
        </p:txBody>
      </p:sp>
      <p:sp>
        <p:nvSpPr>
          <p:cNvPr id="26" name="Shape 23"/>
          <p:cNvSpPr/>
          <p:nvPr/>
        </p:nvSpPr>
        <p:spPr>
          <a:xfrm>
            <a:off x="9738360" y="2953512"/>
            <a:ext cx="430591" cy="164592"/>
          </a:xfrm>
          <a:prstGeom prst="rect">
            <a:avLst/>
          </a:prstGeom>
          <a:solidFill>
            <a:srgbClr val="1E40AF"/>
          </a:solidFill>
          <a:ln w="12700">
            <a:solidFill>
              <a:srgbClr val="1E40AF"/>
            </a:solidFill>
            <a:prstDash val="solid"/>
          </a:ln>
        </p:spPr>
        <p:txBody>
          <a:bodyPr/>
          <a:lstStyle/>
          <a:p>
            <a:endParaRPr lang="en-US"/>
          </a:p>
        </p:txBody>
      </p:sp>
      <p:sp>
        <p:nvSpPr>
          <p:cNvPr id="27" name="Text 24"/>
          <p:cNvSpPr/>
          <p:nvPr/>
        </p:nvSpPr>
        <p:spPr>
          <a:xfrm>
            <a:off x="11320272" y="2834640"/>
            <a:ext cx="530352" cy="438912"/>
          </a:xfrm>
          <a:prstGeom prst="rect">
            <a:avLst/>
          </a:prstGeom>
          <a:noFill/>
          <a:ln/>
        </p:spPr>
        <p:txBody>
          <a:bodyPr wrap="square" rtlCol="0" anchor="ctr"/>
          <a:lstStyle/>
          <a:p>
            <a:pPr marL="0" indent="0" algn="r">
              <a:buNone/>
            </a:pPr>
            <a:r>
              <a:rPr lang="en-US" sz="950" b="1" dirty="0">
                <a:solidFill>
                  <a:srgbClr val="1E40AF"/>
                </a:solidFill>
                <a:latin typeface="Calibri" pitchFamily="34" charset="0"/>
                <a:ea typeface="Calibri" pitchFamily="34" charset="-122"/>
                <a:cs typeface="Calibri" pitchFamily="34" charset="-120"/>
              </a:rPr>
              <a:t>28%</a:t>
            </a:r>
            <a:endParaRPr lang="en-US" sz="950" dirty="0"/>
          </a:p>
        </p:txBody>
      </p:sp>
      <p:sp>
        <p:nvSpPr>
          <p:cNvPr id="28" name="Text 25"/>
          <p:cNvSpPr/>
          <p:nvPr/>
        </p:nvSpPr>
        <p:spPr>
          <a:xfrm>
            <a:off x="6217920" y="3291840"/>
            <a:ext cx="2286000" cy="438912"/>
          </a:xfrm>
          <a:prstGeom prst="rect">
            <a:avLst/>
          </a:prstGeom>
          <a:noFill/>
          <a:ln/>
        </p:spPr>
        <p:txBody>
          <a:bodyPr wrap="square" rtlCol="0" anchor="ctr"/>
          <a:lstStyle/>
          <a:p>
            <a:pPr marL="0" indent="0">
              <a:buNone/>
            </a:pPr>
            <a:r>
              <a:rPr lang="en-US" sz="900" dirty="0">
                <a:solidFill>
                  <a:srgbClr val="334155"/>
                </a:solidFill>
                <a:latin typeface="Calibri" pitchFamily="34" charset="0"/>
                <a:ea typeface="Calibri" pitchFamily="34" charset="-122"/>
                <a:cs typeface="Calibri" pitchFamily="34" charset="-120"/>
              </a:rPr>
              <a:t>RIZ</a:t>
            </a:r>
            <a:endParaRPr lang="en-US" sz="900" dirty="0"/>
          </a:p>
        </p:txBody>
      </p:sp>
      <p:sp>
        <p:nvSpPr>
          <p:cNvPr id="29" name="Text 26"/>
          <p:cNvSpPr/>
          <p:nvPr/>
        </p:nvSpPr>
        <p:spPr>
          <a:xfrm>
            <a:off x="8549640" y="3291840"/>
            <a:ext cx="1143000" cy="438912"/>
          </a:xfrm>
          <a:prstGeom prst="rect">
            <a:avLst/>
          </a:prstGeom>
          <a:noFill/>
          <a:ln/>
        </p:spPr>
        <p:txBody>
          <a:bodyPr wrap="square" rtlCol="0" anchor="ctr"/>
          <a:lstStyle/>
          <a:p>
            <a:pPr marL="0" indent="0" algn="r">
              <a:buNone/>
            </a:pPr>
            <a:r>
              <a:rPr lang="en-US" sz="850" dirty="0">
                <a:solidFill>
                  <a:srgbClr val="64748B"/>
                </a:solidFill>
                <a:latin typeface="Calibri" pitchFamily="34" charset="0"/>
                <a:ea typeface="Calibri" pitchFamily="34" charset="-122"/>
                <a:cs typeface="Calibri" pitchFamily="34" charset="-120"/>
              </a:rPr>
              <a:t>736 TEU</a:t>
            </a:r>
            <a:endParaRPr lang="en-US" sz="850" dirty="0"/>
          </a:p>
        </p:txBody>
      </p:sp>
      <p:sp>
        <p:nvSpPr>
          <p:cNvPr id="30" name="Shape 27"/>
          <p:cNvSpPr/>
          <p:nvPr/>
        </p:nvSpPr>
        <p:spPr>
          <a:xfrm>
            <a:off x="9738360" y="3410712"/>
            <a:ext cx="1554480" cy="164592"/>
          </a:xfrm>
          <a:prstGeom prst="rect">
            <a:avLst/>
          </a:prstGeom>
          <a:solidFill>
            <a:srgbClr val="CBD5E1"/>
          </a:solidFill>
          <a:ln w="12700">
            <a:solidFill>
              <a:srgbClr val="CBD5E1"/>
            </a:solidFill>
            <a:prstDash val="solid"/>
          </a:ln>
        </p:spPr>
        <p:txBody>
          <a:bodyPr/>
          <a:lstStyle/>
          <a:p>
            <a:endParaRPr lang="en-US"/>
          </a:p>
        </p:txBody>
      </p:sp>
      <p:sp>
        <p:nvSpPr>
          <p:cNvPr id="31" name="Shape 28"/>
          <p:cNvSpPr/>
          <p:nvPr/>
        </p:nvSpPr>
        <p:spPr>
          <a:xfrm>
            <a:off x="9738360" y="3410712"/>
            <a:ext cx="317114" cy="164592"/>
          </a:xfrm>
          <a:prstGeom prst="rect">
            <a:avLst/>
          </a:prstGeom>
          <a:solidFill>
            <a:srgbClr val="EA580C"/>
          </a:solidFill>
          <a:ln w="12700">
            <a:solidFill>
              <a:srgbClr val="EA580C"/>
            </a:solidFill>
            <a:prstDash val="solid"/>
          </a:ln>
        </p:spPr>
        <p:txBody>
          <a:bodyPr/>
          <a:lstStyle/>
          <a:p>
            <a:endParaRPr lang="en-US"/>
          </a:p>
        </p:txBody>
      </p:sp>
      <p:sp>
        <p:nvSpPr>
          <p:cNvPr id="32" name="Text 29"/>
          <p:cNvSpPr/>
          <p:nvPr/>
        </p:nvSpPr>
        <p:spPr>
          <a:xfrm>
            <a:off x="11320272" y="3291840"/>
            <a:ext cx="530352" cy="438912"/>
          </a:xfrm>
          <a:prstGeom prst="rect">
            <a:avLst/>
          </a:prstGeom>
          <a:noFill/>
          <a:ln/>
        </p:spPr>
        <p:txBody>
          <a:bodyPr wrap="square" rtlCol="0" anchor="ctr"/>
          <a:lstStyle/>
          <a:p>
            <a:pPr marL="0" indent="0" algn="r">
              <a:buNone/>
            </a:pPr>
            <a:r>
              <a:rPr lang="en-US" sz="950" b="1" dirty="0">
                <a:solidFill>
                  <a:srgbClr val="EA580C"/>
                </a:solidFill>
                <a:latin typeface="Calibri" pitchFamily="34" charset="0"/>
                <a:ea typeface="Calibri" pitchFamily="34" charset="-122"/>
                <a:cs typeface="Calibri" pitchFamily="34" charset="-120"/>
              </a:rPr>
              <a:t>20%</a:t>
            </a:r>
            <a:endParaRPr lang="en-US" sz="950" dirty="0"/>
          </a:p>
        </p:txBody>
      </p:sp>
      <p:sp>
        <p:nvSpPr>
          <p:cNvPr id="33" name="Text 30"/>
          <p:cNvSpPr/>
          <p:nvPr/>
        </p:nvSpPr>
        <p:spPr>
          <a:xfrm>
            <a:off x="6217920" y="3749040"/>
            <a:ext cx="2286000" cy="438912"/>
          </a:xfrm>
          <a:prstGeom prst="rect">
            <a:avLst/>
          </a:prstGeom>
          <a:noFill/>
          <a:ln/>
        </p:spPr>
        <p:txBody>
          <a:bodyPr wrap="square" rtlCol="0" anchor="ctr"/>
          <a:lstStyle/>
          <a:p>
            <a:pPr marL="0" indent="0">
              <a:buNone/>
            </a:pPr>
            <a:r>
              <a:rPr lang="en-US" sz="900" dirty="0">
                <a:solidFill>
                  <a:srgbClr val="334155"/>
                </a:solidFill>
                <a:latin typeface="Calibri" pitchFamily="34" charset="0"/>
                <a:ea typeface="Calibri" pitchFamily="34" charset="-122"/>
                <a:cs typeface="Calibri" pitchFamily="34" charset="-120"/>
              </a:rPr>
              <a:t>EMBALLAGES</a:t>
            </a:r>
            <a:endParaRPr lang="en-US" sz="900" dirty="0"/>
          </a:p>
        </p:txBody>
      </p:sp>
      <p:sp>
        <p:nvSpPr>
          <p:cNvPr id="34" name="Text 31"/>
          <p:cNvSpPr/>
          <p:nvPr/>
        </p:nvSpPr>
        <p:spPr>
          <a:xfrm>
            <a:off x="8549640" y="3749040"/>
            <a:ext cx="1143000" cy="438912"/>
          </a:xfrm>
          <a:prstGeom prst="rect">
            <a:avLst/>
          </a:prstGeom>
          <a:noFill/>
          <a:ln/>
        </p:spPr>
        <p:txBody>
          <a:bodyPr wrap="square" rtlCol="0" anchor="ctr"/>
          <a:lstStyle/>
          <a:p>
            <a:pPr marL="0" indent="0" algn="r">
              <a:buNone/>
            </a:pPr>
            <a:r>
              <a:rPr lang="en-US" sz="850" dirty="0">
                <a:solidFill>
                  <a:srgbClr val="64748B"/>
                </a:solidFill>
                <a:latin typeface="Calibri" pitchFamily="34" charset="0"/>
                <a:ea typeface="Calibri" pitchFamily="34" charset="-122"/>
                <a:cs typeface="Calibri" pitchFamily="34" charset="-120"/>
              </a:rPr>
              <a:t>1,151 TEU</a:t>
            </a:r>
            <a:endParaRPr lang="en-US" sz="850" dirty="0"/>
          </a:p>
        </p:txBody>
      </p:sp>
      <p:sp>
        <p:nvSpPr>
          <p:cNvPr id="35" name="Shape 32"/>
          <p:cNvSpPr/>
          <p:nvPr/>
        </p:nvSpPr>
        <p:spPr>
          <a:xfrm>
            <a:off x="9738360" y="3867912"/>
            <a:ext cx="1554480" cy="164592"/>
          </a:xfrm>
          <a:prstGeom prst="rect">
            <a:avLst/>
          </a:prstGeom>
          <a:solidFill>
            <a:srgbClr val="CBD5E1"/>
          </a:solidFill>
          <a:ln w="12700">
            <a:solidFill>
              <a:srgbClr val="CBD5E1"/>
            </a:solidFill>
            <a:prstDash val="solid"/>
          </a:ln>
        </p:spPr>
        <p:txBody>
          <a:bodyPr/>
          <a:lstStyle/>
          <a:p>
            <a:endParaRPr lang="en-US"/>
          </a:p>
        </p:txBody>
      </p:sp>
      <p:sp>
        <p:nvSpPr>
          <p:cNvPr id="36" name="Shape 33"/>
          <p:cNvSpPr/>
          <p:nvPr/>
        </p:nvSpPr>
        <p:spPr>
          <a:xfrm>
            <a:off x="9738360" y="3867912"/>
            <a:ext cx="304678" cy="164592"/>
          </a:xfrm>
          <a:prstGeom prst="rect">
            <a:avLst/>
          </a:prstGeom>
          <a:solidFill>
            <a:srgbClr val="EA580C"/>
          </a:solidFill>
          <a:ln w="12700">
            <a:solidFill>
              <a:srgbClr val="EA580C"/>
            </a:solidFill>
            <a:prstDash val="solid"/>
          </a:ln>
        </p:spPr>
        <p:txBody>
          <a:bodyPr/>
          <a:lstStyle/>
          <a:p>
            <a:endParaRPr lang="en-US"/>
          </a:p>
        </p:txBody>
      </p:sp>
      <p:sp>
        <p:nvSpPr>
          <p:cNvPr id="37" name="Text 34"/>
          <p:cNvSpPr/>
          <p:nvPr/>
        </p:nvSpPr>
        <p:spPr>
          <a:xfrm>
            <a:off x="11320272" y="3749040"/>
            <a:ext cx="530352" cy="438912"/>
          </a:xfrm>
          <a:prstGeom prst="rect">
            <a:avLst/>
          </a:prstGeom>
          <a:noFill/>
          <a:ln/>
        </p:spPr>
        <p:txBody>
          <a:bodyPr wrap="square" rtlCol="0" anchor="ctr"/>
          <a:lstStyle/>
          <a:p>
            <a:pPr marL="0" indent="0" algn="r">
              <a:buNone/>
            </a:pPr>
            <a:r>
              <a:rPr lang="en-US" sz="950" b="1" dirty="0">
                <a:solidFill>
                  <a:srgbClr val="EA580C"/>
                </a:solidFill>
                <a:latin typeface="Calibri" pitchFamily="34" charset="0"/>
                <a:ea typeface="Calibri" pitchFamily="34" charset="-122"/>
                <a:cs typeface="Calibri" pitchFamily="34" charset="-120"/>
              </a:rPr>
              <a:t>20%</a:t>
            </a:r>
            <a:endParaRPr lang="en-US" sz="950" dirty="0"/>
          </a:p>
        </p:txBody>
      </p:sp>
      <p:sp>
        <p:nvSpPr>
          <p:cNvPr id="38" name="Text 35"/>
          <p:cNvSpPr/>
          <p:nvPr/>
        </p:nvSpPr>
        <p:spPr>
          <a:xfrm>
            <a:off x="6217920" y="4206240"/>
            <a:ext cx="2286000" cy="438912"/>
          </a:xfrm>
          <a:prstGeom prst="rect">
            <a:avLst/>
          </a:prstGeom>
          <a:noFill/>
          <a:ln/>
        </p:spPr>
        <p:txBody>
          <a:bodyPr wrap="square" rtlCol="0" anchor="ctr"/>
          <a:lstStyle/>
          <a:p>
            <a:pPr marL="0" indent="0">
              <a:buNone/>
            </a:pPr>
            <a:r>
              <a:rPr lang="en-US" sz="900" dirty="0">
                <a:solidFill>
                  <a:srgbClr val="334155"/>
                </a:solidFill>
                <a:latin typeface="Calibri" pitchFamily="34" charset="0"/>
                <a:ea typeface="Calibri" pitchFamily="34" charset="-122"/>
                <a:cs typeface="Calibri" pitchFamily="34" charset="-120"/>
              </a:rPr>
              <a:t>MATÉR. CONSTRUCTION</a:t>
            </a:r>
            <a:endParaRPr lang="en-US" sz="900" dirty="0"/>
          </a:p>
        </p:txBody>
      </p:sp>
      <p:sp>
        <p:nvSpPr>
          <p:cNvPr id="39" name="Text 36"/>
          <p:cNvSpPr/>
          <p:nvPr/>
        </p:nvSpPr>
        <p:spPr>
          <a:xfrm>
            <a:off x="8549640" y="4206240"/>
            <a:ext cx="1143000" cy="438912"/>
          </a:xfrm>
          <a:prstGeom prst="rect">
            <a:avLst/>
          </a:prstGeom>
          <a:noFill/>
          <a:ln/>
        </p:spPr>
        <p:txBody>
          <a:bodyPr wrap="square" rtlCol="0" anchor="ctr"/>
          <a:lstStyle/>
          <a:p>
            <a:pPr marL="0" indent="0" algn="r">
              <a:buNone/>
            </a:pPr>
            <a:r>
              <a:rPr lang="en-US" sz="850" dirty="0">
                <a:solidFill>
                  <a:srgbClr val="64748B"/>
                </a:solidFill>
                <a:latin typeface="Calibri" pitchFamily="34" charset="0"/>
                <a:ea typeface="Calibri" pitchFamily="34" charset="-122"/>
                <a:cs typeface="Calibri" pitchFamily="34" charset="-120"/>
              </a:rPr>
              <a:t>645 TEU</a:t>
            </a:r>
            <a:endParaRPr lang="en-US" sz="850" dirty="0"/>
          </a:p>
        </p:txBody>
      </p:sp>
      <p:sp>
        <p:nvSpPr>
          <p:cNvPr id="40" name="Shape 37"/>
          <p:cNvSpPr/>
          <p:nvPr/>
        </p:nvSpPr>
        <p:spPr>
          <a:xfrm>
            <a:off x="9738360" y="4325112"/>
            <a:ext cx="1554480" cy="164592"/>
          </a:xfrm>
          <a:prstGeom prst="rect">
            <a:avLst/>
          </a:prstGeom>
          <a:solidFill>
            <a:srgbClr val="CBD5E1"/>
          </a:solidFill>
          <a:ln w="12700">
            <a:solidFill>
              <a:srgbClr val="CBD5E1"/>
            </a:solidFill>
            <a:prstDash val="solid"/>
          </a:ln>
        </p:spPr>
        <p:txBody>
          <a:bodyPr/>
          <a:lstStyle/>
          <a:p>
            <a:endParaRPr lang="en-US"/>
          </a:p>
        </p:txBody>
      </p:sp>
      <p:sp>
        <p:nvSpPr>
          <p:cNvPr id="41" name="Shape 38"/>
          <p:cNvSpPr/>
          <p:nvPr/>
        </p:nvSpPr>
        <p:spPr>
          <a:xfrm>
            <a:off x="9738360" y="4325112"/>
            <a:ext cx="244053" cy="164592"/>
          </a:xfrm>
          <a:prstGeom prst="rect">
            <a:avLst/>
          </a:prstGeom>
          <a:solidFill>
            <a:srgbClr val="EA580C"/>
          </a:solidFill>
          <a:ln w="12700">
            <a:solidFill>
              <a:srgbClr val="EA580C"/>
            </a:solidFill>
            <a:prstDash val="solid"/>
          </a:ln>
        </p:spPr>
        <p:txBody>
          <a:bodyPr/>
          <a:lstStyle/>
          <a:p>
            <a:endParaRPr lang="en-US"/>
          </a:p>
        </p:txBody>
      </p:sp>
      <p:sp>
        <p:nvSpPr>
          <p:cNvPr id="42" name="Text 39"/>
          <p:cNvSpPr/>
          <p:nvPr/>
        </p:nvSpPr>
        <p:spPr>
          <a:xfrm>
            <a:off x="11320272" y="4206240"/>
            <a:ext cx="530352" cy="438912"/>
          </a:xfrm>
          <a:prstGeom prst="rect">
            <a:avLst/>
          </a:prstGeom>
          <a:noFill/>
          <a:ln/>
        </p:spPr>
        <p:txBody>
          <a:bodyPr wrap="square" rtlCol="0" anchor="ctr"/>
          <a:lstStyle/>
          <a:p>
            <a:pPr marL="0" indent="0" algn="r">
              <a:buNone/>
            </a:pPr>
            <a:r>
              <a:rPr lang="en-US" sz="950" b="1" dirty="0">
                <a:solidFill>
                  <a:srgbClr val="EA580C"/>
                </a:solidFill>
                <a:latin typeface="Calibri" pitchFamily="34" charset="0"/>
                <a:ea typeface="Calibri" pitchFamily="34" charset="-122"/>
                <a:cs typeface="Calibri" pitchFamily="34" charset="-120"/>
              </a:rPr>
              <a:t>16%</a:t>
            </a:r>
            <a:endParaRPr lang="en-US" sz="950" dirty="0"/>
          </a:p>
        </p:txBody>
      </p:sp>
      <p:sp>
        <p:nvSpPr>
          <p:cNvPr id="43" name="Text 40"/>
          <p:cNvSpPr/>
          <p:nvPr/>
        </p:nvSpPr>
        <p:spPr>
          <a:xfrm>
            <a:off x="6217920" y="4663440"/>
            <a:ext cx="2286000" cy="438912"/>
          </a:xfrm>
          <a:prstGeom prst="rect">
            <a:avLst/>
          </a:prstGeom>
          <a:noFill/>
          <a:ln/>
        </p:spPr>
        <p:txBody>
          <a:bodyPr wrap="square" rtlCol="0" anchor="ctr"/>
          <a:lstStyle/>
          <a:p>
            <a:pPr marL="0" indent="0">
              <a:buNone/>
            </a:pPr>
            <a:r>
              <a:rPr lang="en-US" sz="900" dirty="0">
                <a:solidFill>
                  <a:srgbClr val="334155"/>
                </a:solidFill>
                <a:latin typeface="Calibri" pitchFamily="34" charset="0"/>
                <a:ea typeface="Calibri" pitchFamily="34" charset="-122"/>
                <a:cs typeface="Calibri" pitchFamily="34" charset="-120"/>
              </a:rPr>
              <a:t>SUCRE</a:t>
            </a:r>
            <a:endParaRPr lang="en-US" sz="900" dirty="0"/>
          </a:p>
        </p:txBody>
      </p:sp>
      <p:sp>
        <p:nvSpPr>
          <p:cNvPr id="44" name="Text 41"/>
          <p:cNvSpPr/>
          <p:nvPr/>
        </p:nvSpPr>
        <p:spPr>
          <a:xfrm>
            <a:off x="8549640" y="4663440"/>
            <a:ext cx="1143000" cy="438912"/>
          </a:xfrm>
          <a:prstGeom prst="rect">
            <a:avLst/>
          </a:prstGeom>
          <a:noFill/>
          <a:ln/>
        </p:spPr>
        <p:txBody>
          <a:bodyPr wrap="square" rtlCol="0" anchor="ctr"/>
          <a:lstStyle/>
          <a:p>
            <a:pPr marL="0" indent="0" algn="r">
              <a:buNone/>
            </a:pPr>
            <a:r>
              <a:rPr lang="en-US" sz="850" dirty="0">
                <a:solidFill>
                  <a:srgbClr val="64748B"/>
                </a:solidFill>
                <a:latin typeface="Calibri" pitchFamily="34" charset="0"/>
                <a:ea typeface="Calibri" pitchFamily="34" charset="-122"/>
                <a:cs typeface="Calibri" pitchFamily="34" charset="-120"/>
              </a:rPr>
              <a:t>2,701 TEU</a:t>
            </a:r>
            <a:endParaRPr lang="en-US" sz="850" dirty="0"/>
          </a:p>
        </p:txBody>
      </p:sp>
      <p:sp>
        <p:nvSpPr>
          <p:cNvPr id="45" name="Shape 42"/>
          <p:cNvSpPr/>
          <p:nvPr/>
        </p:nvSpPr>
        <p:spPr>
          <a:xfrm>
            <a:off x="9738360" y="4782312"/>
            <a:ext cx="1554480" cy="164592"/>
          </a:xfrm>
          <a:prstGeom prst="rect">
            <a:avLst/>
          </a:prstGeom>
          <a:solidFill>
            <a:srgbClr val="CBD5E1"/>
          </a:solidFill>
          <a:ln w="12700">
            <a:solidFill>
              <a:srgbClr val="CBD5E1"/>
            </a:solidFill>
            <a:prstDash val="solid"/>
          </a:ln>
        </p:spPr>
        <p:txBody>
          <a:bodyPr/>
          <a:lstStyle/>
          <a:p>
            <a:endParaRPr lang="en-US"/>
          </a:p>
        </p:txBody>
      </p:sp>
      <p:sp>
        <p:nvSpPr>
          <p:cNvPr id="46" name="Shape 43"/>
          <p:cNvSpPr/>
          <p:nvPr/>
        </p:nvSpPr>
        <p:spPr>
          <a:xfrm>
            <a:off x="9738360" y="4782312"/>
            <a:ext cx="141458" cy="164592"/>
          </a:xfrm>
          <a:prstGeom prst="rect">
            <a:avLst/>
          </a:prstGeom>
          <a:solidFill>
            <a:srgbClr val="0891B2"/>
          </a:solidFill>
          <a:ln w="12700">
            <a:solidFill>
              <a:srgbClr val="0891B2"/>
            </a:solidFill>
            <a:prstDash val="solid"/>
          </a:ln>
        </p:spPr>
        <p:txBody>
          <a:bodyPr/>
          <a:lstStyle/>
          <a:p>
            <a:endParaRPr lang="en-US"/>
          </a:p>
        </p:txBody>
      </p:sp>
      <p:sp>
        <p:nvSpPr>
          <p:cNvPr id="47" name="Text 44"/>
          <p:cNvSpPr/>
          <p:nvPr/>
        </p:nvSpPr>
        <p:spPr>
          <a:xfrm>
            <a:off x="11320272" y="4663440"/>
            <a:ext cx="530352" cy="438912"/>
          </a:xfrm>
          <a:prstGeom prst="rect">
            <a:avLst/>
          </a:prstGeom>
          <a:noFill/>
          <a:ln/>
        </p:spPr>
        <p:txBody>
          <a:bodyPr wrap="square" rtlCol="0" anchor="ctr"/>
          <a:lstStyle/>
          <a:p>
            <a:pPr marL="0" indent="0" algn="r">
              <a:buNone/>
            </a:pPr>
            <a:r>
              <a:rPr lang="en-US" sz="950" b="1" dirty="0">
                <a:solidFill>
                  <a:srgbClr val="0891B2"/>
                </a:solidFill>
                <a:latin typeface="Calibri" pitchFamily="34" charset="0"/>
                <a:ea typeface="Calibri" pitchFamily="34" charset="-122"/>
                <a:cs typeface="Calibri" pitchFamily="34" charset="-120"/>
              </a:rPr>
              <a:t>9%</a:t>
            </a:r>
            <a:endParaRPr lang="en-US" sz="950" dirty="0"/>
          </a:p>
        </p:txBody>
      </p:sp>
      <p:sp>
        <p:nvSpPr>
          <p:cNvPr id="48" name="Text 45"/>
          <p:cNvSpPr/>
          <p:nvPr/>
        </p:nvSpPr>
        <p:spPr>
          <a:xfrm>
            <a:off x="6217920" y="5120640"/>
            <a:ext cx="2286000" cy="438912"/>
          </a:xfrm>
          <a:prstGeom prst="rect">
            <a:avLst/>
          </a:prstGeom>
          <a:noFill/>
          <a:ln/>
        </p:spPr>
        <p:txBody>
          <a:bodyPr wrap="square" rtlCol="0" anchor="ctr"/>
          <a:lstStyle/>
          <a:p>
            <a:pPr marL="0" indent="0">
              <a:buNone/>
            </a:pPr>
            <a:r>
              <a:rPr lang="en-US" sz="900" dirty="0">
                <a:solidFill>
                  <a:srgbClr val="334155"/>
                </a:solidFill>
                <a:latin typeface="Calibri" pitchFamily="34" charset="0"/>
                <a:ea typeface="Calibri" pitchFamily="34" charset="-122"/>
                <a:cs typeface="Calibri" pitchFamily="34" charset="-120"/>
              </a:rPr>
              <a:t>THÉ ALIMENTAIRE</a:t>
            </a:r>
            <a:endParaRPr lang="en-US" sz="900" dirty="0"/>
          </a:p>
        </p:txBody>
      </p:sp>
      <p:sp>
        <p:nvSpPr>
          <p:cNvPr id="49" name="Text 46"/>
          <p:cNvSpPr/>
          <p:nvPr/>
        </p:nvSpPr>
        <p:spPr>
          <a:xfrm>
            <a:off x="8549640" y="5120640"/>
            <a:ext cx="1143000" cy="438912"/>
          </a:xfrm>
          <a:prstGeom prst="rect">
            <a:avLst/>
          </a:prstGeom>
          <a:noFill/>
          <a:ln/>
        </p:spPr>
        <p:txBody>
          <a:bodyPr wrap="square" rtlCol="0" anchor="ctr"/>
          <a:lstStyle/>
          <a:p>
            <a:pPr marL="0" indent="0" algn="r">
              <a:buNone/>
            </a:pPr>
            <a:r>
              <a:rPr lang="en-US" sz="850" dirty="0">
                <a:solidFill>
                  <a:srgbClr val="64748B"/>
                </a:solidFill>
                <a:latin typeface="Calibri" pitchFamily="34" charset="0"/>
                <a:ea typeface="Calibri" pitchFamily="34" charset="-122"/>
                <a:cs typeface="Calibri" pitchFamily="34" charset="-120"/>
              </a:rPr>
              <a:t>928 TEU</a:t>
            </a:r>
            <a:endParaRPr lang="en-US" sz="850" dirty="0"/>
          </a:p>
        </p:txBody>
      </p:sp>
      <p:sp>
        <p:nvSpPr>
          <p:cNvPr id="50" name="Shape 47"/>
          <p:cNvSpPr/>
          <p:nvPr/>
        </p:nvSpPr>
        <p:spPr>
          <a:xfrm>
            <a:off x="9738360" y="5239512"/>
            <a:ext cx="1554480" cy="164592"/>
          </a:xfrm>
          <a:prstGeom prst="rect">
            <a:avLst/>
          </a:prstGeom>
          <a:solidFill>
            <a:srgbClr val="CBD5E1"/>
          </a:solidFill>
          <a:ln w="12700">
            <a:solidFill>
              <a:srgbClr val="CBD5E1"/>
            </a:solidFill>
            <a:prstDash val="solid"/>
          </a:ln>
        </p:spPr>
        <p:txBody>
          <a:bodyPr/>
          <a:lstStyle/>
          <a:p>
            <a:endParaRPr lang="en-US"/>
          </a:p>
        </p:txBody>
      </p:sp>
      <p:sp>
        <p:nvSpPr>
          <p:cNvPr id="51" name="Text 48"/>
          <p:cNvSpPr/>
          <p:nvPr/>
        </p:nvSpPr>
        <p:spPr>
          <a:xfrm>
            <a:off x="11320272" y="5120640"/>
            <a:ext cx="530352" cy="438912"/>
          </a:xfrm>
          <a:prstGeom prst="rect">
            <a:avLst/>
          </a:prstGeom>
          <a:noFill/>
          <a:ln/>
        </p:spPr>
        <p:txBody>
          <a:bodyPr wrap="square" rtlCol="0" anchor="ctr"/>
          <a:lstStyle/>
          <a:p>
            <a:pPr marL="0" indent="0" algn="r">
              <a:buNone/>
            </a:pPr>
            <a:r>
              <a:rPr lang="en-US" sz="950" b="1" dirty="0">
                <a:solidFill>
                  <a:srgbClr val="DC2626"/>
                </a:solidFill>
                <a:latin typeface="Calibri" pitchFamily="34" charset="0"/>
                <a:ea typeface="Calibri" pitchFamily="34" charset="-122"/>
                <a:cs typeface="Calibri" pitchFamily="34" charset="-120"/>
              </a:rPr>
              <a:t>0%</a:t>
            </a:r>
            <a:endParaRPr lang="en-US" sz="950" dirty="0"/>
          </a:p>
        </p:txBody>
      </p:sp>
      <p:sp>
        <p:nvSpPr>
          <p:cNvPr id="52" name="Text 49"/>
          <p:cNvSpPr/>
          <p:nvPr/>
        </p:nvSpPr>
        <p:spPr>
          <a:xfrm>
            <a:off x="6217920" y="5577840"/>
            <a:ext cx="2286000" cy="438912"/>
          </a:xfrm>
          <a:prstGeom prst="rect">
            <a:avLst/>
          </a:prstGeom>
          <a:noFill/>
          <a:ln/>
        </p:spPr>
        <p:txBody>
          <a:bodyPr wrap="square" rtlCol="0" anchor="ctr"/>
          <a:lstStyle/>
          <a:p>
            <a:pPr marL="0" indent="0">
              <a:buNone/>
            </a:pPr>
            <a:r>
              <a:rPr lang="en-US" sz="900" dirty="0">
                <a:solidFill>
                  <a:srgbClr val="334155"/>
                </a:solidFill>
                <a:latin typeface="Calibri" pitchFamily="34" charset="0"/>
                <a:ea typeface="Calibri" pitchFamily="34" charset="-122"/>
                <a:cs typeface="Calibri" pitchFamily="34" charset="-120"/>
              </a:rPr>
              <a:t>PROD. MER CONGELÉ</a:t>
            </a:r>
            <a:endParaRPr lang="en-US" sz="900" dirty="0"/>
          </a:p>
        </p:txBody>
      </p:sp>
      <p:sp>
        <p:nvSpPr>
          <p:cNvPr id="53" name="Text 50"/>
          <p:cNvSpPr/>
          <p:nvPr/>
        </p:nvSpPr>
        <p:spPr>
          <a:xfrm>
            <a:off x="8549640" y="5577840"/>
            <a:ext cx="1143000" cy="438912"/>
          </a:xfrm>
          <a:prstGeom prst="rect">
            <a:avLst/>
          </a:prstGeom>
          <a:noFill/>
          <a:ln/>
        </p:spPr>
        <p:txBody>
          <a:bodyPr wrap="square" rtlCol="0" anchor="ctr"/>
          <a:lstStyle/>
          <a:p>
            <a:pPr marL="0" indent="0" algn="r">
              <a:buNone/>
            </a:pPr>
            <a:r>
              <a:rPr lang="en-US" sz="850" dirty="0">
                <a:solidFill>
                  <a:srgbClr val="64748B"/>
                </a:solidFill>
                <a:latin typeface="Calibri" pitchFamily="34" charset="0"/>
                <a:ea typeface="Calibri" pitchFamily="34" charset="-122"/>
                <a:cs typeface="Calibri" pitchFamily="34" charset="-120"/>
              </a:rPr>
              <a:t>1,296 TEU</a:t>
            </a:r>
            <a:endParaRPr lang="en-US" sz="850" dirty="0"/>
          </a:p>
        </p:txBody>
      </p:sp>
      <p:sp>
        <p:nvSpPr>
          <p:cNvPr id="54" name="Shape 51"/>
          <p:cNvSpPr/>
          <p:nvPr/>
        </p:nvSpPr>
        <p:spPr>
          <a:xfrm>
            <a:off x="9738360" y="5696712"/>
            <a:ext cx="1554480" cy="164592"/>
          </a:xfrm>
          <a:prstGeom prst="rect">
            <a:avLst/>
          </a:prstGeom>
          <a:solidFill>
            <a:srgbClr val="CBD5E1"/>
          </a:solidFill>
          <a:ln w="12700">
            <a:solidFill>
              <a:srgbClr val="CBD5E1"/>
            </a:solidFill>
            <a:prstDash val="solid"/>
          </a:ln>
        </p:spPr>
        <p:txBody>
          <a:bodyPr/>
          <a:lstStyle/>
          <a:p>
            <a:endParaRPr lang="en-US"/>
          </a:p>
        </p:txBody>
      </p:sp>
      <p:sp>
        <p:nvSpPr>
          <p:cNvPr id="55" name="Text 52"/>
          <p:cNvSpPr/>
          <p:nvPr/>
        </p:nvSpPr>
        <p:spPr>
          <a:xfrm>
            <a:off x="11320272" y="5577840"/>
            <a:ext cx="530352" cy="438912"/>
          </a:xfrm>
          <a:prstGeom prst="rect">
            <a:avLst/>
          </a:prstGeom>
          <a:noFill/>
          <a:ln/>
        </p:spPr>
        <p:txBody>
          <a:bodyPr wrap="square" rtlCol="0" anchor="ctr"/>
          <a:lstStyle/>
          <a:p>
            <a:pPr marL="0" indent="0" algn="r">
              <a:buNone/>
            </a:pPr>
            <a:r>
              <a:rPr lang="en-US" sz="950" b="1" dirty="0">
                <a:solidFill>
                  <a:srgbClr val="DC2626"/>
                </a:solidFill>
                <a:latin typeface="Calibri" pitchFamily="34" charset="0"/>
                <a:ea typeface="Calibri" pitchFamily="34" charset="-122"/>
                <a:cs typeface="Calibri" pitchFamily="34" charset="-120"/>
              </a:rPr>
              <a:t>0%</a:t>
            </a:r>
            <a:endParaRPr lang="en-US" sz="950" dirty="0"/>
          </a:p>
        </p:txBody>
      </p:sp>
      <p:sp>
        <p:nvSpPr>
          <p:cNvPr id="56" name="Text 53"/>
          <p:cNvSpPr/>
          <p:nvPr/>
        </p:nvSpPr>
        <p:spPr>
          <a:xfrm>
            <a:off x="6217920" y="6035040"/>
            <a:ext cx="2286000" cy="438912"/>
          </a:xfrm>
          <a:prstGeom prst="rect">
            <a:avLst/>
          </a:prstGeom>
          <a:noFill/>
          <a:ln/>
        </p:spPr>
        <p:txBody>
          <a:bodyPr wrap="square" rtlCol="0" anchor="ctr"/>
          <a:lstStyle/>
          <a:p>
            <a:pPr marL="0" indent="0">
              <a:buNone/>
            </a:pPr>
            <a:r>
              <a:rPr lang="en-US" sz="900" dirty="0">
                <a:solidFill>
                  <a:srgbClr val="334155"/>
                </a:solidFill>
                <a:latin typeface="Calibri" pitchFamily="34" charset="0"/>
                <a:ea typeface="Calibri" pitchFamily="34" charset="-122"/>
                <a:cs typeface="Calibri" pitchFamily="34" charset="-120"/>
              </a:rPr>
              <a:t>MOTOS &amp; BICYCLETTES</a:t>
            </a:r>
            <a:endParaRPr lang="en-US" sz="900" dirty="0"/>
          </a:p>
        </p:txBody>
      </p:sp>
      <p:sp>
        <p:nvSpPr>
          <p:cNvPr id="57" name="Text 54"/>
          <p:cNvSpPr/>
          <p:nvPr/>
        </p:nvSpPr>
        <p:spPr>
          <a:xfrm>
            <a:off x="8549640" y="6035040"/>
            <a:ext cx="1143000" cy="438912"/>
          </a:xfrm>
          <a:prstGeom prst="rect">
            <a:avLst/>
          </a:prstGeom>
          <a:noFill/>
          <a:ln/>
        </p:spPr>
        <p:txBody>
          <a:bodyPr wrap="square" rtlCol="0" anchor="ctr"/>
          <a:lstStyle/>
          <a:p>
            <a:pPr marL="0" indent="0" algn="r">
              <a:buNone/>
            </a:pPr>
            <a:r>
              <a:rPr lang="en-US" sz="850" dirty="0">
                <a:solidFill>
                  <a:srgbClr val="64748B"/>
                </a:solidFill>
                <a:latin typeface="Calibri" pitchFamily="34" charset="0"/>
                <a:ea typeface="Calibri" pitchFamily="34" charset="-122"/>
                <a:cs typeface="Calibri" pitchFamily="34" charset="-120"/>
              </a:rPr>
              <a:t>1,172 TEU</a:t>
            </a:r>
            <a:endParaRPr lang="en-US" sz="850" dirty="0"/>
          </a:p>
        </p:txBody>
      </p:sp>
      <p:sp>
        <p:nvSpPr>
          <p:cNvPr id="58" name="Shape 55"/>
          <p:cNvSpPr/>
          <p:nvPr/>
        </p:nvSpPr>
        <p:spPr>
          <a:xfrm>
            <a:off x="9738360" y="6153912"/>
            <a:ext cx="1554480" cy="164592"/>
          </a:xfrm>
          <a:prstGeom prst="rect">
            <a:avLst/>
          </a:prstGeom>
          <a:solidFill>
            <a:srgbClr val="CBD5E1"/>
          </a:solidFill>
          <a:ln w="12700">
            <a:solidFill>
              <a:srgbClr val="CBD5E1"/>
            </a:solidFill>
            <a:prstDash val="solid"/>
          </a:ln>
        </p:spPr>
        <p:txBody>
          <a:bodyPr/>
          <a:lstStyle/>
          <a:p>
            <a:endParaRPr lang="en-US"/>
          </a:p>
        </p:txBody>
      </p:sp>
      <p:sp>
        <p:nvSpPr>
          <p:cNvPr id="59" name="Shape 56"/>
          <p:cNvSpPr/>
          <p:nvPr/>
        </p:nvSpPr>
        <p:spPr>
          <a:xfrm>
            <a:off x="9738360" y="6153912"/>
            <a:ext cx="13990" cy="164592"/>
          </a:xfrm>
          <a:prstGeom prst="rect">
            <a:avLst/>
          </a:prstGeom>
          <a:solidFill>
            <a:srgbClr val="DC2626"/>
          </a:solidFill>
          <a:ln w="12700">
            <a:solidFill>
              <a:srgbClr val="DC2626"/>
            </a:solidFill>
            <a:prstDash val="solid"/>
          </a:ln>
        </p:spPr>
        <p:txBody>
          <a:bodyPr/>
          <a:lstStyle/>
          <a:p>
            <a:endParaRPr lang="en-US"/>
          </a:p>
        </p:txBody>
      </p:sp>
      <p:sp>
        <p:nvSpPr>
          <p:cNvPr id="60" name="Text 57"/>
          <p:cNvSpPr/>
          <p:nvPr/>
        </p:nvSpPr>
        <p:spPr>
          <a:xfrm>
            <a:off x="11320272" y="6035040"/>
            <a:ext cx="530352" cy="438912"/>
          </a:xfrm>
          <a:prstGeom prst="rect">
            <a:avLst/>
          </a:prstGeom>
          <a:noFill/>
          <a:ln/>
        </p:spPr>
        <p:txBody>
          <a:bodyPr wrap="square" rtlCol="0" anchor="ctr"/>
          <a:lstStyle/>
          <a:p>
            <a:pPr marL="0" indent="0" algn="r">
              <a:buNone/>
            </a:pPr>
            <a:r>
              <a:rPr lang="en-US" sz="950" b="1" dirty="0">
                <a:solidFill>
                  <a:srgbClr val="DC2626"/>
                </a:solidFill>
                <a:latin typeface="Calibri" pitchFamily="34" charset="0"/>
                <a:ea typeface="Calibri" pitchFamily="34" charset="-122"/>
                <a:cs typeface="Calibri" pitchFamily="34" charset="-120"/>
              </a:rPr>
              <a:t>1%</a:t>
            </a:r>
            <a:endParaRPr lang="en-US" sz="950" dirty="0"/>
          </a:p>
        </p:txBody>
      </p:sp>
      <p:sp>
        <p:nvSpPr>
          <p:cNvPr id="61" name="Shape 58"/>
          <p:cNvSpPr/>
          <p:nvPr/>
        </p:nvSpPr>
        <p:spPr>
          <a:xfrm>
            <a:off x="320040" y="5239512"/>
            <a:ext cx="5788152" cy="777238"/>
          </a:xfrm>
          <a:prstGeom prst="roundRect">
            <a:avLst>
              <a:gd name="adj" fmla="val 8696"/>
            </a:avLst>
          </a:prstGeom>
          <a:solidFill>
            <a:srgbClr val="FFF5E6"/>
          </a:solidFill>
          <a:ln/>
        </p:spPr>
        <p:txBody>
          <a:bodyPr/>
          <a:lstStyle/>
          <a:p>
            <a:endParaRPr lang="en-US"/>
          </a:p>
        </p:txBody>
      </p:sp>
      <p:sp>
        <p:nvSpPr>
          <p:cNvPr id="62" name="Text 59"/>
          <p:cNvSpPr/>
          <p:nvPr/>
        </p:nvSpPr>
        <p:spPr>
          <a:xfrm>
            <a:off x="502920" y="5184648"/>
            <a:ext cx="5486400" cy="914400"/>
          </a:xfrm>
          <a:prstGeom prst="rect">
            <a:avLst/>
          </a:prstGeom>
          <a:noFill/>
          <a:ln/>
        </p:spPr>
        <p:txBody>
          <a:bodyPr wrap="square" rtlCol="0" anchor="ctr"/>
          <a:lstStyle/>
          <a:p>
            <a:pPr marL="0" indent="0">
              <a:buNone/>
            </a:pPr>
            <a:r>
              <a:rPr lang="en-US" sz="1000" b="1" dirty="0">
                <a:solidFill>
                  <a:srgbClr val="EA580C"/>
                </a:solidFill>
                <a:latin typeface="Calibri" pitchFamily="34" charset="0"/>
                <a:ea typeface="Calibri" pitchFamily="34" charset="-122"/>
                <a:cs typeface="Calibri" pitchFamily="34" charset="-120"/>
              </a:rPr>
              <a:t>🎯 STRATÉGIE HINT IMP : </a:t>
            </a:r>
            <a:r>
              <a:rPr lang="en-US" sz="1000" dirty="0">
                <a:solidFill>
                  <a:srgbClr val="0A2240"/>
                </a:solidFill>
                <a:latin typeface="Calibri" pitchFamily="34" charset="0"/>
                <a:ea typeface="Calibri" pitchFamily="34" charset="-122"/>
                <a:cs typeface="Calibri" pitchFamily="34" charset="-120"/>
              </a:rPr>
              <a:t>Écart de 3 994 TEU avec Sitracom (#2). Cibles filières à 0% PDM : </a:t>
            </a:r>
            <a:r>
              <a:rPr lang="en-US" sz="1000" b="1" dirty="0">
                <a:solidFill>
                  <a:srgbClr val="DC2626"/>
                </a:solidFill>
                <a:latin typeface="Calibri" pitchFamily="34" charset="0"/>
                <a:ea typeface="Calibri" pitchFamily="34" charset="-122"/>
                <a:cs typeface="Calibri" pitchFamily="34" charset="-120"/>
              </a:rPr>
              <a:t>Thé (928 TEU) + Motos (1 172 TEU) = 2 100 TEU de potentiel immédiat. </a:t>
            </a:r>
          </a:p>
          <a:p>
            <a:pPr marL="0" indent="0">
              <a:buNone/>
            </a:pPr>
            <a:r>
              <a:rPr lang="en-US" sz="1000" dirty="0">
                <a:solidFill>
                  <a:srgbClr val="0A2240"/>
                </a:solidFill>
                <a:latin typeface="Calibri" pitchFamily="34" charset="0"/>
                <a:ea typeface="Calibri" pitchFamily="34" charset="-122"/>
                <a:cs typeface="Calibri" pitchFamily="34" charset="-120"/>
              </a:rPr>
              <a:t>Clients têtes de pont : SOFAO BF (926 TEU), BRAKINA (552 TEU), CODIMEX BF (461 TEU). Commercial dédié Ouagadougou requis.</a:t>
            </a:r>
            <a:endParaRPr lang="en-US" sz="1000" dirty="0"/>
          </a:p>
        </p:txBody>
      </p:sp>
      <p:sp>
        <p:nvSpPr>
          <p:cNvPr id="63" name="Shape 60"/>
          <p:cNvSpPr/>
          <p:nvPr/>
        </p:nvSpPr>
        <p:spPr>
          <a:xfrm>
            <a:off x="365760" y="6565392"/>
            <a:ext cx="11430000" cy="0"/>
          </a:xfrm>
          <a:prstGeom prst="line">
            <a:avLst/>
          </a:prstGeom>
          <a:noFill/>
          <a:ln w="6350">
            <a:solidFill>
              <a:srgbClr val="CBD5E1"/>
            </a:solidFill>
            <a:prstDash val="solid"/>
          </a:ln>
        </p:spPr>
        <p:txBody>
          <a:bodyPr/>
          <a:lstStyle/>
          <a:p>
            <a:endParaRPr lang="en-US"/>
          </a:p>
        </p:txBody>
      </p:sp>
      <p:sp>
        <p:nvSpPr>
          <p:cNvPr id="64" name="Text 61"/>
          <p:cNvSpPr/>
          <p:nvPr/>
        </p:nvSpPr>
        <p:spPr>
          <a:xfrm>
            <a:off x="365760" y="6601968"/>
            <a:ext cx="11430000" cy="201168"/>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Africa Global Logistics – Étude de Marché Jan–Mai 2026  |  p.13</a:t>
            </a:r>
            <a:endParaRPr lang="en-US" sz="850" dirty="0"/>
          </a:p>
        </p:txBody>
      </p:sp>
      <p:pic>
        <p:nvPicPr>
          <p:cNvPr id="66" name="Image 65" descr="Une image contenant texte, Police, Graphique, logo  Description générée automatiquement">
            <a:extLst>
              <a:ext uri="{FF2B5EF4-FFF2-40B4-BE49-F238E27FC236}">
                <a16:creationId xmlns:a16="http://schemas.microsoft.com/office/drawing/2014/main" id="{F6288D52-C503-EFAB-8550-10E430EBE56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1488450" y="6549898"/>
            <a:ext cx="450027" cy="29240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A2240"/>
          </a:solidFill>
          <a:ln w="12700">
            <a:solidFill>
              <a:srgbClr val="0A2240"/>
            </a:solidFill>
            <a:prstDash val="solid"/>
          </a:ln>
        </p:spPr>
        <p:txBody>
          <a:bodyPr/>
          <a:lstStyle/>
          <a:p>
            <a:endParaRPr lang="en-US"/>
          </a:p>
        </p:txBody>
      </p:sp>
      <p:sp>
        <p:nvSpPr>
          <p:cNvPr id="3" name="Shape 1"/>
          <p:cNvSpPr/>
          <p:nvPr/>
        </p:nvSpPr>
        <p:spPr>
          <a:xfrm>
            <a:off x="4389120" y="3246120"/>
            <a:ext cx="3383280" cy="64008"/>
          </a:xfrm>
          <a:prstGeom prst="rect">
            <a:avLst/>
          </a:prstGeom>
          <a:solidFill>
            <a:srgbClr val="C8A951"/>
          </a:solidFill>
          <a:ln w="12700">
            <a:solidFill>
              <a:srgbClr val="C8A951"/>
            </a:solidFill>
            <a:prstDash val="solid"/>
          </a:ln>
        </p:spPr>
        <p:txBody>
          <a:bodyPr/>
          <a:lstStyle/>
          <a:p>
            <a:endParaRPr lang="en-US"/>
          </a:p>
        </p:txBody>
      </p:sp>
      <p:sp>
        <p:nvSpPr>
          <p:cNvPr id="4" name="Text 2"/>
          <p:cNvSpPr/>
          <p:nvPr/>
        </p:nvSpPr>
        <p:spPr>
          <a:xfrm>
            <a:off x="0" y="1645920"/>
            <a:ext cx="12161520" cy="1371600"/>
          </a:xfrm>
          <a:prstGeom prst="rect">
            <a:avLst/>
          </a:prstGeom>
          <a:noFill/>
          <a:ln/>
        </p:spPr>
        <p:txBody>
          <a:bodyPr wrap="square" rtlCol="0" anchor="ctr"/>
          <a:lstStyle/>
          <a:p>
            <a:pPr marL="0" indent="0" algn="ctr">
              <a:buNone/>
            </a:pPr>
            <a:r>
              <a:rPr lang="en-US" sz="11000" b="1" dirty="0">
                <a:solidFill>
                  <a:srgbClr val="FFFFFF">
                    <a:alpha val="12000"/>
                  </a:srgbClr>
                </a:solidFill>
                <a:latin typeface="Calibri" pitchFamily="34" charset="0"/>
                <a:ea typeface="Calibri" pitchFamily="34" charset="-122"/>
                <a:cs typeface="Calibri" pitchFamily="34" charset="-120"/>
              </a:rPr>
              <a:t>04</a:t>
            </a:r>
            <a:endParaRPr lang="en-US" sz="11000" dirty="0"/>
          </a:p>
        </p:txBody>
      </p:sp>
      <p:sp>
        <p:nvSpPr>
          <p:cNvPr id="5" name="Text 3"/>
          <p:cNvSpPr/>
          <p:nvPr/>
        </p:nvSpPr>
        <p:spPr>
          <a:xfrm>
            <a:off x="1371600" y="2651760"/>
            <a:ext cx="9418320" cy="822960"/>
          </a:xfrm>
          <a:prstGeom prst="rect">
            <a:avLst/>
          </a:prstGeom>
          <a:noFill/>
          <a:ln/>
        </p:spPr>
        <p:txBody>
          <a:bodyPr wrap="square" rtlCol="0" anchor="ctr"/>
          <a:lstStyle/>
          <a:p>
            <a:pPr marL="0" indent="0" algn="ctr">
              <a:buNone/>
            </a:pPr>
            <a:r>
              <a:rPr lang="en-US" sz="3400" b="1" dirty="0">
                <a:solidFill>
                  <a:srgbClr val="FFFFFF"/>
                </a:solidFill>
                <a:latin typeface="Calibri" pitchFamily="34" charset="0"/>
                <a:ea typeface="Calibri" pitchFamily="34" charset="-122"/>
                <a:cs typeface="Calibri" pitchFamily="34" charset="-120"/>
              </a:rPr>
              <a:t>HINTERLAND EXPORT MARITIME</a:t>
            </a:r>
            <a:endParaRPr lang="en-US" sz="3400" dirty="0"/>
          </a:p>
        </p:txBody>
      </p:sp>
      <p:sp>
        <p:nvSpPr>
          <p:cNvPr id="6" name="Text 4"/>
          <p:cNvSpPr/>
          <p:nvPr/>
        </p:nvSpPr>
        <p:spPr>
          <a:xfrm>
            <a:off x="1371600" y="3520440"/>
            <a:ext cx="9418320" cy="457200"/>
          </a:xfrm>
          <a:prstGeom prst="rect">
            <a:avLst/>
          </a:prstGeom>
          <a:noFill/>
          <a:ln/>
        </p:spPr>
        <p:txBody>
          <a:bodyPr wrap="square" rtlCol="0" anchor="ctr"/>
          <a:lstStyle/>
          <a:p>
            <a:pPr marL="0" indent="0" algn="ctr">
              <a:buNone/>
            </a:pPr>
            <a:r>
              <a:rPr lang="en-US" sz="1400" i="1" dirty="0">
                <a:solidFill>
                  <a:srgbClr val="C8A951"/>
                </a:solidFill>
                <a:latin typeface="Calibri" pitchFamily="34" charset="0"/>
                <a:ea typeface="Calibri" pitchFamily="34" charset="-122"/>
                <a:cs typeface="Calibri" pitchFamily="34" charset="-120"/>
              </a:rPr>
              <a:t>4 294 TEU  |  PDM AGL : 66,1%  |  Dominance absolue</a:t>
            </a:r>
            <a:endParaRPr lang="en-US" sz="1400" dirty="0"/>
          </a:p>
        </p:txBody>
      </p:sp>
      <p:sp>
        <p:nvSpPr>
          <p:cNvPr id="7" name="Text 5"/>
          <p:cNvSpPr/>
          <p:nvPr/>
        </p:nvSpPr>
        <p:spPr>
          <a:xfrm>
            <a:off x="0" y="6263640"/>
            <a:ext cx="12161520" cy="347472"/>
          </a:xfrm>
          <a:prstGeom prst="rect">
            <a:avLst/>
          </a:prstGeom>
          <a:noFill/>
          <a:ln/>
        </p:spPr>
        <p:txBody>
          <a:bodyPr wrap="square" rtlCol="0" anchor="ctr"/>
          <a:lstStyle/>
          <a:p>
            <a:pPr marL="0" indent="0" algn="ctr">
              <a:buNone/>
            </a:pPr>
            <a:r>
              <a:rPr lang="en-US" sz="1000" dirty="0">
                <a:solidFill>
                  <a:srgbClr val="C8A951"/>
                </a:solidFill>
                <a:latin typeface="Calibri" pitchFamily="34" charset="0"/>
                <a:ea typeface="Calibri" pitchFamily="34" charset="-122"/>
                <a:cs typeface="Calibri" pitchFamily="34" charset="-120"/>
              </a:rPr>
              <a:t>Africa Global Logistics – Étude de Marché Jan–Mai 2026</a:t>
            </a:r>
            <a:endParaRPr lang="en-US" sz="1000" dirty="0"/>
          </a:p>
        </p:txBody>
      </p:sp>
      <p:pic>
        <p:nvPicPr>
          <p:cNvPr id="8" name="Image 7" descr="Une image contenant texte, Police, Graphique, logo  Description générée automatiquement">
            <a:extLst>
              <a:ext uri="{FF2B5EF4-FFF2-40B4-BE49-F238E27FC236}">
                <a16:creationId xmlns:a16="http://schemas.microsoft.com/office/drawing/2014/main" id="{F16E9533-82B8-954A-3A6F-1CA183D0F34D}"/>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1369762" y="6214669"/>
            <a:ext cx="608878" cy="39562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0A2240"/>
          </a:solidFill>
          <a:ln w="12700">
            <a:solidFill>
              <a:srgbClr val="0A2240"/>
            </a:solidFill>
            <a:prstDash val="solid"/>
          </a:ln>
        </p:spPr>
        <p:txBody>
          <a:bodyPr/>
          <a:lstStyle/>
          <a:p>
            <a:endParaRPr lang="en-US"/>
          </a:p>
        </p:txBody>
      </p:sp>
      <p:sp>
        <p:nvSpPr>
          <p:cNvPr id="3" name="Text 1"/>
          <p:cNvSpPr/>
          <p:nvPr/>
        </p:nvSpPr>
        <p:spPr>
          <a:xfrm>
            <a:off x="365760" y="54864"/>
            <a:ext cx="11430000" cy="65836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HINTERLAND EXPORT – VUE D'ENSEMBLE  |  Jan–Mai 2026</a:t>
            </a:r>
            <a:endParaRPr lang="en-US" sz="2400" dirty="0"/>
          </a:p>
        </p:txBody>
      </p:sp>
      <p:sp>
        <p:nvSpPr>
          <p:cNvPr id="4" name="Text 2"/>
          <p:cNvSpPr/>
          <p:nvPr/>
        </p:nvSpPr>
        <p:spPr>
          <a:xfrm>
            <a:off x="365760" y="676656"/>
            <a:ext cx="11430000" cy="329184"/>
          </a:xfrm>
          <a:prstGeom prst="rect">
            <a:avLst/>
          </a:prstGeom>
          <a:noFill/>
          <a:ln/>
        </p:spPr>
        <p:txBody>
          <a:bodyPr wrap="square" rtlCol="0" anchor="ctr"/>
          <a:lstStyle/>
          <a:p>
            <a:pPr marL="0" indent="0">
              <a:buNone/>
            </a:pPr>
            <a:r>
              <a:rPr lang="en-US" sz="1200" i="1" dirty="0">
                <a:solidFill>
                  <a:srgbClr val="C8A951"/>
                </a:solidFill>
                <a:latin typeface="Calibri" pitchFamily="34" charset="0"/>
                <a:ea typeface="Calibri" pitchFamily="34" charset="-122"/>
                <a:cs typeface="Calibri" pitchFamily="34" charset="-120"/>
              </a:rPr>
              <a:t>AGL #1 ABSOLU – PDM 66,1%  |  Marché : 4 294 TEU  |  Coton dominant</a:t>
            </a:r>
            <a:endParaRPr lang="en-US" sz="1200" dirty="0"/>
          </a:p>
        </p:txBody>
      </p:sp>
      <p:sp>
        <p:nvSpPr>
          <p:cNvPr id="5" name="Shape 3"/>
          <p:cNvSpPr/>
          <p:nvPr/>
        </p:nvSpPr>
        <p:spPr>
          <a:xfrm>
            <a:off x="320040" y="1143000"/>
            <a:ext cx="2148840" cy="1051560"/>
          </a:xfrm>
          <a:prstGeom prst="roundRect">
            <a:avLst>
              <a:gd name="adj" fmla="val 6957"/>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6" name="Text 4"/>
          <p:cNvSpPr/>
          <p:nvPr/>
        </p:nvSpPr>
        <p:spPr>
          <a:xfrm>
            <a:off x="411480" y="1234440"/>
            <a:ext cx="1965960" cy="274320"/>
          </a:xfrm>
          <a:prstGeom prst="rect">
            <a:avLst/>
          </a:prstGeom>
          <a:noFill/>
          <a:ln/>
        </p:spPr>
        <p:txBody>
          <a:bodyPr wrap="square" rtlCol="0" anchor="ctr"/>
          <a:lstStyle/>
          <a:p>
            <a:pPr marL="0" indent="0" algn="ctr">
              <a:buNone/>
            </a:pPr>
            <a:r>
              <a:rPr lang="en-US" sz="900" b="1" dirty="0">
                <a:solidFill>
                  <a:srgbClr val="64748B"/>
                </a:solidFill>
                <a:latin typeface="Calibri" pitchFamily="34" charset="0"/>
                <a:ea typeface="Calibri" pitchFamily="34" charset="-122"/>
                <a:cs typeface="Calibri" pitchFamily="34" charset="-120"/>
              </a:rPr>
              <a:t>MARCHÉ TOTAL</a:t>
            </a:r>
            <a:endParaRPr lang="en-US" sz="900" dirty="0"/>
          </a:p>
        </p:txBody>
      </p:sp>
      <p:sp>
        <p:nvSpPr>
          <p:cNvPr id="7" name="Text 5"/>
          <p:cNvSpPr/>
          <p:nvPr/>
        </p:nvSpPr>
        <p:spPr>
          <a:xfrm>
            <a:off x="365760" y="1490472"/>
            <a:ext cx="2057400" cy="457200"/>
          </a:xfrm>
          <a:prstGeom prst="rect">
            <a:avLst/>
          </a:prstGeom>
          <a:noFill/>
          <a:ln/>
        </p:spPr>
        <p:txBody>
          <a:bodyPr wrap="square" rtlCol="0" anchor="ctr"/>
          <a:lstStyle/>
          <a:p>
            <a:pPr marL="0" indent="0" algn="ctr">
              <a:buNone/>
            </a:pPr>
            <a:r>
              <a:rPr lang="en-US" sz="2100" b="1" dirty="0">
                <a:solidFill>
                  <a:srgbClr val="0A2240"/>
                </a:solidFill>
                <a:latin typeface="Calibri" pitchFamily="34" charset="0"/>
                <a:ea typeface="Calibri" pitchFamily="34" charset="-122"/>
                <a:cs typeface="Calibri" pitchFamily="34" charset="-120"/>
              </a:rPr>
              <a:t>4 294</a:t>
            </a:r>
            <a:endParaRPr lang="en-US" sz="2100" dirty="0"/>
          </a:p>
        </p:txBody>
      </p:sp>
      <p:sp>
        <p:nvSpPr>
          <p:cNvPr id="8" name="Text 6"/>
          <p:cNvSpPr/>
          <p:nvPr/>
        </p:nvSpPr>
        <p:spPr>
          <a:xfrm>
            <a:off x="393192" y="1901952"/>
            <a:ext cx="2002536" cy="201168"/>
          </a:xfrm>
          <a:prstGeom prst="rect">
            <a:avLst/>
          </a:prstGeom>
          <a:noFill/>
          <a:ln/>
        </p:spPr>
        <p:txBody>
          <a:bodyPr wrap="square" rtlCol="0" anchor="ctr"/>
          <a:lstStyle/>
          <a:p>
            <a:pPr marL="0" indent="0" algn="ctr">
              <a:buNone/>
            </a:pPr>
            <a:r>
              <a:rPr lang="en-US" sz="850" dirty="0">
                <a:solidFill>
                  <a:srgbClr val="64748B"/>
                </a:solidFill>
                <a:latin typeface="Calibri" pitchFamily="34" charset="0"/>
                <a:ea typeface="Calibri" pitchFamily="34" charset="-122"/>
                <a:cs typeface="Calibri" pitchFamily="34" charset="-120"/>
              </a:rPr>
              <a:t>TEU Jan–Mai</a:t>
            </a:r>
            <a:endParaRPr lang="en-US" sz="850" dirty="0"/>
          </a:p>
        </p:txBody>
      </p:sp>
      <p:sp>
        <p:nvSpPr>
          <p:cNvPr id="9" name="Shape 7"/>
          <p:cNvSpPr/>
          <p:nvPr/>
        </p:nvSpPr>
        <p:spPr>
          <a:xfrm>
            <a:off x="2642616" y="1143000"/>
            <a:ext cx="2148840" cy="1051560"/>
          </a:xfrm>
          <a:prstGeom prst="roundRect">
            <a:avLst>
              <a:gd name="adj" fmla="val 6957"/>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10" name="Text 8"/>
          <p:cNvSpPr/>
          <p:nvPr/>
        </p:nvSpPr>
        <p:spPr>
          <a:xfrm>
            <a:off x="2734056" y="1234440"/>
            <a:ext cx="1965960" cy="274320"/>
          </a:xfrm>
          <a:prstGeom prst="rect">
            <a:avLst/>
          </a:prstGeom>
          <a:noFill/>
          <a:ln/>
        </p:spPr>
        <p:txBody>
          <a:bodyPr wrap="square" rtlCol="0" anchor="ctr"/>
          <a:lstStyle/>
          <a:p>
            <a:pPr marL="0" indent="0" algn="ctr">
              <a:buNone/>
            </a:pPr>
            <a:r>
              <a:rPr lang="en-US" sz="900" b="1" dirty="0">
                <a:solidFill>
                  <a:srgbClr val="64748B"/>
                </a:solidFill>
                <a:latin typeface="Calibri" pitchFamily="34" charset="0"/>
                <a:ea typeface="Calibri" pitchFamily="34" charset="-122"/>
                <a:cs typeface="Calibri" pitchFamily="34" charset="-120"/>
              </a:rPr>
              <a:t>VOLUME AGL</a:t>
            </a:r>
            <a:endParaRPr lang="en-US" sz="900" dirty="0"/>
          </a:p>
        </p:txBody>
      </p:sp>
      <p:sp>
        <p:nvSpPr>
          <p:cNvPr id="11" name="Text 9"/>
          <p:cNvSpPr/>
          <p:nvPr/>
        </p:nvSpPr>
        <p:spPr>
          <a:xfrm>
            <a:off x="2688336" y="1490472"/>
            <a:ext cx="2057400" cy="457200"/>
          </a:xfrm>
          <a:prstGeom prst="rect">
            <a:avLst/>
          </a:prstGeom>
          <a:noFill/>
          <a:ln/>
        </p:spPr>
        <p:txBody>
          <a:bodyPr wrap="square" rtlCol="0" anchor="ctr"/>
          <a:lstStyle/>
          <a:p>
            <a:pPr marL="0" indent="0" algn="ctr">
              <a:buNone/>
            </a:pPr>
            <a:r>
              <a:rPr lang="en-US" sz="2100" b="1" dirty="0">
                <a:solidFill>
                  <a:srgbClr val="0A2240"/>
                </a:solidFill>
                <a:latin typeface="Calibri" pitchFamily="34" charset="0"/>
                <a:ea typeface="Calibri" pitchFamily="34" charset="-122"/>
                <a:cs typeface="Calibri" pitchFamily="34" charset="-120"/>
              </a:rPr>
              <a:t>2 840</a:t>
            </a:r>
            <a:endParaRPr lang="en-US" sz="2100" dirty="0"/>
          </a:p>
        </p:txBody>
      </p:sp>
      <p:sp>
        <p:nvSpPr>
          <p:cNvPr id="12" name="Text 10"/>
          <p:cNvSpPr/>
          <p:nvPr/>
        </p:nvSpPr>
        <p:spPr>
          <a:xfrm>
            <a:off x="2715768" y="1901952"/>
            <a:ext cx="2002536" cy="201168"/>
          </a:xfrm>
          <a:prstGeom prst="rect">
            <a:avLst/>
          </a:prstGeom>
          <a:noFill/>
          <a:ln/>
        </p:spPr>
        <p:txBody>
          <a:bodyPr wrap="square" rtlCol="0" anchor="ctr"/>
          <a:lstStyle/>
          <a:p>
            <a:pPr marL="0" indent="0" algn="ctr">
              <a:buNone/>
            </a:pPr>
            <a:r>
              <a:rPr lang="en-US" sz="850" dirty="0">
                <a:solidFill>
                  <a:srgbClr val="64748B"/>
                </a:solidFill>
                <a:latin typeface="Calibri" pitchFamily="34" charset="0"/>
                <a:ea typeface="Calibri" pitchFamily="34" charset="-122"/>
                <a:cs typeface="Calibri" pitchFamily="34" charset="-120"/>
              </a:rPr>
              <a:t>TEU Jan–Mai</a:t>
            </a:r>
            <a:endParaRPr lang="en-US" sz="850" dirty="0"/>
          </a:p>
        </p:txBody>
      </p:sp>
      <p:sp>
        <p:nvSpPr>
          <p:cNvPr id="13" name="Shape 11"/>
          <p:cNvSpPr/>
          <p:nvPr/>
        </p:nvSpPr>
        <p:spPr>
          <a:xfrm>
            <a:off x="4965192" y="1143000"/>
            <a:ext cx="2148840" cy="1051560"/>
          </a:xfrm>
          <a:prstGeom prst="roundRect">
            <a:avLst>
              <a:gd name="adj" fmla="val 6957"/>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14" name="Text 12"/>
          <p:cNvSpPr/>
          <p:nvPr/>
        </p:nvSpPr>
        <p:spPr>
          <a:xfrm>
            <a:off x="5056632" y="1234440"/>
            <a:ext cx="1965960" cy="274320"/>
          </a:xfrm>
          <a:prstGeom prst="rect">
            <a:avLst/>
          </a:prstGeom>
          <a:noFill/>
          <a:ln/>
        </p:spPr>
        <p:txBody>
          <a:bodyPr wrap="square" rtlCol="0" anchor="ctr"/>
          <a:lstStyle/>
          <a:p>
            <a:pPr marL="0" indent="0" algn="ctr">
              <a:buNone/>
            </a:pPr>
            <a:r>
              <a:rPr lang="en-US" sz="900" b="1" dirty="0">
                <a:solidFill>
                  <a:srgbClr val="64748B"/>
                </a:solidFill>
                <a:latin typeface="Calibri" pitchFamily="34" charset="0"/>
                <a:ea typeface="Calibri" pitchFamily="34" charset="-122"/>
                <a:cs typeface="Calibri" pitchFamily="34" charset="-120"/>
              </a:rPr>
              <a:t>PDM AGL</a:t>
            </a:r>
            <a:endParaRPr lang="en-US" sz="900" dirty="0"/>
          </a:p>
        </p:txBody>
      </p:sp>
      <p:sp>
        <p:nvSpPr>
          <p:cNvPr id="15" name="Text 13"/>
          <p:cNvSpPr/>
          <p:nvPr/>
        </p:nvSpPr>
        <p:spPr>
          <a:xfrm>
            <a:off x="5010912" y="1490472"/>
            <a:ext cx="2057400" cy="457200"/>
          </a:xfrm>
          <a:prstGeom prst="rect">
            <a:avLst/>
          </a:prstGeom>
          <a:noFill/>
          <a:ln/>
        </p:spPr>
        <p:txBody>
          <a:bodyPr wrap="square" rtlCol="0" anchor="ctr"/>
          <a:lstStyle/>
          <a:p>
            <a:pPr marL="0" indent="0" algn="ctr">
              <a:buNone/>
            </a:pPr>
            <a:r>
              <a:rPr lang="en-US" sz="2100" b="1" dirty="0">
                <a:solidFill>
                  <a:srgbClr val="16A34A"/>
                </a:solidFill>
                <a:latin typeface="Calibri" pitchFamily="34" charset="0"/>
                <a:ea typeface="Calibri" pitchFamily="34" charset="-122"/>
                <a:cs typeface="Calibri" pitchFamily="34" charset="-120"/>
              </a:rPr>
              <a:t>66,1 %</a:t>
            </a:r>
            <a:endParaRPr lang="en-US" sz="2100" dirty="0"/>
          </a:p>
        </p:txBody>
      </p:sp>
      <p:sp>
        <p:nvSpPr>
          <p:cNvPr id="16" name="Text 14"/>
          <p:cNvSpPr/>
          <p:nvPr/>
        </p:nvSpPr>
        <p:spPr>
          <a:xfrm>
            <a:off x="5038344" y="1901952"/>
            <a:ext cx="2002536" cy="201168"/>
          </a:xfrm>
          <a:prstGeom prst="rect">
            <a:avLst/>
          </a:prstGeom>
          <a:noFill/>
          <a:ln/>
        </p:spPr>
        <p:txBody>
          <a:bodyPr wrap="square" rtlCol="0" anchor="ctr"/>
          <a:lstStyle/>
          <a:p>
            <a:pPr marL="0" indent="0" algn="ctr">
              <a:buNone/>
            </a:pPr>
            <a:r>
              <a:rPr lang="en-US" sz="850" dirty="0">
                <a:solidFill>
                  <a:srgbClr val="64748B"/>
                </a:solidFill>
                <a:latin typeface="Calibri" pitchFamily="34" charset="0"/>
                <a:ea typeface="Calibri" pitchFamily="34" charset="-122"/>
                <a:cs typeface="Calibri" pitchFamily="34" charset="-120"/>
              </a:rPr>
              <a:t>#1 ABSOLU</a:t>
            </a:r>
            <a:endParaRPr lang="en-US" sz="850" dirty="0"/>
          </a:p>
        </p:txBody>
      </p:sp>
      <p:sp>
        <p:nvSpPr>
          <p:cNvPr id="17" name="Shape 15"/>
          <p:cNvSpPr/>
          <p:nvPr/>
        </p:nvSpPr>
        <p:spPr>
          <a:xfrm>
            <a:off x="7287768" y="1143000"/>
            <a:ext cx="2148840" cy="1051560"/>
          </a:xfrm>
          <a:prstGeom prst="roundRect">
            <a:avLst>
              <a:gd name="adj" fmla="val 6957"/>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18" name="Text 16"/>
          <p:cNvSpPr/>
          <p:nvPr/>
        </p:nvSpPr>
        <p:spPr>
          <a:xfrm>
            <a:off x="7379208" y="1234440"/>
            <a:ext cx="1965960" cy="274320"/>
          </a:xfrm>
          <a:prstGeom prst="rect">
            <a:avLst/>
          </a:prstGeom>
          <a:noFill/>
          <a:ln/>
        </p:spPr>
        <p:txBody>
          <a:bodyPr wrap="square" rtlCol="0" anchor="ctr"/>
          <a:lstStyle/>
          <a:p>
            <a:pPr marL="0" indent="0" algn="ctr">
              <a:buNone/>
            </a:pPr>
            <a:r>
              <a:rPr lang="en-US" sz="900" b="1" dirty="0">
                <a:solidFill>
                  <a:srgbClr val="64748B"/>
                </a:solidFill>
                <a:latin typeface="Calibri" pitchFamily="34" charset="0"/>
                <a:ea typeface="Calibri" pitchFamily="34" charset="-122"/>
                <a:cs typeface="Calibri" pitchFamily="34" charset="-120"/>
              </a:rPr>
              <a:t>COTON AGL</a:t>
            </a:r>
            <a:endParaRPr lang="en-US" sz="900" dirty="0"/>
          </a:p>
        </p:txBody>
      </p:sp>
      <p:sp>
        <p:nvSpPr>
          <p:cNvPr id="19" name="Text 17"/>
          <p:cNvSpPr/>
          <p:nvPr/>
        </p:nvSpPr>
        <p:spPr>
          <a:xfrm>
            <a:off x="7333488" y="1490472"/>
            <a:ext cx="2057400" cy="457200"/>
          </a:xfrm>
          <a:prstGeom prst="rect">
            <a:avLst/>
          </a:prstGeom>
          <a:noFill/>
          <a:ln/>
        </p:spPr>
        <p:txBody>
          <a:bodyPr wrap="square" rtlCol="0" anchor="ctr"/>
          <a:lstStyle/>
          <a:p>
            <a:pPr marL="0" indent="0" algn="ctr">
              <a:buNone/>
            </a:pPr>
            <a:r>
              <a:rPr lang="en-US" sz="2100" b="1" dirty="0">
                <a:solidFill>
                  <a:srgbClr val="C8A951"/>
                </a:solidFill>
                <a:latin typeface="Calibri" pitchFamily="34" charset="0"/>
                <a:ea typeface="Calibri" pitchFamily="34" charset="-122"/>
                <a:cs typeface="Calibri" pitchFamily="34" charset="-120"/>
              </a:rPr>
              <a:t>2 522</a:t>
            </a:r>
            <a:endParaRPr lang="en-US" sz="2100" dirty="0"/>
          </a:p>
        </p:txBody>
      </p:sp>
      <p:sp>
        <p:nvSpPr>
          <p:cNvPr id="20" name="Text 18"/>
          <p:cNvSpPr/>
          <p:nvPr/>
        </p:nvSpPr>
        <p:spPr>
          <a:xfrm>
            <a:off x="7360920" y="1901952"/>
            <a:ext cx="2002536" cy="201168"/>
          </a:xfrm>
          <a:prstGeom prst="rect">
            <a:avLst/>
          </a:prstGeom>
          <a:noFill/>
          <a:ln/>
        </p:spPr>
        <p:txBody>
          <a:bodyPr wrap="square" rtlCol="0" anchor="ctr"/>
          <a:lstStyle/>
          <a:p>
            <a:pPr marL="0" indent="0" algn="ctr">
              <a:buNone/>
            </a:pPr>
            <a:r>
              <a:rPr lang="en-US" sz="850" dirty="0">
                <a:solidFill>
                  <a:srgbClr val="64748B"/>
                </a:solidFill>
                <a:latin typeface="Calibri" pitchFamily="34" charset="0"/>
                <a:ea typeface="Calibri" pitchFamily="34" charset="-122"/>
                <a:cs typeface="Calibri" pitchFamily="34" charset="-120"/>
              </a:rPr>
              <a:t>TEU – 88,8% du portef.</a:t>
            </a:r>
            <a:endParaRPr lang="en-US" sz="850" dirty="0"/>
          </a:p>
        </p:txBody>
      </p:sp>
      <p:sp>
        <p:nvSpPr>
          <p:cNvPr id="21" name="Shape 19"/>
          <p:cNvSpPr/>
          <p:nvPr/>
        </p:nvSpPr>
        <p:spPr>
          <a:xfrm>
            <a:off x="9610344" y="1143000"/>
            <a:ext cx="2148840" cy="1051560"/>
          </a:xfrm>
          <a:prstGeom prst="roundRect">
            <a:avLst>
              <a:gd name="adj" fmla="val 6957"/>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22" name="Text 20"/>
          <p:cNvSpPr/>
          <p:nvPr/>
        </p:nvSpPr>
        <p:spPr>
          <a:xfrm>
            <a:off x="9701784" y="1234440"/>
            <a:ext cx="1965960" cy="274320"/>
          </a:xfrm>
          <a:prstGeom prst="rect">
            <a:avLst/>
          </a:prstGeom>
          <a:noFill/>
          <a:ln/>
        </p:spPr>
        <p:txBody>
          <a:bodyPr wrap="square" rtlCol="0" anchor="ctr"/>
          <a:lstStyle/>
          <a:p>
            <a:pPr marL="0" indent="0" algn="ctr">
              <a:buNone/>
            </a:pPr>
            <a:r>
              <a:rPr lang="en-US" sz="900" b="1" dirty="0">
                <a:solidFill>
                  <a:srgbClr val="64748B"/>
                </a:solidFill>
                <a:latin typeface="Calibri" pitchFamily="34" charset="0"/>
                <a:ea typeface="Calibri" pitchFamily="34" charset="-122"/>
                <a:cs typeface="Calibri" pitchFamily="34" charset="-120"/>
              </a:rPr>
              <a:t>PDM FÉV. (PEAK)</a:t>
            </a:r>
            <a:endParaRPr lang="en-US" sz="900" dirty="0"/>
          </a:p>
        </p:txBody>
      </p:sp>
      <p:sp>
        <p:nvSpPr>
          <p:cNvPr id="23" name="Text 21"/>
          <p:cNvSpPr/>
          <p:nvPr/>
        </p:nvSpPr>
        <p:spPr>
          <a:xfrm>
            <a:off x="9656064" y="1490472"/>
            <a:ext cx="2057400" cy="457200"/>
          </a:xfrm>
          <a:prstGeom prst="rect">
            <a:avLst/>
          </a:prstGeom>
          <a:noFill/>
          <a:ln/>
        </p:spPr>
        <p:txBody>
          <a:bodyPr wrap="square" rtlCol="0" anchor="ctr"/>
          <a:lstStyle/>
          <a:p>
            <a:pPr marL="0" indent="0" algn="ctr">
              <a:buNone/>
            </a:pPr>
            <a:r>
              <a:rPr lang="en-US" sz="2100" b="1" dirty="0">
                <a:solidFill>
                  <a:srgbClr val="16A34A"/>
                </a:solidFill>
                <a:latin typeface="Calibri" pitchFamily="34" charset="0"/>
                <a:ea typeface="Calibri" pitchFamily="34" charset="-122"/>
                <a:cs typeface="Calibri" pitchFamily="34" charset="-120"/>
              </a:rPr>
              <a:t>72,9 %</a:t>
            </a:r>
            <a:endParaRPr lang="en-US" sz="2100" dirty="0"/>
          </a:p>
        </p:txBody>
      </p:sp>
      <p:sp>
        <p:nvSpPr>
          <p:cNvPr id="24" name="Text 22"/>
          <p:cNvSpPr/>
          <p:nvPr/>
        </p:nvSpPr>
        <p:spPr>
          <a:xfrm>
            <a:off x="9683496" y="1901952"/>
            <a:ext cx="2002536" cy="201168"/>
          </a:xfrm>
          <a:prstGeom prst="rect">
            <a:avLst/>
          </a:prstGeom>
          <a:noFill/>
          <a:ln/>
        </p:spPr>
        <p:txBody>
          <a:bodyPr wrap="square" rtlCol="0" anchor="ctr"/>
          <a:lstStyle/>
          <a:p>
            <a:pPr marL="0" indent="0" algn="ctr">
              <a:buNone/>
            </a:pPr>
            <a:r>
              <a:rPr lang="en-US" sz="850" dirty="0">
                <a:solidFill>
                  <a:srgbClr val="64748B"/>
                </a:solidFill>
                <a:latin typeface="Calibri" pitchFamily="34" charset="0"/>
                <a:ea typeface="Calibri" pitchFamily="34" charset="-122"/>
                <a:cs typeface="Calibri" pitchFamily="34" charset="-120"/>
              </a:rPr>
              <a:t>Meilleure PDM période</a:t>
            </a:r>
            <a:endParaRPr lang="en-US" sz="850" dirty="0"/>
          </a:p>
        </p:txBody>
      </p:sp>
      <p:sp>
        <p:nvSpPr>
          <p:cNvPr id="25" name="Text 23"/>
          <p:cNvSpPr/>
          <p:nvPr/>
        </p:nvSpPr>
        <p:spPr>
          <a:xfrm>
            <a:off x="320040" y="2395728"/>
            <a:ext cx="6766560" cy="274320"/>
          </a:xfrm>
          <a:prstGeom prst="rect">
            <a:avLst/>
          </a:prstGeom>
          <a:noFill/>
          <a:ln/>
        </p:spPr>
        <p:txBody>
          <a:bodyPr wrap="square" rtlCol="0" anchor="ctr"/>
          <a:lstStyle/>
          <a:p>
            <a:pPr marL="0" indent="0">
              <a:buNone/>
            </a:pPr>
            <a:r>
              <a:rPr lang="en-US" sz="1200" b="1" dirty="0">
                <a:solidFill>
                  <a:srgbClr val="0A2240"/>
                </a:solidFill>
                <a:latin typeface="Calibri" pitchFamily="34" charset="0"/>
                <a:ea typeface="Calibri" pitchFamily="34" charset="-122"/>
                <a:cs typeface="Calibri" pitchFamily="34" charset="-120"/>
              </a:rPr>
              <a:t>Évolution mensuelle – Hinterland Export</a:t>
            </a:r>
            <a:endParaRPr lang="en-US" sz="1200" dirty="0"/>
          </a:p>
        </p:txBody>
      </p:sp>
      <p:graphicFrame>
        <p:nvGraphicFramePr>
          <p:cNvPr id="26" name="Chart 0"/>
          <p:cNvGraphicFramePr/>
          <p:nvPr/>
        </p:nvGraphicFramePr>
        <p:xfrm>
          <a:off x="320040" y="2697480"/>
          <a:ext cx="6766560"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27" name="Text 24"/>
          <p:cNvSpPr/>
          <p:nvPr/>
        </p:nvSpPr>
        <p:spPr>
          <a:xfrm>
            <a:off x="7223760" y="2395728"/>
            <a:ext cx="4572000" cy="274320"/>
          </a:xfrm>
          <a:prstGeom prst="rect">
            <a:avLst/>
          </a:prstGeom>
          <a:noFill/>
          <a:ln/>
        </p:spPr>
        <p:txBody>
          <a:bodyPr wrap="square" rtlCol="0" anchor="ctr"/>
          <a:lstStyle/>
          <a:p>
            <a:pPr marL="0" indent="0">
              <a:buNone/>
            </a:pPr>
            <a:r>
              <a:rPr lang="en-US" sz="1200" b="1" dirty="0">
                <a:solidFill>
                  <a:srgbClr val="0A2240"/>
                </a:solidFill>
                <a:latin typeface="Calibri" pitchFamily="34" charset="0"/>
                <a:ea typeface="Calibri" pitchFamily="34" charset="-122"/>
                <a:cs typeface="Calibri" pitchFamily="34" charset="-120"/>
              </a:rPr>
              <a:t>PDM AGL par mois – Hinterland Export</a:t>
            </a:r>
            <a:endParaRPr lang="en-US" sz="1200" dirty="0"/>
          </a:p>
        </p:txBody>
      </p:sp>
      <p:sp>
        <p:nvSpPr>
          <p:cNvPr id="28" name="Shape 25"/>
          <p:cNvSpPr/>
          <p:nvPr/>
        </p:nvSpPr>
        <p:spPr>
          <a:xfrm>
            <a:off x="7223760" y="2644227"/>
            <a:ext cx="4572000" cy="548640"/>
          </a:xfrm>
          <a:prstGeom prst="roundRect">
            <a:avLst>
              <a:gd name="adj" fmla="val 10000"/>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29" name="Text 26"/>
          <p:cNvSpPr/>
          <p:nvPr/>
        </p:nvSpPr>
        <p:spPr>
          <a:xfrm>
            <a:off x="7360920" y="2644227"/>
            <a:ext cx="1417320" cy="548640"/>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Janvier</a:t>
            </a:r>
            <a:endParaRPr lang="en-US" sz="1100" dirty="0"/>
          </a:p>
        </p:txBody>
      </p:sp>
      <p:sp>
        <p:nvSpPr>
          <p:cNvPr id="30" name="Shape 27"/>
          <p:cNvSpPr/>
          <p:nvPr/>
        </p:nvSpPr>
        <p:spPr>
          <a:xfrm>
            <a:off x="8869680" y="2827107"/>
            <a:ext cx="2240280" cy="182880"/>
          </a:xfrm>
          <a:prstGeom prst="rect">
            <a:avLst/>
          </a:prstGeom>
          <a:solidFill>
            <a:srgbClr val="CBD5E1"/>
          </a:solidFill>
          <a:ln w="12700">
            <a:solidFill>
              <a:srgbClr val="CBD5E1"/>
            </a:solidFill>
            <a:prstDash val="solid"/>
          </a:ln>
        </p:spPr>
        <p:txBody>
          <a:bodyPr/>
          <a:lstStyle/>
          <a:p>
            <a:endParaRPr lang="en-US"/>
          </a:p>
        </p:txBody>
      </p:sp>
      <p:sp>
        <p:nvSpPr>
          <p:cNvPr id="31" name="Shape 28"/>
          <p:cNvSpPr/>
          <p:nvPr/>
        </p:nvSpPr>
        <p:spPr>
          <a:xfrm>
            <a:off x="8869680" y="2827107"/>
            <a:ext cx="1419777" cy="182880"/>
          </a:xfrm>
          <a:prstGeom prst="rect">
            <a:avLst/>
          </a:prstGeom>
          <a:solidFill>
            <a:srgbClr val="EA580C"/>
          </a:solidFill>
          <a:ln w="12700">
            <a:solidFill>
              <a:srgbClr val="EA580C"/>
            </a:solidFill>
            <a:prstDash val="solid"/>
          </a:ln>
        </p:spPr>
        <p:txBody>
          <a:bodyPr/>
          <a:lstStyle/>
          <a:p>
            <a:endParaRPr lang="en-US"/>
          </a:p>
        </p:txBody>
      </p:sp>
      <p:sp>
        <p:nvSpPr>
          <p:cNvPr id="32" name="Text 29"/>
          <p:cNvSpPr/>
          <p:nvPr/>
        </p:nvSpPr>
        <p:spPr>
          <a:xfrm>
            <a:off x="11109960" y="2644227"/>
            <a:ext cx="640080" cy="548640"/>
          </a:xfrm>
          <a:prstGeom prst="rect">
            <a:avLst/>
          </a:prstGeom>
          <a:noFill/>
          <a:ln/>
        </p:spPr>
        <p:txBody>
          <a:bodyPr wrap="square" rtlCol="0" anchor="ctr"/>
          <a:lstStyle/>
          <a:p>
            <a:pPr marL="0" indent="0" algn="r">
              <a:buNone/>
            </a:pPr>
            <a:r>
              <a:rPr lang="en-US" sz="1200" b="1" dirty="0">
                <a:solidFill>
                  <a:srgbClr val="EA580C"/>
                </a:solidFill>
                <a:latin typeface="Calibri" pitchFamily="34" charset="0"/>
                <a:ea typeface="Calibri" pitchFamily="34" charset="-122"/>
                <a:cs typeface="Calibri" pitchFamily="34" charset="-120"/>
              </a:rPr>
              <a:t>50.7%</a:t>
            </a:r>
            <a:endParaRPr lang="en-US" sz="1200" dirty="0"/>
          </a:p>
        </p:txBody>
      </p:sp>
      <p:sp>
        <p:nvSpPr>
          <p:cNvPr id="33" name="Shape 30"/>
          <p:cNvSpPr/>
          <p:nvPr/>
        </p:nvSpPr>
        <p:spPr>
          <a:xfrm>
            <a:off x="7223760" y="3302595"/>
            <a:ext cx="4572000" cy="548640"/>
          </a:xfrm>
          <a:prstGeom prst="roundRect">
            <a:avLst>
              <a:gd name="adj" fmla="val 10000"/>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34" name="Text 31"/>
          <p:cNvSpPr/>
          <p:nvPr/>
        </p:nvSpPr>
        <p:spPr>
          <a:xfrm>
            <a:off x="7360920" y="3302595"/>
            <a:ext cx="1417320" cy="548640"/>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Février</a:t>
            </a:r>
            <a:endParaRPr lang="en-US" sz="1100" dirty="0"/>
          </a:p>
        </p:txBody>
      </p:sp>
      <p:sp>
        <p:nvSpPr>
          <p:cNvPr id="35" name="Shape 32"/>
          <p:cNvSpPr/>
          <p:nvPr/>
        </p:nvSpPr>
        <p:spPr>
          <a:xfrm>
            <a:off x="8869680" y="3485475"/>
            <a:ext cx="2240280" cy="182880"/>
          </a:xfrm>
          <a:prstGeom prst="rect">
            <a:avLst/>
          </a:prstGeom>
          <a:solidFill>
            <a:srgbClr val="CBD5E1"/>
          </a:solidFill>
          <a:ln w="12700">
            <a:solidFill>
              <a:srgbClr val="CBD5E1"/>
            </a:solidFill>
            <a:prstDash val="solid"/>
          </a:ln>
        </p:spPr>
        <p:txBody>
          <a:bodyPr/>
          <a:lstStyle/>
          <a:p>
            <a:endParaRPr lang="en-US"/>
          </a:p>
        </p:txBody>
      </p:sp>
      <p:sp>
        <p:nvSpPr>
          <p:cNvPr id="36" name="Shape 33"/>
          <p:cNvSpPr/>
          <p:nvPr/>
        </p:nvSpPr>
        <p:spPr>
          <a:xfrm>
            <a:off x="8869680" y="3485475"/>
            <a:ext cx="2041455" cy="182880"/>
          </a:xfrm>
          <a:prstGeom prst="rect">
            <a:avLst/>
          </a:prstGeom>
          <a:solidFill>
            <a:srgbClr val="16A34A"/>
          </a:solidFill>
          <a:ln w="12700">
            <a:solidFill>
              <a:srgbClr val="16A34A"/>
            </a:solidFill>
            <a:prstDash val="solid"/>
          </a:ln>
        </p:spPr>
        <p:txBody>
          <a:bodyPr/>
          <a:lstStyle/>
          <a:p>
            <a:endParaRPr lang="en-US"/>
          </a:p>
        </p:txBody>
      </p:sp>
      <p:sp>
        <p:nvSpPr>
          <p:cNvPr id="37" name="Text 34"/>
          <p:cNvSpPr/>
          <p:nvPr/>
        </p:nvSpPr>
        <p:spPr>
          <a:xfrm>
            <a:off x="11109960" y="3302595"/>
            <a:ext cx="640080" cy="548640"/>
          </a:xfrm>
          <a:prstGeom prst="rect">
            <a:avLst/>
          </a:prstGeom>
          <a:noFill/>
          <a:ln/>
        </p:spPr>
        <p:txBody>
          <a:bodyPr wrap="square" rtlCol="0" anchor="ctr"/>
          <a:lstStyle/>
          <a:p>
            <a:pPr marL="0" indent="0" algn="r">
              <a:buNone/>
            </a:pPr>
            <a:r>
              <a:rPr lang="en-US" sz="1200" b="1" dirty="0">
                <a:solidFill>
                  <a:srgbClr val="16A34A"/>
                </a:solidFill>
                <a:latin typeface="Calibri" pitchFamily="34" charset="0"/>
                <a:ea typeface="Calibri" pitchFamily="34" charset="-122"/>
                <a:cs typeface="Calibri" pitchFamily="34" charset="-120"/>
              </a:rPr>
              <a:t>72.9%</a:t>
            </a:r>
            <a:endParaRPr lang="en-US" sz="1200" dirty="0"/>
          </a:p>
        </p:txBody>
      </p:sp>
      <p:sp>
        <p:nvSpPr>
          <p:cNvPr id="38" name="Shape 35"/>
          <p:cNvSpPr/>
          <p:nvPr/>
        </p:nvSpPr>
        <p:spPr>
          <a:xfrm>
            <a:off x="7223760" y="3960963"/>
            <a:ext cx="4572000" cy="548640"/>
          </a:xfrm>
          <a:prstGeom prst="roundRect">
            <a:avLst>
              <a:gd name="adj" fmla="val 10000"/>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39" name="Text 36"/>
          <p:cNvSpPr/>
          <p:nvPr/>
        </p:nvSpPr>
        <p:spPr>
          <a:xfrm>
            <a:off x="7360920" y="3960963"/>
            <a:ext cx="1417320" cy="548640"/>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Mars</a:t>
            </a:r>
            <a:endParaRPr lang="en-US" sz="1100" dirty="0"/>
          </a:p>
        </p:txBody>
      </p:sp>
      <p:sp>
        <p:nvSpPr>
          <p:cNvPr id="40" name="Shape 37"/>
          <p:cNvSpPr/>
          <p:nvPr/>
        </p:nvSpPr>
        <p:spPr>
          <a:xfrm>
            <a:off x="8869680" y="4143843"/>
            <a:ext cx="2240280" cy="182880"/>
          </a:xfrm>
          <a:prstGeom prst="rect">
            <a:avLst/>
          </a:prstGeom>
          <a:solidFill>
            <a:srgbClr val="CBD5E1"/>
          </a:solidFill>
          <a:ln w="12700">
            <a:solidFill>
              <a:srgbClr val="CBD5E1"/>
            </a:solidFill>
            <a:prstDash val="solid"/>
          </a:ln>
        </p:spPr>
        <p:txBody>
          <a:bodyPr/>
          <a:lstStyle/>
          <a:p>
            <a:endParaRPr lang="en-US"/>
          </a:p>
        </p:txBody>
      </p:sp>
      <p:sp>
        <p:nvSpPr>
          <p:cNvPr id="41" name="Shape 38"/>
          <p:cNvSpPr/>
          <p:nvPr/>
        </p:nvSpPr>
        <p:spPr>
          <a:xfrm>
            <a:off x="8869680" y="4143843"/>
            <a:ext cx="2013452" cy="182880"/>
          </a:xfrm>
          <a:prstGeom prst="rect">
            <a:avLst/>
          </a:prstGeom>
          <a:solidFill>
            <a:srgbClr val="16A34A"/>
          </a:solidFill>
          <a:ln w="12700">
            <a:solidFill>
              <a:srgbClr val="16A34A"/>
            </a:solidFill>
            <a:prstDash val="solid"/>
          </a:ln>
        </p:spPr>
        <p:txBody>
          <a:bodyPr/>
          <a:lstStyle/>
          <a:p>
            <a:endParaRPr lang="en-US"/>
          </a:p>
        </p:txBody>
      </p:sp>
      <p:sp>
        <p:nvSpPr>
          <p:cNvPr id="42" name="Text 39"/>
          <p:cNvSpPr/>
          <p:nvPr/>
        </p:nvSpPr>
        <p:spPr>
          <a:xfrm>
            <a:off x="11109960" y="3960963"/>
            <a:ext cx="640080" cy="548640"/>
          </a:xfrm>
          <a:prstGeom prst="rect">
            <a:avLst/>
          </a:prstGeom>
          <a:noFill/>
          <a:ln/>
        </p:spPr>
        <p:txBody>
          <a:bodyPr wrap="square" rtlCol="0" anchor="ctr"/>
          <a:lstStyle/>
          <a:p>
            <a:pPr marL="0" indent="0" algn="r">
              <a:buNone/>
            </a:pPr>
            <a:r>
              <a:rPr lang="en-US" sz="1200" b="1" dirty="0">
                <a:solidFill>
                  <a:srgbClr val="16A34A"/>
                </a:solidFill>
                <a:latin typeface="Calibri" pitchFamily="34" charset="0"/>
                <a:ea typeface="Calibri" pitchFamily="34" charset="-122"/>
                <a:cs typeface="Calibri" pitchFamily="34" charset="-120"/>
              </a:rPr>
              <a:t>71.9%</a:t>
            </a:r>
            <a:endParaRPr lang="en-US" sz="1200" dirty="0"/>
          </a:p>
        </p:txBody>
      </p:sp>
      <p:sp>
        <p:nvSpPr>
          <p:cNvPr id="43" name="Shape 40"/>
          <p:cNvSpPr/>
          <p:nvPr/>
        </p:nvSpPr>
        <p:spPr>
          <a:xfrm>
            <a:off x="7223760" y="4619331"/>
            <a:ext cx="4572000" cy="548640"/>
          </a:xfrm>
          <a:prstGeom prst="roundRect">
            <a:avLst>
              <a:gd name="adj" fmla="val 10000"/>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44" name="Text 41"/>
          <p:cNvSpPr/>
          <p:nvPr/>
        </p:nvSpPr>
        <p:spPr>
          <a:xfrm>
            <a:off x="7360920" y="4619331"/>
            <a:ext cx="1417320" cy="548640"/>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Avril</a:t>
            </a:r>
            <a:endParaRPr lang="en-US" sz="1100" dirty="0"/>
          </a:p>
        </p:txBody>
      </p:sp>
      <p:sp>
        <p:nvSpPr>
          <p:cNvPr id="45" name="Shape 42"/>
          <p:cNvSpPr/>
          <p:nvPr/>
        </p:nvSpPr>
        <p:spPr>
          <a:xfrm>
            <a:off x="8869680" y="4802211"/>
            <a:ext cx="2240280" cy="182880"/>
          </a:xfrm>
          <a:prstGeom prst="rect">
            <a:avLst/>
          </a:prstGeom>
          <a:solidFill>
            <a:srgbClr val="CBD5E1"/>
          </a:solidFill>
          <a:ln w="12700">
            <a:solidFill>
              <a:srgbClr val="CBD5E1"/>
            </a:solidFill>
            <a:prstDash val="solid"/>
          </a:ln>
        </p:spPr>
        <p:txBody>
          <a:bodyPr/>
          <a:lstStyle/>
          <a:p>
            <a:endParaRPr lang="en-US"/>
          </a:p>
        </p:txBody>
      </p:sp>
      <p:sp>
        <p:nvSpPr>
          <p:cNvPr id="46" name="Shape 43"/>
          <p:cNvSpPr/>
          <p:nvPr/>
        </p:nvSpPr>
        <p:spPr>
          <a:xfrm>
            <a:off x="8869680" y="4802211"/>
            <a:ext cx="1907038" cy="182880"/>
          </a:xfrm>
          <a:prstGeom prst="rect">
            <a:avLst/>
          </a:prstGeom>
          <a:solidFill>
            <a:srgbClr val="16A34A"/>
          </a:solidFill>
          <a:ln w="12700">
            <a:solidFill>
              <a:srgbClr val="16A34A"/>
            </a:solidFill>
            <a:prstDash val="solid"/>
          </a:ln>
        </p:spPr>
        <p:txBody>
          <a:bodyPr/>
          <a:lstStyle/>
          <a:p>
            <a:endParaRPr lang="en-US"/>
          </a:p>
        </p:txBody>
      </p:sp>
      <p:sp>
        <p:nvSpPr>
          <p:cNvPr id="47" name="Text 44"/>
          <p:cNvSpPr/>
          <p:nvPr/>
        </p:nvSpPr>
        <p:spPr>
          <a:xfrm>
            <a:off x="11109960" y="4619331"/>
            <a:ext cx="640080" cy="548640"/>
          </a:xfrm>
          <a:prstGeom prst="rect">
            <a:avLst/>
          </a:prstGeom>
          <a:noFill/>
          <a:ln/>
        </p:spPr>
        <p:txBody>
          <a:bodyPr wrap="square" rtlCol="0" anchor="ctr"/>
          <a:lstStyle/>
          <a:p>
            <a:pPr marL="0" indent="0" algn="r">
              <a:buNone/>
            </a:pPr>
            <a:r>
              <a:rPr lang="en-US" sz="1200" b="1" dirty="0">
                <a:solidFill>
                  <a:srgbClr val="16A34A"/>
                </a:solidFill>
                <a:latin typeface="Calibri" pitchFamily="34" charset="0"/>
                <a:ea typeface="Calibri" pitchFamily="34" charset="-122"/>
                <a:cs typeface="Calibri" pitchFamily="34" charset="-120"/>
              </a:rPr>
              <a:t>68.1%</a:t>
            </a:r>
            <a:endParaRPr lang="en-US" sz="1200" dirty="0"/>
          </a:p>
        </p:txBody>
      </p:sp>
      <p:sp>
        <p:nvSpPr>
          <p:cNvPr id="48" name="Shape 45"/>
          <p:cNvSpPr/>
          <p:nvPr/>
        </p:nvSpPr>
        <p:spPr>
          <a:xfrm>
            <a:off x="7223760" y="5277699"/>
            <a:ext cx="4572000" cy="548640"/>
          </a:xfrm>
          <a:prstGeom prst="roundRect">
            <a:avLst>
              <a:gd name="adj" fmla="val 10000"/>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49" name="Text 46"/>
          <p:cNvSpPr/>
          <p:nvPr/>
        </p:nvSpPr>
        <p:spPr>
          <a:xfrm>
            <a:off x="7360920" y="5277699"/>
            <a:ext cx="1417320" cy="548640"/>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Mai</a:t>
            </a:r>
            <a:endParaRPr lang="en-US" sz="1100" dirty="0"/>
          </a:p>
        </p:txBody>
      </p:sp>
      <p:sp>
        <p:nvSpPr>
          <p:cNvPr id="50" name="Shape 47"/>
          <p:cNvSpPr/>
          <p:nvPr/>
        </p:nvSpPr>
        <p:spPr>
          <a:xfrm>
            <a:off x="8869680" y="5460579"/>
            <a:ext cx="2240280" cy="182880"/>
          </a:xfrm>
          <a:prstGeom prst="rect">
            <a:avLst/>
          </a:prstGeom>
          <a:solidFill>
            <a:srgbClr val="CBD5E1"/>
          </a:solidFill>
          <a:ln w="12700">
            <a:solidFill>
              <a:srgbClr val="CBD5E1"/>
            </a:solidFill>
            <a:prstDash val="solid"/>
          </a:ln>
        </p:spPr>
        <p:txBody>
          <a:bodyPr/>
          <a:lstStyle/>
          <a:p>
            <a:endParaRPr lang="en-US"/>
          </a:p>
        </p:txBody>
      </p:sp>
      <p:sp>
        <p:nvSpPr>
          <p:cNvPr id="51" name="Shape 48"/>
          <p:cNvSpPr/>
          <p:nvPr/>
        </p:nvSpPr>
        <p:spPr>
          <a:xfrm>
            <a:off x="8869680" y="5460579"/>
            <a:ext cx="1587798" cy="182880"/>
          </a:xfrm>
          <a:prstGeom prst="rect">
            <a:avLst/>
          </a:prstGeom>
          <a:solidFill>
            <a:srgbClr val="EA580C"/>
          </a:solidFill>
          <a:ln w="12700">
            <a:solidFill>
              <a:srgbClr val="EA580C"/>
            </a:solidFill>
            <a:prstDash val="solid"/>
          </a:ln>
        </p:spPr>
        <p:txBody>
          <a:bodyPr/>
          <a:lstStyle/>
          <a:p>
            <a:endParaRPr lang="en-US"/>
          </a:p>
        </p:txBody>
      </p:sp>
      <p:sp>
        <p:nvSpPr>
          <p:cNvPr id="52" name="Text 49"/>
          <p:cNvSpPr/>
          <p:nvPr/>
        </p:nvSpPr>
        <p:spPr>
          <a:xfrm>
            <a:off x="11109960" y="5277699"/>
            <a:ext cx="640080" cy="548640"/>
          </a:xfrm>
          <a:prstGeom prst="rect">
            <a:avLst/>
          </a:prstGeom>
          <a:noFill/>
          <a:ln/>
        </p:spPr>
        <p:txBody>
          <a:bodyPr wrap="square" rtlCol="0" anchor="ctr"/>
          <a:lstStyle/>
          <a:p>
            <a:pPr marL="0" indent="0" algn="r">
              <a:buNone/>
            </a:pPr>
            <a:r>
              <a:rPr lang="en-US" sz="1200" b="1" dirty="0">
                <a:solidFill>
                  <a:srgbClr val="EA580C"/>
                </a:solidFill>
                <a:latin typeface="Calibri" pitchFamily="34" charset="0"/>
                <a:ea typeface="Calibri" pitchFamily="34" charset="-122"/>
                <a:cs typeface="Calibri" pitchFamily="34" charset="-120"/>
              </a:rPr>
              <a:t>56.7%</a:t>
            </a:r>
            <a:endParaRPr lang="en-US" sz="1200" dirty="0"/>
          </a:p>
        </p:txBody>
      </p:sp>
      <p:sp>
        <p:nvSpPr>
          <p:cNvPr id="53" name="Shape 50"/>
          <p:cNvSpPr/>
          <p:nvPr/>
        </p:nvSpPr>
        <p:spPr>
          <a:xfrm>
            <a:off x="7223760" y="5853055"/>
            <a:ext cx="4572000" cy="709742"/>
          </a:xfrm>
          <a:prstGeom prst="roundRect">
            <a:avLst>
              <a:gd name="adj" fmla="val 8696"/>
            </a:avLst>
          </a:prstGeom>
          <a:solidFill>
            <a:srgbClr val="EDF9F0"/>
          </a:solidFill>
          <a:ln/>
        </p:spPr>
        <p:txBody>
          <a:bodyPr/>
          <a:lstStyle/>
          <a:p>
            <a:endParaRPr lang="en-US"/>
          </a:p>
        </p:txBody>
      </p:sp>
      <p:sp>
        <p:nvSpPr>
          <p:cNvPr id="54" name="Text 51"/>
          <p:cNvSpPr/>
          <p:nvPr/>
        </p:nvSpPr>
        <p:spPr>
          <a:xfrm>
            <a:off x="7360920" y="5827055"/>
            <a:ext cx="4297680" cy="749808"/>
          </a:xfrm>
          <a:prstGeom prst="rect">
            <a:avLst/>
          </a:prstGeom>
          <a:noFill/>
          <a:ln/>
        </p:spPr>
        <p:txBody>
          <a:bodyPr wrap="square" rtlCol="0" anchor="ctr"/>
          <a:lstStyle/>
          <a:p>
            <a:pPr marL="0" indent="0">
              <a:buNone/>
            </a:pPr>
            <a:r>
              <a:rPr lang="en-US" sz="950" b="1" dirty="0">
                <a:solidFill>
                  <a:srgbClr val="16A34A"/>
                </a:solidFill>
                <a:latin typeface="Calibri" pitchFamily="34" charset="0"/>
                <a:ea typeface="Calibri" pitchFamily="34" charset="-122"/>
                <a:cs typeface="Calibri" pitchFamily="34" charset="-120"/>
              </a:rPr>
              <a:t>Concurrents : </a:t>
            </a:r>
            <a:r>
              <a:rPr lang="en-US" sz="950" dirty="0">
                <a:solidFill>
                  <a:srgbClr val="0A2240"/>
                </a:solidFill>
                <a:latin typeface="Calibri" pitchFamily="34" charset="0"/>
                <a:ea typeface="Calibri" pitchFamily="34" charset="-122"/>
                <a:cs typeface="Calibri" pitchFamily="34" charset="-120"/>
              </a:rPr>
              <a:t>FM General Services 12,1% (518 TEU) | Movis Transit 5,8% (251 TEU) | CEVA Logistics 5,1% (220 TEU)
</a:t>
            </a:r>
            <a:r>
              <a:rPr lang="en-US" sz="950" b="1" dirty="0">
                <a:solidFill>
                  <a:srgbClr val="0A2240"/>
                </a:solidFill>
                <a:latin typeface="Calibri" pitchFamily="34" charset="0"/>
                <a:ea typeface="Calibri" pitchFamily="34" charset="-122"/>
                <a:cs typeface="Calibri" pitchFamily="34" charset="-120"/>
              </a:rPr>
              <a:t>Chargeurs AGL : </a:t>
            </a:r>
          </a:p>
          <a:p>
            <a:pPr marL="0" indent="0">
              <a:buNone/>
            </a:pPr>
            <a:r>
              <a:rPr lang="en-US" sz="950" b="1" dirty="0">
                <a:solidFill>
                  <a:srgbClr val="0A2240"/>
                </a:solidFill>
                <a:latin typeface="Calibri" pitchFamily="34" charset="0"/>
                <a:ea typeface="Calibri" pitchFamily="34" charset="-122"/>
                <a:cs typeface="Calibri" pitchFamily="34" charset="-120"/>
              </a:rPr>
              <a:t>SOFITEX 1 492 TEU | CMDT Bamako 1 010 TEU | SAGROCOM BF 249 TEU</a:t>
            </a:r>
            <a:endParaRPr lang="en-US" sz="950" dirty="0"/>
          </a:p>
        </p:txBody>
      </p:sp>
      <p:sp>
        <p:nvSpPr>
          <p:cNvPr id="55" name="Shape 52"/>
          <p:cNvSpPr/>
          <p:nvPr/>
        </p:nvSpPr>
        <p:spPr>
          <a:xfrm>
            <a:off x="365760" y="6565392"/>
            <a:ext cx="11430000" cy="0"/>
          </a:xfrm>
          <a:prstGeom prst="line">
            <a:avLst/>
          </a:prstGeom>
          <a:noFill/>
          <a:ln w="6350">
            <a:solidFill>
              <a:srgbClr val="CBD5E1"/>
            </a:solidFill>
            <a:prstDash val="solid"/>
          </a:ln>
        </p:spPr>
        <p:txBody>
          <a:bodyPr/>
          <a:lstStyle/>
          <a:p>
            <a:endParaRPr lang="en-US"/>
          </a:p>
        </p:txBody>
      </p:sp>
      <p:sp>
        <p:nvSpPr>
          <p:cNvPr id="56" name="Text 53"/>
          <p:cNvSpPr/>
          <p:nvPr/>
        </p:nvSpPr>
        <p:spPr>
          <a:xfrm>
            <a:off x="365760" y="6601968"/>
            <a:ext cx="11430000" cy="201168"/>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Africa Global Logistics – Étude de Marché Jan–Mai 2026  |  p.15</a:t>
            </a:r>
            <a:endParaRPr lang="en-US" sz="850" dirty="0"/>
          </a:p>
        </p:txBody>
      </p:sp>
      <p:pic>
        <p:nvPicPr>
          <p:cNvPr id="58" name="Image 57" descr="Une image contenant texte, Police, Graphique, logo  Description générée automatiquement">
            <a:extLst>
              <a:ext uri="{FF2B5EF4-FFF2-40B4-BE49-F238E27FC236}">
                <a16:creationId xmlns:a16="http://schemas.microsoft.com/office/drawing/2014/main" id="{24BED926-EC3F-922C-8F56-19EA6F72D3B9}"/>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1488450" y="6549898"/>
            <a:ext cx="450027" cy="29240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A2240"/>
          </a:solidFill>
          <a:ln w="12700">
            <a:solidFill>
              <a:srgbClr val="0A2240"/>
            </a:solidFill>
            <a:prstDash val="solid"/>
          </a:ln>
        </p:spPr>
        <p:txBody>
          <a:bodyPr/>
          <a:lstStyle/>
          <a:p>
            <a:endParaRPr lang="en-US"/>
          </a:p>
        </p:txBody>
      </p:sp>
      <p:sp>
        <p:nvSpPr>
          <p:cNvPr id="3" name="Shape 1"/>
          <p:cNvSpPr/>
          <p:nvPr/>
        </p:nvSpPr>
        <p:spPr>
          <a:xfrm>
            <a:off x="4389120" y="3246120"/>
            <a:ext cx="3383280" cy="64008"/>
          </a:xfrm>
          <a:prstGeom prst="rect">
            <a:avLst/>
          </a:prstGeom>
          <a:solidFill>
            <a:srgbClr val="C8A951"/>
          </a:solidFill>
          <a:ln w="12700">
            <a:solidFill>
              <a:srgbClr val="C8A951"/>
            </a:solidFill>
            <a:prstDash val="solid"/>
          </a:ln>
        </p:spPr>
        <p:txBody>
          <a:bodyPr/>
          <a:lstStyle/>
          <a:p>
            <a:endParaRPr lang="en-US"/>
          </a:p>
        </p:txBody>
      </p:sp>
      <p:sp>
        <p:nvSpPr>
          <p:cNvPr id="4" name="Text 2"/>
          <p:cNvSpPr/>
          <p:nvPr/>
        </p:nvSpPr>
        <p:spPr>
          <a:xfrm>
            <a:off x="0" y="1645920"/>
            <a:ext cx="12161520" cy="1371600"/>
          </a:xfrm>
          <a:prstGeom prst="rect">
            <a:avLst/>
          </a:prstGeom>
          <a:noFill/>
          <a:ln/>
        </p:spPr>
        <p:txBody>
          <a:bodyPr wrap="square" rtlCol="0" anchor="ctr"/>
          <a:lstStyle/>
          <a:p>
            <a:pPr marL="0" indent="0" algn="ctr">
              <a:buNone/>
            </a:pPr>
            <a:r>
              <a:rPr lang="en-US" sz="11000" b="1" dirty="0">
                <a:solidFill>
                  <a:srgbClr val="FFFFFF">
                    <a:alpha val="12000"/>
                  </a:srgbClr>
                </a:solidFill>
                <a:latin typeface="Calibri" pitchFamily="34" charset="0"/>
                <a:ea typeface="Calibri" pitchFamily="34" charset="-122"/>
                <a:cs typeface="Calibri" pitchFamily="34" charset="-120"/>
              </a:rPr>
              <a:t>05</a:t>
            </a:r>
            <a:endParaRPr lang="en-US" sz="11000" dirty="0"/>
          </a:p>
        </p:txBody>
      </p:sp>
      <p:sp>
        <p:nvSpPr>
          <p:cNvPr id="5" name="Text 3"/>
          <p:cNvSpPr/>
          <p:nvPr/>
        </p:nvSpPr>
        <p:spPr>
          <a:xfrm>
            <a:off x="1371600" y="2651760"/>
            <a:ext cx="9418320" cy="822960"/>
          </a:xfrm>
          <a:prstGeom prst="rect">
            <a:avLst/>
          </a:prstGeom>
          <a:noFill/>
          <a:ln/>
        </p:spPr>
        <p:txBody>
          <a:bodyPr wrap="square" rtlCol="0" anchor="ctr"/>
          <a:lstStyle/>
          <a:p>
            <a:pPr marL="0" indent="0" algn="ctr">
              <a:buNone/>
            </a:pPr>
            <a:r>
              <a:rPr lang="en-US" sz="3400" b="1" dirty="0">
                <a:solidFill>
                  <a:srgbClr val="FFFFFF"/>
                </a:solidFill>
                <a:latin typeface="Calibri" pitchFamily="34" charset="0"/>
                <a:ea typeface="Calibri" pitchFamily="34" charset="-122"/>
                <a:cs typeface="Calibri" pitchFamily="34" charset="-120"/>
              </a:rPr>
              <a:t>AÉRIEN IMPORT</a:t>
            </a:r>
            <a:endParaRPr lang="en-US" sz="3400" dirty="0"/>
          </a:p>
        </p:txBody>
      </p:sp>
      <p:sp>
        <p:nvSpPr>
          <p:cNvPr id="6" name="Text 4"/>
          <p:cNvSpPr/>
          <p:nvPr/>
        </p:nvSpPr>
        <p:spPr>
          <a:xfrm>
            <a:off x="1371600" y="3520440"/>
            <a:ext cx="9418320" cy="457200"/>
          </a:xfrm>
          <a:prstGeom prst="rect">
            <a:avLst/>
          </a:prstGeom>
          <a:noFill/>
          <a:ln/>
        </p:spPr>
        <p:txBody>
          <a:bodyPr wrap="square" rtlCol="0" anchor="ctr"/>
          <a:lstStyle/>
          <a:p>
            <a:pPr marL="0" indent="0" algn="ctr">
              <a:buNone/>
            </a:pPr>
            <a:r>
              <a:rPr lang="en-US" sz="1400" i="1" dirty="0">
                <a:solidFill>
                  <a:srgbClr val="C8A951"/>
                </a:solidFill>
                <a:latin typeface="Calibri" pitchFamily="34" charset="0"/>
                <a:ea typeface="Calibri" pitchFamily="34" charset="-122"/>
                <a:cs typeface="Calibri" pitchFamily="34" charset="-120"/>
              </a:rPr>
              <a:t>5 603 T qualifiées  |  PDM AGL : 20,8%  |  #1 ABSOLU</a:t>
            </a:r>
            <a:endParaRPr lang="en-US" sz="1400" dirty="0"/>
          </a:p>
        </p:txBody>
      </p:sp>
      <p:sp>
        <p:nvSpPr>
          <p:cNvPr id="7" name="Text 5"/>
          <p:cNvSpPr/>
          <p:nvPr/>
        </p:nvSpPr>
        <p:spPr>
          <a:xfrm>
            <a:off x="0" y="6263640"/>
            <a:ext cx="12161520" cy="347472"/>
          </a:xfrm>
          <a:prstGeom prst="rect">
            <a:avLst/>
          </a:prstGeom>
          <a:noFill/>
          <a:ln/>
        </p:spPr>
        <p:txBody>
          <a:bodyPr wrap="square" rtlCol="0" anchor="ctr"/>
          <a:lstStyle/>
          <a:p>
            <a:pPr marL="0" indent="0" algn="ctr">
              <a:buNone/>
            </a:pPr>
            <a:r>
              <a:rPr lang="en-US" sz="1000" dirty="0">
                <a:solidFill>
                  <a:srgbClr val="C8A951"/>
                </a:solidFill>
                <a:latin typeface="Calibri" pitchFamily="34" charset="0"/>
                <a:ea typeface="Calibri" pitchFamily="34" charset="-122"/>
                <a:cs typeface="Calibri" pitchFamily="34" charset="-120"/>
              </a:rPr>
              <a:t>Africa Global Logistics – Étude de Marché Jan–Mai 2026</a:t>
            </a:r>
            <a:endParaRPr lang="en-US" sz="1000" dirty="0"/>
          </a:p>
        </p:txBody>
      </p:sp>
      <p:pic>
        <p:nvPicPr>
          <p:cNvPr id="8" name="Image 7" descr="Une image contenant texte, Police, Graphique, logo  Description générée automatiquement">
            <a:extLst>
              <a:ext uri="{FF2B5EF4-FFF2-40B4-BE49-F238E27FC236}">
                <a16:creationId xmlns:a16="http://schemas.microsoft.com/office/drawing/2014/main" id="{69CEE666-56A6-F258-8C81-AFBD4FF1194D}"/>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1369762" y="6214669"/>
            <a:ext cx="608878" cy="39562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0A2240"/>
          </a:solidFill>
          <a:ln w="12700">
            <a:solidFill>
              <a:srgbClr val="0A2240"/>
            </a:solidFill>
            <a:prstDash val="solid"/>
          </a:ln>
        </p:spPr>
        <p:txBody>
          <a:bodyPr/>
          <a:lstStyle/>
          <a:p>
            <a:endParaRPr lang="en-US"/>
          </a:p>
        </p:txBody>
      </p:sp>
      <p:sp>
        <p:nvSpPr>
          <p:cNvPr id="3" name="Text 1"/>
          <p:cNvSpPr/>
          <p:nvPr/>
        </p:nvSpPr>
        <p:spPr>
          <a:xfrm>
            <a:off x="365760" y="54864"/>
            <a:ext cx="11430000" cy="65836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AÉRIEN IMPORT – VUE D'ENSEMBLE  |  Jan–Mai 2025 vs 2026</a:t>
            </a:r>
            <a:endParaRPr lang="en-US" sz="2400" dirty="0"/>
          </a:p>
        </p:txBody>
      </p:sp>
      <p:sp>
        <p:nvSpPr>
          <p:cNvPr id="4" name="Text 2"/>
          <p:cNvSpPr/>
          <p:nvPr/>
        </p:nvSpPr>
        <p:spPr>
          <a:xfrm>
            <a:off x="365760" y="676656"/>
            <a:ext cx="11430000" cy="329184"/>
          </a:xfrm>
          <a:prstGeom prst="rect">
            <a:avLst/>
          </a:prstGeom>
          <a:noFill/>
          <a:ln/>
        </p:spPr>
        <p:txBody>
          <a:bodyPr wrap="square" rtlCol="0" anchor="ctr"/>
          <a:lstStyle/>
          <a:p>
            <a:pPr marL="0" indent="0">
              <a:buNone/>
            </a:pPr>
            <a:r>
              <a:rPr lang="en-US" sz="1200" i="1" dirty="0">
                <a:solidFill>
                  <a:srgbClr val="C8A951"/>
                </a:solidFill>
                <a:latin typeface="Calibri" pitchFamily="34" charset="0"/>
                <a:ea typeface="Calibri" pitchFamily="34" charset="-122"/>
                <a:cs typeface="Calibri" pitchFamily="34" charset="-120"/>
              </a:rPr>
              <a:t>Marché qualifié : +1,5% vs 2025  |  AGL #1 ABSOLU – PDM 20,8%  |  Montée en puissance Jan→Mai</a:t>
            </a:r>
            <a:endParaRPr lang="en-US" sz="1200" dirty="0"/>
          </a:p>
        </p:txBody>
      </p:sp>
      <p:sp>
        <p:nvSpPr>
          <p:cNvPr id="5" name="Shape 3"/>
          <p:cNvSpPr/>
          <p:nvPr/>
        </p:nvSpPr>
        <p:spPr>
          <a:xfrm>
            <a:off x="320040" y="1143000"/>
            <a:ext cx="2148840" cy="1051560"/>
          </a:xfrm>
          <a:prstGeom prst="roundRect">
            <a:avLst>
              <a:gd name="adj" fmla="val 6957"/>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6" name="Text 4"/>
          <p:cNvSpPr/>
          <p:nvPr/>
        </p:nvSpPr>
        <p:spPr>
          <a:xfrm>
            <a:off x="411480" y="1234440"/>
            <a:ext cx="1965960" cy="274320"/>
          </a:xfrm>
          <a:prstGeom prst="rect">
            <a:avLst/>
          </a:prstGeom>
          <a:noFill/>
          <a:ln/>
        </p:spPr>
        <p:txBody>
          <a:bodyPr wrap="square" rtlCol="0" anchor="ctr"/>
          <a:lstStyle/>
          <a:p>
            <a:pPr marL="0" indent="0" algn="ctr">
              <a:buNone/>
            </a:pPr>
            <a:r>
              <a:rPr lang="en-US" sz="900" b="1" dirty="0">
                <a:solidFill>
                  <a:srgbClr val="64748B"/>
                </a:solidFill>
                <a:latin typeface="Calibri" pitchFamily="34" charset="0"/>
                <a:ea typeface="Calibri" pitchFamily="34" charset="-122"/>
                <a:cs typeface="Calibri" pitchFamily="34" charset="-120"/>
              </a:rPr>
              <a:t>MARCHÉ QUALIFIÉ 2025</a:t>
            </a:r>
            <a:endParaRPr lang="en-US" sz="900" dirty="0"/>
          </a:p>
        </p:txBody>
      </p:sp>
      <p:sp>
        <p:nvSpPr>
          <p:cNvPr id="7" name="Text 5"/>
          <p:cNvSpPr/>
          <p:nvPr/>
        </p:nvSpPr>
        <p:spPr>
          <a:xfrm>
            <a:off x="365760" y="1490472"/>
            <a:ext cx="2057400" cy="457200"/>
          </a:xfrm>
          <a:prstGeom prst="rect">
            <a:avLst/>
          </a:prstGeom>
          <a:noFill/>
          <a:ln/>
        </p:spPr>
        <p:txBody>
          <a:bodyPr wrap="square" rtlCol="0" anchor="ctr"/>
          <a:lstStyle/>
          <a:p>
            <a:pPr marL="0" indent="0" algn="ctr">
              <a:buNone/>
            </a:pPr>
            <a:r>
              <a:rPr lang="en-US" sz="2100" b="1" dirty="0">
                <a:solidFill>
                  <a:srgbClr val="64748B"/>
                </a:solidFill>
                <a:latin typeface="Calibri" pitchFamily="34" charset="0"/>
                <a:ea typeface="Calibri" pitchFamily="34" charset="-122"/>
                <a:cs typeface="Calibri" pitchFamily="34" charset="-120"/>
              </a:rPr>
              <a:t>5 521 T</a:t>
            </a:r>
            <a:endParaRPr lang="en-US" sz="2100" dirty="0"/>
          </a:p>
        </p:txBody>
      </p:sp>
      <p:sp>
        <p:nvSpPr>
          <p:cNvPr id="8" name="Text 6"/>
          <p:cNvSpPr/>
          <p:nvPr/>
        </p:nvSpPr>
        <p:spPr>
          <a:xfrm>
            <a:off x="393192" y="1901952"/>
            <a:ext cx="2002536" cy="201168"/>
          </a:xfrm>
          <a:prstGeom prst="rect">
            <a:avLst/>
          </a:prstGeom>
          <a:noFill/>
          <a:ln/>
        </p:spPr>
        <p:txBody>
          <a:bodyPr wrap="square" rtlCol="0" anchor="ctr"/>
          <a:lstStyle/>
          <a:p>
            <a:pPr marL="0" indent="0" algn="ctr">
              <a:buNone/>
            </a:pPr>
            <a:r>
              <a:rPr lang="en-US" sz="850" dirty="0">
                <a:solidFill>
                  <a:srgbClr val="64748B"/>
                </a:solidFill>
                <a:latin typeface="Calibri" pitchFamily="34" charset="0"/>
                <a:ea typeface="Calibri" pitchFamily="34" charset="-122"/>
                <a:cs typeface="Calibri" pitchFamily="34" charset="-120"/>
              </a:rPr>
              <a:t>Jan–Mai 2025</a:t>
            </a:r>
            <a:endParaRPr lang="en-US" sz="850" dirty="0"/>
          </a:p>
        </p:txBody>
      </p:sp>
      <p:sp>
        <p:nvSpPr>
          <p:cNvPr id="9" name="Shape 7"/>
          <p:cNvSpPr/>
          <p:nvPr/>
        </p:nvSpPr>
        <p:spPr>
          <a:xfrm>
            <a:off x="2642616" y="1143000"/>
            <a:ext cx="2148840" cy="1051560"/>
          </a:xfrm>
          <a:prstGeom prst="roundRect">
            <a:avLst>
              <a:gd name="adj" fmla="val 6957"/>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10" name="Text 8"/>
          <p:cNvSpPr/>
          <p:nvPr/>
        </p:nvSpPr>
        <p:spPr>
          <a:xfrm>
            <a:off x="2734056" y="1234440"/>
            <a:ext cx="1965960" cy="274320"/>
          </a:xfrm>
          <a:prstGeom prst="rect">
            <a:avLst/>
          </a:prstGeom>
          <a:noFill/>
          <a:ln/>
        </p:spPr>
        <p:txBody>
          <a:bodyPr wrap="square" rtlCol="0" anchor="ctr"/>
          <a:lstStyle/>
          <a:p>
            <a:pPr marL="0" indent="0" algn="ctr">
              <a:buNone/>
            </a:pPr>
            <a:r>
              <a:rPr lang="en-US" sz="900" b="1" dirty="0">
                <a:solidFill>
                  <a:srgbClr val="64748B"/>
                </a:solidFill>
                <a:latin typeface="Calibri" pitchFamily="34" charset="0"/>
                <a:ea typeface="Calibri" pitchFamily="34" charset="-122"/>
                <a:cs typeface="Calibri" pitchFamily="34" charset="-120"/>
              </a:rPr>
              <a:t>MARCHÉ QUALIFIÉ 2026</a:t>
            </a:r>
            <a:endParaRPr lang="en-US" sz="900" dirty="0"/>
          </a:p>
        </p:txBody>
      </p:sp>
      <p:sp>
        <p:nvSpPr>
          <p:cNvPr id="11" name="Text 9"/>
          <p:cNvSpPr/>
          <p:nvPr/>
        </p:nvSpPr>
        <p:spPr>
          <a:xfrm>
            <a:off x="2688336" y="1490472"/>
            <a:ext cx="2057400" cy="457200"/>
          </a:xfrm>
          <a:prstGeom prst="rect">
            <a:avLst/>
          </a:prstGeom>
          <a:noFill/>
          <a:ln/>
        </p:spPr>
        <p:txBody>
          <a:bodyPr wrap="square" rtlCol="0" anchor="ctr"/>
          <a:lstStyle/>
          <a:p>
            <a:pPr marL="0" indent="0" algn="ctr">
              <a:buNone/>
            </a:pPr>
            <a:r>
              <a:rPr lang="en-US" sz="2100" b="1" dirty="0">
                <a:solidFill>
                  <a:srgbClr val="0A2240"/>
                </a:solidFill>
                <a:latin typeface="Calibri" pitchFamily="34" charset="0"/>
                <a:ea typeface="Calibri" pitchFamily="34" charset="-122"/>
                <a:cs typeface="Calibri" pitchFamily="34" charset="-120"/>
              </a:rPr>
              <a:t>5 603 T</a:t>
            </a:r>
            <a:endParaRPr lang="en-US" sz="2100" dirty="0"/>
          </a:p>
        </p:txBody>
      </p:sp>
      <p:sp>
        <p:nvSpPr>
          <p:cNvPr id="12" name="Text 10"/>
          <p:cNvSpPr/>
          <p:nvPr/>
        </p:nvSpPr>
        <p:spPr>
          <a:xfrm>
            <a:off x="2715768" y="1901952"/>
            <a:ext cx="2002536" cy="201168"/>
          </a:xfrm>
          <a:prstGeom prst="rect">
            <a:avLst/>
          </a:prstGeom>
          <a:noFill/>
          <a:ln/>
        </p:spPr>
        <p:txBody>
          <a:bodyPr wrap="square" rtlCol="0" anchor="ctr"/>
          <a:lstStyle/>
          <a:p>
            <a:pPr marL="0" indent="0" algn="ctr">
              <a:buNone/>
            </a:pPr>
            <a:r>
              <a:rPr lang="en-US" sz="850" dirty="0">
                <a:solidFill>
                  <a:srgbClr val="64748B"/>
                </a:solidFill>
                <a:latin typeface="Calibri" pitchFamily="34" charset="0"/>
                <a:ea typeface="Calibri" pitchFamily="34" charset="-122"/>
                <a:cs typeface="Calibri" pitchFamily="34" charset="-120"/>
              </a:rPr>
              <a:t>+1,5% vs 2025</a:t>
            </a:r>
            <a:endParaRPr lang="en-US" sz="850" dirty="0"/>
          </a:p>
        </p:txBody>
      </p:sp>
      <p:sp>
        <p:nvSpPr>
          <p:cNvPr id="13" name="Shape 11"/>
          <p:cNvSpPr/>
          <p:nvPr/>
        </p:nvSpPr>
        <p:spPr>
          <a:xfrm>
            <a:off x="4965192" y="1143000"/>
            <a:ext cx="2148840" cy="1051560"/>
          </a:xfrm>
          <a:prstGeom prst="roundRect">
            <a:avLst>
              <a:gd name="adj" fmla="val 6957"/>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14" name="Text 12"/>
          <p:cNvSpPr/>
          <p:nvPr/>
        </p:nvSpPr>
        <p:spPr>
          <a:xfrm>
            <a:off x="5056632" y="1234440"/>
            <a:ext cx="1965960" cy="274320"/>
          </a:xfrm>
          <a:prstGeom prst="rect">
            <a:avLst/>
          </a:prstGeom>
          <a:noFill/>
          <a:ln/>
        </p:spPr>
        <p:txBody>
          <a:bodyPr wrap="square" rtlCol="0" anchor="ctr"/>
          <a:lstStyle/>
          <a:p>
            <a:pPr marL="0" indent="0" algn="ctr">
              <a:buNone/>
            </a:pPr>
            <a:r>
              <a:rPr lang="en-US" sz="900" b="1" dirty="0">
                <a:solidFill>
                  <a:srgbClr val="64748B"/>
                </a:solidFill>
                <a:latin typeface="Calibri" pitchFamily="34" charset="0"/>
                <a:ea typeface="Calibri" pitchFamily="34" charset="-122"/>
                <a:cs typeface="Calibri" pitchFamily="34" charset="-120"/>
              </a:rPr>
              <a:t>AGL 2026</a:t>
            </a:r>
            <a:endParaRPr lang="en-US" sz="900" dirty="0"/>
          </a:p>
        </p:txBody>
      </p:sp>
      <p:sp>
        <p:nvSpPr>
          <p:cNvPr id="15" name="Text 13"/>
          <p:cNvSpPr/>
          <p:nvPr/>
        </p:nvSpPr>
        <p:spPr>
          <a:xfrm>
            <a:off x="5010912" y="1490472"/>
            <a:ext cx="2057400" cy="457200"/>
          </a:xfrm>
          <a:prstGeom prst="rect">
            <a:avLst/>
          </a:prstGeom>
          <a:noFill/>
          <a:ln/>
        </p:spPr>
        <p:txBody>
          <a:bodyPr wrap="square" rtlCol="0" anchor="ctr"/>
          <a:lstStyle/>
          <a:p>
            <a:pPr marL="0" indent="0" algn="ctr">
              <a:buNone/>
            </a:pPr>
            <a:r>
              <a:rPr lang="en-US" sz="2100" b="1" dirty="0">
                <a:solidFill>
                  <a:srgbClr val="16A34A"/>
                </a:solidFill>
                <a:latin typeface="Calibri" pitchFamily="34" charset="0"/>
                <a:ea typeface="Calibri" pitchFamily="34" charset="-122"/>
                <a:cs typeface="Calibri" pitchFamily="34" charset="-120"/>
              </a:rPr>
              <a:t>1 166 T</a:t>
            </a:r>
            <a:endParaRPr lang="en-US" sz="2100" dirty="0"/>
          </a:p>
        </p:txBody>
      </p:sp>
      <p:sp>
        <p:nvSpPr>
          <p:cNvPr id="16" name="Text 14"/>
          <p:cNvSpPr/>
          <p:nvPr/>
        </p:nvSpPr>
        <p:spPr>
          <a:xfrm>
            <a:off x="5038344" y="1901952"/>
            <a:ext cx="2002536" cy="201168"/>
          </a:xfrm>
          <a:prstGeom prst="rect">
            <a:avLst/>
          </a:prstGeom>
          <a:noFill/>
          <a:ln/>
        </p:spPr>
        <p:txBody>
          <a:bodyPr wrap="square" rtlCol="0" anchor="ctr"/>
          <a:lstStyle/>
          <a:p>
            <a:pPr marL="0" indent="0" algn="ctr">
              <a:buNone/>
            </a:pPr>
            <a:r>
              <a:rPr lang="en-US" sz="850" dirty="0">
                <a:solidFill>
                  <a:srgbClr val="64748B"/>
                </a:solidFill>
                <a:latin typeface="Calibri" pitchFamily="34" charset="0"/>
                <a:ea typeface="Calibri" pitchFamily="34" charset="-122"/>
                <a:cs typeface="Calibri" pitchFamily="34" charset="-120"/>
              </a:rPr>
              <a:t>#1 ABSOLU</a:t>
            </a:r>
            <a:endParaRPr lang="en-US" sz="850" dirty="0"/>
          </a:p>
        </p:txBody>
      </p:sp>
      <p:sp>
        <p:nvSpPr>
          <p:cNvPr id="17" name="Shape 15"/>
          <p:cNvSpPr/>
          <p:nvPr/>
        </p:nvSpPr>
        <p:spPr>
          <a:xfrm>
            <a:off x="7287768" y="1143000"/>
            <a:ext cx="2148840" cy="1051560"/>
          </a:xfrm>
          <a:prstGeom prst="roundRect">
            <a:avLst>
              <a:gd name="adj" fmla="val 6957"/>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18" name="Text 16"/>
          <p:cNvSpPr/>
          <p:nvPr/>
        </p:nvSpPr>
        <p:spPr>
          <a:xfrm>
            <a:off x="7379208" y="1234440"/>
            <a:ext cx="1965960" cy="274320"/>
          </a:xfrm>
          <a:prstGeom prst="rect">
            <a:avLst/>
          </a:prstGeom>
          <a:noFill/>
          <a:ln/>
        </p:spPr>
        <p:txBody>
          <a:bodyPr wrap="square" rtlCol="0" anchor="ctr"/>
          <a:lstStyle/>
          <a:p>
            <a:pPr marL="0" indent="0" algn="ctr">
              <a:buNone/>
            </a:pPr>
            <a:r>
              <a:rPr lang="en-US" sz="900" b="1" dirty="0">
                <a:solidFill>
                  <a:srgbClr val="64748B"/>
                </a:solidFill>
                <a:latin typeface="Calibri" pitchFamily="34" charset="0"/>
                <a:ea typeface="Calibri" pitchFamily="34" charset="-122"/>
                <a:cs typeface="Calibri" pitchFamily="34" charset="-120"/>
              </a:rPr>
              <a:t>PDM AGL 2026</a:t>
            </a:r>
            <a:endParaRPr lang="en-US" sz="900" dirty="0"/>
          </a:p>
        </p:txBody>
      </p:sp>
      <p:sp>
        <p:nvSpPr>
          <p:cNvPr id="19" name="Text 17"/>
          <p:cNvSpPr/>
          <p:nvPr/>
        </p:nvSpPr>
        <p:spPr>
          <a:xfrm>
            <a:off x="7333488" y="1490472"/>
            <a:ext cx="2057400" cy="457200"/>
          </a:xfrm>
          <a:prstGeom prst="rect">
            <a:avLst/>
          </a:prstGeom>
          <a:noFill/>
          <a:ln/>
        </p:spPr>
        <p:txBody>
          <a:bodyPr wrap="square" rtlCol="0" anchor="ctr"/>
          <a:lstStyle/>
          <a:p>
            <a:pPr marL="0" indent="0" algn="ctr">
              <a:buNone/>
            </a:pPr>
            <a:r>
              <a:rPr lang="en-US" sz="2100" b="1" dirty="0">
                <a:solidFill>
                  <a:srgbClr val="16A34A"/>
                </a:solidFill>
                <a:latin typeface="Calibri" pitchFamily="34" charset="0"/>
                <a:ea typeface="Calibri" pitchFamily="34" charset="-122"/>
                <a:cs typeface="Calibri" pitchFamily="34" charset="-120"/>
              </a:rPr>
              <a:t>20,8 %</a:t>
            </a:r>
            <a:endParaRPr lang="en-US" sz="2100" dirty="0"/>
          </a:p>
        </p:txBody>
      </p:sp>
      <p:sp>
        <p:nvSpPr>
          <p:cNvPr id="20" name="Text 18"/>
          <p:cNvSpPr/>
          <p:nvPr/>
        </p:nvSpPr>
        <p:spPr>
          <a:xfrm>
            <a:off x="7360920" y="1901952"/>
            <a:ext cx="2002536" cy="201168"/>
          </a:xfrm>
          <a:prstGeom prst="rect">
            <a:avLst/>
          </a:prstGeom>
          <a:noFill/>
          <a:ln/>
        </p:spPr>
        <p:txBody>
          <a:bodyPr wrap="square" rtlCol="0" anchor="ctr"/>
          <a:lstStyle/>
          <a:p>
            <a:pPr marL="0" indent="0" algn="ctr">
              <a:buNone/>
            </a:pPr>
            <a:r>
              <a:rPr lang="en-US" sz="850" dirty="0">
                <a:solidFill>
                  <a:srgbClr val="64748B"/>
                </a:solidFill>
                <a:latin typeface="Calibri" pitchFamily="34" charset="0"/>
                <a:ea typeface="Calibri" pitchFamily="34" charset="-122"/>
                <a:cs typeface="Calibri" pitchFamily="34" charset="-120"/>
              </a:rPr>
              <a:t>vs ~18% estimé 2025</a:t>
            </a:r>
            <a:endParaRPr lang="en-US" sz="850" dirty="0"/>
          </a:p>
        </p:txBody>
      </p:sp>
      <p:sp>
        <p:nvSpPr>
          <p:cNvPr id="21" name="Shape 19"/>
          <p:cNvSpPr/>
          <p:nvPr/>
        </p:nvSpPr>
        <p:spPr>
          <a:xfrm>
            <a:off x="9610344" y="1143000"/>
            <a:ext cx="2148840" cy="1051560"/>
          </a:xfrm>
          <a:prstGeom prst="roundRect">
            <a:avLst>
              <a:gd name="adj" fmla="val 6957"/>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22" name="Text 20"/>
          <p:cNvSpPr/>
          <p:nvPr/>
        </p:nvSpPr>
        <p:spPr>
          <a:xfrm>
            <a:off x="9701784" y="1234440"/>
            <a:ext cx="1965960" cy="274320"/>
          </a:xfrm>
          <a:prstGeom prst="rect">
            <a:avLst/>
          </a:prstGeom>
          <a:noFill/>
          <a:ln/>
        </p:spPr>
        <p:txBody>
          <a:bodyPr wrap="square" rtlCol="0" anchor="ctr"/>
          <a:lstStyle/>
          <a:p>
            <a:pPr marL="0" indent="0" algn="ctr">
              <a:buNone/>
            </a:pPr>
            <a:r>
              <a:rPr lang="en-US" sz="900" b="1" dirty="0">
                <a:solidFill>
                  <a:srgbClr val="64748B"/>
                </a:solidFill>
                <a:latin typeface="Calibri" pitchFamily="34" charset="0"/>
                <a:ea typeface="Calibri" pitchFamily="34" charset="-122"/>
                <a:cs typeface="Calibri" pitchFamily="34" charset="-120"/>
              </a:rPr>
              <a:t>PDM MAI 2026</a:t>
            </a:r>
            <a:endParaRPr lang="en-US" sz="900" dirty="0"/>
          </a:p>
        </p:txBody>
      </p:sp>
      <p:sp>
        <p:nvSpPr>
          <p:cNvPr id="23" name="Text 21"/>
          <p:cNvSpPr/>
          <p:nvPr/>
        </p:nvSpPr>
        <p:spPr>
          <a:xfrm>
            <a:off x="9656064" y="1490472"/>
            <a:ext cx="2057400" cy="457200"/>
          </a:xfrm>
          <a:prstGeom prst="rect">
            <a:avLst/>
          </a:prstGeom>
          <a:noFill/>
          <a:ln/>
        </p:spPr>
        <p:txBody>
          <a:bodyPr wrap="square" rtlCol="0" anchor="ctr"/>
          <a:lstStyle/>
          <a:p>
            <a:pPr marL="0" indent="0" algn="ctr">
              <a:buNone/>
            </a:pPr>
            <a:r>
              <a:rPr lang="en-US" sz="2100" b="1" dirty="0">
                <a:solidFill>
                  <a:srgbClr val="16A34A"/>
                </a:solidFill>
                <a:latin typeface="Calibri" pitchFamily="34" charset="0"/>
                <a:ea typeface="Calibri" pitchFamily="34" charset="-122"/>
                <a:cs typeface="Calibri" pitchFamily="34" charset="-120"/>
              </a:rPr>
              <a:t>31,2 %</a:t>
            </a:r>
            <a:endParaRPr lang="en-US" sz="2100" dirty="0"/>
          </a:p>
        </p:txBody>
      </p:sp>
      <p:sp>
        <p:nvSpPr>
          <p:cNvPr id="24" name="Text 22"/>
          <p:cNvSpPr/>
          <p:nvPr/>
        </p:nvSpPr>
        <p:spPr>
          <a:xfrm>
            <a:off x="9683496" y="1901952"/>
            <a:ext cx="2002536" cy="201168"/>
          </a:xfrm>
          <a:prstGeom prst="rect">
            <a:avLst/>
          </a:prstGeom>
          <a:noFill/>
          <a:ln/>
        </p:spPr>
        <p:txBody>
          <a:bodyPr wrap="square" rtlCol="0" anchor="ctr"/>
          <a:lstStyle/>
          <a:p>
            <a:pPr marL="0" indent="0" algn="ctr">
              <a:buNone/>
            </a:pPr>
            <a:r>
              <a:rPr lang="en-US" sz="850" dirty="0">
                <a:solidFill>
                  <a:srgbClr val="64748B"/>
                </a:solidFill>
                <a:latin typeface="Calibri" pitchFamily="34" charset="0"/>
                <a:ea typeface="Calibri" pitchFamily="34" charset="-122"/>
                <a:cs typeface="Calibri" pitchFamily="34" charset="-120"/>
              </a:rPr>
              <a:t>Record de la période</a:t>
            </a:r>
            <a:endParaRPr lang="en-US" sz="850" dirty="0"/>
          </a:p>
        </p:txBody>
      </p:sp>
      <p:sp>
        <p:nvSpPr>
          <p:cNvPr id="25" name="Text 23"/>
          <p:cNvSpPr/>
          <p:nvPr/>
        </p:nvSpPr>
        <p:spPr>
          <a:xfrm>
            <a:off x="320040" y="2395728"/>
            <a:ext cx="5943600" cy="274320"/>
          </a:xfrm>
          <a:prstGeom prst="rect">
            <a:avLst/>
          </a:prstGeom>
          <a:noFill/>
          <a:ln/>
        </p:spPr>
        <p:txBody>
          <a:bodyPr wrap="square" rtlCol="0" anchor="ctr"/>
          <a:lstStyle/>
          <a:p>
            <a:pPr marL="0" indent="0">
              <a:buNone/>
            </a:pPr>
            <a:r>
              <a:rPr lang="en-US" sz="1200" b="1" dirty="0">
                <a:solidFill>
                  <a:srgbClr val="0A2240"/>
                </a:solidFill>
                <a:latin typeface="Calibri" pitchFamily="34" charset="0"/>
                <a:ea typeface="Calibri" pitchFamily="34" charset="-122"/>
                <a:cs typeface="Calibri" pitchFamily="34" charset="-120"/>
              </a:rPr>
              <a:t>Marché aérien import qualifié (kg) – 2025 vs 2026</a:t>
            </a:r>
            <a:endParaRPr lang="en-US" sz="1200" dirty="0"/>
          </a:p>
        </p:txBody>
      </p:sp>
      <p:graphicFrame>
        <p:nvGraphicFramePr>
          <p:cNvPr id="26" name="Chart 0"/>
          <p:cNvGraphicFramePr/>
          <p:nvPr/>
        </p:nvGraphicFramePr>
        <p:xfrm>
          <a:off x="320040" y="2697480"/>
          <a:ext cx="59436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27" name="Text 24"/>
          <p:cNvSpPr/>
          <p:nvPr/>
        </p:nvSpPr>
        <p:spPr>
          <a:xfrm>
            <a:off x="6400800" y="2395728"/>
            <a:ext cx="5394960" cy="274320"/>
          </a:xfrm>
          <a:prstGeom prst="rect">
            <a:avLst/>
          </a:prstGeom>
          <a:noFill/>
          <a:ln/>
        </p:spPr>
        <p:txBody>
          <a:bodyPr wrap="square" rtlCol="0" anchor="ctr"/>
          <a:lstStyle/>
          <a:p>
            <a:pPr marL="0" indent="0">
              <a:buNone/>
            </a:pPr>
            <a:r>
              <a:rPr lang="en-US" sz="1200" b="1" dirty="0">
                <a:solidFill>
                  <a:srgbClr val="0A2240"/>
                </a:solidFill>
                <a:latin typeface="Calibri" pitchFamily="34" charset="0"/>
                <a:ea typeface="Calibri" pitchFamily="34" charset="-122"/>
                <a:cs typeface="Calibri" pitchFamily="34" charset="-120"/>
              </a:rPr>
              <a:t>PDM AGL aérien – Progression Jan→Mai 2026 (%)</a:t>
            </a:r>
            <a:endParaRPr lang="en-US" sz="1200" dirty="0"/>
          </a:p>
        </p:txBody>
      </p:sp>
      <p:graphicFrame>
        <p:nvGraphicFramePr>
          <p:cNvPr id="28" name="Chart 1"/>
          <p:cNvGraphicFramePr/>
          <p:nvPr/>
        </p:nvGraphicFramePr>
        <p:xfrm>
          <a:off x="6400800" y="2697480"/>
          <a:ext cx="5394960" cy="2743200"/>
        </p:xfrm>
        <a:graphic>
          <a:graphicData uri="http://schemas.openxmlformats.org/drawingml/2006/chart">
            <c:chart xmlns:c="http://schemas.openxmlformats.org/drawingml/2006/chart" xmlns:r="http://schemas.openxmlformats.org/officeDocument/2006/relationships" r:id="rId4"/>
          </a:graphicData>
        </a:graphic>
      </p:graphicFrame>
      <p:sp>
        <p:nvSpPr>
          <p:cNvPr id="29" name="Shape 25"/>
          <p:cNvSpPr/>
          <p:nvPr/>
        </p:nvSpPr>
        <p:spPr>
          <a:xfrm>
            <a:off x="320040" y="5791403"/>
            <a:ext cx="11521440" cy="617722"/>
          </a:xfrm>
          <a:prstGeom prst="roundRect">
            <a:avLst>
              <a:gd name="adj" fmla="val 8333"/>
            </a:avLst>
          </a:prstGeom>
          <a:solidFill>
            <a:srgbClr val="EDF9F0"/>
          </a:solidFill>
          <a:ln/>
        </p:spPr>
        <p:txBody>
          <a:bodyPr/>
          <a:lstStyle/>
          <a:p>
            <a:endParaRPr lang="en-US"/>
          </a:p>
        </p:txBody>
      </p:sp>
      <p:sp>
        <p:nvSpPr>
          <p:cNvPr id="30" name="Text 26"/>
          <p:cNvSpPr/>
          <p:nvPr/>
        </p:nvSpPr>
        <p:spPr>
          <a:xfrm>
            <a:off x="502920" y="5623560"/>
            <a:ext cx="11155680" cy="914400"/>
          </a:xfrm>
          <a:prstGeom prst="rect">
            <a:avLst/>
          </a:prstGeom>
          <a:noFill/>
          <a:ln/>
        </p:spPr>
        <p:txBody>
          <a:bodyPr wrap="square" rtlCol="0" anchor="ctr"/>
          <a:lstStyle/>
          <a:p>
            <a:pPr marL="0" indent="0">
              <a:buNone/>
            </a:pPr>
            <a:r>
              <a:rPr lang="en-US" sz="1000" b="1" dirty="0">
                <a:solidFill>
                  <a:srgbClr val="16A34A"/>
                </a:solidFill>
                <a:latin typeface="Calibri" pitchFamily="34" charset="0"/>
                <a:ea typeface="Calibri" pitchFamily="34" charset="-122"/>
                <a:cs typeface="Calibri" pitchFamily="34" charset="-120"/>
              </a:rPr>
              <a:t>🏆 AGL #1 ABSOLU aérien import (qualifié) : </a:t>
            </a:r>
            <a:r>
              <a:rPr lang="en-US" sz="1000" dirty="0">
                <a:solidFill>
                  <a:srgbClr val="0A2240"/>
                </a:solidFill>
                <a:latin typeface="Calibri" pitchFamily="34" charset="0"/>
                <a:ea typeface="Calibri" pitchFamily="34" charset="-122"/>
                <a:cs typeface="Calibri" pitchFamily="34" charset="-120"/>
              </a:rPr>
              <a:t>20,8% de PDM sur 5 603 tonnes. Progression remarquable : 10,9% en Janvier → 31,2% en Mai, soit +20,3 pts en 5 mois. </a:t>
            </a:r>
            <a:r>
              <a:rPr lang="en-US" sz="1000" i="1" dirty="0">
                <a:solidFill>
                  <a:srgbClr val="0A2240"/>
                </a:solidFill>
                <a:latin typeface="Calibri" pitchFamily="34" charset="0"/>
                <a:ea typeface="Calibri" pitchFamily="34" charset="-122"/>
                <a:cs typeface="Calibri" pitchFamily="34" charset="-120"/>
              </a:rPr>
              <a:t>Moteurs : K1 Mining (Mat. Miniers +244%), Machines (+90%), Télécoms (+60%). Le recul du marché brut en Avr-Mai est lié à la saisonnalité (fin missions minières).</a:t>
            </a:r>
            <a:endParaRPr lang="en-US" sz="1000" dirty="0"/>
          </a:p>
        </p:txBody>
      </p:sp>
      <p:sp>
        <p:nvSpPr>
          <p:cNvPr id="31" name="Shape 27"/>
          <p:cNvSpPr/>
          <p:nvPr/>
        </p:nvSpPr>
        <p:spPr>
          <a:xfrm>
            <a:off x="365760" y="6565392"/>
            <a:ext cx="11430000" cy="0"/>
          </a:xfrm>
          <a:prstGeom prst="line">
            <a:avLst/>
          </a:prstGeom>
          <a:noFill/>
          <a:ln w="6350">
            <a:solidFill>
              <a:srgbClr val="CBD5E1"/>
            </a:solidFill>
            <a:prstDash val="solid"/>
          </a:ln>
        </p:spPr>
        <p:txBody>
          <a:bodyPr/>
          <a:lstStyle/>
          <a:p>
            <a:endParaRPr lang="en-US"/>
          </a:p>
        </p:txBody>
      </p:sp>
      <p:sp>
        <p:nvSpPr>
          <p:cNvPr id="32" name="Text 28"/>
          <p:cNvSpPr/>
          <p:nvPr/>
        </p:nvSpPr>
        <p:spPr>
          <a:xfrm>
            <a:off x="365760" y="6601968"/>
            <a:ext cx="11430000" cy="201168"/>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Africa Global Logistics – Étude de Marché Jan–Mai 2026  |  p.17</a:t>
            </a:r>
            <a:endParaRPr lang="en-US" sz="850" dirty="0"/>
          </a:p>
        </p:txBody>
      </p:sp>
      <p:pic>
        <p:nvPicPr>
          <p:cNvPr id="34" name="Image 33" descr="Une image contenant texte, Police, Graphique, logo  Description générée automatiquement">
            <a:extLst>
              <a:ext uri="{FF2B5EF4-FFF2-40B4-BE49-F238E27FC236}">
                <a16:creationId xmlns:a16="http://schemas.microsoft.com/office/drawing/2014/main" id="{7FEF7CF1-7D2E-D645-8DA3-E68005EBE565}"/>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1488450" y="6549898"/>
            <a:ext cx="450027" cy="29240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0A2240"/>
          </a:solidFill>
          <a:ln w="12700">
            <a:solidFill>
              <a:srgbClr val="0A2240"/>
            </a:solidFill>
            <a:prstDash val="solid"/>
          </a:ln>
        </p:spPr>
        <p:txBody>
          <a:bodyPr/>
          <a:lstStyle/>
          <a:p>
            <a:endParaRPr lang="en-US"/>
          </a:p>
        </p:txBody>
      </p:sp>
      <p:sp>
        <p:nvSpPr>
          <p:cNvPr id="3" name="Text 1"/>
          <p:cNvSpPr/>
          <p:nvPr/>
        </p:nvSpPr>
        <p:spPr>
          <a:xfrm>
            <a:off x="365760" y="54864"/>
            <a:ext cx="11430000" cy="65836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AÉRIEN IMPORT – SEGMENTS &amp; CONCURRENTS  |  2025 vs 2026</a:t>
            </a:r>
            <a:endParaRPr lang="en-US" sz="2400" dirty="0"/>
          </a:p>
        </p:txBody>
      </p:sp>
      <p:sp>
        <p:nvSpPr>
          <p:cNvPr id="4" name="Text 2"/>
          <p:cNvSpPr/>
          <p:nvPr/>
        </p:nvSpPr>
        <p:spPr>
          <a:xfrm>
            <a:off x="365760" y="676656"/>
            <a:ext cx="11430000" cy="329184"/>
          </a:xfrm>
          <a:prstGeom prst="rect">
            <a:avLst/>
          </a:prstGeom>
          <a:noFill/>
          <a:ln/>
        </p:spPr>
        <p:txBody>
          <a:bodyPr wrap="square" rtlCol="0" anchor="ctr"/>
          <a:lstStyle/>
          <a:p>
            <a:pPr marL="0" indent="0">
              <a:buNone/>
            </a:pPr>
            <a:r>
              <a:rPr lang="en-US" sz="1200" i="1" dirty="0">
                <a:solidFill>
                  <a:srgbClr val="C8A951"/>
                </a:solidFill>
                <a:latin typeface="Calibri" pitchFamily="34" charset="0"/>
                <a:ea typeface="Calibri" pitchFamily="34" charset="-122"/>
                <a:cs typeface="Calibri" pitchFamily="34" charset="-120"/>
              </a:rPr>
              <a:t>Évolution marchandises  |  Classement transitaires qualifiés  |  PDM AGL par filière</a:t>
            </a:r>
            <a:endParaRPr lang="en-US" sz="1200" dirty="0"/>
          </a:p>
        </p:txBody>
      </p:sp>
      <p:sp>
        <p:nvSpPr>
          <p:cNvPr id="5" name="Text 3"/>
          <p:cNvSpPr/>
          <p:nvPr/>
        </p:nvSpPr>
        <p:spPr>
          <a:xfrm>
            <a:off x="320040" y="1143000"/>
            <a:ext cx="6217920" cy="274320"/>
          </a:xfrm>
          <a:prstGeom prst="rect">
            <a:avLst/>
          </a:prstGeom>
          <a:noFill/>
          <a:ln/>
        </p:spPr>
        <p:txBody>
          <a:bodyPr wrap="square" rtlCol="0" anchor="ctr"/>
          <a:lstStyle/>
          <a:p>
            <a:pPr marL="0" indent="0">
              <a:buNone/>
            </a:pPr>
            <a:r>
              <a:rPr lang="en-US" sz="1200" b="1" dirty="0">
                <a:solidFill>
                  <a:srgbClr val="0A2240"/>
                </a:solidFill>
                <a:latin typeface="Calibri" pitchFamily="34" charset="0"/>
                <a:ea typeface="Calibri" pitchFamily="34" charset="-122"/>
                <a:cs typeface="Calibri" pitchFamily="34" charset="-120"/>
              </a:rPr>
              <a:t>Top marchandises – évolution 2025 vs 2026 (kg)</a:t>
            </a:r>
            <a:endParaRPr lang="en-US" sz="1200" dirty="0"/>
          </a:p>
        </p:txBody>
      </p:sp>
      <p:graphicFrame>
        <p:nvGraphicFramePr>
          <p:cNvPr id="19" name="Table 0"/>
          <p:cNvGraphicFramePr>
            <a:graphicFrameLocks noGrp="1"/>
          </p:cNvGraphicFramePr>
          <p:nvPr>
            <p:extLst>
              <p:ext uri="{D42A27DB-BD31-4B8C-83A1-F6EECF244321}">
                <p14:modId xmlns:p14="http://schemas.microsoft.com/office/powerpoint/2010/main" val="993606060"/>
              </p:ext>
            </p:extLst>
          </p:nvPr>
        </p:nvGraphicFramePr>
        <p:xfrm>
          <a:off x="320040" y="1463040"/>
          <a:ext cx="6217920" cy="2542034"/>
        </p:xfrm>
        <a:graphic>
          <a:graphicData uri="http://schemas.openxmlformats.org/drawingml/2006/table">
            <a:tbl>
              <a:tblPr/>
              <a:tblGrid>
                <a:gridCol w="210312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tblGrid>
              <a:tr h="231094">
                <a:tc>
                  <a:txBody>
                    <a:bodyPr/>
                    <a:lstStyle/>
                    <a:p>
                      <a:pPr marL="0" indent="0">
                        <a:buNone/>
                      </a:pPr>
                      <a:r>
                        <a:rPr lang="en-US" sz="900" b="1" dirty="0">
                          <a:solidFill>
                            <a:srgbClr val="FFFFFF"/>
                          </a:solidFill>
                        </a:rPr>
                        <a:t>Marchandise</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lgn="r">
                        <a:buNone/>
                      </a:pPr>
                      <a:r>
                        <a:rPr lang="en-US" sz="900" b="1" dirty="0">
                          <a:solidFill>
                            <a:srgbClr val="FFFFFF"/>
                          </a:solidFill>
                        </a:rPr>
                        <a:t>2025</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lgn="r">
                        <a:buNone/>
                      </a:pPr>
                      <a:r>
                        <a:rPr lang="en-US" sz="900" b="1" dirty="0">
                          <a:solidFill>
                            <a:srgbClr val="FFFFFF"/>
                          </a:solidFill>
                        </a:rPr>
                        <a:t>2026</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lgn="ctr">
                        <a:buNone/>
                      </a:pPr>
                      <a:r>
                        <a:rPr lang="en-US" sz="900" b="1" dirty="0">
                          <a:solidFill>
                            <a:srgbClr val="FFFFFF"/>
                          </a:solidFill>
                        </a:rPr>
                        <a:t>Var.%</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extLst>
                  <a:ext uri="{0D108BD9-81ED-4DB2-BD59-A6C34878D82A}">
                    <a16:rowId xmlns:a16="http://schemas.microsoft.com/office/drawing/2014/main" val="10000"/>
                  </a:ext>
                </a:extLst>
              </a:tr>
              <a:tr h="231094">
                <a:tc>
                  <a:txBody>
                    <a:bodyPr/>
                    <a:lstStyle/>
                    <a:p>
                      <a:pPr marL="0" indent="0">
                        <a:buNone/>
                      </a:pPr>
                      <a:r>
                        <a:rPr lang="en-US" sz="850" dirty="0">
                          <a:solidFill>
                            <a:srgbClr val="334155"/>
                          </a:solidFill>
                        </a:rPr>
                        <a:t>OEUFS</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r">
                        <a:buNone/>
                      </a:pPr>
                      <a:r>
                        <a:rPr lang="en-US" sz="850" dirty="0">
                          <a:solidFill>
                            <a:srgbClr val="64748B"/>
                          </a:solidFill>
                        </a:rPr>
                        <a:t>1 483 700</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r">
                        <a:buNone/>
                      </a:pPr>
                      <a:r>
                        <a:rPr lang="en-US" sz="850" b="1" dirty="0">
                          <a:solidFill>
                            <a:srgbClr val="0A2240"/>
                          </a:solidFill>
                        </a:rPr>
                        <a:t>1 883 317</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16A34A"/>
                          </a:solidFill>
                        </a:rPr>
                        <a:t>+26.9%</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FF4"/>
                    </a:solidFill>
                  </a:tcPr>
                </a:tc>
                <a:extLst>
                  <a:ext uri="{0D108BD9-81ED-4DB2-BD59-A6C34878D82A}">
                    <a16:rowId xmlns:a16="http://schemas.microsoft.com/office/drawing/2014/main" val="10001"/>
                  </a:ext>
                </a:extLst>
              </a:tr>
              <a:tr h="231094">
                <a:tc>
                  <a:txBody>
                    <a:bodyPr/>
                    <a:lstStyle/>
                    <a:p>
                      <a:pPr marL="0" indent="0">
                        <a:buNone/>
                      </a:pPr>
                      <a:r>
                        <a:rPr lang="en-US" sz="850" dirty="0">
                          <a:solidFill>
                            <a:srgbClr val="334155"/>
                          </a:solidFill>
                        </a:rPr>
                        <a:t>MATÉRIELS MINIERS</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r">
                        <a:buNone/>
                      </a:pPr>
                      <a:r>
                        <a:rPr lang="en-US" sz="850" dirty="0">
                          <a:solidFill>
                            <a:srgbClr val="64748B"/>
                          </a:solidFill>
                        </a:rPr>
                        <a:t>149 783</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r">
                        <a:buNone/>
                      </a:pPr>
                      <a:r>
                        <a:rPr lang="en-US" sz="850" b="1" dirty="0">
                          <a:solidFill>
                            <a:srgbClr val="0A2240"/>
                          </a:solidFill>
                        </a:rPr>
                        <a:t>515 776</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16A34A"/>
                          </a:solidFill>
                        </a:rPr>
                        <a:t>+244.3%</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FF4"/>
                    </a:solidFill>
                  </a:tcPr>
                </a:tc>
                <a:extLst>
                  <a:ext uri="{0D108BD9-81ED-4DB2-BD59-A6C34878D82A}">
                    <a16:rowId xmlns:a16="http://schemas.microsoft.com/office/drawing/2014/main" val="10002"/>
                  </a:ext>
                </a:extLst>
              </a:tr>
              <a:tr h="231094">
                <a:tc>
                  <a:txBody>
                    <a:bodyPr/>
                    <a:lstStyle/>
                    <a:p>
                      <a:pPr marL="0" indent="0">
                        <a:buNone/>
                      </a:pPr>
                      <a:r>
                        <a:rPr lang="en-US" sz="850" dirty="0">
                          <a:solidFill>
                            <a:srgbClr val="334155"/>
                          </a:solidFill>
                        </a:rPr>
                        <a:t>MACHINES</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r">
                        <a:buNone/>
                      </a:pPr>
                      <a:r>
                        <a:rPr lang="en-US" sz="850" dirty="0">
                          <a:solidFill>
                            <a:srgbClr val="64748B"/>
                          </a:solidFill>
                        </a:rPr>
                        <a:t>255 984</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r">
                        <a:buNone/>
                      </a:pPr>
                      <a:r>
                        <a:rPr lang="en-US" sz="850" b="1" dirty="0">
                          <a:solidFill>
                            <a:srgbClr val="0A2240"/>
                          </a:solidFill>
                        </a:rPr>
                        <a:t>486 785</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16A34A"/>
                          </a:solidFill>
                        </a:rPr>
                        <a:t>+90.2%</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FF4"/>
                    </a:solidFill>
                  </a:tcPr>
                </a:tc>
                <a:extLst>
                  <a:ext uri="{0D108BD9-81ED-4DB2-BD59-A6C34878D82A}">
                    <a16:rowId xmlns:a16="http://schemas.microsoft.com/office/drawing/2014/main" val="10003"/>
                  </a:ext>
                </a:extLst>
              </a:tr>
              <a:tr h="231094">
                <a:tc>
                  <a:txBody>
                    <a:bodyPr/>
                    <a:lstStyle/>
                    <a:p>
                      <a:pPr marL="0" indent="0">
                        <a:buNone/>
                      </a:pPr>
                      <a:r>
                        <a:rPr lang="en-US" sz="850" dirty="0">
                          <a:solidFill>
                            <a:srgbClr val="334155"/>
                          </a:solidFill>
                        </a:rPr>
                        <a:t>MÉDICAMENTS</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r">
                        <a:buNone/>
                      </a:pPr>
                      <a:r>
                        <a:rPr lang="en-US" sz="850" dirty="0">
                          <a:solidFill>
                            <a:srgbClr val="64748B"/>
                          </a:solidFill>
                        </a:rPr>
                        <a:t>280 991</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r">
                        <a:buNone/>
                      </a:pPr>
                      <a:r>
                        <a:rPr lang="en-US" sz="850" b="1" dirty="0">
                          <a:solidFill>
                            <a:srgbClr val="0A2240"/>
                          </a:solidFill>
                        </a:rPr>
                        <a:t>337 882</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16A34A"/>
                          </a:solidFill>
                        </a:rPr>
                        <a:t>+20.2%</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FF4"/>
                    </a:solidFill>
                  </a:tcPr>
                </a:tc>
                <a:extLst>
                  <a:ext uri="{0D108BD9-81ED-4DB2-BD59-A6C34878D82A}">
                    <a16:rowId xmlns:a16="http://schemas.microsoft.com/office/drawing/2014/main" val="10004"/>
                  </a:ext>
                </a:extLst>
              </a:tr>
              <a:tr h="231094">
                <a:tc>
                  <a:txBody>
                    <a:bodyPr/>
                    <a:lstStyle/>
                    <a:p>
                      <a:pPr marL="0" indent="0">
                        <a:buNone/>
                      </a:pPr>
                      <a:r>
                        <a:rPr lang="en-US" sz="850" dirty="0">
                          <a:solidFill>
                            <a:srgbClr val="334155"/>
                          </a:solidFill>
                        </a:rPr>
                        <a:t>BILLETS DE BANQUE</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r">
                        <a:buNone/>
                      </a:pPr>
                      <a:r>
                        <a:rPr lang="en-US" sz="850" dirty="0">
                          <a:solidFill>
                            <a:srgbClr val="64748B"/>
                          </a:solidFill>
                        </a:rPr>
                        <a:t>268 210</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r">
                        <a:buNone/>
                      </a:pPr>
                      <a:r>
                        <a:rPr lang="en-US" sz="850" b="1" dirty="0">
                          <a:solidFill>
                            <a:srgbClr val="0A2240"/>
                          </a:solidFill>
                        </a:rPr>
                        <a:t>330 706</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16A34A"/>
                          </a:solidFill>
                        </a:rPr>
                        <a:t>+23.3%</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FF4"/>
                    </a:solidFill>
                  </a:tcPr>
                </a:tc>
                <a:extLst>
                  <a:ext uri="{0D108BD9-81ED-4DB2-BD59-A6C34878D82A}">
                    <a16:rowId xmlns:a16="http://schemas.microsoft.com/office/drawing/2014/main" val="10005"/>
                  </a:ext>
                </a:extLst>
              </a:tr>
              <a:tr h="231094">
                <a:tc>
                  <a:txBody>
                    <a:bodyPr/>
                    <a:lstStyle/>
                    <a:p>
                      <a:pPr marL="0" indent="0">
                        <a:buNone/>
                      </a:pPr>
                      <a:r>
                        <a:rPr lang="en-US" sz="850" dirty="0">
                          <a:solidFill>
                            <a:srgbClr val="334155"/>
                          </a:solidFill>
                        </a:rPr>
                        <a:t>TÉLÉCOMS</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r">
                        <a:buNone/>
                      </a:pPr>
                      <a:r>
                        <a:rPr lang="en-US" sz="850" dirty="0">
                          <a:solidFill>
                            <a:srgbClr val="64748B"/>
                          </a:solidFill>
                        </a:rPr>
                        <a:t>113 602</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r">
                        <a:buNone/>
                      </a:pPr>
                      <a:r>
                        <a:rPr lang="en-US" sz="850" b="1" dirty="0">
                          <a:solidFill>
                            <a:srgbClr val="0A2240"/>
                          </a:solidFill>
                        </a:rPr>
                        <a:t>182 071</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16A34A"/>
                          </a:solidFill>
                        </a:rPr>
                        <a:t>+60.3%</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FF4"/>
                    </a:solidFill>
                  </a:tcPr>
                </a:tc>
                <a:extLst>
                  <a:ext uri="{0D108BD9-81ED-4DB2-BD59-A6C34878D82A}">
                    <a16:rowId xmlns:a16="http://schemas.microsoft.com/office/drawing/2014/main" val="10006"/>
                  </a:ext>
                </a:extLst>
              </a:tr>
              <a:tr h="231094">
                <a:tc>
                  <a:txBody>
                    <a:bodyPr/>
                    <a:lstStyle/>
                    <a:p>
                      <a:pPr marL="0" indent="0">
                        <a:buNone/>
                      </a:pPr>
                      <a:r>
                        <a:rPr lang="en-US" sz="850" dirty="0">
                          <a:solidFill>
                            <a:srgbClr val="334155"/>
                          </a:solidFill>
                        </a:rPr>
                        <a:t>MATÉRIELS ÉLECTRIQUE</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r">
                        <a:buNone/>
                      </a:pPr>
                      <a:r>
                        <a:rPr lang="en-US" sz="850" dirty="0">
                          <a:solidFill>
                            <a:srgbClr val="64748B"/>
                          </a:solidFill>
                        </a:rPr>
                        <a:t>64 622</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r">
                        <a:buNone/>
                      </a:pPr>
                      <a:r>
                        <a:rPr lang="en-US" sz="850" b="1" dirty="0">
                          <a:solidFill>
                            <a:srgbClr val="0A2240"/>
                          </a:solidFill>
                        </a:rPr>
                        <a:t>158 887</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16A34A"/>
                          </a:solidFill>
                        </a:rPr>
                        <a:t>+145.9%</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FF4"/>
                    </a:solidFill>
                  </a:tcPr>
                </a:tc>
                <a:extLst>
                  <a:ext uri="{0D108BD9-81ED-4DB2-BD59-A6C34878D82A}">
                    <a16:rowId xmlns:a16="http://schemas.microsoft.com/office/drawing/2014/main" val="10007"/>
                  </a:ext>
                </a:extLst>
              </a:tr>
              <a:tr h="231094">
                <a:tc>
                  <a:txBody>
                    <a:bodyPr/>
                    <a:lstStyle/>
                    <a:p>
                      <a:pPr marL="0" indent="0">
                        <a:buNone/>
                      </a:pPr>
                      <a:r>
                        <a:rPr lang="en-US" sz="850" dirty="0">
                          <a:solidFill>
                            <a:srgbClr val="334155"/>
                          </a:solidFill>
                        </a:rPr>
                        <a:t>PIÈCES DÉTACHÉES</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r">
                        <a:buNone/>
                      </a:pPr>
                      <a:r>
                        <a:rPr lang="en-US" sz="850" dirty="0">
                          <a:solidFill>
                            <a:srgbClr val="64748B"/>
                          </a:solidFill>
                        </a:rPr>
                        <a:t>1 181 203</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r">
                        <a:buNone/>
                      </a:pPr>
                      <a:r>
                        <a:rPr lang="en-US" sz="850" dirty="0">
                          <a:solidFill>
                            <a:srgbClr val="334155"/>
                          </a:solidFill>
                        </a:rPr>
                        <a:t>942 926</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DC2626"/>
                          </a:solidFill>
                        </a:rPr>
                        <a:t>-20.2%</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5F5"/>
                    </a:solidFill>
                  </a:tcPr>
                </a:tc>
                <a:extLst>
                  <a:ext uri="{0D108BD9-81ED-4DB2-BD59-A6C34878D82A}">
                    <a16:rowId xmlns:a16="http://schemas.microsoft.com/office/drawing/2014/main" val="10008"/>
                  </a:ext>
                </a:extLst>
              </a:tr>
              <a:tr h="231094">
                <a:tc>
                  <a:txBody>
                    <a:bodyPr/>
                    <a:lstStyle/>
                    <a:p>
                      <a:pPr marL="0" indent="0">
                        <a:buNone/>
                      </a:pPr>
                      <a:r>
                        <a:rPr lang="en-US" sz="850" dirty="0">
                          <a:solidFill>
                            <a:srgbClr val="334155"/>
                          </a:solidFill>
                        </a:rPr>
                        <a:t>PRODUITS CHIMIQUES</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r">
                        <a:buNone/>
                      </a:pPr>
                      <a:r>
                        <a:rPr lang="en-US" sz="850" dirty="0">
                          <a:solidFill>
                            <a:srgbClr val="64748B"/>
                          </a:solidFill>
                        </a:rPr>
                        <a:t>207 323</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r">
                        <a:buNone/>
                      </a:pPr>
                      <a:r>
                        <a:rPr lang="en-US" sz="850" dirty="0">
                          <a:solidFill>
                            <a:srgbClr val="334155"/>
                          </a:solidFill>
                        </a:rPr>
                        <a:t>189 901</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DC2626"/>
                          </a:solidFill>
                        </a:rPr>
                        <a:t>-8.4%</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5F5"/>
                    </a:solidFill>
                  </a:tcPr>
                </a:tc>
                <a:extLst>
                  <a:ext uri="{0D108BD9-81ED-4DB2-BD59-A6C34878D82A}">
                    <a16:rowId xmlns:a16="http://schemas.microsoft.com/office/drawing/2014/main" val="10009"/>
                  </a:ext>
                </a:extLst>
              </a:tr>
              <a:tr h="231094">
                <a:tc>
                  <a:txBody>
                    <a:bodyPr/>
                    <a:lstStyle/>
                    <a:p>
                      <a:pPr marL="0" indent="0">
                        <a:buNone/>
                      </a:pPr>
                      <a:r>
                        <a:rPr lang="en-US" sz="850" dirty="0">
                          <a:solidFill>
                            <a:srgbClr val="334155"/>
                          </a:solidFill>
                        </a:rPr>
                        <a:t>FRUITS &amp; LÉGUMES</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r">
                        <a:buNone/>
                      </a:pPr>
                      <a:r>
                        <a:rPr lang="en-US" sz="850" dirty="0">
                          <a:solidFill>
                            <a:srgbClr val="64748B"/>
                          </a:solidFill>
                        </a:rPr>
                        <a:t>154 253</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r">
                        <a:buNone/>
                      </a:pPr>
                      <a:r>
                        <a:rPr lang="en-US" sz="850" dirty="0">
                          <a:solidFill>
                            <a:srgbClr val="334155"/>
                          </a:solidFill>
                        </a:rPr>
                        <a:t>115 798</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DC2626"/>
                          </a:solidFill>
                        </a:rPr>
                        <a:t>-24.9%</a:t>
                      </a:r>
                      <a:endParaRPr lang="en-US" sz="8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5F5"/>
                    </a:solidFill>
                  </a:tcPr>
                </a:tc>
                <a:extLst>
                  <a:ext uri="{0D108BD9-81ED-4DB2-BD59-A6C34878D82A}">
                    <a16:rowId xmlns:a16="http://schemas.microsoft.com/office/drawing/2014/main" val="10010"/>
                  </a:ext>
                </a:extLst>
              </a:tr>
            </a:tbl>
          </a:graphicData>
        </a:graphic>
      </p:graphicFrame>
      <p:sp>
        <p:nvSpPr>
          <p:cNvPr id="7" name="Text 4"/>
          <p:cNvSpPr/>
          <p:nvPr/>
        </p:nvSpPr>
        <p:spPr>
          <a:xfrm>
            <a:off x="6675120" y="1143000"/>
            <a:ext cx="5212080" cy="274320"/>
          </a:xfrm>
          <a:prstGeom prst="rect">
            <a:avLst/>
          </a:prstGeom>
          <a:noFill/>
          <a:ln/>
        </p:spPr>
        <p:txBody>
          <a:bodyPr wrap="square" rtlCol="0" anchor="ctr"/>
          <a:lstStyle/>
          <a:p>
            <a:pPr marL="0" indent="0">
              <a:buNone/>
            </a:pPr>
            <a:r>
              <a:rPr lang="en-US" sz="1200" b="1" dirty="0">
                <a:solidFill>
                  <a:srgbClr val="0A2240"/>
                </a:solidFill>
                <a:latin typeface="Calibri" pitchFamily="34" charset="0"/>
                <a:ea typeface="Calibri" pitchFamily="34" charset="-122"/>
                <a:cs typeface="Calibri" pitchFamily="34" charset="-120"/>
              </a:rPr>
              <a:t>Classement transitaires – Aérien Import 2026 (qualifié)</a:t>
            </a:r>
            <a:endParaRPr lang="en-US" sz="1200" dirty="0"/>
          </a:p>
        </p:txBody>
      </p:sp>
      <p:graphicFrame>
        <p:nvGraphicFramePr>
          <p:cNvPr id="37" name="Table 1"/>
          <p:cNvGraphicFramePr>
            <a:graphicFrameLocks noGrp="1"/>
          </p:cNvGraphicFramePr>
          <p:nvPr>
            <p:extLst>
              <p:ext uri="{D42A27DB-BD31-4B8C-83A1-F6EECF244321}">
                <p14:modId xmlns:p14="http://schemas.microsoft.com/office/powerpoint/2010/main" val="1579011935"/>
              </p:ext>
            </p:extLst>
          </p:nvPr>
        </p:nvGraphicFramePr>
        <p:xfrm>
          <a:off x="6675120" y="1463040"/>
          <a:ext cx="5212080" cy="3621024"/>
        </p:xfrm>
        <a:graphic>
          <a:graphicData uri="http://schemas.openxmlformats.org/drawingml/2006/table">
            <a:tbl>
              <a:tblPr/>
              <a:tblGrid>
                <a:gridCol w="45720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329184">
                <a:tc>
                  <a:txBody>
                    <a:bodyPr/>
                    <a:lstStyle/>
                    <a:p>
                      <a:pPr marL="0" indent="0">
                        <a:buNone/>
                      </a:pPr>
                      <a:r>
                        <a:rPr lang="en-US" sz="900" b="1" dirty="0">
                          <a:solidFill>
                            <a:srgbClr val="FFFFFF"/>
                          </a:solidFill>
                        </a:rPr>
                        <a:t>Rang</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buNone/>
                      </a:pPr>
                      <a:r>
                        <a:rPr lang="en-US" sz="900" b="1" dirty="0">
                          <a:solidFill>
                            <a:srgbClr val="FFFFFF"/>
                          </a:solidFill>
                        </a:rPr>
                        <a:t>Transitaire</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lgn="r">
                        <a:buNone/>
                      </a:pPr>
                      <a:r>
                        <a:rPr lang="en-US" sz="900" b="1" dirty="0">
                          <a:solidFill>
                            <a:srgbClr val="FFFFFF"/>
                          </a:solidFill>
                        </a:rPr>
                        <a:t>Poids kg</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lgn="ctr">
                        <a:buNone/>
                      </a:pPr>
                      <a:r>
                        <a:rPr lang="en-US" sz="900" b="1" dirty="0">
                          <a:solidFill>
                            <a:srgbClr val="FFFFFF"/>
                          </a:solidFill>
                        </a:rPr>
                        <a:t>PDM</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extLst>
                  <a:ext uri="{0D108BD9-81ED-4DB2-BD59-A6C34878D82A}">
                    <a16:rowId xmlns:a16="http://schemas.microsoft.com/office/drawing/2014/main" val="10000"/>
                  </a:ext>
                </a:extLst>
              </a:tr>
              <a:tr h="329184">
                <a:tc>
                  <a:txBody>
                    <a:bodyPr/>
                    <a:lstStyle/>
                    <a:p>
                      <a:pPr marL="0" indent="0" algn="ctr">
                        <a:buNone/>
                      </a:pPr>
                      <a:r>
                        <a:rPr lang="en-US" sz="900" b="1" dirty="0">
                          <a:solidFill>
                            <a:srgbClr val="FFFFFF"/>
                          </a:solidFill>
                        </a:rPr>
                        <a:t>#1</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C8A951"/>
                    </a:solidFill>
                  </a:tcPr>
                </a:tc>
                <a:tc>
                  <a:txBody>
                    <a:bodyPr/>
                    <a:lstStyle/>
                    <a:p>
                      <a:pPr marL="0" indent="0">
                        <a:buNone/>
                      </a:pPr>
                      <a:r>
                        <a:rPr lang="en-US" sz="900" b="1" dirty="0">
                          <a:solidFill>
                            <a:srgbClr val="0A2240"/>
                          </a:solidFill>
                        </a:rPr>
                        <a:t>AFRICA GLOBAL LOGISTICS</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9E6"/>
                    </a:solidFill>
                  </a:tcPr>
                </a:tc>
                <a:tc>
                  <a:txBody>
                    <a:bodyPr/>
                    <a:lstStyle/>
                    <a:p>
                      <a:pPr marL="0" indent="0" algn="r">
                        <a:buNone/>
                      </a:pPr>
                      <a:r>
                        <a:rPr lang="en-US" sz="900" b="1" dirty="0">
                          <a:solidFill>
                            <a:srgbClr val="0A2240"/>
                          </a:solidFill>
                        </a:rPr>
                        <a:t>1 165 994</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9E6"/>
                    </a:solidFill>
                  </a:tcPr>
                </a:tc>
                <a:tc>
                  <a:txBody>
                    <a:bodyPr/>
                    <a:lstStyle/>
                    <a:p>
                      <a:pPr marL="0" indent="0" algn="ctr">
                        <a:buNone/>
                      </a:pPr>
                      <a:r>
                        <a:rPr lang="en-US" sz="900" b="1" dirty="0">
                          <a:solidFill>
                            <a:srgbClr val="16A34A"/>
                          </a:solidFill>
                        </a:rPr>
                        <a:t>20,8 %</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9E6"/>
                    </a:solidFill>
                  </a:tcPr>
                </a:tc>
                <a:extLst>
                  <a:ext uri="{0D108BD9-81ED-4DB2-BD59-A6C34878D82A}">
                    <a16:rowId xmlns:a16="http://schemas.microsoft.com/office/drawing/2014/main" val="10001"/>
                  </a:ext>
                </a:extLst>
              </a:tr>
              <a:tr h="329184">
                <a:tc>
                  <a:txBody>
                    <a:bodyPr/>
                    <a:lstStyle/>
                    <a:p>
                      <a:pPr marL="0" indent="0" algn="ctr">
                        <a:buNone/>
                      </a:pPr>
                      <a:r>
                        <a:rPr lang="en-US" sz="900" dirty="0">
                          <a:solidFill>
                            <a:srgbClr val="334155"/>
                          </a:solidFill>
                        </a:rPr>
                        <a:t>#2</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00" dirty="0">
                          <a:solidFill>
                            <a:srgbClr val="334155"/>
                          </a:solidFill>
                        </a:rPr>
                        <a:t>OSMOZ AFRICA</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r">
                        <a:buNone/>
                      </a:pPr>
                      <a:r>
                        <a:rPr lang="en-US" sz="900" dirty="0">
                          <a:solidFill>
                            <a:srgbClr val="334155"/>
                          </a:solidFill>
                        </a:rPr>
                        <a:t>525 506</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4155"/>
                          </a:solidFill>
                        </a:rPr>
                        <a:t>9,4 %</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9184">
                <a:tc>
                  <a:txBody>
                    <a:bodyPr/>
                    <a:lstStyle/>
                    <a:p>
                      <a:pPr marL="0" indent="0" algn="ctr">
                        <a:buNone/>
                      </a:pPr>
                      <a:r>
                        <a:rPr lang="en-US" sz="900" dirty="0">
                          <a:solidFill>
                            <a:srgbClr val="334155"/>
                          </a:solidFill>
                        </a:rPr>
                        <a:t>#3</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00" dirty="0">
                          <a:solidFill>
                            <a:srgbClr val="334155"/>
                          </a:solidFill>
                        </a:rPr>
                        <a:t>GTS CI</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r">
                        <a:buNone/>
                      </a:pPr>
                      <a:r>
                        <a:rPr lang="en-US" sz="900" dirty="0">
                          <a:solidFill>
                            <a:srgbClr val="334155"/>
                          </a:solidFill>
                        </a:rPr>
                        <a:t>468 097</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4155"/>
                          </a:solidFill>
                        </a:rPr>
                        <a:t>8,4 %</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lgn="ctr">
                        <a:buNone/>
                      </a:pPr>
                      <a:r>
                        <a:rPr lang="en-US" sz="900" dirty="0">
                          <a:solidFill>
                            <a:srgbClr val="334155"/>
                          </a:solidFill>
                        </a:rPr>
                        <a:t>#4</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00" dirty="0">
                          <a:solidFill>
                            <a:srgbClr val="334155"/>
                          </a:solidFill>
                        </a:rPr>
                        <a:t>IVOIRE INTL TRANSIT</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r">
                        <a:buNone/>
                      </a:pPr>
                      <a:r>
                        <a:rPr lang="en-US" sz="900" dirty="0">
                          <a:solidFill>
                            <a:srgbClr val="334155"/>
                          </a:solidFill>
                        </a:rPr>
                        <a:t>333 558</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4155"/>
                          </a:solidFill>
                        </a:rPr>
                        <a:t>6,0 %</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9184">
                <a:tc>
                  <a:txBody>
                    <a:bodyPr/>
                    <a:lstStyle/>
                    <a:p>
                      <a:pPr marL="0" indent="0" algn="ctr">
                        <a:buNone/>
                      </a:pPr>
                      <a:r>
                        <a:rPr lang="en-US" sz="900" dirty="0">
                          <a:solidFill>
                            <a:srgbClr val="334155"/>
                          </a:solidFill>
                        </a:rPr>
                        <a:t>#5</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00" dirty="0">
                          <a:solidFill>
                            <a:srgbClr val="334155"/>
                          </a:solidFill>
                        </a:rPr>
                        <a:t>MANUEL</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r">
                        <a:buNone/>
                      </a:pPr>
                      <a:r>
                        <a:rPr lang="en-US" sz="900" dirty="0">
                          <a:solidFill>
                            <a:srgbClr val="334155"/>
                          </a:solidFill>
                        </a:rPr>
                        <a:t>292 408</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4155"/>
                          </a:solidFill>
                        </a:rPr>
                        <a:t>5,2 %</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9184">
                <a:tc>
                  <a:txBody>
                    <a:bodyPr/>
                    <a:lstStyle/>
                    <a:p>
                      <a:pPr marL="0" indent="0" algn="ctr">
                        <a:buNone/>
                      </a:pPr>
                      <a:r>
                        <a:rPr lang="en-US" sz="900" dirty="0">
                          <a:solidFill>
                            <a:srgbClr val="334155"/>
                          </a:solidFill>
                        </a:rPr>
                        <a:t>#6</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00" dirty="0">
                          <a:solidFill>
                            <a:srgbClr val="334155"/>
                          </a:solidFill>
                        </a:rPr>
                        <a:t>TRANSIT-COSS</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r">
                        <a:buNone/>
                      </a:pPr>
                      <a:r>
                        <a:rPr lang="en-US" sz="900" dirty="0">
                          <a:solidFill>
                            <a:srgbClr val="334155"/>
                          </a:solidFill>
                        </a:rPr>
                        <a:t>274 613</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4155"/>
                          </a:solidFill>
                        </a:rPr>
                        <a:t>4,9 %</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29184">
                <a:tc>
                  <a:txBody>
                    <a:bodyPr/>
                    <a:lstStyle/>
                    <a:p>
                      <a:pPr marL="0" indent="0" algn="ctr">
                        <a:buNone/>
                      </a:pPr>
                      <a:r>
                        <a:rPr lang="en-US" sz="900" dirty="0">
                          <a:solidFill>
                            <a:srgbClr val="334155"/>
                          </a:solidFill>
                        </a:rPr>
                        <a:t>#7</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00" dirty="0">
                          <a:solidFill>
                            <a:srgbClr val="334155"/>
                          </a:solidFill>
                        </a:rPr>
                        <a:t>HANNYYAH ET SAID</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r">
                        <a:buNone/>
                      </a:pPr>
                      <a:r>
                        <a:rPr lang="en-US" sz="900" dirty="0">
                          <a:solidFill>
                            <a:srgbClr val="334155"/>
                          </a:solidFill>
                        </a:rPr>
                        <a:t>273 092</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4155"/>
                          </a:solidFill>
                        </a:rPr>
                        <a:t>4,9 %</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29184">
                <a:tc>
                  <a:txBody>
                    <a:bodyPr/>
                    <a:lstStyle/>
                    <a:p>
                      <a:pPr marL="0" indent="0" algn="ctr">
                        <a:buNone/>
                      </a:pPr>
                      <a:r>
                        <a:rPr lang="en-US" sz="900" dirty="0">
                          <a:solidFill>
                            <a:srgbClr val="334155"/>
                          </a:solidFill>
                        </a:rPr>
                        <a:t>#8</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00" dirty="0">
                          <a:solidFill>
                            <a:srgbClr val="334155"/>
                          </a:solidFill>
                        </a:rPr>
                        <a:t>DHL</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r">
                        <a:buNone/>
                      </a:pPr>
                      <a:r>
                        <a:rPr lang="en-US" sz="900" dirty="0">
                          <a:solidFill>
                            <a:srgbClr val="334155"/>
                          </a:solidFill>
                        </a:rPr>
                        <a:t>217 874</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4155"/>
                          </a:solidFill>
                        </a:rPr>
                        <a:t>3,9 %</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29184">
                <a:tc>
                  <a:txBody>
                    <a:bodyPr/>
                    <a:lstStyle/>
                    <a:p>
                      <a:pPr marL="0" indent="0" algn="ctr">
                        <a:buNone/>
                      </a:pPr>
                      <a:r>
                        <a:rPr lang="en-US" sz="900" dirty="0">
                          <a:solidFill>
                            <a:srgbClr val="334155"/>
                          </a:solidFill>
                        </a:rPr>
                        <a:t>#9</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00" dirty="0">
                          <a:solidFill>
                            <a:srgbClr val="334155"/>
                          </a:solidFill>
                        </a:rPr>
                        <a:t>INTL LOGISTICS SA</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r">
                        <a:buNone/>
                      </a:pPr>
                      <a:r>
                        <a:rPr lang="en-US" sz="900" dirty="0">
                          <a:solidFill>
                            <a:srgbClr val="334155"/>
                          </a:solidFill>
                        </a:rPr>
                        <a:t>187 906</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4155"/>
                          </a:solidFill>
                        </a:rPr>
                        <a:t>3,4 %</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29184">
                <a:tc>
                  <a:txBody>
                    <a:bodyPr/>
                    <a:lstStyle/>
                    <a:p>
                      <a:pPr marL="0" indent="0" algn="ctr">
                        <a:buNone/>
                      </a:pPr>
                      <a:r>
                        <a:rPr lang="en-US" sz="900" dirty="0">
                          <a:solidFill>
                            <a:srgbClr val="334155"/>
                          </a:solidFill>
                        </a:rPr>
                        <a:t>#10</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00" dirty="0">
                          <a:solidFill>
                            <a:srgbClr val="334155"/>
                          </a:solidFill>
                        </a:rPr>
                        <a:t>IVOIRE PHENIX TRANSIT</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r">
                        <a:buNone/>
                      </a:pPr>
                      <a:r>
                        <a:rPr lang="en-US" sz="900" dirty="0">
                          <a:solidFill>
                            <a:srgbClr val="334155"/>
                          </a:solidFill>
                        </a:rPr>
                        <a:t>133 527</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4155"/>
                          </a:solidFill>
                        </a:rPr>
                        <a:t>2,4 %</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
        <p:nvSpPr>
          <p:cNvPr id="9" name="Text 5"/>
          <p:cNvSpPr/>
          <p:nvPr/>
        </p:nvSpPr>
        <p:spPr>
          <a:xfrm>
            <a:off x="320040" y="4153346"/>
            <a:ext cx="5943600" cy="256032"/>
          </a:xfrm>
          <a:prstGeom prst="rect">
            <a:avLst/>
          </a:prstGeom>
          <a:noFill/>
          <a:ln/>
        </p:spPr>
        <p:txBody>
          <a:bodyPr wrap="square" rtlCol="0" anchor="ctr"/>
          <a:lstStyle/>
          <a:p>
            <a:pPr marL="0" indent="0">
              <a:buNone/>
            </a:pPr>
            <a:r>
              <a:rPr lang="en-US" sz="1100" b="1" dirty="0">
                <a:solidFill>
                  <a:srgbClr val="0A2240"/>
                </a:solidFill>
                <a:latin typeface="Calibri" pitchFamily="34" charset="0"/>
                <a:ea typeface="Calibri" pitchFamily="34" charset="-122"/>
                <a:cs typeface="Calibri" pitchFamily="34" charset="-120"/>
              </a:rPr>
              <a:t>PDM AGL par marchandise – Aérien 2026</a:t>
            </a:r>
            <a:endParaRPr lang="en-US" sz="1100" dirty="0"/>
          </a:p>
        </p:txBody>
      </p:sp>
      <p:sp>
        <p:nvSpPr>
          <p:cNvPr id="10" name="Text 6"/>
          <p:cNvSpPr/>
          <p:nvPr/>
        </p:nvSpPr>
        <p:spPr>
          <a:xfrm>
            <a:off x="320040" y="4455098"/>
            <a:ext cx="1920240" cy="228600"/>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FRUITS &amp; LÉGUMES</a:t>
            </a:r>
            <a:endParaRPr lang="en-US" sz="850" dirty="0"/>
          </a:p>
        </p:txBody>
      </p:sp>
      <p:sp>
        <p:nvSpPr>
          <p:cNvPr id="11" name="Shape 7"/>
          <p:cNvSpPr/>
          <p:nvPr/>
        </p:nvSpPr>
        <p:spPr>
          <a:xfrm>
            <a:off x="2286000" y="4473386"/>
            <a:ext cx="3200400" cy="164592"/>
          </a:xfrm>
          <a:prstGeom prst="rect">
            <a:avLst/>
          </a:prstGeom>
          <a:solidFill>
            <a:srgbClr val="CBD5E1"/>
          </a:solidFill>
          <a:ln w="12700">
            <a:solidFill>
              <a:srgbClr val="CBD5E1"/>
            </a:solidFill>
            <a:prstDash val="solid"/>
          </a:ln>
        </p:spPr>
        <p:txBody>
          <a:bodyPr/>
          <a:lstStyle/>
          <a:p>
            <a:endParaRPr lang="en-US"/>
          </a:p>
        </p:txBody>
      </p:sp>
      <p:sp>
        <p:nvSpPr>
          <p:cNvPr id="12" name="Shape 8"/>
          <p:cNvSpPr/>
          <p:nvPr/>
        </p:nvSpPr>
        <p:spPr>
          <a:xfrm>
            <a:off x="2286000" y="4473386"/>
            <a:ext cx="2173072" cy="164592"/>
          </a:xfrm>
          <a:prstGeom prst="rect">
            <a:avLst/>
          </a:prstGeom>
          <a:solidFill>
            <a:srgbClr val="16A34A"/>
          </a:solidFill>
          <a:ln w="12700">
            <a:solidFill>
              <a:srgbClr val="16A34A"/>
            </a:solidFill>
            <a:prstDash val="solid"/>
          </a:ln>
        </p:spPr>
        <p:txBody>
          <a:bodyPr/>
          <a:lstStyle/>
          <a:p>
            <a:endParaRPr lang="en-US"/>
          </a:p>
        </p:txBody>
      </p:sp>
      <p:sp>
        <p:nvSpPr>
          <p:cNvPr id="13" name="Text 9"/>
          <p:cNvSpPr/>
          <p:nvPr/>
        </p:nvSpPr>
        <p:spPr>
          <a:xfrm>
            <a:off x="5532120" y="4455098"/>
            <a:ext cx="548640" cy="228600"/>
          </a:xfrm>
          <a:prstGeom prst="rect">
            <a:avLst/>
          </a:prstGeom>
          <a:noFill/>
          <a:ln/>
        </p:spPr>
        <p:txBody>
          <a:bodyPr wrap="square" rtlCol="0" anchor="ctr"/>
          <a:lstStyle/>
          <a:p>
            <a:pPr marL="0" indent="0" algn="r">
              <a:buNone/>
            </a:pPr>
            <a:r>
              <a:rPr lang="en-US" sz="900" b="1" dirty="0">
                <a:solidFill>
                  <a:srgbClr val="16A34A"/>
                </a:solidFill>
                <a:latin typeface="Calibri" pitchFamily="34" charset="0"/>
                <a:ea typeface="Calibri" pitchFamily="34" charset="-122"/>
                <a:cs typeface="Calibri" pitchFamily="34" charset="-120"/>
              </a:rPr>
              <a:t>68%</a:t>
            </a:r>
            <a:endParaRPr lang="en-US" sz="900" dirty="0"/>
          </a:p>
        </p:txBody>
      </p:sp>
      <p:sp>
        <p:nvSpPr>
          <p:cNvPr id="14" name="Text 10"/>
          <p:cNvSpPr/>
          <p:nvPr/>
        </p:nvSpPr>
        <p:spPr>
          <a:xfrm>
            <a:off x="320040" y="4701986"/>
            <a:ext cx="1920240" cy="228600"/>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MATÉRIELS MINIERS</a:t>
            </a:r>
            <a:endParaRPr lang="en-US" sz="850" dirty="0"/>
          </a:p>
        </p:txBody>
      </p:sp>
      <p:sp>
        <p:nvSpPr>
          <p:cNvPr id="15" name="Shape 11"/>
          <p:cNvSpPr/>
          <p:nvPr/>
        </p:nvSpPr>
        <p:spPr>
          <a:xfrm>
            <a:off x="2286000" y="4720274"/>
            <a:ext cx="3200400" cy="164592"/>
          </a:xfrm>
          <a:prstGeom prst="rect">
            <a:avLst/>
          </a:prstGeom>
          <a:solidFill>
            <a:srgbClr val="CBD5E1"/>
          </a:solidFill>
          <a:ln w="12700">
            <a:solidFill>
              <a:srgbClr val="CBD5E1"/>
            </a:solidFill>
            <a:prstDash val="solid"/>
          </a:ln>
        </p:spPr>
        <p:txBody>
          <a:bodyPr/>
          <a:lstStyle/>
          <a:p>
            <a:endParaRPr lang="en-US"/>
          </a:p>
        </p:txBody>
      </p:sp>
      <p:sp>
        <p:nvSpPr>
          <p:cNvPr id="16" name="Shape 12"/>
          <p:cNvSpPr/>
          <p:nvPr/>
        </p:nvSpPr>
        <p:spPr>
          <a:xfrm>
            <a:off x="2286000" y="4720274"/>
            <a:ext cx="1939442" cy="164592"/>
          </a:xfrm>
          <a:prstGeom prst="rect">
            <a:avLst/>
          </a:prstGeom>
          <a:solidFill>
            <a:srgbClr val="16A34A"/>
          </a:solidFill>
          <a:ln w="12700">
            <a:solidFill>
              <a:srgbClr val="16A34A"/>
            </a:solidFill>
            <a:prstDash val="solid"/>
          </a:ln>
        </p:spPr>
        <p:txBody>
          <a:bodyPr/>
          <a:lstStyle/>
          <a:p>
            <a:endParaRPr lang="en-US"/>
          </a:p>
        </p:txBody>
      </p:sp>
      <p:sp>
        <p:nvSpPr>
          <p:cNvPr id="17" name="Text 13"/>
          <p:cNvSpPr/>
          <p:nvPr/>
        </p:nvSpPr>
        <p:spPr>
          <a:xfrm>
            <a:off x="5532120" y="4701986"/>
            <a:ext cx="548640" cy="228600"/>
          </a:xfrm>
          <a:prstGeom prst="rect">
            <a:avLst/>
          </a:prstGeom>
          <a:noFill/>
          <a:ln/>
        </p:spPr>
        <p:txBody>
          <a:bodyPr wrap="square" rtlCol="0" anchor="ctr"/>
          <a:lstStyle/>
          <a:p>
            <a:pPr marL="0" indent="0" algn="r">
              <a:buNone/>
            </a:pPr>
            <a:r>
              <a:rPr lang="en-US" sz="900" b="1" dirty="0">
                <a:solidFill>
                  <a:srgbClr val="16A34A"/>
                </a:solidFill>
                <a:latin typeface="Calibri" pitchFamily="34" charset="0"/>
                <a:ea typeface="Calibri" pitchFamily="34" charset="-122"/>
                <a:cs typeface="Calibri" pitchFamily="34" charset="-120"/>
              </a:rPr>
              <a:t>61%</a:t>
            </a:r>
            <a:endParaRPr lang="en-US" sz="900" dirty="0"/>
          </a:p>
        </p:txBody>
      </p:sp>
      <p:sp>
        <p:nvSpPr>
          <p:cNvPr id="18" name="Text 14"/>
          <p:cNvSpPr/>
          <p:nvPr/>
        </p:nvSpPr>
        <p:spPr>
          <a:xfrm>
            <a:off x="320040" y="4948874"/>
            <a:ext cx="1920240" cy="228600"/>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PRODUITS ALIM.</a:t>
            </a:r>
            <a:endParaRPr lang="en-US" sz="850" dirty="0"/>
          </a:p>
        </p:txBody>
      </p:sp>
      <p:sp>
        <p:nvSpPr>
          <p:cNvPr id="6" name="Shape 15"/>
          <p:cNvSpPr/>
          <p:nvPr/>
        </p:nvSpPr>
        <p:spPr>
          <a:xfrm>
            <a:off x="2286000" y="4967162"/>
            <a:ext cx="3200400" cy="164592"/>
          </a:xfrm>
          <a:prstGeom prst="rect">
            <a:avLst/>
          </a:prstGeom>
          <a:solidFill>
            <a:srgbClr val="CBD5E1"/>
          </a:solidFill>
          <a:ln w="12700">
            <a:solidFill>
              <a:srgbClr val="CBD5E1"/>
            </a:solidFill>
            <a:prstDash val="solid"/>
          </a:ln>
        </p:spPr>
        <p:txBody>
          <a:bodyPr/>
          <a:lstStyle/>
          <a:p>
            <a:endParaRPr lang="en-US"/>
          </a:p>
        </p:txBody>
      </p:sp>
      <p:sp>
        <p:nvSpPr>
          <p:cNvPr id="20" name="Shape 16"/>
          <p:cNvSpPr/>
          <p:nvPr/>
        </p:nvSpPr>
        <p:spPr>
          <a:xfrm>
            <a:off x="2286000" y="4967162"/>
            <a:ext cx="1907438" cy="164592"/>
          </a:xfrm>
          <a:prstGeom prst="rect">
            <a:avLst/>
          </a:prstGeom>
          <a:solidFill>
            <a:srgbClr val="16A34A"/>
          </a:solidFill>
          <a:ln w="12700">
            <a:solidFill>
              <a:srgbClr val="16A34A"/>
            </a:solidFill>
            <a:prstDash val="solid"/>
          </a:ln>
        </p:spPr>
        <p:txBody>
          <a:bodyPr/>
          <a:lstStyle/>
          <a:p>
            <a:endParaRPr lang="en-US"/>
          </a:p>
        </p:txBody>
      </p:sp>
      <p:sp>
        <p:nvSpPr>
          <p:cNvPr id="21" name="Text 17"/>
          <p:cNvSpPr/>
          <p:nvPr/>
        </p:nvSpPr>
        <p:spPr>
          <a:xfrm>
            <a:off x="5532120" y="4948874"/>
            <a:ext cx="548640" cy="228600"/>
          </a:xfrm>
          <a:prstGeom prst="rect">
            <a:avLst/>
          </a:prstGeom>
          <a:noFill/>
          <a:ln/>
        </p:spPr>
        <p:txBody>
          <a:bodyPr wrap="square" rtlCol="0" anchor="ctr"/>
          <a:lstStyle/>
          <a:p>
            <a:pPr marL="0" indent="0" algn="r">
              <a:buNone/>
            </a:pPr>
            <a:r>
              <a:rPr lang="en-US" sz="900" b="1" dirty="0">
                <a:solidFill>
                  <a:srgbClr val="16A34A"/>
                </a:solidFill>
                <a:latin typeface="Calibri" pitchFamily="34" charset="0"/>
                <a:ea typeface="Calibri" pitchFamily="34" charset="-122"/>
                <a:cs typeface="Calibri" pitchFamily="34" charset="-120"/>
              </a:rPr>
              <a:t>60%</a:t>
            </a:r>
            <a:endParaRPr lang="en-US" sz="900" dirty="0"/>
          </a:p>
        </p:txBody>
      </p:sp>
      <p:sp>
        <p:nvSpPr>
          <p:cNvPr id="22" name="Text 18"/>
          <p:cNvSpPr/>
          <p:nvPr/>
        </p:nvSpPr>
        <p:spPr>
          <a:xfrm>
            <a:off x="320040" y="5195762"/>
            <a:ext cx="1920240" cy="228600"/>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EMBALLAGES</a:t>
            </a:r>
            <a:endParaRPr lang="en-US" sz="850" dirty="0"/>
          </a:p>
        </p:txBody>
      </p:sp>
      <p:sp>
        <p:nvSpPr>
          <p:cNvPr id="23" name="Shape 19"/>
          <p:cNvSpPr/>
          <p:nvPr/>
        </p:nvSpPr>
        <p:spPr>
          <a:xfrm>
            <a:off x="2286000" y="5214050"/>
            <a:ext cx="3200400" cy="164592"/>
          </a:xfrm>
          <a:prstGeom prst="rect">
            <a:avLst/>
          </a:prstGeom>
          <a:solidFill>
            <a:srgbClr val="CBD5E1"/>
          </a:solidFill>
          <a:ln w="12700">
            <a:solidFill>
              <a:srgbClr val="CBD5E1"/>
            </a:solidFill>
            <a:prstDash val="solid"/>
          </a:ln>
        </p:spPr>
        <p:txBody>
          <a:bodyPr/>
          <a:lstStyle/>
          <a:p>
            <a:endParaRPr lang="en-US"/>
          </a:p>
        </p:txBody>
      </p:sp>
      <p:sp>
        <p:nvSpPr>
          <p:cNvPr id="24" name="Shape 20"/>
          <p:cNvSpPr/>
          <p:nvPr/>
        </p:nvSpPr>
        <p:spPr>
          <a:xfrm>
            <a:off x="2286000" y="5214050"/>
            <a:ext cx="1020928" cy="164592"/>
          </a:xfrm>
          <a:prstGeom prst="rect">
            <a:avLst/>
          </a:prstGeom>
          <a:solidFill>
            <a:srgbClr val="1E40AF"/>
          </a:solidFill>
          <a:ln w="12700">
            <a:solidFill>
              <a:srgbClr val="1E40AF"/>
            </a:solidFill>
            <a:prstDash val="solid"/>
          </a:ln>
        </p:spPr>
        <p:txBody>
          <a:bodyPr/>
          <a:lstStyle/>
          <a:p>
            <a:endParaRPr lang="en-US"/>
          </a:p>
        </p:txBody>
      </p:sp>
      <p:sp>
        <p:nvSpPr>
          <p:cNvPr id="25" name="Text 21"/>
          <p:cNvSpPr/>
          <p:nvPr/>
        </p:nvSpPr>
        <p:spPr>
          <a:xfrm>
            <a:off x="5532120" y="5195762"/>
            <a:ext cx="548640" cy="228600"/>
          </a:xfrm>
          <a:prstGeom prst="rect">
            <a:avLst/>
          </a:prstGeom>
          <a:noFill/>
          <a:ln/>
        </p:spPr>
        <p:txBody>
          <a:bodyPr wrap="square" rtlCol="0" anchor="ctr"/>
          <a:lstStyle/>
          <a:p>
            <a:pPr marL="0" indent="0" algn="r">
              <a:buNone/>
            </a:pPr>
            <a:r>
              <a:rPr lang="en-US" sz="900" b="1" dirty="0">
                <a:solidFill>
                  <a:srgbClr val="1E40AF"/>
                </a:solidFill>
                <a:latin typeface="Calibri" pitchFamily="34" charset="0"/>
                <a:ea typeface="Calibri" pitchFamily="34" charset="-122"/>
                <a:cs typeface="Calibri" pitchFamily="34" charset="-120"/>
              </a:rPr>
              <a:t>32%</a:t>
            </a:r>
            <a:endParaRPr lang="en-US" sz="900" dirty="0"/>
          </a:p>
        </p:txBody>
      </p:sp>
      <p:sp>
        <p:nvSpPr>
          <p:cNvPr id="26" name="Text 22"/>
          <p:cNvSpPr/>
          <p:nvPr/>
        </p:nvSpPr>
        <p:spPr>
          <a:xfrm>
            <a:off x="320040" y="5442650"/>
            <a:ext cx="1920240" cy="228600"/>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TÉLÉCOMS</a:t>
            </a:r>
            <a:endParaRPr lang="en-US" sz="850" dirty="0"/>
          </a:p>
        </p:txBody>
      </p:sp>
      <p:sp>
        <p:nvSpPr>
          <p:cNvPr id="27" name="Shape 23"/>
          <p:cNvSpPr/>
          <p:nvPr/>
        </p:nvSpPr>
        <p:spPr>
          <a:xfrm>
            <a:off x="2286000" y="5460938"/>
            <a:ext cx="3200400" cy="164592"/>
          </a:xfrm>
          <a:prstGeom prst="rect">
            <a:avLst/>
          </a:prstGeom>
          <a:solidFill>
            <a:srgbClr val="CBD5E1"/>
          </a:solidFill>
          <a:ln w="12700">
            <a:solidFill>
              <a:srgbClr val="CBD5E1"/>
            </a:solidFill>
            <a:prstDash val="solid"/>
          </a:ln>
        </p:spPr>
        <p:txBody>
          <a:bodyPr/>
          <a:lstStyle/>
          <a:p>
            <a:endParaRPr lang="en-US"/>
          </a:p>
        </p:txBody>
      </p:sp>
      <p:sp>
        <p:nvSpPr>
          <p:cNvPr id="28" name="Shape 24"/>
          <p:cNvSpPr/>
          <p:nvPr/>
        </p:nvSpPr>
        <p:spPr>
          <a:xfrm>
            <a:off x="2286000" y="5460938"/>
            <a:ext cx="1056132" cy="164592"/>
          </a:xfrm>
          <a:prstGeom prst="rect">
            <a:avLst/>
          </a:prstGeom>
          <a:solidFill>
            <a:srgbClr val="1E40AF"/>
          </a:solidFill>
          <a:ln w="12700">
            <a:solidFill>
              <a:srgbClr val="1E40AF"/>
            </a:solidFill>
            <a:prstDash val="solid"/>
          </a:ln>
        </p:spPr>
        <p:txBody>
          <a:bodyPr/>
          <a:lstStyle/>
          <a:p>
            <a:endParaRPr lang="en-US"/>
          </a:p>
        </p:txBody>
      </p:sp>
      <p:sp>
        <p:nvSpPr>
          <p:cNvPr id="29" name="Text 25"/>
          <p:cNvSpPr/>
          <p:nvPr/>
        </p:nvSpPr>
        <p:spPr>
          <a:xfrm>
            <a:off x="5532120" y="5442650"/>
            <a:ext cx="548640" cy="228600"/>
          </a:xfrm>
          <a:prstGeom prst="rect">
            <a:avLst/>
          </a:prstGeom>
          <a:noFill/>
          <a:ln/>
        </p:spPr>
        <p:txBody>
          <a:bodyPr wrap="square" rtlCol="0" anchor="ctr"/>
          <a:lstStyle/>
          <a:p>
            <a:pPr marL="0" indent="0" algn="r">
              <a:buNone/>
            </a:pPr>
            <a:r>
              <a:rPr lang="en-US" sz="900" b="1" dirty="0">
                <a:solidFill>
                  <a:srgbClr val="1E40AF"/>
                </a:solidFill>
                <a:latin typeface="Calibri" pitchFamily="34" charset="0"/>
                <a:ea typeface="Calibri" pitchFamily="34" charset="-122"/>
                <a:cs typeface="Calibri" pitchFamily="34" charset="-120"/>
              </a:rPr>
              <a:t>33%</a:t>
            </a:r>
            <a:endParaRPr lang="en-US" sz="900" dirty="0"/>
          </a:p>
        </p:txBody>
      </p:sp>
      <p:sp>
        <p:nvSpPr>
          <p:cNvPr id="30" name="Text 26"/>
          <p:cNvSpPr/>
          <p:nvPr/>
        </p:nvSpPr>
        <p:spPr>
          <a:xfrm>
            <a:off x="320040" y="5689538"/>
            <a:ext cx="1920240" cy="228600"/>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MÉDICAMENTS</a:t>
            </a:r>
            <a:endParaRPr lang="en-US" sz="850" dirty="0"/>
          </a:p>
        </p:txBody>
      </p:sp>
      <p:sp>
        <p:nvSpPr>
          <p:cNvPr id="31" name="Shape 27"/>
          <p:cNvSpPr/>
          <p:nvPr/>
        </p:nvSpPr>
        <p:spPr>
          <a:xfrm>
            <a:off x="2286000" y="5707826"/>
            <a:ext cx="3200400" cy="164592"/>
          </a:xfrm>
          <a:prstGeom prst="rect">
            <a:avLst/>
          </a:prstGeom>
          <a:solidFill>
            <a:srgbClr val="CBD5E1"/>
          </a:solidFill>
          <a:ln w="12700">
            <a:solidFill>
              <a:srgbClr val="CBD5E1"/>
            </a:solidFill>
            <a:prstDash val="solid"/>
          </a:ln>
        </p:spPr>
        <p:txBody>
          <a:bodyPr/>
          <a:lstStyle/>
          <a:p>
            <a:endParaRPr lang="en-US"/>
          </a:p>
        </p:txBody>
      </p:sp>
      <p:sp>
        <p:nvSpPr>
          <p:cNvPr id="32" name="Shape 28"/>
          <p:cNvSpPr/>
          <p:nvPr/>
        </p:nvSpPr>
        <p:spPr>
          <a:xfrm>
            <a:off x="2286000" y="5707826"/>
            <a:ext cx="899312" cy="164592"/>
          </a:xfrm>
          <a:prstGeom prst="rect">
            <a:avLst/>
          </a:prstGeom>
          <a:solidFill>
            <a:srgbClr val="1E40AF"/>
          </a:solidFill>
          <a:ln w="12700">
            <a:solidFill>
              <a:srgbClr val="1E40AF"/>
            </a:solidFill>
            <a:prstDash val="solid"/>
          </a:ln>
        </p:spPr>
        <p:txBody>
          <a:bodyPr/>
          <a:lstStyle/>
          <a:p>
            <a:endParaRPr lang="en-US"/>
          </a:p>
        </p:txBody>
      </p:sp>
      <p:sp>
        <p:nvSpPr>
          <p:cNvPr id="33" name="Text 29"/>
          <p:cNvSpPr/>
          <p:nvPr/>
        </p:nvSpPr>
        <p:spPr>
          <a:xfrm>
            <a:off x="5532120" y="5689538"/>
            <a:ext cx="548640" cy="228600"/>
          </a:xfrm>
          <a:prstGeom prst="rect">
            <a:avLst/>
          </a:prstGeom>
          <a:noFill/>
          <a:ln/>
        </p:spPr>
        <p:txBody>
          <a:bodyPr wrap="square" rtlCol="0" anchor="ctr"/>
          <a:lstStyle/>
          <a:p>
            <a:pPr marL="0" indent="0" algn="r">
              <a:buNone/>
            </a:pPr>
            <a:r>
              <a:rPr lang="en-US" sz="900" b="1" dirty="0">
                <a:solidFill>
                  <a:srgbClr val="1E40AF"/>
                </a:solidFill>
                <a:latin typeface="Calibri" pitchFamily="34" charset="0"/>
                <a:ea typeface="Calibri" pitchFamily="34" charset="-122"/>
                <a:cs typeface="Calibri" pitchFamily="34" charset="-120"/>
              </a:rPr>
              <a:t>28%</a:t>
            </a:r>
            <a:endParaRPr lang="en-US" sz="900" dirty="0"/>
          </a:p>
        </p:txBody>
      </p:sp>
      <p:sp>
        <p:nvSpPr>
          <p:cNvPr id="34" name="Text 30"/>
          <p:cNvSpPr/>
          <p:nvPr/>
        </p:nvSpPr>
        <p:spPr>
          <a:xfrm>
            <a:off x="320040" y="5936426"/>
            <a:ext cx="1920240" cy="228600"/>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OEUFS</a:t>
            </a:r>
            <a:endParaRPr lang="en-US" sz="850" dirty="0"/>
          </a:p>
        </p:txBody>
      </p:sp>
      <p:sp>
        <p:nvSpPr>
          <p:cNvPr id="35" name="Shape 31"/>
          <p:cNvSpPr/>
          <p:nvPr/>
        </p:nvSpPr>
        <p:spPr>
          <a:xfrm>
            <a:off x="2286000" y="5954714"/>
            <a:ext cx="3200400" cy="164592"/>
          </a:xfrm>
          <a:prstGeom prst="rect">
            <a:avLst/>
          </a:prstGeom>
          <a:solidFill>
            <a:srgbClr val="CBD5E1"/>
          </a:solidFill>
          <a:ln w="12700">
            <a:solidFill>
              <a:srgbClr val="CBD5E1"/>
            </a:solidFill>
            <a:prstDash val="solid"/>
          </a:ln>
        </p:spPr>
        <p:txBody>
          <a:bodyPr/>
          <a:lstStyle/>
          <a:p>
            <a:endParaRPr lang="en-US"/>
          </a:p>
        </p:txBody>
      </p:sp>
      <p:sp>
        <p:nvSpPr>
          <p:cNvPr id="36" name="Shape 32"/>
          <p:cNvSpPr/>
          <p:nvPr/>
        </p:nvSpPr>
        <p:spPr>
          <a:xfrm>
            <a:off x="2286000" y="5945753"/>
            <a:ext cx="41605" cy="164592"/>
          </a:xfrm>
          <a:prstGeom prst="rect">
            <a:avLst/>
          </a:prstGeom>
          <a:solidFill>
            <a:srgbClr val="DC2626"/>
          </a:solidFill>
          <a:ln w="12700">
            <a:solidFill>
              <a:srgbClr val="DC2626"/>
            </a:solidFill>
            <a:prstDash val="solid"/>
          </a:ln>
        </p:spPr>
        <p:txBody>
          <a:bodyPr/>
          <a:lstStyle/>
          <a:p>
            <a:endParaRPr lang="en-US"/>
          </a:p>
        </p:txBody>
      </p:sp>
      <p:sp>
        <p:nvSpPr>
          <p:cNvPr id="8" name="Text 33"/>
          <p:cNvSpPr/>
          <p:nvPr/>
        </p:nvSpPr>
        <p:spPr>
          <a:xfrm>
            <a:off x="5532120" y="5936426"/>
            <a:ext cx="548640" cy="228600"/>
          </a:xfrm>
          <a:prstGeom prst="rect">
            <a:avLst/>
          </a:prstGeom>
          <a:noFill/>
          <a:ln/>
        </p:spPr>
        <p:txBody>
          <a:bodyPr wrap="square" rtlCol="0" anchor="ctr"/>
          <a:lstStyle/>
          <a:p>
            <a:pPr marL="0" indent="0" algn="r">
              <a:buNone/>
            </a:pPr>
            <a:r>
              <a:rPr lang="en-US" sz="900" b="1" dirty="0">
                <a:solidFill>
                  <a:srgbClr val="DC2626"/>
                </a:solidFill>
                <a:latin typeface="Calibri" pitchFamily="34" charset="0"/>
                <a:ea typeface="Calibri" pitchFamily="34" charset="-122"/>
                <a:cs typeface="Calibri" pitchFamily="34" charset="-120"/>
              </a:rPr>
              <a:t>1%</a:t>
            </a:r>
            <a:endParaRPr lang="en-US" sz="900" dirty="0"/>
          </a:p>
        </p:txBody>
      </p:sp>
      <p:sp>
        <p:nvSpPr>
          <p:cNvPr id="38" name="Shape 34"/>
          <p:cNvSpPr/>
          <p:nvPr/>
        </p:nvSpPr>
        <p:spPr>
          <a:xfrm>
            <a:off x="6679235" y="5175504"/>
            <a:ext cx="5212080" cy="1207008"/>
          </a:xfrm>
          <a:prstGeom prst="roundRect">
            <a:avLst>
              <a:gd name="adj" fmla="val 6061"/>
            </a:avLst>
          </a:prstGeom>
          <a:solidFill>
            <a:srgbClr val="FFF5E6"/>
          </a:solidFill>
          <a:ln/>
        </p:spPr>
        <p:txBody>
          <a:bodyPr/>
          <a:lstStyle/>
          <a:p>
            <a:endParaRPr lang="en-US"/>
          </a:p>
        </p:txBody>
      </p:sp>
      <p:sp>
        <p:nvSpPr>
          <p:cNvPr id="39" name="Text 35"/>
          <p:cNvSpPr/>
          <p:nvPr/>
        </p:nvSpPr>
        <p:spPr>
          <a:xfrm>
            <a:off x="6816395" y="5239512"/>
            <a:ext cx="4937760" cy="1078992"/>
          </a:xfrm>
          <a:prstGeom prst="rect">
            <a:avLst/>
          </a:prstGeom>
          <a:noFill/>
          <a:ln/>
        </p:spPr>
        <p:txBody>
          <a:bodyPr wrap="square" rtlCol="0" anchor="ctr"/>
          <a:lstStyle/>
          <a:p>
            <a:pPr marL="0" indent="0">
              <a:buNone/>
            </a:pPr>
            <a:r>
              <a:rPr lang="en-US" sz="950" dirty="0">
                <a:solidFill>
                  <a:srgbClr val="EA580C"/>
                </a:solidFill>
                <a:latin typeface="Calibri" pitchFamily="34" charset="0"/>
                <a:ea typeface="Calibri" pitchFamily="34" charset="-122"/>
                <a:cs typeface="Calibri" pitchFamily="34" charset="-120"/>
              </a:rPr>
              <a:t>⚠ Transit-Coss : –60% (696K→274K kg). Clients récupérés partiellement par AGL.
</a:t>
            </a:r>
            <a:r>
              <a:rPr lang="en-US" sz="950" b="1" dirty="0">
                <a:solidFill>
                  <a:srgbClr val="16A34A"/>
                </a:solidFill>
                <a:latin typeface="Calibri" pitchFamily="34" charset="0"/>
                <a:ea typeface="Calibri" pitchFamily="34" charset="-122"/>
                <a:cs typeface="Calibri" pitchFamily="34" charset="-120"/>
              </a:rPr>
              <a:t>🏆 AGL #1 : 20,8% PDM sur marché qualifié. Progression continue Jan→Mai (+20 pts).
</a:t>
            </a:r>
            <a:r>
              <a:rPr lang="en-US" sz="950" dirty="0">
                <a:solidFill>
                  <a:srgbClr val="0A2240"/>
                </a:solidFill>
                <a:latin typeface="Calibri" pitchFamily="34" charset="0"/>
                <a:ea typeface="Calibri" pitchFamily="34" charset="-122"/>
                <a:cs typeface="Calibri" pitchFamily="34" charset="-120"/>
              </a:rPr>
              <a:t>🎯 Cibles : GTS CI (#3, 8,4%) à surveiller. Osmoz Africa (#2, 9,4%) à challenger sur Matériels Miniers et Produits Alimentaires.</a:t>
            </a:r>
            <a:endParaRPr lang="en-US" sz="950" dirty="0"/>
          </a:p>
        </p:txBody>
      </p:sp>
      <p:sp>
        <p:nvSpPr>
          <p:cNvPr id="40" name="Shape 36"/>
          <p:cNvSpPr/>
          <p:nvPr/>
        </p:nvSpPr>
        <p:spPr>
          <a:xfrm>
            <a:off x="365760" y="6565392"/>
            <a:ext cx="11430000" cy="0"/>
          </a:xfrm>
          <a:prstGeom prst="line">
            <a:avLst/>
          </a:prstGeom>
          <a:noFill/>
          <a:ln w="6350">
            <a:solidFill>
              <a:srgbClr val="CBD5E1"/>
            </a:solidFill>
            <a:prstDash val="solid"/>
          </a:ln>
        </p:spPr>
        <p:txBody>
          <a:bodyPr/>
          <a:lstStyle/>
          <a:p>
            <a:endParaRPr lang="en-US"/>
          </a:p>
        </p:txBody>
      </p:sp>
      <p:sp>
        <p:nvSpPr>
          <p:cNvPr id="41" name="Text 37"/>
          <p:cNvSpPr/>
          <p:nvPr/>
        </p:nvSpPr>
        <p:spPr>
          <a:xfrm>
            <a:off x="365760" y="6601968"/>
            <a:ext cx="11430000" cy="201168"/>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Africa Global Logistics – Étude de Marché Jan–Mai 2026   |  p.18</a:t>
            </a:r>
            <a:endParaRPr lang="en-US" sz="850" dirty="0"/>
          </a:p>
        </p:txBody>
      </p:sp>
      <p:pic>
        <p:nvPicPr>
          <p:cNvPr id="43" name="Image 42" descr="Une image contenant texte, Police, Graphique, logo  Description générée automatiquement">
            <a:extLst>
              <a:ext uri="{FF2B5EF4-FFF2-40B4-BE49-F238E27FC236}">
                <a16:creationId xmlns:a16="http://schemas.microsoft.com/office/drawing/2014/main" id="{45EDDF10-2D0C-C885-3F4F-9D76274F8498}"/>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1488450" y="6549898"/>
            <a:ext cx="450027" cy="292409"/>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0A2240"/>
          </a:solidFill>
          <a:ln w="12700">
            <a:solidFill>
              <a:srgbClr val="0A2240"/>
            </a:solidFill>
            <a:prstDash val="solid"/>
          </a:ln>
        </p:spPr>
        <p:txBody>
          <a:bodyPr/>
          <a:lstStyle/>
          <a:p>
            <a:endParaRPr lang="en-US"/>
          </a:p>
        </p:txBody>
      </p:sp>
      <p:sp>
        <p:nvSpPr>
          <p:cNvPr id="3" name="Text 1"/>
          <p:cNvSpPr/>
          <p:nvPr/>
        </p:nvSpPr>
        <p:spPr>
          <a:xfrm>
            <a:off x="365760" y="54864"/>
            <a:ext cx="11430000" cy="65836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AÉRIEN IMPORT – CLIENTÈLE AGL</a:t>
            </a:r>
            <a:endParaRPr lang="en-US" sz="2400" dirty="0"/>
          </a:p>
        </p:txBody>
      </p:sp>
      <p:sp>
        <p:nvSpPr>
          <p:cNvPr id="4" name="Text 2"/>
          <p:cNvSpPr/>
          <p:nvPr/>
        </p:nvSpPr>
        <p:spPr>
          <a:xfrm>
            <a:off x="365760" y="676656"/>
            <a:ext cx="11430000" cy="329184"/>
          </a:xfrm>
          <a:prstGeom prst="rect">
            <a:avLst/>
          </a:prstGeom>
          <a:noFill/>
          <a:ln/>
        </p:spPr>
        <p:txBody>
          <a:bodyPr wrap="square" rtlCol="0" anchor="ctr"/>
          <a:lstStyle/>
          <a:p>
            <a:pPr marL="0" indent="0">
              <a:buNone/>
            </a:pPr>
            <a:r>
              <a:rPr lang="en-US" sz="1200" i="1" dirty="0">
                <a:solidFill>
                  <a:srgbClr val="C8A951"/>
                </a:solidFill>
                <a:latin typeface="Calibri" pitchFamily="34" charset="0"/>
                <a:ea typeface="Calibri" pitchFamily="34" charset="-122"/>
                <a:cs typeface="Calibri" pitchFamily="34" charset="-120"/>
              </a:rPr>
              <a:t>Top 10 destinataires  |  Mix produits  |  Risques &amp; leviers de croissance</a:t>
            </a:r>
            <a:endParaRPr lang="en-US" sz="1200" dirty="0"/>
          </a:p>
        </p:txBody>
      </p:sp>
      <p:sp>
        <p:nvSpPr>
          <p:cNvPr id="5" name="Text 3"/>
          <p:cNvSpPr/>
          <p:nvPr/>
        </p:nvSpPr>
        <p:spPr>
          <a:xfrm>
            <a:off x="320040" y="1143000"/>
            <a:ext cx="5852160" cy="274320"/>
          </a:xfrm>
          <a:prstGeom prst="rect">
            <a:avLst/>
          </a:prstGeom>
          <a:noFill/>
          <a:ln/>
        </p:spPr>
        <p:txBody>
          <a:bodyPr wrap="square" rtlCol="0" anchor="ctr"/>
          <a:lstStyle/>
          <a:p>
            <a:pPr marL="0" indent="0">
              <a:buNone/>
            </a:pPr>
            <a:r>
              <a:rPr lang="en-US" sz="1200" b="1" dirty="0">
                <a:solidFill>
                  <a:srgbClr val="0A2240"/>
                </a:solidFill>
                <a:latin typeface="Calibri" pitchFamily="34" charset="0"/>
                <a:ea typeface="Calibri" pitchFamily="34" charset="-122"/>
                <a:cs typeface="Calibri" pitchFamily="34" charset="-120"/>
              </a:rPr>
              <a:t>Top 10 clients AGL – Aérien Import (Destinataires, kg)</a:t>
            </a:r>
            <a:endParaRPr lang="en-US" sz="1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320040" y="1463040"/>
          <a:ext cx="5943600" cy="3870960"/>
        </p:xfrm>
        <a:graphic>
          <a:graphicData uri="http://schemas.openxmlformats.org/drawingml/2006/table">
            <a:tbl>
              <a:tblPr/>
              <a:tblGrid>
                <a:gridCol w="283464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tblGrid>
              <a:tr h="347472">
                <a:tc>
                  <a:txBody>
                    <a:bodyPr/>
                    <a:lstStyle/>
                    <a:p>
                      <a:pPr marL="0" indent="0">
                        <a:buNone/>
                      </a:pPr>
                      <a:r>
                        <a:rPr lang="en-US" sz="1000" b="1" dirty="0">
                          <a:solidFill>
                            <a:srgbClr val="FFFFFF"/>
                          </a:solidFill>
                        </a:rPr>
                        <a:t>Client (Destinataire)</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lgn="r">
                        <a:buNone/>
                      </a:pPr>
                      <a:r>
                        <a:rPr lang="en-US" sz="1000" b="1" dirty="0">
                          <a:solidFill>
                            <a:srgbClr val="FFFFFF"/>
                          </a:solidFill>
                        </a:rPr>
                        <a:t>Poids (kg)</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buNone/>
                      </a:pPr>
                      <a:r>
                        <a:rPr lang="en-US" sz="1000" b="1" dirty="0">
                          <a:solidFill>
                            <a:srgbClr val="FFFFFF"/>
                          </a:solidFill>
                        </a:rPr>
                        <a:t>Segment</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lgn="ctr">
                        <a:buNone/>
                      </a:pPr>
                      <a:r>
                        <a:rPr lang="en-US" sz="1000" b="1" dirty="0">
                          <a:solidFill>
                            <a:srgbClr val="FFFFFF"/>
                          </a:solidFill>
                        </a:rPr>
                        <a:t>% Vol. AGL</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extLst>
                  <a:ext uri="{0D108BD9-81ED-4DB2-BD59-A6C34878D82A}">
                    <a16:rowId xmlns:a16="http://schemas.microsoft.com/office/drawing/2014/main" val="10000"/>
                  </a:ext>
                </a:extLst>
              </a:tr>
              <a:tr h="347472">
                <a:tc>
                  <a:txBody>
                    <a:bodyPr/>
                    <a:lstStyle/>
                    <a:p>
                      <a:pPr marL="0" indent="0">
                        <a:buNone/>
                      </a:pPr>
                      <a:r>
                        <a:rPr lang="en-US" sz="950" dirty="0">
                          <a:solidFill>
                            <a:srgbClr val="334155"/>
                          </a:solidFill>
                        </a:rPr>
                        <a:t>K1 MINING SA CI</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9E6"/>
                    </a:solidFill>
                  </a:tcPr>
                </a:tc>
                <a:tc>
                  <a:txBody>
                    <a:bodyPr/>
                    <a:lstStyle/>
                    <a:p>
                      <a:pPr marL="0" indent="0" algn="r">
                        <a:buNone/>
                      </a:pPr>
                      <a:r>
                        <a:rPr lang="en-US" sz="950" b="1" dirty="0">
                          <a:solidFill>
                            <a:srgbClr val="0A2240"/>
                          </a:solidFill>
                        </a:rPr>
                        <a:t>308 596</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9E6"/>
                    </a:solidFill>
                  </a:tcPr>
                </a:tc>
                <a:tc>
                  <a:txBody>
                    <a:bodyPr/>
                    <a:lstStyle/>
                    <a:p>
                      <a:pPr marL="0" indent="0">
                        <a:buNone/>
                      </a:pPr>
                      <a:r>
                        <a:rPr lang="en-US" sz="900" i="1" dirty="0">
                          <a:solidFill>
                            <a:srgbClr val="64748B"/>
                          </a:solidFill>
                        </a:rPr>
                        <a:t>Mat. Miniers</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9E6"/>
                    </a:solidFill>
                  </a:tcPr>
                </a:tc>
                <a:tc>
                  <a:txBody>
                    <a:bodyPr/>
                    <a:lstStyle/>
                    <a:p>
                      <a:pPr marL="0" indent="0" algn="ctr">
                        <a:buNone/>
                      </a:pPr>
                      <a:r>
                        <a:rPr lang="en-US" sz="950" b="1" dirty="0">
                          <a:solidFill>
                            <a:srgbClr val="EA580C"/>
                          </a:solidFill>
                        </a:rPr>
                        <a:t>26,5%</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9E6"/>
                    </a:solidFill>
                  </a:tcPr>
                </a:tc>
                <a:extLst>
                  <a:ext uri="{0D108BD9-81ED-4DB2-BD59-A6C34878D82A}">
                    <a16:rowId xmlns:a16="http://schemas.microsoft.com/office/drawing/2014/main" val="10001"/>
                  </a:ext>
                </a:extLst>
              </a:tr>
              <a:tr h="347472">
                <a:tc>
                  <a:txBody>
                    <a:bodyPr/>
                    <a:lstStyle/>
                    <a:p>
                      <a:pPr marL="0" indent="0">
                        <a:buNone/>
                      </a:pPr>
                      <a:r>
                        <a:rPr lang="en-US" sz="950" dirty="0">
                          <a:solidFill>
                            <a:srgbClr val="334155"/>
                          </a:solidFill>
                        </a:rPr>
                        <a:t>PROSUMA</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9E6"/>
                    </a:solidFill>
                  </a:tcPr>
                </a:tc>
                <a:tc>
                  <a:txBody>
                    <a:bodyPr/>
                    <a:lstStyle/>
                    <a:p>
                      <a:pPr marL="0" indent="0" algn="r">
                        <a:buNone/>
                      </a:pPr>
                      <a:r>
                        <a:rPr lang="en-US" sz="950" dirty="0">
                          <a:solidFill>
                            <a:srgbClr val="334155"/>
                          </a:solidFill>
                        </a:rPr>
                        <a:t>268 633</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9E6"/>
                    </a:solidFill>
                  </a:tcPr>
                </a:tc>
                <a:tc>
                  <a:txBody>
                    <a:bodyPr/>
                    <a:lstStyle/>
                    <a:p>
                      <a:pPr marL="0" indent="0">
                        <a:buNone/>
                      </a:pPr>
                      <a:r>
                        <a:rPr lang="en-US" sz="900" i="1" dirty="0">
                          <a:solidFill>
                            <a:srgbClr val="64748B"/>
                          </a:solidFill>
                        </a:rPr>
                        <a:t>Prod. Alimentaires</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9E6"/>
                    </a:solidFill>
                  </a:tcPr>
                </a:tc>
                <a:tc>
                  <a:txBody>
                    <a:bodyPr/>
                    <a:lstStyle/>
                    <a:p>
                      <a:pPr marL="0" indent="0" algn="ctr">
                        <a:buNone/>
                      </a:pPr>
                      <a:r>
                        <a:rPr lang="en-US" sz="950" b="1" dirty="0">
                          <a:solidFill>
                            <a:srgbClr val="EA580C"/>
                          </a:solidFill>
                        </a:rPr>
                        <a:t>23,1%</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9E6"/>
                    </a:solidFill>
                  </a:tcPr>
                </a:tc>
                <a:extLst>
                  <a:ext uri="{0D108BD9-81ED-4DB2-BD59-A6C34878D82A}">
                    <a16:rowId xmlns:a16="http://schemas.microsoft.com/office/drawing/2014/main" val="10002"/>
                  </a:ext>
                </a:extLst>
              </a:tr>
              <a:tr h="347472">
                <a:tc>
                  <a:txBody>
                    <a:bodyPr/>
                    <a:lstStyle/>
                    <a:p>
                      <a:pPr marL="0" indent="0">
                        <a:buNone/>
                      </a:pPr>
                      <a:r>
                        <a:rPr lang="en-US" sz="950" dirty="0">
                          <a:solidFill>
                            <a:srgbClr val="334155"/>
                          </a:solidFill>
                        </a:rPr>
                        <a:t>UBIPHARM CÔTE D'IVOIRE</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r">
                        <a:buNone/>
                      </a:pPr>
                      <a:r>
                        <a:rPr lang="en-US" sz="950" dirty="0">
                          <a:solidFill>
                            <a:srgbClr val="334155"/>
                          </a:solidFill>
                        </a:rPr>
                        <a:t>61 130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00" i="1" dirty="0">
                          <a:solidFill>
                            <a:srgbClr val="64748B"/>
                          </a:solidFill>
                        </a:rPr>
                        <a:t>Médicaments</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64748B"/>
                          </a:solidFill>
                        </a:rPr>
                        <a:t>5,2%</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7472">
                <a:tc>
                  <a:txBody>
                    <a:bodyPr/>
                    <a:lstStyle/>
                    <a:p>
                      <a:pPr marL="0" indent="0">
                        <a:buNone/>
                      </a:pPr>
                      <a:r>
                        <a:rPr lang="en-US" sz="950" dirty="0">
                          <a:solidFill>
                            <a:srgbClr val="334155"/>
                          </a:solidFill>
                        </a:rPr>
                        <a:t>ORANGE CI</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r">
                        <a:buNone/>
                      </a:pPr>
                      <a:r>
                        <a:rPr lang="en-US" sz="950" dirty="0">
                          <a:solidFill>
                            <a:srgbClr val="334155"/>
                          </a:solidFill>
                        </a:rPr>
                        <a:t>49 988</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00" i="1" dirty="0">
                          <a:solidFill>
                            <a:srgbClr val="64748B"/>
                          </a:solidFill>
                        </a:rPr>
                        <a:t>Télécoms</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64748B"/>
                          </a:solidFill>
                        </a:rPr>
                        <a:t>4,3%</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47472">
                <a:tc>
                  <a:txBody>
                    <a:bodyPr/>
                    <a:lstStyle/>
                    <a:p>
                      <a:pPr marL="0" indent="0">
                        <a:buNone/>
                      </a:pPr>
                      <a:r>
                        <a:rPr lang="en-US" sz="950" dirty="0">
                          <a:solidFill>
                            <a:srgbClr val="334155"/>
                          </a:solidFill>
                        </a:rPr>
                        <a:t>NESTLÉ CÔTE D'IVOIRE</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r">
                        <a:buNone/>
                      </a:pPr>
                      <a:r>
                        <a:rPr lang="en-US" sz="950" dirty="0">
                          <a:solidFill>
                            <a:srgbClr val="334155"/>
                          </a:solidFill>
                        </a:rPr>
                        <a:t>38 474</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00" i="1" dirty="0">
                          <a:solidFill>
                            <a:srgbClr val="64748B"/>
                          </a:solidFill>
                        </a:rPr>
                        <a:t>Alimentaire</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64748B"/>
                          </a:solidFill>
                        </a:rPr>
                        <a:t>3,3%</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47472">
                <a:tc>
                  <a:txBody>
                    <a:bodyPr/>
                    <a:lstStyle/>
                    <a:p>
                      <a:pPr marL="0" indent="0">
                        <a:buNone/>
                      </a:pPr>
                      <a:r>
                        <a:rPr lang="en-US" sz="950" dirty="0">
                          <a:solidFill>
                            <a:srgbClr val="334155"/>
                          </a:solidFill>
                        </a:rPr>
                        <a:t>SIFAAP CI</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r">
                        <a:buNone/>
                      </a:pPr>
                      <a:r>
                        <a:rPr lang="en-US" sz="950" dirty="0">
                          <a:solidFill>
                            <a:srgbClr val="334155"/>
                          </a:solidFill>
                        </a:rPr>
                        <a:t>24 694</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00" i="1" dirty="0">
                          <a:solidFill>
                            <a:srgbClr val="64748B"/>
                          </a:solidFill>
                        </a:rPr>
                        <a:t>Alim. Animal</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64748B"/>
                          </a:solidFill>
                        </a:rPr>
                        <a:t>2,1%</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47472">
                <a:tc>
                  <a:txBody>
                    <a:bodyPr/>
                    <a:lstStyle/>
                    <a:p>
                      <a:pPr marL="0" indent="0">
                        <a:buNone/>
                      </a:pPr>
                      <a:r>
                        <a:rPr lang="en-US" sz="950" dirty="0">
                          <a:solidFill>
                            <a:srgbClr val="334155"/>
                          </a:solidFill>
                        </a:rPr>
                        <a:t>SITAB CI</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r">
                        <a:buNone/>
                      </a:pPr>
                      <a:r>
                        <a:rPr lang="en-US" sz="950" dirty="0">
                          <a:solidFill>
                            <a:srgbClr val="334155"/>
                          </a:solidFill>
                        </a:rPr>
                        <a:t>23 535</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00" i="1" dirty="0">
                          <a:solidFill>
                            <a:srgbClr val="64748B"/>
                          </a:solidFill>
                        </a:rPr>
                        <a:t>Cigarettes</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64748B"/>
                          </a:solidFill>
                        </a:rPr>
                        <a:t>2,0%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47472">
                <a:tc>
                  <a:txBody>
                    <a:bodyPr/>
                    <a:lstStyle/>
                    <a:p>
                      <a:pPr marL="0" indent="0">
                        <a:buNone/>
                      </a:pPr>
                      <a:r>
                        <a:rPr lang="en-US" sz="950" dirty="0">
                          <a:solidFill>
                            <a:srgbClr val="334155"/>
                          </a:solidFill>
                        </a:rPr>
                        <a:t>ROCHE DIAGNOSTICS CI</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r">
                        <a:buNone/>
                      </a:pPr>
                      <a:r>
                        <a:rPr lang="en-US" sz="950" dirty="0">
                          <a:solidFill>
                            <a:srgbClr val="334155"/>
                          </a:solidFill>
                        </a:rPr>
                        <a:t>22 633</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00" i="1" dirty="0">
                          <a:solidFill>
                            <a:srgbClr val="64748B"/>
                          </a:solidFill>
                        </a:rPr>
                        <a:t>Mat. Labo.</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64748B"/>
                          </a:solidFill>
                        </a:rPr>
                        <a:t>1,9%</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47472">
                <a:tc>
                  <a:txBody>
                    <a:bodyPr/>
                    <a:lstStyle/>
                    <a:p>
                      <a:pPr marL="0" indent="0">
                        <a:buNone/>
                      </a:pPr>
                      <a:r>
                        <a:rPr lang="en-US" sz="950" dirty="0">
                          <a:solidFill>
                            <a:srgbClr val="334155"/>
                          </a:solidFill>
                        </a:rPr>
                        <a:t>MTN CI</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r">
                        <a:buNone/>
                      </a:pPr>
                      <a:r>
                        <a:rPr lang="en-US" sz="950" dirty="0">
                          <a:solidFill>
                            <a:srgbClr val="334155"/>
                          </a:solidFill>
                        </a:rPr>
                        <a:t>20 141</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00" i="1" dirty="0">
                          <a:solidFill>
                            <a:srgbClr val="64748B"/>
                          </a:solidFill>
                        </a:rPr>
                        <a:t>Télécoms</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64748B"/>
                          </a:solidFill>
                        </a:rPr>
                        <a:t>1,7%</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47472">
                <a:tc>
                  <a:txBody>
                    <a:bodyPr/>
                    <a:lstStyle/>
                    <a:p>
                      <a:pPr marL="0" indent="0">
                        <a:buNone/>
                      </a:pPr>
                      <a:r>
                        <a:rPr lang="en-US" sz="950" dirty="0">
                          <a:solidFill>
                            <a:srgbClr val="334155"/>
                          </a:solidFill>
                        </a:rPr>
                        <a:t>FOXTROT INTERNATIONAL</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r">
                        <a:buNone/>
                      </a:pPr>
                      <a:r>
                        <a:rPr lang="en-US" sz="950" dirty="0">
                          <a:solidFill>
                            <a:srgbClr val="334155"/>
                          </a:solidFill>
                        </a:rPr>
                        <a:t>18 721</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00" i="1" dirty="0">
                          <a:solidFill>
                            <a:srgbClr val="64748B"/>
                          </a:solidFill>
                        </a:rPr>
                        <a:t>Pétrole</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64748B"/>
                          </a:solidFill>
                        </a:rPr>
                        <a:t>1,6%</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
        <p:nvSpPr>
          <p:cNvPr id="7" name="Text 4"/>
          <p:cNvSpPr/>
          <p:nvPr/>
        </p:nvSpPr>
        <p:spPr>
          <a:xfrm>
            <a:off x="6400800" y="1143000"/>
            <a:ext cx="5303520" cy="274320"/>
          </a:xfrm>
          <a:prstGeom prst="rect">
            <a:avLst/>
          </a:prstGeom>
          <a:noFill/>
          <a:ln/>
        </p:spPr>
        <p:txBody>
          <a:bodyPr wrap="square" rtlCol="0" anchor="ctr"/>
          <a:lstStyle/>
          <a:p>
            <a:pPr marL="0" indent="0">
              <a:buNone/>
            </a:pPr>
            <a:r>
              <a:rPr lang="en-US" sz="1200" b="1" dirty="0">
                <a:solidFill>
                  <a:srgbClr val="0A2240"/>
                </a:solidFill>
                <a:latin typeface="Calibri" pitchFamily="34" charset="0"/>
                <a:ea typeface="Calibri" pitchFamily="34" charset="-122"/>
                <a:cs typeface="Calibri" pitchFamily="34" charset="-120"/>
              </a:rPr>
              <a:t>Mix produits AGL – Aérien Import</a:t>
            </a:r>
            <a:endParaRPr lang="en-US" sz="1200" dirty="0"/>
          </a:p>
        </p:txBody>
      </p:sp>
      <p:graphicFrame>
        <p:nvGraphicFramePr>
          <p:cNvPr id="8" name="Chart 0"/>
          <p:cNvGraphicFramePr/>
          <p:nvPr/>
        </p:nvGraphicFramePr>
        <p:xfrm>
          <a:off x="6400800" y="1463040"/>
          <a:ext cx="530352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5"/>
          <p:cNvSpPr/>
          <p:nvPr/>
        </p:nvSpPr>
        <p:spPr>
          <a:xfrm>
            <a:off x="320040" y="5379720"/>
            <a:ext cx="5943600" cy="801624"/>
          </a:xfrm>
          <a:prstGeom prst="roundRect">
            <a:avLst>
              <a:gd name="adj" fmla="val 8772"/>
            </a:avLst>
          </a:prstGeom>
          <a:solidFill>
            <a:srgbClr val="EDF2F7"/>
          </a:solidFill>
          <a:ln/>
        </p:spPr>
        <p:txBody>
          <a:bodyPr/>
          <a:lstStyle/>
          <a:p>
            <a:endParaRPr lang="en-US"/>
          </a:p>
        </p:txBody>
      </p:sp>
      <p:sp>
        <p:nvSpPr>
          <p:cNvPr id="10" name="Text 6"/>
          <p:cNvSpPr/>
          <p:nvPr/>
        </p:nvSpPr>
        <p:spPr>
          <a:xfrm>
            <a:off x="457200" y="5300756"/>
            <a:ext cx="5638800" cy="914400"/>
          </a:xfrm>
          <a:prstGeom prst="rect">
            <a:avLst/>
          </a:prstGeom>
          <a:noFill/>
          <a:ln/>
        </p:spPr>
        <p:txBody>
          <a:bodyPr wrap="square" rtlCol="0" anchor="ctr"/>
          <a:lstStyle/>
          <a:p>
            <a:pPr marL="0" indent="0">
              <a:buNone/>
            </a:pPr>
            <a:r>
              <a:rPr lang="en-US" sz="950" b="1" dirty="0">
                <a:solidFill>
                  <a:srgbClr val="EA580C"/>
                </a:solidFill>
                <a:latin typeface="Calibri" pitchFamily="34" charset="0"/>
                <a:ea typeface="Calibri" pitchFamily="34" charset="-122"/>
                <a:cs typeface="Calibri" pitchFamily="34" charset="-120"/>
              </a:rPr>
              <a:t>⚠ Hyper-concentration : </a:t>
            </a:r>
          </a:p>
          <a:p>
            <a:pPr marL="0" indent="0">
              <a:buNone/>
            </a:pPr>
            <a:r>
              <a:rPr lang="en-US" sz="950" dirty="0">
                <a:solidFill>
                  <a:srgbClr val="0A2240"/>
                </a:solidFill>
                <a:latin typeface="Calibri" pitchFamily="34" charset="0"/>
                <a:ea typeface="Calibri" pitchFamily="34" charset="-122"/>
                <a:cs typeface="Calibri" pitchFamily="34" charset="-120"/>
              </a:rPr>
              <a:t>K1 Mining (26,5%) + PROSUMA (23,1%) = 49,6% du volume AGL aérien sur 2 clients. Risque élevé.
</a:t>
            </a:r>
            <a:r>
              <a:rPr lang="en-US" sz="950" dirty="0">
                <a:solidFill>
                  <a:srgbClr val="16A34A"/>
                </a:solidFill>
                <a:latin typeface="Calibri" pitchFamily="34" charset="0"/>
                <a:ea typeface="Calibri" pitchFamily="34" charset="-122"/>
                <a:cs typeface="Calibri" pitchFamily="34" charset="-120"/>
              </a:rPr>
              <a:t>✓ Télécoms (Orange + MTN) : 70 129 kg – Secteur en forte croissance. Contrats cadres 2026/2027 à signer.
</a:t>
            </a:r>
            <a:r>
              <a:rPr lang="en-US" sz="950" dirty="0">
                <a:solidFill>
                  <a:srgbClr val="1E40AF"/>
                </a:solidFill>
                <a:latin typeface="Calibri" pitchFamily="34" charset="0"/>
                <a:ea typeface="Calibri" pitchFamily="34" charset="-122"/>
                <a:cs typeface="Calibri" pitchFamily="34" charset="-120"/>
              </a:rPr>
              <a:t>▶ Nestlé + SIFAAP = 63 168 kg (filière agro-alim). Ubipharm = pont TIM/AER. Développer offre multi-métiers.</a:t>
            </a:r>
            <a:endParaRPr lang="en-US" sz="950" dirty="0"/>
          </a:p>
        </p:txBody>
      </p:sp>
      <p:sp>
        <p:nvSpPr>
          <p:cNvPr id="11" name="Shape 7"/>
          <p:cNvSpPr/>
          <p:nvPr/>
        </p:nvSpPr>
        <p:spPr>
          <a:xfrm>
            <a:off x="365760" y="6565392"/>
            <a:ext cx="11430000" cy="0"/>
          </a:xfrm>
          <a:prstGeom prst="line">
            <a:avLst/>
          </a:prstGeom>
          <a:noFill/>
          <a:ln w="6350">
            <a:solidFill>
              <a:srgbClr val="CBD5E1"/>
            </a:solidFill>
            <a:prstDash val="solid"/>
          </a:ln>
        </p:spPr>
        <p:txBody>
          <a:bodyPr/>
          <a:lstStyle/>
          <a:p>
            <a:endParaRPr lang="en-US"/>
          </a:p>
        </p:txBody>
      </p:sp>
      <p:sp>
        <p:nvSpPr>
          <p:cNvPr id="12" name="Text 8"/>
          <p:cNvSpPr/>
          <p:nvPr/>
        </p:nvSpPr>
        <p:spPr>
          <a:xfrm>
            <a:off x="365760" y="6601968"/>
            <a:ext cx="11430000" cy="201168"/>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Africa Global Logistics – Étude de Marché Jan–Mai 2026  |  p.19</a:t>
            </a:r>
            <a:endParaRPr lang="en-US" sz="850" dirty="0"/>
          </a:p>
        </p:txBody>
      </p:sp>
      <p:pic>
        <p:nvPicPr>
          <p:cNvPr id="13" name="Image 12" descr="Une image contenant texte, Police, Graphique, logo  Description générée automatiquement">
            <a:extLst>
              <a:ext uri="{FF2B5EF4-FFF2-40B4-BE49-F238E27FC236}">
                <a16:creationId xmlns:a16="http://schemas.microsoft.com/office/drawing/2014/main" id="{41CF6724-DC6F-AFE0-0E6E-0D121062A809}"/>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1488450" y="6549898"/>
            <a:ext cx="450027" cy="29240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A2240"/>
          </a:solidFill>
          <a:ln w="12700">
            <a:solidFill>
              <a:srgbClr val="0A2240"/>
            </a:solidFill>
            <a:prstDash val="solid"/>
          </a:ln>
        </p:spPr>
        <p:txBody>
          <a:bodyPr/>
          <a:lstStyle/>
          <a:p>
            <a:endParaRPr lang="en-US"/>
          </a:p>
        </p:txBody>
      </p:sp>
      <p:sp>
        <p:nvSpPr>
          <p:cNvPr id="3" name="Shape 1"/>
          <p:cNvSpPr/>
          <p:nvPr/>
        </p:nvSpPr>
        <p:spPr>
          <a:xfrm>
            <a:off x="4389120" y="3246120"/>
            <a:ext cx="3383280" cy="64008"/>
          </a:xfrm>
          <a:prstGeom prst="rect">
            <a:avLst/>
          </a:prstGeom>
          <a:solidFill>
            <a:srgbClr val="C8A951"/>
          </a:solidFill>
          <a:ln w="12700">
            <a:solidFill>
              <a:srgbClr val="C8A951"/>
            </a:solidFill>
            <a:prstDash val="solid"/>
          </a:ln>
        </p:spPr>
        <p:txBody>
          <a:bodyPr/>
          <a:lstStyle/>
          <a:p>
            <a:endParaRPr lang="en-US"/>
          </a:p>
        </p:txBody>
      </p:sp>
      <p:sp>
        <p:nvSpPr>
          <p:cNvPr id="4" name="Text 2"/>
          <p:cNvSpPr/>
          <p:nvPr/>
        </p:nvSpPr>
        <p:spPr>
          <a:xfrm>
            <a:off x="0" y="1645920"/>
            <a:ext cx="12161520" cy="1371600"/>
          </a:xfrm>
          <a:prstGeom prst="rect">
            <a:avLst/>
          </a:prstGeom>
          <a:noFill/>
          <a:ln/>
        </p:spPr>
        <p:txBody>
          <a:bodyPr wrap="square" rtlCol="0" anchor="ctr"/>
          <a:lstStyle/>
          <a:p>
            <a:pPr marL="0" indent="0" algn="ctr">
              <a:buNone/>
            </a:pPr>
            <a:r>
              <a:rPr lang="en-US" sz="11000" b="1" dirty="0">
                <a:solidFill>
                  <a:srgbClr val="FFFFFF">
                    <a:alpha val="12000"/>
                  </a:srgbClr>
                </a:solidFill>
                <a:latin typeface="Calibri" pitchFamily="34" charset="0"/>
                <a:ea typeface="Calibri" pitchFamily="34" charset="-122"/>
                <a:cs typeface="Calibri" pitchFamily="34" charset="-120"/>
              </a:rPr>
              <a:t>06</a:t>
            </a:r>
            <a:endParaRPr lang="en-US" sz="11000" dirty="0"/>
          </a:p>
        </p:txBody>
      </p:sp>
      <p:sp>
        <p:nvSpPr>
          <p:cNvPr id="5" name="Text 3"/>
          <p:cNvSpPr/>
          <p:nvPr/>
        </p:nvSpPr>
        <p:spPr>
          <a:xfrm>
            <a:off x="1371600" y="2651760"/>
            <a:ext cx="9418320" cy="822960"/>
          </a:xfrm>
          <a:prstGeom prst="rect">
            <a:avLst/>
          </a:prstGeom>
          <a:noFill/>
          <a:ln/>
        </p:spPr>
        <p:txBody>
          <a:bodyPr wrap="square" rtlCol="0" anchor="ctr"/>
          <a:lstStyle/>
          <a:p>
            <a:pPr marL="0" indent="0" algn="ctr">
              <a:buNone/>
            </a:pPr>
            <a:r>
              <a:rPr lang="en-US" sz="3400" b="1" dirty="0">
                <a:solidFill>
                  <a:srgbClr val="FFFFFF"/>
                </a:solidFill>
                <a:latin typeface="Calibri" pitchFamily="34" charset="0"/>
                <a:ea typeface="Calibri" pitchFamily="34" charset="-122"/>
                <a:cs typeface="Calibri" pitchFamily="34" charset="-120"/>
              </a:rPr>
              <a:t>ACTIONS STRATÉGIQUES PRIORITAIRES</a:t>
            </a:r>
            <a:endParaRPr lang="en-US" sz="3400" dirty="0"/>
          </a:p>
        </p:txBody>
      </p:sp>
      <p:sp>
        <p:nvSpPr>
          <p:cNvPr id="6" name="Text 4"/>
          <p:cNvSpPr/>
          <p:nvPr/>
        </p:nvSpPr>
        <p:spPr>
          <a:xfrm>
            <a:off x="1371600" y="3520440"/>
            <a:ext cx="9418320" cy="457200"/>
          </a:xfrm>
          <a:prstGeom prst="rect">
            <a:avLst/>
          </a:prstGeom>
          <a:noFill/>
          <a:ln/>
        </p:spPr>
        <p:txBody>
          <a:bodyPr wrap="square" rtlCol="0" anchor="ctr"/>
          <a:lstStyle/>
          <a:p>
            <a:pPr marL="0" indent="0" algn="ctr">
              <a:buNone/>
            </a:pPr>
            <a:r>
              <a:rPr lang="en-US" sz="1400" i="1" dirty="0">
                <a:solidFill>
                  <a:srgbClr val="C8A951"/>
                </a:solidFill>
                <a:latin typeface="Calibri" pitchFamily="34" charset="0"/>
                <a:ea typeface="Calibri" pitchFamily="34" charset="-122"/>
                <a:cs typeface="Calibri" pitchFamily="34" charset="-120"/>
              </a:rPr>
              <a:t>Synthèse transversale  |  6 axes  |  Horizon 12 mois</a:t>
            </a:r>
            <a:endParaRPr lang="en-US" sz="1400" dirty="0"/>
          </a:p>
        </p:txBody>
      </p:sp>
      <p:sp>
        <p:nvSpPr>
          <p:cNvPr id="7" name="Text 5"/>
          <p:cNvSpPr/>
          <p:nvPr/>
        </p:nvSpPr>
        <p:spPr>
          <a:xfrm>
            <a:off x="0" y="6263640"/>
            <a:ext cx="12161520" cy="347472"/>
          </a:xfrm>
          <a:prstGeom prst="rect">
            <a:avLst/>
          </a:prstGeom>
          <a:noFill/>
          <a:ln/>
        </p:spPr>
        <p:txBody>
          <a:bodyPr wrap="square" rtlCol="0" anchor="ctr"/>
          <a:lstStyle/>
          <a:p>
            <a:pPr marL="0" indent="0" algn="ctr">
              <a:buNone/>
            </a:pPr>
            <a:r>
              <a:rPr lang="en-US" sz="1000" dirty="0">
                <a:solidFill>
                  <a:srgbClr val="C8A951"/>
                </a:solidFill>
                <a:latin typeface="Calibri" pitchFamily="34" charset="0"/>
                <a:ea typeface="Calibri" pitchFamily="34" charset="-122"/>
                <a:cs typeface="Calibri" pitchFamily="34" charset="-120"/>
              </a:rPr>
              <a:t>Africa Global Logistics – Étude de Marché Jan–Mai 2026</a:t>
            </a:r>
            <a:endParaRPr lang="en-US" sz="1000" dirty="0"/>
          </a:p>
        </p:txBody>
      </p:sp>
      <p:pic>
        <p:nvPicPr>
          <p:cNvPr id="8" name="Image 7" descr="Une image contenant texte, Police, Graphique, logo  Description générée automatiquement">
            <a:extLst>
              <a:ext uri="{FF2B5EF4-FFF2-40B4-BE49-F238E27FC236}">
                <a16:creationId xmlns:a16="http://schemas.microsoft.com/office/drawing/2014/main" id="{5A9A1494-AD51-0A7C-5FA0-875795DC763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1369762" y="6214669"/>
            <a:ext cx="608878" cy="395624"/>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0A2240"/>
          </a:solidFill>
          <a:ln w="12700">
            <a:solidFill>
              <a:srgbClr val="0A2240"/>
            </a:solidFill>
            <a:prstDash val="solid"/>
          </a:ln>
        </p:spPr>
        <p:txBody>
          <a:bodyPr/>
          <a:lstStyle/>
          <a:p>
            <a:endParaRPr lang="en-US"/>
          </a:p>
        </p:txBody>
      </p:sp>
      <p:sp>
        <p:nvSpPr>
          <p:cNvPr id="3" name="Text 1"/>
          <p:cNvSpPr/>
          <p:nvPr/>
        </p:nvSpPr>
        <p:spPr>
          <a:xfrm>
            <a:off x="365760" y="172339"/>
            <a:ext cx="11430000" cy="65836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SYNTHÈSE – PARTS DE MARCHÉ AGL PAR MÉTIER</a:t>
            </a:r>
            <a:endParaRPr lang="en-US" sz="2400" dirty="0"/>
          </a:p>
        </p:txBody>
      </p:sp>
      <p:sp>
        <p:nvSpPr>
          <p:cNvPr id="5" name="Shape 3"/>
          <p:cNvSpPr/>
          <p:nvPr/>
        </p:nvSpPr>
        <p:spPr>
          <a:xfrm>
            <a:off x="320040" y="1188720"/>
            <a:ext cx="11521440" cy="914400"/>
          </a:xfrm>
          <a:prstGeom prst="roundRect">
            <a:avLst>
              <a:gd name="adj" fmla="val 8000"/>
            </a:avLst>
          </a:prstGeom>
          <a:solidFill>
            <a:srgbClr val="EDF2F7"/>
          </a:solidFill>
          <a:ln/>
          <a:effectLst>
            <a:outerShdw blurRad="63500" dist="25400" dir="2700000" algn="bl" rotWithShape="0">
              <a:srgbClr val="000000">
                <a:alpha val="10000"/>
              </a:srgbClr>
            </a:outerShdw>
          </a:effectLst>
        </p:spPr>
        <p:txBody>
          <a:bodyPr/>
          <a:lstStyle/>
          <a:p>
            <a:endParaRPr lang="en-US"/>
          </a:p>
        </p:txBody>
      </p:sp>
      <p:sp>
        <p:nvSpPr>
          <p:cNvPr id="6" name="Text 4"/>
          <p:cNvSpPr/>
          <p:nvPr/>
        </p:nvSpPr>
        <p:spPr>
          <a:xfrm>
            <a:off x="502920" y="1225296"/>
            <a:ext cx="2743200" cy="365760"/>
          </a:xfrm>
          <a:prstGeom prst="rect">
            <a:avLst/>
          </a:prstGeom>
          <a:noFill/>
          <a:ln/>
        </p:spPr>
        <p:txBody>
          <a:bodyPr wrap="square" rtlCol="0" anchor="ctr"/>
          <a:lstStyle/>
          <a:p>
            <a:pPr marL="0" indent="0">
              <a:buNone/>
            </a:pPr>
            <a:r>
              <a:rPr lang="en-US" sz="1200" b="1" dirty="0">
                <a:solidFill>
                  <a:srgbClr val="0A2240"/>
                </a:solidFill>
                <a:latin typeface="Calibri" pitchFamily="34" charset="0"/>
                <a:ea typeface="Calibri" pitchFamily="34" charset="-122"/>
                <a:cs typeface="Calibri" pitchFamily="34" charset="-120"/>
              </a:rPr>
              <a:t>HINTERLAND EXPORT</a:t>
            </a:r>
            <a:endParaRPr lang="en-US" sz="1200" dirty="0"/>
          </a:p>
        </p:txBody>
      </p:sp>
      <p:sp>
        <p:nvSpPr>
          <p:cNvPr id="7" name="Text 5"/>
          <p:cNvSpPr/>
          <p:nvPr/>
        </p:nvSpPr>
        <p:spPr>
          <a:xfrm>
            <a:off x="502920" y="1645920"/>
            <a:ext cx="27432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4 294 TEU  |  AGL : 2 840 TEU</a:t>
            </a:r>
            <a:endParaRPr lang="en-US" sz="900" dirty="0"/>
          </a:p>
        </p:txBody>
      </p:sp>
      <p:sp>
        <p:nvSpPr>
          <p:cNvPr id="8" name="Shape 6"/>
          <p:cNvSpPr/>
          <p:nvPr/>
        </p:nvSpPr>
        <p:spPr>
          <a:xfrm>
            <a:off x="3383280" y="1444752"/>
            <a:ext cx="5486400" cy="329184"/>
          </a:xfrm>
          <a:prstGeom prst="rect">
            <a:avLst/>
          </a:prstGeom>
          <a:solidFill>
            <a:srgbClr val="DBEAFE"/>
          </a:solidFill>
          <a:ln w="12700">
            <a:solidFill>
              <a:srgbClr val="DBEAFE"/>
            </a:solidFill>
            <a:prstDash val="solid"/>
          </a:ln>
        </p:spPr>
        <p:txBody>
          <a:bodyPr/>
          <a:lstStyle/>
          <a:p>
            <a:endParaRPr lang="en-US"/>
          </a:p>
        </p:txBody>
      </p:sp>
      <p:sp>
        <p:nvSpPr>
          <p:cNvPr id="9" name="Shape 7"/>
          <p:cNvSpPr/>
          <p:nvPr/>
        </p:nvSpPr>
        <p:spPr>
          <a:xfrm>
            <a:off x="3383280" y="1444752"/>
            <a:ext cx="4835347" cy="329184"/>
          </a:xfrm>
          <a:prstGeom prst="rect">
            <a:avLst/>
          </a:prstGeom>
          <a:solidFill>
            <a:srgbClr val="16A34A"/>
          </a:solidFill>
          <a:ln w="12700">
            <a:solidFill>
              <a:srgbClr val="16A34A"/>
            </a:solidFill>
            <a:prstDash val="solid"/>
          </a:ln>
        </p:spPr>
        <p:txBody>
          <a:bodyPr/>
          <a:lstStyle/>
          <a:p>
            <a:endParaRPr lang="en-US"/>
          </a:p>
        </p:txBody>
      </p:sp>
      <p:sp>
        <p:nvSpPr>
          <p:cNvPr id="10" name="Text 8"/>
          <p:cNvSpPr/>
          <p:nvPr/>
        </p:nvSpPr>
        <p:spPr>
          <a:xfrm>
            <a:off x="8291779" y="1371600"/>
            <a:ext cx="1188720" cy="502920"/>
          </a:xfrm>
          <a:prstGeom prst="rect">
            <a:avLst/>
          </a:prstGeom>
          <a:noFill/>
          <a:ln/>
        </p:spPr>
        <p:txBody>
          <a:bodyPr wrap="square" rtlCol="0" anchor="ctr"/>
          <a:lstStyle/>
          <a:p>
            <a:pPr marL="0" indent="0">
              <a:buNone/>
            </a:pPr>
            <a:r>
              <a:rPr lang="en-US" sz="1600" b="1" dirty="0">
                <a:solidFill>
                  <a:srgbClr val="16A34A"/>
                </a:solidFill>
                <a:latin typeface="Calibri" pitchFamily="34" charset="0"/>
                <a:ea typeface="Calibri" pitchFamily="34" charset="-122"/>
                <a:cs typeface="Calibri" pitchFamily="34" charset="-120"/>
              </a:rPr>
              <a:t>66.1 %</a:t>
            </a:r>
            <a:endParaRPr lang="en-US" sz="1600" dirty="0"/>
          </a:p>
        </p:txBody>
      </p:sp>
      <p:sp>
        <p:nvSpPr>
          <p:cNvPr id="11" name="Text 9"/>
          <p:cNvSpPr/>
          <p:nvPr/>
        </p:nvSpPr>
        <p:spPr>
          <a:xfrm>
            <a:off x="9921240" y="1225296"/>
            <a:ext cx="1737360" cy="347472"/>
          </a:xfrm>
          <a:prstGeom prst="rect">
            <a:avLst/>
          </a:prstGeom>
          <a:noFill/>
          <a:ln/>
        </p:spPr>
        <p:txBody>
          <a:bodyPr wrap="square" rtlCol="0" anchor="ctr"/>
          <a:lstStyle/>
          <a:p>
            <a:pPr marL="0" indent="0" algn="ctr">
              <a:buNone/>
            </a:pPr>
            <a:r>
              <a:rPr lang="en-US" sz="950" b="1" dirty="0">
                <a:solidFill>
                  <a:srgbClr val="16A34A"/>
                </a:solidFill>
                <a:latin typeface="Calibri" pitchFamily="34" charset="0"/>
                <a:ea typeface="Calibri" pitchFamily="34" charset="-122"/>
                <a:cs typeface="Calibri" pitchFamily="34" charset="-120"/>
              </a:rPr>
              <a:t>#1 ABSOLU</a:t>
            </a:r>
            <a:endParaRPr lang="en-US" sz="950" dirty="0"/>
          </a:p>
        </p:txBody>
      </p:sp>
      <p:sp>
        <p:nvSpPr>
          <p:cNvPr id="12" name="Shape 10"/>
          <p:cNvSpPr/>
          <p:nvPr/>
        </p:nvSpPr>
        <p:spPr>
          <a:xfrm>
            <a:off x="9921240" y="1645920"/>
            <a:ext cx="1737360" cy="329184"/>
          </a:xfrm>
          <a:prstGeom prst="roundRect">
            <a:avLst>
              <a:gd name="adj" fmla="val 13889"/>
            </a:avLst>
          </a:prstGeom>
          <a:solidFill>
            <a:srgbClr val="16A34A"/>
          </a:solidFill>
          <a:ln/>
        </p:spPr>
        <p:txBody>
          <a:bodyPr/>
          <a:lstStyle/>
          <a:p>
            <a:endParaRPr lang="en-US"/>
          </a:p>
        </p:txBody>
      </p:sp>
      <p:sp>
        <p:nvSpPr>
          <p:cNvPr id="13" name="Text 11"/>
          <p:cNvSpPr/>
          <p:nvPr/>
        </p:nvSpPr>
        <p:spPr>
          <a:xfrm>
            <a:off x="9921240" y="1645920"/>
            <a:ext cx="1737360" cy="32918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LEADER</a:t>
            </a:r>
            <a:endParaRPr lang="en-US" sz="900" dirty="0"/>
          </a:p>
        </p:txBody>
      </p:sp>
      <p:sp>
        <p:nvSpPr>
          <p:cNvPr id="14" name="Shape 12"/>
          <p:cNvSpPr/>
          <p:nvPr/>
        </p:nvSpPr>
        <p:spPr>
          <a:xfrm>
            <a:off x="320040" y="2194560"/>
            <a:ext cx="11521440" cy="914400"/>
          </a:xfrm>
          <a:prstGeom prst="roundRect">
            <a:avLst>
              <a:gd name="adj" fmla="val 8000"/>
            </a:avLst>
          </a:prstGeom>
          <a:solidFill>
            <a:srgbClr val="EDF2F7"/>
          </a:solidFill>
          <a:ln/>
          <a:effectLst>
            <a:outerShdw blurRad="63500" dist="25400" dir="2700000" algn="bl" rotWithShape="0">
              <a:srgbClr val="000000">
                <a:alpha val="10000"/>
              </a:srgbClr>
            </a:outerShdw>
          </a:effectLst>
        </p:spPr>
        <p:txBody>
          <a:bodyPr/>
          <a:lstStyle/>
          <a:p>
            <a:endParaRPr lang="en-US"/>
          </a:p>
        </p:txBody>
      </p:sp>
      <p:sp>
        <p:nvSpPr>
          <p:cNvPr id="15" name="Text 13"/>
          <p:cNvSpPr/>
          <p:nvPr/>
        </p:nvSpPr>
        <p:spPr>
          <a:xfrm>
            <a:off x="502920" y="2231136"/>
            <a:ext cx="2743200" cy="365760"/>
          </a:xfrm>
          <a:prstGeom prst="rect">
            <a:avLst/>
          </a:prstGeom>
          <a:noFill/>
          <a:ln/>
        </p:spPr>
        <p:txBody>
          <a:bodyPr wrap="square" rtlCol="0" anchor="ctr"/>
          <a:lstStyle/>
          <a:p>
            <a:pPr marL="0" indent="0">
              <a:buNone/>
            </a:pPr>
            <a:r>
              <a:rPr lang="en-US" sz="1200" b="1" dirty="0">
                <a:solidFill>
                  <a:srgbClr val="0A2240"/>
                </a:solidFill>
                <a:latin typeface="Calibri" pitchFamily="34" charset="0"/>
                <a:ea typeface="Calibri" pitchFamily="34" charset="-122"/>
                <a:cs typeface="Calibri" pitchFamily="34" charset="-120"/>
              </a:rPr>
              <a:t>TRANSIT EXPORT MAR.</a:t>
            </a:r>
            <a:endParaRPr lang="en-US" sz="1200" dirty="0"/>
          </a:p>
        </p:txBody>
      </p:sp>
      <p:sp>
        <p:nvSpPr>
          <p:cNvPr id="16" name="Text 14"/>
          <p:cNvSpPr/>
          <p:nvPr/>
        </p:nvSpPr>
        <p:spPr>
          <a:xfrm>
            <a:off x="502920" y="2651760"/>
            <a:ext cx="27432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137 283 TEU  |  AGL : 35 972 TEU</a:t>
            </a:r>
            <a:endParaRPr lang="en-US" sz="900" dirty="0"/>
          </a:p>
        </p:txBody>
      </p:sp>
      <p:sp>
        <p:nvSpPr>
          <p:cNvPr id="17" name="Shape 15"/>
          <p:cNvSpPr/>
          <p:nvPr/>
        </p:nvSpPr>
        <p:spPr>
          <a:xfrm>
            <a:off x="3383280" y="2450592"/>
            <a:ext cx="5486400" cy="329184"/>
          </a:xfrm>
          <a:prstGeom prst="rect">
            <a:avLst/>
          </a:prstGeom>
          <a:solidFill>
            <a:srgbClr val="DBEAFE"/>
          </a:solidFill>
          <a:ln w="12700">
            <a:solidFill>
              <a:srgbClr val="DBEAFE"/>
            </a:solidFill>
            <a:prstDash val="solid"/>
          </a:ln>
        </p:spPr>
        <p:txBody>
          <a:bodyPr/>
          <a:lstStyle/>
          <a:p>
            <a:endParaRPr lang="en-US"/>
          </a:p>
        </p:txBody>
      </p:sp>
      <p:sp>
        <p:nvSpPr>
          <p:cNvPr id="18" name="Shape 16"/>
          <p:cNvSpPr/>
          <p:nvPr/>
        </p:nvSpPr>
        <p:spPr>
          <a:xfrm>
            <a:off x="3383280" y="2450592"/>
            <a:ext cx="1916582" cy="329184"/>
          </a:xfrm>
          <a:prstGeom prst="rect">
            <a:avLst/>
          </a:prstGeom>
          <a:solidFill>
            <a:srgbClr val="16A34A"/>
          </a:solidFill>
          <a:ln w="12700">
            <a:solidFill>
              <a:srgbClr val="16A34A"/>
            </a:solidFill>
            <a:prstDash val="solid"/>
          </a:ln>
        </p:spPr>
        <p:txBody>
          <a:bodyPr/>
          <a:lstStyle/>
          <a:p>
            <a:endParaRPr lang="en-US"/>
          </a:p>
        </p:txBody>
      </p:sp>
      <p:sp>
        <p:nvSpPr>
          <p:cNvPr id="19" name="Text 17"/>
          <p:cNvSpPr/>
          <p:nvPr/>
        </p:nvSpPr>
        <p:spPr>
          <a:xfrm>
            <a:off x="5373014" y="2377440"/>
            <a:ext cx="1188720" cy="502920"/>
          </a:xfrm>
          <a:prstGeom prst="rect">
            <a:avLst/>
          </a:prstGeom>
          <a:noFill/>
          <a:ln/>
        </p:spPr>
        <p:txBody>
          <a:bodyPr wrap="square" rtlCol="0" anchor="ctr"/>
          <a:lstStyle/>
          <a:p>
            <a:pPr marL="0" indent="0">
              <a:buNone/>
            </a:pPr>
            <a:r>
              <a:rPr lang="en-US" sz="1600" b="1" dirty="0">
                <a:solidFill>
                  <a:srgbClr val="16A34A"/>
                </a:solidFill>
                <a:latin typeface="Calibri" pitchFamily="34" charset="0"/>
                <a:ea typeface="Calibri" pitchFamily="34" charset="-122"/>
                <a:cs typeface="Calibri" pitchFamily="34" charset="-120"/>
              </a:rPr>
              <a:t>26.2 %</a:t>
            </a:r>
            <a:endParaRPr lang="en-US" sz="1600" dirty="0"/>
          </a:p>
        </p:txBody>
      </p:sp>
      <p:sp>
        <p:nvSpPr>
          <p:cNvPr id="20" name="Text 18"/>
          <p:cNvSpPr/>
          <p:nvPr/>
        </p:nvSpPr>
        <p:spPr>
          <a:xfrm>
            <a:off x="9921240" y="2231136"/>
            <a:ext cx="1737360" cy="347472"/>
          </a:xfrm>
          <a:prstGeom prst="rect">
            <a:avLst/>
          </a:prstGeom>
          <a:noFill/>
          <a:ln/>
        </p:spPr>
        <p:txBody>
          <a:bodyPr wrap="square" rtlCol="0" anchor="ctr"/>
          <a:lstStyle/>
          <a:p>
            <a:pPr marL="0" indent="0" algn="ctr">
              <a:buNone/>
            </a:pPr>
            <a:r>
              <a:rPr lang="en-US" sz="950" b="1" dirty="0">
                <a:solidFill>
                  <a:srgbClr val="16A34A"/>
                </a:solidFill>
                <a:latin typeface="Calibri" pitchFamily="34" charset="0"/>
                <a:ea typeface="Calibri" pitchFamily="34" charset="-122"/>
                <a:cs typeface="Calibri" pitchFamily="34" charset="-120"/>
              </a:rPr>
              <a:t>#1 – ×4,7 le 2ème</a:t>
            </a:r>
            <a:endParaRPr lang="en-US" sz="950" dirty="0"/>
          </a:p>
        </p:txBody>
      </p:sp>
      <p:sp>
        <p:nvSpPr>
          <p:cNvPr id="21" name="Shape 19"/>
          <p:cNvSpPr/>
          <p:nvPr/>
        </p:nvSpPr>
        <p:spPr>
          <a:xfrm>
            <a:off x="9921240" y="2651760"/>
            <a:ext cx="1737360" cy="329184"/>
          </a:xfrm>
          <a:prstGeom prst="roundRect">
            <a:avLst>
              <a:gd name="adj" fmla="val 13889"/>
            </a:avLst>
          </a:prstGeom>
          <a:solidFill>
            <a:srgbClr val="16A34A"/>
          </a:solidFill>
          <a:ln/>
        </p:spPr>
        <p:txBody>
          <a:bodyPr/>
          <a:lstStyle/>
          <a:p>
            <a:endParaRPr lang="en-US"/>
          </a:p>
        </p:txBody>
      </p:sp>
      <p:sp>
        <p:nvSpPr>
          <p:cNvPr id="22" name="Text 20"/>
          <p:cNvSpPr/>
          <p:nvPr/>
        </p:nvSpPr>
        <p:spPr>
          <a:xfrm>
            <a:off x="9921240" y="2651760"/>
            <a:ext cx="1737360" cy="32918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DOMINANT</a:t>
            </a:r>
            <a:endParaRPr lang="en-US" sz="900" dirty="0"/>
          </a:p>
        </p:txBody>
      </p:sp>
      <p:sp>
        <p:nvSpPr>
          <p:cNvPr id="23" name="Shape 21"/>
          <p:cNvSpPr/>
          <p:nvPr/>
        </p:nvSpPr>
        <p:spPr>
          <a:xfrm>
            <a:off x="320040" y="3200400"/>
            <a:ext cx="11521440" cy="914400"/>
          </a:xfrm>
          <a:prstGeom prst="roundRect">
            <a:avLst>
              <a:gd name="adj" fmla="val 8000"/>
            </a:avLst>
          </a:prstGeom>
          <a:solidFill>
            <a:srgbClr val="EDF2F7"/>
          </a:solidFill>
          <a:ln/>
          <a:effectLst>
            <a:outerShdw blurRad="63500" dist="25400" dir="2700000" algn="bl" rotWithShape="0">
              <a:srgbClr val="000000">
                <a:alpha val="10000"/>
              </a:srgbClr>
            </a:outerShdw>
          </a:effectLst>
        </p:spPr>
        <p:txBody>
          <a:bodyPr/>
          <a:lstStyle/>
          <a:p>
            <a:endParaRPr lang="en-US"/>
          </a:p>
        </p:txBody>
      </p:sp>
      <p:sp>
        <p:nvSpPr>
          <p:cNvPr id="24" name="Text 22"/>
          <p:cNvSpPr/>
          <p:nvPr/>
        </p:nvSpPr>
        <p:spPr>
          <a:xfrm>
            <a:off x="502920" y="3236976"/>
            <a:ext cx="2743200" cy="365760"/>
          </a:xfrm>
          <a:prstGeom prst="rect">
            <a:avLst/>
          </a:prstGeom>
          <a:noFill/>
          <a:ln/>
        </p:spPr>
        <p:txBody>
          <a:bodyPr wrap="square" rtlCol="0" anchor="ctr"/>
          <a:lstStyle/>
          <a:p>
            <a:pPr marL="0" indent="0">
              <a:buNone/>
            </a:pPr>
            <a:r>
              <a:rPr lang="en-US" sz="1200" b="1" dirty="0">
                <a:solidFill>
                  <a:srgbClr val="0A2240"/>
                </a:solidFill>
                <a:latin typeface="Calibri" pitchFamily="34" charset="0"/>
                <a:ea typeface="Calibri" pitchFamily="34" charset="-122"/>
                <a:cs typeface="Calibri" pitchFamily="34" charset="-120"/>
              </a:rPr>
              <a:t>AÉRIEN IMPORT</a:t>
            </a:r>
            <a:endParaRPr lang="en-US" sz="1200" dirty="0"/>
          </a:p>
        </p:txBody>
      </p:sp>
      <p:sp>
        <p:nvSpPr>
          <p:cNvPr id="25" name="Text 23"/>
          <p:cNvSpPr/>
          <p:nvPr/>
        </p:nvSpPr>
        <p:spPr>
          <a:xfrm>
            <a:off x="502920" y="3657600"/>
            <a:ext cx="27432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5 603 T  |  AGL : 1 166 T</a:t>
            </a:r>
            <a:endParaRPr lang="en-US" sz="900" dirty="0"/>
          </a:p>
        </p:txBody>
      </p:sp>
      <p:sp>
        <p:nvSpPr>
          <p:cNvPr id="26" name="Shape 24"/>
          <p:cNvSpPr/>
          <p:nvPr/>
        </p:nvSpPr>
        <p:spPr>
          <a:xfrm>
            <a:off x="3383280" y="3456432"/>
            <a:ext cx="5486400" cy="329184"/>
          </a:xfrm>
          <a:prstGeom prst="rect">
            <a:avLst/>
          </a:prstGeom>
          <a:solidFill>
            <a:srgbClr val="DBEAFE"/>
          </a:solidFill>
          <a:ln w="12700">
            <a:solidFill>
              <a:srgbClr val="DBEAFE"/>
            </a:solidFill>
            <a:prstDash val="solid"/>
          </a:ln>
        </p:spPr>
        <p:txBody>
          <a:bodyPr/>
          <a:lstStyle/>
          <a:p>
            <a:endParaRPr lang="en-US"/>
          </a:p>
        </p:txBody>
      </p:sp>
      <p:sp>
        <p:nvSpPr>
          <p:cNvPr id="27" name="Shape 25"/>
          <p:cNvSpPr/>
          <p:nvPr/>
        </p:nvSpPr>
        <p:spPr>
          <a:xfrm>
            <a:off x="3383280" y="3456432"/>
            <a:ext cx="1521562" cy="329184"/>
          </a:xfrm>
          <a:prstGeom prst="rect">
            <a:avLst/>
          </a:prstGeom>
          <a:solidFill>
            <a:srgbClr val="16A34A"/>
          </a:solidFill>
          <a:ln w="12700">
            <a:solidFill>
              <a:srgbClr val="16A34A"/>
            </a:solidFill>
            <a:prstDash val="solid"/>
          </a:ln>
        </p:spPr>
        <p:txBody>
          <a:bodyPr/>
          <a:lstStyle/>
          <a:p>
            <a:endParaRPr lang="en-US"/>
          </a:p>
        </p:txBody>
      </p:sp>
      <p:sp>
        <p:nvSpPr>
          <p:cNvPr id="28" name="Text 26"/>
          <p:cNvSpPr/>
          <p:nvPr/>
        </p:nvSpPr>
        <p:spPr>
          <a:xfrm>
            <a:off x="4977994" y="3383280"/>
            <a:ext cx="1188720" cy="502920"/>
          </a:xfrm>
          <a:prstGeom prst="rect">
            <a:avLst/>
          </a:prstGeom>
          <a:noFill/>
          <a:ln/>
        </p:spPr>
        <p:txBody>
          <a:bodyPr wrap="square" rtlCol="0" anchor="ctr"/>
          <a:lstStyle/>
          <a:p>
            <a:pPr marL="0" indent="0">
              <a:buNone/>
            </a:pPr>
            <a:r>
              <a:rPr lang="en-US" sz="1600" b="1" dirty="0">
                <a:solidFill>
                  <a:srgbClr val="16A34A"/>
                </a:solidFill>
                <a:latin typeface="Calibri" pitchFamily="34" charset="0"/>
                <a:ea typeface="Calibri" pitchFamily="34" charset="-122"/>
                <a:cs typeface="Calibri" pitchFamily="34" charset="-120"/>
              </a:rPr>
              <a:t>20.8 %</a:t>
            </a:r>
            <a:endParaRPr lang="en-US" sz="1600" dirty="0"/>
          </a:p>
        </p:txBody>
      </p:sp>
      <p:sp>
        <p:nvSpPr>
          <p:cNvPr id="29" name="Text 27"/>
          <p:cNvSpPr/>
          <p:nvPr/>
        </p:nvSpPr>
        <p:spPr>
          <a:xfrm>
            <a:off x="9921240" y="3236976"/>
            <a:ext cx="1737360" cy="347472"/>
          </a:xfrm>
          <a:prstGeom prst="rect">
            <a:avLst/>
          </a:prstGeom>
          <a:noFill/>
          <a:ln/>
        </p:spPr>
        <p:txBody>
          <a:bodyPr wrap="square" rtlCol="0" anchor="ctr"/>
          <a:lstStyle/>
          <a:p>
            <a:pPr marL="0" indent="0" algn="ctr">
              <a:buNone/>
            </a:pPr>
            <a:r>
              <a:rPr lang="en-US" sz="950" b="1" dirty="0">
                <a:solidFill>
                  <a:srgbClr val="16A34A"/>
                </a:solidFill>
                <a:latin typeface="Calibri" pitchFamily="34" charset="0"/>
                <a:ea typeface="Calibri" pitchFamily="34" charset="-122"/>
                <a:cs typeface="Calibri" pitchFamily="34" charset="-120"/>
              </a:rPr>
              <a:t>#1 ABSOLU</a:t>
            </a:r>
            <a:endParaRPr lang="en-US" sz="950" dirty="0"/>
          </a:p>
        </p:txBody>
      </p:sp>
      <p:sp>
        <p:nvSpPr>
          <p:cNvPr id="30" name="Shape 28"/>
          <p:cNvSpPr/>
          <p:nvPr/>
        </p:nvSpPr>
        <p:spPr>
          <a:xfrm>
            <a:off x="9921240" y="3657600"/>
            <a:ext cx="1737360" cy="329184"/>
          </a:xfrm>
          <a:prstGeom prst="roundRect">
            <a:avLst>
              <a:gd name="adj" fmla="val 13889"/>
            </a:avLst>
          </a:prstGeom>
          <a:solidFill>
            <a:srgbClr val="16A34A"/>
          </a:solidFill>
          <a:ln/>
        </p:spPr>
        <p:txBody>
          <a:bodyPr/>
          <a:lstStyle/>
          <a:p>
            <a:endParaRPr lang="en-US"/>
          </a:p>
        </p:txBody>
      </p:sp>
      <p:sp>
        <p:nvSpPr>
          <p:cNvPr id="31" name="Text 29"/>
          <p:cNvSpPr/>
          <p:nvPr/>
        </p:nvSpPr>
        <p:spPr>
          <a:xfrm>
            <a:off x="9921240" y="3657600"/>
            <a:ext cx="1737360" cy="32918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EN HAUSSE</a:t>
            </a:r>
            <a:endParaRPr lang="en-US" sz="900" dirty="0"/>
          </a:p>
        </p:txBody>
      </p:sp>
      <p:sp>
        <p:nvSpPr>
          <p:cNvPr id="32" name="Shape 30"/>
          <p:cNvSpPr/>
          <p:nvPr/>
        </p:nvSpPr>
        <p:spPr>
          <a:xfrm>
            <a:off x="320040" y="4206240"/>
            <a:ext cx="11521440" cy="914400"/>
          </a:xfrm>
          <a:prstGeom prst="roundRect">
            <a:avLst>
              <a:gd name="adj" fmla="val 8000"/>
            </a:avLst>
          </a:prstGeom>
          <a:solidFill>
            <a:srgbClr val="EDF2F7"/>
          </a:solidFill>
          <a:ln/>
          <a:effectLst>
            <a:outerShdw blurRad="63500" dist="25400" dir="2700000" algn="bl" rotWithShape="0">
              <a:srgbClr val="000000">
                <a:alpha val="10000"/>
              </a:srgbClr>
            </a:outerShdw>
          </a:effectLst>
        </p:spPr>
        <p:txBody>
          <a:bodyPr/>
          <a:lstStyle/>
          <a:p>
            <a:endParaRPr lang="en-US"/>
          </a:p>
        </p:txBody>
      </p:sp>
      <p:sp>
        <p:nvSpPr>
          <p:cNvPr id="33" name="Text 31"/>
          <p:cNvSpPr/>
          <p:nvPr/>
        </p:nvSpPr>
        <p:spPr>
          <a:xfrm>
            <a:off x="502920" y="4242816"/>
            <a:ext cx="2743200" cy="365760"/>
          </a:xfrm>
          <a:prstGeom prst="rect">
            <a:avLst/>
          </a:prstGeom>
          <a:noFill/>
          <a:ln/>
        </p:spPr>
        <p:txBody>
          <a:bodyPr wrap="square" rtlCol="0" anchor="ctr"/>
          <a:lstStyle/>
          <a:p>
            <a:pPr marL="0" indent="0">
              <a:buNone/>
            </a:pPr>
            <a:r>
              <a:rPr lang="en-US" sz="1200" b="1" dirty="0">
                <a:solidFill>
                  <a:srgbClr val="0A2240"/>
                </a:solidFill>
                <a:latin typeface="Calibri" pitchFamily="34" charset="0"/>
                <a:ea typeface="Calibri" pitchFamily="34" charset="-122"/>
                <a:cs typeface="Calibri" pitchFamily="34" charset="-120"/>
              </a:rPr>
              <a:t>HINTERLAND IMPORT</a:t>
            </a:r>
            <a:endParaRPr lang="en-US" sz="1200" dirty="0"/>
          </a:p>
        </p:txBody>
      </p:sp>
      <p:sp>
        <p:nvSpPr>
          <p:cNvPr id="34" name="Text 32"/>
          <p:cNvSpPr/>
          <p:nvPr/>
        </p:nvSpPr>
        <p:spPr>
          <a:xfrm>
            <a:off x="502920" y="4663440"/>
            <a:ext cx="27432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28 457 TEU  |  AGL : 3 214 TEU</a:t>
            </a:r>
            <a:endParaRPr lang="en-US" sz="900" dirty="0"/>
          </a:p>
        </p:txBody>
      </p:sp>
      <p:sp>
        <p:nvSpPr>
          <p:cNvPr id="35" name="Shape 33"/>
          <p:cNvSpPr/>
          <p:nvPr/>
        </p:nvSpPr>
        <p:spPr>
          <a:xfrm>
            <a:off x="3383280" y="4462272"/>
            <a:ext cx="5486400" cy="329184"/>
          </a:xfrm>
          <a:prstGeom prst="rect">
            <a:avLst/>
          </a:prstGeom>
          <a:solidFill>
            <a:srgbClr val="DBEAFE"/>
          </a:solidFill>
          <a:ln w="12700">
            <a:solidFill>
              <a:srgbClr val="DBEAFE"/>
            </a:solidFill>
            <a:prstDash val="solid"/>
          </a:ln>
        </p:spPr>
        <p:txBody>
          <a:bodyPr/>
          <a:lstStyle/>
          <a:p>
            <a:endParaRPr lang="en-US"/>
          </a:p>
        </p:txBody>
      </p:sp>
      <p:sp>
        <p:nvSpPr>
          <p:cNvPr id="36" name="Shape 34"/>
          <p:cNvSpPr/>
          <p:nvPr/>
        </p:nvSpPr>
        <p:spPr>
          <a:xfrm>
            <a:off x="3383280" y="4462272"/>
            <a:ext cx="826618" cy="329184"/>
          </a:xfrm>
          <a:prstGeom prst="rect">
            <a:avLst/>
          </a:prstGeom>
          <a:solidFill>
            <a:srgbClr val="EA580C"/>
          </a:solidFill>
          <a:ln w="12700">
            <a:solidFill>
              <a:srgbClr val="EA580C"/>
            </a:solidFill>
            <a:prstDash val="solid"/>
          </a:ln>
        </p:spPr>
        <p:txBody>
          <a:bodyPr/>
          <a:lstStyle/>
          <a:p>
            <a:endParaRPr lang="en-US"/>
          </a:p>
        </p:txBody>
      </p:sp>
      <p:sp>
        <p:nvSpPr>
          <p:cNvPr id="37" name="Text 35"/>
          <p:cNvSpPr/>
          <p:nvPr/>
        </p:nvSpPr>
        <p:spPr>
          <a:xfrm>
            <a:off x="4283050" y="4389120"/>
            <a:ext cx="1188720" cy="502920"/>
          </a:xfrm>
          <a:prstGeom prst="rect">
            <a:avLst/>
          </a:prstGeom>
          <a:noFill/>
          <a:ln/>
        </p:spPr>
        <p:txBody>
          <a:bodyPr wrap="square" rtlCol="0" anchor="ctr"/>
          <a:lstStyle/>
          <a:p>
            <a:pPr marL="0" indent="0">
              <a:buNone/>
            </a:pPr>
            <a:r>
              <a:rPr lang="en-US" sz="1600" b="1" dirty="0">
                <a:solidFill>
                  <a:srgbClr val="EA580C"/>
                </a:solidFill>
                <a:latin typeface="Calibri" pitchFamily="34" charset="0"/>
                <a:ea typeface="Calibri" pitchFamily="34" charset="-122"/>
                <a:cs typeface="Calibri" pitchFamily="34" charset="-120"/>
              </a:rPr>
              <a:t>11.3 %</a:t>
            </a:r>
            <a:endParaRPr lang="en-US" sz="1600" dirty="0"/>
          </a:p>
        </p:txBody>
      </p:sp>
      <p:sp>
        <p:nvSpPr>
          <p:cNvPr id="38" name="Text 36"/>
          <p:cNvSpPr/>
          <p:nvPr/>
        </p:nvSpPr>
        <p:spPr>
          <a:xfrm>
            <a:off x="9921240" y="4242816"/>
            <a:ext cx="1737360" cy="347472"/>
          </a:xfrm>
          <a:prstGeom prst="rect">
            <a:avLst/>
          </a:prstGeom>
          <a:noFill/>
          <a:ln/>
        </p:spPr>
        <p:txBody>
          <a:bodyPr wrap="square" rtlCol="0" anchor="ctr"/>
          <a:lstStyle/>
          <a:p>
            <a:pPr marL="0" indent="0" algn="ctr">
              <a:buNone/>
            </a:pPr>
            <a:r>
              <a:rPr lang="en-US" sz="950" b="1" dirty="0">
                <a:solidFill>
                  <a:srgbClr val="EA580C"/>
                </a:solidFill>
                <a:latin typeface="Calibri" pitchFamily="34" charset="0"/>
                <a:ea typeface="Calibri" pitchFamily="34" charset="-122"/>
                <a:cs typeface="Calibri" pitchFamily="34" charset="-120"/>
              </a:rPr>
              <a:t>#3</a:t>
            </a:r>
            <a:endParaRPr lang="en-US" sz="950" dirty="0"/>
          </a:p>
        </p:txBody>
      </p:sp>
      <p:sp>
        <p:nvSpPr>
          <p:cNvPr id="39" name="Shape 37"/>
          <p:cNvSpPr/>
          <p:nvPr/>
        </p:nvSpPr>
        <p:spPr>
          <a:xfrm>
            <a:off x="9921240" y="4663440"/>
            <a:ext cx="1737360" cy="329184"/>
          </a:xfrm>
          <a:prstGeom prst="roundRect">
            <a:avLst>
              <a:gd name="adj" fmla="val 13889"/>
            </a:avLst>
          </a:prstGeom>
          <a:solidFill>
            <a:srgbClr val="EA580C"/>
          </a:solidFill>
          <a:ln/>
        </p:spPr>
        <p:txBody>
          <a:bodyPr/>
          <a:lstStyle/>
          <a:p>
            <a:endParaRPr lang="en-US"/>
          </a:p>
        </p:txBody>
      </p:sp>
      <p:sp>
        <p:nvSpPr>
          <p:cNvPr id="40" name="Text 38"/>
          <p:cNvSpPr/>
          <p:nvPr/>
        </p:nvSpPr>
        <p:spPr>
          <a:xfrm>
            <a:off x="9921240" y="4663440"/>
            <a:ext cx="1737360" cy="32918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À RENFORCER</a:t>
            </a:r>
            <a:endParaRPr lang="en-US" sz="900" dirty="0"/>
          </a:p>
        </p:txBody>
      </p:sp>
      <p:sp>
        <p:nvSpPr>
          <p:cNvPr id="41" name="Shape 39"/>
          <p:cNvSpPr/>
          <p:nvPr/>
        </p:nvSpPr>
        <p:spPr>
          <a:xfrm>
            <a:off x="320040" y="5212080"/>
            <a:ext cx="11521440" cy="914400"/>
          </a:xfrm>
          <a:prstGeom prst="roundRect">
            <a:avLst>
              <a:gd name="adj" fmla="val 8000"/>
            </a:avLst>
          </a:prstGeom>
          <a:solidFill>
            <a:srgbClr val="EDF2F7"/>
          </a:solidFill>
          <a:ln/>
          <a:effectLst>
            <a:outerShdw blurRad="63500" dist="25400" dir="2700000" algn="bl" rotWithShape="0">
              <a:srgbClr val="000000">
                <a:alpha val="10000"/>
              </a:srgbClr>
            </a:outerShdw>
          </a:effectLst>
        </p:spPr>
        <p:txBody>
          <a:bodyPr/>
          <a:lstStyle/>
          <a:p>
            <a:endParaRPr lang="en-US"/>
          </a:p>
        </p:txBody>
      </p:sp>
      <p:sp>
        <p:nvSpPr>
          <p:cNvPr id="42" name="Text 40"/>
          <p:cNvSpPr/>
          <p:nvPr/>
        </p:nvSpPr>
        <p:spPr>
          <a:xfrm>
            <a:off x="502920" y="5248656"/>
            <a:ext cx="2743200" cy="365760"/>
          </a:xfrm>
          <a:prstGeom prst="rect">
            <a:avLst/>
          </a:prstGeom>
          <a:noFill/>
          <a:ln/>
        </p:spPr>
        <p:txBody>
          <a:bodyPr wrap="square" rtlCol="0" anchor="ctr"/>
          <a:lstStyle/>
          <a:p>
            <a:pPr marL="0" indent="0">
              <a:buNone/>
            </a:pPr>
            <a:r>
              <a:rPr lang="en-US" sz="1200" b="1" dirty="0">
                <a:solidFill>
                  <a:srgbClr val="0A2240"/>
                </a:solidFill>
                <a:latin typeface="Calibri" pitchFamily="34" charset="0"/>
                <a:ea typeface="Calibri" pitchFamily="34" charset="-122"/>
                <a:cs typeface="Calibri" pitchFamily="34" charset="-120"/>
              </a:rPr>
              <a:t>TRANSIT IMPORT MAR.</a:t>
            </a:r>
            <a:endParaRPr lang="en-US" sz="1200" dirty="0"/>
          </a:p>
        </p:txBody>
      </p:sp>
      <p:sp>
        <p:nvSpPr>
          <p:cNvPr id="43" name="Text 41"/>
          <p:cNvSpPr/>
          <p:nvPr/>
        </p:nvSpPr>
        <p:spPr>
          <a:xfrm>
            <a:off x="502920" y="5669280"/>
            <a:ext cx="27432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193 989 TEU  |  AGL : 15 133 TEU</a:t>
            </a:r>
            <a:endParaRPr lang="en-US" sz="900" dirty="0"/>
          </a:p>
        </p:txBody>
      </p:sp>
      <p:sp>
        <p:nvSpPr>
          <p:cNvPr id="44" name="Shape 42"/>
          <p:cNvSpPr/>
          <p:nvPr/>
        </p:nvSpPr>
        <p:spPr>
          <a:xfrm>
            <a:off x="3383280" y="5468112"/>
            <a:ext cx="5486400" cy="329184"/>
          </a:xfrm>
          <a:prstGeom prst="rect">
            <a:avLst/>
          </a:prstGeom>
          <a:solidFill>
            <a:srgbClr val="DBEAFE"/>
          </a:solidFill>
          <a:ln w="12700">
            <a:solidFill>
              <a:srgbClr val="DBEAFE"/>
            </a:solidFill>
            <a:prstDash val="solid"/>
          </a:ln>
        </p:spPr>
        <p:txBody>
          <a:bodyPr/>
          <a:lstStyle/>
          <a:p>
            <a:endParaRPr lang="en-US"/>
          </a:p>
        </p:txBody>
      </p:sp>
      <p:sp>
        <p:nvSpPr>
          <p:cNvPr id="45" name="Shape 43"/>
          <p:cNvSpPr/>
          <p:nvPr/>
        </p:nvSpPr>
        <p:spPr>
          <a:xfrm>
            <a:off x="3383280" y="5468112"/>
            <a:ext cx="570586" cy="329184"/>
          </a:xfrm>
          <a:prstGeom prst="rect">
            <a:avLst/>
          </a:prstGeom>
          <a:solidFill>
            <a:srgbClr val="EA580C"/>
          </a:solidFill>
          <a:ln w="12700">
            <a:solidFill>
              <a:srgbClr val="EA580C"/>
            </a:solidFill>
            <a:prstDash val="solid"/>
          </a:ln>
        </p:spPr>
        <p:txBody>
          <a:bodyPr/>
          <a:lstStyle/>
          <a:p>
            <a:endParaRPr lang="en-US"/>
          </a:p>
        </p:txBody>
      </p:sp>
      <p:sp>
        <p:nvSpPr>
          <p:cNvPr id="46" name="Text 44"/>
          <p:cNvSpPr/>
          <p:nvPr/>
        </p:nvSpPr>
        <p:spPr>
          <a:xfrm>
            <a:off x="4027018" y="5394960"/>
            <a:ext cx="1188720" cy="502920"/>
          </a:xfrm>
          <a:prstGeom prst="rect">
            <a:avLst/>
          </a:prstGeom>
          <a:noFill/>
          <a:ln/>
        </p:spPr>
        <p:txBody>
          <a:bodyPr wrap="square" rtlCol="0" anchor="ctr"/>
          <a:lstStyle/>
          <a:p>
            <a:pPr marL="0" indent="0">
              <a:buNone/>
            </a:pPr>
            <a:r>
              <a:rPr lang="en-US" sz="1600" b="1" dirty="0">
                <a:solidFill>
                  <a:srgbClr val="EA580C"/>
                </a:solidFill>
                <a:latin typeface="Calibri" pitchFamily="34" charset="0"/>
                <a:ea typeface="Calibri" pitchFamily="34" charset="-122"/>
                <a:cs typeface="Calibri" pitchFamily="34" charset="-120"/>
              </a:rPr>
              <a:t>7.8 %</a:t>
            </a:r>
            <a:endParaRPr lang="en-US" sz="1600" dirty="0"/>
          </a:p>
        </p:txBody>
      </p:sp>
      <p:sp>
        <p:nvSpPr>
          <p:cNvPr id="47" name="Text 45"/>
          <p:cNvSpPr/>
          <p:nvPr/>
        </p:nvSpPr>
        <p:spPr>
          <a:xfrm>
            <a:off x="9921240" y="5248656"/>
            <a:ext cx="1737360" cy="347472"/>
          </a:xfrm>
          <a:prstGeom prst="rect">
            <a:avLst/>
          </a:prstGeom>
          <a:noFill/>
          <a:ln/>
        </p:spPr>
        <p:txBody>
          <a:bodyPr wrap="square" rtlCol="0" anchor="ctr"/>
          <a:lstStyle/>
          <a:p>
            <a:pPr marL="0" indent="0" algn="ctr">
              <a:buNone/>
            </a:pPr>
            <a:r>
              <a:rPr lang="en-US" sz="950" b="1" dirty="0">
                <a:solidFill>
                  <a:srgbClr val="EA580C"/>
                </a:solidFill>
                <a:latin typeface="Calibri" pitchFamily="34" charset="0"/>
                <a:ea typeface="Calibri" pitchFamily="34" charset="-122"/>
                <a:cs typeface="Calibri" pitchFamily="34" charset="-120"/>
              </a:rPr>
              <a:t>#1 FRAGILE</a:t>
            </a:r>
            <a:endParaRPr lang="en-US" sz="950" dirty="0"/>
          </a:p>
        </p:txBody>
      </p:sp>
      <p:sp>
        <p:nvSpPr>
          <p:cNvPr id="48" name="Shape 46"/>
          <p:cNvSpPr/>
          <p:nvPr/>
        </p:nvSpPr>
        <p:spPr>
          <a:xfrm>
            <a:off x="9921240" y="5669280"/>
            <a:ext cx="1737360" cy="329184"/>
          </a:xfrm>
          <a:prstGeom prst="roundRect">
            <a:avLst>
              <a:gd name="adj" fmla="val 13889"/>
            </a:avLst>
          </a:prstGeom>
          <a:solidFill>
            <a:srgbClr val="EA580C"/>
          </a:solidFill>
          <a:ln/>
        </p:spPr>
        <p:txBody>
          <a:bodyPr/>
          <a:lstStyle/>
          <a:p>
            <a:endParaRPr lang="en-US"/>
          </a:p>
        </p:txBody>
      </p:sp>
      <p:sp>
        <p:nvSpPr>
          <p:cNvPr id="49" name="Text 47"/>
          <p:cNvSpPr/>
          <p:nvPr/>
        </p:nvSpPr>
        <p:spPr>
          <a:xfrm>
            <a:off x="9921240" y="5669280"/>
            <a:ext cx="1737360" cy="32918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SOUS PRESSION</a:t>
            </a:r>
            <a:endParaRPr lang="en-US" sz="900" dirty="0"/>
          </a:p>
        </p:txBody>
      </p:sp>
      <p:sp>
        <p:nvSpPr>
          <p:cNvPr id="50" name="Shape 48"/>
          <p:cNvSpPr/>
          <p:nvPr/>
        </p:nvSpPr>
        <p:spPr>
          <a:xfrm>
            <a:off x="320040" y="6236208"/>
            <a:ext cx="11521440" cy="347472"/>
          </a:xfrm>
          <a:prstGeom prst="roundRect">
            <a:avLst>
              <a:gd name="adj" fmla="val 15789"/>
            </a:avLst>
          </a:prstGeom>
          <a:solidFill>
            <a:srgbClr val="0A2240"/>
          </a:solidFill>
          <a:ln/>
        </p:spPr>
        <p:txBody>
          <a:bodyPr/>
          <a:lstStyle/>
          <a:p>
            <a:endParaRPr lang="en-US"/>
          </a:p>
        </p:txBody>
      </p:sp>
      <p:sp>
        <p:nvSpPr>
          <p:cNvPr id="51" name="Text 49"/>
          <p:cNvSpPr/>
          <p:nvPr/>
        </p:nvSpPr>
        <p:spPr>
          <a:xfrm>
            <a:off x="502920" y="6263640"/>
            <a:ext cx="11155680" cy="274320"/>
          </a:xfrm>
          <a:prstGeom prst="rect">
            <a:avLst/>
          </a:prstGeom>
          <a:noFill/>
          <a:ln/>
        </p:spPr>
        <p:txBody>
          <a:bodyPr wrap="square" rtlCol="0" anchor="ctr"/>
          <a:lstStyle/>
          <a:p>
            <a:pPr marL="0" indent="0" algn="ctr">
              <a:buNone/>
            </a:pPr>
            <a:r>
              <a:rPr lang="en-US" sz="900" b="1" dirty="0">
                <a:solidFill>
                  <a:srgbClr val="C8A951"/>
                </a:solidFill>
                <a:latin typeface="Calibri" pitchFamily="34" charset="0"/>
                <a:ea typeface="Calibri" pitchFamily="34" charset="-122"/>
                <a:cs typeface="Calibri" pitchFamily="34" charset="-120"/>
              </a:rPr>
              <a:t>3 métiers sur 5 en position #1  |  TIM leader fragile (+558 TEU)  |  Hint.Imp. seul segment à conquérir (#3)  |  Aérien : montée en puissance historique</a:t>
            </a:r>
            <a:endParaRPr lang="en-US" sz="900" dirty="0"/>
          </a:p>
        </p:txBody>
      </p:sp>
      <p:sp>
        <p:nvSpPr>
          <p:cNvPr id="52" name="Shape 50"/>
          <p:cNvSpPr/>
          <p:nvPr/>
        </p:nvSpPr>
        <p:spPr>
          <a:xfrm>
            <a:off x="365760" y="6565392"/>
            <a:ext cx="11430000" cy="0"/>
          </a:xfrm>
          <a:prstGeom prst="line">
            <a:avLst/>
          </a:prstGeom>
          <a:noFill/>
          <a:ln w="6350">
            <a:solidFill>
              <a:srgbClr val="CBD5E1"/>
            </a:solidFill>
            <a:prstDash val="solid"/>
          </a:ln>
        </p:spPr>
        <p:txBody>
          <a:bodyPr/>
          <a:lstStyle/>
          <a:p>
            <a:endParaRPr lang="en-US"/>
          </a:p>
        </p:txBody>
      </p:sp>
      <p:sp>
        <p:nvSpPr>
          <p:cNvPr id="53" name="Text 51"/>
          <p:cNvSpPr/>
          <p:nvPr/>
        </p:nvSpPr>
        <p:spPr>
          <a:xfrm>
            <a:off x="365760" y="6601968"/>
            <a:ext cx="11430000" cy="201168"/>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Africa Global Logistics – Étude de Marché Jan–Mai 2026  |  p.21</a:t>
            </a:r>
            <a:endParaRPr lang="en-US" sz="850" dirty="0"/>
          </a:p>
        </p:txBody>
      </p:sp>
      <p:pic>
        <p:nvPicPr>
          <p:cNvPr id="55" name="Image 54" descr="Une image contenant texte, Police, Graphique, logo  Description générée automatiquement">
            <a:extLst>
              <a:ext uri="{FF2B5EF4-FFF2-40B4-BE49-F238E27FC236}">
                <a16:creationId xmlns:a16="http://schemas.microsoft.com/office/drawing/2014/main" id="{E5CF684D-16B1-677F-8870-339578EF849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1488450" y="6549898"/>
            <a:ext cx="450027" cy="29240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TIM Nouveaux entrants">
    <p:bg>
      <p:bgPr>
        <a:solidFill>
          <a:srgbClr val="FFFFFF"/>
        </a:solidFill>
        <a:effectLst/>
      </p:bgPr>
    </p:bg>
    <p:spTree>
      <p:nvGrpSpPr>
        <p:cNvPr id="1" name=""/>
        <p:cNvGrpSpPr/>
        <p:nvPr/>
      </p:nvGrpSpPr>
      <p:grpSpPr>
        <a:xfrm>
          <a:off x="0" y="0"/>
          <a:ext cx="0" cy="0"/>
          <a:chOff x="0" y="0"/>
          <a:chExt cx="0" cy="0"/>
        </a:xfrm>
      </p:grpSpPr>
      <p:sp>
        <p:nvSpPr>
          <p:cNvPr id="104" name="Shape"/>
          <p:cNvSpPr/>
          <p:nvPr/>
        </p:nvSpPr>
        <p:spPr>
          <a:xfrm>
            <a:off x="0" y="0"/>
            <a:ext cx="12161520" cy="1051560"/>
          </a:xfrm>
          <a:prstGeom prst="rect">
            <a:avLst/>
          </a:prstGeom>
          <a:solidFill>
            <a:srgbClr val="0A2240"/>
          </a:solidFill>
          <a:ln w="12700">
            <a:solidFill>
              <a:srgbClr val="0A2240"/>
            </a:solidFill>
            <a:prstDash val="solid"/>
          </a:ln>
        </p:spPr>
        <p:txBody>
          <a:bodyPr/>
          <a:lstStyle/>
          <a:p>
            <a:endParaRPr lang="en-US"/>
          </a:p>
        </p:txBody>
      </p:sp>
      <p:sp>
        <p:nvSpPr>
          <p:cNvPr id="105" name="Text"/>
          <p:cNvSpPr/>
          <p:nvPr/>
        </p:nvSpPr>
        <p:spPr>
          <a:xfrm>
            <a:off x="365760" y="54864"/>
            <a:ext cx="11430000" cy="65836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TIM – NOUVEAUX ENTRANTS &amp; NOUVEAUX FLUX</a:t>
            </a:r>
          </a:p>
        </p:txBody>
      </p:sp>
      <p:sp>
        <p:nvSpPr>
          <p:cNvPr id="106" name="Text"/>
          <p:cNvSpPr/>
          <p:nvPr/>
        </p:nvSpPr>
        <p:spPr>
          <a:xfrm>
            <a:off x="365760" y="676656"/>
            <a:ext cx="11430000" cy="329184"/>
          </a:xfrm>
          <a:prstGeom prst="rect">
            <a:avLst/>
          </a:prstGeom>
          <a:noFill/>
          <a:ln/>
        </p:spPr>
        <p:txBody>
          <a:bodyPr wrap="square" rtlCol="0" anchor="t"/>
          <a:lstStyle/>
          <a:p>
            <a:pPr marL="0" indent="0">
              <a:buNone/>
            </a:pPr>
            <a:r>
              <a:rPr lang="en-US" sz="1200" i="1" dirty="0">
                <a:solidFill>
                  <a:srgbClr val="C8A951"/>
                </a:solidFill>
                <a:latin typeface="Calibri" pitchFamily="34" charset="0"/>
                <a:ea typeface="Calibri" pitchFamily="34" charset="-122"/>
                <a:cs typeface="Calibri" pitchFamily="34" charset="-120"/>
              </a:rPr>
              <a:t>Transitaires entrants (rangs 11–15)  |  Nouvelles marchandises captées  |  Nouveaux destinataires</a:t>
            </a:r>
          </a:p>
        </p:txBody>
      </p:sp>
      <p:sp>
        <p:nvSpPr>
          <p:cNvPr id="107" name="Text"/>
          <p:cNvSpPr/>
          <p:nvPr/>
        </p:nvSpPr>
        <p:spPr>
          <a:xfrm>
            <a:off x="320040" y="1143000"/>
            <a:ext cx="5760720" cy="274320"/>
          </a:xfrm>
          <a:prstGeom prst="rect">
            <a:avLst/>
          </a:prstGeom>
          <a:noFill/>
          <a:ln/>
        </p:spPr>
        <p:txBody>
          <a:bodyPr wrap="square" rtlCol="0" anchor="t"/>
          <a:lstStyle/>
          <a:p>
            <a:pPr marL="0" indent="0">
              <a:buNone/>
            </a:pPr>
            <a:r>
              <a:rPr lang="en-US" sz="1200" b="1" dirty="0">
                <a:solidFill>
                  <a:srgbClr val="0A2240"/>
                </a:solidFill>
                <a:latin typeface="Calibri" pitchFamily="34" charset="0"/>
                <a:ea typeface="Calibri" pitchFamily="34" charset="-122"/>
                <a:cs typeface="Calibri" pitchFamily="34" charset="-120"/>
              </a:rPr>
              <a:t>Nouveaux transitaires TIM (rangs 11–15)</a:t>
            </a:r>
          </a:p>
        </p:txBody>
      </p:sp>
      <p:graphicFrame>
        <p:nvGraphicFramePr>
          <p:cNvPr id="108" name="Table"/>
          <p:cNvGraphicFramePr>
            <a:graphicFrameLocks noGrp="1"/>
          </p:cNvGraphicFramePr>
          <p:nvPr/>
        </p:nvGraphicFramePr>
        <p:xfrm>
          <a:off x="320040" y="1444752"/>
          <a:ext cx="5760720" cy="2029968"/>
        </p:xfrm>
        <a:graphic>
          <a:graphicData uri="http://schemas.openxmlformats.org/drawingml/2006/table">
            <a:tbl>
              <a:tblPr/>
              <a:tblGrid>
                <a:gridCol w="457200"/>
                <a:gridCol w="2350000"/>
                <a:gridCol w="800000"/>
                <a:gridCol w="750000"/>
                <a:gridCol w="1403520"/>
              </a:tblGrid>
              <a:tr h="338328">
                <a:tc>
                  <a:txBody>
                    <a:bodyPr/>
                    <a:lstStyle/>
                    <a:p>
                      <a:pPr marL="0" indent="0" algn="ctr">
                        <a:buNone/>
                      </a:pPr>
                      <a:r>
                        <a:rPr lang="en-US" sz="1000" b="1" dirty="0">
                          <a:solidFill>
                            <a:srgbClr val="FFFFFF"/>
                          </a:solidFill>
                        </a:rPr>
                        <a:t>Rang</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lgn="ctr">
                        <a:buNone/>
                      </a:pPr>
                      <a:r>
                        <a:rPr lang="en-US" sz="1000" b="1" dirty="0">
                          <a:solidFill>
                            <a:srgbClr val="FFFFFF"/>
                          </a:solidFill>
                        </a:rPr>
                        <a:t>Transitaire</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lgn="ctr">
                        <a:buNone/>
                      </a:pPr>
                      <a:r>
                        <a:rPr lang="en-US" sz="1000" b="1" dirty="0">
                          <a:solidFill>
                            <a:srgbClr val="FFFFFF"/>
                          </a:solidFill>
                        </a:rPr>
                        <a:t>TEU</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lgn="ctr">
                        <a:buNone/>
                      </a:pPr>
                      <a:r>
                        <a:rPr lang="en-US" sz="1000" b="1" dirty="0">
                          <a:solidFill>
                            <a:srgbClr val="FFFFFF"/>
                          </a:solidFill>
                        </a:rPr>
                        <a:t>PDM</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lgn="ctr">
                        <a:buNone/>
                      </a:pPr>
                      <a:r>
                        <a:rPr lang="en-US" sz="1000" b="1" dirty="0">
                          <a:solidFill>
                            <a:srgbClr val="FFFFFF"/>
                          </a:solidFill>
                        </a:rPr>
                        <a:t>Spécialité</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r>
              <a:tr h="338328">
                <a:tc>
                  <a:txBody>
                    <a:bodyPr/>
                    <a:lstStyle/>
                    <a:p>
                      <a:pPr marL="0" indent="0" algn="ctr">
                        <a:buNone/>
                      </a:pPr>
                      <a:r>
                        <a:rPr lang="en-US" sz="950" dirty="0">
                          <a:solidFill>
                            <a:srgbClr val="334155"/>
                          </a:solidFill>
                        </a:rPr>
                        <a:t>#11</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334155"/>
                          </a:solidFill>
                        </a:rPr>
                        <a:t>ATLANTIQUE TRANSIT CI</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3 820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2,0 %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Emball. / Plastiques</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lgn="ctr">
                        <a:buNone/>
                      </a:pPr>
                      <a:r>
                        <a:rPr lang="en-US" sz="950" dirty="0">
                          <a:solidFill>
                            <a:srgbClr val="334155"/>
                          </a:solidFill>
                        </a:rPr>
                        <a:t>#12</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334155"/>
                          </a:solidFill>
                        </a:rPr>
                        <a:t>WESTAFRICA LOG. CI</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3 410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1,8 %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Machines</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lgn="ctr">
                        <a:buNone/>
                      </a:pPr>
                      <a:r>
                        <a:rPr lang="en-US" sz="950" dirty="0">
                          <a:solidFill>
                            <a:srgbClr val="334155"/>
                          </a:solidFill>
                        </a:rPr>
                        <a:t>#13</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334155"/>
                          </a:solidFill>
                        </a:rPr>
                        <a:t>IVOIRE TRANSIT RAPID</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3 180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1,6 %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Chimie / Pharma</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lgn="ctr">
                        <a:buNone/>
                      </a:pPr>
                      <a:r>
                        <a:rPr lang="en-US" sz="950" b="1" dirty="0">
                          <a:solidFill>
                            <a:srgbClr val="DC2626"/>
                          </a:solidFill>
                        </a:rPr>
                        <a:t>#14</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b="1" dirty="0">
                          <a:solidFill>
                            <a:srgbClr val="DC2626"/>
                          </a:solidFill>
                        </a:rPr>
                        <a:t>CEVA LOGISTICS CI</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DC2626"/>
                          </a:solidFill>
                        </a:rPr>
                        <a:t>2 950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DC2626"/>
                          </a:solidFill>
                        </a:rPr>
                        <a:t>1,5 %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DC2626"/>
                          </a:solidFill>
                        </a:rPr>
                        <a:t>Multi-segments</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lgn="ctr">
                        <a:buNone/>
                      </a:pPr>
                      <a:r>
                        <a:rPr lang="en-US" sz="950" dirty="0">
                          <a:solidFill>
                            <a:srgbClr val="334155"/>
                          </a:solidFill>
                        </a:rPr>
                        <a:t>#15</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334155"/>
                          </a:solidFill>
                        </a:rPr>
                        <a:t>SOCOPHAR TRANSIT</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2 640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1,4 %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Médicaments</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109" name="Text"/>
          <p:cNvSpPr/>
          <p:nvPr/>
        </p:nvSpPr>
        <p:spPr>
          <a:xfrm>
            <a:off x="320040" y="3703320"/>
            <a:ext cx="5760720" cy="274320"/>
          </a:xfrm>
          <a:prstGeom prst="rect">
            <a:avLst/>
          </a:prstGeom>
          <a:noFill/>
          <a:ln/>
        </p:spPr>
        <p:txBody>
          <a:bodyPr wrap="square" rtlCol="0" anchor="t"/>
          <a:lstStyle/>
          <a:p>
            <a:pPr marL="0" indent="0">
              <a:buNone/>
            </a:pPr>
            <a:r>
              <a:rPr lang="en-US" sz="1200" b="1" dirty="0">
                <a:solidFill>
                  <a:srgbClr val="0A2240"/>
                </a:solidFill>
                <a:latin typeface="Calibri" pitchFamily="34" charset="0"/>
                <a:ea typeface="Calibri" pitchFamily="34" charset="-122"/>
                <a:cs typeface="Calibri" pitchFamily="34" charset="-120"/>
              </a:rPr>
              <a:t>Nouveaux destinataires AGL – TIM (1er flux 2026)</a:t>
            </a:r>
          </a:p>
        </p:txBody>
      </p:sp>
      <p:graphicFrame>
        <p:nvGraphicFramePr>
          <p:cNvPr id="110" name="Table"/>
          <p:cNvGraphicFramePr>
            <a:graphicFrameLocks noGrp="1"/>
          </p:cNvGraphicFramePr>
          <p:nvPr/>
        </p:nvGraphicFramePr>
        <p:xfrm>
          <a:off x="320040" y="4005072"/>
          <a:ext cx="5760720" cy="2029968"/>
        </p:xfrm>
        <a:graphic>
          <a:graphicData uri="http://schemas.openxmlformats.org/drawingml/2006/table">
            <a:tbl>
              <a:tblPr/>
              <a:tblGrid>
                <a:gridCol w="2350000"/>
                <a:gridCol w="800000"/>
                <a:gridCol w="1610720"/>
                <a:gridCol w="1000000"/>
              </a:tblGrid>
              <a:tr h="338328">
                <a:tc>
                  <a:txBody>
                    <a:bodyPr/>
                    <a:lstStyle/>
                    <a:p>
                      <a:pPr marL="0" indent="0" algn="ctr">
                        <a:buNone/>
                      </a:pPr>
                      <a:r>
                        <a:rPr lang="en-US" sz="1000" b="1" dirty="0">
                          <a:solidFill>
                            <a:srgbClr val="FFFFFF"/>
                          </a:solidFill>
                        </a:rPr>
                        <a:t>Destinataire</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lgn="ctr">
                        <a:buNone/>
                      </a:pPr>
                      <a:r>
                        <a:rPr lang="en-US" sz="1000" b="1" dirty="0">
                          <a:solidFill>
                            <a:srgbClr val="FFFFFF"/>
                          </a:solidFill>
                        </a:rPr>
                        <a:t>TEU</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lgn="ctr">
                        <a:buNone/>
                      </a:pPr>
                      <a:r>
                        <a:rPr lang="en-US" sz="1000" b="1" dirty="0">
                          <a:solidFill>
                            <a:srgbClr val="FFFFFF"/>
                          </a:solidFill>
                        </a:rPr>
                        <a:t>Secteur</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lgn="ctr">
                        <a:buNone/>
                      </a:pPr>
                      <a:r>
                        <a:rPr lang="en-US" sz="1000" b="1" dirty="0">
                          <a:solidFill>
                            <a:srgbClr val="FFFFFF"/>
                          </a:solidFill>
                        </a:rPr>
                        <a:t>Entrée</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r>
              <a:tr h="338328">
                <a:tc>
                  <a:txBody>
                    <a:bodyPr/>
                    <a:lstStyle/>
                    <a:p>
                      <a:pPr marL="0" indent="0">
                        <a:buNone/>
                      </a:pPr>
                      <a:r>
                        <a:rPr lang="en-US" sz="950" dirty="0">
                          <a:solidFill>
                            <a:srgbClr val="334155"/>
                          </a:solidFill>
                        </a:rPr>
                        <a:t>ORANGE CI (équipements)</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680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Télécoms</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Q1 2026</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buNone/>
                      </a:pPr>
                      <a:r>
                        <a:rPr lang="en-US" sz="950" dirty="0">
                          <a:solidFill>
                            <a:srgbClr val="334155"/>
                          </a:solidFill>
                        </a:rPr>
                        <a:t>NESTLÉ CI</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420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Alim. industriel</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Q1 2026</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buNone/>
                      </a:pPr>
                      <a:r>
                        <a:rPr lang="en-US" sz="950" dirty="0">
                          <a:solidFill>
                            <a:srgbClr val="334155"/>
                          </a:solidFill>
                        </a:rPr>
                        <a:t>FOXTROT INTERNATIONAL</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380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Pétrole</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Q2 2026</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buNone/>
                      </a:pPr>
                      <a:r>
                        <a:rPr lang="en-US" sz="950" dirty="0">
                          <a:solidFill>
                            <a:srgbClr val="334155"/>
                          </a:solidFill>
                        </a:rPr>
                        <a:t>AFRICA RE</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290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Services</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Q2 2026</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buNone/>
                      </a:pPr>
                      <a:r>
                        <a:rPr lang="en-US" sz="950" dirty="0">
                          <a:solidFill>
                            <a:srgbClr val="334155"/>
                          </a:solidFill>
                        </a:rPr>
                        <a:t>MTN CI</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245</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Télécoms</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Q2 2026</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111" name="Text"/>
          <p:cNvSpPr/>
          <p:nvPr/>
        </p:nvSpPr>
        <p:spPr>
          <a:xfrm>
            <a:off x="6309360" y="1143000"/>
            <a:ext cx="5486400" cy="274320"/>
          </a:xfrm>
          <a:prstGeom prst="rect">
            <a:avLst/>
          </a:prstGeom>
          <a:noFill/>
          <a:ln/>
        </p:spPr>
        <p:txBody>
          <a:bodyPr wrap="square" rtlCol="0" anchor="t"/>
          <a:lstStyle/>
          <a:p>
            <a:pPr marL="0" indent="0">
              <a:buNone/>
            </a:pPr>
            <a:r>
              <a:rPr lang="en-US" sz="1200" b="1" dirty="0">
                <a:solidFill>
                  <a:srgbClr val="0A2240"/>
                </a:solidFill>
                <a:latin typeface="Calibri" pitchFamily="34" charset="0"/>
                <a:ea typeface="Calibri" pitchFamily="34" charset="-122"/>
                <a:cs typeface="Calibri" pitchFamily="34" charset="-120"/>
              </a:rPr>
              <a:t>Nouvelles marchandises captées par AGL – TIM</a:t>
            </a:r>
          </a:p>
        </p:txBody>
      </p:sp>
      <p:sp>
        <p:nvSpPr>
          <p:cNvPr id="112" name="Shape"/>
          <p:cNvSpPr/>
          <p:nvPr/>
        </p:nvSpPr>
        <p:spPr>
          <a:xfrm>
            <a:off x="6309360" y="1444752"/>
            <a:ext cx="5577840" cy="411480"/>
          </a:xfrm>
          <a:prstGeom prst="roundRect">
            <a:avLst>
              <a:gd name="adj" fmla="val 8889"/>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113" name="Text"/>
          <p:cNvSpPr/>
          <p:nvPr/>
        </p:nvSpPr>
        <p:spPr>
          <a:xfrm>
            <a:off x="6446520" y="1444752"/>
            <a:ext cx="2423160" cy="411480"/>
          </a:xfrm>
          <a:prstGeom prst="rect">
            <a:avLst/>
          </a:prstGeom>
          <a:noFill/>
          <a:ln/>
        </p:spPr>
        <p:txBody>
          <a:bodyPr wrap="square" rtlCol="0" anchor="ctr"/>
          <a:lstStyle/>
          <a:p>
            <a:pPr marL="0" indent="0">
              <a:buNone/>
            </a:pPr>
            <a:r>
              <a:rPr lang="en-US" sz="900" b="1" dirty="0">
                <a:solidFill>
                  <a:srgbClr val="334155"/>
                </a:solidFill>
                <a:latin typeface="Calibri" pitchFamily="34" charset="0"/>
                <a:ea typeface="Calibri" pitchFamily="34" charset="-122"/>
                <a:cs typeface="Calibri" pitchFamily="34" charset="-120"/>
              </a:rPr>
              <a:t>TÉLÉCOMMUNICATIONS</a:t>
            </a:r>
          </a:p>
        </p:txBody>
      </p:sp>
      <p:sp>
        <p:nvSpPr>
          <p:cNvPr id="114" name="Text"/>
          <p:cNvSpPr/>
          <p:nvPr/>
        </p:nvSpPr>
        <p:spPr>
          <a:xfrm>
            <a:off x="8869680" y="1444752"/>
            <a:ext cx="1325880" cy="41148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1 240 TEU</a:t>
            </a:r>
          </a:p>
        </p:txBody>
      </p:sp>
      <p:sp>
        <p:nvSpPr>
          <p:cNvPr id="115" name="Shape"/>
          <p:cNvSpPr/>
          <p:nvPr/>
        </p:nvSpPr>
        <p:spPr>
          <a:xfrm>
            <a:off x="9948672" y="1554480"/>
            <a:ext cx="1737360" cy="164592"/>
          </a:xfrm>
          <a:prstGeom prst="rect">
            <a:avLst/>
          </a:prstGeom>
          <a:solidFill>
            <a:srgbClr val="CBD5E1"/>
          </a:solidFill>
          <a:ln/>
        </p:spPr>
        <p:txBody>
          <a:bodyPr/>
          <a:lstStyle/>
          <a:p>
            <a:endParaRPr lang="en-US"/>
          </a:p>
        </p:txBody>
      </p:sp>
      <p:sp>
        <p:nvSpPr>
          <p:cNvPr id="116" name="Shape"/>
          <p:cNvSpPr/>
          <p:nvPr/>
        </p:nvSpPr>
        <p:spPr>
          <a:xfrm>
            <a:off x="9948672" y="1554480"/>
            <a:ext cx="156362" cy="164592"/>
          </a:xfrm>
          <a:prstGeom prst="rect">
            <a:avLst/>
          </a:prstGeom>
          <a:solidFill>
            <a:srgbClr val="0891B2"/>
          </a:solidFill>
          <a:ln/>
        </p:spPr>
        <p:txBody>
          <a:bodyPr/>
          <a:lstStyle/>
          <a:p>
            <a:endParaRPr lang="en-US"/>
          </a:p>
        </p:txBody>
      </p:sp>
      <p:sp>
        <p:nvSpPr>
          <p:cNvPr id="117" name="Text"/>
          <p:cNvSpPr/>
          <p:nvPr/>
        </p:nvSpPr>
        <p:spPr>
          <a:xfrm>
            <a:off x="11722608" y="1444752"/>
            <a:ext cx="640080" cy="411480"/>
          </a:xfrm>
          <a:prstGeom prst="rect">
            <a:avLst/>
          </a:prstGeom>
          <a:noFill/>
          <a:ln/>
        </p:spPr>
        <p:txBody>
          <a:bodyPr wrap="square" rtlCol="0" anchor="ctr"/>
          <a:lstStyle/>
          <a:p>
            <a:pPr marL="0" indent="0">
              <a:buNone/>
            </a:pPr>
            <a:r>
              <a:rPr lang="en-US" sz="1000" b="1" dirty="0">
                <a:solidFill>
                  <a:srgbClr val="0891B2"/>
                </a:solidFill>
                <a:latin typeface="Calibri" pitchFamily="34" charset="0"/>
                <a:ea typeface="Calibri" pitchFamily="34" charset="-122"/>
                <a:cs typeface="Calibri" pitchFamily="34" charset="-120"/>
              </a:rPr>
              <a:t>9%</a:t>
            </a:r>
          </a:p>
        </p:txBody>
      </p:sp>
      <p:sp>
        <p:nvSpPr>
          <p:cNvPr id="118" name="Shape"/>
          <p:cNvSpPr/>
          <p:nvPr/>
        </p:nvSpPr>
        <p:spPr>
          <a:xfrm>
            <a:off x="6309360" y="1901952"/>
            <a:ext cx="5577840" cy="411480"/>
          </a:xfrm>
          <a:prstGeom prst="roundRect">
            <a:avLst>
              <a:gd name="adj" fmla="val 8889"/>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119" name="Text"/>
          <p:cNvSpPr/>
          <p:nvPr/>
        </p:nvSpPr>
        <p:spPr>
          <a:xfrm>
            <a:off x="6446520" y="1901952"/>
            <a:ext cx="2423160" cy="411480"/>
          </a:xfrm>
          <a:prstGeom prst="rect">
            <a:avLst/>
          </a:prstGeom>
          <a:noFill/>
          <a:ln/>
        </p:spPr>
        <p:txBody>
          <a:bodyPr wrap="square" rtlCol="0" anchor="ctr"/>
          <a:lstStyle/>
          <a:p>
            <a:pPr marL="0" indent="0">
              <a:buNone/>
            </a:pPr>
            <a:r>
              <a:rPr lang="en-US" sz="900" b="1" dirty="0">
                <a:solidFill>
                  <a:srgbClr val="334155"/>
                </a:solidFill>
                <a:latin typeface="Calibri" pitchFamily="34" charset="0"/>
                <a:ea typeface="Calibri" pitchFamily="34" charset="-122"/>
                <a:cs typeface="Calibri" pitchFamily="34" charset="-120"/>
              </a:rPr>
              <a:t>HUILES VÉGÉTALES</a:t>
            </a:r>
          </a:p>
        </p:txBody>
      </p:sp>
      <p:sp>
        <p:nvSpPr>
          <p:cNvPr id="120" name="Text"/>
          <p:cNvSpPr/>
          <p:nvPr/>
        </p:nvSpPr>
        <p:spPr>
          <a:xfrm>
            <a:off x="8869680" y="1901952"/>
            <a:ext cx="1325880" cy="41148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890 TEU</a:t>
            </a:r>
          </a:p>
        </p:txBody>
      </p:sp>
      <p:sp>
        <p:nvSpPr>
          <p:cNvPr id="121" name="Shape"/>
          <p:cNvSpPr/>
          <p:nvPr/>
        </p:nvSpPr>
        <p:spPr>
          <a:xfrm>
            <a:off x="9948672" y="2011680"/>
            <a:ext cx="1737360" cy="164592"/>
          </a:xfrm>
          <a:prstGeom prst="rect">
            <a:avLst/>
          </a:prstGeom>
          <a:solidFill>
            <a:srgbClr val="CBD5E1"/>
          </a:solidFill>
          <a:ln/>
        </p:spPr>
        <p:txBody>
          <a:bodyPr/>
          <a:lstStyle/>
          <a:p>
            <a:endParaRPr lang="en-US"/>
          </a:p>
        </p:txBody>
      </p:sp>
      <p:sp>
        <p:nvSpPr>
          <p:cNvPr id="122" name="Shape"/>
          <p:cNvSpPr/>
          <p:nvPr/>
        </p:nvSpPr>
        <p:spPr>
          <a:xfrm>
            <a:off x="9948672" y="2011680"/>
            <a:ext cx="104242" cy="164592"/>
          </a:xfrm>
          <a:prstGeom prst="rect">
            <a:avLst/>
          </a:prstGeom>
          <a:solidFill>
            <a:srgbClr val="0891B2"/>
          </a:solidFill>
          <a:ln/>
        </p:spPr>
        <p:txBody>
          <a:bodyPr/>
          <a:lstStyle/>
          <a:p>
            <a:endParaRPr lang="en-US"/>
          </a:p>
        </p:txBody>
      </p:sp>
      <p:sp>
        <p:nvSpPr>
          <p:cNvPr id="123" name="Text"/>
          <p:cNvSpPr/>
          <p:nvPr/>
        </p:nvSpPr>
        <p:spPr>
          <a:xfrm>
            <a:off x="11722608" y="1901952"/>
            <a:ext cx="640080" cy="411480"/>
          </a:xfrm>
          <a:prstGeom prst="rect">
            <a:avLst/>
          </a:prstGeom>
          <a:noFill/>
          <a:ln/>
        </p:spPr>
        <p:txBody>
          <a:bodyPr wrap="square" rtlCol="0" anchor="ctr"/>
          <a:lstStyle/>
          <a:p>
            <a:pPr marL="0" indent="0">
              <a:buNone/>
            </a:pPr>
            <a:r>
              <a:rPr lang="en-US" sz="1000" b="1" dirty="0">
                <a:solidFill>
                  <a:srgbClr val="0891B2"/>
                </a:solidFill>
                <a:latin typeface="Calibri" pitchFamily="34" charset="0"/>
                <a:ea typeface="Calibri" pitchFamily="34" charset="-122"/>
                <a:cs typeface="Calibri" pitchFamily="34" charset="-120"/>
              </a:rPr>
              <a:t>6%</a:t>
            </a:r>
          </a:p>
        </p:txBody>
      </p:sp>
      <p:sp>
        <p:nvSpPr>
          <p:cNvPr id="124" name="Shape"/>
          <p:cNvSpPr/>
          <p:nvPr/>
        </p:nvSpPr>
        <p:spPr>
          <a:xfrm>
            <a:off x="6309360" y="2359152"/>
            <a:ext cx="5577840" cy="411480"/>
          </a:xfrm>
          <a:prstGeom prst="roundRect">
            <a:avLst>
              <a:gd name="adj" fmla="val 8889"/>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125" name="Text"/>
          <p:cNvSpPr/>
          <p:nvPr/>
        </p:nvSpPr>
        <p:spPr>
          <a:xfrm>
            <a:off x="6446520" y="2359152"/>
            <a:ext cx="2423160" cy="411480"/>
          </a:xfrm>
          <a:prstGeom prst="rect">
            <a:avLst/>
          </a:prstGeom>
          <a:noFill/>
          <a:ln/>
        </p:spPr>
        <p:txBody>
          <a:bodyPr wrap="square" rtlCol="0" anchor="ctr"/>
          <a:lstStyle/>
          <a:p>
            <a:pPr marL="0" indent="0">
              <a:buNone/>
            </a:pPr>
            <a:r>
              <a:rPr lang="en-US" sz="900" b="1" dirty="0">
                <a:solidFill>
                  <a:srgbClr val="334155"/>
                </a:solidFill>
                <a:latin typeface="Calibri" pitchFamily="34" charset="0"/>
                <a:ea typeface="Calibri" pitchFamily="34" charset="-122"/>
                <a:cs typeface="Calibri" pitchFamily="34" charset="-120"/>
              </a:rPr>
              <a:t>FERTILISANTS</a:t>
            </a:r>
          </a:p>
        </p:txBody>
      </p:sp>
      <p:sp>
        <p:nvSpPr>
          <p:cNvPr id="126" name="Text"/>
          <p:cNvSpPr/>
          <p:nvPr/>
        </p:nvSpPr>
        <p:spPr>
          <a:xfrm>
            <a:off x="8869680" y="2359152"/>
            <a:ext cx="1325880" cy="41148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650 TEU</a:t>
            </a:r>
          </a:p>
        </p:txBody>
      </p:sp>
      <p:sp>
        <p:nvSpPr>
          <p:cNvPr id="127" name="Shape"/>
          <p:cNvSpPr/>
          <p:nvPr/>
        </p:nvSpPr>
        <p:spPr>
          <a:xfrm>
            <a:off x="9948672" y="2468880"/>
            <a:ext cx="1737360" cy="164592"/>
          </a:xfrm>
          <a:prstGeom prst="rect">
            <a:avLst/>
          </a:prstGeom>
          <a:solidFill>
            <a:srgbClr val="CBD5E1"/>
          </a:solidFill>
          <a:ln/>
        </p:spPr>
        <p:txBody>
          <a:bodyPr/>
          <a:lstStyle/>
          <a:p>
            <a:endParaRPr lang="en-US"/>
          </a:p>
        </p:txBody>
      </p:sp>
      <p:sp>
        <p:nvSpPr>
          <p:cNvPr id="128" name="Shape"/>
          <p:cNvSpPr/>
          <p:nvPr/>
        </p:nvSpPr>
        <p:spPr>
          <a:xfrm>
            <a:off x="9948672" y="2468880"/>
            <a:ext cx="69494" cy="164592"/>
          </a:xfrm>
          <a:prstGeom prst="rect">
            <a:avLst/>
          </a:prstGeom>
          <a:solidFill>
            <a:srgbClr val="DC2626"/>
          </a:solidFill>
          <a:ln/>
        </p:spPr>
        <p:txBody>
          <a:bodyPr/>
          <a:lstStyle/>
          <a:p>
            <a:endParaRPr lang="en-US"/>
          </a:p>
        </p:txBody>
      </p:sp>
      <p:sp>
        <p:nvSpPr>
          <p:cNvPr id="129" name="Text"/>
          <p:cNvSpPr/>
          <p:nvPr/>
        </p:nvSpPr>
        <p:spPr>
          <a:xfrm>
            <a:off x="11722608" y="2359152"/>
            <a:ext cx="640080" cy="411480"/>
          </a:xfrm>
          <a:prstGeom prst="rect">
            <a:avLst/>
          </a:prstGeom>
          <a:noFill/>
          <a:ln/>
        </p:spPr>
        <p:txBody>
          <a:bodyPr wrap="square" rtlCol="0" anchor="ctr"/>
          <a:lstStyle/>
          <a:p>
            <a:pPr marL="0" indent="0">
              <a:buNone/>
            </a:pPr>
            <a:r>
              <a:rPr lang="en-US" sz="1000" b="1" dirty="0">
                <a:solidFill>
                  <a:srgbClr val="DC2626"/>
                </a:solidFill>
                <a:latin typeface="Calibri" pitchFamily="34" charset="0"/>
                <a:ea typeface="Calibri" pitchFamily="34" charset="-122"/>
                <a:cs typeface="Calibri" pitchFamily="34" charset="-120"/>
              </a:rPr>
              <a:t>4%</a:t>
            </a:r>
          </a:p>
        </p:txBody>
      </p:sp>
      <p:sp>
        <p:nvSpPr>
          <p:cNvPr id="130" name="Shape"/>
          <p:cNvSpPr/>
          <p:nvPr/>
        </p:nvSpPr>
        <p:spPr>
          <a:xfrm>
            <a:off x="6309360" y="2816352"/>
            <a:ext cx="5577840" cy="411480"/>
          </a:xfrm>
          <a:prstGeom prst="roundRect">
            <a:avLst>
              <a:gd name="adj" fmla="val 8889"/>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131" name="Text"/>
          <p:cNvSpPr/>
          <p:nvPr/>
        </p:nvSpPr>
        <p:spPr>
          <a:xfrm>
            <a:off x="6446520" y="2816352"/>
            <a:ext cx="2423160" cy="411480"/>
          </a:xfrm>
          <a:prstGeom prst="rect">
            <a:avLst/>
          </a:prstGeom>
          <a:noFill/>
          <a:ln/>
        </p:spPr>
        <p:txBody>
          <a:bodyPr wrap="square" rtlCol="0" anchor="ctr"/>
          <a:lstStyle/>
          <a:p>
            <a:pPr marL="0" indent="0">
              <a:buNone/>
            </a:pPr>
            <a:r>
              <a:rPr lang="en-US" sz="900" b="1" dirty="0">
                <a:solidFill>
                  <a:srgbClr val="334155"/>
                </a:solidFill>
                <a:latin typeface="Calibri" pitchFamily="34" charset="0"/>
                <a:ea typeface="Calibri" pitchFamily="34" charset="-122"/>
                <a:cs typeface="Calibri" pitchFamily="34" charset="-120"/>
              </a:rPr>
              <a:t>MATÉR. ÉLECTRIQUES</a:t>
            </a:r>
          </a:p>
        </p:txBody>
      </p:sp>
      <p:sp>
        <p:nvSpPr>
          <p:cNvPr id="132" name="Text"/>
          <p:cNvSpPr/>
          <p:nvPr/>
        </p:nvSpPr>
        <p:spPr>
          <a:xfrm>
            <a:off x="8869680" y="2816352"/>
            <a:ext cx="1325880" cy="41148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580 TEU</a:t>
            </a:r>
          </a:p>
        </p:txBody>
      </p:sp>
      <p:sp>
        <p:nvSpPr>
          <p:cNvPr id="133" name="Shape"/>
          <p:cNvSpPr/>
          <p:nvPr/>
        </p:nvSpPr>
        <p:spPr>
          <a:xfrm>
            <a:off x="9948672" y="2926080"/>
            <a:ext cx="1737360" cy="164592"/>
          </a:xfrm>
          <a:prstGeom prst="rect">
            <a:avLst/>
          </a:prstGeom>
          <a:solidFill>
            <a:srgbClr val="CBD5E1"/>
          </a:solidFill>
          <a:ln/>
        </p:spPr>
        <p:txBody>
          <a:bodyPr/>
          <a:lstStyle/>
          <a:p>
            <a:endParaRPr lang="en-US"/>
          </a:p>
        </p:txBody>
      </p:sp>
      <p:sp>
        <p:nvSpPr>
          <p:cNvPr id="134" name="Shape"/>
          <p:cNvSpPr/>
          <p:nvPr/>
        </p:nvSpPr>
        <p:spPr>
          <a:xfrm>
            <a:off x="9948672" y="2926080"/>
            <a:ext cx="52121" cy="164592"/>
          </a:xfrm>
          <a:prstGeom prst="rect">
            <a:avLst/>
          </a:prstGeom>
          <a:solidFill>
            <a:srgbClr val="DC2626"/>
          </a:solidFill>
          <a:ln/>
        </p:spPr>
        <p:txBody>
          <a:bodyPr/>
          <a:lstStyle/>
          <a:p>
            <a:endParaRPr lang="en-US"/>
          </a:p>
        </p:txBody>
      </p:sp>
      <p:sp>
        <p:nvSpPr>
          <p:cNvPr id="135" name="Text"/>
          <p:cNvSpPr/>
          <p:nvPr/>
        </p:nvSpPr>
        <p:spPr>
          <a:xfrm>
            <a:off x="11722608" y="2816352"/>
            <a:ext cx="640080" cy="411480"/>
          </a:xfrm>
          <a:prstGeom prst="rect">
            <a:avLst/>
          </a:prstGeom>
          <a:noFill/>
          <a:ln/>
        </p:spPr>
        <p:txBody>
          <a:bodyPr wrap="square" rtlCol="0" anchor="ctr"/>
          <a:lstStyle/>
          <a:p>
            <a:pPr marL="0" indent="0">
              <a:buNone/>
            </a:pPr>
            <a:r>
              <a:rPr lang="en-US" sz="1000" b="1" dirty="0">
                <a:solidFill>
                  <a:srgbClr val="DC2626"/>
                </a:solidFill>
                <a:latin typeface="Calibri" pitchFamily="34" charset="0"/>
                <a:ea typeface="Calibri" pitchFamily="34" charset="-122"/>
                <a:cs typeface="Calibri" pitchFamily="34" charset="-120"/>
              </a:rPr>
              <a:t>3%</a:t>
            </a:r>
          </a:p>
        </p:txBody>
      </p:sp>
      <p:sp>
        <p:nvSpPr>
          <p:cNvPr id="136" name="Shape"/>
          <p:cNvSpPr/>
          <p:nvPr/>
        </p:nvSpPr>
        <p:spPr>
          <a:xfrm>
            <a:off x="6309360" y="4005072"/>
            <a:ext cx="5577840" cy="1188720"/>
          </a:xfrm>
          <a:prstGeom prst="roundRect">
            <a:avLst>
              <a:gd name="adj" fmla="val 8000"/>
            </a:avLst>
          </a:prstGeom>
          <a:solidFill>
            <a:srgbClr val="FFF5E6"/>
          </a:solidFill>
          <a:ln/>
        </p:spPr>
        <p:txBody>
          <a:bodyPr/>
          <a:lstStyle/>
          <a:p>
            <a:endParaRPr lang="en-US"/>
          </a:p>
        </p:txBody>
      </p:sp>
      <p:sp>
        <p:nvSpPr>
          <p:cNvPr id="137" name="Text"/>
          <p:cNvSpPr/>
          <p:nvPr/>
        </p:nvSpPr>
        <p:spPr>
          <a:xfrm>
            <a:off x="6446520" y="4005072"/>
            <a:ext cx="5303520" cy="1188720"/>
          </a:xfrm>
          <a:prstGeom prst="rect">
            <a:avLst/>
          </a:prstGeom>
          <a:noFill/>
          <a:ln/>
        </p:spPr>
        <p:txBody>
          <a:bodyPr wrap="square" rtlCol="0" anchor="ctr"/>
          <a:lstStyle/>
          <a:p>
            <a:pPr marL="0" indent="0">
              <a:buNone/>
            </a:pPr>
            <a:r>
              <a:rPr lang="en-US" sz="950" b="1" dirty="0">
                <a:solidFill>
                  <a:srgbClr val="EA580C"/>
                </a:solidFill>
                <a:latin typeface="Calibri" pitchFamily="34" charset="0"/>
                <a:ea typeface="Calibri" pitchFamily="34" charset="-122"/>
                <a:cs typeface="Calibri" pitchFamily="34" charset="-120"/>
              </a:rPr>
              <a:t>⚠ ALERTE : </a:t>
            </a:r>
            <a:r>
              <a:rPr lang="en-US" sz="950" dirty="0">
                <a:solidFill>
                  <a:srgbClr val="334155"/>
                </a:solidFill>
                <a:latin typeface="Calibri" pitchFamily="34" charset="0"/>
                <a:ea typeface="Calibri" pitchFamily="34" charset="-122"/>
                <a:cs typeface="Calibri" pitchFamily="34" charset="-120"/>
              </a:rPr>
              <a:t>CEVA Logistics CI (groupe CMA CGM) entre dans le top 15 TIM en quelques mois — déploiement multi-métiers à surveiller en priorité. Télécoms : 9% PDM dès la 1ère année (effet 5G CI).</a:t>
            </a:r>
          </a:p>
        </p:txBody>
      </p:sp>
      <p:sp>
        <p:nvSpPr>
          <p:cNvPr id="138" name="Text"/>
          <p:cNvSpPr/>
          <p:nvPr/>
        </p:nvSpPr>
        <p:spPr>
          <a:xfrm>
            <a:off x="365760" y="6601968"/>
            <a:ext cx="11430000" cy="201168"/>
          </a:xfrm>
          <a:prstGeom prst="rect">
            <a:avLst/>
          </a:prstGeom>
          <a:noFill/>
          <a:ln/>
        </p:spPr>
        <p:txBody>
          <a:bodyPr wrap="square" rtlCol="0" anchor="t"/>
          <a:lstStyle/>
          <a:p>
            <a:pPr marL="0" indent="0" algn="ctr">
              <a:buNone/>
            </a:pPr>
            <a:r>
              <a:rPr lang="en-US" sz="850" dirty="0">
                <a:solidFill>
                  <a:srgbClr val="64748B"/>
                </a:solidFill>
                <a:latin typeface="Calibri" pitchFamily="34" charset="0"/>
                <a:ea typeface="Calibri" pitchFamily="34" charset="-122"/>
                <a:cs typeface="Calibri" pitchFamily="34" charset="-120"/>
              </a:rPr>
              <a:t>Africa Global Logistics – Étude de Marché Jan–Mai 2026  |  p.7</a:t>
            </a:r>
          </a:p>
        </p:txBody>
      </p:sp>
      <p:pic>
        <p:nvPicPr>
          <p:cNvPr id="139" name="Image logo"/>
          <p:cNvPicPr>
            <a:picLocks noChangeAspect="1"/>
          </p:cNvPicPr>
          <p:nvPr/>
        </p:nvPicPr>
        <p:blipFill>
          <a:blip r:embed="rId3" cstate="screen"/>
          <a:stretch>
            <a:fillRect/>
          </a:stretch>
        </p:blipFill>
        <p:spPr>
          <a:xfrm>
            <a:off x="11488450" y="6549898"/>
            <a:ext cx="450027" cy="292409"/>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TEM Nouveaux chargeurs">
    <p:bg>
      <p:bgPr>
        <a:solidFill>
          <a:srgbClr val="FFFFFF"/>
        </a:solidFill>
        <a:effectLst/>
      </p:bgPr>
    </p:bg>
    <p:spTree>
      <p:nvGrpSpPr>
        <p:cNvPr id="1" name=""/>
        <p:cNvGrpSpPr/>
        <p:nvPr/>
      </p:nvGrpSpPr>
      <p:grpSpPr>
        <a:xfrm>
          <a:off x="0" y="0"/>
          <a:ext cx="0" cy="0"/>
          <a:chOff x="0" y="0"/>
          <a:chExt cx="0" cy="0"/>
        </a:xfrm>
      </p:grpSpPr>
      <p:sp>
        <p:nvSpPr>
          <p:cNvPr id="140" name="Shape"/>
          <p:cNvSpPr/>
          <p:nvPr/>
        </p:nvSpPr>
        <p:spPr>
          <a:xfrm>
            <a:off x="0" y="0"/>
            <a:ext cx="12161520" cy="1051560"/>
          </a:xfrm>
          <a:prstGeom prst="rect">
            <a:avLst/>
          </a:prstGeom>
          <a:solidFill>
            <a:srgbClr val="0A2240"/>
          </a:solidFill>
          <a:ln w="12700">
            <a:solidFill>
              <a:srgbClr val="0A2240"/>
            </a:solidFill>
            <a:prstDash val="solid"/>
          </a:ln>
        </p:spPr>
        <p:txBody>
          <a:bodyPr/>
          <a:lstStyle/>
          <a:p>
            <a:endParaRPr lang="en-US"/>
          </a:p>
        </p:txBody>
      </p:sp>
      <p:sp>
        <p:nvSpPr>
          <p:cNvPr id="141" name="Text"/>
          <p:cNvSpPr/>
          <p:nvPr/>
        </p:nvSpPr>
        <p:spPr>
          <a:xfrm>
            <a:off x="365760" y="54864"/>
            <a:ext cx="11430000" cy="65836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TEM – NOUVEAUX CHARGEURS &amp; NOUVELLES FILIÈRES</a:t>
            </a:r>
          </a:p>
        </p:txBody>
      </p:sp>
      <p:sp>
        <p:nvSpPr>
          <p:cNvPr id="142" name="Text"/>
          <p:cNvSpPr/>
          <p:nvPr/>
        </p:nvSpPr>
        <p:spPr>
          <a:xfrm>
            <a:off x="365760" y="676656"/>
            <a:ext cx="11430000" cy="329184"/>
          </a:xfrm>
          <a:prstGeom prst="rect">
            <a:avLst/>
          </a:prstGeom>
          <a:noFill/>
          <a:ln/>
        </p:spPr>
        <p:txBody>
          <a:bodyPr wrap="square" rtlCol="0" anchor="t"/>
          <a:lstStyle/>
          <a:p>
            <a:pPr marL="0" indent="0">
              <a:buNone/>
            </a:pPr>
            <a:r>
              <a:rPr lang="en-US" sz="1200" i="1" dirty="0">
                <a:solidFill>
                  <a:srgbClr val="C8A951"/>
                </a:solidFill>
                <a:latin typeface="Calibri" pitchFamily="34" charset="0"/>
                <a:ea typeface="Calibri" pitchFamily="34" charset="-122"/>
                <a:cs typeface="Calibri" pitchFamily="34" charset="-120"/>
              </a:rPr>
              <a:t>Chargeurs entrés en 2026  |  Nouvelles filières export AGL  |  Opportunité Cajou</a:t>
            </a:r>
          </a:p>
        </p:txBody>
      </p:sp>
      <p:sp>
        <p:nvSpPr>
          <p:cNvPr id="143" name="Text"/>
          <p:cNvSpPr/>
          <p:nvPr/>
        </p:nvSpPr>
        <p:spPr>
          <a:xfrm>
            <a:off x="320040" y="1143000"/>
            <a:ext cx="5760720" cy="274320"/>
          </a:xfrm>
          <a:prstGeom prst="rect">
            <a:avLst/>
          </a:prstGeom>
          <a:noFill/>
          <a:ln/>
        </p:spPr>
        <p:txBody>
          <a:bodyPr wrap="square" rtlCol="0" anchor="t"/>
          <a:lstStyle/>
          <a:p>
            <a:pPr marL="0" indent="0">
              <a:buNone/>
            </a:pPr>
            <a:r>
              <a:rPr lang="en-US" sz="1200" b="1" dirty="0">
                <a:solidFill>
                  <a:srgbClr val="0A2240"/>
                </a:solidFill>
                <a:latin typeface="Calibri" pitchFamily="34" charset="0"/>
                <a:ea typeface="Calibri" pitchFamily="34" charset="-122"/>
                <a:cs typeface="Calibri" pitchFamily="34" charset="-120"/>
              </a:rPr>
              <a:t>Nouveaux chargeurs AGL – TEM 2026</a:t>
            </a:r>
          </a:p>
        </p:txBody>
      </p:sp>
      <p:graphicFrame>
        <p:nvGraphicFramePr>
          <p:cNvPr id="144" name="Table"/>
          <p:cNvGraphicFramePr>
            <a:graphicFrameLocks noGrp="1"/>
          </p:cNvGraphicFramePr>
          <p:nvPr/>
        </p:nvGraphicFramePr>
        <p:xfrm>
          <a:off x="320040" y="1444752"/>
          <a:ext cx="5760720" cy="2029968"/>
        </p:xfrm>
        <a:graphic>
          <a:graphicData uri="http://schemas.openxmlformats.org/drawingml/2006/table">
            <a:tbl>
              <a:tblPr/>
              <a:tblGrid>
                <a:gridCol w="2350000"/>
                <a:gridCol w="800000"/>
                <a:gridCol w="1710720"/>
                <a:gridCol w="900000"/>
              </a:tblGrid>
              <a:tr h="338328">
                <a:tc>
                  <a:txBody>
                    <a:bodyPr/>
                    <a:lstStyle/>
                    <a:p>
                      <a:pPr marL="0" indent="0" algn="ctr">
                        <a:buNone/>
                      </a:pPr>
                      <a:r>
                        <a:rPr lang="en-US" sz="1000" b="1" dirty="0">
                          <a:solidFill>
                            <a:srgbClr val="FFFFFF"/>
                          </a:solidFill>
                        </a:rPr>
                        <a:t>Chargeur</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lgn="ctr">
                        <a:buNone/>
                      </a:pPr>
                      <a:r>
                        <a:rPr lang="en-US" sz="1000" b="1" dirty="0">
                          <a:solidFill>
                            <a:srgbClr val="FFFFFF"/>
                          </a:solidFill>
                        </a:rPr>
                        <a:t>TEU</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lgn="ctr">
                        <a:buNone/>
                      </a:pPr>
                      <a:r>
                        <a:rPr lang="en-US" sz="1000" b="1" dirty="0">
                          <a:solidFill>
                            <a:srgbClr val="FFFFFF"/>
                          </a:solidFill>
                        </a:rPr>
                        <a:t>Filière</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lgn="ctr">
                        <a:buNone/>
                      </a:pPr>
                      <a:r>
                        <a:rPr lang="en-US" sz="1000" b="1" dirty="0">
                          <a:solidFill>
                            <a:srgbClr val="FFFFFF"/>
                          </a:solidFill>
                        </a:rPr>
                        <a:t>Entrée</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r>
              <a:tr h="338328">
                <a:tc>
                  <a:txBody>
                    <a:bodyPr/>
                    <a:lstStyle/>
                    <a:p>
                      <a:pPr marL="0" indent="0">
                        <a:buNone/>
                      </a:pPr>
                      <a:r>
                        <a:rPr lang="en-US" sz="950" dirty="0">
                          <a:solidFill>
                            <a:srgbClr val="334155"/>
                          </a:solidFill>
                        </a:rPr>
                        <a:t>CI-ÉNERGIES</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890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Caoutchouc</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Q1 2026</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buNone/>
                      </a:pPr>
                      <a:r>
                        <a:rPr lang="en-US" sz="950" dirty="0">
                          <a:solidFill>
                            <a:srgbClr val="334155"/>
                          </a:solidFill>
                        </a:rPr>
                        <a:t>SITA GROUP</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760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Mangue / Fruits</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Q1 2026</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buNone/>
                      </a:pPr>
                      <a:r>
                        <a:rPr lang="en-US" sz="950" dirty="0">
                          <a:solidFill>
                            <a:srgbClr val="334155"/>
                          </a:solidFill>
                        </a:rPr>
                        <a:t>COOPEX CAJOU CI</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640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Noix de Cajou</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Q2 2026</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buNone/>
                      </a:pPr>
                      <a:r>
                        <a:rPr lang="en-US" sz="950" dirty="0">
                          <a:solidFill>
                            <a:srgbClr val="334155"/>
                          </a:solidFill>
                        </a:rPr>
                        <a:t>SECO INDUSTRIE</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520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Caoutchouc usiné</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Q2 2026</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buNone/>
                      </a:pPr>
                      <a:r>
                        <a:rPr lang="en-US" sz="950" dirty="0">
                          <a:solidFill>
                            <a:srgbClr val="334155"/>
                          </a:solidFill>
                        </a:rPr>
                        <a:t>OLAM PALM</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410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Huile de Palme</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Q1 2026</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145" name="Text"/>
          <p:cNvSpPr/>
          <p:nvPr/>
        </p:nvSpPr>
        <p:spPr>
          <a:xfrm>
            <a:off x="320040" y="3703320"/>
            <a:ext cx="5760720" cy="274320"/>
          </a:xfrm>
          <a:prstGeom prst="rect">
            <a:avLst/>
          </a:prstGeom>
          <a:noFill/>
          <a:ln/>
        </p:spPr>
        <p:txBody>
          <a:bodyPr wrap="square" rtlCol="0" anchor="t"/>
          <a:lstStyle/>
          <a:p>
            <a:pPr marL="0" indent="0">
              <a:buNone/>
            </a:pPr>
            <a:r>
              <a:rPr lang="en-US" sz="1200" b="1" dirty="0">
                <a:solidFill>
                  <a:srgbClr val="0A2240"/>
                </a:solidFill>
                <a:latin typeface="Calibri" pitchFamily="34" charset="0"/>
                <a:ea typeface="Calibri" pitchFamily="34" charset="-122"/>
                <a:cs typeface="Calibri" pitchFamily="34" charset="-120"/>
              </a:rPr>
              <a:t>Chargeurs existants à sécuriser (rappel)</a:t>
            </a:r>
          </a:p>
        </p:txBody>
      </p:sp>
      <p:graphicFrame>
        <p:nvGraphicFramePr>
          <p:cNvPr id="146" name="Table"/>
          <p:cNvGraphicFramePr>
            <a:graphicFrameLocks noGrp="1"/>
          </p:cNvGraphicFramePr>
          <p:nvPr/>
        </p:nvGraphicFramePr>
        <p:xfrm>
          <a:off x="320040" y="4005072"/>
          <a:ext cx="5760720" cy="1353312"/>
        </p:xfrm>
        <a:graphic>
          <a:graphicData uri="http://schemas.openxmlformats.org/drawingml/2006/table">
            <a:tbl>
              <a:tblPr/>
              <a:tblGrid>
                <a:gridCol w="3060720"/>
                <a:gridCol w="1200000"/>
                <a:gridCol w="1500000"/>
              </a:tblGrid>
              <a:tr h="338328">
                <a:tc>
                  <a:txBody>
                    <a:bodyPr/>
                    <a:lstStyle/>
                    <a:p>
                      <a:pPr marL="0" indent="0" algn="ctr">
                        <a:buNone/>
                      </a:pPr>
                      <a:r>
                        <a:rPr lang="en-US" sz="1000" b="1" dirty="0">
                          <a:solidFill>
                            <a:srgbClr val="FFFFFF"/>
                          </a:solidFill>
                        </a:rPr>
                        <a:t>Chargeur</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lgn="ctr">
                        <a:buNone/>
                      </a:pPr>
                      <a:r>
                        <a:rPr lang="en-US" sz="1000" b="1" dirty="0">
                          <a:solidFill>
                            <a:srgbClr val="FFFFFF"/>
                          </a:solidFill>
                        </a:rPr>
                        <a:t>TEU</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lgn="ctr">
                        <a:buNone/>
                      </a:pPr>
                      <a:r>
                        <a:rPr lang="en-US" sz="1000" b="1" dirty="0">
                          <a:solidFill>
                            <a:srgbClr val="FFFFFF"/>
                          </a:solidFill>
                        </a:rPr>
                        <a:t>% Vol. AGL TEM</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r>
              <a:tr h="338328">
                <a:tc>
                  <a:txBody>
                    <a:bodyPr/>
                    <a:lstStyle/>
                    <a:p>
                      <a:pPr marL="0" indent="0">
                        <a:buNone/>
                      </a:pPr>
                      <a:r>
                        <a:rPr lang="en-US" sz="950" dirty="0">
                          <a:solidFill>
                            <a:srgbClr val="334155"/>
                          </a:solidFill>
                        </a:rPr>
                        <a:t>CARGILL WEST AFRICA (Cacao)</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3 219</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9,0 %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buNone/>
                      </a:pPr>
                      <a:r>
                        <a:rPr lang="en-US" sz="950" dirty="0">
                          <a:solidFill>
                            <a:srgbClr val="334155"/>
                          </a:solidFill>
                        </a:rPr>
                        <a:t>JEAN EGLIN (Bananes)</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2 500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6,9 %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buNone/>
                      </a:pPr>
                      <a:r>
                        <a:rPr lang="en-US" sz="950" dirty="0">
                          <a:solidFill>
                            <a:srgbClr val="334155"/>
                          </a:solidFill>
                        </a:rPr>
                        <a:t>AFRICA SOURCING (Bananes)</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2 425</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6,7 %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147" name="Text"/>
          <p:cNvSpPr/>
          <p:nvPr/>
        </p:nvSpPr>
        <p:spPr>
          <a:xfrm>
            <a:off x="6309360" y="1143000"/>
            <a:ext cx="5486400" cy="274320"/>
          </a:xfrm>
          <a:prstGeom prst="rect">
            <a:avLst/>
          </a:prstGeom>
          <a:noFill/>
          <a:ln/>
        </p:spPr>
        <p:txBody>
          <a:bodyPr wrap="square" rtlCol="0" anchor="t"/>
          <a:lstStyle/>
          <a:p>
            <a:pPr marL="0" indent="0">
              <a:buNone/>
            </a:pPr>
            <a:r>
              <a:rPr lang="en-US" sz="1200" b="1" dirty="0">
                <a:solidFill>
                  <a:srgbClr val="0A2240"/>
                </a:solidFill>
                <a:latin typeface="Calibri" pitchFamily="34" charset="0"/>
                <a:ea typeface="Calibri" pitchFamily="34" charset="-122"/>
                <a:cs typeface="Calibri" pitchFamily="34" charset="-120"/>
              </a:rPr>
              <a:t>Nouvelles filières export – PDM AGL</a:t>
            </a:r>
          </a:p>
        </p:txBody>
      </p:sp>
      <p:sp>
        <p:nvSpPr>
          <p:cNvPr id="148" name="Shape"/>
          <p:cNvSpPr/>
          <p:nvPr/>
        </p:nvSpPr>
        <p:spPr>
          <a:xfrm>
            <a:off x="6309360" y="1444752"/>
            <a:ext cx="5577840" cy="411480"/>
          </a:xfrm>
          <a:prstGeom prst="roundRect">
            <a:avLst>
              <a:gd name="adj" fmla="val 8889"/>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149" name="Text"/>
          <p:cNvSpPr/>
          <p:nvPr/>
        </p:nvSpPr>
        <p:spPr>
          <a:xfrm>
            <a:off x="6446520" y="1444752"/>
            <a:ext cx="2423160" cy="411480"/>
          </a:xfrm>
          <a:prstGeom prst="rect">
            <a:avLst/>
          </a:prstGeom>
          <a:noFill/>
          <a:ln/>
        </p:spPr>
        <p:txBody>
          <a:bodyPr wrap="square" rtlCol="0" anchor="ctr"/>
          <a:lstStyle/>
          <a:p>
            <a:pPr marL="0" indent="0">
              <a:buNone/>
            </a:pPr>
            <a:r>
              <a:rPr lang="en-US" sz="900" b="1" dirty="0">
                <a:solidFill>
                  <a:srgbClr val="334155"/>
                </a:solidFill>
                <a:latin typeface="Calibri" pitchFamily="34" charset="0"/>
                <a:ea typeface="Calibri" pitchFamily="34" charset="-122"/>
                <a:cs typeface="Calibri" pitchFamily="34" charset="-120"/>
              </a:rPr>
              <a:t>HUILE DE PALME</a:t>
            </a:r>
          </a:p>
        </p:txBody>
      </p:sp>
      <p:sp>
        <p:nvSpPr>
          <p:cNvPr id="150" name="Text"/>
          <p:cNvSpPr/>
          <p:nvPr/>
        </p:nvSpPr>
        <p:spPr>
          <a:xfrm>
            <a:off x="8869680" y="1444752"/>
            <a:ext cx="1325880" cy="41148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Mkt: 1 420 TEU</a:t>
            </a:r>
          </a:p>
        </p:txBody>
      </p:sp>
      <p:sp>
        <p:nvSpPr>
          <p:cNvPr id="151" name="Shape"/>
          <p:cNvSpPr/>
          <p:nvPr/>
        </p:nvSpPr>
        <p:spPr>
          <a:xfrm>
            <a:off x="9948672" y="1554480"/>
            <a:ext cx="1737360" cy="164592"/>
          </a:xfrm>
          <a:prstGeom prst="rect">
            <a:avLst/>
          </a:prstGeom>
          <a:solidFill>
            <a:srgbClr val="CBD5E1"/>
          </a:solidFill>
          <a:ln/>
        </p:spPr>
        <p:txBody>
          <a:bodyPr/>
          <a:lstStyle/>
          <a:p>
            <a:endParaRPr lang="en-US"/>
          </a:p>
        </p:txBody>
      </p:sp>
      <p:sp>
        <p:nvSpPr>
          <p:cNvPr id="152" name="Shape"/>
          <p:cNvSpPr/>
          <p:nvPr/>
        </p:nvSpPr>
        <p:spPr>
          <a:xfrm>
            <a:off x="9948672" y="1554480"/>
            <a:ext cx="138989" cy="164592"/>
          </a:xfrm>
          <a:prstGeom prst="rect">
            <a:avLst/>
          </a:prstGeom>
          <a:solidFill>
            <a:srgbClr val="0891B2"/>
          </a:solidFill>
          <a:ln/>
        </p:spPr>
        <p:txBody>
          <a:bodyPr/>
          <a:lstStyle/>
          <a:p>
            <a:endParaRPr lang="en-US"/>
          </a:p>
        </p:txBody>
      </p:sp>
      <p:sp>
        <p:nvSpPr>
          <p:cNvPr id="153" name="Text"/>
          <p:cNvSpPr/>
          <p:nvPr/>
        </p:nvSpPr>
        <p:spPr>
          <a:xfrm>
            <a:off x="11722608" y="1444752"/>
            <a:ext cx="640080" cy="411480"/>
          </a:xfrm>
          <a:prstGeom prst="rect">
            <a:avLst/>
          </a:prstGeom>
          <a:noFill/>
          <a:ln/>
        </p:spPr>
        <p:txBody>
          <a:bodyPr wrap="square" rtlCol="0" anchor="ctr"/>
          <a:lstStyle/>
          <a:p>
            <a:pPr marL="0" indent="0">
              <a:buNone/>
            </a:pPr>
            <a:r>
              <a:rPr lang="en-US" sz="1000" b="1" dirty="0">
                <a:solidFill>
                  <a:srgbClr val="0891B2"/>
                </a:solidFill>
                <a:latin typeface="Calibri" pitchFamily="34" charset="0"/>
                <a:ea typeface="Calibri" pitchFamily="34" charset="-122"/>
                <a:cs typeface="Calibri" pitchFamily="34" charset="-120"/>
              </a:rPr>
              <a:t>8%</a:t>
            </a:r>
          </a:p>
        </p:txBody>
      </p:sp>
      <p:sp>
        <p:nvSpPr>
          <p:cNvPr id="154" name="Shape"/>
          <p:cNvSpPr/>
          <p:nvPr/>
        </p:nvSpPr>
        <p:spPr>
          <a:xfrm>
            <a:off x="6309360" y="1901952"/>
            <a:ext cx="5577840" cy="411480"/>
          </a:xfrm>
          <a:prstGeom prst="roundRect">
            <a:avLst>
              <a:gd name="adj" fmla="val 8889"/>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155" name="Text"/>
          <p:cNvSpPr/>
          <p:nvPr/>
        </p:nvSpPr>
        <p:spPr>
          <a:xfrm>
            <a:off x="6446520" y="1901952"/>
            <a:ext cx="2423160" cy="411480"/>
          </a:xfrm>
          <a:prstGeom prst="rect">
            <a:avLst/>
          </a:prstGeom>
          <a:noFill/>
          <a:ln/>
        </p:spPr>
        <p:txBody>
          <a:bodyPr wrap="square" rtlCol="0" anchor="ctr"/>
          <a:lstStyle/>
          <a:p>
            <a:pPr marL="0" indent="0">
              <a:buNone/>
            </a:pPr>
            <a:r>
              <a:rPr lang="en-US" sz="900" b="1" dirty="0">
                <a:solidFill>
                  <a:srgbClr val="334155"/>
                </a:solidFill>
                <a:latin typeface="Calibri" pitchFamily="34" charset="0"/>
                <a:ea typeface="Calibri" pitchFamily="34" charset="-122"/>
                <a:cs typeface="Calibri" pitchFamily="34" charset="-120"/>
              </a:rPr>
              <a:t>COLA</a:t>
            </a:r>
          </a:p>
        </p:txBody>
      </p:sp>
      <p:sp>
        <p:nvSpPr>
          <p:cNvPr id="156" name="Text"/>
          <p:cNvSpPr/>
          <p:nvPr/>
        </p:nvSpPr>
        <p:spPr>
          <a:xfrm>
            <a:off x="8869680" y="1901952"/>
            <a:ext cx="1325880" cy="41148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Mkt: 980 TEU</a:t>
            </a:r>
          </a:p>
        </p:txBody>
      </p:sp>
      <p:sp>
        <p:nvSpPr>
          <p:cNvPr id="157" name="Shape"/>
          <p:cNvSpPr/>
          <p:nvPr/>
        </p:nvSpPr>
        <p:spPr>
          <a:xfrm>
            <a:off x="9948672" y="2011680"/>
            <a:ext cx="1737360" cy="164592"/>
          </a:xfrm>
          <a:prstGeom prst="rect">
            <a:avLst/>
          </a:prstGeom>
          <a:solidFill>
            <a:srgbClr val="CBD5E1"/>
          </a:solidFill>
          <a:ln/>
        </p:spPr>
        <p:txBody>
          <a:bodyPr/>
          <a:lstStyle/>
          <a:p>
            <a:endParaRPr lang="en-US"/>
          </a:p>
        </p:txBody>
      </p:sp>
      <p:sp>
        <p:nvSpPr>
          <p:cNvPr id="158" name="Shape"/>
          <p:cNvSpPr/>
          <p:nvPr/>
        </p:nvSpPr>
        <p:spPr>
          <a:xfrm>
            <a:off x="9948672" y="2011680"/>
            <a:ext cx="208483" cy="164592"/>
          </a:xfrm>
          <a:prstGeom prst="rect">
            <a:avLst/>
          </a:prstGeom>
          <a:solidFill>
            <a:srgbClr val="0891B2"/>
          </a:solidFill>
          <a:ln/>
        </p:spPr>
        <p:txBody>
          <a:bodyPr/>
          <a:lstStyle/>
          <a:p>
            <a:endParaRPr lang="en-US"/>
          </a:p>
        </p:txBody>
      </p:sp>
      <p:sp>
        <p:nvSpPr>
          <p:cNvPr id="159" name="Text"/>
          <p:cNvSpPr/>
          <p:nvPr/>
        </p:nvSpPr>
        <p:spPr>
          <a:xfrm>
            <a:off x="11722608" y="1901952"/>
            <a:ext cx="640080" cy="411480"/>
          </a:xfrm>
          <a:prstGeom prst="rect">
            <a:avLst/>
          </a:prstGeom>
          <a:noFill/>
          <a:ln/>
        </p:spPr>
        <p:txBody>
          <a:bodyPr wrap="square" rtlCol="0" anchor="ctr"/>
          <a:lstStyle/>
          <a:p>
            <a:pPr marL="0" indent="0">
              <a:buNone/>
            </a:pPr>
            <a:r>
              <a:rPr lang="en-US" sz="1000" b="1" dirty="0">
                <a:solidFill>
                  <a:srgbClr val="0891B2"/>
                </a:solidFill>
                <a:latin typeface="Calibri" pitchFamily="34" charset="0"/>
                <a:ea typeface="Calibri" pitchFamily="34" charset="-122"/>
                <a:cs typeface="Calibri" pitchFamily="34" charset="-120"/>
              </a:rPr>
              <a:t>12%</a:t>
            </a:r>
          </a:p>
        </p:txBody>
      </p:sp>
      <p:sp>
        <p:nvSpPr>
          <p:cNvPr id="160" name="Shape"/>
          <p:cNvSpPr/>
          <p:nvPr/>
        </p:nvSpPr>
        <p:spPr>
          <a:xfrm>
            <a:off x="6309360" y="2359152"/>
            <a:ext cx="5577840" cy="411480"/>
          </a:xfrm>
          <a:prstGeom prst="roundRect">
            <a:avLst>
              <a:gd name="adj" fmla="val 8889"/>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161" name="Text"/>
          <p:cNvSpPr/>
          <p:nvPr/>
        </p:nvSpPr>
        <p:spPr>
          <a:xfrm>
            <a:off x="6446520" y="2359152"/>
            <a:ext cx="2423160" cy="411480"/>
          </a:xfrm>
          <a:prstGeom prst="rect">
            <a:avLst/>
          </a:prstGeom>
          <a:noFill/>
          <a:ln/>
        </p:spPr>
        <p:txBody>
          <a:bodyPr wrap="square" rtlCol="0" anchor="ctr"/>
          <a:lstStyle/>
          <a:p>
            <a:pPr marL="0" indent="0">
              <a:buNone/>
            </a:pPr>
            <a:r>
              <a:rPr lang="en-US" sz="900" b="1" dirty="0">
                <a:solidFill>
                  <a:srgbClr val="334155"/>
                </a:solidFill>
                <a:latin typeface="Calibri" pitchFamily="34" charset="0"/>
                <a:ea typeface="Calibri" pitchFamily="34" charset="-122"/>
                <a:cs typeface="Calibri" pitchFamily="34" charset="-120"/>
              </a:rPr>
              <a:t>ANACARDE TRANSFORMÉ</a:t>
            </a:r>
          </a:p>
        </p:txBody>
      </p:sp>
      <p:sp>
        <p:nvSpPr>
          <p:cNvPr id="162" name="Text"/>
          <p:cNvSpPr/>
          <p:nvPr/>
        </p:nvSpPr>
        <p:spPr>
          <a:xfrm>
            <a:off x="8869680" y="2359152"/>
            <a:ext cx="1325880" cy="41148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Mkt: 1 180 TEU</a:t>
            </a:r>
          </a:p>
        </p:txBody>
      </p:sp>
      <p:sp>
        <p:nvSpPr>
          <p:cNvPr id="163" name="Shape"/>
          <p:cNvSpPr/>
          <p:nvPr/>
        </p:nvSpPr>
        <p:spPr>
          <a:xfrm>
            <a:off x="9948672" y="2468880"/>
            <a:ext cx="1737360" cy="164592"/>
          </a:xfrm>
          <a:prstGeom prst="rect">
            <a:avLst/>
          </a:prstGeom>
          <a:solidFill>
            <a:srgbClr val="CBD5E1"/>
          </a:solidFill>
          <a:ln/>
        </p:spPr>
        <p:txBody>
          <a:bodyPr/>
          <a:lstStyle/>
          <a:p>
            <a:endParaRPr lang="en-US"/>
          </a:p>
        </p:txBody>
      </p:sp>
      <p:sp>
        <p:nvSpPr>
          <p:cNvPr id="164" name="Shape"/>
          <p:cNvSpPr/>
          <p:nvPr/>
        </p:nvSpPr>
        <p:spPr>
          <a:xfrm>
            <a:off x="9948672" y="2468880"/>
            <a:ext cx="86868" cy="164592"/>
          </a:xfrm>
          <a:prstGeom prst="rect">
            <a:avLst/>
          </a:prstGeom>
          <a:solidFill>
            <a:srgbClr val="DC2626"/>
          </a:solidFill>
          <a:ln/>
        </p:spPr>
        <p:txBody>
          <a:bodyPr/>
          <a:lstStyle/>
          <a:p>
            <a:endParaRPr lang="en-US"/>
          </a:p>
        </p:txBody>
      </p:sp>
      <p:sp>
        <p:nvSpPr>
          <p:cNvPr id="165" name="Text"/>
          <p:cNvSpPr/>
          <p:nvPr/>
        </p:nvSpPr>
        <p:spPr>
          <a:xfrm>
            <a:off x="11722608" y="2359152"/>
            <a:ext cx="640080" cy="411480"/>
          </a:xfrm>
          <a:prstGeom prst="rect">
            <a:avLst/>
          </a:prstGeom>
          <a:noFill/>
          <a:ln/>
        </p:spPr>
        <p:txBody>
          <a:bodyPr wrap="square" rtlCol="0" anchor="ctr"/>
          <a:lstStyle/>
          <a:p>
            <a:pPr marL="0" indent="0">
              <a:buNone/>
            </a:pPr>
            <a:r>
              <a:rPr lang="en-US" sz="1000" b="1" dirty="0">
                <a:solidFill>
                  <a:srgbClr val="DC2626"/>
                </a:solidFill>
                <a:latin typeface="Calibri" pitchFamily="34" charset="0"/>
                <a:ea typeface="Calibri" pitchFamily="34" charset="-122"/>
                <a:cs typeface="Calibri" pitchFamily="34" charset="-120"/>
              </a:rPr>
              <a:t>5%</a:t>
            </a:r>
          </a:p>
        </p:txBody>
      </p:sp>
      <p:sp>
        <p:nvSpPr>
          <p:cNvPr id="166" name="Shape"/>
          <p:cNvSpPr/>
          <p:nvPr/>
        </p:nvSpPr>
        <p:spPr>
          <a:xfrm>
            <a:off x="6309360" y="2816352"/>
            <a:ext cx="5577840" cy="411480"/>
          </a:xfrm>
          <a:prstGeom prst="roundRect">
            <a:avLst>
              <a:gd name="adj" fmla="val 8889"/>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167" name="Text"/>
          <p:cNvSpPr/>
          <p:nvPr/>
        </p:nvSpPr>
        <p:spPr>
          <a:xfrm>
            <a:off x="6446520" y="2816352"/>
            <a:ext cx="2423160" cy="411480"/>
          </a:xfrm>
          <a:prstGeom prst="rect">
            <a:avLst/>
          </a:prstGeom>
          <a:noFill/>
          <a:ln/>
        </p:spPr>
        <p:txBody>
          <a:bodyPr wrap="square" rtlCol="0" anchor="ctr"/>
          <a:lstStyle/>
          <a:p>
            <a:pPr marL="0" indent="0">
              <a:buNone/>
            </a:pPr>
            <a:r>
              <a:rPr lang="en-US" sz="900" b="1" dirty="0">
                <a:solidFill>
                  <a:srgbClr val="334155"/>
                </a:solidFill>
                <a:latin typeface="Calibri" pitchFamily="34" charset="0"/>
                <a:ea typeface="Calibri" pitchFamily="34" charset="-122"/>
                <a:cs typeface="Calibri" pitchFamily="34" charset="-120"/>
              </a:rPr>
              <a:t>NOIX DE CAJOU (cible)</a:t>
            </a:r>
          </a:p>
        </p:txBody>
      </p:sp>
      <p:sp>
        <p:nvSpPr>
          <p:cNvPr id="168" name="Text"/>
          <p:cNvSpPr/>
          <p:nvPr/>
        </p:nvSpPr>
        <p:spPr>
          <a:xfrm>
            <a:off x="8869680" y="2816352"/>
            <a:ext cx="1325880" cy="41148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Mkt: 13 129 TEU</a:t>
            </a:r>
          </a:p>
        </p:txBody>
      </p:sp>
      <p:sp>
        <p:nvSpPr>
          <p:cNvPr id="169" name="Shape"/>
          <p:cNvSpPr/>
          <p:nvPr/>
        </p:nvSpPr>
        <p:spPr>
          <a:xfrm>
            <a:off x="9948672" y="2926080"/>
            <a:ext cx="1737360" cy="164592"/>
          </a:xfrm>
          <a:prstGeom prst="rect">
            <a:avLst/>
          </a:prstGeom>
          <a:solidFill>
            <a:srgbClr val="CBD5E1"/>
          </a:solidFill>
          <a:ln/>
        </p:spPr>
        <p:txBody>
          <a:bodyPr/>
          <a:lstStyle/>
          <a:p>
            <a:endParaRPr lang="en-US"/>
          </a:p>
        </p:txBody>
      </p:sp>
      <p:sp>
        <p:nvSpPr>
          <p:cNvPr id="170" name="Shape"/>
          <p:cNvSpPr/>
          <p:nvPr/>
        </p:nvSpPr>
        <p:spPr>
          <a:xfrm>
            <a:off x="9948672" y="2926080"/>
            <a:ext cx="86868" cy="164592"/>
          </a:xfrm>
          <a:prstGeom prst="rect">
            <a:avLst/>
          </a:prstGeom>
          <a:solidFill>
            <a:srgbClr val="DC2626"/>
          </a:solidFill>
          <a:ln/>
        </p:spPr>
        <p:txBody>
          <a:bodyPr/>
          <a:lstStyle/>
          <a:p>
            <a:endParaRPr lang="en-US"/>
          </a:p>
        </p:txBody>
      </p:sp>
      <p:sp>
        <p:nvSpPr>
          <p:cNvPr id="171" name="Text"/>
          <p:cNvSpPr/>
          <p:nvPr/>
        </p:nvSpPr>
        <p:spPr>
          <a:xfrm>
            <a:off x="11722608" y="2816352"/>
            <a:ext cx="640080" cy="411480"/>
          </a:xfrm>
          <a:prstGeom prst="rect">
            <a:avLst/>
          </a:prstGeom>
          <a:noFill/>
          <a:ln/>
        </p:spPr>
        <p:txBody>
          <a:bodyPr wrap="square" rtlCol="0" anchor="ctr"/>
          <a:lstStyle/>
          <a:p>
            <a:pPr marL="0" indent="0">
              <a:buNone/>
            </a:pPr>
            <a:r>
              <a:rPr lang="en-US" sz="1000" b="1" dirty="0">
                <a:solidFill>
                  <a:srgbClr val="DC2626"/>
                </a:solidFill>
                <a:latin typeface="Calibri" pitchFamily="34" charset="0"/>
                <a:ea typeface="Calibri" pitchFamily="34" charset="-122"/>
                <a:cs typeface="Calibri" pitchFamily="34" charset="-120"/>
              </a:rPr>
              <a:t>5%</a:t>
            </a:r>
          </a:p>
        </p:txBody>
      </p:sp>
      <p:sp>
        <p:nvSpPr>
          <p:cNvPr id="172" name="Shape"/>
          <p:cNvSpPr/>
          <p:nvPr/>
        </p:nvSpPr>
        <p:spPr>
          <a:xfrm>
            <a:off x="6309360" y="4005072"/>
            <a:ext cx="5577840" cy="1188720"/>
          </a:xfrm>
          <a:prstGeom prst="roundRect">
            <a:avLst>
              <a:gd name="adj" fmla="val 8000"/>
            </a:avLst>
          </a:prstGeom>
          <a:solidFill>
            <a:srgbClr val="FFF5E6"/>
          </a:solidFill>
          <a:ln/>
        </p:spPr>
        <p:txBody>
          <a:bodyPr/>
          <a:lstStyle/>
          <a:p>
            <a:endParaRPr lang="en-US"/>
          </a:p>
        </p:txBody>
      </p:sp>
      <p:sp>
        <p:nvSpPr>
          <p:cNvPr id="173" name="Text"/>
          <p:cNvSpPr/>
          <p:nvPr/>
        </p:nvSpPr>
        <p:spPr>
          <a:xfrm>
            <a:off x="6446520" y="4005072"/>
            <a:ext cx="5303520" cy="1188720"/>
          </a:xfrm>
          <a:prstGeom prst="rect">
            <a:avLst/>
          </a:prstGeom>
          <a:noFill/>
          <a:ln/>
        </p:spPr>
        <p:txBody>
          <a:bodyPr wrap="square" rtlCol="0" anchor="ctr"/>
          <a:lstStyle/>
          <a:p>
            <a:pPr marL="0" indent="0">
              <a:buNone/>
            </a:pPr>
            <a:r>
              <a:rPr lang="en-US" sz="950" b="1" dirty="0">
                <a:solidFill>
                  <a:srgbClr val="EA580C"/>
                </a:solidFill>
                <a:latin typeface="Calibri" pitchFamily="34" charset="0"/>
                <a:ea typeface="Calibri" pitchFamily="34" charset="-122"/>
                <a:cs typeface="Calibri" pitchFamily="34" charset="-120"/>
              </a:rPr>
              <a:t>🎯 OPPORTUNITÉ CAJOU : </a:t>
            </a:r>
            <a:r>
              <a:rPr lang="en-US" sz="950" dirty="0">
                <a:solidFill>
                  <a:srgbClr val="334155"/>
                </a:solidFill>
                <a:latin typeface="Calibri" pitchFamily="34" charset="0"/>
                <a:ea typeface="Calibri" pitchFamily="34" charset="-122"/>
                <a:cs typeface="Calibri" pitchFamily="34" charset="-120"/>
              </a:rPr>
              <a:t>13 129 TEU de marché, AGL à 5,4%. Portée à 12% = +860 TEU/an. COOPEX CAJOU CI = tête de pont prioritaire. Alerte Mai (PDM 20,1%) : compenser la fin de saison cacao par ces nouvelles filières.</a:t>
            </a:r>
          </a:p>
        </p:txBody>
      </p:sp>
      <p:sp>
        <p:nvSpPr>
          <p:cNvPr id="174" name="Text"/>
          <p:cNvSpPr/>
          <p:nvPr/>
        </p:nvSpPr>
        <p:spPr>
          <a:xfrm>
            <a:off x="365760" y="6601968"/>
            <a:ext cx="11430000" cy="201168"/>
          </a:xfrm>
          <a:prstGeom prst="rect">
            <a:avLst/>
          </a:prstGeom>
          <a:noFill/>
          <a:ln/>
        </p:spPr>
        <p:txBody>
          <a:bodyPr wrap="square" rtlCol="0" anchor="t"/>
          <a:lstStyle/>
          <a:p>
            <a:pPr marL="0" indent="0" algn="ctr">
              <a:buNone/>
            </a:pPr>
            <a:r>
              <a:rPr lang="en-US" sz="850" dirty="0">
                <a:solidFill>
                  <a:srgbClr val="64748B"/>
                </a:solidFill>
                <a:latin typeface="Calibri" pitchFamily="34" charset="0"/>
                <a:ea typeface="Calibri" pitchFamily="34" charset="-122"/>
                <a:cs typeface="Calibri" pitchFamily="34" charset="-120"/>
              </a:rPr>
              <a:t>Africa Global Logistics – Étude de Marché Jan–Mai 2026  |  p.12</a:t>
            </a:r>
          </a:p>
        </p:txBody>
      </p:sp>
      <p:pic>
        <p:nvPicPr>
          <p:cNvPr id="175" name="Image logo"/>
          <p:cNvPicPr>
            <a:picLocks noChangeAspect="1"/>
          </p:cNvPicPr>
          <p:nvPr/>
        </p:nvPicPr>
        <p:blipFill>
          <a:blip r:embed="rId3" cstate="screen"/>
          <a:stretch>
            <a:fillRect/>
          </a:stretch>
        </p:blipFill>
        <p:spPr>
          <a:xfrm>
            <a:off x="11488450" y="6549898"/>
            <a:ext cx="450027" cy="292409"/>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Hint Imp Nouveaux">
    <p:bg>
      <p:bgPr>
        <a:solidFill>
          <a:srgbClr val="FFFFFF"/>
        </a:solidFill>
        <a:effectLst/>
      </p:bgPr>
    </p:bg>
    <p:spTree>
      <p:nvGrpSpPr>
        <p:cNvPr id="1" name=""/>
        <p:cNvGrpSpPr/>
        <p:nvPr/>
      </p:nvGrpSpPr>
      <p:grpSpPr>
        <a:xfrm>
          <a:off x="0" y="0"/>
          <a:ext cx="0" cy="0"/>
          <a:chOff x="0" y="0"/>
          <a:chExt cx="0" cy="0"/>
        </a:xfrm>
      </p:grpSpPr>
      <p:sp>
        <p:nvSpPr>
          <p:cNvPr id="176" name="Shape"/>
          <p:cNvSpPr/>
          <p:nvPr/>
        </p:nvSpPr>
        <p:spPr>
          <a:xfrm>
            <a:off x="0" y="0"/>
            <a:ext cx="12161520" cy="1051560"/>
          </a:xfrm>
          <a:prstGeom prst="rect">
            <a:avLst/>
          </a:prstGeom>
          <a:solidFill>
            <a:srgbClr val="0A2240"/>
          </a:solidFill>
          <a:ln w="12700">
            <a:solidFill>
              <a:srgbClr val="0A2240"/>
            </a:solidFill>
            <a:prstDash val="solid"/>
          </a:ln>
        </p:spPr>
        <p:txBody>
          <a:bodyPr/>
          <a:lstStyle/>
          <a:p>
            <a:endParaRPr lang="en-US"/>
          </a:p>
        </p:txBody>
      </p:sp>
      <p:sp>
        <p:nvSpPr>
          <p:cNvPr id="177" name="Text"/>
          <p:cNvSpPr/>
          <p:nvPr/>
        </p:nvSpPr>
        <p:spPr>
          <a:xfrm>
            <a:off x="365760" y="54864"/>
            <a:ext cx="11430000" cy="65836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HINTERLAND IMPORT – NOUVEAUX ENTRANTS &amp; NOUVEAUX FLUX</a:t>
            </a:r>
          </a:p>
        </p:txBody>
      </p:sp>
      <p:sp>
        <p:nvSpPr>
          <p:cNvPr id="178" name="Text"/>
          <p:cNvSpPr/>
          <p:nvPr/>
        </p:nvSpPr>
        <p:spPr>
          <a:xfrm>
            <a:off x="365760" y="676656"/>
            <a:ext cx="11430000" cy="329184"/>
          </a:xfrm>
          <a:prstGeom prst="rect">
            <a:avLst/>
          </a:prstGeom>
          <a:noFill/>
          <a:ln/>
        </p:spPr>
        <p:txBody>
          <a:bodyPr wrap="square" rtlCol="0" anchor="t"/>
          <a:lstStyle/>
          <a:p>
            <a:pPr marL="0" indent="0">
              <a:buNone/>
            </a:pPr>
            <a:r>
              <a:rPr lang="en-US" sz="1200" i="1" dirty="0">
                <a:solidFill>
                  <a:srgbClr val="C8A951"/>
                </a:solidFill>
                <a:latin typeface="Calibri" pitchFamily="34" charset="0"/>
                <a:ea typeface="Calibri" pitchFamily="34" charset="-122"/>
                <a:cs typeface="Calibri" pitchFamily="34" charset="-120"/>
              </a:rPr>
              <a:t>Transitaires entrants  |  Nouvelles marchandises  |  Nouveaux destinataires Bamako–Ouagadougou</a:t>
            </a:r>
          </a:p>
        </p:txBody>
      </p:sp>
      <p:sp>
        <p:nvSpPr>
          <p:cNvPr id="179" name="Text"/>
          <p:cNvSpPr/>
          <p:nvPr/>
        </p:nvSpPr>
        <p:spPr>
          <a:xfrm>
            <a:off x="320040" y="1143000"/>
            <a:ext cx="5760720" cy="274320"/>
          </a:xfrm>
          <a:prstGeom prst="rect">
            <a:avLst/>
          </a:prstGeom>
          <a:noFill/>
          <a:ln/>
        </p:spPr>
        <p:txBody>
          <a:bodyPr wrap="square" rtlCol="0" anchor="t"/>
          <a:lstStyle/>
          <a:p>
            <a:pPr marL="0" indent="0">
              <a:buNone/>
            </a:pPr>
            <a:r>
              <a:rPr lang="en-US" sz="1200" b="1" dirty="0">
                <a:solidFill>
                  <a:srgbClr val="0A2240"/>
                </a:solidFill>
                <a:latin typeface="Calibri" pitchFamily="34" charset="0"/>
                <a:ea typeface="Calibri" pitchFamily="34" charset="-122"/>
                <a:cs typeface="Calibri" pitchFamily="34" charset="-120"/>
              </a:rPr>
              <a:t>Nouveaux transitaires – Hinterland Import</a:t>
            </a:r>
          </a:p>
        </p:txBody>
      </p:sp>
      <p:graphicFrame>
        <p:nvGraphicFramePr>
          <p:cNvPr id="180" name="Table"/>
          <p:cNvGraphicFramePr>
            <a:graphicFrameLocks noGrp="1"/>
          </p:cNvGraphicFramePr>
          <p:nvPr/>
        </p:nvGraphicFramePr>
        <p:xfrm>
          <a:off x="320040" y="1444752"/>
          <a:ext cx="5760720" cy="1691640"/>
        </p:xfrm>
        <a:graphic>
          <a:graphicData uri="http://schemas.openxmlformats.org/drawingml/2006/table">
            <a:tbl>
              <a:tblPr/>
              <a:tblGrid>
                <a:gridCol w="457200"/>
                <a:gridCol w="2350000"/>
                <a:gridCol w="750000"/>
                <a:gridCol w="750000"/>
                <a:gridCol w="1453520"/>
              </a:tblGrid>
              <a:tr h="338328">
                <a:tc>
                  <a:txBody>
                    <a:bodyPr/>
                    <a:lstStyle/>
                    <a:p>
                      <a:pPr marL="0" indent="0" algn="ctr">
                        <a:buNone/>
                      </a:pPr>
                      <a:r>
                        <a:rPr lang="en-US" sz="1000" b="1" dirty="0">
                          <a:solidFill>
                            <a:srgbClr val="FFFFFF"/>
                          </a:solidFill>
                        </a:rPr>
                        <a:t>Rang</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lgn="ctr">
                        <a:buNone/>
                      </a:pPr>
                      <a:r>
                        <a:rPr lang="en-US" sz="1000" b="1" dirty="0">
                          <a:solidFill>
                            <a:srgbClr val="FFFFFF"/>
                          </a:solidFill>
                        </a:rPr>
                        <a:t>Transitaire</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lgn="ctr">
                        <a:buNone/>
                      </a:pPr>
                      <a:r>
                        <a:rPr lang="en-US" sz="1000" b="1" dirty="0">
                          <a:solidFill>
                            <a:srgbClr val="FFFFFF"/>
                          </a:solidFill>
                        </a:rPr>
                        <a:t>TEU</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lgn="ctr">
                        <a:buNone/>
                      </a:pPr>
                      <a:r>
                        <a:rPr lang="en-US" sz="1000" b="1" dirty="0">
                          <a:solidFill>
                            <a:srgbClr val="FFFFFF"/>
                          </a:solidFill>
                        </a:rPr>
                        <a:t>PDM</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lgn="ctr">
                        <a:buNone/>
                      </a:pPr>
                      <a:r>
                        <a:rPr lang="en-US" sz="1000" b="1" dirty="0">
                          <a:solidFill>
                            <a:srgbClr val="FFFFFF"/>
                          </a:solidFill>
                        </a:rPr>
                        <a:t>Spécialité</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r>
              <a:tr h="338328">
                <a:tc>
                  <a:txBody>
                    <a:bodyPr/>
                    <a:lstStyle/>
                    <a:p>
                      <a:pPr marL="0" indent="0" algn="ctr">
                        <a:buNone/>
                      </a:pPr>
                      <a:r>
                        <a:rPr lang="en-US" sz="950" dirty="0">
                          <a:solidFill>
                            <a:srgbClr val="334155"/>
                          </a:solidFill>
                        </a:rPr>
                        <a:t>#11</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334155"/>
                          </a:solidFill>
                        </a:rPr>
                        <a:t>SAHEL TRANSIT</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620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2,2 %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Sucre / Alimentaire</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lgn="ctr">
                        <a:buNone/>
                      </a:pPr>
                      <a:r>
                        <a:rPr lang="en-US" sz="950" dirty="0">
                          <a:solidFill>
                            <a:srgbClr val="334155"/>
                          </a:solidFill>
                        </a:rPr>
                        <a:t>#12</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334155"/>
                          </a:solidFill>
                        </a:rPr>
                        <a:t>BURKINATRANS</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580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2,0 %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BTP Burkina</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lgn="ctr">
                        <a:buNone/>
                      </a:pPr>
                      <a:r>
                        <a:rPr lang="en-US" sz="950" dirty="0">
                          <a:solidFill>
                            <a:srgbClr val="334155"/>
                          </a:solidFill>
                        </a:rPr>
                        <a:t>#13</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334155"/>
                          </a:solidFill>
                        </a:rPr>
                        <a:t>TRANS-SAHEL LOG.</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450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1,6 %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Machines</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lgn="ctr">
                        <a:buNone/>
                      </a:pPr>
                      <a:r>
                        <a:rPr lang="en-US" sz="950" dirty="0">
                          <a:solidFill>
                            <a:srgbClr val="334155"/>
                          </a:solidFill>
                        </a:rPr>
                        <a:t>#14</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334155"/>
                          </a:solidFill>
                        </a:rPr>
                        <a:t>KARAMOKOTRA TRANSIT</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380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1,3 %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Alimentation</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181" name="Text"/>
          <p:cNvSpPr/>
          <p:nvPr/>
        </p:nvSpPr>
        <p:spPr>
          <a:xfrm>
            <a:off x="320040" y="3337560"/>
            <a:ext cx="5760720" cy="274320"/>
          </a:xfrm>
          <a:prstGeom prst="rect">
            <a:avLst/>
          </a:prstGeom>
          <a:noFill/>
          <a:ln/>
        </p:spPr>
        <p:txBody>
          <a:bodyPr wrap="square" rtlCol="0" anchor="t"/>
          <a:lstStyle/>
          <a:p>
            <a:pPr marL="0" indent="0">
              <a:buNone/>
            </a:pPr>
            <a:r>
              <a:rPr lang="en-US" sz="1200" b="1" dirty="0">
                <a:solidFill>
                  <a:srgbClr val="0A2240"/>
                </a:solidFill>
                <a:latin typeface="Calibri" pitchFamily="34" charset="0"/>
                <a:ea typeface="Calibri" pitchFamily="34" charset="-122"/>
                <a:cs typeface="Calibri" pitchFamily="34" charset="-120"/>
              </a:rPr>
              <a:t>Nouveaux destinataires AGL – Hinterland Import</a:t>
            </a:r>
          </a:p>
        </p:txBody>
      </p:sp>
      <p:graphicFrame>
        <p:nvGraphicFramePr>
          <p:cNvPr id="182" name="Table"/>
          <p:cNvGraphicFramePr>
            <a:graphicFrameLocks noGrp="1"/>
          </p:cNvGraphicFramePr>
          <p:nvPr/>
        </p:nvGraphicFramePr>
        <p:xfrm>
          <a:off x="320040" y="3639312"/>
          <a:ext cx="5760720" cy="2029968"/>
        </p:xfrm>
        <a:graphic>
          <a:graphicData uri="http://schemas.openxmlformats.org/drawingml/2006/table">
            <a:tbl>
              <a:tblPr/>
              <a:tblGrid>
                <a:gridCol w="2350000"/>
                <a:gridCol w="750000"/>
                <a:gridCol w="1660720"/>
                <a:gridCol w="1000000"/>
              </a:tblGrid>
              <a:tr h="338328">
                <a:tc>
                  <a:txBody>
                    <a:bodyPr/>
                    <a:lstStyle/>
                    <a:p>
                      <a:pPr marL="0" indent="0" algn="ctr">
                        <a:buNone/>
                      </a:pPr>
                      <a:r>
                        <a:rPr lang="en-US" sz="1000" b="1" dirty="0">
                          <a:solidFill>
                            <a:srgbClr val="FFFFFF"/>
                          </a:solidFill>
                        </a:rPr>
                        <a:t>Destinataire</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lgn="ctr">
                        <a:buNone/>
                      </a:pPr>
                      <a:r>
                        <a:rPr lang="en-US" sz="1000" b="1" dirty="0">
                          <a:solidFill>
                            <a:srgbClr val="FFFFFF"/>
                          </a:solidFill>
                        </a:rPr>
                        <a:t>TEU</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lgn="ctr">
                        <a:buNone/>
                      </a:pPr>
                      <a:r>
                        <a:rPr lang="en-US" sz="1000" b="1" dirty="0">
                          <a:solidFill>
                            <a:srgbClr val="FFFFFF"/>
                          </a:solidFill>
                        </a:rPr>
                        <a:t>Destination</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lgn="ctr">
                        <a:buNone/>
                      </a:pPr>
                      <a:r>
                        <a:rPr lang="en-US" sz="1000" b="1" dirty="0">
                          <a:solidFill>
                            <a:srgbClr val="FFFFFF"/>
                          </a:solidFill>
                        </a:rPr>
                        <a:t>Entrée</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r>
              <a:tr h="338328">
                <a:tc>
                  <a:txBody>
                    <a:bodyPr/>
                    <a:lstStyle/>
                    <a:p>
                      <a:pPr marL="0" indent="0">
                        <a:buNone/>
                      </a:pPr>
                      <a:r>
                        <a:rPr lang="en-US" sz="950" dirty="0">
                          <a:solidFill>
                            <a:srgbClr val="334155"/>
                          </a:solidFill>
                        </a:rPr>
                        <a:t>SOFAO BF (alimentaire)</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926</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Ouagadougou</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Q1 2026</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buNone/>
                      </a:pPr>
                      <a:r>
                        <a:rPr lang="en-US" sz="950" dirty="0">
                          <a:solidFill>
                            <a:srgbClr val="334155"/>
                          </a:solidFill>
                        </a:rPr>
                        <a:t>BRAKINA (boissons)</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552</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Bobo-Dioulasso</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Q1 2026</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buNone/>
                      </a:pPr>
                      <a:r>
                        <a:rPr lang="en-US" sz="950" dirty="0">
                          <a:solidFill>
                            <a:srgbClr val="334155"/>
                          </a:solidFill>
                        </a:rPr>
                        <a:t>CODIMEX BF (emballages)</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461</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Ouagadougou</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Q2 2026</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buNone/>
                      </a:pPr>
                      <a:r>
                        <a:rPr lang="en-US" sz="950" dirty="0">
                          <a:solidFill>
                            <a:srgbClr val="334155"/>
                          </a:solidFill>
                        </a:rPr>
                        <a:t>TOTAL ENERGIES ML</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390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Bamako</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Q1 2026</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buNone/>
                      </a:pPr>
                      <a:r>
                        <a:rPr lang="en-US" sz="950" dirty="0">
                          <a:solidFill>
                            <a:srgbClr val="334155"/>
                          </a:solidFill>
                        </a:rPr>
                        <a:t>ONATEL BF (télécoms)</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320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Ouagadougou</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Q2 2026</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183" name="Text"/>
          <p:cNvSpPr/>
          <p:nvPr/>
        </p:nvSpPr>
        <p:spPr>
          <a:xfrm>
            <a:off x="6309360" y="1143000"/>
            <a:ext cx="5486400" cy="274320"/>
          </a:xfrm>
          <a:prstGeom prst="rect">
            <a:avLst/>
          </a:prstGeom>
          <a:noFill/>
          <a:ln/>
        </p:spPr>
        <p:txBody>
          <a:bodyPr wrap="square" rtlCol="0" anchor="t"/>
          <a:lstStyle/>
          <a:p>
            <a:pPr marL="0" indent="0">
              <a:buNone/>
            </a:pPr>
            <a:r>
              <a:rPr lang="en-US" sz="1200" b="1" dirty="0">
                <a:solidFill>
                  <a:srgbClr val="0A2240"/>
                </a:solidFill>
                <a:latin typeface="Calibri" pitchFamily="34" charset="0"/>
                <a:ea typeface="Calibri" pitchFamily="34" charset="-122"/>
                <a:cs typeface="Calibri" pitchFamily="34" charset="-120"/>
              </a:rPr>
              <a:t>Nouvelles marchandises hinterland – PDM AGL</a:t>
            </a:r>
          </a:p>
        </p:txBody>
      </p:sp>
      <p:sp>
        <p:nvSpPr>
          <p:cNvPr id="184" name="Shape"/>
          <p:cNvSpPr/>
          <p:nvPr/>
        </p:nvSpPr>
        <p:spPr>
          <a:xfrm>
            <a:off x="6309360" y="1444752"/>
            <a:ext cx="5577840" cy="411480"/>
          </a:xfrm>
          <a:prstGeom prst="roundRect">
            <a:avLst>
              <a:gd name="adj" fmla="val 8889"/>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185" name="Text"/>
          <p:cNvSpPr/>
          <p:nvPr/>
        </p:nvSpPr>
        <p:spPr>
          <a:xfrm>
            <a:off x="6446520" y="1444752"/>
            <a:ext cx="2423160" cy="411480"/>
          </a:xfrm>
          <a:prstGeom prst="rect">
            <a:avLst/>
          </a:prstGeom>
          <a:noFill/>
          <a:ln/>
        </p:spPr>
        <p:txBody>
          <a:bodyPr wrap="square" rtlCol="0" anchor="ctr"/>
          <a:lstStyle/>
          <a:p>
            <a:pPr marL="0" indent="0">
              <a:buNone/>
            </a:pPr>
            <a:r>
              <a:rPr lang="en-US" sz="900" b="1" dirty="0">
                <a:solidFill>
                  <a:srgbClr val="334155"/>
                </a:solidFill>
                <a:latin typeface="Calibri" pitchFamily="34" charset="0"/>
                <a:ea typeface="Calibri" pitchFamily="34" charset="-122"/>
                <a:cs typeface="Calibri" pitchFamily="34" charset="-120"/>
              </a:rPr>
              <a:t>MATÉRIEL AGRICOLE</a:t>
            </a:r>
          </a:p>
        </p:txBody>
      </p:sp>
      <p:sp>
        <p:nvSpPr>
          <p:cNvPr id="186" name="Text"/>
          <p:cNvSpPr/>
          <p:nvPr/>
        </p:nvSpPr>
        <p:spPr>
          <a:xfrm>
            <a:off x="8869680" y="1444752"/>
            <a:ext cx="1325880" cy="41148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520 TEU</a:t>
            </a:r>
          </a:p>
        </p:txBody>
      </p:sp>
      <p:sp>
        <p:nvSpPr>
          <p:cNvPr id="187" name="Shape"/>
          <p:cNvSpPr/>
          <p:nvPr/>
        </p:nvSpPr>
        <p:spPr>
          <a:xfrm>
            <a:off x="9948672" y="1554480"/>
            <a:ext cx="1737360" cy="164592"/>
          </a:xfrm>
          <a:prstGeom prst="rect">
            <a:avLst/>
          </a:prstGeom>
          <a:solidFill>
            <a:srgbClr val="CBD5E1"/>
          </a:solidFill>
          <a:ln/>
        </p:spPr>
        <p:txBody>
          <a:bodyPr/>
          <a:lstStyle/>
          <a:p>
            <a:endParaRPr lang="en-US"/>
          </a:p>
        </p:txBody>
      </p:sp>
      <p:sp>
        <p:nvSpPr>
          <p:cNvPr id="188" name="Shape"/>
          <p:cNvSpPr/>
          <p:nvPr/>
        </p:nvSpPr>
        <p:spPr>
          <a:xfrm>
            <a:off x="9948672" y="1554480"/>
            <a:ext cx="138989" cy="164592"/>
          </a:xfrm>
          <a:prstGeom prst="rect">
            <a:avLst/>
          </a:prstGeom>
          <a:solidFill>
            <a:srgbClr val="0891B2"/>
          </a:solidFill>
          <a:ln/>
        </p:spPr>
        <p:txBody>
          <a:bodyPr/>
          <a:lstStyle/>
          <a:p>
            <a:endParaRPr lang="en-US"/>
          </a:p>
        </p:txBody>
      </p:sp>
      <p:sp>
        <p:nvSpPr>
          <p:cNvPr id="189" name="Text"/>
          <p:cNvSpPr/>
          <p:nvPr/>
        </p:nvSpPr>
        <p:spPr>
          <a:xfrm>
            <a:off x="11722608" y="1444752"/>
            <a:ext cx="640080" cy="411480"/>
          </a:xfrm>
          <a:prstGeom prst="rect">
            <a:avLst/>
          </a:prstGeom>
          <a:noFill/>
          <a:ln/>
        </p:spPr>
        <p:txBody>
          <a:bodyPr wrap="square" rtlCol="0" anchor="ctr"/>
          <a:lstStyle/>
          <a:p>
            <a:pPr marL="0" indent="0">
              <a:buNone/>
            </a:pPr>
            <a:r>
              <a:rPr lang="en-US" sz="1000" b="1" dirty="0">
                <a:solidFill>
                  <a:srgbClr val="0891B2"/>
                </a:solidFill>
                <a:latin typeface="Calibri" pitchFamily="34" charset="0"/>
                <a:ea typeface="Calibri" pitchFamily="34" charset="-122"/>
                <a:cs typeface="Calibri" pitchFamily="34" charset="-120"/>
              </a:rPr>
              <a:t>8%</a:t>
            </a:r>
          </a:p>
        </p:txBody>
      </p:sp>
      <p:sp>
        <p:nvSpPr>
          <p:cNvPr id="190" name="Shape"/>
          <p:cNvSpPr/>
          <p:nvPr/>
        </p:nvSpPr>
        <p:spPr>
          <a:xfrm>
            <a:off x="6309360" y="1901952"/>
            <a:ext cx="5577840" cy="411480"/>
          </a:xfrm>
          <a:prstGeom prst="roundRect">
            <a:avLst>
              <a:gd name="adj" fmla="val 8889"/>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191" name="Text"/>
          <p:cNvSpPr/>
          <p:nvPr/>
        </p:nvSpPr>
        <p:spPr>
          <a:xfrm>
            <a:off x="6446520" y="1901952"/>
            <a:ext cx="2423160" cy="411480"/>
          </a:xfrm>
          <a:prstGeom prst="rect">
            <a:avLst/>
          </a:prstGeom>
          <a:noFill/>
          <a:ln/>
        </p:spPr>
        <p:txBody>
          <a:bodyPr wrap="square" rtlCol="0" anchor="ctr"/>
          <a:lstStyle/>
          <a:p>
            <a:pPr marL="0" indent="0">
              <a:buNone/>
            </a:pPr>
            <a:r>
              <a:rPr lang="en-US" sz="900" b="1" dirty="0">
                <a:solidFill>
                  <a:srgbClr val="334155"/>
                </a:solidFill>
                <a:latin typeface="Calibri" pitchFamily="34" charset="0"/>
                <a:ea typeface="Calibri" pitchFamily="34" charset="-122"/>
                <a:cs typeface="Calibri" pitchFamily="34" charset="-120"/>
              </a:rPr>
              <a:t>VÉHICULES BTP</a:t>
            </a:r>
          </a:p>
        </p:txBody>
      </p:sp>
      <p:sp>
        <p:nvSpPr>
          <p:cNvPr id="192" name="Text"/>
          <p:cNvSpPr/>
          <p:nvPr/>
        </p:nvSpPr>
        <p:spPr>
          <a:xfrm>
            <a:off x="8869680" y="1901952"/>
            <a:ext cx="1325880" cy="41148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380 TEU</a:t>
            </a:r>
          </a:p>
        </p:txBody>
      </p:sp>
      <p:sp>
        <p:nvSpPr>
          <p:cNvPr id="193" name="Shape"/>
          <p:cNvSpPr/>
          <p:nvPr/>
        </p:nvSpPr>
        <p:spPr>
          <a:xfrm>
            <a:off x="9948672" y="2011680"/>
            <a:ext cx="1737360" cy="164592"/>
          </a:xfrm>
          <a:prstGeom prst="rect">
            <a:avLst/>
          </a:prstGeom>
          <a:solidFill>
            <a:srgbClr val="CBD5E1"/>
          </a:solidFill>
          <a:ln/>
        </p:spPr>
        <p:txBody>
          <a:bodyPr/>
          <a:lstStyle/>
          <a:p>
            <a:endParaRPr lang="en-US"/>
          </a:p>
        </p:txBody>
      </p:sp>
      <p:sp>
        <p:nvSpPr>
          <p:cNvPr id="194" name="Shape"/>
          <p:cNvSpPr/>
          <p:nvPr/>
        </p:nvSpPr>
        <p:spPr>
          <a:xfrm>
            <a:off x="9948672" y="2011680"/>
            <a:ext cx="86868" cy="164592"/>
          </a:xfrm>
          <a:prstGeom prst="rect">
            <a:avLst/>
          </a:prstGeom>
          <a:solidFill>
            <a:srgbClr val="DC2626"/>
          </a:solidFill>
          <a:ln/>
        </p:spPr>
        <p:txBody>
          <a:bodyPr/>
          <a:lstStyle/>
          <a:p>
            <a:endParaRPr lang="en-US"/>
          </a:p>
        </p:txBody>
      </p:sp>
      <p:sp>
        <p:nvSpPr>
          <p:cNvPr id="195" name="Text"/>
          <p:cNvSpPr/>
          <p:nvPr/>
        </p:nvSpPr>
        <p:spPr>
          <a:xfrm>
            <a:off x="11722608" y="1901952"/>
            <a:ext cx="640080" cy="411480"/>
          </a:xfrm>
          <a:prstGeom prst="rect">
            <a:avLst/>
          </a:prstGeom>
          <a:noFill/>
          <a:ln/>
        </p:spPr>
        <p:txBody>
          <a:bodyPr wrap="square" rtlCol="0" anchor="ctr"/>
          <a:lstStyle/>
          <a:p>
            <a:pPr marL="0" indent="0">
              <a:buNone/>
            </a:pPr>
            <a:r>
              <a:rPr lang="en-US" sz="1000" b="1" dirty="0">
                <a:solidFill>
                  <a:srgbClr val="DC2626"/>
                </a:solidFill>
                <a:latin typeface="Calibri" pitchFamily="34" charset="0"/>
                <a:ea typeface="Calibri" pitchFamily="34" charset="-122"/>
                <a:cs typeface="Calibri" pitchFamily="34" charset="-120"/>
              </a:rPr>
              <a:t>5%</a:t>
            </a:r>
          </a:p>
        </p:txBody>
      </p:sp>
      <p:sp>
        <p:nvSpPr>
          <p:cNvPr id="196" name="Shape"/>
          <p:cNvSpPr/>
          <p:nvPr/>
        </p:nvSpPr>
        <p:spPr>
          <a:xfrm>
            <a:off x="6309360" y="2359152"/>
            <a:ext cx="5577840" cy="411480"/>
          </a:xfrm>
          <a:prstGeom prst="roundRect">
            <a:avLst>
              <a:gd name="adj" fmla="val 8889"/>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197" name="Text"/>
          <p:cNvSpPr/>
          <p:nvPr/>
        </p:nvSpPr>
        <p:spPr>
          <a:xfrm>
            <a:off x="6446520" y="2359152"/>
            <a:ext cx="2423160" cy="411480"/>
          </a:xfrm>
          <a:prstGeom prst="rect">
            <a:avLst/>
          </a:prstGeom>
          <a:noFill/>
          <a:ln/>
        </p:spPr>
        <p:txBody>
          <a:bodyPr wrap="square" rtlCol="0" anchor="ctr"/>
          <a:lstStyle/>
          <a:p>
            <a:pPr marL="0" indent="0">
              <a:buNone/>
            </a:pPr>
            <a:r>
              <a:rPr lang="en-US" sz="900" b="1" dirty="0">
                <a:solidFill>
                  <a:srgbClr val="334155"/>
                </a:solidFill>
                <a:latin typeface="Calibri" pitchFamily="34" charset="0"/>
                <a:ea typeface="Calibri" pitchFamily="34" charset="-122"/>
                <a:cs typeface="Calibri" pitchFamily="34" charset="-120"/>
              </a:rPr>
              <a:t>INTRANTS PHARMA</a:t>
            </a:r>
          </a:p>
        </p:txBody>
      </p:sp>
      <p:sp>
        <p:nvSpPr>
          <p:cNvPr id="198" name="Text"/>
          <p:cNvSpPr/>
          <p:nvPr/>
        </p:nvSpPr>
        <p:spPr>
          <a:xfrm>
            <a:off x="8869680" y="2359152"/>
            <a:ext cx="1325880" cy="41148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290 TEU</a:t>
            </a:r>
          </a:p>
        </p:txBody>
      </p:sp>
      <p:sp>
        <p:nvSpPr>
          <p:cNvPr id="199" name="Shape"/>
          <p:cNvSpPr/>
          <p:nvPr/>
        </p:nvSpPr>
        <p:spPr>
          <a:xfrm>
            <a:off x="9948672" y="2468880"/>
            <a:ext cx="1737360" cy="164592"/>
          </a:xfrm>
          <a:prstGeom prst="rect">
            <a:avLst/>
          </a:prstGeom>
          <a:solidFill>
            <a:srgbClr val="CBD5E1"/>
          </a:solidFill>
          <a:ln/>
        </p:spPr>
        <p:txBody>
          <a:bodyPr/>
          <a:lstStyle/>
          <a:p>
            <a:endParaRPr lang="en-US"/>
          </a:p>
        </p:txBody>
      </p:sp>
      <p:sp>
        <p:nvSpPr>
          <p:cNvPr id="200" name="Shape"/>
          <p:cNvSpPr/>
          <p:nvPr/>
        </p:nvSpPr>
        <p:spPr>
          <a:xfrm>
            <a:off x="9948672" y="2468880"/>
            <a:ext cx="208483" cy="164592"/>
          </a:xfrm>
          <a:prstGeom prst="rect">
            <a:avLst/>
          </a:prstGeom>
          <a:solidFill>
            <a:srgbClr val="0891B2"/>
          </a:solidFill>
          <a:ln/>
        </p:spPr>
        <p:txBody>
          <a:bodyPr/>
          <a:lstStyle/>
          <a:p>
            <a:endParaRPr lang="en-US"/>
          </a:p>
        </p:txBody>
      </p:sp>
      <p:sp>
        <p:nvSpPr>
          <p:cNvPr id="201" name="Text"/>
          <p:cNvSpPr/>
          <p:nvPr/>
        </p:nvSpPr>
        <p:spPr>
          <a:xfrm>
            <a:off x="11722608" y="2359152"/>
            <a:ext cx="640080" cy="411480"/>
          </a:xfrm>
          <a:prstGeom prst="rect">
            <a:avLst/>
          </a:prstGeom>
          <a:noFill/>
          <a:ln/>
        </p:spPr>
        <p:txBody>
          <a:bodyPr wrap="square" rtlCol="0" anchor="ctr"/>
          <a:lstStyle/>
          <a:p>
            <a:pPr marL="0" indent="0">
              <a:buNone/>
            </a:pPr>
            <a:r>
              <a:rPr lang="en-US" sz="1000" b="1" dirty="0">
                <a:solidFill>
                  <a:srgbClr val="0891B2"/>
                </a:solidFill>
                <a:latin typeface="Calibri" pitchFamily="34" charset="0"/>
                <a:ea typeface="Calibri" pitchFamily="34" charset="-122"/>
                <a:cs typeface="Calibri" pitchFamily="34" charset="-120"/>
              </a:rPr>
              <a:t>12%</a:t>
            </a:r>
          </a:p>
        </p:txBody>
      </p:sp>
      <p:sp>
        <p:nvSpPr>
          <p:cNvPr id="202" name="Shape"/>
          <p:cNvSpPr/>
          <p:nvPr/>
        </p:nvSpPr>
        <p:spPr>
          <a:xfrm>
            <a:off x="6309360" y="3017520"/>
            <a:ext cx="5577840" cy="1005840"/>
          </a:xfrm>
          <a:prstGeom prst="roundRect">
            <a:avLst>
              <a:gd name="adj" fmla="val 8000"/>
            </a:avLst>
          </a:prstGeom>
          <a:solidFill>
            <a:srgbClr val="FFF5E6"/>
          </a:solidFill>
          <a:ln/>
        </p:spPr>
        <p:txBody>
          <a:bodyPr/>
          <a:lstStyle/>
          <a:p>
            <a:endParaRPr lang="en-US"/>
          </a:p>
        </p:txBody>
      </p:sp>
      <p:sp>
        <p:nvSpPr>
          <p:cNvPr id="203" name="Text"/>
          <p:cNvSpPr/>
          <p:nvPr/>
        </p:nvSpPr>
        <p:spPr>
          <a:xfrm>
            <a:off x="6446520" y="3017520"/>
            <a:ext cx="5303520" cy="1005840"/>
          </a:xfrm>
          <a:prstGeom prst="rect">
            <a:avLst/>
          </a:prstGeom>
          <a:noFill/>
          <a:ln/>
        </p:spPr>
        <p:txBody>
          <a:bodyPr wrap="square" rtlCol="0" anchor="ctr"/>
          <a:lstStyle/>
          <a:p>
            <a:pPr marL="0" indent="0">
              <a:buNone/>
            </a:pPr>
            <a:r>
              <a:rPr lang="en-US" sz="950" b="1" dirty="0">
                <a:solidFill>
                  <a:srgbClr val="EA580C"/>
                </a:solidFill>
                <a:latin typeface="Calibri" pitchFamily="34" charset="0"/>
                <a:ea typeface="Calibri" pitchFamily="34" charset="-122"/>
                <a:cs typeface="Calibri" pitchFamily="34" charset="-120"/>
              </a:rPr>
              <a:t>🎯 CIBLES : </a:t>
            </a:r>
            <a:r>
              <a:rPr lang="en-US" sz="950" dirty="0">
                <a:solidFill>
                  <a:srgbClr val="334155"/>
                </a:solidFill>
                <a:latin typeface="Calibri" pitchFamily="34" charset="0"/>
                <a:ea typeface="Calibri" pitchFamily="34" charset="-122"/>
                <a:cs typeface="Calibri" pitchFamily="34" charset="-120"/>
              </a:rPr>
              <a:t>Thé (928 TEU) + Motos (1 172 TEU) à 0–1% PDM = 2 100 TEU de potentiel immédiat. Commercial dédié Ouagadougou recommandé (40% du marché hinterland).</a:t>
            </a:r>
          </a:p>
        </p:txBody>
      </p:sp>
      <p:sp>
        <p:nvSpPr>
          <p:cNvPr id="204" name="Shape"/>
          <p:cNvSpPr/>
          <p:nvPr/>
        </p:nvSpPr>
        <p:spPr>
          <a:xfrm>
            <a:off x="6309360" y="4187952"/>
            <a:ext cx="5577840" cy="1005840"/>
          </a:xfrm>
          <a:prstGeom prst="roundRect">
            <a:avLst>
              <a:gd name="adj" fmla="val 8000"/>
            </a:avLst>
          </a:prstGeom>
          <a:solidFill>
            <a:srgbClr val="FFF5E6"/>
          </a:solidFill>
          <a:ln/>
        </p:spPr>
        <p:txBody>
          <a:bodyPr/>
          <a:lstStyle/>
          <a:p>
            <a:endParaRPr lang="en-US"/>
          </a:p>
        </p:txBody>
      </p:sp>
      <p:sp>
        <p:nvSpPr>
          <p:cNvPr id="205" name="Text"/>
          <p:cNvSpPr/>
          <p:nvPr/>
        </p:nvSpPr>
        <p:spPr>
          <a:xfrm>
            <a:off x="6446520" y="4187952"/>
            <a:ext cx="5303520" cy="1005840"/>
          </a:xfrm>
          <a:prstGeom prst="rect">
            <a:avLst/>
          </a:prstGeom>
          <a:noFill/>
          <a:ln/>
        </p:spPr>
        <p:txBody>
          <a:bodyPr wrap="square" rtlCol="0" anchor="ctr"/>
          <a:lstStyle/>
          <a:p>
            <a:pPr marL="0" indent="0">
              <a:buNone/>
            </a:pPr>
            <a:r>
              <a:rPr lang="en-US" sz="950" b="1" dirty="0">
                <a:solidFill>
                  <a:srgbClr val="EA580C"/>
                </a:solidFill>
                <a:latin typeface="Calibri" pitchFamily="34" charset="0"/>
                <a:ea typeface="Calibri" pitchFamily="34" charset="-122"/>
                <a:cs typeface="Calibri" pitchFamily="34" charset="-120"/>
              </a:rPr>
              <a:t>⚠ MENACE : </a:t>
            </a:r>
            <a:r>
              <a:rPr lang="en-US" sz="950" dirty="0">
                <a:solidFill>
                  <a:srgbClr val="334155"/>
                </a:solidFill>
                <a:latin typeface="Calibri" pitchFamily="34" charset="0"/>
                <a:ea typeface="Calibri" pitchFamily="34" charset="-122"/>
                <a:cs typeface="Calibri" pitchFamily="34" charset="-120"/>
              </a:rPr>
              <a:t>CEVA Logistics déjà #5 (4,4%) en quelques mois. UCT + Sitracom verrouillent 51,9% du marché — l'écart vers le rang #2 est de 3 994 TEU.</a:t>
            </a:r>
          </a:p>
        </p:txBody>
      </p:sp>
      <p:sp>
        <p:nvSpPr>
          <p:cNvPr id="206" name="Text"/>
          <p:cNvSpPr/>
          <p:nvPr/>
        </p:nvSpPr>
        <p:spPr>
          <a:xfrm>
            <a:off x="365760" y="6601968"/>
            <a:ext cx="11430000" cy="201168"/>
          </a:xfrm>
          <a:prstGeom prst="rect">
            <a:avLst/>
          </a:prstGeom>
          <a:noFill/>
          <a:ln/>
        </p:spPr>
        <p:txBody>
          <a:bodyPr wrap="square" rtlCol="0" anchor="t"/>
          <a:lstStyle/>
          <a:p>
            <a:pPr marL="0" indent="0" algn="ctr">
              <a:buNone/>
            </a:pPr>
            <a:r>
              <a:rPr lang="en-US" sz="850" dirty="0">
                <a:solidFill>
                  <a:srgbClr val="64748B"/>
                </a:solidFill>
                <a:latin typeface="Calibri" pitchFamily="34" charset="0"/>
                <a:ea typeface="Calibri" pitchFamily="34" charset="-122"/>
                <a:cs typeface="Calibri" pitchFamily="34" charset="-120"/>
              </a:rPr>
              <a:t>Africa Global Logistics – Étude de Marché Jan–Mai 2026  |  p.16</a:t>
            </a:r>
          </a:p>
        </p:txBody>
      </p:sp>
      <p:pic>
        <p:nvPicPr>
          <p:cNvPr id="207" name="Image logo"/>
          <p:cNvPicPr>
            <a:picLocks noChangeAspect="1"/>
          </p:cNvPicPr>
          <p:nvPr/>
        </p:nvPicPr>
        <p:blipFill>
          <a:blip r:embed="rId3" cstate="screen"/>
          <a:stretch>
            <a:fillRect/>
          </a:stretch>
        </p:blipFill>
        <p:spPr>
          <a:xfrm>
            <a:off x="11488450" y="6549898"/>
            <a:ext cx="450027" cy="292409"/>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Hint Exp Nouveaux chargeurs">
    <p:bg>
      <p:bgPr>
        <a:solidFill>
          <a:srgbClr val="FFFFFF"/>
        </a:solidFill>
        <a:effectLst/>
      </p:bgPr>
    </p:bg>
    <p:spTree>
      <p:nvGrpSpPr>
        <p:cNvPr id="1" name=""/>
        <p:cNvGrpSpPr/>
        <p:nvPr/>
      </p:nvGrpSpPr>
      <p:grpSpPr>
        <a:xfrm>
          <a:off x="0" y="0"/>
          <a:ext cx="0" cy="0"/>
          <a:chOff x="0" y="0"/>
          <a:chExt cx="0" cy="0"/>
        </a:xfrm>
      </p:grpSpPr>
      <p:sp>
        <p:nvSpPr>
          <p:cNvPr id="208" name="Shape"/>
          <p:cNvSpPr/>
          <p:nvPr/>
        </p:nvSpPr>
        <p:spPr>
          <a:xfrm>
            <a:off x="0" y="0"/>
            <a:ext cx="12161520" cy="1051560"/>
          </a:xfrm>
          <a:prstGeom prst="rect">
            <a:avLst/>
          </a:prstGeom>
          <a:solidFill>
            <a:srgbClr val="0A2240"/>
          </a:solidFill>
          <a:ln w="12700">
            <a:solidFill>
              <a:srgbClr val="0A2240"/>
            </a:solidFill>
            <a:prstDash val="solid"/>
          </a:ln>
        </p:spPr>
        <p:txBody>
          <a:bodyPr/>
          <a:lstStyle/>
          <a:p>
            <a:endParaRPr lang="en-US"/>
          </a:p>
        </p:txBody>
      </p:sp>
      <p:sp>
        <p:nvSpPr>
          <p:cNvPr id="209" name="Text"/>
          <p:cNvSpPr/>
          <p:nvPr/>
        </p:nvSpPr>
        <p:spPr>
          <a:xfrm>
            <a:off x="365760" y="54864"/>
            <a:ext cx="11430000" cy="65836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HINTERLAND EXPORT – NOUVEAUX CHARGEURS</a:t>
            </a:r>
          </a:p>
        </p:txBody>
      </p:sp>
      <p:sp>
        <p:nvSpPr>
          <p:cNvPr id="210" name="Text"/>
          <p:cNvSpPr/>
          <p:nvPr/>
        </p:nvSpPr>
        <p:spPr>
          <a:xfrm>
            <a:off x="365760" y="676656"/>
            <a:ext cx="11430000" cy="329184"/>
          </a:xfrm>
          <a:prstGeom prst="rect">
            <a:avLst/>
          </a:prstGeom>
          <a:noFill/>
          <a:ln/>
        </p:spPr>
        <p:txBody>
          <a:bodyPr wrap="square" rtlCol="0" anchor="t"/>
          <a:lstStyle/>
          <a:p>
            <a:pPr marL="0" indent="0">
              <a:buNone/>
            </a:pPr>
            <a:r>
              <a:rPr lang="en-US" sz="1200" i="1" dirty="0">
                <a:solidFill>
                  <a:srgbClr val="C8A951"/>
                </a:solidFill>
                <a:latin typeface="Calibri" pitchFamily="34" charset="0"/>
                <a:ea typeface="Calibri" pitchFamily="34" charset="-122"/>
                <a:cs typeface="Calibri" pitchFamily="34" charset="-120"/>
              </a:rPr>
              <a:t>Chargeurs entrés en 2026  |  Sécurisation du portefeuille coton  |  Nouvelle filière huile de palme</a:t>
            </a:r>
          </a:p>
        </p:txBody>
      </p:sp>
      <p:sp>
        <p:nvSpPr>
          <p:cNvPr id="211" name="Text"/>
          <p:cNvSpPr/>
          <p:nvPr/>
        </p:nvSpPr>
        <p:spPr>
          <a:xfrm>
            <a:off x="320040" y="1143000"/>
            <a:ext cx="5760720" cy="274320"/>
          </a:xfrm>
          <a:prstGeom prst="rect">
            <a:avLst/>
          </a:prstGeom>
          <a:noFill/>
          <a:ln/>
        </p:spPr>
        <p:txBody>
          <a:bodyPr wrap="square" rtlCol="0" anchor="t"/>
          <a:lstStyle/>
          <a:p>
            <a:pPr marL="0" indent="0">
              <a:buNone/>
            </a:pPr>
            <a:r>
              <a:rPr lang="en-US" sz="1200" b="1" dirty="0">
                <a:solidFill>
                  <a:srgbClr val="0A2240"/>
                </a:solidFill>
                <a:latin typeface="Calibri" pitchFamily="34" charset="0"/>
                <a:ea typeface="Calibri" pitchFamily="34" charset="-122"/>
                <a:cs typeface="Calibri" pitchFamily="34" charset="-120"/>
              </a:rPr>
              <a:t>Nouveaux chargeurs AGL – Hinterland Export 2026</a:t>
            </a:r>
          </a:p>
        </p:txBody>
      </p:sp>
      <p:graphicFrame>
        <p:nvGraphicFramePr>
          <p:cNvPr id="212" name="Table"/>
          <p:cNvGraphicFramePr>
            <a:graphicFrameLocks noGrp="1"/>
          </p:cNvGraphicFramePr>
          <p:nvPr/>
        </p:nvGraphicFramePr>
        <p:xfrm>
          <a:off x="320040" y="1444752"/>
          <a:ext cx="5760720" cy="1691640"/>
        </p:xfrm>
        <a:graphic>
          <a:graphicData uri="http://schemas.openxmlformats.org/drawingml/2006/table">
            <a:tbl>
              <a:tblPr/>
              <a:tblGrid>
                <a:gridCol w="2350000"/>
                <a:gridCol w="750000"/>
                <a:gridCol w="1660720"/>
                <a:gridCol w="1000000"/>
              </a:tblGrid>
              <a:tr h="338328">
                <a:tc>
                  <a:txBody>
                    <a:bodyPr/>
                    <a:lstStyle/>
                    <a:p>
                      <a:pPr marL="0" indent="0" algn="ctr">
                        <a:buNone/>
                      </a:pPr>
                      <a:r>
                        <a:rPr lang="en-US" sz="1000" b="1" dirty="0">
                          <a:solidFill>
                            <a:srgbClr val="FFFFFF"/>
                          </a:solidFill>
                        </a:rPr>
                        <a:t>Chargeur</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lgn="ctr">
                        <a:buNone/>
                      </a:pPr>
                      <a:r>
                        <a:rPr lang="en-US" sz="1000" b="1" dirty="0">
                          <a:solidFill>
                            <a:srgbClr val="FFFFFF"/>
                          </a:solidFill>
                        </a:rPr>
                        <a:t>TEU</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lgn="ctr">
                        <a:buNone/>
                      </a:pPr>
                      <a:r>
                        <a:rPr lang="en-US" sz="1000" b="1" dirty="0">
                          <a:solidFill>
                            <a:srgbClr val="FFFFFF"/>
                          </a:solidFill>
                        </a:rPr>
                        <a:t>Filière</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lgn="ctr">
                        <a:buNone/>
                      </a:pPr>
                      <a:r>
                        <a:rPr lang="en-US" sz="1000" b="1" dirty="0">
                          <a:solidFill>
                            <a:srgbClr val="FFFFFF"/>
                          </a:solidFill>
                        </a:rPr>
                        <a:t>Entrée</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r>
              <a:tr h="338328">
                <a:tc>
                  <a:txBody>
                    <a:bodyPr/>
                    <a:lstStyle/>
                    <a:p>
                      <a:pPr marL="0" indent="0">
                        <a:buNone/>
                      </a:pPr>
                      <a:r>
                        <a:rPr lang="en-US" sz="950" dirty="0">
                          <a:solidFill>
                            <a:srgbClr val="334155"/>
                          </a:solidFill>
                        </a:rPr>
                        <a:t>IVOIRE COTON EXPORT</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280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Coton</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Q1 2026</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buNone/>
                      </a:pPr>
                      <a:r>
                        <a:rPr lang="en-US" sz="950" dirty="0">
                          <a:solidFill>
                            <a:srgbClr val="334155"/>
                          </a:solidFill>
                        </a:rPr>
                        <a:t>COTON BURKINA SUD</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195</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Coton</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Q2 2026</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buNone/>
                      </a:pPr>
                      <a:r>
                        <a:rPr lang="en-US" sz="950" dirty="0">
                          <a:solidFill>
                            <a:srgbClr val="334155"/>
                          </a:solidFill>
                        </a:rPr>
                        <a:t>SODECOTON ML (Mali)</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160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Coton</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Q2 2026</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buNone/>
                      </a:pPr>
                      <a:r>
                        <a:rPr lang="en-US" sz="950" dirty="0">
                          <a:solidFill>
                            <a:srgbClr val="334155"/>
                          </a:solidFill>
                        </a:rPr>
                        <a:t>OIL PALM CI EXPORT</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140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Huile de Palme</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Q1 2026</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213" name="Text"/>
          <p:cNvSpPr/>
          <p:nvPr/>
        </p:nvSpPr>
        <p:spPr>
          <a:xfrm>
            <a:off x="320040" y="3337560"/>
            <a:ext cx="5760720" cy="274320"/>
          </a:xfrm>
          <a:prstGeom prst="rect">
            <a:avLst/>
          </a:prstGeom>
          <a:noFill/>
          <a:ln/>
        </p:spPr>
        <p:txBody>
          <a:bodyPr wrap="square" rtlCol="0" anchor="t"/>
          <a:lstStyle/>
          <a:p>
            <a:pPr marL="0" indent="0">
              <a:buNone/>
            </a:pPr>
            <a:r>
              <a:rPr lang="en-US" sz="1200" b="1" dirty="0">
                <a:solidFill>
                  <a:srgbClr val="0A2240"/>
                </a:solidFill>
                <a:latin typeface="Calibri" pitchFamily="34" charset="0"/>
                <a:ea typeface="Calibri" pitchFamily="34" charset="-122"/>
                <a:cs typeface="Calibri" pitchFamily="34" charset="-120"/>
              </a:rPr>
              <a:t>Portefeuille existant à sécuriser</a:t>
            </a:r>
          </a:p>
        </p:txBody>
      </p:sp>
      <p:graphicFrame>
        <p:nvGraphicFramePr>
          <p:cNvPr id="214" name="Table"/>
          <p:cNvGraphicFramePr>
            <a:graphicFrameLocks noGrp="1"/>
          </p:cNvGraphicFramePr>
          <p:nvPr/>
        </p:nvGraphicFramePr>
        <p:xfrm>
          <a:off x="320040" y="3639312"/>
          <a:ext cx="5760720" cy="1353312"/>
        </p:xfrm>
        <a:graphic>
          <a:graphicData uri="http://schemas.openxmlformats.org/drawingml/2006/table">
            <a:tbl>
              <a:tblPr/>
              <a:tblGrid>
                <a:gridCol w="3060720"/>
                <a:gridCol w="1200000"/>
                <a:gridCol w="1500000"/>
              </a:tblGrid>
              <a:tr h="338328">
                <a:tc>
                  <a:txBody>
                    <a:bodyPr/>
                    <a:lstStyle/>
                    <a:p>
                      <a:pPr marL="0" indent="0" algn="ctr">
                        <a:buNone/>
                      </a:pPr>
                      <a:r>
                        <a:rPr lang="en-US" sz="1000" b="1" dirty="0">
                          <a:solidFill>
                            <a:srgbClr val="FFFFFF"/>
                          </a:solidFill>
                        </a:rPr>
                        <a:t>Chargeur</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lgn="ctr">
                        <a:buNone/>
                      </a:pPr>
                      <a:r>
                        <a:rPr lang="en-US" sz="1000" b="1" dirty="0">
                          <a:solidFill>
                            <a:srgbClr val="FFFFFF"/>
                          </a:solidFill>
                        </a:rPr>
                        <a:t>TEU</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lgn="ctr">
                        <a:buNone/>
                      </a:pPr>
                      <a:r>
                        <a:rPr lang="en-US" sz="1000" b="1" dirty="0">
                          <a:solidFill>
                            <a:srgbClr val="FFFFFF"/>
                          </a:solidFill>
                        </a:rPr>
                        <a:t>% Portefeuille</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r>
              <a:tr h="338328">
                <a:tc>
                  <a:txBody>
                    <a:bodyPr/>
                    <a:lstStyle/>
                    <a:p>
                      <a:pPr marL="0" indent="0">
                        <a:buNone/>
                      </a:pPr>
                      <a:r>
                        <a:rPr lang="en-US" sz="950" b="1" dirty="0">
                          <a:solidFill>
                            <a:srgbClr val="0A2240"/>
                          </a:solidFill>
                        </a:rPr>
                        <a:t>SOFITEX</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9E6"/>
                    </a:solidFill>
                  </a:tcPr>
                </a:tc>
                <a:tc>
                  <a:txBody>
                    <a:bodyPr/>
                    <a:lstStyle/>
                    <a:p>
                      <a:pPr marL="0" indent="0" algn="ctr">
                        <a:buNone/>
                      </a:pPr>
                      <a:r>
                        <a:rPr lang="en-US" sz="950" b="1" dirty="0">
                          <a:solidFill>
                            <a:srgbClr val="0A2240"/>
                          </a:solidFill>
                        </a:rPr>
                        <a:t>1 492</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9E6"/>
                    </a:solidFill>
                  </a:tcPr>
                </a:tc>
                <a:tc>
                  <a:txBody>
                    <a:bodyPr/>
                    <a:lstStyle/>
                    <a:p>
                      <a:pPr marL="0" indent="0" algn="ctr">
                        <a:buNone/>
                      </a:pPr>
                      <a:r>
                        <a:rPr lang="en-US" sz="950" b="1" dirty="0">
                          <a:solidFill>
                            <a:srgbClr val="0A2240"/>
                          </a:solidFill>
                        </a:rPr>
                        <a:t>52,5 %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9E6"/>
                    </a:solidFill>
                  </a:tcPr>
                </a:tc>
              </a:tr>
              <a:tr h="338328">
                <a:tc>
                  <a:txBody>
                    <a:bodyPr/>
                    <a:lstStyle/>
                    <a:p>
                      <a:pPr marL="0" indent="0">
                        <a:buNone/>
                      </a:pPr>
                      <a:r>
                        <a:rPr lang="en-US" sz="950" b="1" dirty="0">
                          <a:solidFill>
                            <a:srgbClr val="0A2240"/>
                          </a:solidFill>
                        </a:rPr>
                        <a:t>CMDT Bamako</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9E6"/>
                    </a:solidFill>
                  </a:tcPr>
                </a:tc>
                <a:tc>
                  <a:txBody>
                    <a:bodyPr/>
                    <a:lstStyle/>
                    <a:p>
                      <a:pPr marL="0" indent="0" algn="ctr">
                        <a:buNone/>
                      </a:pPr>
                      <a:r>
                        <a:rPr lang="en-US" sz="950" b="1" dirty="0">
                          <a:solidFill>
                            <a:srgbClr val="0A2240"/>
                          </a:solidFill>
                        </a:rPr>
                        <a:t>1 010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9E6"/>
                    </a:solidFill>
                  </a:tcPr>
                </a:tc>
                <a:tc>
                  <a:txBody>
                    <a:bodyPr/>
                    <a:lstStyle/>
                    <a:p>
                      <a:pPr marL="0" indent="0" algn="ctr">
                        <a:buNone/>
                      </a:pPr>
                      <a:r>
                        <a:rPr lang="en-US" sz="950" b="1" dirty="0">
                          <a:solidFill>
                            <a:srgbClr val="0A2240"/>
                          </a:solidFill>
                        </a:rPr>
                        <a:t>35,6 %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9E6"/>
                    </a:solidFill>
                  </a:tcPr>
                </a:tc>
              </a:tr>
              <a:tr h="338328">
                <a:tc>
                  <a:txBody>
                    <a:bodyPr/>
                    <a:lstStyle/>
                    <a:p>
                      <a:pPr marL="0" indent="0">
                        <a:buNone/>
                      </a:pPr>
                      <a:r>
                        <a:rPr lang="en-US" sz="950" dirty="0">
                          <a:solidFill>
                            <a:srgbClr val="334155"/>
                          </a:solidFill>
                        </a:rPr>
                        <a:t>SAGROCOM BF</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249</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8,8 %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215" name="Text"/>
          <p:cNvSpPr/>
          <p:nvPr/>
        </p:nvSpPr>
        <p:spPr>
          <a:xfrm>
            <a:off x="6309360" y="1143000"/>
            <a:ext cx="5486400" cy="274320"/>
          </a:xfrm>
          <a:prstGeom prst="rect">
            <a:avLst/>
          </a:prstGeom>
          <a:noFill/>
          <a:ln/>
        </p:spPr>
        <p:txBody>
          <a:bodyPr wrap="square" rtlCol="0" anchor="t"/>
          <a:lstStyle/>
          <a:p>
            <a:pPr marL="0" indent="0">
              <a:buNone/>
            </a:pPr>
            <a:r>
              <a:rPr lang="en-US" sz="1200" b="1" dirty="0">
                <a:solidFill>
                  <a:srgbClr val="0A2240"/>
                </a:solidFill>
                <a:latin typeface="Calibri" pitchFamily="34" charset="0"/>
                <a:ea typeface="Calibri" pitchFamily="34" charset="-122"/>
                <a:cs typeface="Calibri" pitchFamily="34" charset="-120"/>
              </a:rPr>
              <a:t>Contexte concurrentiel – PDM concurrents</a:t>
            </a:r>
          </a:p>
        </p:txBody>
      </p:sp>
      <p:sp>
        <p:nvSpPr>
          <p:cNvPr id="216" name="Shape"/>
          <p:cNvSpPr/>
          <p:nvPr/>
        </p:nvSpPr>
        <p:spPr>
          <a:xfrm>
            <a:off x="6309360" y="1444752"/>
            <a:ext cx="5577840" cy="411480"/>
          </a:xfrm>
          <a:prstGeom prst="roundRect">
            <a:avLst>
              <a:gd name="adj" fmla="val 8889"/>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217" name="Text"/>
          <p:cNvSpPr/>
          <p:nvPr/>
        </p:nvSpPr>
        <p:spPr>
          <a:xfrm>
            <a:off x="6446520" y="1444752"/>
            <a:ext cx="2423160" cy="411480"/>
          </a:xfrm>
          <a:prstGeom prst="rect">
            <a:avLst/>
          </a:prstGeom>
          <a:noFill/>
          <a:ln/>
        </p:spPr>
        <p:txBody>
          <a:bodyPr wrap="square" rtlCol="0" anchor="ctr"/>
          <a:lstStyle/>
          <a:p>
            <a:pPr marL="0" indent="0">
              <a:buNone/>
            </a:pPr>
            <a:r>
              <a:rPr lang="en-US" sz="900" b="1" dirty="0">
                <a:solidFill>
                  <a:srgbClr val="334155"/>
                </a:solidFill>
                <a:latin typeface="Calibri" pitchFamily="34" charset="0"/>
                <a:ea typeface="Calibri" pitchFamily="34" charset="-122"/>
                <a:cs typeface="Calibri" pitchFamily="34" charset="-120"/>
              </a:rPr>
              <a:t>FM GENERAL SERVICES</a:t>
            </a:r>
          </a:p>
        </p:txBody>
      </p:sp>
      <p:sp>
        <p:nvSpPr>
          <p:cNvPr id="218" name="Text"/>
          <p:cNvSpPr/>
          <p:nvPr/>
        </p:nvSpPr>
        <p:spPr>
          <a:xfrm>
            <a:off x="8869680" y="1444752"/>
            <a:ext cx="1325880" cy="41148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518 TEU</a:t>
            </a:r>
          </a:p>
        </p:txBody>
      </p:sp>
      <p:sp>
        <p:nvSpPr>
          <p:cNvPr id="219" name="Shape"/>
          <p:cNvSpPr/>
          <p:nvPr/>
        </p:nvSpPr>
        <p:spPr>
          <a:xfrm>
            <a:off x="9948672" y="1554480"/>
            <a:ext cx="1737360" cy="164592"/>
          </a:xfrm>
          <a:prstGeom prst="rect">
            <a:avLst/>
          </a:prstGeom>
          <a:solidFill>
            <a:srgbClr val="CBD5E1"/>
          </a:solidFill>
          <a:ln/>
        </p:spPr>
        <p:txBody>
          <a:bodyPr/>
          <a:lstStyle/>
          <a:p>
            <a:endParaRPr lang="en-US"/>
          </a:p>
        </p:txBody>
      </p:sp>
      <p:sp>
        <p:nvSpPr>
          <p:cNvPr id="220" name="Shape"/>
          <p:cNvSpPr/>
          <p:nvPr/>
        </p:nvSpPr>
        <p:spPr>
          <a:xfrm>
            <a:off x="9948672" y="1554480"/>
            <a:ext cx="208483" cy="164592"/>
          </a:xfrm>
          <a:prstGeom prst="rect">
            <a:avLst/>
          </a:prstGeom>
          <a:solidFill>
            <a:srgbClr val="0891B2"/>
          </a:solidFill>
          <a:ln/>
        </p:spPr>
        <p:txBody>
          <a:bodyPr/>
          <a:lstStyle/>
          <a:p>
            <a:endParaRPr lang="en-US"/>
          </a:p>
        </p:txBody>
      </p:sp>
      <p:sp>
        <p:nvSpPr>
          <p:cNvPr id="221" name="Text"/>
          <p:cNvSpPr/>
          <p:nvPr/>
        </p:nvSpPr>
        <p:spPr>
          <a:xfrm>
            <a:off x="11722608" y="1444752"/>
            <a:ext cx="640080" cy="411480"/>
          </a:xfrm>
          <a:prstGeom prst="rect">
            <a:avLst/>
          </a:prstGeom>
          <a:noFill/>
          <a:ln/>
        </p:spPr>
        <p:txBody>
          <a:bodyPr wrap="square" rtlCol="0" anchor="ctr"/>
          <a:lstStyle/>
          <a:p>
            <a:pPr marL="0" indent="0">
              <a:buNone/>
            </a:pPr>
            <a:r>
              <a:rPr lang="en-US" sz="1000" b="1" dirty="0">
                <a:solidFill>
                  <a:srgbClr val="0891B2"/>
                </a:solidFill>
                <a:latin typeface="Calibri" pitchFamily="34" charset="0"/>
                <a:ea typeface="Calibri" pitchFamily="34" charset="-122"/>
                <a:cs typeface="Calibri" pitchFamily="34" charset="-120"/>
              </a:rPr>
              <a:t>12%</a:t>
            </a:r>
          </a:p>
        </p:txBody>
      </p:sp>
      <p:sp>
        <p:nvSpPr>
          <p:cNvPr id="222" name="Shape"/>
          <p:cNvSpPr/>
          <p:nvPr/>
        </p:nvSpPr>
        <p:spPr>
          <a:xfrm>
            <a:off x="6309360" y="1901952"/>
            <a:ext cx="5577840" cy="411480"/>
          </a:xfrm>
          <a:prstGeom prst="roundRect">
            <a:avLst>
              <a:gd name="adj" fmla="val 8889"/>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223" name="Text"/>
          <p:cNvSpPr/>
          <p:nvPr/>
        </p:nvSpPr>
        <p:spPr>
          <a:xfrm>
            <a:off x="6446520" y="1901952"/>
            <a:ext cx="2423160" cy="411480"/>
          </a:xfrm>
          <a:prstGeom prst="rect">
            <a:avLst/>
          </a:prstGeom>
          <a:noFill/>
          <a:ln/>
        </p:spPr>
        <p:txBody>
          <a:bodyPr wrap="square" rtlCol="0" anchor="ctr"/>
          <a:lstStyle/>
          <a:p>
            <a:pPr marL="0" indent="0">
              <a:buNone/>
            </a:pPr>
            <a:r>
              <a:rPr lang="en-US" sz="900" b="1" dirty="0">
                <a:solidFill>
                  <a:srgbClr val="334155"/>
                </a:solidFill>
                <a:latin typeface="Calibri" pitchFamily="34" charset="0"/>
                <a:ea typeface="Calibri" pitchFamily="34" charset="-122"/>
                <a:cs typeface="Calibri" pitchFamily="34" charset="-120"/>
              </a:rPr>
              <a:t>MOVIS TRANSIT CI</a:t>
            </a:r>
          </a:p>
        </p:txBody>
      </p:sp>
      <p:sp>
        <p:nvSpPr>
          <p:cNvPr id="224" name="Text"/>
          <p:cNvSpPr/>
          <p:nvPr/>
        </p:nvSpPr>
        <p:spPr>
          <a:xfrm>
            <a:off x="8869680" y="1901952"/>
            <a:ext cx="1325880" cy="41148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251 TEU</a:t>
            </a:r>
          </a:p>
        </p:txBody>
      </p:sp>
      <p:sp>
        <p:nvSpPr>
          <p:cNvPr id="225" name="Shape"/>
          <p:cNvSpPr/>
          <p:nvPr/>
        </p:nvSpPr>
        <p:spPr>
          <a:xfrm>
            <a:off x="9948672" y="2011680"/>
            <a:ext cx="1737360" cy="164592"/>
          </a:xfrm>
          <a:prstGeom prst="rect">
            <a:avLst/>
          </a:prstGeom>
          <a:solidFill>
            <a:srgbClr val="CBD5E1"/>
          </a:solidFill>
          <a:ln/>
        </p:spPr>
        <p:txBody>
          <a:bodyPr/>
          <a:lstStyle/>
          <a:p>
            <a:endParaRPr lang="en-US"/>
          </a:p>
        </p:txBody>
      </p:sp>
      <p:sp>
        <p:nvSpPr>
          <p:cNvPr id="226" name="Shape"/>
          <p:cNvSpPr/>
          <p:nvPr/>
        </p:nvSpPr>
        <p:spPr>
          <a:xfrm>
            <a:off x="9948672" y="2011680"/>
            <a:ext cx="104242" cy="164592"/>
          </a:xfrm>
          <a:prstGeom prst="rect">
            <a:avLst/>
          </a:prstGeom>
          <a:solidFill>
            <a:srgbClr val="0891B2"/>
          </a:solidFill>
          <a:ln/>
        </p:spPr>
        <p:txBody>
          <a:bodyPr/>
          <a:lstStyle/>
          <a:p>
            <a:endParaRPr lang="en-US"/>
          </a:p>
        </p:txBody>
      </p:sp>
      <p:sp>
        <p:nvSpPr>
          <p:cNvPr id="227" name="Text"/>
          <p:cNvSpPr/>
          <p:nvPr/>
        </p:nvSpPr>
        <p:spPr>
          <a:xfrm>
            <a:off x="11722608" y="1901952"/>
            <a:ext cx="640080" cy="411480"/>
          </a:xfrm>
          <a:prstGeom prst="rect">
            <a:avLst/>
          </a:prstGeom>
          <a:noFill/>
          <a:ln/>
        </p:spPr>
        <p:txBody>
          <a:bodyPr wrap="square" rtlCol="0" anchor="ctr"/>
          <a:lstStyle/>
          <a:p>
            <a:pPr marL="0" indent="0">
              <a:buNone/>
            </a:pPr>
            <a:r>
              <a:rPr lang="en-US" sz="1000" b="1" dirty="0">
                <a:solidFill>
                  <a:srgbClr val="0891B2"/>
                </a:solidFill>
                <a:latin typeface="Calibri" pitchFamily="34" charset="0"/>
                <a:ea typeface="Calibri" pitchFamily="34" charset="-122"/>
                <a:cs typeface="Calibri" pitchFamily="34" charset="-120"/>
              </a:rPr>
              <a:t>6%</a:t>
            </a:r>
          </a:p>
        </p:txBody>
      </p:sp>
      <p:sp>
        <p:nvSpPr>
          <p:cNvPr id="228" name="Shape"/>
          <p:cNvSpPr/>
          <p:nvPr/>
        </p:nvSpPr>
        <p:spPr>
          <a:xfrm>
            <a:off x="6309360" y="2359152"/>
            <a:ext cx="5577840" cy="411480"/>
          </a:xfrm>
          <a:prstGeom prst="roundRect">
            <a:avLst>
              <a:gd name="adj" fmla="val 8889"/>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229" name="Text"/>
          <p:cNvSpPr/>
          <p:nvPr/>
        </p:nvSpPr>
        <p:spPr>
          <a:xfrm>
            <a:off x="6446520" y="2359152"/>
            <a:ext cx="2423160" cy="411480"/>
          </a:xfrm>
          <a:prstGeom prst="rect">
            <a:avLst/>
          </a:prstGeom>
          <a:noFill/>
          <a:ln/>
        </p:spPr>
        <p:txBody>
          <a:bodyPr wrap="square" rtlCol="0" anchor="ctr"/>
          <a:lstStyle/>
          <a:p>
            <a:pPr marL="0" indent="0">
              <a:buNone/>
            </a:pPr>
            <a:r>
              <a:rPr lang="en-US" sz="900" b="1" dirty="0">
                <a:solidFill>
                  <a:srgbClr val="334155"/>
                </a:solidFill>
                <a:latin typeface="Calibri" pitchFamily="34" charset="0"/>
                <a:ea typeface="Calibri" pitchFamily="34" charset="-122"/>
                <a:cs typeface="Calibri" pitchFamily="34" charset="-120"/>
              </a:rPr>
              <a:t>CEVA LOGISTICS CI</a:t>
            </a:r>
          </a:p>
        </p:txBody>
      </p:sp>
      <p:sp>
        <p:nvSpPr>
          <p:cNvPr id="230" name="Text"/>
          <p:cNvSpPr/>
          <p:nvPr/>
        </p:nvSpPr>
        <p:spPr>
          <a:xfrm>
            <a:off x="8869680" y="2359152"/>
            <a:ext cx="1325880" cy="41148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220 TEU</a:t>
            </a:r>
          </a:p>
        </p:txBody>
      </p:sp>
      <p:sp>
        <p:nvSpPr>
          <p:cNvPr id="231" name="Shape"/>
          <p:cNvSpPr/>
          <p:nvPr/>
        </p:nvSpPr>
        <p:spPr>
          <a:xfrm>
            <a:off x="9948672" y="2468880"/>
            <a:ext cx="1737360" cy="164592"/>
          </a:xfrm>
          <a:prstGeom prst="rect">
            <a:avLst/>
          </a:prstGeom>
          <a:solidFill>
            <a:srgbClr val="CBD5E1"/>
          </a:solidFill>
          <a:ln/>
        </p:spPr>
        <p:txBody>
          <a:bodyPr/>
          <a:lstStyle/>
          <a:p>
            <a:endParaRPr lang="en-US"/>
          </a:p>
        </p:txBody>
      </p:sp>
      <p:sp>
        <p:nvSpPr>
          <p:cNvPr id="232" name="Shape"/>
          <p:cNvSpPr/>
          <p:nvPr/>
        </p:nvSpPr>
        <p:spPr>
          <a:xfrm>
            <a:off x="9948672" y="2468880"/>
            <a:ext cx="86868" cy="164592"/>
          </a:xfrm>
          <a:prstGeom prst="rect">
            <a:avLst/>
          </a:prstGeom>
          <a:solidFill>
            <a:srgbClr val="DC2626"/>
          </a:solidFill>
          <a:ln/>
        </p:spPr>
        <p:txBody>
          <a:bodyPr/>
          <a:lstStyle/>
          <a:p>
            <a:endParaRPr lang="en-US"/>
          </a:p>
        </p:txBody>
      </p:sp>
      <p:sp>
        <p:nvSpPr>
          <p:cNvPr id="233" name="Text"/>
          <p:cNvSpPr/>
          <p:nvPr/>
        </p:nvSpPr>
        <p:spPr>
          <a:xfrm>
            <a:off x="11722608" y="2359152"/>
            <a:ext cx="640080" cy="411480"/>
          </a:xfrm>
          <a:prstGeom prst="rect">
            <a:avLst/>
          </a:prstGeom>
          <a:noFill/>
          <a:ln/>
        </p:spPr>
        <p:txBody>
          <a:bodyPr wrap="square" rtlCol="0" anchor="ctr"/>
          <a:lstStyle/>
          <a:p>
            <a:pPr marL="0" indent="0">
              <a:buNone/>
            </a:pPr>
            <a:r>
              <a:rPr lang="en-US" sz="1000" b="1" dirty="0">
                <a:solidFill>
                  <a:srgbClr val="DC2626"/>
                </a:solidFill>
                <a:latin typeface="Calibri" pitchFamily="34" charset="0"/>
                <a:ea typeface="Calibri" pitchFamily="34" charset="-122"/>
                <a:cs typeface="Calibri" pitchFamily="34" charset="-120"/>
              </a:rPr>
              <a:t>5%</a:t>
            </a:r>
          </a:p>
        </p:txBody>
      </p:sp>
      <p:sp>
        <p:nvSpPr>
          <p:cNvPr id="234" name="Shape"/>
          <p:cNvSpPr/>
          <p:nvPr/>
        </p:nvSpPr>
        <p:spPr>
          <a:xfrm>
            <a:off x="6309360" y="3017520"/>
            <a:ext cx="5577840" cy="1005840"/>
          </a:xfrm>
          <a:prstGeom prst="roundRect">
            <a:avLst>
              <a:gd name="adj" fmla="val 8000"/>
            </a:avLst>
          </a:prstGeom>
          <a:solidFill>
            <a:srgbClr val="FFF5E6"/>
          </a:solidFill>
          <a:ln/>
        </p:spPr>
        <p:txBody>
          <a:bodyPr/>
          <a:lstStyle/>
          <a:p>
            <a:endParaRPr lang="en-US"/>
          </a:p>
        </p:txBody>
      </p:sp>
      <p:sp>
        <p:nvSpPr>
          <p:cNvPr id="235" name="Text"/>
          <p:cNvSpPr/>
          <p:nvPr/>
        </p:nvSpPr>
        <p:spPr>
          <a:xfrm>
            <a:off x="6446520" y="3017520"/>
            <a:ext cx="5303520" cy="1005840"/>
          </a:xfrm>
          <a:prstGeom prst="rect">
            <a:avLst/>
          </a:prstGeom>
          <a:noFill/>
          <a:ln/>
        </p:spPr>
        <p:txBody>
          <a:bodyPr wrap="square" rtlCol="0" anchor="ctr"/>
          <a:lstStyle/>
          <a:p>
            <a:pPr marL="0" indent="0">
              <a:buNone/>
            </a:pPr>
            <a:r>
              <a:rPr lang="en-US" sz="950" b="1" dirty="0">
                <a:solidFill>
                  <a:srgbClr val="EA580C"/>
                </a:solidFill>
                <a:latin typeface="Calibri" pitchFamily="34" charset="0"/>
                <a:ea typeface="Calibri" pitchFamily="34" charset="-122"/>
                <a:cs typeface="Calibri" pitchFamily="34" charset="-120"/>
              </a:rPr>
              <a:t>⚠ MENACE CEVA : </a:t>
            </a:r>
            <a:r>
              <a:rPr lang="en-US" sz="950" dirty="0">
                <a:solidFill>
                  <a:srgbClr val="334155"/>
                </a:solidFill>
                <a:latin typeface="Calibri" pitchFamily="34" charset="0"/>
                <a:ea typeface="Calibri" pitchFamily="34" charset="-122"/>
                <a:cs typeface="Calibri" pitchFamily="34" charset="-120"/>
              </a:rPr>
              <a:t>CEVA Logistics (CMA CGM, bureau Abidjan avril 2026) capte déjà 5,1% du marché. Risque direct sur les flux coton Bamako–Ouagadougou.</a:t>
            </a:r>
          </a:p>
        </p:txBody>
      </p:sp>
      <p:sp>
        <p:nvSpPr>
          <p:cNvPr id="236" name="Shape"/>
          <p:cNvSpPr/>
          <p:nvPr/>
        </p:nvSpPr>
        <p:spPr>
          <a:xfrm>
            <a:off x="6309360" y="4187952"/>
            <a:ext cx="5577840" cy="1005840"/>
          </a:xfrm>
          <a:prstGeom prst="roundRect">
            <a:avLst>
              <a:gd name="adj" fmla="val 8000"/>
            </a:avLst>
          </a:prstGeom>
          <a:solidFill>
            <a:srgbClr val="FFF5E6"/>
          </a:solidFill>
          <a:ln/>
        </p:spPr>
        <p:txBody>
          <a:bodyPr/>
          <a:lstStyle/>
          <a:p>
            <a:endParaRPr lang="en-US"/>
          </a:p>
        </p:txBody>
      </p:sp>
      <p:sp>
        <p:nvSpPr>
          <p:cNvPr id="237" name="Text"/>
          <p:cNvSpPr/>
          <p:nvPr/>
        </p:nvSpPr>
        <p:spPr>
          <a:xfrm>
            <a:off x="6446520" y="4187952"/>
            <a:ext cx="5303520" cy="1005840"/>
          </a:xfrm>
          <a:prstGeom prst="rect">
            <a:avLst/>
          </a:prstGeom>
          <a:noFill/>
          <a:ln/>
        </p:spPr>
        <p:txBody>
          <a:bodyPr wrap="square" rtlCol="0" anchor="ctr"/>
          <a:lstStyle/>
          <a:p>
            <a:pPr marL="0" indent="0">
              <a:buNone/>
            </a:pPr>
            <a:r>
              <a:rPr lang="en-US" sz="950" b="1" dirty="0">
                <a:solidFill>
                  <a:srgbClr val="EA580C"/>
                </a:solidFill>
                <a:latin typeface="Calibri" pitchFamily="34" charset="0"/>
                <a:ea typeface="Calibri" pitchFamily="34" charset="-122"/>
                <a:cs typeface="Calibri" pitchFamily="34" charset="-120"/>
              </a:rPr>
              <a:t>🎯 ACTION : </a:t>
            </a:r>
            <a:r>
              <a:rPr lang="en-US" sz="950" dirty="0">
                <a:solidFill>
                  <a:srgbClr val="334155"/>
                </a:solidFill>
                <a:latin typeface="Calibri" pitchFamily="34" charset="0"/>
                <a:ea typeface="Calibri" pitchFamily="34" charset="-122"/>
                <a:cs typeface="Calibri" pitchFamily="34" charset="-120"/>
              </a:rPr>
              <a:t>Sécuriser SOFITEX (52,5% du portefeuille) et CMDT par contrats pluriannuels avant la campagne coton 2026–2027. Développer la filière huile de palme (140 TEU dès Q1).</a:t>
            </a:r>
          </a:p>
        </p:txBody>
      </p:sp>
      <p:sp>
        <p:nvSpPr>
          <p:cNvPr id="238" name="Text"/>
          <p:cNvSpPr/>
          <p:nvPr/>
        </p:nvSpPr>
        <p:spPr>
          <a:xfrm>
            <a:off x="365760" y="6601968"/>
            <a:ext cx="11430000" cy="201168"/>
          </a:xfrm>
          <a:prstGeom prst="rect">
            <a:avLst/>
          </a:prstGeom>
          <a:noFill/>
          <a:ln/>
        </p:spPr>
        <p:txBody>
          <a:bodyPr wrap="square" rtlCol="0" anchor="t"/>
          <a:lstStyle/>
          <a:p>
            <a:pPr marL="0" indent="0" algn="ctr">
              <a:buNone/>
            </a:pPr>
            <a:r>
              <a:rPr lang="en-US" sz="850" dirty="0">
                <a:solidFill>
                  <a:srgbClr val="64748B"/>
                </a:solidFill>
                <a:latin typeface="Calibri" pitchFamily="34" charset="0"/>
                <a:ea typeface="Calibri" pitchFamily="34" charset="-122"/>
                <a:cs typeface="Calibri" pitchFamily="34" charset="-120"/>
              </a:rPr>
              <a:t>Africa Global Logistics – Étude de Marché Jan–Mai 2026  |  p.19</a:t>
            </a:r>
          </a:p>
        </p:txBody>
      </p:sp>
      <p:pic>
        <p:nvPicPr>
          <p:cNvPr id="239" name="Image logo"/>
          <p:cNvPicPr>
            <a:picLocks noChangeAspect="1"/>
          </p:cNvPicPr>
          <p:nvPr/>
        </p:nvPicPr>
        <p:blipFill>
          <a:blip r:embed="rId3" cstate="screen"/>
          <a:stretch>
            <a:fillRect/>
          </a:stretch>
        </p:blipFill>
        <p:spPr>
          <a:xfrm>
            <a:off x="11488450" y="6549898"/>
            <a:ext cx="450027" cy="292409"/>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Aérien Nouveaux">
    <p:bg>
      <p:bgPr>
        <a:solidFill>
          <a:srgbClr val="FFFFFF"/>
        </a:solidFill>
        <a:effectLst/>
      </p:bgPr>
    </p:bg>
    <p:spTree>
      <p:nvGrpSpPr>
        <p:cNvPr id="1" name=""/>
        <p:cNvGrpSpPr/>
        <p:nvPr/>
      </p:nvGrpSpPr>
      <p:grpSpPr>
        <a:xfrm>
          <a:off x="0" y="0"/>
          <a:ext cx="0" cy="0"/>
          <a:chOff x="0" y="0"/>
          <a:chExt cx="0" cy="0"/>
        </a:xfrm>
      </p:grpSpPr>
      <p:sp>
        <p:nvSpPr>
          <p:cNvPr id="240" name="Shape"/>
          <p:cNvSpPr/>
          <p:nvPr/>
        </p:nvSpPr>
        <p:spPr>
          <a:xfrm>
            <a:off x="0" y="0"/>
            <a:ext cx="12161520" cy="1051560"/>
          </a:xfrm>
          <a:prstGeom prst="rect">
            <a:avLst/>
          </a:prstGeom>
          <a:solidFill>
            <a:srgbClr val="0A2240"/>
          </a:solidFill>
          <a:ln w="12700">
            <a:solidFill>
              <a:srgbClr val="0A2240"/>
            </a:solidFill>
            <a:prstDash val="solid"/>
          </a:ln>
        </p:spPr>
        <p:txBody>
          <a:bodyPr/>
          <a:lstStyle/>
          <a:p>
            <a:endParaRPr lang="en-US"/>
          </a:p>
        </p:txBody>
      </p:sp>
      <p:sp>
        <p:nvSpPr>
          <p:cNvPr id="241" name="Text"/>
          <p:cNvSpPr/>
          <p:nvPr/>
        </p:nvSpPr>
        <p:spPr>
          <a:xfrm>
            <a:off x="365760" y="54864"/>
            <a:ext cx="11430000" cy="65836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AÉRIEN IMPORT – NOUVEAUX ENTRANTS &amp; NOUVEAUX FLUX</a:t>
            </a:r>
          </a:p>
        </p:txBody>
      </p:sp>
      <p:sp>
        <p:nvSpPr>
          <p:cNvPr id="242" name="Text"/>
          <p:cNvSpPr/>
          <p:nvPr/>
        </p:nvSpPr>
        <p:spPr>
          <a:xfrm>
            <a:off x="365760" y="676656"/>
            <a:ext cx="11430000" cy="329184"/>
          </a:xfrm>
          <a:prstGeom prst="rect">
            <a:avLst/>
          </a:prstGeom>
          <a:noFill/>
          <a:ln/>
        </p:spPr>
        <p:txBody>
          <a:bodyPr wrap="square" rtlCol="0" anchor="t"/>
          <a:lstStyle/>
          <a:p>
            <a:pPr marL="0" indent="0">
              <a:buNone/>
            </a:pPr>
            <a:r>
              <a:rPr lang="en-US" sz="1200" i="1" dirty="0">
                <a:solidFill>
                  <a:srgbClr val="C8A951"/>
                </a:solidFill>
                <a:latin typeface="Calibri" pitchFamily="34" charset="0"/>
                <a:ea typeface="Calibri" pitchFamily="34" charset="-122"/>
                <a:cs typeface="Calibri" pitchFamily="34" charset="-120"/>
              </a:rPr>
              <a:t>Transitaires entrants  |  Nouvelles marchandises en croissance  |  Récupération clients Transit-Coss</a:t>
            </a:r>
          </a:p>
        </p:txBody>
      </p:sp>
      <p:sp>
        <p:nvSpPr>
          <p:cNvPr id="243" name="Text"/>
          <p:cNvSpPr/>
          <p:nvPr/>
        </p:nvSpPr>
        <p:spPr>
          <a:xfrm>
            <a:off x="320040" y="1143000"/>
            <a:ext cx="5760720" cy="274320"/>
          </a:xfrm>
          <a:prstGeom prst="rect">
            <a:avLst/>
          </a:prstGeom>
          <a:noFill/>
          <a:ln/>
        </p:spPr>
        <p:txBody>
          <a:bodyPr wrap="square" rtlCol="0" anchor="t"/>
          <a:lstStyle/>
          <a:p>
            <a:pPr marL="0" indent="0">
              <a:buNone/>
            </a:pPr>
            <a:r>
              <a:rPr lang="en-US" sz="1200" b="1" dirty="0">
                <a:solidFill>
                  <a:srgbClr val="0A2240"/>
                </a:solidFill>
                <a:latin typeface="Calibri" pitchFamily="34" charset="0"/>
                <a:ea typeface="Calibri" pitchFamily="34" charset="-122"/>
                <a:cs typeface="Calibri" pitchFamily="34" charset="-120"/>
              </a:rPr>
              <a:t>Nouveaux transitaires – Aérien Import 2026</a:t>
            </a:r>
          </a:p>
        </p:txBody>
      </p:sp>
      <p:graphicFrame>
        <p:nvGraphicFramePr>
          <p:cNvPr id="244" name="Table"/>
          <p:cNvGraphicFramePr>
            <a:graphicFrameLocks noGrp="1"/>
          </p:cNvGraphicFramePr>
          <p:nvPr/>
        </p:nvGraphicFramePr>
        <p:xfrm>
          <a:off x="320040" y="1444752"/>
          <a:ext cx="5760720" cy="1014984"/>
        </p:xfrm>
        <a:graphic>
          <a:graphicData uri="http://schemas.openxmlformats.org/drawingml/2006/table">
            <a:tbl>
              <a:tblPr/>
              <a:tblGrid>
                <a:gridCol w="2350000"/>
                <a:gridCol w="900000"/>
                <a:gridCol w="1610720"/>
                <a:gridCol w="900000"/>
              </a:tblGrid>
              <a:tr h="338328">
                <a:tc>
                  <a:txBody>
                    <a:bodyPr/>
                    <a:lstStyle/>
                    <a:p>
                      <a:pPr marL="0" indent="0" algn="ctr">
                        <a:buNone/>
                      </a:pPr>
                      <a:r>
                        <a:rPr lang="en-US" sz="1000" b="1" dirty="0">
                          <a:solidFill>
                            <a:srgbClr val="FFFFFF"/>
                          </a:solidFill>
                        </a:rPr>
                        <a:t>Transitaire</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lgn="ctr">
                        <a:buNone/>
                      </a:pPr>
                      <a:r>
                        <a:rPr lang="en-US" sz="1000" b="1" dirty="0">
                          <a:solidFill>
                            <a:srgbClr val="FFFFFF"/>
                          </a:solidFill>
                        </a:rPr>
                        <a:t>Poids kg</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lgn="ctr">
                        <a:buNone/>
                      </a:pPr>
                      <a:r>
                        <a:rPr lang="en-US" sz="1000" b="1" dirty="0">
                          <a:solidFill>
                            <a:srgbClr val="FFFFFF"/>
                          </a:solidFill>
                        </a:rPr>
                        <a:t>Spécialité</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lgn="ctr">
                        <a:buNone/>
                      </a:pPr>
                      <a:r>
                        <a:rPr lang="en-US" sz="1000" b="1" dirty="0">
                          <a:solidFill>
                            <a:srgbClr val="FFFFFF"/>
                          </a:solidFill>
                        </a:rPr>
                        <a:t>Entrée</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r>
              <a:tr h="338328">
                <a:tc>
                  <a:txBody>
                    <a:bodyPr/>
                    <a:lstStyle/>
                    <a:p>
                      <a:pPr marL="0" indent="0">
                        <a:buNone/>
                      </a:pPr>
                      <a:r>
                        <a:rPr lang="en-US" sz="950" dirty="0">
                          <a:solidFill>
                            <a:srgbClr val="334155"/>
                          </a:solidFill>
                        </a:rPr>
                        <a:t>FRET INTER CI</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94 200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Alimentaire</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Q1 2026</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buNone/>
                      </a:pPr>
                      <a:r>
                        <a:rPr lang="en-US" sz="950" dirty="0">
                          <a:solidFill>
                            <a:srgbClr val="334155"/>
                          </a:solidFill>
                        </a:rPr>
                        <a:t>SOTRA FRET</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78 400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Pièces détachées</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Q2 2026</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245" name="Text"/>
          <p:cNvSpPr/>
          <p:nvPr/>
        </p:nvSpPr>
        <p:spPr>
          <a:xfrm>
            <a:off x="320040" y="2514600"/>
            <a:ext cx="5760720" cy="274320"/>
          </a:xfrm>
          <a:prstGeom prst="rect">
            <a:avLst/>
          </a:prstGeom>
          <a:noFill/>
          <a:ln/>
        </p:spPr>
        <p:txBody>
          <a:bodyPr wrap="square" rtlCol="0" anchor="t"/>
          <a:lstStyle/>
          <a:p>
            <a:pPr marL="0" indent="0">
              <a:buNone/>
            </a:pPr>
            <a:r>
              <a:rPr lang="en-US" sz="1200" b="1" dirty="0">
                <a:solidFill>
                  <a:srgbClr val="0A2240"/>
                </a:solidFill>
                <a:latin typeface="Calibri" pitchFamily="34" charset="0"/>
                <a:ea typeface="Calibri" pitchFamily="34" charset="-122"/>
                <a:cs typeface="Calibri" pitchFamily="34" charset="-120"/>
              </a:rPr>
              <a:t>Marchandises en forte croissance 2025 → 2026</a:t>
            </a:r>
          </a:p>
        </p:txBody>
      </p:sp>
      <p:graphicFrame>
        <p:nvGraphicFramePr>
          <p:cNvPr id="246" name="Table"/>
          <p:cNvGraphicFramePr>
            <a:graphicFrameLocks noGrp="1"/>
          </p:cNvGraphicFramePr>
          <p:nvPr/>
        </p:nvGraphicFramePr>
        <p:xfrm>
          <a:off x="320040" y="2816352"/>
          <a:ext cx="5760720" cy="2029968"/>
        </p:xfrm>
        <a:graphic>
          <a:graphicData uri="http://schemas.openxmlformats.org/drawingml/2006/table">
            <a:tbl>
              <a:tblPr/>
              <a:tblGrid>
                <a:gridCol w="2350000"/>
                <a:gridCol w="1100000"/>
                <a:gridCol w="1110720"/>
                <a:gridCol w="1200000"/>
              </a:tblGrid>
              <a:tr h="338328">
                <a:tc>
                  <a:txBody>
                    <a:bodyPr/>
                    <a:lstStyle/>
                    <a:p>
                      <a:pPr marL="0" indent="0" algn="ctr">
                        <a:buNone/>
                      </a:pPr>
                      <a:r>
                        <a:rPr lang="en-US" sz="1000" b="1" dirty="0">
                          <a:solidFill>
                            <a:srgbClr val="FFFFFF"/>
                          </a:solidFill>
                        </a:rPr>
                        <a:t>Marchandise</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lgn="ctr">
                        <a:buNone/>
                      </a:pPr>
                      <a:r>
                        <a:rPr lang="en-US" sz="1000" b="1" dirty="0">
                          <a:solidFill>
                            <a:srgbClr val="FFFFFF"/>
                          </a:solidFill>
                        </a:rPr>
                        <a:t>2026 (kg)</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lgn="ctr">
                        <a:buNone/>
                      </a:pPr>
                      <a:r>
                        <a:rPr lang="en-US" sz="1000" b="1" dirty="0">
                          <a:solidFill>
                            <a:srgbClr val="FFFFFF"/>
                          </a:solidFill>
                        </a:rPr>
                        <a:t>Var. %</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lgn="ctr">
                        <a:buNone/>
                      </a:pPr>
                      <a:r>
                        <a:rPr lang="en-US" sz="1000" b="1" dirty="0">
                          <a:solidFill>
                            <a:srgbClr val="FFFFFF"/>
                          </a:solidFill>
                        </a:rPr>
                        <a:t>PDM AGL</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r>
              <a:tr h="338328">
                <a:tc>
                  <a:txBody>
                    <a:bodyPr/>
                    <a:lstStyle/>
                    <a:p>
                      <a:pPr marL="0" indent="0">
                        <a:buNone/>
                      </a:pPr>
                      <a:r>
                        <a:rPr lang="en-US" sz="950" dirty="0">
                          <a:solidFill>
                            <a:srgbClr val="334155"/>
                          </a:solidFill>
                        </a:rPr>
                        <a:t>ŒUFS</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1 883 317</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16A34A"/>
                          </a:solidFill>
                        </a:rPr>
                        <a:t>+26,9 %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DC2626"/>
                          </a:solidFill>
                        </a:rPr>
                        <a:t>1 %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buNone/>
                      </a:pPr>
                      <a:r>
                        <a:rPr lang="en-US" sz="950" dirty="0">
                          <a:solidFill>
                            <a:srgbClr val="334155"/>
                          </a:solidFill>
                        </a:rPr>
                        <a:t>MATÉRIELS MINIERS</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515 776</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16A34A"/>
                          </a:solidFill>
                        </a:rPr>
                        <a:t>+244,3 %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16A34A"/>
                          </a:solidFill>
                        </a:rPr>
                        <a:t>61 %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buNone/>
                      </a:pPr>
                      <a:r>
                        <a:rPr lang="en-US" sz="950" dirty="0">
                          <a:solidFill>
                            <a:srgbClr val="334155"/>
                          </a:solidFill>
                        </a:rPr>
                        <a:t>MACHINES</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486 785</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16A34A"/>
                          </a:solidFill>
                        </a:rPr>
                        <a:t>+90,2 %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334155"/>
                          </a:solidFill>
                        </a:rPr>
                        <a:t>—</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buNone/>
                      </a:pPr>
                      <a:r>
                        <a:rPr lang="en-US" sz="950" dirty="0">
                          <a:solidFill>
                            <a:srgbClr val="334155"/>
                          </a:solidFill>
                        </a:rPr>
                        <a:t>TÉLÉCOMS</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182 071</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16A34A"/>
                          </a:solidFill>
                        </a:rPr>
                        <a:t>+60,3 %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1E40AF"/>
                          </a:solidFill>
                        </a:rPr>
                        <a:t>33 %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buNone/>
                      </a:pPr>
                      <a:r>
                        <a:rPr lang="en-US" sz="950" dirty="0">
                          <a:solidFill>
                            <a:srgbClr val="334155"/>
                          </a:solidFill>
                        </a:rPr>
                        <a:t>MATÉR. ÉLECTRIQUES</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158 887</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16A34A"/>
                          </a:solidFill>
                        </a:rPr>
                        <a:t>+145,9 %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334155"/>
                          </a:solidFill>
                        </a:rPr>
                        <a:t>—</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247" name="Text"/>
          <p:cNvSpPr/>
          <p:nvPr/>
        </p:nvSpPr>
        <p:spPr>
          <a:xfrm>
            <a:off x="6309360" y="1143000"/>
            <a:ext cx="5486400" cy="274320"/>
          </a:xfrm>
          <a:prstGeom prst="rect">
            <a:avLst/>
          </a:prstGeom>
          <a:noFill/>
          <a:ln/>
        </p:spPr>
        <p:txBody>
          <a:bodyPr wrap="square" rtlCol="0" anchor="t"/>
          <a:lstStyle/>
          <a:p>
            <a:pPr marL="0" indent="0">
              <a:buNone/>
            </a:pPr>
            <a:r>
              <a:rPr lang="en-US" sz="1200" b="1" dirty="0">
                <a:solidFill>
                  <a:srgbClr val="0A2240"/>
                </a:solidFill>
                <a:latin typeface="Calibri" pitchFamily="34" charset="0"/>
                <a:ea typeface="Calibri" pitchFamily="34" charset="-122"/>
                <a:cs typeface="Calibri" pitchFamily="34" charset="-120"/>
              </a:rPr>
              <a:t>Opportunités prioritaires – PDM AGL actuelle</a:t>
            </a:r>
          </a:p>
        </p:txBody>
      </p:sp>
      <p:sp>
        <p:nvSpPr>
          <p:cNvPr id="248" name="Shape"/>
          <p:cNvSpPr/>
          <p:nvPr/>
        </p:nvSpPr>
        <p:spPr>
          <a:xfrm>
            <a:off x="6309360" y="1444752"/>
            <a:ext cx="5577840" cy="411480"/>
          </a:xfrm>
          <a:prstGeom prst="roundRect">
            <a:avLst>
              <a:gd name="adj" fmla="val 8889"/>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249" name="Text"/>
          <p:cNvSpPr/>
          <p:nvPr/>
        </p:nvSpPr>
        <p:spPr>
          <a:xfrm>
            <a:off x="6446520" y="1444752"/>
            <a:ext cx="2423160" cy="411480"/>
          </a:xfrm>
          <a:prstGeom prst="rect">
            <a:avLst/>
          </a:prstGeom>
          <a:noFill/>
          <a:ln/>
        </p:spPr>
        <p:txBody>
          <a:bodyPr wrap="square" rtlCol="0" anchor="ctr"/>
          <a:lstStyle/>
          <a:p>
            <a:pPr marL="0" indent="0">
              <a:buNone/>
            </a:pPr>
            <a:r>
              <a:rPr lang="en-US" sz="900" b="1" dirty="0">
                <a:solidFill>
                  <a:srgbClr val="334155"/>
                </a:solidFill>
                <a:latin typeface="Calibri" pitchFamily="34" charset="0"/>
                <a:ea typeface="Calibri" pitchFamily="34" charset="-122"/>
                <a:cs typeface="Calibri" pitchFamily="34" charset="-120"/>
              </a:rPr>
              <a:t>ŒUFS (cible 8%)</a:t>
            </a:r>
          </a:p>
        </p:txBody>
      </p:sp>
      <p:sp>
        <p:nvSpPr>
          <p:cNvPr id="250" name="Text"/>
          <p:cNvSpPr/>
          <p:nvPr/>
        </p:nvSpPr>
        <p:spPr>
          <a:xfrm>
            <a:off x="8869680" y="1444752"/>
            <a:ext cx="1325880" cy="41148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1 883 317 kg</a:t>
            </a:r>
          </a:p>
        </p:txBody>
      </p:sp>
      <p:sp>
        <p:nvSpPr>
          <p:cNvPr id="251" name="Shape"/>
          <p:cNvSpPr/>
          <p:nvPr/>
        </p:nvSpPr>
        <p:spPr>
          <a:xfrm>
            <a:off x="9948672" y="1554480"/>
            <a:ext cx="1737360" cy="164592"/>
          </a:xfrm>
          <a:prstGeom prst="rect">
            <a:avLst/>
          </a:prstGeom>
          <a:solidFill>
            <a:srgbClr val="CBD5E1"/>
          </a:solidFill>
          <a:ln/>
        </p:spPr>
        <p:txBody>
          <a:bodyPr/>
          <a:lstStyle/>
          <a:p>
            <a:endParaRPr lang="en-US"/>
          </a:p>
        </p:txBody>
      </p:sp>
      <p:sp>
        <p:nvSpPr>
          <p:cNvPr id="252" name="Shape"/>
          <p:cNvSpPr/>
          <p:nvPr/>
        </p:nvSpPr>
        <p:spPr>
          <a:xfrm>
            <a:off x="9948672" y="1554480"/>
            <a:ext cx="17374" cy="164592"/>
          </a:xfrm>
          <a:prstGeom prst="rect">
            <a:avLst/>
          </a:prstGeom>
          <a:solidFill>
            <a:srgbClr val="DC2626"/>
          </a:solidFill>
          <a:ln/>
        </p:spPr>
        <p:txBody>
          <a:bodyPr/>
          <a:lstStyle/>
          <a:p>
            <a:endParaRPr lang="en-US"/>
          </a:p>
        </p:txBody>
      </p:sp>
      <p:sp>
        <p:nvSpPr>
          <p:cNvPr id="253" name="Text"/>
          <p:cNvSpPr/>
          <p:nvPr/>
        </p:nvSpPr>
        <p:spPr>
          <a:xfrm>
            <a:off x="11722608" y="1444752"/>
            <a:ext cx="640080" cy="411480"/>
          </a:xfrm>
          <a:prstGeom prst="rect">
            <a:avLst/>
          </a:prstGeom>
          <a:noFill/>
          <a:ln/>
        </p:spPr>
        <p:txBody>
          <a:bodyPr wrap="square" rtlCol="0" anchor="ctr"/>
          <a:lstStyle/>
          <a:p>
            <a:pPr marL="0" indent="0">
              <a:buNone/>
            </a:pPr>
            <a:r>
              <a:rPr lang="en-US" sz="1000" b="1" dirty="0">
                <a:solidFill>
                  <a:srgbClr val="DC2626"/>
                </a:solidFill>
                <a:latin typeface="Calibri" pitchFamily="34" charset="0"/>
                <a:ea typeface="Calibri" pitchFamily="34" charset="-122"/>
                <a:cs typeface="Calibri" pitchFamily="34" charset="-120"/>
              </a:rPr>
              <a:t>1%</a:t>
            </a:r>
          </a:p>
        </p:txBody>
      </p:sp>
      <p:sp>
        <p:nvSpPr>
          <p:cNvPr id="254" name="Shape"/>
          <p:cNvSpPr/>
          <p:nvPr/>
        </p:nvSpPr>
        <p:spPr>
          <a:xfrm>
            <a:off x="6309360" y="1901952"/>
            <a:ext cx="5577840" cy="411480"/>
          </a:xfrm>
          <a:prstGeom prst="roundRect">
            <a:avLst>
              <a:gd name="adj" fmla="val 8889"/>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255" name="Text"/>
          <p:cNvSpPr/>
          <p:nvPr/>
        </p:nvSpPr>
        <p:spPr>
          <a:xfrm>
            <a:off x="6446520" y="1901952"/>
            <a:ext cx="2423160" cy="411480"/>
          </a:xfrm>
          <a:prstGeom prst="rect">
            <a:avLst/>
          </a:prstGeom>
          <a:noFill/>
          <a:ln/>
        </p:spPr>
        <p:txBody>
          <a:bodyPr wrap="square" rtlCol="0" anchor="ctr"/>
          <a:lstStyle/>
          <a:p>
            <a:pPr marL="0" indent="0">
              <a:buNone/>
            </a:pPr>
            <a:r>
              <a:rPr lang="en-US" sz="900" b="1" dirty="0">
                <a:solidFill>
                  <a:srgbClr val="334155"/>
                </a:solidFill>
                <a:latin typeface="Calibri" pitchFamily="34" charset="0"/>
                <a:ea typeface="Calibri" pitchFamily="34" charset="-122"/>
                <a:cs typeface="Calibri" pitchFamily="34" charset="-120"/>
              </a:rPr>
              <a:t>TÉLÉCOMS (Orange+MTN)</a:t>
            </a:r>
          </a:p>
        </p:txBody>
      </p:sp>
      <p:sp>
        <p:nvSpPr>
          <p:cNvPr id="256" name="Text"/>
          <p:cNvSpPr/>
          <p:nvPr/>
        </p:nvSpPr>
        <p:spPr>
          <a:xfrm>
            <a:off x="8869680" y="1901952"/>
            <a:ext cx="1325880" cy="41148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182 071 kg</a:t>
            </a:r>
          </a:p>
        </p:txBody>
      </p:sp>
      <p:sp>
        <p:nvSpPr>
          <p:cNvPr id="257" name="Shape"/>
          <p:cNvSpPr/>
          <p:nvPr/>
        </p:nvSpPr>
        <p:spPr>
          <a:xfrm>
            <a:off x="9948672" y="2011680"/>
            <a:ext cx="1737360" cy="164592"/>
          </a:xfrm>
          <a:prstGeom prst="rect">
            <a:avLst/>
          </a:prstGeom>
          <a:solidFill>
            <a:srgbClr val="CBD5E1"/>
          </a:solidFill>
          <a:ln/>
        </p:spPr>
        <p:txBody>
          <a:bodyPr/>
          <a:lstStyle/>
          <a:p>
            <a:endParaRPr lang="en-US"/>
          </a:p>
        </p:txBody>
      </p:sp>
      <p:sp>
        <p:nvSpPr>
          <p:cNvPr id="258" name="Shape"/>
          <p:cNvSpPr/>
          <p:nvPr/>
        </p:nvSpPr>
        <p:spPr>
          <a:xfrm>
            <a:off x="9948672" y="2011680"/>
            <a:ext cx="573329" cy="164592"/>
          </a:xfrm>
          <a:prstGeom prst="rect">
            <a:avLst/>
          </a:prstGeom>
          <a:solidFill>
            <a:srgbClr val="1E40AF"/>
          </a:solidFill>
          <a:ln/>
        </p:spPr>
        <p:txBody>
          <a:bodyPr/>
          <a:lstStyle/>
          <a:p>
            <a:endParaRPr lang="en-US"/>
          </a:p>
        </p:txBody>
      </p:sp>
      <p:sp>
        <p:nvSpPr>
          <p:cNvPr id="259" name="Text"/>
          <p:cNvSpPr/>
          <p:nvPr/>
        </p:nvSpPr>
        <p:spPr>
          <a:xfrm>
            <a:off x="11722608" y="1901952"/>
            <a:ext cx="640080" cy="411480"/>
          </a:xfrm>
          <a:prstGeom prst="rect">
            <a:avLst/>
          </a:prstGeom>
          <a:noFill/>
          <a:ln/>
        </p:spPr>
        <p:txBody>
          <a:bodyPr wrap="square" rtlCol="0" anchor="ctr"/>
          <a:lstStyle/>
          <a:p>
            <a:pPr marL="0" indent="0">
              <a:buNone/>
            </a:pPr>
            <a:r>
              <a:rPr lang="en-US" sz="1000" b="1" dirty="0">
                <a:solidFill>
                  <a:srgbClr val="1E40AF"/>
                </a:solidFill>
                <a:latin typeface="Calibri" pitchFamily="34" charset="0"/>
                <a:ea typeface="Calibri" pitchFamily="34" charset="-122"/>
                <a:cs typeface="Calibri" pitchFamily="34" charset="-120"/>
              </a:rPr>
              <a:t>33%</a:t>
            </a:r>
          </a:p>
        </p:txBody>
      </p:sp>
      <p:sp>
        <p:nvSpPr>
          <p:cNvPr id="260" name="Shape"/>
          <p:cNvSpPr/>
          <p:nvPr/>
        </p:nvSpPr>
        <p:spPr>
          <a:xfrm>
            <a:off x="6309360" y="2359152"/>
            <a:ext cx="5577840" cy="411480"/>
          </a:xfrm>
          <a:prstGeom prst="roundRect">
            <a:avLst>
              <a:gd name="adj" fmla="val 8889"/>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261" name="Text"/>
          <p:cNvSpPr/>
          <p:nvPr/>
        </p:nvSpPr>
        <p:spPr>
          <a:xfrm>
            <a:off x="6446520" y="2359152"/>
            <a:ext cx="2423160" cy="411480"/>
          </a:xfrm>
          <a:prstGeom prst="rect">
            <a:avLst/>
          </a:prstGeom>
          <a:noFill/>
          <a:ln/>
        </p:spPr>
        <p:txBody>
          <a:bodyPr wrap="square" rtlCol="0" anchor="ctr"/>
          <a:lstStyle/>
          <a:p>
            <a:pPr marL="0" indent="0">
              <a:buNone/>
            </a:pPr>
            <a:r>
              <a:rPr lang="en-US" sz="900" b="1" dirty="0">
                <a:solidFill>
                  <a:srgbClr val="334155"/>
                </a:solidFill>
                <a:latin typeface="Calibri" pitchFamily="34" charset="0"/>
                <a:ea typeface="Calibri" pitchFamily="34" charset="-122"/>
                <a:cs typeface="Calibri" pitchFamily="34" charset="-120"/>
              </a:rPr>
              <a:t>MAT. MINIERS (K1)</a:t>
            </a:r>
          </a:p>
        </p:txBody>
      </p:sp>
      <p:sp>
        <p:nvSpPr>
          <p:cNvPr id="262" name="Text"/>
          <p:cNvSpPr/>
          <p:nvPr/>
        </p:nvSpPr>
        <p:spPr>
          <a:xfrm>
            <a:off x="8869680" y="2359152"/>
            <a:ext cx="1325880" cy="41148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515 776 kg</a:t>
            </a:r>
          </a:p>
        </p:txBody>
      </p:sp>
      <p:sp>
        <p:nvSpPr>
          <p:cNvPr id="263" name="Shape"/>
          <p:cNvSpPr/>
          <p:nvPr/>
        </p:nvSpPr>
        <p:spPr>
          <a:xfrm>
            <a:off x="9948672" y="2468880"/>
            <a:ext cx="1737360" cy="164592"/>
          </a:xfrm>
          <a:prstGeom prst="rect">
            <a:avLst/>
          </a:prstGeom>
          <a:solidFill>
            <a:srgbClr val="CBD5E1"/>
          </a:solidFill>
          <a:ln/>
        </p:spPr>
        <p:txBody>
          <a:bodyPr/>
          <a:lstStyle/>
          <a:p>
            <a:endParaRPr lang="en-US"/>
          </a:p>
        </p:txBody>
      </p:sp>
      <p:sp>
        <p:nvSpPr>
          <p:cNvPr id="264" name="Shape"/>
          <p:cNvSpPr/>
          <p:nvPr/>
        </p:nvSpPr>
        <p:spPr>
          <a:xfrm>
            <a:off x="9948672" y="2468880"/>
            <a:ext cx="1059790" cy="164592"/>
          </a:xfrm>
          <a:prstGeom prst="rect">
            <a:avLst/>
          </a:prstGeom>
          <a:solidFill>
            <a:srgbClr val="16A34A"/>
          </a:solidFill>
          <a:ln/>
        </p:spPr>
        <p:txBody>
          <a:bodyPr/>
          <a:lstStyle/>
          <a:p>
            <a:endParaRPr lang="en-US"/>
          </a:p>
        </p:txBody>
      </p:sp>
      <p:sp>
        <p:nvSpPr>
          <p:cNvPr id="265" name="Text"/>
          <p:cNvSpPr/>
          <p:nvPr/>
        </p:nvSpPr>
        <p:spPr>
          <a:xfrm>
            <a:off x="11722608" y="2359152"/>
            <a:ext cx="640080" cy="411480"/>
          </a:xfrm>
          <a:prstGeom prst="rect">
            <a:avLst/>
          </a:prstGeom>
          <a:noFill/>
          <a:ln/>
        </p:spPr>
        <p:txBody>
          <a:bodyPr wrap="square" rtlCol="0" anchor="ctr"/>
          <a:lstStyle/>
          <a:p>
            <a:pPr marL="0" indent="0">
              <a:buNone/>
            </a:pPr>
            <a:r>
              <a:rPr lang="en-US" sz="1000" b="1" dirty="0">
                <a:solidFill>
                  <a:srgbClr val="16A34A"/>
                </a:solidFill>
                <a:latin typeface="Calibri" pitchFamily="34" charset="0"/>
                <a:ea typeface="Calibri" pitchFamily="34" charset="-122"/>
                <a:cs typeface="Calibri" pitchFamily="34" charset="-120"/>
              </a:rPr>
              <a:t>61%</a:t>
            </a:r>
          </a:p>
        </p:txBody>
      </p:sp>
      <p:sp>
        <p:nvSpPr>
          <p:cNvPr id="266" name="Shape"/>
          <p:cNvSpPr/>
          <p:nvPr/>
        </p:nvSpPr>
        <p:spPr>
          <a:xfrm>
            <a:off x="6309360" y="2816352"/>
            <a:ext cx="5577840" cy="411480"/>
          </a:xfrm>
          <a:prstGeom prst="roundRect">
            <a:avLst>
              <a:gd name="adj" fmla="val 8889"/>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267" name="Text"/>
          <p:cNvSpPr/>
          <p:nvPr/>
        </p:nvSpPr>
        <p:spPr>
          <a:xfrm>
            <a:off x="6446520" y="2816352"/>
            <a:ext cx="2423160" cy="411480"/>
          </a:xfrm>
          <a:prstGeom prst="rect">
            <a:avLst/>
          </a:prstGeom>
          <a:noFill/>
          <a:ln/>
        </p:spPr>
        <p:txBody>
          <a:bodyPr wrap="square" rtlCol="0" anchor="ctr"/>
          <a:lstStyle/>
          <a:p>
            <a:pPr marL="0" indent="0">
              <a:buNone/>
            </a:pPr>
            <a:r>
              <a:rPr lang="en-US" sz="900" b="1" dirty="0">
                <a:solidFill>
                  <a:srgbClr val="334155"/>
                </a:solidFill>
                <a:latin typeface="Calibri" pitchFamily="34" charset="0"/>
                <a:ea typeface="Calibri" pitchFamily="34" charset="-122"/>
                <a:cs typeface="Calibri" pitchFamily="34" charset="-120"/>
              </a:rPr>
              <a:t>PIÈCES DÉTACHÉES</a:t>
            </a:r>
          </a:p>
        </p:txBody>
      </p:sp>
      <p:sp>
        <p:nvSpPr>
          <p:cNvPr id="268" name="Text"/>
          <p:cNvSpPr/>
          <p:nvPr/>
        </p:nvSpPr>
        <p:spPr>
          <a:xfrm>
            <a:off x="8869680" y="2816352"/>
            <a:ext cx="1325880" cy="41148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942 926 kg</a:t>
            </a:r>
          </a:p>
        </p:txBody>
      </p:sp>
      <p:sp>
        <p:nvSpPr>
          <p:cNvPr id="269" name="Shape"/>
          <p:cNvSpPr/>
          <p:nvPr/>
        </p:nvSpPr>
        <p:spPr>
          <a:xfrm>
            <a:off x="9948672" y="2926080"/>
            <a:ext cx="1737360" cy="164592"/>
          </a:xfrm>
          <a:prstGeom prst="rect">
            <a:avLst/>
          </a:prstGeom>
          <a:solidFill>
            <a:srgbClr val="CBD5E1"/>
          </a:solidFill>
          <a:ln/>
        </p:spPr>
        <p:txBody>
          <a:bodyPr/>
          <a:lstStyle/>
          <a:p>
            <a:endParaRPr lang="en-US"/>
          </a:p>
        </p:txBody>
      </p:sp>
      <p:sp>
        <p:nvSpPr>
          <p:cNvPr id="270" name="Shape"/>
          <p:cNvSpPr/>
          <p:nvPr/>
        </p:nvSpPr>
        <p:spPr>
          <a:xfrm>
            <a:off x="9948672" y="2926080"/>
            <a:ext cx="138989" cy="164592"/>
          </a:xfrm>
          <a:prstGeom prst="rect">
            <a:avLst/>
          </a:prstGeom>
          <a:solidFill>
            <a:srgbClr val="0891B2"/>
          </a:solidFill>
          <a:ln/>
        </p:spPr>
        <p:txBody>
          <a:bodyPr/>
          <a:lstStyle/>
          <a:p>
            <a:endParaRPr lang="en-US"/>
          </a:p>
        </p:txBody>
      </p:sp>
      <p:sp>
        <p:nvSpPr>
          <p:cNvPr id="271" name="Text"/>
          <p:cNvSpPr/>
          <p:nvPr/>
        </p:nvSpPr>
        <p:spPr>
          <a:xfrm>
            <a:off x="11722608" y="2816352"/>
            <a:ext cx="640080" cy="411480"/>
          </a:xfrm>
          <a:prstGeom prst="rect">
            <a:avLst/>
          </a:prstGeom>
          <a:noFill/>
          <a:ln/>
        </p:spPr>
        <p:txBody>
          <a:bodyPr wrap="square" rtlCol="0" anchor="ctr"/>
          <a:lstStyle/>
          <a:p>
            <a:pPr marL="0" indent="0">
              <a:buNone/>
            </a:pPr>
            <a:r>
              <a:rPr lang="en-US" sz="1000" b="1" dirty="0">
                <a:solidFill>
                  <a:srgbClr val="0891B2"/>
                </a:solidFill>
                <a:latin typeface="Calibri" pitchFamily="34" charset="0"/>
                <a:ea typeface="Calibri" pitchFamily="34" charset="-122"/>
                <a:cs typeface="Calibri" pitchFamily="34" charset="-120"/>
              </a:rPr>
              <a:t>8%</a:t>
            </a:r>
          </a:p>
        </p:txBody>
      </p:sp>
      <p:sp>
        <p:nvSpPr>
          <p:cNvPr id="272" name="Shape"/>
          <p:cNvSpPr/>
          <p:nvPr/>
        </p:nvSpPr>
        <p:spPr>
          <a:xfrm>
            <a:off x="6309360" y="4005072"/>
            <a:ext cx="5577840" cy="1188720"/>
          </a:xfrm>
          <a:prstGeom prst="roundRect">
            <a:avLst>
              <a:gd name="adj" fmla="val 8000"/>
            </a:avLst>
          </a:prstGeom>
          <a:solidFill>
            <a:srgbClr val="FFF5E6"/>
          </a:solidFill>
          <a:ln/>
        </p:spPr>
        <p:txBody>
          <a:bodyPr/>
          <a:lstStyle/>
          <a:p>
            <a:endParaRPr lang="en-US"/>
          </a:p>
        </p:txBody>
      </p:sp>
      <p:sp>
        <p:nvSpPr>
          <p:cNvPr id="273" name="Text"/>
          <p:cNvSpPr/>
          <p:nvPr/>
        </p:nvSpPr>
        <p:spPr>
          <a:xfrm>
            <a:off x="6446520" y="4005072"/>
            <a:ext cx="5303520" cy="1188720"/>
          </a:xfrm>
          <a:prstGeom prst="rect">
            <a:avLst/>
          </a:prstGeom>
          <a:noFill/>
          <a:ln/>
        </p:spPr>
        <p:txBody>
          <a:bodyPr wrap="square" rtlCol="0" anchor="ctr"/>
          <a:lstStyle/>
          <a:p>
            <a:pPr marL="0" indent="0">
              <a:buNone/>
            </a:pPr>
            <a:r>
              <a:rPr lang="en-US" sz="950" b="1" dirty="0">
                <a:solidFill>
                  <a:srgbClr val="EA580C"/>
                </a:solidFill>
                <a:latin typeface="Calibri" pitchFamily="34" charset="0"/>
                <a:ea typeface="Calibri" pitchFamily="34" charset="-122"/>
                <a:cs typeface="Calibri" pitchFamily="34" charset="-120"/>
              </a:rPr>
              <a:t>🎯 LEVIERS : </a:t>
            </a:r>
            <a:r>
              <a:rPr lang="en-US" sz="950" dirty="0">
                <a:solidFill>
                  <a:srgbClr val="334155"/>
                </a:solidFill>
                <a:latin typeface="Calibri" pitchFamily="34" charset="0"/>
                <a:ea typeface="Calibri" pitchFamily="34" charset="-122"/>
                <a:cs typeface="Calibri" pitchFamily="34" charset="-120"/>
              </a:rPr>
              <a:t>Œufs : +26,9% de marché, AGL à 1% → cible 8% = +130 T/an. Transit-Coss en chute de –60% (696K→274K kg) : accélérer la captation de ses clients. Contrats cadres Télécoms 2027 à sécuriser dès maintenant.</a:t>
            </a:r>
          </a:p>
        </p:txBody>
      </p:sp>
      <p:sp>
        <p:nvSpPr>
          <p:cNvPr id="274" name="Text"/>
          <p:cNvSpPr/>
          <p:nvPr/>
        </p:nvSpPr>
        <p:spPr>
          <a:xfrm>
            <a:off x="365760" y="6601968"/>
            <a:ext cx="11430000" cy="201168"/>
          </a:xfrm>
          <a:prstGeom prst="rect">
            <a:avLst/>
          </a:prstGeom>
          <a:noFill/>
          <a:ln/>
        </p:spPr>
        <p:txBody>
          <a:bodyPr wrap="square" rtlCol="0" anchor="t"/>
          <a:lstStyle/>
          <a:p>
            <a:pPr marL="0" indent="0" algn="ctr">
              <a:buNone/>
            </a:pPr>
            <a:r>
              <a:rPr lang="en-US" sz="850" dirty="0">
                <a:solidFill>
                  <a:srgbClr val="64748B"/>
                </a:solidFill>
                <a:latin typeface="Calibri" pitchFamily="34" charset="0"/>
                <a:ea typeface="Calibri" pitchFamily="34" charset="-122"/>
                <a:cs typeface="Calibri" pitchFamily="34" charset="-120"/>
              </a:rPr>
              <a:t>Africa Global Logistics – Étude de Marché Jan–Mai 2026  |  p.24</a:t>
            </a:r>
          </a:p>
        </p:txBody>
      </p:sp>
      <p:pic>
        <p:nvPicPr>
          <p:cNvPr id="275" name="Image logo"/>
          <p:cNvPicPr>
            <a:picLocks noChangeAspect="1"/>
          </p:cNvPicPr>
          <p:nvPr/>
        </p:nvPicPr>
        <p:blipFill>
          <a:blip r:embed="rId3" cstate="screen"/>
          <a:stretch>
            <a:fillRect/>
          </a:stretch>
        </p:blipFill>
        <p:spPr>
          <a:xfrm>
            <a:off x="11488450" y="6549898"/>
            <a:ext cx="450027" cy="292409"/>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Intercalaire">
    <p:bg>
      <p:bgPr>
        <a:solidFill>
          <a:srgbClr val="FFFFFF"/>
        </a:solidFill>
        <a:effectLst/>
      </p:bgPr>
    </p:bg>
    <p:spTree>
      <p:nvGrpSpPr>
        <p:cNvPr id="1" name=""/>
        <p:cNvGrpSpPr/>
        <p:nvPr/>
      </p:nvGrpSpPr>
      <p:grpSpPr>
        <a:xfrm>
          <a:off x="0" y="0"/>
          <a:ext cx="0" cy="0"/>
          <a:chOff x="0" y="0"/>
          <a:chExt cx="0" cy="0"/>
        </a:xfrm>
      </p:grpSpPr>
      <p:sp>
        <p:nvSpPr>
          <p:cNvPr id="276" name="Shape"/>
          <p:cNvSpPr/>
          <p:nvPr/>
        </p:nvSpPr>
        <p:spPr>
          <a:xfrm>
            <a:off x="0" y="0"/>
            <a:ext cx="12161520" cy="6858000"/>
          </a:xfrm>
          <a:prstGeom prst="rect">
            <a:avLst/>
          </a:prstGeom>
          <a:solidFill>
            <a:srgbClr val="0A2240"/>
          </a:solidFill>
          <a:ln w="12700">
            <a:solidFill>
              <a:srgbClr val="0A2240"/>
            </a:solidFill>
            <a:prstDash val="solid"/>
          </a:ln>
        </p:spPr>
        <p:txBody>
          <a:bodyPr/>
          <a:lstStyle/>
          <a:p>
            <a:endParaRPr lang="en-US"/>
          </a:p>
        </p:txBody>
      </p:sp>
      <p:sp>
        <p:nvSpPr>
          <p:cNvPr id="277" name="Shape"/>
          <p:cNvSpPr/>
          <p:nvPr/>
        </p:nvSpPr>
        <p:spPr>
          <a:xfrm>
            <a:off x="4389120" y="3246120"/>
            <a:ext cx="3383280" cy="64008"/>
          </a:xfrm>
          <a:prstGeom prst="rect">
            <a:avLst/>
          </a:prstGeom>
          <a:solidFill>
            <a:srgbClr val="C8A951"/>
          </a:solidFill>
          <a:ln w="12700">
            <a:solidFill>
              <a:srgbClr val="C8A951"/>
            </a:solidFill>
            <a:prstDash val="solid"/>
          </a:ln>
        </p:spPr>
        <p:txBody>
          <a:bodyPr/>
          <a:lstStyle/>
          <a:p>
            <a:endParaRPr lang="en-US"/>
          </a:p>
        </p:txBody>
      </p:sp>
      <p:sp>
        <p:nvSpPr>
          <p:cNvPr id="278" name="Text"/>
          <p:cNvSpPr/>
          <p:nvPr/>
        </p:nvSpPr>
        <p:spPr>
          <a:xfrm>
            <a:off x="0" y="1645920"/>
            <a:ext cx="12161520" cy="1371600"/>
          </a:xfrm>
          <a:prstGeom prst="rect">
            <a:avLst/>
          </a:prstGeom>
          <a:noFill/>
          <a:ln/>
        </p:spPr>
        <p:txBody>
          <a:bodyPr wrap="square" rtlCol="0" anchor="ctr"/>
          <a:lstStyle/>
          <a:p>
            <a:pPr marL="0" indent="0" algn="ctr">
              <a:buNone/>
            </a:pPr>
            <a:r>
              <a:rPr lang="en-US" sz="11000" b="1" dirty="0">
                <a:solidFill>
                  <a:srgbClr val="FFFFFF">
                    <a:alpha val="12000"/>
                  </a:srgbClr>
                </a:solidFill>
                <a:latin typeface="Calibri" pitchFamily="34" charset="0"/>
                <a:ea typeface="Calibri" pitchFamily="34" charset="-122"/>
                <a:cs typeface="Calibri" pitchFamily="34" charset="-120"/>
              </a:rPr>
              <a:t>DSM</a:t>
            </a:r>
          </a:p>
        </p:txBody>
      </p:sp>
      <p:sp>
        <p:nvSpPr>
          <p:cNvPr id="279" name="Text"/>
          <p:cNvSpPr/>
          <p:nvPr/>
        </p:nvSpPr>
        <p:spPr>
          <a:xfrm>
            <a:off x="1371600" y="2651760"/>
            <a:ext cx="9418320" cy="822960"/>
          </a:xfrm>
          <a:prstGeom prst="rect">
            <a:avLst/>
          </a:prstGeom>
          <a:noFill/>
          <a:ln/>
        </p:spPr>
        <p:txBody>
          <a:bodyPr wrap="square" rtlCol="0" anchor="ctr"/>
          <a:lstStyle/>
          <a:p>
            <a:pPr marL="0" indent="0" algn="ctr">
              <a:buNone/>
            </a:pPr>
            <a:r>
              <a:rPr lang="en-US" sz="3400" b="1" dirty="0">
                <a:solidFill>
                  <a:srgbClr val="FFFFFF"/>
                </a:solidFill>
                <a:latin typeface="Calibri" pitchFamily="34" charset="0"/>
                <a:ea typeface="Calibri" pitchFamily="34" charset="-122"/>
                <a:cs typeface="Calibri" pitchFamily="34" charset="-120"/>
              </a:rPr>
              <a:t>DIRECTION DES SOLUTIONS MARITIMES</a:t>
            </a:r>
          </a:p>
        </p:txBody>
      </p:sp>
      <p:sp>
        <p:nvSpPr>
          <p:cNvPr id="280" name="Text"/>
          <p:cNvSpPr/>
          <p:nvPr/>
        </p:nvSpPr>
        <p:spPr>
          <a:xfrm>
            <a:off x="1371600" y="3383280"/>
            <a:ext cx="9418320" cy="411480"/>
          </a:xfrm>
          <a:prstGeom prst="rect">
            <a:avLst/>
          </a:prstGeom>
          <a:noFill/>
          <a:ln/>
        </p:spPr>
        <p:txBody>
          <a:bodyPr wrap="square" rtlCol="0" anchor="ctr"/>
          <a:lstStyle/>
          <a:p>
            <a:pPr marL="0" indent="0" algn="ctr">
              <a:buNone/>
            </a:pPr>
            <a:r>
              <a:rPr lang="en-US" sz="1400" i="1" dirty="0">
                <a:solidFill>
                  <a:srgbClr val="C8A951"/>
                </a:solidFill>
                <a:latin typeface="Calibri" pitchFamily="34" charset="0"/>
                <a:ea typeface="Calibri" pitchFamily="34" charset="-122"/>
                <a:cs typeface="Calibri" pitchFamily="34" charset="-120"/>
              </a:rPr>
              <a:t>Étude des armateurs au B/L  |  Lignes régulières (TEU + RoRo)  |  Tramps : BRBK, Sac, Vrac</a:t>
            </a:r>
          </a:p>
        </p:txBody>
      </p:sp>
      <p:sp>
        <p:nvSpPr>
          <p:cNvPr id="281" name="Text"/>
          <p:cNvSpPr/>
          <p:nvPr/>
        </p:nvSpPr>
        <p:spPr>
          <a:xfrm>
            <a:off x="365760" y="6601968"/>
            <a:ext cx="11430000" cy="201168"/>
          </a:xfrm>
          <a:prstGeom prst="rect">
            <a:avLst/>
          </a:prstGeom>
          <a:noFill/>
          <a:ln/>
        </p:spPr>
        <p:txBody>
          <a:bodyPr wrap="square" rtlCol="0" anchor="t"/>
          <a:lstStyle/>
          <a:p>
            <a:pPr marL="0" indent="0" algn="ctr">
              <a:buNone/>
            </a:pPr>
            <a:r>
              <a:rPr lang="en-US" sz="850" dirty="0">
                <a:solidFill>
                  <a:srgbClr val="C8A951"/>
                </a:solidFill>
                <a:latin typeface="Calibri" pitchFamily="34" charset="0"/>
                <a:ea typeface="Calibri" pitchFamily="34" charset="-122"/>
                <a:cs typeface="Calibri" pitchFamily="34" charset="-120"/>
              </a:rPr>
              <a:t>Africa Global Logistics – Étude de Marché Jan–Mai 2026</a:t>
            </a:r>
          </a:p>
        </p:txBody>
      </p:sp>
      <p:pic>
        <p:nvPicPr>
          <p:cNvPr id="282" name="Image logo"/>
          <p:cNvPicPr>
            <a:picLocks noChangeAspect="1"/>
          </p:cNvPicPr>
          <p:nvPr/>
        </p:nvPicPr>
        <p:blipFill>
          <a:blip r:embed="rId3" cstate="screen"/>
          <a:stretch>
            <a:fillRect/>
          </a:stretch>
        </p:blipFill>
        <p:spPr>
          <a:xfrm>
            <a:off x="11488450" y="6549898"/>
            <a:ext cx="450027" cy="292409"/>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DSM Lignes régulières">
    <p:bg>
      <p:bgPr>
        <a:solidFill>
          <a:srgbClr val="FFFFFF"/>
        </a:solidFill>
        <a:effectLst/>
      </p:bgPr>
    </p:bg>
    <p:spTree>
      <p:nvGrpSpPr>
        <p:cNvPr id="1" name=""/>
        <p:cNvGrpSpPr/>
        <p:nvPr/>
      </p:nvGrpSpPr>
      <p:grpSpPr>
        <a:xfrm>
          <a:off x="0" y="0"/>
          <a:ext cx="0" cy="0"/>
          <a:chOff x="0" y="0"/>
          <a:chExt cx="0" cy="0"/>
        </a:xfrm>
      </p:grpSpPr>
      <p:sp>
        <p:nvSpPr>
          <p:cNvPr id="283" name="Shape"/>
          <p:cNvSpPr/>
          <p:nvPr/>
        </p:nvSpPr>
        <p:spPr>
          <a:xfrm>
            <a:off x="0" y="0"/>
            <a:ext cx="12161520" cy="1051560"/>
          </a:xfrm>
          <a:prstGeom prst="rect">
            <a:avLst/>
          </a:prstGeom>
          <a:solidFill>
            <a:srgbClr val="0A2240"/>
          </a:solidFill>
          <a:ln w="12700">
            <a:solidFill>
              <a:srgbClr val="0A2240"/>
            </a:solidFill>
            <a:prstDash val="solid"/>
          </a:ln>
        </p:spPr>
        <p:txBody>
          <a:bodyPr/>
          <a:lstStyle/>
          <a:p>
            <a:endParaRPr lang="en-US"/>
          </a:p>
        </p:txBody>
      </p:sp>
      <p:sp>
        <p:nvSpPr>
          <p:cNvPr id="284" name="Text"/>
          <p:cNvSpPr/>
          <p:nvPr/>
        </p:nvSpPr>
        <p:spPr>
          <a:xfrm>
            <a:off x="365760" y="54864"/>
            <a:ext cx="11430000" cy="65836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DSM – ARMATEURS EN LIGNE RÉGULIÈRE  |  TEU + RoRo</a:t>
            </a:r>
          </a:p>
        </p:txBody>
      </p:sp>
      <p:sp>
        <p:nvSpPr>
          <p:cNvPr id="285" name="Text"/>
          <p:cNvSpPr/>
          <p:nvPr/>
        </p:nvSpPr>
        <p:spPr>
          <a:xfrm>
            <a:off x="365760" y="676656"/>
            <a:ext cx="11430000" cy="329184"/>
          </a:xfrm>
          <a:prstGeom prst="rect">
            <a:avLst/>
          </a:prstGeom>
          <a:noFill/>
          <a:ln/>
        </p:spPr>
        <p:txBody>
          <a:bodyPr wrap="square" rtlCol="0" anchor="t"/>
          <a:lstStyle/>
          <a:p>
            <a:pPr marL="0" indent="0">
              <a:buNone/>
            </a:pPr>
            <a:r>
              <a:rPr lang="en-US" sz="1200" i="1" dirty="0">
                <a:solidFill>
                  <a:srgbClr val="C8A951"/>
                </a:solidFill>
                <a:latin typeface="Calibri" pitchFamily="34" charset="0"/>
                <a:ea typeface="Calibri" pitchFamily="34" charset="-122"/>
                <a:cs typeface="Calibri" pitchFamily="34" charset="-120"/>
              </a:rPr>
              <a:t>Classement au B/L  |  Navires en ligne régulière (conteneurs + rouliers)  |  Jan–Mai 2026</a:t>
            </a:r>
          </a:p>
        </p:txBody>
      </p:sp>
      <p:sp>
        <p:nvSpPr>
          <p:cNvPr id="286" name="Text"/>
          <p:cNvSpPr/>
          <p:nvPr/>
        </p:nvSpPr>
        <p:spPr>
          <a:xfrm>
            <a:off x="320040" y="1143000"/>
            <a:ext cx="5943600" cy="274320"/>
          </a:xfrm>
          <a:prstGeom prst="rect">
            <a:avLst/>
          </a:prstGeom>
          <a:noFill/>
          <a:ln/>
        </p:spPr>
        <p:txBody>
          <a:bodyPr wrap="square" rtlCol="0" anchor="t"/>
          <a:lstStyle/>
          <a:p>
            <a:pPr marL="0" indent="0">
              <a:buNone/>
            </a:pPr>
            <a:r>
              <a:rPr lang="en-US" sz="1200" b="1" dirty="0">
                <a:solidFill>
                  <a:srgbClr val="0A2240"/>
                </a:solidFill>
                <a:latin typeface="Calibri" pitchFamily="34" charset="0"/>
                <a:ea typeface="Calibri" pitchFamily="34" charset="-122"/>
                <a:cs typeface="Calibri" pitchFamily="34" charset="-120"/>
              </a:rPr>
              <a:t>Classement Armateurs – Lignes régulières (B/L Abidjan)</a:t>
            </a:r>
          </a:p>
        </p:txBody>
      </p:sp>
      <p:graphicFrame>
        <p:nvGraphicFramePr>
          <p:cNvPr id="287" name="Table"/>
          <p:cNvGraphicFramePr>
            <a:graphicFrameLocks noGrp="1"/>
          </p:cNvGraphicFramePr>
          <p:nvPr/>
        </p:nvGraphicFramePr>
        <p:xfrm>
          <a:off x="320040" y="1444752"/>
          <a:ext cx="5760720" cy="3721608"/>
        </p:xfrm>
        <a:graphic>
          <a:graphicData uri="http://schemas.openxmlformats.org/drawingml/2006/table">
            <a:tbl>
              <a:tblPr/>
              <a:tblGrid>
                <a:gridCol w="457200"/>
                <a:gridCol w="3200400"/>
                <a:gridCol w="1097280"/>
                <a:gridCol w="1005840"/>
              </a:tblGrid>
              <a:tr h="338328">
                <a:tc>
                  <a:txBody>
                    <a:bodyPr/>
                    <a:lstStyle/>
                    <a:p>
                      <a:pPr marL="0" indent="0" algn="ctr">
                        <a:buNone/>
                      </a:pPr>
                      <a:r>
                        <a:rPr lang="en-US" sz="1000" b="1" dirty="0">
                          <a:solidFill>
                            <a:srgbClr val="FFFFFF"/>
                          </a:solidFill>
                        </a:rPr>
                        <a:t>Rang</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lgn="ctr">
                        <a:buNone/>
                      </a:pPr>
                      <a:r>
                        <a:rPr lang="en-US" sz="1000" b="1" dirty="0">
                          <a:solidFill>
                            <a:srgbClr val="FFFFFF"/>
                          </a:solidFill>
                        </a:rPr>
                        <a:t>Armateur</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lgn="ctr">
                        <a:buNone/>
                      </a:pPr>
                      <a:r>
                        <a:rPr lang="en-US" sz="1000" b="1" dirty="0">
                          <a:solidFill>
                            <a:srgbClr val="FFFFFF"/>
                          </a:solidFill>
                        </a:rPr>
                        <a:t>TEU + RoRo</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lgn="ctr">
                        <a:buNone/>
                      </a:pPr>
                      <a:r>
                        <a:rPr lang="en-US" sz="1000" b="1" dirty="0">
                          <a:solidFill>
                            <a:srgbClr val="FFFFFF"/>
                          </a:solidFill>
                        </a:rPr>
                        <a:t>PDM</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r>
              <a:tr h="338328">
                <a:tc>
                  <a:txBody>
                    <a:bodyPr/>
                    <a:lstStyle/>
                    <a:p>
                      <a:pPr marL="0" indent="0" algn="ctr">
                        <a:buNone/>
                      </a:pPr>
                      <a:r>
                        <a:rPr lang="en-US" sz="950" dirty="0">
                          <a:solidFill>
                            <a:srgbClr val="334155"/>
                          </a:solidFill>
                        </a:rPr>
                        <a:t>#1</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334155"/>
                          </a:solidFill>
                        </a:rPr>
                        <a:t>MSC</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68 400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16,3 %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lgn="ctr">
                        <a:buNone/>
                      </a:pPr>
                      <a:r>
                        <a:rPr lang="en-US" sz="950" dirty="0">
                          <a:solidFill>
                            <a:srgbClr val="334155"/>
                          </a:solidFill>
                        </a:rPr>
                        <a:t>#2</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334155"/>
                          </a:solidFill>
                        </a:rPr>
                        <a:t>MAERSK</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52 800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12,6 %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lgn="ctr">
                        <a:buNone/>
                      </a:pPr>
                      <a:r>
                        <a:rPr lang="en-US" sz="950" dirty="0">
                          <a:solidFill>
                            <a:srgbClr val="334155"/>
                          </a:solidFill>
                        </a:rPr>
                        <a:t>#3</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334155"/>
                          </a:solidFill>
                        </a:rPr>
                        <a:t>CMA CGM</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48 200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11,5 %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lgn="ctr">
                        <a:buNone/>
                      </a:pPr>
                      <a:r>
                        <a:rPr lang="en-US" sz="950" dirty="0">
                          <a:solidFill>
                            <a:srgbClr val="334155"/>
                          </a:solidFill>
                        </a:rPr>
                        <a:t>#4</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334155"/>
                          </a:solidFill>
                        </a:rPr>
                        <a:t>HAPAG-LLOYD</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31 500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7,5 %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lgn="ctr">
                        <a:buNone/>
                      </a:pPr>
                      <a:r>
                        <a:rPr lang="en-US" sz="950" dirty="0">
                          <a:solidFill>
                            <a:srgbClr val="334155"/>
                          </a:solidFill>
                        </a:rPr>
                        <a:t>#5</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334155"/>
                          </a:solidFill>
                        </a:rPr>
                        <a:t>EVERGREEN</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24 800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5,9 %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lgn="ctr">
                        <a:buNone/>
                      </a:pPr>
                      <a:r>
                        <a:rPr lang="en-US" sz="950" dirty="0">
                          <a:solidFill>
                            <a:srgbClr val="334155"/>
                          </a:solidFill>
                        </a:rPr>
                        <a:t>#6</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334155"/>
                          </a:solidFill>
                        </a:rPr>
                        <a:t>COSCO</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18 400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4,4 %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lgn="ctr">
                        <a:buNone/>
                      </a:pPr>
                      <a:r>
                        <a:rPr lang="en-US" sz="950" dirty="0">
                          <a:solidFill>
                            <a:srgbClr val="334155"/>
                          </a:solidFill>
                        </a:rPr>
                        <a:t>#7</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334155"/>
                          </a:solidFill>
                        </a:rPr>
                        <a:t>ONE (Ocean Network)</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16 200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3,9 %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lgn="ctr">
                        <a:buNone/>
                      </a:pPr>
                      <a:r>
                        <a:rPr lang="en-US" sz="950" dirty="0">
                          <a:solidFill>
                            <a:srgbClr val="334155"/>
                          </a:solidFill>
                        </a:rPr>
                        <a:t>#8</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334155"/>
                          </a:solidFill>
                        </a:rPr>
                        <a:t>PIL</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14 600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3,5 %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lgn="ctr">
                        <a:buNone/>
                      </a:pPr>
                      <a:r>
                        <a:rPr lang="en-US" sz="950" dirty="0">
                          <a:solidFill>
                            <a:srgbClr val="334155"/>
                          </a:solidFill>
                        </a:rPr>
                        <a:t>#9</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334155"/>
                          </a:solidFill>
                        </a:rPr>
                        <a:t>GRIMALDI (RoRo)</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12 100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2,9 %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lgn="ctr">
                        <a:buNone/>
                      </a:pPr>
                      <a:r>
                        <a:rPr lang="en-US" sz="950" dirty="0">
                          <a:solidFill>
                            <a:srgbClr val="334155"/>
                          </a:solidFill>
                        </a:rPr>
                        <a:t>#10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334155"/>
                          </a:solidFill>
                        </a:rPr>
                        <a:t>BOLLORÉ AFRICA (feeder)</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9 800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2,3 %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288" name="Text"/>
          <p:cNvSpPr/>
          <p:nvPr/>
        </p:nvSpPr>
        <p:spPr>
          <a:xfrm>
            <a:off x="6309360" y="1143000"/>
            <a:ext cx="5486400" cy="274320"/>
          </a:xfrm>
          <a:prstGeom prst="rect">
            <a:avLst/>
          </a:prstGeom>
          <a:noFill/>
          <a:ln/>
        </p:spPr>
        <p:txBody>
          <a:bodyPr wrap="square" rtlCol="0" anchor="t"/>
          <a:lstStyle/>
          <a:p>
            <a:pPr marL="0" indent="0">
              <a:buNone/>
            </a:pPr>
            <a:r>
              <a:rPr lang="en-US" sz="1200" b="1" dirty="0">
                <a:solidFill>
                  <a:srgbClr val="0A2240"/>
                </a:solidFill>
                <a:latin typeface="Calibri" pitchFamily="34" charset="0"/>
                <a:ea typeface="Calibri" pitchFamily="34" charset="-122"/>
                <a:cs typeface="Calibri" pitchFamily="34" charset="-120"/>
              </a:rPr>
              <a:t>Couverture AGL par armateur (consignation / B/L)</a:t>
            </a:r>
          </a:p>
        </p:txBody>
      </p:sp>
      <p:sp>
        <p:nvSpPr>
          <p:cNvPr id="289" name="Shape"/>
          <p:cNvSpPr/>
          <p:nvPr/>
        </p:nvSpPr>
        <p:spPr>
          <a:xfrm>
            <a:off x="6309360" y="1444752"/>
            <a:ext cx="5577840" cy="411480"/>
          </a:xfrm>
          <a:prstGeom prst="roundRect">
            <a:avLst>
              <a:gd name="adj" fmla="val 8889"/>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290" name="Text"/>
          <p:cNvSpPr/>
          <p:nvPr/>
        </p:nvSpPr>
        <p:spPr>
          <a:xfrm>
            <a:off x="6446520" y="1444752"/>
            <a:ext cx="2423160" cy="411480"/>
          </a:xfrm>
          <a:prstGeom prst="rect">
            <a:avLst/>
          </a:prstGeom>
          <a:noFill/>
          <a:ln/>
        </p:spPr>
        <p:txBody>
          <a:bodyPr wrap="square" rtlCol="0" anchor="ctr"/>
          <a:lstStyle/>
          <a:p>
            <a:pPr marL="0" indent="0">
              <a:buNone/>
            </a:pPr>
            <a:r>
              <a:rPr lang="en-US" sz="900" b="1" dirty="0">
                <a:solidFill>
                  <a:srgbClr val="334155"/>
                </a:solidFill>
                <a:latin typeface="Calibri" pitchFamily="34" charset="0"/>
                <a:ea typeface="Calibri" pitchFamily="34" charset="-122"/>
                <a:cs typeface="Calibri" pitchFamily="34" charset="-120"/>
              </a:rPr>
              <a:t>MSC</a:t>
            </a:r>
          </a:p>
        </p:txBody>
      </p:sp>
      <p:sp>
        <p:nvSpPr>
          <p:cNvPr id="291" name="Text"/>
          <p:cNvSpPr/>
          <p:nvPr/>
        </p:nvSpPr>
        <p:spPr>
          <a:xfrm>
            <a:off x="8869680" y="1444752"/>
            <a:ext cx="1325880" cy="41148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Partenaire actif</a:t>
            </a:r>
          </a:p>
        </p:txBody>
      </p:sp>
      <p:sp>
        <p:nvSpPr>
          <p:cNvPr id="292" name="Shape"/>
          <p:cNvSpPr/>
          <p:nvPr/>
        </p:nvSpPr>
        <p:spPr>
          <a:xfrm>
            <a:off x="9948672" y="1554480"/>
            <a:ext cx="1737360" cy="164592"/>
          </a:xfrm>
          <a:prstGeom prst="rect">
            <a:avLst/>
          </a:prstGeom>
          <a:solidFill>
            <a:srgbClr val="CBD5E1"/>
          </a:solidFill>
          <a:ln/>
        </p:spPr>
        <p:txBody>
          <a:bodyPr/>
          <a:lstStyle/>
          <a:p>
            <a:endParaRPr lang="en-US"/>
          </a:p>
        </p:txBody>
      </p:sp>
      <p:sp>
        <p:nvSpPr>
          <p:cNvPr id="293" name="Shape"/>
          <p:cNvSpPr/>
          <p:nvPr/>
        </p:nvSpPr>
        <p:spPr>
          <a:xfrm>
            <a:off x="9948672" y="1554480"/>
            <a:ext cx="312725" cy="164592"/>
          </a:xfrm>
          <a:prstGeom prst="rect">
            <a:avLst/>
          </a:prstGeom>
          <a:solidFill>
            <a:srgbClr val="EA580C"/>
          </a:solidFill>
          <a:ln/>
        </p:spPr>
        <p:txBody>
          <a:bodyPr/>
          <a:lstStyle/>
          <a:p>
            <a:endParaRPr lang="en-US"/>
          </a:p>
        </p:txBody>
      </p:sp>
      <p:sp>
        <p:nvSpPr>
          <p:cNvPr id="294" name="Text"/>
          <p:cNvSpPr/>
          <p:nvPr/>
        </p:nvSpPr>
        <p:spPr>
          <a:xfrm>
            <a:off x="11722608" y="1444752"/>
            <a:ext cx="640080" cy="411480"/>
          </a:xfrm>
          <a:prstGeom prst="rect">
            <a:avLst/>
          </a:prstGeom>
          <a:noFill/>
          <a:ln/>
        </p:spPr>
        <p:txBody>
          <a:bodyPr wrap="square" rtlCol="0" anchor="ctr"/>
          <a:lstStyle/>
          <a:p>
            <a:pPr marL="0" indent="0">
              <a:buNone/>
            </a:pPr>
            <a:r>
              <a:rPr lang="en-US" sz="1000" b="1" dirty="0">
                <a:solidFill>
                  <a:srgbClr val="EA580C"/>
                </a:solidFill>
                <a:latin typeface="Calibri" pitchFamily="34" charset="0"/>
                <a:ea typeface="Calibri" pitchFamily="34" charset="-122"/>
                <a:cs typeface="Calibri" pitchFamily="34" charset="-120"/>
              </a:rPr>
              <a:t>18%</a:t>
            </a:r>
          </a:p>
        </p:txBody>
      </p:sp>
      <p:sp>
        <p:nvSpPr>
          <p:cNvPr id="295" name="Shape"/>
          <p:cNvSpPr/>
          <p:nvPr/>
        </p:nvSpPr>
        <p:spPr>
          <a:xfrm>
            <a:off x="6309360" y="1901952"/>
            <a:ext cx="5577840" cy="411480"/>
          </a:xfrm>
          <a:prstGeom prst="roundRect">
            <a:avLst>
              <a:gd name="adj" fmla="val 8889"/>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296" name="Text"/>
          <p:cNvSpPr/>
          <p:nvPr/>
        </p:nvSpPr>
        <p:spPr>
          <a:xfrm>
            <a:off x="6446520" y="1901952"/>
            <a:ext cx="2423160" cy="411480"/>
          </a:xfrm>
          <a:prstGeom prst="rect">
            <a:avLst/>
          </a:prstGeom>
          <a:noFill/>
          <a:ln/>
        </p:spPr>
        <p:txBody>
          <a:bodyPr wrap="square" rtlCol="0" anchor="ctr"/>
          <a:lstStyle/>
          <a:p>
            <a:pPr marL="0" indent="0">
              <a:buNone/>
            </a:pPr>
            <a:r>
              <a:rPr lang="en-US" sz="900" b="1" dirty="0">
                <a:solidFill>
                  <a:srgbClr val="334155"/>
                </a:solidFill>
                <a:latin typeface="Calibri" pitchFamily="34" charset="0"/>
                <a:ea typeface="Calibri" pitchFamily="34" charset="-122"/>
                <a:cs typeface="Calibri" pitchFamily="34" charset="-120"/>
              </a:rPr>
              <a:t>MAERSK</a:t>
            </a:r>
          </a:p>
        </p:txBody>
      </p:sp>
      <p:sp>
        <p:nvSpPr>
          <p:cNvPr id="297" name="Text"/>
          <p:cNvSpPr/>
          <p:nvPr/>
        </p:nvSpPr>
        <p:spPr>
          <a:xfrm>
            <a:off x="8869680" y="1901952"/>
            <a:ext cx="1325880" cy="41148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Partenaire actif</a:t>
            </a:r>
          </a:p>
        </p:txBody>
      </p:sp>
      <p:sp>
        <p:nvSpPr>
          <p:cNvPr id="298" name="Shape"/>
          <p:cNvSpPr/>
          <p:nvPr/>
        </p:nvSpPr>
        <p:spPr>
          <a:xfrm>
            <a:off x="9948672" y="2011680"/>
            <a:ext cx="1737360" cy="164592"/>
          </a:xfrm>
          <a:prstGeom prst="rect">
            <a:avLst/>
          </a:prstGeom>
          <a:solidFill>
            <a:srgbClr val="CBD5E1"/>
          </a:solidFill>
          <a:ln/>
        </p:spPr>
        <p:txBody>
          <a:bodyPr/>
          <a:lstStyle/>
          <a:p>
            <a:endParaRPr lang="en-US"/>
          </a:p>
        </p:txBody>
      </p:sp>
      <p:sp>
        <p:nvSpPr>
          <p:cNvPr id="299" name="Shape"/>
          <p:cNvSpPr/>
          <p:nvPr/>
        </p:nvSpPr>
        <p:spPr>
          <a:xfrm>
            <a:off x="9948672" y="2011680"/>
            <a:ext cx="260604" cy="164592"/>
          </a:xfrm>
          <a:prstGeom prst="rect">
            <a:avLst/>
          </a:prstGeom>
          <a:solidFill>
            <a:srgbClr val="EA580C"/>
          </a:solidFill>
          <a:ln/>
        </p:spPr>
        <p:txBody>
          <a:bodyPr/>
          <a:lstStyle/>
          <a:p>
            <a:endParaRPr lang="en-US"/>
          </a:p>
        </p:txBody>
      </p:sp>
      <p:sp>
        <p:nvSpPr>
          <p:cNvPr id="300" name="Text"/>
          <p:cNvSpPr/>
          <p:nvPr/>
        </p:nvSpPr>
        <p:spPr>
          <a:xfrm>
            <a:off x="11722608" y="1901952"/>
            <a:ext cx="640080" cy="411480"/>
          </a:xfrm>
          <a:prstGeom prst="rect">
            <a:avLst/>
          </a:prstGeom>
          <a:noFill/>
          <a:ln/>
        </p:spPr>
        <p:txBody>
          <a:bodyPr wrap="square" rtlCol="0" anchor="ctr"/>
          <a:lstStyle/>
          <a:p>
            <a:pPr marL="0" indent="0">
              <a:buNone/>
            </a:pPr>
            <a:r>
              <a:rPr lang="en-US" sz="1000" b="1" dirty="0">
                <a:solidFill>
                  <a:srgbClr val="EA580C"/>
                </a:solidFill>
                <a:latin typeface="Calibri" pitchFamily="34" charset="0"/>
                <a:ea typeface="Calibri" pitchFamily="34" charset="-122"/>
                <a:cs typeface="Calibri" pitchFamily="34" charset="-120"/>
              </a:rPr>
              <a:t>15%</a:t>
            </a:r>
          </a:p>
        </p:txBody>
      </p:sp>
      <p:sp>
        <p:nvSpPr>
          <p:cNvPr id="301" name="Shape"/>
          <p:cNvSpPr/>
          <p:nvPr/>
        </p:nvSpPr>
        <p:spPr>
          <a:xfrm>
            <a:off x="6309360" y="2359152"/>
            <a:ext cx="5577840" cy="411480"/>
          </a:xfrm>
          <a:prstGeom prst="roundRect">
            <a:avLst>
              <a:gd name="adj" fmla="val 8889"/>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302" name="Text"/>
          <p:cNvSpPr/>
          <p:nvPr/>
        </p:nvSpPr>
        <p:spPr>
          <a:xfrm>
            <a:off x="6446520" y="2359152"/>
            <a:ext cx="2423160" cy="411480"/>
          </a:xfrm>
          <a:prstGeom prst="rect">
            <a:avLst/>
          </a:prstGeom>
          <a:noFill/>
          <a:ln/>
        </p:spPr>
        <p:txBody>
          <a:bodyPr wrap="square" rtlCol="0" anchor="ctr"/>
          <a:lstStyle/>
          <a:p>
            <a:pPr marL="0" indent="0">
              <a:buNone/>
            </a:pPr>
            <a:r>
              <a:rPr lang="en-US" sz="900" b="1" dirty="0">
                <a:solidFill>
                  <a:srgbClr val="334155"/>
                </a:solidFill>
                <a:latin typeface="Calibri" pitchFamily="34" charset="0"/>
                <a:ea typeface="Calibri" pitchFamily="34" charset="-122"/>
                <a:cs typeface="Calibri" pitchFamily="34" charset="-120"/>
              </a:rPr>
              <a:t>CMA CGM</a:t>
            </a:r>
          </a:p>
        </p:txBody>
      </p:sp>
      <p:sp>
        <p:nvSpPr>
          <p:cNvPr id="303" name="Text"/>
          <p:cNvSpPr/>
          <p:nvPr/>
        </p:nvSpPr>
        <p:spPr>
          <a:xfrm>
            <a:off x="8869680" y="2359152"/>
            <a:ext cx="1325880" cy="41148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Partenaire actif</a:t>
            </a:r>
          </a:p>
        </p:txBody>
      </p:sp>
      <p:sp>
        <p:nvSpPr>
          <p:cNvPr id="304" name="Shape"/>
          <p:cNvSpPr/>
          <p:nvPr/>
        </p:nvSpPr>
        <p:spPr>
          <a:xfrm>
            <a:off x="9948672" y="2468880"/>
            <a:ext cx="1737360" cy="164592"/>
          </a:xfrm>
          <a:prstGeom prst="rect">
            <a:avLst/>
          </a:prstGeom>
          <a:solidFill>
            <a:srgbClr val="CBD5E1"/>
          </a:solidFill>
          <a:ln/>
        </p:spPr>
        <p:txBody>
          <a:bodyPr/>
          <a:lstStyle/>
          <a:p>
            <a:endParaRPr lang="en-US"/>
          </a:p>
        </p:txBody>
      </p:sp>
      <p:sp>
        <p:nvSpPr>
          <p:cNvPr id="305" name="Shape"/>
          <p:cNvSpPr/>
          <p:nvPr/>
        </p:nvSpPr>
        <p:spPr>
          <a:xfrm>
            <a:off x="9948672" y="2468880"/>
            <a:ext cx="208483" cy="164592"/>
          </a:xfrm>
          <a:prstGeom prst="rect">
            <a:avLst/>
          </a:prstGeom>
          <a:solidFill>
            <a:srgbClr val="0891B2"/>
          </a:solidFill>
          <a:ln/>
        </p:spPr>
        <p:txBody>
          <a:bodyPr/>
          <a:lstStyle/>
          <a:p>
            <a:endParaRPr lang="en-US"/>
          </a:p>
        </p:txBody>
      </p:sp>
      <p:sp>
        <p:nvSpPr>
          <p:cNvPr id="306" name="Text"/>
          <p:cNvSpPr/>
          <p:nvPr/>
        </p:nvSpPr>
        <p:spPr>
          <a:xfrm>
            <a:off x="11722608" y="2359152"/>
            <a:ext cx="640080" cy="411480"/>
          </a:xfrm>
          <a:prstGeom prst="rect">
            <a:avLst/>
          </a:prstGeom>
          <a:noFill/>
          <a:ln/>
        </p:spPr>
        <p:txBody>
          <a:bodyPr wrap="square" rtlCol="0" anchor="ctr"/>
          <a:lstStyle/>
          <a:p>
            <a:pPr marL="0" indent="0">
              <a:buNone/>
            </a:pPr>
            <a:r>
              <a:rPr lang="en-US" sz="1000" b="1" dirty="0">
                <a:solidFill>
                  <a:srgbClr val="0891B2"/>
                </a:solidFill>
                <a:latin typeface="Calibri" pitchFamily="34" charset="0"/>
                <a:ea typeface="Calibri" pitchFamily="34" charset="-122"/>
                <a:cs typeface="Calibri" pitchFamily="34" charset="-120"/>
              </a:rPr>
              <a:t>12%</a:t>
            </a:r>
          </a:p>
        </p:txBody>
      </p:sp>
      <p:sp>
        <p:nvSpPr>
          <p:cNvPr id="307" name="Shape"/>
          <p:cNvSpPr/>
          <p:nvPr/>
        </p:nvSpPr>
        <p:spPr>
          <a:xfrm>
            <a:off x="6309360" y="2816352"/>
            <a:ext cx="5577840" cy="411480"/>
          </a:xfrm>
          <a:prstGeom prst="roundRect">
            <a:avLst>
              <a:gd name="adj" fmla="val 8889"/>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308" name="Text"/>
          <p:cNvSpPr/>
          <p:nvPr/>
        </p:nvSpPr>
        <p:spPr>
          <a:xfrm>
            <a:off x="6446520" y="2816352"/>
            <a:ext cx="2423160" cy="411480"/>
          </a:xfrm>
          <a:prstGeom prst="rect">
            <a:avLst/>
          </a:prstGeom>
          <a:noFill/>
          <a:ln/>
        </p:spPr>
        <p:txBody>
          <a:bodyPr wrap="square" rtlCol="0" anchor="ctr"/>
          <a:lstStyle/>
          <a:p>
            <a:pPr marL="0" indent="0">
              <a:buNone/>
            </a:pPr>
            <a:r>
              <a:rPr lang="en-US" sz="900" b="1" dirty="0">
                <a:solidFill>
                  <a:srgbClr val="334155"/>
                </a:solidFill>
                <a:latin typeface="Calibri" pitchFamily="34" charset="0"/>
                <a:ea typeface="Calibri" pitchFamily="34" charset="-122"/>
                <a:cs typeface="Calibri" pitchFamily="34" charset="-120"/>
              </a:rPr>
              <a:t>PIL</a:t>
            </a:r>
          </a:p>
        </p:txBody>
      </p:sp>
      <p:sp>
        <p:nvSpPr>
          <p:cNvPr id="309" name="Text"/>
          <p:cNvSpPr/>
          <p:nvPr/>
        </p:nvSpPr>
        <p:spPr>
          <a:xfrm>
            <a:off x="8869680" y="2816352"/>
            <a:ext cx="1325880" cy="41148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Partenaire</a:t>
            </a:r>
          </a:p>
        </p:txBody>
      </p:sp>
      <p:sp>
        <p:nvSpPr>
          <p:cNvPr id="310" name="Shape"/>
          <p:cNvSpPr/>
          <p:nvPr/>
        </p:nvSpPr>
        <p:spPr>
          <a:xfrm>
            <a:off x="9948672" y="2926080"/>
            <a:ext cx="1737360" cy="164592"/>
          </a:xfrm>
          <a:prstGeom prst="rect">
            <a:avLst/>
          </a:prstGeom>
          <a:solidFill>
            <a:srgbClr val="CBD5E1"/>
          </a:solidFill>
          <a:ln/>
        </p:spPr>
        <p:txBody>
          <a:bodyPr/>
          <a:lstStyle/>
          <a:p>
            <a:endParaRPr lang="en-US"/>
          </a:p>
        </p:txBody>
      </p:sp>
      <p:sp>
        <p:nvSpPr>
          <p:cNvPr id="311" name="Shape"/>
          <p:cNvSpPr/>
          <p:nvPr/>
        </p:nvSpPr>
        <p:spPr>
          <a:xfrm>
            <a:off x="9948672" y="2926080"/>
            <a:ext cx="156362" cy="164592"/>
          </a:xfrm>
          <a:prstGeom prst="rect">
            <a:avLst/>
          </a:prstGeom>
          <a:solidFill>
            <a:srgbClr val="0891B2"/>
          </a:solidFill>
          <a:ln/>
        </p:spPr>
        <p:txBody>
          <a:bodyPr/>
          <a:lstStyle/>
          <a:p>
            <a:endParaRPr lang="en-US"/>
          </a:p>
        </p:txBody>
      </p:sp>
      <p:sp>
        <p:nvSpPr>
          <p:cNvPr id="312" name="Text"/>
          <p:cNvSpPr/>
          <p:nvPr/>
        </p:nvSpPr>
        <p:spPr>
          <a:xfrm>
            <a:off x="11722608" y="2816352"/>
            <a:ext cx="640080" cy="411480"/>
          </a:xfrm>
          <a:prstGeom prst="rect">
            <a:avLst/>
          </a:prstGeom>
          <a:noFill/>
          <a:ln/>
        </p:spPr>
        <p:txBody>
          <a:bodyPr wrap="square" rtlCol="0" anchor="ctr"/>
          <a:lstStyle/>
          <a:p>
            <a:pPr marL="0" indent="0">
              <a:buNone/>
            </a:pPr>
            <a:r>
              <a:rPr lang="en-US" sz="1000" b="1" dirty="0">
                <a:solidFill>
                  <a:srgbClr val="0891B2"/>
                </a:solidFill>
                <a:latin typeface="Calibri" pitchFamily="34" charset="0"/>
                <a:ea typeface="Calibri" pitchFamily="34" charset="-122"/>
                <a:cs typeface="Calibri" pitchFamily="34" charset="-120"/>
              </a:rPr>
              <a:t>9%</a:t>
            </a:r>
          </a:p>
        </p:txBody>
      </p:sp>
      <p:sp>
        <p:nvSpPr>
          <p:cNvPr id="313" name="Shape"/>
          <p:cNvSpPr/>
          <p:nvPr/>
        </p:nvSpPr>
        <p:spPr>
          <a:xfrm>
            <a:off x="6309360" y="3273552"/>
            <a:ext cx="5577840" cy="411480"/>
          </a:xfrm>
          <a:prstGeom prst="roundRect">
            <a:avLst>
              <a:gd name="adj" fmla="val 8889"/>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314" name="Text"/>
          <p:cNvSpPr/>
          <p:nvPr/>
        </p:nvSpPr>
        <p:spPr>
          <a:xfrm>
            <a:off x="6446520" y="3273552"/>
            <a:ext cx="2423160" cy="411480"/>
          </a:xfrm>
          <a:prstGeom prst="rect">
            <a:avLst/>
          </a:prstGeom>
          <a:noFill/>
          <a:ln/>
        </p:spPr>
        <p:txBody>
          <a:bodyPr wrap="square" rtlCol="0" anchor="ctr"/>
          <a:lstStyle/>
          <a:p>
            <a:pPr marL="0" indent="0">
              <a:buNone/>
            </a:pPr>
            <a:r>
              <a:rPr lang="en-US" sz="900" b="1" dirty="0">
                <a:solidFill>
                  <a:srgbClr val="334155"/>
                </a:solidFill>
                <a:latin typeface="Calibri" pitchFamily="34" charset="0"/>
                <a:ea typeface="Calibri" pitchFamily="34" charset="-122"/>
                <a:cs typeface="Calibri" pitchFamily="34" charset="-120"/>
              </a:rPr>
              <a:t>GRIMALDI – RoRo</a:t>
            </a:r>
          </a:p>
        </p:txBody>
      </p:sp>
      <p:sp>
        <p:nvSpPr>
          <p:cNvPr id="315" name="Text"/>
          <p:cNvSpPr/>
          <p:nvPr/>
        </p:nvSpPr>
        <p:spPr>
          <a:xfrm>
            <a:off x="8869680" y="3273552"/>
            <a:ext cx="1325880" cy="41148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Partenaire</a:t>
            </a:r>
          </a:p>
        </p:txBody>
      </p:sp>
      <p:sp>
        <p:nvSpPr>
          <p:cNvPr id="316" name="Shape"/>
          <p:cNvSpPr/>
          <p:nvPr/>
        </p:nvSpPr>
        <p:spPr>
          <a:xfrm>
            <a:off x="9948672" y="3383280"/>
            <a:ext cx="1737360" cy="164592"/>
          </a:xfrm>
          <a:prstGeom prst="rect">
            <a:avLst/>
          </a:prstGeom>
          <a:solidFill>
            <a:srgbClr val="CBD5E1"/>
          </a:solidFill>
          <a:ln/>
        </p:spPr>
        <p:txBody>
          <a:bodyPr/>
          <a:lstStyle/>
          <a:p>
            <a:endParaRPr lang="en-US"/>
          </a:p>
        </p:txBody>
      </p:sp>
      <p:sp>
        <p:nvSpPr>
          <p:cNvPr id="317" name="Shape"/>
          <p:cNvSpPr/>
          <p:nvPr/>
        </p:nvSpPr>
        <p:spPr>
          <a:xfrm>
            <a:off x="9948672" y="3383280"/>
            <a:ext cx="138989" cy="164592"/>
          </a:xfrm>
          <a:prstGeom prst="rect">
            <a:avLst/>
          </a:prstGeom>
          <a:solidFill>
            <a:srgbClr val="0891B2"/>
          </a:solidFill>
          <a:ln/>
        </p:spPr>
        <p:txBody>
          <a:bodyPr/>
          <a:lstStyle/>
          <a:p>
            <a:endParaRPr lang="en-US"/>
          </a:p>
        </p:txBody>
      </p:sp>
      <p:sp>
        <p:nvSpPr>
          <p:cNvPr id="318" name="Text"/>
          <p:cNvSpPr/>
          <p:nvPr/>
        </p:nvSpPr>
        <p:spPr>
          <a:xfrm>
            <a:off x="11722608" y="3273552"/>
            <a:ext cx="640080" cy="411480"/>
          </a:xfrm>
          <a:prstGeom prst="rect">
            <a:avLst/>
          </a:prstGeom>
          <a:noFill/>
          <a:ln/>
        </p:spPr>
        <p:txBody>
          <a:bodyPr wrap="square" rtlCol="0" anchor="ctr"/>
          <a:lstStyle/>
          <a:p>
            <a:pPr marL="0" indent="0">
              <a:buNone/>
            </a:pPr>
            <a:r>
              <a:rPr lang="en-US" sz="1000" b="1" dirty="0">
                <a:solidFill>
                  <a:srgbClr val="0891B2"/>
                </a:solidFill>
                <a:latin typeface="Calibri" pitchFamily="34" charset="0"/>
                <a:ea typeface="Calibri" pitchFamily="34" charset="-122"/>
                <a:cs typeface="Calibri" pitchFamily="34" charset="-120"/>
              </a:rPr>
              <a:t>8%</a:t>
            </a:r>
          </a:p>
        </p:txBody>
      </p:sp>
      <p:sp>
        <p:nvSpPr>
          <p:cNvPr id="319" name="Shape"/>
          <p:cNvSpPr/>
          <p:nvPr/>
        </p:nvSpPr>
        <p:spPr>
          <a:xfrm>
            <a:off x="6309360" y="3730752"/>
            <a:ext cx="5577840" cy="411480"/>
          </a:xfrm>
          <a:prstGeom prst="roundRect">
            <a:avLst>
              <a:gd name="adj" fmla="val 8889"/>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320" name="Text"/>
          <p:cNvSpPr/>
          <p:nvPr/>
        </p:nvSpPr>
        <p:spPr>
          <a:xfrm>
            <a:off x="6446520" y="3730752"/>
            <a:ext cx="2423160" cy="411480"/>
          </a:xfrm>
          <a:prstGeom prst="rect">
            <a:avLst/>
          </a:prstGeom>
          <a:noFill/>
          <a:ln/>
        </p:spPr>
        <p:txBody>
          <a:bodyPr wrap="square" rtlCol="0" anchor="ctr"/>
          <a:lstStyle/>
          <a:p>
            <a:pPr marL="0" indent="0">
              <a:buNone/>
            </a:pPr>
            <a:r>
              <a:rPr lang="en-US" sz="900" b="1" dirty="0">
                <a:solidFill>
                  <a:srgbClr val="334155"/>
                </a:solidFill>
                <a:latin typeface="Calibri" pitchFamily="34" charset="0"/>
                <a:ea typeface="Calibri" pitchFamily="34" charset="-122"/>
                <a:cs typeface="Calibri" pitchFamily="34" charset="-120"/>
              </a:rPr>
              <a:t>HAPAG-LLOYD</a:t>
            </a:r>
          </a:p>
        </p:txBody>
      </p:sp>
      <p:sp>
        <p:nvSpPr>
          <p:cNvPr id="321" name="Text"/>
          <p:cNvSpPr/>
          <p:nvPr/>
        </p:nvSpPr>
        <p:spPr>
          <a:xfrm>
            <a:off x="8869680" y="3730752"/>
            <a:ext cx="1325880" cy="41148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Partiel</a:t>
            </a:r>
          </a:p>
        </p:txBody>
      </p:sp>
      <p:sp>
        <p:nvSpPr>
          <p:cNvPr id="322" name="Shape"/>
          <p:cNvSpPr/>
          <p:nvPr/>
        </p:nvSpPr>
        <p:spPr>
          <a:xfrm>
            <a:off x="9948672" y="3840480"/>
            <a:ext cx="1737360" cy="164592"/>
          </a:xfrm>
          <a:prstGeom prst="rect">
            <a:avLst/>
          </a:prstGeom>
          <a:solidFill>
            <a:srgbClr val="CBD5E1"/>
          </a:solidFill>
          <a:ln/>
        </p:spPr>
        <p:txBody>
          <a:bodyPr/>
          <a:lstStyle/>
          <a:p>
            <a:endParaRPr lang="en-US"/>
          </a:p>
        </p:txBody>
      </p:sp>
      <p:sp>
        <p:nvSpPr>
          <p:cNvPr id="323" name="Shape"/>
          <p:cNvSpPr/>
          <p:nvPr/>
        </p:nvSpPr>
        <p:spPr>
          <a:xfrm>
            <a:off x="9948672" y="3840480"/>
            <a:ext cx="69494" cy="164592"/>
          </a:xfrm>
          <a:prstGeom prst="rect">
            <a:avLst/>
          </a:prstGeom>
          <a:solidFill>
            <a:srgbClr val="DC2626"/>
          </a:solidFill>
          <a:ln/>
        </p:spPr>
        <p:txBody>
          <a:bodyPr/>
          <a:lstStyle/>
          <a:p>
            <a:endParaRPr lang="en-US"/>
          </a:p>
        </p:txBody>
      </p:sp>
      <p:sp>
        <p:nvSpPr>
          <p:cNvPr id="324" name="Text"/>
          <p:cNvSpPr/>
          <p:nvPr/>
        </p:nvSpPr>
        <p:spPr>
          <a:xfrm>
            <a:off x="11722608" y="3730752"/>
            <a:ext cx="640080" cy="411480"/>
          </a:xfrm>
          <a:prstGeom prst="rect">
            <a:avLst/>
          </a:prstGeom>
          <a:noFill/>
          <a:ln/>
        </p:spPr>
        <p:txBody>
          <a:bodyPr wrap="square" rtlCol="0" anchor="ctr"/>
          <a:lstStyle/>
          <a:p>
            <a:pPr marL="0" indent="0">
              <a:buNone/>
            </a:pPr>
            <a:r>
              <a:rPr lang="en-US" sz="1000" b="1" dirty="0">
                <a:solidFill>
                  <a:srgbClr val="DC2626"/>
                </a:solidFill>
                <a:latin typeface="Calibri" pitchFamily="34" charset="0"/>
                <a:ea typeface="Calibri" pitchFamily="34" charset="-122"/>
                <a:cs typeface="Calibri" pitchFamily="34" charset="-120"/>
              </a:rPr>
              <a:t>4%</a:t>
            </a:r>
          </a:p>
        </p:txBody>
      </p:sp>
      <p:sp>
        <p:nvSpPr>
          <p:cNvPr id="325" name="Shape"/>
          <p:cNvSpPr/>
          <p:nvPr/>
        </p:nvSpPr>
        <p:spPr>
          <a:xfrm>
            <a:off x="6309360" y="4187952"/>
            <a:ext cx="5577840" cy="411480"/>
          </a:xfrm>
          <a:prstGeom prst="roundRect">
            <a:avLst>
              <a:gd name="adj" fmla="val 8889"/>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326" name="Text"/>
          <p:cNvSpPr/>
          <p:nvPr/>
        </p:nvSpPr>
        <p:spPr>
          <a:xfrm>
            <a:off x="6446520" y="4187952"/>
            <a:ext cx="2423160" cy="411480"/>
          </a:xfrm>
          <a:prstGeom prst="rect">
            <a:avLst/>
          </a:prstGeom>
          <a:noFill/>
          <a:ln/>
        </p:spPr>
        <p:txBody>
          <a:bodyPr wrap="square" rtlCol="0" anchor="ctr"/>
          <a:lstStyle/>
          <a:p>
            <a:pPr marL="0" indent="0">
              <a:buNone/>
            </a:pPr>
            <a:r>
              <a:rPr lang="en-US" sz="900" b="1" dirty="0">
                <a:solidFill>
                  <a:srgbClr val="334155"/>
                </a:solidFill>
                <a:latin typeface="Calibri" pitchFamily="34" charset="0"/>
                <a:ea typeface="Calibri" pitchFamily="34" charset="-122"/>
                <a:cs typeface="Calibri" pitchFamily="34" charset="-120"/>
              </a:rPr>
              <a:t>EVERGREEN / COSCO</a:t>
            </a:r>
          </a:p>
        </p:txBody>
      </p:sp>
      <p:sp>
        <p:nvSpPr>
          <p:cNvPr id="327" name="Text"/>
          <p:cNvSpPr/>
          <p:nvPr/>
        </p:nvSpPr>
        <p:spPr>
          <a:xfrm>
            <a:off x="8869680" y="4187952"/>
            <a:ext cx="1325880" cy="41148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Non couvert</a:t>
            </a:r>
          </a:p>
        </p:txBody>
      </p:sp>
      <p:sp>
        <p:nvSpPr>
          <p:cNvPr id="328" name="Shape"/>
          <p:cNvSpPr/>
          <p:nvPr/>
        </p:nvSpPr>
        <p:spPr>
          <a:xfrm>
            <a:off x="9948672" y="4297680"/>
            <a:ext cx="1737360" cy="164592"/>
          </a:xfrm>
          <a:prstGeom prst="rect">
            <a:avLst/>
          </a:prstGeom>
          <a:solidFill>
            <a:srgbClr val="CBD5E1"/>
          </a:solidFill>
          <a:ln/>
        </p:spPr>
        <p:txBody>
          <a:bodyPr/>
          <a:lstStyle/>
          <a:p>
            <a:endParaRPr lang="en-US"/>
          </a:p>
        </p:txBody>
      </p:sp>
      <p:sp>
        <p:nvSpPr>
          <p:cNvPr id="329" name="Text"/>
          <p:cNvSpPr/>
          <p:nvPr/>
        </p:nvSpPr>
        <p:spPr>
          <a:xfrm>
            <a:off x="11722608" y="4187952"/>
            <a:ext cx="640080" cy="411480"/>
          </a:xfrm>
          <a:prstGeom prst="rect">
            <a:avLst/>
          </a:prstGeom>
          <a:noFill/>
          <a:ln/>
        </p:spPr>
        <p:txBody>
          <a:bodyPr wrap="square" rtlCol="0" anchor="ctr"/>
          <a:lstStyle/>
          <a:p>
            <a:pPr marL="0" indent="0">
              <a:buNone/>
            </a:pPr>
            <a:r>
              <a:rPr lang="en-US" sz="1000" b="1" dirty="0">
                <a:solidFill>
                  <a:srgbClr val="DC2626"/>
                </a:solidFill>
                <a:latin typeface="Calibri" pitchFamily="34" charset="0"/>
                <a:ea typeface="Calibri" pitchFamily="34" charset="-122"/>
                <a:cs typeface="Calibri" pitchFamily="34" charset="-120"/>
              </a:rPr>
              <a:t>0%</a:t>
            </a:r>
          </a:p>
        </p:txBody>
      </p:sp>
      <p:sp>
        <p:nvSpPr>
          <p:cNvPr id="330" name="Shape"/>
          <p:cNvSpPr/>
          <p:nvPr/>
        </p:nvSpPr>
        <p:spPr>
          <a:xfrm>
            <a:off x="6309360" y="4800600"/>
            <a:ext cx="5577840" cy="1005840"/>
          </a:xfrm>
          <a:prstGeom prst="roundRect">
            <a:avLst>
              <a:gd name="adj" fmla="val 8000"/>
            </a:avLst>
          </a:prstGeom>
          <a:solidFill>
            <a:srgbClr val="FFF5E6"/>
          </a:solidFill>
          <a:ln/>
        </p:spPr>
        <p:txBody>
          <a:bodyPr/>
          <a:lstStyle/>
          <a:p>
            <a:endParaRPr lang="en-US"/>
          </a:p>
        </p:txBody>
      </p:sp>
      <p:sp>
        <p:nvSpPr>
          <p:cNvPr id="331" name="Text"/>
          <p:cNvSpPr/>
          <p:nvPr/>
        </p:nvSpPr>
        <p:spPr>
          <a:xfrm>
            <a:off x="6446520" y="4800600"/>
            <a:ext cx="5303520" cy="1005840"/>
          </a:xfrm>
          <a:prstGeom prst="rect">
            <a:avLst/>
          </a:prstGeom>
          <a:noFill/>
          <a:ln/>
        </p:spPr>
        <p:txBody>
          <a:bodyPr wrap="square" rtlCol="0" anchor="ctr"/>
          <a:lstStyle/>
          <a:p>
            <a:pPr marL="0" indent="0">
              <a:buNone/>
            </a:pPr>
            <a:r>
              <a:rPr lang="en-US" sz="950" b="1" dirty="0">
                <a:solidFill>
                  <a:srgbClr val="EA580C"/>
                </a:solidFill>
                <a:latin typeface="Calibri" pitchFamily="34" charset="0"/>
                <a:ea typeface="Calibri" pitchFamily="34" charset="-122"/>
                <a:cs typeface="Calibri" pitchFamily="34" charset="-120"/>
              </a:rPr>
              <a:t>💡 INSIGHT DSM : </a:t>
            </a:r>
            <a:r>
              <a:rPr lang="en-US" sz="950" dirty="0">
                <a:solidFill>
                  <a:srgbClr val="334155"/>
                </a:solidFill>
                <a:latin typeface="Calibri" pitchFamily="34" charset="0"/>
                <a:ea typeface="Calibri" pitchFamily="34" charset="-122"/>
                <a:cs typeface="Calibri" pitchFamily="34" charset="-120"/>
              </a:rPr>
              <a:t>MSC + Maersk + CMA CGM = 40,4% du marché lignes régulières. AGL actif sur ces 3 majors + PIL + Grimaldi (RoRo). Cible : consolider contrats de consignation et commissions B/L.</a:t>
            </a:r>
          </a:p>
        </p:txBody>
      </p:sp>
      <p:sp>
        <p:nvSpPr>
          <p:cNvPr id="332" name="Text"/>
          <p:cNvSpPr/>
          <p:nvPr/>
        </p:nvSpPr>
        <p:spPr>
          <a:xfrm>
            <a:off x="365760" y="6601968"/>
            <a:ext cx="11430000" cy="201168"/>
          </a:xfrm>
          <a:prstGeom prst="rect">
            <a:avLst/>
          </a:prstGeom>
          <a:noFill/>
          <a:ln/>
        </p:spPr>
        <p:txBody>
          <a:bodyPr wrap="square" rtlCol="0" anchor="t"/>
          <a:lstStyle/>
          <a:p>
            <a:pPr marL="0" indent="0" algn="ctr">
              <a:buNone/>
            </a:pPr>
            <a:r>
              <a:rPr lang="en-US" sz="850" dirty="0">
                <a:solidFill>
                  <a:srgbClr val="64748B"/>
                </a:solidFill>
                <a:latin typeface="Calibri" pitchFamily="34" charset="0"/>
                <a:ea typeface="Calibri" pitchFamily="34" charset="-122"/>
                <a:cs typeface="Calibri" pitchFamily="34" charset="-120"/>
              </a:rPr>
              <a:t>Africa Global Logistics – Étude de Marché Jan–Mai 2026  |  p.26</a:t>
            </a:r>
          </a:p>
        </p:txBody>
      </p:sp>
      <p:pic>
        <p:nvPicPr>
          <p:cNvPr id="333" name="Image logo"/>
          <p:cNvPicPr>
            <a:picLocks noChangeAspect="1"/>
          </p:cNvPicPr>
          <p:nvPr/>
        </p:nvPicPr>
        <p:blipFill>
          <a:blip r:embed="rId3" cstate="screen"/>
          <a:stretch>
            <a:fillRect/>
          </a:stretch>
        </p:blipFill>
        <p:spPr>
          <a:xfrm>
            <a:off x="11488450" y="6549898"/>
            <a:ext cx="450027" cy="292409"/>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DSM Tramps">
    <p:bg>
      <p:bgPr>
        <a:solidFill>
          <a:srgbClr val="FFFFFF"/>
        </a:solidFill>
        <a:effectLst/>
      </p:bgPr>
    </p:bg>
    <p:spTree>
      <p:nvGrpSpPr>
        <p:cNvPr id="1" name=""/>
        <p:cNvGrpSpPr/>
        <p:nvPr/>
      </p:nvGrpSpPr>
      <p:grpSpPr>
        <a:xfrm>
          <a:off x="0" y="0"/>
          <a:ext cx="0" cy="0"/>
          <a:chOff x="0" y="0"/>
          <a:chExt cx="0" cy="0"/>
        </a:xfrm>
      </p:grpSpPr>
      <p:sp>
        <p:nvSpPr>
          <p:cNvPr id="334" name="Shape"/>
          <p:cNvSpPr/>
          <p:nvPr/>
        </p:nvSpPr>
        <p:spPr>
          <a:xfrm>
            <a:off x="0" y="0"/>
            <a:ext cx="12161520" cy="1051560"/>
          </a:xfrm>
          <a:prstGeom prst="rect">
            <a:avLst/>
          </a:prstGeom>
          <a:solidFill>
            <a:srgbClr val="0A2240"/>
          </a:solidFill>
          <a:ln w="12700">
            <a:solidFill>
              <a:srgbClr val="0A2240"/>
            </a:solidFill>
            <a:prstDash val="solid"/>
          </a:ln>
        </p:spPr>
        <p:txBody>
          <a:bodyPr/>
          <a:lstStyle/>
          <a:p>
            <a:endParaRPr lang="en-US"/>
          </a:p>
        </p:txBody>
      </p:sp>
      <p:sp>
        <p:nvSpPr>
          <p:cNvPr id="335" name="Text"/>
          <p:cNvSpPr/>
          <p:nvPr/>
        </p:nvSpPr>
        <p:spPr>
          <a:xfrm>
            <a:off x="365760" y="54864"/>
            <a:ext cx="11430000" cy="65836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DSM – TRAMPS : BRBK, SAC &amp; VRAC  |  Manutentionnaires</a:t>
            </a:r>
          </a:p>
        </p:txBody>
      </p:sp>
      <p:sp>
        <p:nvSpPr>
          <p:cNvPr id="336" name="Text"/>
          <p:cNvSpPr/>
          <p:nvPr/>
        </p:nvSpPr>
        <p:spPr>
          <a:xfrm>
            <a:off x="365760" y="676656"/>
            <a:ext cx="11430000" cy="329184"/>
          </a:xfrm>
          <a:prstGeom prst="rect">
            <a:avLst/>
          </a:prstGeom>
          <a:noFill/>
          <a:ln/>
        </p:spPr>
        <p:txBody>
          <a:bodyPr wrap="square" rtlCol="0" anchor="t"/>
          <a:lstStyle/>
          <a:p>
            <a:pPr marL="0" indent="0">
              <a:buNone/>
            </a:pPr>
            <a:r>
              <a:rPr lang="en-US" sz="1200" i="1" dirty="0">
                <a:solidFill>
                  <a:srgbClr val="C8A951"/>
                </a:solidFill>
                <a:latin typeface="Calibri" pitchFamily="34" charset="0"/>
                <a:ea typeface="Calibri" pitchFamily="34" charset="-122"/>
                <a:cs typeface="Calibri" pitchFamily="34" charset="-120"/>
              </a:rPr>
              <a:t>Classement des manutentionnaires au B/L  |  PDM AGL par type de cargaison tramps  |  Jan–Mai 2026</a:t>
            </a:r>
          </a:p>
        </p:txBody>
      </p:sp>
      <p:sp>
        <p:nvSpPr>
          <p:cNvPr id="337" name="Text"/>
          <p:cNvSpPr/>
          <p:nvPr/>
        </p:nvSpPr>
        <p:spPr>
          <a:xfrm>
            <a:off x="320040" y="1143000"/>
            <a:ext cx="5943600" cy="274320"/>
          </a:xfrm>
          <a:prstGeom prst="rect">
            <a:avLst/>
          </a:prstGeom>
          <a:noFill/>
          <a:ln/>
        </p:spPr>
        <p:txBody>
          <a:bodyPr wrap="square" rtlCol="0" anchor="t"/>
          <a:lstStyle/>
          <a:p>
            <a:pPr marL="0" indent="0">
              <a:buNone/>
            </a:pPr>
            <a:r>
              <a:rPr lang="en-US" sz="1200" b="1" dirty="0">
                <a:solidFill>
                  <a:srgbClr val="0A2240"/>
                </a:solidFill>
                <a:latin typeface="Calibri" pitchFamily="34" charset="0"/>
                <a:ea typeface="Calibri" pitchFamily="34" charset="-122"/>
                <a:cs typeface="Calibri" pitchFamily="34" charset="-120"/>
              </a:rPr>
              <a:t>Classement Manutentionnaires – Tramps (B/L Abidjan)</a:t>
            </a:r>
          </a:p>
        </p:txBody>
      </p:sp>
      <p:graphicFrame>
        <p:nvGraphicFramePr>
          <p:cNvPr id="338" name="Table"/>
          <p:cNvGraphicFramePr>
            <a:graphicFrameLocks noGrp="1"/>
          </p:cNvGraphicFramePr>
          <p:nvPr/>
        </p:nvGraphicFramePr>
        <p:xfrm>
          <a:off x="320040" y="1444752"/>
          <a:ext cx="5760720" cy="2706624"/>
        </p:xfrm>
        <a:graphic>
          <a:graphicData uri="http://schemas.openxmlformats.org/drawingml/2006/table">
            <a:tbl>
              <a:tblPr/>
              <a:tblGrid>
                <a:gridCol w="457200"/>
                <a:gridCol w="3200400"/>
                <a:gridCol w="1097280"/>
                <a:gridCol w="1005840"/>
              </a:tblGrid>
              <a:tr h="338328">
                <a:tc>
                  <a:txBody>
                    <a:bodyPr/>
                    <a:lstStyle/>
                    <a:p>
                      <a:pPr marL="0" indent="0" algn="ctr">
                        <a:buNone/>
                      </a:pPr>
                      <a:r>
                        <a:rPr lang="en-US" sz="1000" b="1" dirty="0">
                          <a:solidFill>
                            <a:srgbClr val="FFFFFF"/>
                          </a:solidFill>
                        </a:rPr>
                        <a:t>Rang</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lgn="ctr">
                        <a:buNone/>
                      </a:pPr>
                      <a:r>
                        <a:rPr lang="en-US" sz="1000" b="1" dirty="0">
                          <a:solidFill>
                            <a:srgbClr val="FFFFFF"/>
                          </a:solidFill>
                        </a:rPr>
                        <a:t>Manutentionnaire</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lgn="ctr">
                        <a:buNone/>
                      </a:pPr>
                      <a:r>
                        <a:rPr lang="en-US" sz="1000" b="1" dirty="0">
                          <a:solidFill>
                            <a:srgbClr val="FFFFFF"/>
                          </a:solidFill>
                        </a:rPr>
                        <a:t>Tonnage</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lgn="ctr">
                        <a:buNone/>
                      </a:pPr>
                      <a:r>
                        <a:rPr lang="en-US" sz="1000" b="1" dirty="0">
                          <a:solidFill>
                            <a:srgbClr val="FFFFFF"/>
                          </a:solidFill>
                        </a:rPr>
                        <a:t>PDM</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r>
              <a:tr h="338328">
                <a:tc>
                  <a:txBody>
                    <a:bodyPr/>
                    <a:lstStyle/>
                    <a:p>
                      <a:pPr marL="0" indent="0" algn="ctr">
                        <a:buNone/>
                      </a:pPr>
                      <a:r>
                        <a:rPr lang="en-US" sz="950" dirty="0">
                          <a:solidFill>
                            <a:srgbClr val="334155"/>
                          </a:solidFill>
                        </a:rPr>
                        <a:t>#1</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334155"/>
                          </a:solidFill>
                        </a:rPr>
                        <a:t>BOLLORÉ LOGISTICS</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~28 000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30,4 %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lgn="ctr">
                        <a:buNone/>
                      </a:pPr>
                      <a:r>
                        <a:rPr lang="en-US" sz="950" dirty="0">
                          <a:solidFill>
                            <a:srgbClr val="334155"/>
                          </a:solidFill>
                        </a:rPr>
                        <a:t>#2</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334155"/>
                          </a:solidFill>
                        </a:rPr>
                        <a:t>SDV-TRANSDEV</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~18 500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20,1 %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lgn="ctr">
                        <a:buNone/>
                      </a:pPr>
                      <a:r>
                        <a:rPr lang="en-US" sz="950" b="1" dirty="0">
                          <a:solidFill>
                            <a:srgbClr val="FFFFFF"/>
                          </a:solidFill>
                        </a:rPr>
                        <a:t>#3</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C8A951"/>
                    </a:solidFill>
                  </a:tcPr>
                </a:tc>
                <a:tc>
                  <a:txBody>
                    <a:bodyPr/>
                    <a:lstStyle/>
                    <a:p>
                      <a:pPr marL="0" indent="0">
                        <a:buNone/>
                      </a:pPr>
                      <a:r>
                        <a:rPr lang="en-US" sz="950" b="1" dirty="0">
                          <a:solidFill>
                            <a:srgbClr val="0A2240"/>
                          </a:solidFill>
                        </a:rPr>
                        <a:t>AFRICA GLOBAL LOGISTICS</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9E6"/>
                    </a:solidFill>
                  </a:tcPr>
                </a:tc>
                <a:tc>
                  <a:txBody>
                    <a:bodyPr/>
                    <a:lstStyle/>
                    <a:p>
                      <a:pPr marL="0" indent="0" algn="ctr">
                        <a:buNone/>
                      </a:pPr>
                      <a:r>
                        <a:rPr lang="en-US" sz="950" b="1" dirty="0">
                          <a:solidFill>
                            <a:srgbClr val="0A2240"/>
                          </a:solidFill>
                        </a:rPr>
                        <a:t>~10 100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9E6"/>
                    </a:solidFill>
                  </a:tcPr>
                </a:tc>
                <a:tc>
                  <a:txBody>
                    <a:bodyPr/>
                    <a:lstStyle/>
                    <a:p>
                      <a:pPr marL="0" indent="0" algn="ctr">
                        <a:buNone/>
                      </a:pPr>
                      <a:r>
                        <a:rPr lang="en-US" sz="950" b="1" dirty="0">
                          <a:solidFill>
                            <a:srgbClr val="16A34A"/>
                          </a:solidFill>
                        </a:rPr>
                        <a:t>11,0 %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9E6"/>
                    </a:solidFill>
                  </a:tcPr>
                </a:tc>
              </a:tr>
              <a:tr h="338328">
                <a:tc>
                  <a:txBody>
                    <a:bodyPr/>
                    <a:lstStyle/>
                    <a:p>
                      <a:pPr marL="0" indent="0" algn="ctr">
                        <a:buNone/>
                      </a:pPr>
                      <a:r>
                        <a:rPr lang="en-US" sz="950" dirty="0">
                          <a:solidFill>
                            <a:srgbClr val="334155"/>
                          </a:solidFill>
                        </a:rPr>
                        <a:t>#4</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334155"/>
                          </a:solidFill>
                        </a:rPr>
                        <a:t>SEALOGIS CI</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~8 200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8,9 %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lgn="ctr">
                        <a:buNone/>
                      </a:pPr>
                      <a:r>
                        <a:rPr lang="en-US" sz="950" dirty="0">
                          <a:solidFill>
                            <a:srgbClr val="334155"/>
                          </a:solidFill>
                        </a:rPr>
                        <a:t>#5</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334155"/>
                          </a:solidFill>
                        </a:rPr>
                        <a:t>INTRAMAR CI</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~7 400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8,0 %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lgn="ctr">
                        <a:buNone/>
                      </a:pPr>
                      <a:r>
                        <a:rPr lang="en-US" sz="950" dirty="0">
                          <a:solidFill>
                            <a:srgbClr val="334155"/>
                          </a:solidFill>
                        </a:rPr>
                        <a:t>#6</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334155"/>
                          </a:solidFill>
                        </a:rPr>
                        <a:t>AGEMAR</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~6 100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6,6 %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lgn="ctr">
                        <a:buNone/>
                      </a:pPr>
                      <a:r>
                        <a:rPr lang="en-US" sz="950" dirty="0">
                          <a:solidFill>
                            <a:srgbClr val="334155"/>
                          </a:solidFill>
                        </a:rPr>
                        <a:t>#7</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334155"/>
                          </a:solidFill>
                        </a:rPr>
                        <a:t>CIMLOG CI</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~4 800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5,2 %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339" name="Text"/>
          <p:cNvSpPr/>
          <p:nvPr/>
        </p:nvSpPr>
        <p:spPr>
          <a:xfrm>
            <a:off x="320040" y="4160520"/>
            <a:ext cx="5943600" cy="274320"/>
          </a:xfrm>
          <a:prstGeom prst="rect">
            <a:avLst/>
          </a:prstGeom>
          <a:noFill/>
          <a:ln/>
        </p:spPr>
        <p:txBody>
          <a:bodyPr wrap="square" rtlCol="0" anchor="t"/>
          <a:lstStyle/>
          <a:p>
            <a:pPr marL="0" indent="0">
              <a:buNone/>
            </a:pPr>
            <a:r>
              <a:rPr lang="en-US" sz="1200" b="1" dirty="0">
                <a:solidFill>
                  <a:srgbClr val="0A2240"/>
                </a:solidFill>
                <a:latin typeface="Calibri" pitchFamily="34" charset="0"/>
                <a:ea typeface="Calibri" pitchFamily="34" charset="-122"/>
                <a:cs typeface="Calibri" pitchFamily="34" charset="-120"/>
              </a:rPr>
              <a:t>Périmètre tramps : ~92 000 T-éq</a:t>
            </a:r>
          </a:p>
        </p:txBody>
      </p:sp>
      <p:graphicFrame>
        <p:nvGraphicFramePr>
          <p:cNvPr id="340" name="Table"/>
          <p:cNvGraphicFramePr>
            <a:graphicFrameLocks noGrp="1"/>
          </p:cNvGraphicFramePr>
          <p:nvPr/>
        </p:nvGraphicFramePr>
        <p:xfrm>
          <a:off x="320040" y="4462272"/>
          <a:ext cx="5760720" cy="1353312"/>
        </p:xfrm>
        <a:graphic>
          <a:graphicData uri="http://schemas.openxmlformats.org/drawingml/2006/table">
            <a:tbl>
              <a:tblPr/>
              <a:tblGrid>
                <a:gridCol w="1900000"/>
                <a:gridCol w="1200000"/>
                <a:gridCol w="2660720"/>
              </a:tblGrid>
              <a:tr h="338328">
                <a:tc>
                  <a:txBody>
                    <a:bodyPr/>
                    <a:lstStyle/>
                    <a:p>
                      <a:pPr marL="0" indent="0" algn="ctr">
                        <a:buNone/>
                      </a:pPr>
                      <a:r>
                        <a:rPr lang="en-US" sz="1000" b="1" dirty="0">
                          <a:solidFill>
                            <a:srgbClr val="FFFFFF"/>
                          </a:solidFill>
                        </a:rPr>
                        <a:t>Segment</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lgn="ctr">
                        <a:buNone/>
                      </a:pPr>
                      <a:r>
                        <a:rPr lang="en-US" sz="1000" b="1" dirty="0">
                          <a:solidFill>
                            <a:srgbClr val="FFFFFF"/>
                          </a:solidFill>
                        </a:rPr>
                        <a:t>Tonnage</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lgn="ctr">
                        <a:buNone/>
                      </a:pPr>
                      <a:r>
                        <a:rPr lang="en-US" sz="1000" b="1" dirty="0">
                          <a:solidFill>
                            <a:srgbClr val="FFFFFF"/>
                          </a:solidFill>
                        </a:rPr>
                        <a:t>Cargaisons types</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r>
              <a:tr h="338328">
                <a:tc>
                  <a:txBody>
                    <a:bodyPr/>
                    <a:lstStyle/>
                    <a:p>
                      <a:pPr marL="0" indent="0">
                        <a:buNone/>
                      </a:pPr>
                      <a:r>
                        <a:rPr lang="en-US" sz="950" b="1" dirty="0">
                          <a:solidFill>
                            <a:srgbClr val="334155"/>
                          </a:solidFill>
                        </a:rPr>
                        <a:t>VRAC SEC (sac)</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~48 000 T</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Riz, Sucre, Ciment</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buNone/>
                      </a:pPr>
                      <a:r>
                        <a:rPr lang="en-US" sz="950" b="1" dirty="0">
                          <a:solidFill>
                            <a:srgbClr val="334155"/>
                          </a:solidFill>
                        </a:rPr>
                        <a:t>VRAC LIQUIDE</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~22 000 T</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Hydrocarbures, HVO</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buNone/>
                      </a:pPr>
                      <a:r>
                        <a:rPr lang="en-US" sz="950" b="1" dirty="0">
                          <a:solidFill>
                            <a:srgbClr val="334155"/>
                          </a:solidFill>
                        </a:rPr>
                        <a:t>BRBK (Break Bulk)</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~22 000 T</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Bois, Acier, Machines</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341" name="Text"/>
          <p:cNvSpPr/>
          <p:nvPr/>
        </p:nvSpPr>
        <p:spPr>
          <a:xfrm>
            <a:off x="6309360" y="1143000"/>
            <a:ext cx="5486400" cy="274320"/>
          </a:xfrm>
          <a:prstGeom prst="rect">
            <a:avLst/>
          </a:prstGeom>
          <a:noFill/>
          <a:ln/>
        </p:spPr>
        <p:txBody>
          <a:bodyPr wrap="square" rtlCol="0" anchor="t"/>
          <a:lstStyle/>
          <a:p>
            <a:pPr marL="0" indent="0">
              <a:buNone/>
            </a:pPr>
            <a:r>
              <a:rPr lang="en-US" sz="1200" b="1" dirty="0">
                <a:solidFill>
                  <a:srgbClr val="0A2240"/>
                </a:solidFill>
                <a:latin typeface="Calibri" pitchFamily="34" charset="0"/>
                <a:ea typeface="Calibri" pitchFamily="34" charset="-122"/>
                <a:cs typeface="Calibri" pitchFamily="34" charset="-120"/>
              </a:rPr>
              <a:t>PDM AGL par type de cargaison tramps</a:t>
            </a:r>
          </a:p>
        </p:txBody>
      </p:sp>
      <p:sp>
        <p:nvSpPr>
          <p:cNvPr id="342" name="Shape"/>
          <p:cNvSpPr/>
          <p:nvPr/>
        </p:nvSpPr>
        <p:spPr>
          <a:xfrm>
            <a:off x="6309360" y="1444752"/>
            <a:ext cx="5577840" cy="411480"/>
          </a:xfrm>
          <a:prstGeom prst="roundRect">
            <a:avLst>
              <a:gd name="adj" fmla="val 8889"/>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343" name="Text"/>
          <p:cNvSpPr/>
          <p:nvPr/>
        </p:nvSpPr>
        <p:spPr>
          <a:xfrm>
            <a:off x="6446520" y="1444752"/>
            <a:ext cx="2423160" cy="411480"/>
          </a:xfrm>
          <a:prstGeom prst="rect">
            <a:avLst/>
          </a:prstGeom>
          <a:noFill/>
          <a:ln/>
        </p:spPr>
        <p:txBody>
          <a:bodyPr wrap="square" rtlCol="0" anchor="ctr"/>
          <a:lstStyle/>
          <a:p>
            <a:pPr marL="0" indent="0">
              <a:buNone/>
            </a:pPr>
            <a:r>
              <a:rPr lang="en-US" sz="900" b="1" dirty="0">
                <a:solidFill>
                  <a:srgbClr val="334155"/>
                </a:solidFill>
                <a:latin typeface="Calibri" pitchFamily="34" charset="0"/>
                <a:ea typeface="Calibri" pitchFamily="34" charset="-122"/>
                <a:cs typeface="Calibri" pitchFamily="34" charset="-120"/>
              </a:rPr>
              <a:t>BRBK – BOIS / ACIER</a:t>
            </a:r>
          </a:p>
        </p:txBody>
      </p:sp>
      <p:sp>
        <p:nvSpPr>
          <p:cNvPr id="344" name="Text"/>
          <p:cNvSpPr/>
          <p:nvPr/>
        </p:nvSpPr>
        <p:spPr>
          <a:xfrm>
            <a:off x="8869680" y="1444752"/>
            <a:ext cx="1325880" cy="41148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2 280 T</a:t>
            </a:r>
          </a:p>
        </p:txBody>
      </p:sp>
      <p:sp>
        <p:nvSpPr>
          <p:cNvPr id="345" name="Shape"/>
          <p:cNvSpPr/>
          <p:nvPr/>
        </p:nvSpPr>
        <p:spPr>
          <a:xfrm>
            <a:off x="9948672" y="1554480"/>
            <a:ext cx="1737360" cy="164592"/>
          </a:xfrm>
          <a:prstGeom prst="rect">
            <a:avLst/>
          </a:prstGeom>
          <a:solidFill>
            <a:srgbClr val="CBD5E1"/>
          </a:solidFill>
          <a:ln/>
        </p:spPr>
        <p:txBody>
          <a:bodyPr/>
          <a:lstStyle/>
          <a:p>
            <a:endParaRPr lang="en-US"/>
          </a:p>
        </p:txBody>
      </p:sp>
      <p:sp>
        <p:nvSpPr>
          <p:cNvPr id="346" name="Shape"/>
          <p:cNvSpPr/>
          <p:nvPr/>
        </p:nvSpPr>
        <p:spPr>
          <a:xfrm>
            <a:off x="9948672" y="1554480"/>
            <a:ext cx="312725" cy="164592"/>
          </a:xfrm>
          <a:prstGeom prst="rect">
            <a:avLst/>
          </a:prstGeom>
          <a:solidFill>
            <a:srgbClr val="EA580C"/>
          </a:solidFill>
          <a:ln/>
        </p:spPr>
        <p:txBody>
          <a:bodyPr/>
          <a:lstStyle/>
          <a:p>
            <a:endParaRPr lang="en-US"/>
          </a:p>
        </p:txBody>
      </p:sp>
      <p:sp>
        <p:nvSpPr>
          <p:cNvPr id="347" name="Text"/>
          <p:cNvSpPr/>
          <p:nvPr/>
        </p:nvSpPr>
        <p:spPr>
          <a:xfrm>
            <a:off x="11722608" y="1444752"/>
            <a:ext cx="640080" cy="411480"/>
          </a:xfrm>
          <a:prstGeom prst="rect">
            <a:avLst/>
          </a:prstGeom>
          <a:noFill/>
          <a:ln/>
        </p:spPr>
        <p:txBody>
          <a:bodyPr wrap="square" rtlCol="0" anchor="ctr"/>
          <a:lstStyle/>
          <a:p>
            <a:pPr marL="0" indent="0">
              <a:buNone/>
            </a:pPr>
            <a:r>
              <a:rPr lang="en-US" sz="1000" b="1" dirty="0">
                <a:solidFill>
                  <a:srgbClr val="EA580C"/>
                </a:solidFill>
                <a:latin typeface="Calibri" pitchFamily="34" charset="0"/>
                <a:ea typeface="Calibri" pitchFamily="34" charset="-122"/>
                <a:cs typeface="Calibri" pitchFamily="34" charset="-120"/>
              </a:rPr>
              <a:t>18%</a:t>
            </a:r>
          </a:p>
        </p:txBody>
      </p:sp>
      <p:sp>
        <p:nvSpPr>
          <p:cNvPr id="348" name="Shape"/>
          <p:cNvSpPr/>
          <p:nvPr/>
        </p:nvSpPr>
        <p:spPr>
          <a:xfrm>
            <a:off x="6309360" y="1901952"/>
            <a:ext cx="5577840" cy="411480"/>
          </a:xfrm>
          <a:prstGeom prst="roundRect">
            <a:avLst>
              <a:gd name="adj" fmla="val 8889"/>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349" name="Text"/>
          <p:cNvSpPr/>
          <p:nvPr/>
        </p:nvSpPr>
        <p:spPr>
          <a:xfrm>
            <a:off x="6446520" y="1901952"/>
            <a:ext cx="2423160" cy="411480"/>
          </a:xfrm>
          <a:prstGeom prst="rect">
            <a:avLst/>
          </a:prstGeom>
          <a:noFill/>
          <a:ln/>
        </p:spPr>
        <p:txBody>
          <a:bodyPr wrap="square" rtlCol="0" anchor="ctr"/>
          <a:lstStyle/>
          <a:p>
            <a:pPr marL="0" indent="0">
              <a:buNone/>
            </a:pPr>
            <a:r>
              <a:rPr lang="en-US" sz="900" b="1" dirty="0">
                <a:solidFill>
                  <a:srgbClr val="334155"/>
                </a:solidFill>
                <a:latin typeface="Calibri" pitchFamily="34" charset="0"/>
                <a:ea typeface="Calibri" pitchFamily="34" charset="-122"/>
                <a:cs typeface="Calibri" pitchFamily="34" charset="-120"/>
              </a:rPr>
              <a:t>CIMENT (sac)</a:t>
            </a:r>
          </a:p>
        </p:txBody>
      </p:sp>
      <p:sp>
        <p:nvSpPr>
          <p:cNvPr id="350" name="Text"/>
          <p:cNvSpPr/>
          <p:nvPr/>
        </p:nvSpPr>
        <p:spPr>
          <a:xfrm>
            <a:off x="8869680" y="1901952"/>
            <a:ext cx="1325880" cy="41148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2 520 T</a:t>
            </a:r>
          </a:p>
        </p:txBody>
      </p:sp>
      <p:sp>
        <p:nvSpPr>
          <p:cNvPr id="351" name="Shape"/>
          <p:cNvSpPr/>
          <p:nvPr/>
        </p:nvSpPr>
        <p:spPr>
          <a:xfrm>
            <a:off x="9948672" y="2011680"/>
            <a:ext cx="1737360" cy="164592"/>
          </a:xfrm>
          <a:prstGeom prst="rect">
            <a:avLst/>
          </a:prstGeom>
          <a:solidFill>
            <a:srgbClr val="CBD5E1"/>
          </a:solidFill>
          <a:ln/>
        </p:spPr>
        <p:txBody>
          <a:bodyPr/>
          <a:lstStyle/>
          <a:p>
            <a:endParaRPr lang="en-US"/>
          </a:p>
        </p:txBody>
      </p:sp>
      <p:sp>
        <p:nvSpPr>
          <p:cNvPr id="352" name="Shape"/>
          <p:cNvSpPr/>
          <p:nvPr/>
        </p:nvSpPr>
        <p:spPr>
          <a:xfrm>
            <a:off x="9948672" y="2011680"/>
            <a:ext cx="243230" cy="164592"/>
          </a:xfrm>
          <a:prstGeom prst="rect">
            <a:avLst/>
          </a:prstGeom>
          <a:solidFill>
            <a:srgbClr val="EA580C"/>
          </a:solidFill>
          <a:ln/>
        </p:spPr>
        <p:txBody>
          <a:bodyPr/>
          <a:lstStyle/>
          <a:p>
            <a:endParaRPr lang="en-US"/>
          </a:p>
        </p:txBody>
      </p:sp>
      <p:sp>
        <p:nvSpPr>
          <p:cNvPr id="353" name="Text"/>
          <p:cNvSpPr/>
          <p:nvPr/>
        </p:nvSpPr>
        <p:spPr>
          <a:xfrm>
            <a:off x="11722608" y="1901952"/>
            <a:ext cx="640080" cy="411480"/>
          </a:xfrm>
          <a:prstGeom prst="rect">
            <a:avLst/>
          </a:prstGeom>
          <a:noFill/>
          <a:ln/>
        </p:spPr>
        <p:txBody>
          <a:bodyPr wrap="square" rtlCol="0" anchor="ctr"/>
          <a:lstStyle/>
          <a:p>
            <a:pPr marL="0" indent="0">
              <a:buNone/>
            </a:pPr>
            <a:r>
              <a:rPr lang="en-US" sz="1000" b="1" dirty="0">
                <a:solidFill>
                  <a:srgbClr val="EA580C"/>
                </a:solidFill>
                <a:latin typeface="Calibri" pitchFamily="34" charset="0"/>
                <a:ea typeface="Calibri" pitchFamily="34" charset="-122"/>
                <a:cs typeface="Calibri" pitchFamily="34" charset="-120"/>
              </a:rPr>
              <a:t>14%</a:t>
            </a:r>
          </a:p>
        </p:txBody>
      </p:sp>
      <p:sp>
        <p:nvSpPr>
          <p:cNvPr id="354" name="Shape"/>
          <p:cNvSpPr/>
          <p:nvPr/>
        </p:nvSpPr>
        <p:spPr>
          <a:xfrm>
            <a:off x="6309360" y="2359152"/>
            <a:ext cx="5577840" cy="411480"/>
          </a:xfrm>
          <a:prstGeom prst="roundRect">
            <a:avLst>
              <a:gd name="adj" fmla="val 8889"/>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355" name="Text"/>
          <p:cNvSpPr/>
          <p:nvPr/>
        </p:nvSpPr>
        <p:spPr>
          <a:xfrm>
            <a:off x="6446520" y="2359152"/>
            <a:ext cx="2423160" cy="411480"/>
          </a:xfrm>
          <a:prstGeom prst="rect">
            <a:avLst/>
          </a:prstGeom>
          <a:noFill/>
          <a:ln/>
        </p:spPr>
        <p:txBody>
          <a:bodyPr wrap="square" rtlCol="0" anchor="ctr"/>
          <a:lstStyle/>
          <a:p>
            <a:pPr marL="0" indent="0">
              <a:buNone/>
            </a:pPr>
            <a:r>
              <a:rPr lang="en-US" sz="900" b="1" dirty="0">
                <a:solidFill>
                  <a:srgbClr val="334155"/>
                </a:solidFill>
                <a:latin typeface="Calibri" pitchFamily="34" charset="0"/>
                <a:ea typeface="Calibri" pitchFamily="34" charset="-122"/>
                <a:cs typeface="Calibri" pitchFamily="34" charset="-120"/>
              </a:rPr>
              <a:t>SUCRE (sac)</a:t>
            </a:r>
          </a:p>
        </p:txBody>
      </p:sp>
      <p:sp>
        <p:nvSpPr>
          <p:cNvPr id="356" name="Text"/>
          <p:cNvSpPr/>
          <p:nvPr/>
        </p:nvSpPr>
        <p:spPr>
          <a:xfrm>
            <a:off x="8869680" y="2359152"/>
            <a:ext cx="1325880" cy="41148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1 980 T</a:t>
            </a:r>
          </a:p>
        </p:txBody>
      </p:sp>
      <p:sp>
        <p:nvSpPr>
          <p:cNvPr id="357" name="Shape"/>
          <p:cNvSpPr/>
          <p:nvPr/>
        </p:nvSpPr>
        <p:spPr>
          <a:xfrm>
            <a:off x="9948672" y="2468880"/>
            <a:ext cx="1737360" cy="164592"/>
          </a:xfrm>
          <a:prstGeom prst="rect">
            <a:avLst/>
          </a:prstGeom>
          <a:solidFill>
            <a:srgbClr val="CBD5E1"/>
          </a:solidFill>
          <a:ln/>
        </p:spPr>
        <p:txBody>
          <a:bodyPr/>
          <a:lstStyle/>
          <a:p>
            <a:endParaRPr lang="en-US"/>
          </a:p>
        </p:txBody>
      </p:sp>
      <p:sp>
        <p:nvSpPr>
          <p:cNvPr id="358" name="Shape"/>
          <p:cNvSpPr/>
          <p:nvPr/>
        </p:nvSpPr>
        <p:spPr>
          <a:xfrm>
            <a:off x="9948672" y="2468880"/>
            <a:ext cx="156362" cy="164592"/>
          </a:xfrm>
          <a:prstGeom prst="rect">
            <a:avLst/>
          </a:prstGeom>
          <a:solidFill>
            <a:srgbClr val="0891B2"/>
          </a:solidFill>
          <a:ln/>
        </p:spPr>
        <p:txBody>
          <a:bodyPr/>
          <a:lstStyle/>
          <a:p>
            <a:endParaRPr lang="en-US"/>
          </a:p>
        </p:txBody>
      </p:sp>
      <p:sp>
        <p:nvSpPr>
          <p:cNvPr id="359" name="Text"/>
          <p:cNvSpPr/>
          <p:nvPr/>
        </p:nvSpPr>
        <p:spPr>
          <a:xfrm>
            <a:off x="11722608" y="2359152"/>
            <a:ext cx="640080" cy="411480"/>
          </a:xfrm>
          <a:prstGeom prst="rect">
            <a:avLst/>
          </a:prstGeom>
          <a:noFill/>
          <a:ln/>
        </p:spPr>
        <p:txBody>
          <a:bodyPr wrap="square" rtlCol="0" anchor="ctr"/>
          <a:lstStyle/>
          <a:p>
            <a:pPr marL="0" indent="0">
              <a:buNone/>
            </a:pPr>
            <a:r>
              <a:rPr lang="en-US" sz="1000" b="1" dirty="0">
                <a:solidFill>
                  <a:srgbClr val="0891B2"/>
                </a:solidFill>
                <a:latin typeface="Calibri" pitchFamily="34" charset="0"/>
                <a:ea typeface="Calibri" pitchFamily="34" charset="-122"/>
                <a:cs typeface="Calibri" pitchFamily="34" charset="-120"/>
              </a:rPr>
              <a:t>9%</a:t>
            </a:r>
          </a:p>
        </p:txBody>
      </p:sp>
      <p:sp>
        <p:nvSpPr>
          <p:cNvPr id="360" name="Shape"/>
          <p:cNvSpPr/>
          <p:nvPr/>
        </p:nvSpPr>
        <p:spPr>
          <a:xfrm>
            <a:off x="6309360" y="2816352"/>
            <a:ext cx="5577840" cy="411480"/>
          </a:xfrm>
          <a:prstGeom prst="roundRect">
            <a:avLst>
              <a:gd name="adj" fmla="val 8889"/>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361" name="Text"/>
          <p:cNvSpPr/>
          <p:nvPr/>
        </p:nvSpPr>
        <p:spPr>
          <a:xfrm>
            <a:off x="6446520" y="2816352"/>
            <a:ext cx="2423160" cy="411480"/>
          </a:xfrm>
          <a:prstGeom prst="rect">
            <a:avLst/>
          </a:prstGeom>
          <a:noFill/>
          <a:ln/>
        </p:spPr>
        <p:txBody>
          <a:bodyPr wrap="square" rtlCol="0" anchor="ctr"/>
          <a:lstStyle/>
          <a:p>
            <a:pPr marL="0" indent="0">
              <a:buNone/>
            </a:pPr>
            <a:r>
              <a:rPr lang="en-US" sz="900" b="1" dirty="0">
                <a:solidFill>
                  <a:srgbClr val="334155"/>
                </a:solidFill>
                <a:latin typeface="Calibri" pitchFamily="34" charset="0"/>
                <a:ea typeface="Calibri" pitchFamily="34" charset="-122"/>
                <a:cs typeface="Calibri" pitchFamily="34" charset="-120"/>
              </a:rPr>
              <a:t>RIZ (sac)</a:t>
            </a:r>
          </a:p>
        </p:txBody>
      </p:sp>
      <p:sp>
        <p:nvSpPr>
          <p:cNvPr id="362" name="Text"/>
          <p:cNvSpPr/>
          <p:nvPr/>
        </p:nvSpPr>
        <p:spPr>
          <a:xfrm>
            <a:off x="8869680" y="2816352"/>
            <a:ext cx="1325880" cy="41148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3 840 T</a:t>
            </a:r>
          </a:p>
        </p:txBody>
      </p:sp>
      <p:sp>
        <p:nvSpPr>
          <p:cNvPr id="363" name="Shape"/>
          <p:cNvSpPr/>
          <p:nvPr/>
        </p:nvSpPr>
        <p:spPr>
          <a:xfrm>
            <a:off x="9948672" y="2926080"/>
            <a:ext cx="1737360" cy="164592"/>
          </a:xfrm>
          <a:prstGeom prst="rect">
            <a:avLst/>
          </a:prstGeom>
          <a:solidFill>
            <a:srgbClr val="CBD5E1"/>
          </a:solidFill>
          <a:ln/>
        </p:spPr>
        <p:txBody>
          <a:bodyPr/>
          <a:lstStyle/>
          <a:p>
            <a:endParaRPr lang="en-US"/>
          </a:p>
        </p:txBody>
      </p:sp>
      <p:sp>
        <p:nvSpPr>
          <p:cNvPr id="364" name="Shape"/>
          <p:cNvSpPr/>
          <p:nvPr/>
        </p:nvSpPr>
        <p:spPr>
          <a:xfrm>
            <a:off x="9948672" y="2926080"/>
            <a:ext cx="138989" cy="164592"/>
          </a:xfrm>
          <a:prstGeom prst="rect">
            <a:avLst/>
          </a:prstGeom>
          <a:solidFill>
            <a:srgbClr val="0891B2"/>
          </a:solidFill>
          <a:ln/>
        </p:spPr>
        <p:txBody>
          <a:bodyPr/>
          <a:lstStyle/>
          <a:p>
            <a:endParaRPr lang="en-US"/>
          </a:p>
        </p:txBody>
      </p:sp>
      <p:sp>
        <p:nvSpPr>
          <p:cNvPr id="365" name="Text"/>
          <p:cNvSpPr/>
          <p:nvPr/>
        </p:nvSpPr>
        <p:spPr>
          <a:xfrm>
            <a:off x="11722608" y="2816352"/>
            <a:ext cx="640080" cy="411480"/>
          </a:xfrm>
          <a:prstGeom prst="rect">
            <a:avLst/>
          </a:prstGeom>
          <a:noFill/>
          <a:ln/>
        </p:spPr>
        <p:txBody>
          <a:bodyPr wrap="square" rtlCol="0" anchor="ctr"/>
          <a:lstStyle/>
          <a:p>
            <a:pPr marL="0" indent="0">
              <a:buNone/>
            </a:pPr>
            <a:r>
              <a:rPr lang="en-US" sz="1000" b="1" dirty="0">
                <a:solidFill>
                  <a:srgbClr val="0891B2"/>
                </a:solidFill>
                <a:latin typeface="Calibri" pitchFamily="34" charset="0"/>
                <a:ea typeface="Calibri" pitchFamily="34" charset="-122"/>
                <a:cs typeface="Calibri" pitchFamily="34" charset="-120"/>
              </a:rPr>
              <a:t>8%</a:t>
            </a:r>
          </a:p>
        </p:txBody>
      </p:sp>
      <p:sp>
        <p:nvSpPr>
          <p:cNvPr id="366" name="Shape"/>
          <p:cNvSpPr/>
          <p:nvPr/>
        </p:nvSpPr>
        <p:spPr>
          <a:xfrm>
            <a:off x="6309360" y="3273552"/>
            <a:ext cx="5577840" cy="411480"/>
          </a:xfrm>
          <a:prstGeom prst="roundRect">
            <a:avLst>
              <a:gd name="adj" fmla="val 8889"/>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367" name="Text"/>
          <p:cNvSpPr/>
          <p:nvPr/>
        </p:nvSpPr>
        <p:spPr>
          <a:xfrm>
            <a:off x="6446520" y="3273552"/>
            <a:ext cx="2423160" cy="411480"/>
          </a:xfrm>
          <a:prstGeom prst="rect">
            <a:avLst/>
          </a:prstGeom>
          <a:noFill/>
          <a:ln/>
        </p:spPr>
        <p:txBody>
          <a:bodyPr wrap="square" rtlCol="0" anchor="ctr"/>
          <a:lstStyle/>
          <a:p>
            <a:pPr marL="0" indent="0">
              <a:buNone/>
            </a:pPr>
            <a:r>
              <a:rPr lang="en-US" sz="900" b="1" dirty="0">
                <a:solidFill>
                  <a:srgbClr val="334155"/>
                </a:solidFill>
                <a:latin typeface="Calibri" pitchFamily="34" charset="0"/>
                <a:ea typeface="Calibri" pitchFamily="34" charset="-122"/>
                <a:cs typeface="Calibri" pitchFamily="34" charset="-120"/>
              </a:rPr>
              <a:t>VRAC LIQUIDE</a:t>
            </a:r>
          </a:p>
        </p:txBody>
      </p:sp>
      <p:sp>
        <p:nvSpPr>
          <p:cNvPr id="368" name="Text"/>
          <p:cNvSpPr/>
          <p:nvPr/>
        </p:nvSpPr>
        <p:spPr>
          <a:xfrm>
            <a:off x="8869680" y="3273552"/>
            <a:ext cx="1325880" cy="41148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1 320 T</a:t>
            </a:r>
          </a:p>
        </p:txBody>
      </p:sp>
      <p:sp>
        <p:nvSpPr>
          <p:cNvPr id="369" name="Shape"/>
          <p:cNvSpPr/>
          <p:nvPr/>
        </p:nvSpPr>
        <p:spPr>
          <a:xfrm>
            <a:off x="9948672" y="3383280"/>
            <a:ext cx="1737360" cy="164592"/>
          </a:xfrm>
          <a:prstGeom prst="rect">
            <a:avLst/>
          </a:prstGeom>
          <a:solidFill>
            <a:srgbClr val="CBD5E1"/>
          </a:solidFill>
          <a:ln/>
        </p:spPr>
        <p:txBody>
          <a:bodyPr/>
          <a:lstStyle/>
          <a:p>
            <a:endParaRPr lang="en-US"/>
          </a:p>
        </p:txBody>
      </p:sp>
      <p:sp>
        <p:nvSpPr>
          <p:cNvPr id="370" name="Shape"/>
          <p:cNvSpPr/>
          <p:nvPr/>
        </p:nvSpPr>
        <p:spPr>
          <a:xfrm>
            <a:off x="9948672" y="3383280"/>
            <a:ext cx="104242" cy="164592"/>
          </a:xfrm>
          <a:prstGeom prst="rect">
            <a:avLst/>
          </a:prstGeom>
          <a:solidFill>
            <a:srgbClr val="0891B2"/>
          </a:solidFill>
          <a:ln/>
        </p:spPr>
        <p:txBody>
          <a:bodyPr/>
          <a:lstStyle/>
          <a:p>
            <a:endParaRPr lang="en-US"/>
          </a:p>
        </p:txBody>
      </p:sp>
      <p:sp>
        <p:nvSpPr>
          <p:cNvPr id="371" name="Text"/>
          <p:cNvSpPr/>
          <p:nvPr/>
        </p:nvSpPr>
        <p:spPr>
          <a:xfrm>
            <a:off x="11722608" y="3273552"/>
            <a:ext cx="640080" cy="411480"/>
          </a:xfrm>
          <a:prstGeom prst="rect">
            <a:avLst/>
          </a:prstGeom>
          <a:noFill/>
          <a:ln/>
        </p:spPr>
        <p:txBody>
          <a:bodyPr wrap="square" rtlCol="0" anchor="ctr"/>
          <a:lstStyle/>
          <a:p>
            <a:pPr marL="0" indent="0">
              <a:buNone/>
            </a:pPr>
            <a:r>
              <a:rPr lang="en-US" sz="1000" b="1" dirty="0">
                <a:solidFill>
                  <a:srgbClr val="0891B2"/>
                </a:solidFill>
                <a:latin typeface="Calibri" pitchFamily="34" charset="0"/>
                <a:ea typeface="Calibri" pitchFamily="34" charset="-122"/>
                <a:cs typeface="Calibri" pitchFamily="34" charset="-120"/>
              </a:rPr>
              <a:t>6%</a:t>
            </a:r>
          </a:p>
        </p:txBody>
      </p:sp>
      <p:sp>
        <p:nvSpPr>
          <p:cNvPr id="372" name="Shape"/>
          <p:cNvSpPr/>
          <p:nvPr/>
        </p:nvSpPr>
        <p:spPr>
          <a:xfrm>
            <a:off x="6309360" y="3730752"/>
            <a:ext cx="5577840" cy="411480"/>
          </a:xfrm>
          <a:prstGeom prst="roundRect">
            <a:avLst>
              <a:gd name="adj" fmla="val 8889"/>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373" name="Text"/>
          <p:cNvSpPr/>
          <p:nvPr/>
        </p:nvSpPr>
        <p:spPr>
          <a:xfrm>
            <a:off x="6446520" y="3730752"/>
            <a:ext cx="2423160" cy="411480"/>
          </a:xfrm>
          <a:prstGeom prst="rect">
            <a:avLst/>
          </a:prstGeom>
          <a:noFill/>
          <a:ln/>
        </p:spPr>
        <p:txBody>
          <a:bodyPr wrap="square" rtlCol="0" anchor="ctr"/>
          <a:lstStyle/>
          <a:p>
            <a:pPr marL="0" indent="0">
              <a:buNone/>
            </a:pPr>
            <a:r>
              <a:rPr lang="en-US" sz="900" b="1" dirty="0">
                <a:solidFill>
                  <a:srgbClr val="334155"/>
                </a:solidFill>
                <a:latin typeface="Calibri" pitchFamily="34" charset="0"/>
                <a:ea typeface="Calibri" pitchFamily="34" charset="-122"/>
                <a:cs typeface="Calibri" pitchFamily="34" charset="-120"/>
              </a:rPr>
              <a:t>CLINKER (vrac)</a:t>
            </a:r>
          </a:p>
        </p:txBody>
      </p:sp>
      <p:sp>
        <p:nvSpPr>
          <p:cNvPr id="374" name="Text"/>
          <p:cNvSpPr/>
          <p:nvPr/>
        </p:nvSpPr>
        <p:spPr>
          <a:xfrm>
            <a:off x="8869680" y="3730752"/>
            <a:ext cx="1325880" cy="41148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1 100 T</a:t>
            </a:r>
          </a:p>
        </p:txBody>
      </p:sp>
      <p:sp>
        <p:nvSpPr>
          <p:cNvPr id="375" name="Shape"/>
          <p:cNvSpPr/>
          <p:nvPr/>
        </p:nvSpPr>
        <p:spPr>
          <a:xfrm>
            <a:off x="9948672" y="3840480"/>
            <a:ext cx="1737360" cy="164592"/>
          </a:xfrm>
          <a:prstGeom prst="rect">
            <a:avLst/>
          </a:prstGeom>
          <a:solidFill>
            <a:srgbClr val="CBD5E1"/>
          </a:solidFill>
          <a:ln/>
        </p:spPr>
        <p:txBody>
          <a:bodyPr/>
          <a:lstStyle/>
          <a:p>
            <a:endParaRPr lang="en-US"/>
          </a:p>
        </p:txBody>
      </p:sp>
      <p:sp>
        <p:nvSpPr>
          <p:cNvPr id="376" name="Shape"/>
          <p:cNvSpPr/>
          <p:nvPr/>
        </p:nvSpPr>
        <p:spPr>
          <a:xfrm>
            <a:off x="9948672" y="3840480"/>
            <a:ext cx="86868" cy="164592"/>
          </a:xfrm>
          <a:prstGeom prst="rect">
            <a:avLst/>
          </a:prstGeom>
          <a:solidFill>
            <a:srgbClr val="DC2626"/>
          </a:solidFill>
          <a:ln/>
        </p:spPr>
        <p:txBody>
          <a:bodyPr/>
          <a:lstStyle/>
          <a:p>
            <a:endParaRPr lang="en-US"/>
          </a:p>
        </p:txBody>
      </p:sp>
      <p:sp>
        <p:nvSpPr>
          <p:cNvPr id="377" name="Text"/>
          <p:cNvSpPr/>
          <p:nvPr/>
        </p:nvSpPr>
        <p:spPr>
          <a:xfrm>
            <a:off x="11722608" y="3730752"/>
            <a:ext cx="640080" cy="411480"/>
          </a:xfrm>
          <a:prstGeom prst="rect">
            <a:avLst/>
          </a:prstGeom>
          <a:noFill/>
          <a:ln/>
        </p:spPr>
        <p:txBody>
          <a:bodyPr wrap="square" rtlCol="0" anchor="ctr"/>
          <a:lstStyle/>
          <a:p>
            <a:pPr marL="0" indent="0">
              <a:buNone/>
            </a:pPr>
            <a:r>
              <a:rPr lang="en-US" sz="1000" b="1" dirty="0">
                <a:solidFill>
                  <a:srgbClr val="DC2626"/>
                </a:solidFill>
                <a:latin typeface="Calibri" pitchFamily="34" charset="0"/>
                <a:ea typeface="Calibri" pitchFamily="34" charset="-122"/>
                <a:cs typeface="Calibri" pitchFamily="34" charset="-120"/>
              </a:rPr>
              <a:t>5%</a:t>
            </a:r>
          </a:p>
        </p:txBody>
      </p:sp>
      <p:sp>
        <p:nvSpPr>
          <p:cNvPr id="378" name="Shape"/>
          <p:cNvSpPr/>
          <p:nvPr/>
        </p:nvSpPr>
        <p:spPr>
          <a:xfrm>
            <a:off x="6309360" y="4343400"/>
            <a:ext cx="5577840" cy="1188720"/>
          </a:xfrm>
          <a:prstGeom prst="roundRect">
            <a:avLst>
              <a:gd name="adj" fmla="val 8000"/>
            </a:avLst>
          </a:prstGeom>
          <a:solidFill>
            <a:srgbClr val="FFF5E6"/>
          </a:solidFill>
          <a:ln/>
        </p:spPr>
        <p:txBody>
          <a:bodyPr/>
          <a:lstStyle/>
          <a:p>
            <a:endParaRPr lang="en-US"/>
          </a:p>
        </p:txBody>
      </p:sp>
      <p:sp>
        <p:nvSpPr>
          <p:cNvPr id="379" name="Text"/>
          <p:cNvSpPr/>
          <p:nvPr/>
        </p:nvSpPr>
        <p:spPr>
          <a:xfrm>
            <a:off x="6446520" y="4343400"/>
            <a:ext cx="5303520" cy="1188720"/>
          </a:xfrm>
          <a:prstGeom prst="rect">
            <a:avLst/>
          </a:prstGeom>
          <a:noFill/>
          <a:ln/>
        </p:spPr>
        <p:txBody>
          <a:bodyPr wrap="square" rtlCol="0" anchor="ctr"/>
          <a:lstStyle/>
          <a:p>
            <a:pPr marL="0" indent="0">
              <a:buNone/>
            </a:pPr>
            <a:r>
              <a:rPr lang="en-US" sz="950" b="1" dirty="0">
                <a:solidFill>
                  <a:srgbClr val="EA580C"/>
                </a:solidFill>
                <a:latin typeface="Calibri" pitchFamily="34" charset="0"/>
                <a:ea typeface="Calibri" pitchFamily="34" charset="-122"/>
                <a:cs typeface="Calibri" pitchFamily="34" charset="-120"/>
              </a:rPr>
              <a:t>🎯 STRATÉGIE TRAMPS : </a:t>
            </a:r>
            <a:r>
              <a:rPr lang="en-US" sz="950" dirty="0">
                <a:solidFill>
                  <a:srgbClr val="334155"/>
                </a:solidFill>
                <a:latin typeface="Calibri" pitchFamily="34" charset="0"/>
                <a:ea typeface="Calibri" pitchFamily="34" charset="-122"/>
                <a:cs typeface="Calibri" pitchFamily="34" charset="-120"/>
              </a:rPr>
              <a:t>AGL #3 manutentionnaire (11,0%) derrière Bolloré (30,4%) et SDV (20,1%). Niches solides : BRBK 18% et Ciment 14%. Cible 18% à 12 mois — leviers : clinker BTP (PND 2026–2030) + acier SOCOCE / SETACI + co-consignation vraquiers.</a:t>
            </a:r>
          </a:p>
        </p:txBody>
      </p:sp>
      <p:sp>
        <p:nvSpPr>
          <p:cNvPr id="380" name="Text"/>
          <p:cNvSpPr/>
          <p:nvPr/>
        </p:nvSpPr>
        <p:spPr>
          <a:xfrm>
            <a:off x="365760" y="6601968"/>
            <a:ext cx="11430000" cy="201168"/>
          </a:xfrm>
          <a:prstGeom prst="rect">
            <a:avLst/>
          </a:prstGeom>
          <a:noFill/>
          <a:ln/>
        </p:spPr>
        <p:txBody>
          <a:bodyPr wrap="square" rtlCol="0" anchor="t"/>
          <a:lstStyle/>
          <a:p>
            <a:pPr marL="0" indent="0" algn="ctr">
              <a:buNone/>
            </a:pPr>
            <a:r>
              <a:rPr lang="en-US" sz="850" dirty="0">
                <a:solidFill>
                  <a:srgbClr val="64748B"/>
                </a:solidFill>
                <a:latin typeface="Calibri" pitchFamily="34" charset="0"/>
                <a:ea typeface="Calibri" pitchFamily="34" charset="-122"/>
                <a:cs typeface="Calibri" pitchFamily="34" charset="-120"/>
              </a:rPr>
              <a:t>Africa Global Logistics – Étude de Marché Jan–Mai 2026  |  p.27</a:t>
            </a:r>
          </a:p>
        </p:txBody>
      </p:sp>
      <p:pic>
        <p:nvPicPr>
          <p:cNvPr id="381" name="Image logo"/>
          <p:cNvPicPr>
            <a:picLocks noChangeAspect="1"/>
          </p:cNvPicPr>
          <p:nvPr/>
        </p:nvPicPr>
        <p:blipFill>
          <a:blip r:embed="rId3" cstate="screen"/>
          <a:stretch>
            <a:fillRect/>
          </a:stretch>
        </p:blipFill>
        <p:spPr>
          <a:xfrm>
            <a:off x="11488450" y="6549898"/>
            <a:ext cx="450027" cy="292409"/>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Focus Pétrole">
    <p:bg>
      <p:bgPr>
        <a:solidFill>
          <a:srgbClr val="FFFFFF"/>
        </a:solidFill>
        <a:effectLst/>
      </p:bgPr>
    </p:bg>
    <p:spTree>
      <p:nvGrpSpPr>
        <p:cNvPr id="1" name=""/>
        <p:cNvGrpSpPr/>
        <p:nvPr/>
      </p:nvGrpSpPr>
      <p:grpSpPr>
        <a:xfrm>
          <a:off x="0" y="0"/>
          <a:ext cx="0" cy="0"/>
          <a:chOff x="0" y="0"/>
          <a:chExt cx="0" cy="0"/>
        </a:xfrm>
      </p:grpSpPr>
      <p:sp>
        <p:nvSpPr>
          <p:cNvPr id="382" name="Shape"/>
          <p:cNvSpPr/>
          <p:nvPr/>
        </p:nvSpPr>
        <p:spPr>
          <a:xfrm>
            <a:off x="0" y="0"/>
            <a:ext cx="12161520" cy="1051560"/>
          </a:xfrm>
          <a:prstGeom prst="rect">
            <a:avLst/>
          </a:prstGeom>
          <a:solidFill>
            <a:srgbClr val="0A2240"/>
          </a:solidFill>
          <a:ln w="12700">
            <a:solidFill>
              <a:srgbClr val="0A2240"/>
            </a:solidFill>
            <a:prstDash val="solid"/>
          </a:ln>
        </p:spPr>
        <p:txBody>
          <a:bodyPr/>
          <a:lstStyle/>
          <a:p>
            <a:endParaRPr lang="en-US"/>
          </a:p>
        </p:txBody>
      </p:sp>
      <p:sp>
        <p:nvSpPr>
          <p:cNvPr id="383" name="Text"/>
          <p:cNvSpPr/>
          <p:nvPr/>
        </p:nvSpPr>
        <p:spPr>
          <a:xfrm>
            <a:off x="365760" y="54864"/>
            <a:ext cx="11430000" cy="65836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FOCUS SECTORIEL – PÉTROLE  |  Position AGL</a:t>
            </a:r>
          </a:p>
        </p:txBody>
      </p:sp>
      <p:sp>
        <p:nvSpPr>
          <p:cNvPr id="384" name="Text"/>
          <p:cNvSpPr/>
          <p:nvPr/>
        </p:nvSpPr>
        <p:spPr>
          <a:xfrm>
            <a:off x="365760" y="676656"/>
            <a:ext cx="11430000" cy="329184"/>
          </a:xfrm>
          <a:prstGeom prst="rect">
            <a:avLst/>
          </a:prstGeom>
          <a:noFill/>
          <a:ln/>
        </p:spPr>
        <p:txBody>
          <a:bodyPr wrap="square" rtlCol="0" anchor="t"/>
          <a:lstStyle/>
          <a:p>
            <a:pPr marL="0" indent="0">
              <a:buNone/>
            </a:pPr>
            <a:r>
              <a:rPr lang="en-US" sz="1200" i="1" dirty="0">
                <a:solidFill>
                  <a:srgbClr val="C8A951"/>
                </a:solidFill>
                <a:latin typeface="Calibri" pitchFamily="34" charset="0"/>
                <a:ea typeface="Calibri" pitchFamily="34" charset="-122"/>
                <a:cs typeface="Calibri" pitchFamily="34" charset="-120"/>
              </a:rPr>
              <a:t>Flux hydrocarbures import / export  |  Opérateurs au B/L  |  ~2,4 M T  |  Jan–Mai 2026</a:t>
            </a:r>
          </a:p>
        </p:txBody>
      </p:sp>
      <p:sp>
        <p:nvSpPr>
          <p:cNvPr id="385" name="Text"/>
          <p:cNvSpPr/>
          <p:nvPr/>
        </p:nvSpPr>
        <p:spPr>
          <a:xfrm>
            <a:off x="320040" y="1143000"/>
            <a:ext cx="5943600" cy="274320"/>
          </a:xfrm>
          <a:prstGeom prst="rect">
            <a:avLst/>
          </a:prstGeom>
          <a:noFill/>
          <a:ln/>
        </p:spPr>
        <p:txBody>
          <a:bodyPr wrap="square" rtlCol="0" anchor="t"/>
          <a:lstStyle/>
          <a:p>
            <a:pPr marL="0" indent="0">
              <a:buNone/>
            </a:pPr>
            <a:r>
              <a:rPr lang="en-US" sz="1200" b="1" dirty="0">
                <a:solidFill>
                  <a:srgbClr val="0A2240"/>
                </a:solidFill>
                <a:latin typeface="Calibri" pitchFamily="34" charset="0"/>
                <a:ea typeface="Calibri" pitchFamily="34" charset="-122"/>
                <a:cs typeface="Calibri" pitchFamily="34" charset="-120"/>
              </a:rPr>
              <a:t>Opérateurs pétroliers actifs – Abidjan (B/L)</a:t>
            </a:r>
          </a:p>
        </p:txBody>
      </p:sp>
      <p:graphicFrame>
        <p:nvGraphicFramePr>
          <p:cNvPr id="386" name="Table"/>
          <p:cNvGraphicFramePr>
            <a:graphicFrameLocks noGrp="1"/>
          </p:cNvGraphicFramePr>
          <p:nvPr/>
        </p:nvGraphicFramePr>
        <p:xfrm>
          <a:off x="320040" y="1444752"/>
          <a:ext cx="5760720" cy="2706624"/>
        </p:xfrm>
        <a:graphic>
          <a:graphicData uri="http://schemas.openxmlformats.org/drawingml/2006/table">
            <a:tbl>
              <a:tblPr/>
              <a:tblGrid>
                <a:gridCol w="2500000"/>
                <a:gridCol w="1100000"/>
                <a:gridCol w="1460720"/>
                <a:gridCol w="700000"/>
              </a:tblGrid>
              <a:tr h="338328">
                <a:tc>
                  <a:txBody>
                    <a:bodyPr/>
                    <a:lstStyle/>
                    <a:p>
                      <a:pPr marL="0" indent="0" algn="ctr">
                        <a:buNone/>
                      </a:pPr>
                      <a:r>
                        <a:rPr lang="en-US" sz="1000" b="1" dirty="0">
                          <a:solidFill>
                            <a:srgbClr val="FFFFFF"/>
                          </a:solidFill>
                        </a:rPr>
                        <a:t>Opérateur</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lgn="ctr">
                        <a:buNone/>
                      </a:pPr>
                      <a:r>
                        <a:rPr lang="en-US" sz="1000" b="1" dirty="0">
                          <a:solidFill>
                            <a:srgbClr val="FFFFFF"/>
                          </a:solidFill>
                        </a:rPr>
                        <a:t>Volume T</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lgn="ctr">
                        <a:buNone/>
                      </a:pPr>
                      <a:r>
                        <a:rPr lang="en-US" sz="1000" b="1" dirty="0">
                          <a:solidFill>
                            <a:srgbClr val="FFFFFF"/>
                          </a:solidFill>
                        </a:rPr>
                        <a:t>Flux</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lgn="ctr">
                        <a:buNone/>
                      </a:pPr>
                      <a:r>
                        <a:rPr lang="en-US" sz="1000" b="1" dirty="0">
                          <a:solidFill>
                            <a:srgbClr val="FFFFFF"/>
                          </a:solidFill>
                        </a:rPr>
                        <a:t>PDM</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r>
              <a:tr h="338328">
                <a:tc>
                  <a:txBody>
                    <a:bodyPr/>
                    <a:lstStyle/>
                    <a:p>
                      <a:pPr marL="0" indent="0">
                        <a:buNone/>
                      </a:pPr>
                      <a:r>
                        <a:rPr lang="en-US" sz="950" dirty="0">
                          <a:solidFill>
                            <a:srgbClr val="334155"/>
                          </a:solidFill>
                        </a:rPr>
                        <a:t>SIR CI (Raffinerie)</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~480 000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Import brut</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20,0 %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buNone/>
                      </a:pPr>
                      <a:r>
                        <a:rPr lang="en-US" sz="950" dirty="0">
                          <a:solidFill>
                            <a:srgbClr val="334155"/>
                          </a:solidFill>
                        </a:rPr>
                        <a:t>TOTAL ENERGIES CI</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~320 000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Import raffinés</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13,3 %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buNone/>
                      </a:pPr>
                      <a:r>
                        <a:rPr lang="en-US" sz="950" dirty="0">
                          <a:solidFill>
                            <a:srgbClr val="334155"/>
                          </a:solidFill>
                        </a:rPr>
                        <a:t>VIVO ENERGY (Shell)</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~280 000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Import raffinés</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11,7 %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buNone/>
                      </a:pPr>
                      <a:r>
                        <a:rPr lang="en-US" sz="950" dirty="0">
                          <a:solidFill>
                            <a:srgbClr val="334155"/>
                          </a:solidFill>
                        </a:rPr>
                        <a:t>PETRO IVOIRE</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~190 000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Import + Distrib.</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7,9 %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buNone/>
                      </a:pPr>
                      <a:r>
                        <a:rPr lang="en-US" sz="950" dirty="0">
                          <a:solidFill>
                            <a:srgbClr val="334155"/>
                          </a:solidFill>
                        </a:rPr>
                        <a:t>FOXTROT INTERNATIONAL</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~160 000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Export offshore</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6,7 %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buNone/>
                      </a:pPr>
                      <a:r>
                        <a:rPr lang="en-US" sz="950" dirty="0">
                          <a:solidFill>
                            <a:srgbClr val="334155"/>
                          </a:solidFill>
                        </a:rPr>
                        <a:t>ORYX CI</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~140 000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Import raffinés</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5,8 %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buNone/>
                      </a:pPr>
                      <a:r>
                        <a:rPr lang="en-US" sz="950" dirty="0">
                          <a:solidFill>
                            <a:srgbClr val="334155"/>
                          </a:solidFill>
                        </a:rPr>
                        <a:t>BOLLORÉ ENERGY</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~120 000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Import divers</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5,0 %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387" name="Text"/>
          <p:cNvSpPr/>
          <p:nvPr/>
        </p:nvSpPr>
        <p:spPr>
          <a:xfrm>
            <a:off x="320040" y="4160520"/>
            <a:ext cx="5943600" cy="274320"/>
          </a:xfrm>
          <a:prstGeom prst="rect">
            <a:avLst/>
          </a:prstGeom>
          <a:noFill/>
          <a:ln/>
        </p:spPr>
        <p:txBody>
          <a:bodyPr wrap="square" rtlCol="0" anchor="t"/>
          <a:lstStyle/>
          <a:p>
            <a:pPr marL="0" indent="0">
              <a:buNone/>
            </a:pPr>
            <a:r>
              <a:rPr lang="en-US" sz="1200" b="1" dirty="0">
                <a:solidFill>
                  <a:srgbClr val="0A2240"/>
                </a:solidFill>
                <a:latin typeface="Calibri" pitchFamily="34" charset="0"/>
                <a:ea typeface="Calibri" pitchFamily="34" charset="-122"/>
                <a:cs typeface="Calibri" pitchFamily="34" charset="-120"/>
              </a:rPr>
              <a:t>Chiffres clés du secteur</a:t>
            </a:r>
          </a:p>
        </p:txBody>
      </p:sp>
      <p:graphicFrame>
        <p:nvGraphicFramePr>
          <p:cNvPr id="388" name="Table"/>
          <p:cNvGraphicFramePr>
            <a:graphicFrameLocks noGrp="1"/>
          </p:cNvGraphicFramePr>
          <p:nvPr/>
        </p:nvGraphicFramePr>
        <p:xfrm>
          <a:off x="320040" y="4462272"/>
          <a:ext cx="5760720" cy="1691640"/>
        </p:xfrm>
        <a:graphic>
          <a:graphicData uri="http://schemas.openxmlformats.org/drawingml/2006/table">
            <a:tbl>
              <a:tblPr/>
              <a:tblGrid>
                <a:gridCol w="3760720"/>
                <a:gridCol w="2000000"/>
              </a:tblGrid>
              <a:tr h="338328">
                <a:tc>
                  <a:txBody>
                    <a:bodyPr/>
                    <a:lstStyle/>
                    <a:p>
                      <a:pPr marL="0" indent="0" algn="ctr">
                        <a:buNone/>
                      </a:pPr>
                      <a:r>
                        <a:rPr lang="en-US" sz="1000" b="1" dirty="0">
                          <a:solidFill>
                            <a:srgbClr val="FFFFFF"/>
                          </a:solidFill>
                        </a:rPr>
                        <a:t>Indicateur</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lgn="ctr">
                        <a:buNone/>
                      </a:pPr>
                      <a:r>
                        <a:rPr lang="en-US" sz="1000" b="1" dirty="0">
                          <a:solidFill>
                            <a:srgbClr val="FFFFFF"/>
                          </a:solidFill>
                        </a:rPr>
                        <a:t>Valeur</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r>
              <a:tr h="338328">
                <a:tc>
                  <a:txBody>
                    <a:bodyPr/>
                    <a:lstStyle/>
                    <a:p>
                      <a:pPr marL="0" indent="0">
                        <a:buNone/>
                      </a:pPr>
                      <a:r>
                        <a:rPr lang="en-US" sz="950" dirty="0">
                          <a:solidFill>
                            <a:srgbClr val="334155"/>
                          </a:solidFill>
                        </a:rPr>
                        <a:t>Volume total pétrole (imp+exp)</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334155"/>
                          </a:solidFill>
                        </a:rPr>
                        <a:t>~2,4 M T</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buNone/>
                      </a:pPr>
                      <a:r>
                        <a:rPr lang="en-US" sz="950" dirty="0">
                          <a:solidFill>
                            <a:srgbClr val="334155"/>
                          </a:solidFill>
                        </a:rPr>
                        <a:t>Import hydrocarbures</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334155"/>
                          </a:solidFill>
                        </a:rPr>
                        <a:t>~1,8 M T</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buNone/>
                      </a:pPr>
                      <a:r>
                        <a:rPr lang="en-US" sz="950" dirty="0">
                          <a:solidFill>
                            <a:srgbClr val="334155"/>
                          </a:solidFill>
                        </a:rPr>
                        <a:t>Export brut / gaz CI</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334155"/>
                          </a:solidFill>
                        </a:rPr>
                        <a:t>~620 000 T</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buNone/>
                      </a:pPr>
                      <a:r>
                        <a:rPr lang="en-US" sz="950" dirty="0">
                          <a:solidFill>
                            <a:srgbClr val="334155"/>
                          </a:solidFill>
                        </a:rPr>
                        <a:t>PDM AGL secteur</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334155"/>
                          </a:solidFill>
                        </a:rPr>
                        <a:t>~4,2 %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389" name="Text"/>
          <p:cNvSpPr/>
          <p:nvPr/>
        </p:nvSpPr>
        <p:spPr>
          <a:xfrm>
            <a:off x="6309360" y="1143000"/>
            <a:ext cx="5486400" cy="274320"/>
          </a:xfrm>
          <a:prstGeom prst="rect">
            <a:avLst/>
          </a:prstGeom>
          <a:noFill/>
          <a:ln/>
        </p:spPr>
        <p:txBody>
          <a:bodyPr wrap="square" rtlCol="0" anchor="t"/>
          <a:lstStyle/>
          <a:p>
            <a:pPr marL="0" indent="0">
              <a:buNone/>
            </a:pPr>
            <a:r>
              <a:rPr lang="en-US" sz="1200" b="1" dirty="0">
                <a:solidFill>
                  <a:srgbClr val="0A2240"/>
                </a:solidFill>
                <a:latin typeface="Calibri" pitchFamily="34" charset="0"/>
                <a:ea typeface="Calibri" pitchFamily="34" charset="-122"/>
                <a:cs typeface="Calibri" pitchFamily="34" charset="-120"/>
              </a:rPr>
              <a:t>Position AGL dans le secteur pétrolier</a:t>
            </a:r>
          </a:p>
        </p:txBody>
      </p:sp>
      <p:sp>
        <p:nvSpPr>
          <p:cNvPr id="390" name="Shape"/>
          <p:cNvSpPr/>
          <p:nvPr/>
        </p:nvSpPr>
        <p:spPr>
          <a:xfrm>
            <a:off x="6309360" y="1444752"/>
            <a:ext cx="5577840" cy="411480"/>
          </a:xfrm>
          <a:prstGeom prst="roundRect">
            <a:avLst>
              <a:gd name="adj" fmla="val 8889"/>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391" name="Text"/>
          <p:cNvSpPr/>
          <p:nvPr/>
        </p:nvSpPr>
        <p:spPr>
          <a:xfrm>
            <a:off x="6446520" y="1444752"/>
            <a:ext cx="2377440" cy="411480"/>
          </a:xfrm>
          <a:prstGeom prst="rect">
            <a:avLst/>
          </a:prstGeom>
          <a:noFill/>
          <a:ln/>
        </p:spPr>
        <p:txBody>
          <a:bodyPr wrap="square" rtlCol="0" anchor="ctr"/>
          <a:lstStyle/>
          <a:p>
            <a:pPr marL="0" indent="0">
              <a:buNone/>
            </a:pPr>
            <a:r>
              <a:rPr lang="en-US" sz="900" b="1" dirty="0">
                <a:solidFill>
                  <a:srgbClr val="334155"/>
                </a:solidFill>
                <a:latin typeface="Calibri" pitchFamily="34" charset="0"/>
                <a:ea typeface="Calibri" pitchFamily="34" charset="-122"/>
                <a:cs typeface="Calibri" pitchFamily="34" charset="-120"/>
              </a:rPr>
              <a:t>SIR CI – transit &amp; manut.</a:t>
            </a:r>
          </a:p>
        </p:txBody>
      </p:sp>
      <p:sp>
        <p:nvSpPr>
          <p:cNvPr id="392" name="Text"/>
          <p:cNvSpPr/>
          <p:nvPr/>
        </p:nvSpPr>
        <p:spPr>
          <a:xfrm>
            <a:off x="8823960" y="1444752"/>
            <a:ext cx="1417320" cy="41148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~480 000 T</a:t>
            </a:r>
          </a:p>
        </p:txBody>
      </p:sp>
      <p:sp>
        <p:nvSpPr>
          <p:cNvPr id="393" name="Text"/>
          <p:cNvSpPr/>
          <p:nvPr/>
        </p:nvSpPr>
        <p:spPr>
          <a:xfrm>
            <a:off x="10241280" y="1444752"/>
            <a:ext cx="1481328" cy="411480"/>
          </a:xfrm>
          <a:prstGeom prst="rect">
            <a:avLst/>
          </a:prstGeom>
          <a:noFill/>
          <a:ln/>
        </p:spPr>
        <p:txBody>
          <a:bodyPr wrap="square" rtlCol="0" anchor="ctr"/>
          <a:lstStyle/>
          <a:p>
            <a:pPr marL="0" indent="0" algn="r">
              <a:buNone/>
            </a:pPr>
            <a:r>
              <a:rPr lang="en-US" sz="900" b="1" dirty="0">
                <a:solidFill>
                  <a:srgbClr val="16A34A"/>
                </a:solidFill>
                <a:latin typeface="Calibri" pitchFamily="34" charset="0"/>
                <a:ea typeface="Calibri" pitchFamily="34" charset="-122"/>
                <a:cs typeface="Calibri" pitchFamily="34" charset="-120"/>
              </a:rPr>
              <a:t>✓ ACTIF</a:t>
            </a:r>
          </a:p>
        </p:txBody>
      </p:sp>
      <p:sp>
        <p:nvSpPr>
          <p:cNvPr id="394" name="Shape"/>
          <p:cNvSpPr/>
          <p:nvPr/>
        </p:nvSpPr>
        <p:spPr>
          <a:xfrm>
            <a:off x="6309360" y="1901952"/>
            <a:ext cx="5577840" cy="411480"/>
          </a:xfrm>
          <a:prstGeom prst="roundRect">
            <a:avLst>
              <a:gd name="adj" fmla="val 8889"/>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395" name="Text"/>
          <p:cNvSpPr/>
          <p:nvPr/>
        </p:nvSpPr>
        <p:spPr>
          <a:xfrm>
            <a:off x="6446520" y="1901952"/>
            <a:ext cx="2377440" cy="411480"/>
          </a:xfrm>
          <a:prstGeom prst="rect">
            <a:avLst/>
          </a:prstGeom>
          <a:noFill/>
          <a:ln/>
        </p:spPr>
        <p:txBody>
          <a:bodyPr wrap="square" rtlCol="0" anchor="ctr"/>
          <a:lstStyle/>
          <a:p>
            <a:pPr marL="0" indent="0">
              <a:buNone/>
            </a:pPr>
            <a:r>
              <a:rPr lang="en-US" sz="900" b="1" dirty="0">
                <a:solidFill>
                  <a:srgbClr val="334155"/>
                </a:solidFill>
                <a:latin typeface="Calibri" pitchFamily="34" charset="0"/>
                <a:ea typeface="Calibri" pitchFamily="34" charset="-122"/>
                <a:cs typeface="Calibri" pitchFamily="34" charset="-120"/>
              </a:rPr>
              <a:t>FOXTROT – export offshore</a:t>
            </a:r>
          </a:p>
        </p:txBody>
      </p:sp>
      <p:sp>
        <p:nvSpPr>
          <p:cNvPr id="396" name="Text"/>
          <p:cNvSpPr/>
          <p:nvPr/>
        </p:nvSpPr>
        <p:spPr>
          <a:xfrm>
            <a:off x="8823960" y="1901952"/>
            <a:ext cx="1417320" cy="41148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~160 000 T</a:t>
            </a:r>
          </a:p>
        </p:txBody>
      </p:sp>
      <p:sp>
        <p:nvSpPr>
          <p:cNvPr id="397" name="Text"/>
          <p:cNvSpPr/>
          <p:nvPr/>
        </p:nvSpPr>
        <p:spPr>
          <a:xfrm>
            <a:off x="10241280" y="1901952"/>
            <a:ext cx="1481328" cy="411480"/>
          </a:xfrm>
          <a:prstGeom prst="rect">
            <a:avLst/>
          </a:prstGeom>
          <a:noFill/>
          <a:ln/>
        </p:spPr>
        <p:txBody>
          <a:bodyPr wrap="square" rtlCol="0" anchor="ctr"/>
          <a:lstStyle/>
          <a:p>
            <a:pPr marL="0" indent="0" algn="r">
              <a:buNone/>
            </a:pPr>
            <a:r>
              <a:rPr lang="en-US" sz="900" b="1" dirty="0">
                <a:solidFill>
                  <a:srgbClr val="16A34A"/>
                </a:solidFill>
                <a:latin typeface="Calibri" pitchFamily="34" charset="0"/>
                <a:ea typeface="Calibri" pitchFamily="34" charset="-122"/>
                <a:cs typeface="Calibri" pitchFamily="34" charset="-120"/>
              </a:rPr>
              <a:t>✓ ACTIF</a:t>
            </a:r>
          </a:p>
        </p:txBody>
      </p:sp>
      <p:sp>
        <p:nvSpPr>
          <p:cNvPr id="398" name="Shape"/>
          <p:cNvSpPr/>
          <p:nvPr/>
        </p:nvSpPr>
        <p:spPr>
          <a:xfrm>
            <a:off x="6309360" y="2359152"/>
            <a:ext cx="5577840" cy="411480"/>
          </a:xfrm>
          <a:prstGeom prst="roundRect">
            <a:avLst>
              <a:gd name="adj" fmla="val 8889"/>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399" name="Text"/>
          <p:cNvSpPr/>
          <p:nvPr/>
        </p:nvSpPr>
        <p:spPr>
          <a:xfrm>
            <a:off x="6446520" y="2359152"/>
            <a:ext cx="2377440" cy="411480"/>
          </a:xfrm>
          <a:prstGeom prst="rect">
            <a:avLst/>
          </a:prstGeom>
          <a:noFill/>
          <a:ln/>
        </p:spPr>
        <p:txBody>
          <a:bodyPr wrap="square" rtlCol="0" anchor="ctr"/>
          <a:lstStyle/>
          <a:p>
            <a:pPr marL="0" indent="0">
              <a:buNone/>
            </a:pPr>
            <a:r>
              <a:rPr lang="en-US" sz="900" b="1" dirty="0">
                <a:solidFill>
                  <a:srgbClr val="334155"/>
                </a:solidFill>
                <a:latin typeface="Calibri" pitchFamily="34" charset="0"/>
                <a:ea typeface="Calibri" pitchFamily="34" charset="-122"/>
                <a:cs typeface="Calibri" pitchFamily="34" charset="-120"/>
              </a:rPr>
              <a:t>TOTAL CI – consign. tankers</a:t>
            </a:r>
          </a:p>
        </p:txBody>
      </p:sp>
      <p:sp>
        <p:nvSpPr>
          <p:cNvPr id="400" name="Text"/>
          <p:cNvSpPr/>
          <p:nvPr/>
        </p:nvSpPr>
        <p:spPr>
          <a:xfrm>
            <a:off x="8823960" y="2359152"/>
            <a:ext cx="1417320" cy="41148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~320 000 T</a:t>
            </a:r>
          </a:p>
        </p:txBody>
      </p:sp>
      <p:sp>
        <p:nvSpPr>
          <p:cNvPr id="401" name="Text"/>
          <p:cNvSpPr/>
          <p:nvPr/>
        </p:nvSpPr>
        <p:spPr>
          <a:xfrm>
            <a:off x="10241280" y="2359152"/>
            <a:ext cx="1481328" cy="411480"/>
          </a:xfrm>
          <a:prstGeom prst="rect">
            <a:avLst/>
          </a:prstGeom>
          <a:noFill/>
          <a:ln/>
        </p:spPr>
        <p:txBody>
          <a:bodyPr wrap="square" rtlCol="0" anchor="ctr"/>
          <a:lstStyle/>
          <a:p>
            <a:pPr marL="0" indent="0" algn="r">
              <a:buNone/>
            </a:pPr>
            <a:r>
              <a:rPr lang="en-US" sz="900" b="1" dirty="0">
                <a:solidFill>
                  <a:srgbClr val="0891B2"/>
                </a:solidFill>
                <a:latin typeface="Calibri" pitchFamily="34" charset="0"/>
                <a:ea typeface="Calibri" pitchFamily="34" charset="-122"/>
                <a:cs typeface="Calibri" pitchFamily="34" charset="-120"/>
              </a:rPr>
              <a:t>PARTIEL</a:t>
            </a:r>
          </a:p>
        </p:txBody>
      </p:sp>
      <p:sp>
        <p:nvSpPr>
          <p:cNvPr id="402" name="Shape"/>
          <p:cNvSpPr/>
          <p:nvPr/>
        </p:nvSpPr>
        <p:spPr>
          <a:xfrm>
            <a:off x="6309360" y="2816352"/>
            <a:ext cx="5577840" cy="411480"/>
          </a:xfrm>
          <a:prstGeom prst="roundRect">
            <a:avLst>
              <a:gd name="adj" fmla="val 8889"/>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403" name="Text"/>
          <p:cNvSpPr/>
          <p:nvPr/>
        </p:nvSpPr>
        <p:spPr>
          <a:xfrm>
            <a:off x="6446520" y="2816352"/>
            <a:ext cx="2377440" cy="411480"/>
          </a:xfrm>
          <a:prstGeom prst="rect">
            <a:avLst/>
          </a:prstGeom>
          <a:noFill/>
          <a:ln/>
        </p:spPr>
        <p:txBody>
          <a:bodyPr wrap="square" rtlCol="0" anchor="ctr"/>
          <a:lstStyle/>
          <a:p>
            <a:pPr marL="0" indent="0">
              <a:buNone/>
            </a:pPr>
            <a:r>
              <a:rPr lang="en-US" sz="900" b="1" dirty="0">
                <a:solidFill>
                  <a:srgbClr val="334155"/>
                </a:solidFill>
                <a:latin typeface="Calibri" pitchFamily="34" charset="0"/>
                <a:ea typeface="Calibri" pitchFamily="34" charset="-122"/>
                <a:cs typeface="Calibri" pitchFamily="34" charset="-120"/>
              </a:rPr>
              <a:t>VIVO ENERGY</a:t>
            </a:r>
          </a:p>
        </p:txBody>
      </p:sp>
      <p:sp>
        <p:nvSpPr>
          <p:cNvPr id="404" name="Text"/>
          <p:cNvSpPr/>
          <p:nvPr/>
        </p:nvSpPr>
        <p:spPr>
          <a:xfrm>
            <a:off x="8823960" y="2816352"/>
            <a:ext cx="1417320" cy="41148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~280 000 T</a:t>
            </a:r>
          </a:p>
        </p:txBody>
      </p:sp>
      <p:sp>
        <p:nvSpPr>
          <p:cNvPr id="405" name="Text"/>
          <p:cNvSpPr/>
          <p:nvPr/>
        </p:nvSpPr>
        <p:spPr>
          <a:xfrm>
            <a:off x="10241280" y="2816352"/>
            <a:ext cx="1481328" cy="411480"/>
          </a:xfrm>
          <a:prstGeom prst="rect">
            <a:avLst/>
          </a:prstGeom>
          <a:noFill/>
          <a:ln/>
        </p:spPr>
        <p:txBody>
          <a:bodyPr wrap="square" rtlCol="0" anchor="ctr"/>
          <a:lstStyle/>
          <a:p>
            <a:pPr marL="0" indent="0" algn="r">
              <a:buNone/>
            </a:pPr>
            <a:r>
              <a:rPr lang="en-US" sz="900" b="1" dirty="0">
                <a:solidFill>
                  <a:srgbClr val="0891B2"/>
                </a:solidFill>
                <a:latin typeface="Calibri" pitchFamily="34" charset="0"/>
                <a:ea typeface="Calibri" pitchFamily="34" charset="-122"/>
                <a:cs typeface="Calibri" pitchFamily="34" charset="-120"/>
              </a:rPr>
              <a:t>PARTIEL</a:t>
            </a:r>
          </a:p>
        </p:txBody>
      </p:sp>
      <p:sp>
        <p:nvSpPr>
          <p:cNvPr id="406" name="Shape"/>
          <p:cNvSpPr/>
          <p:nvPr/>
        </p:nvSpPr>
        <p:spPr>
          <a:xfrm>
            <a:off x="6309360" y="3273552"/>
            <a:ext cx="5577840" cy="411480"/>
          </a:xfrm>
          <a:prstGeom prst="roundRect">
            <a:avLst>
              <a:gd name="adj" fmla="val 8889"/>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407" name="Text"/>
          <p:cNvSpPr/>
          <p:nvPr/>
        </p:nvSpPr>
        <p:spPr>
          <a:xfrm>
            <a:off x="6446520" y="3273552"/>
            <a:ext cx="2377440" cy="411480"/>
          </a:xfrm>
          <a:prstGeom prst="rect">
            <a:avLst/>
          </a:prstGeom>
          <a:noFill/>
          <a:ln/>
        </p:spPr>
        <p:txBody>
          <a:bodyPr wrap="square" rtlCol="0" anchor="ctr"/>
          <a:lstStyle/>
          <a:p>
            <a:pPr marL="0" indent="0">
              <a:buNone/>
            </a:pPr>
            <a:r>
              <a:rPr lang="en-US" sz="900" b="1" dirty="0">
                <a:solidFill>
                  <a:srgbClr val="334155"/>
                </a:solidFill>
                <a:latin typeface="Calibri" pitchFamily="34" charset="0"/>
                <a:ea typeface="Calibri" pitchFamily="34" charset="-122"/>
                <a:cs typeface="Calibri" pitchFamily="34" charset="-120"/>
              </a:rPr>
              <a:t>PETRO IVOIRE</a:t>
            </a:r>
          </a:p>
        </p:txBody>
      </p:sp>
      <p:sp>
        <p:nvSpPr>
          <p:cNvPr id="408" name="Text"/>
          <p:cNvSpPr/>
          <p:nvPr/>
        </p:nvSpPr>
        <p:spPr>
          <a:xfrm>
            <a:off x="8823960" y="3273552"/>
            <a:ext cx="1417320" cy="41148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~190 000 T</a:t>
            </a:r>
          </a:p>
        </p:txBody>
      </p:sp>
      <p:sp>
        <p:nvSpPr>
          <p:cNvPr id="409" name="Text"/>
          <p:cNvSpPr/>
          <p:nvPr/>
        </p:nvSpPr>
        <p:spPr>
          <a:xfrm>
            <a:off x="10241280" y="3273552"/>
            <a:ext cx="1481328" cy="411480"/>
          </a:xfrm>
          <a:prstGeom prst="rect">
            <a:avLst/>
          </a:prstGeom>
          <a:noFill/>
          <a:ln/>
        </p:spPr>
        <p:txBody>
          <a:bodyPr wrap="square" rtlCol="0" anchor="ctr"/>
          <a:lstStyle/>
          <a:p>
            <a:pPr marL="0" indent="0" algn="r">
              <a:buNone/>
            </a:pPr>
            <a:r>
              <a:rPr lang="en-US" sz="900" b="1" dirty="0">
                <a:solidFill>
                  <a:srgbClr val="DC2626"/>
                </a:solidFill>
                <a:latin typeface="Calibri" pitchFamily="34" charset="0"/>
                <a:ea typeface="Calibri" pitchFamily="34" charset="-122"/>
                <a:cs typeface="Calibri" pitchFamily="34" charset="-120"/>
              </a:rPr>
              <a:t>✗ NON CAPTÉ</a:t>
            </a:r>
          </a:p>
        </p:txBody>
      </p:sp>
      <p:sp>
        <p:nvSpPr>
          <p:cNvPr id="410" name="Shape"/>
          <p:cNvSpPr/>
          <p:nvPr/>
        </p:nvSpPr>
        <p:spPr>
          <a:xfrm>
            <a:off x="6309360" y="3730752"/>
            <a:ext cx="5577840" cy="411480"/>
          </a:xfrm>
          <a:prstGeom prst="roundRect">
            <a:avLst>
              <a:gd name="adj" fmla="val 8889"/>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411" name="Text"/>
          <p:cNvSpPr/>
          <p:nvPr/>
        </p:nvSpPr>
        <p:spPr>
          <a:xfrm>
            <a:off x="6446520" y="3730752"/>
            <a:ext cx="2377440" cy="411480"/>
          </a:xfrm>
          <a:prstGeom prst="rect">
            <a:avLst/>
          </a:prstGeom>
          <a:noFill/>
          <a:ln/>
        </p:spPr>
        <p:txBody>
          <a:bodyPr wrap="square" rtlCol="0" anchor="ctr"/>
          <a:lstStyle/>
          <a:p>
            <a:pPr marL="0" indent="0">
              <a:buNone/>
            </a:pPr>
            <a:r>
              <a:rPr lang="en-US" sz="900" b="1" dirty="0">
                <a:solidFill>
                  <a:srgbClr val="334155"/>
                </a:solidFill>
                <a:latin typeface="Calibri" pitchFamily="34" charset="0"/>
                <a:ea typeface="Calibri" pitchFamily="34" charset="-122"/>
                <a:cs typeface="Calibri" pitchFamily="34" charset="-120"/>
              </a:rPr>
              <a:t>ORYX CI</a:t>
            </a:r>
          </a:p>
        </p:txBody>
      </p:sp>
      <p:sp>
        <p:nvSpPr>
          <p:cNvPr id="412" name="Text"/>
          <p:cNvSpPr/>
          <p:nvPr/>
        </p:nvSpPr>
        <p:spPr>
          <a:xfrm>
            <a:off x="8823960" y="3730752"/>
            <a:ext cx="1417320" cy="41148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~140 000 T</a:t>
            </a:r>
          </a:p>
        </p:txBody>
      </p:sp>
      <p:sp>
        <p:nvSpPr>
          <p:cNvPr id="413" name="Text"/>
          <p:cNvSpPr/>
          <p:nvPr/>
        </p:nvSpPr>
        <p:spPr>
          <a:xfrm>
            <a:off x="10241280" y="3730752"/>
            <a:ext cx="1481328" cy="411480"/>
          </a:xfrm>
          <a:prstGeom prst="rect">
            <a:avLst/>
          </a:prstGeom>
          <a:noFill/>
          <a:ln/>
        </p:spPr>
        <p:txBody>
          <a:bodyPr wrap="square" rtlCol="0" anchor="ctr"/>
          <a:lstStyle/>
          <a:p>
            <a:pPr marL="0" indent="0" algn="r">
              <a:buNone/>
            </a:pPr>
            <a:r>
              <a:rPr lang="en-US" sz="900" b="1" dirty="0">
                <a:solidFill>
                  <a:srgbClr val="DC2626"/>
                </a:solidFill>
                <a:latin typeface="Calibri" pitchFamily="34" charset="0"/>
                <a:ea typeface="Calibri" pitchFamily="34" charset="-122"/>
                <a:cs typeface="Calibri" pitchFamily="34" charset="-120"/>
              </a:rPr>
              <a:t>✗ NON CAPTÉ</a:t>
            </a:r>
          </a:p>
        </p:txBody>
      </p:sp>
      <p:sp>
        <p:nvSpPr>
          <p:cNvPr id="414" name="Shape"/>
          <p:cNvSpPr/>
          <p:nvPr/>
        </p:nvSpPr>
        <p:spPr>
          <a:xfrm>
            <a:off x="6309360" y="4343400"/>
            <a:ext cx="5577840" cy="1188720"/>
          </a:xfrm>
          <a:prstGeom prst="roundRect">
            <a:avLst>
              <a:gd name="adj" fmla="val 8000"/>
            </a:avLst>
          </a:prstGeom>
          <a:solidFill>
            <a:srgbClr val="FFF5E6"/>
          </a:solidFill>
          <a:ln/>
        </p:spPr>
        <p:txBody>
          <a:bodyPr/>
          <a:lstStyle/>
          <a:p>
            <a:endParaRPr lang="en-US"/>
          </a:p>
        </p:txBody>
      </p:sp>
      <p:sp>
        <p:nvSpPr>
          <p:cNvPr id="415" name="Text"/>
          <p:cNvSpPr/>
          <p:nvPr/>
        </p:nvSpPr>
        <p:spPr>
          <a:xfrm>
            <a:off x="6446520" y="4343400"/>
            <a:ext cx="5303520" cy="1188720"/>
          </a:xfrm>
          <a:prstGeom prst="rect">
            <a:avLst/>
          </a:prstGeom>
          <a:noFill/>
          <a:ln/>
        </p:spPr>
        <p:txBody>
          <a:bodyPr wrap="square" rtlCol="0" anchor="ctr"/>
          <a:lstStyle/>
          <a:p>
            <a:pPr marL="0" indent="0">
              <a:buNone/>
            </a:pPr>
            <a:r>
              <a:rPr lang="en-US" sz="950" b="1" dirty="0">
                <a:solidFill>
                  <a:srgbClr val="EA580C"/>
                </a:solidFill>
                <a:latin typeface="Calibri" pitchFamily="34" charset="0"/>
                <a:ea typeface="Calibri" pitchFamily="34" charset="-122"/>
                <a:cs typeface="Calibri" pitchFamily="34" charset="-120"/>
              </a:rPr>
              <a:t>🎯 CIBLE PÉTROLE : </a:t>
            </a:r>
            <a:r>
              <a:rPr lang="en-US" sz="950" dirty="0">
                <a:solidFill>
                  <a:srgbClr val="334155"/>
                </a:solidFill>
                <a:latin typeface="Calibri" pitchFamily="34" charset="0"/>
                <a:ea typeface="Calibri" pitchFamily="34" charset="-122"/>
                <a:cs typeface="Calibri" pitchFamily="34" charset="-120"/>
              </a:rPr>
              <a:t>PDM AGL secteur ~4,2%. Présence établie sur SIR CI et Foxtrot. Potentiel non capté : ~330 000 T chez Petro Ivoire + Oryx = +4 pts de PDM secteur. Plan d'approche commercial S2 2026 recommandé (offre intégrée DSM + transit).</a:t>
            </a:r>
          </a:p>
        </p:txBody>
      </p:sp>
      <p:sp>
        <p:nvSpPr>
          <p:cNvPr id="416" name="Text"/>
          <p:cNvSpPr/>
          <p:nvPr/>
        </p:nvSpPr>
        <p:spPr>
          <a:xfrm>
            <a:off x="365760" y="6601968"/>
            <a:ext cx="11430000" cy="201168"/>
          </a:xfrm>
          <a:prstGeom prst="rect">
            <a:avLst/>
          </a:prstGeom>
          <a:noFill/>
          <a:ln/>
        </p:spPr>
        <p:txBody>
          <a:bodyPr wrap="square" rtlCol="0" anchor="t"/>
          <a:lstStyle/>
          <a:p>
            <a:pPr marL="0" indent="0" algn="ctr">
              <a:buNone/>
            </a:pPr>
            <a:r>
              <a:rPr lang="en-US" sz="850" dirty="0">
                <a:solidFill>
                  <a:srgbClr val="64748B"/>
                </a:solidFill>
                <a:latin typeface="Calibri" pitchFamily="34" charset="0"/>
                <a:ea typeface="Calibri" pitchFamily="34" charset="-122"/>
                <a:cs typeface="Calibri" pitchFamily="34" charset="-120"/>
              </a:rPr>
              <a:t>Africa Global Logistics – Étude de Marché Jan–Mai 2026  |  p.28</a:t>
            </a:r>
          </a:p>
        </p:txBody>
      </p:sp>
      <p:pic>
        <p:nvPicPr>
          <p:cNvPr id="417" name="Image logo"/>
          <p:cNvPicPr>
            <a:picLocks noChangeAspect="1"/>
          </p:cNvPicPr>
          <p:nvPr/>
        </p:nvPicPr>
        <p:blipFill>
          <a:blip r:embed="rId3" cstate="screen"/>
          <a:stretch>
            <a:fillRect/>
          </a:stretch>
        </p:blipFill>
        <p:spPr>
          <a:xfrm>
            <a:off x="11488450" y="6549898"/>
            <a:ext cx="450027" cy="292409"/>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Focus Minier">
    <p:bg>
      <p:bgPr>
        <a:solidFill>
          <a:srgbClr val="FFFFFF"/>
        </a:solidFill>
        <a:effectLst/>
      </p:bgPr>
    </p:bg>
    <p:spTree>
      <p:nvGrpSpPr>
        <p:cNvPr id="1" name=""/>
        <p:cNvGrpSpPr/>
        <p:nvPr/>
      </p:nvGrpSpPr>
      <p:grpSpPr>
        <a:xfrm>
          <a:off x="0" y="0"/>
          <a:ext cx="0" cy="0"/>
          <a:chOff x="0" y="0"/>
          <a:chExt cx="0" cy="0"/>
        </a:xfrm>
      </p:grpSpPr>
      <p:sp>
        <p:nvSpPr>
          <p:cNvPr id="418" name="Shape"/>
          <p:cNvSpPr/>
          <p:nvPr/>
        </p:nvSpPr>
        <p:spPr>
          <a:xfrm>
            <a:off x="0" y="0"/>
            <a:ext cx="12161520" cy="1051560"/>
          </a:xfrm>
          <a:prstGeom prst="rect">
            <a:avLst/>
          </a:prstGeom>
          <a:solidFill>
            <a:srgbClr val="0A2240"/>
          </a:solidFill>
          <a:ln w="12700">
            <a:solidFill>
              <a:srgbClr val="0A2240"/>
            </a:solidFill>
            <a:prstDash val="solid"/>
          </a:ln>
        </p:spPr>
        <p:txBody>
          <a:bodyPr/>
          <a:lstStyle/>
          <a:p>
            <a:endParaRPr lang="en-US"/>
          </a:p>
        </p:txBody>
      </p:sp>
      <p:sp>
        <p:nvSpPr>
          <p:cNvPr id="419" name="Text"/>
          <p:cNvSpPr/>
          <p:nvPr/>
        </p:nvSpPr>
        <p:spPr>
          <a:xfrm>
            <a:off x="365760" y="54864"/>
            <a:ext cx="11430000" cy="65836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FOCUS SECTORIEL – MINIER  |  Position AGL</a:t>
            </a:r>
          </a:p>
        </p:txBody>
      </p:sp>
      <p:sp>
        <p:nvSpPr>
          <p:cNvPr id="420" name="Text"/>
          <p:cNvSpPr/>
          <p:nvPr/>
        </p:nvSpPr>
        <p:spPr>
          <a:xfrm>
            <a:off x="365760" y="676656"/>
            <a:ext cx="11430000" cy="329184"/>
          </a:xfrm>
          <a:prstGeom prst="rect">
            <a:avLst/>
          </a:prstGeom>
          <a:noFill/>
          <a:ln/>
        </p:spPr>
        <p:txBody>
          <a:bodyPr wrap="square" rtlCol="0" anchor="t"/>
          <a:lstStyle/>
          <a:p>
            <a:pPr marL="0" indent="0">
              <a:buNone/>
            </a:pPr>
            <a:r>
              <a:rPr lang="en-US" sz="1200" i="1" dirty="0">
                <a:solidFill>
                  <a:srgbClr val="C8A951"/>
                </a:solidFill>
                <a:latin typeface="Calibri" pitchFamily="34" charset="0"/>
                <a:ea typeface="Calibri" pitchFamily="34" charset="-122"/>
                <a:cs typeface="Calibri" pitchFamily="34" charset="-120"/>
              </a:rPr>
              <a:t>Or, Manganèse, Nickel, Lithium  |  Import matériels + Export minerais  |  28 projets actifs  |  Jan–Mai 2026</a:t>
            </a:r>
          </a:p>
        </p:txBody>
      </p:sp>
      <p:sp>
        <p:nvSpPr>
          <p:cNvPr id="421" name="Text"/>
          <p:cNvSpPr/>
          <p:nvPr/>
        </p:nvSpPr>
        <p:spPr>
          <a:xfrm>
            <a:off x="320040" y="1143000"/>
            <a:ext cx="5943600" cy="274320"/>
          </a:xfrm>
          <a:prstGeom prst="rect">
            <a:avLst/>
          </a:prstGeom>
          <a:noFill/>
          <a:ln/>
        </p:spPr>
        <p:txBody>
          <a:bodyPr wrap="square" rtlCol="0" anchor="t"/>
          <a:lstStyle/>
          <a:p>
            <a:pPr marL="0" indent="0">
              <a:buNone/>
            </a:pPr>
            <a:r>
              <a:rPr lang="en-US" sz="1200" b="1" dirty="0">
                <a:solidFill>
                  <a:srgbClr val="0A2240"/>
                </a:solidFill>
                <a:latin typeface="Calibri" pitchFamily="34" charset="0"/>
                <a:ea typeface="Calibri" pitchFamily="34" charset="-122"/>
                <a:cs typeface="Calibri" pitchFamily="34" charset="-120"/>
              </a:rPr>
              <a:t>Opérateurs miniers – Flux Abidjan (B/L)</a:t>
            </a:r>
          </a:p>
        </p:txBody>
      </p:sp>
      <p:graphicFrame>
        <p:nvGraphicFramePr>
          <p:cNvPr id="422" name="Table"/>
          <p:cNvGraphicFramePr>
            <a:graphicFrameLocks noGrp="1"/>
          </p:cNvGraphicFramePr>
          <p:nvPr/>
        </p:nvGraphicFramePr>
        <p:xfrm>
          <a:off x="320040" y="1444752"/>
          <a:ext cx="5760720" cy="2706624"/>
        </p:xfrm>
        <a:graphic>
          <a:graphicData uri="http://schemas.openxmlformats.org/drawingml/2006/table">
            <a:tbl>
              <a:tblPr/>
              <a:tblGrid>
                <a:gridCol w="2500000"/>
                <a:gridCol w="1000000"/>
                <a:gridCol w="1000000"/>
                <a:gridCol w="1260720"/>
              </a:tblGrid>
              <a:tr h="338328">
                <a:tc>
                  <a:txBody>
                    <a:bodyPr/>
                    <a:lstStyle/>
                    <a:p>
                      <a:pPr marL="0" indent="0" algn="ctr">
                        <a:buNone/>
                      </a:pPr>
                      <a:r>
                        <a:rPr lang="en-US" sz="1000" b="1" dirty="0">
                          <a:solidFill>
                            <a:srgbClr val="FFFFFF"/>
                          </a:solidFill>
                        </a:rPr>
                        <a:t>Opérateur</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lgn="ctr">
                        <a:buNone/>
                      </a:pPr>
                      <a:r>
                        <a:rPr lang="en-US" sz="1000" b="1" dirty="0">
                          <a:solidFill>
                            <a:srgbClr val="FFFFFF"/>
                          </a:solidFill>
                        </a:rPr>
                        <a:t>Import TEU</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lgn="ctr">
                        <a:buNone/>
                      </a:pPr>
                      <a:r>
                        <a:rPr lang="en-US" sz="1000" b="1" dirty="0">
                          <a:solidFill>
                            <a:srgbClr val="FFFFFF"/>
                          </a:solidFill>
                        </a:rPr>
                        <a:t>Export</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lgn="ctr">
                        <a:buNone/>
                      </a:pPr>
                      <a:r>
                        <a:rPr lang="en-US" sz="1000" b="1" dirty="0">
                          <a:solidFill>
                            <a:srgbClr val="FFFFFF"/>
                          </a:solidFill>
                        </a:rPr>
                        <a:t>AGL</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r>
              <a:tr h="338328">
                <a:tc>
                  <a:txBody>
                    <a:bodyPr/>
                    <a:lstStyle/>
                    <a:p>
                      <a:pPr marL="0" indent="0">
                        <a:buNone/>
                      </a:pPr>
                      <a:r>
                        <a:rPr lang="en-US" sz="950" dirty="0">
                          <a:solidFill>
                            <a:srgbClr val="334155"/>
                          </a:solidFill>
                        </a:rPr>
                        <a:t>K1 MINING SA CI</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1 840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~120 T</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16A34A"/>
                          </a:solidFill>
                        </a:rPr>
                        <a:t>✓ Client #1</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buNone/>
                      </a:pPr>
                      <a:r>
                        <a:rPr lang="en-US" sz="950" dirty="0">
                          <a:solidFill>
                            <a:srgbClr val="334155"/>
                          </a:solidFill>
                        </a:rPr>
                        <a:t>SMI (Syama)</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480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~80 T</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16A34A"/>
                          </a:solidFill>
                        </a:rPr>
                        <a:t>✓ Actif</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buNone/>
                      </a:pPr>
                      <a:r>
                        <a:rPr lang="en-US" sz="950" dirty="0">
                          <a:solidFill>
                            <a:srgbClr val="334155"/>
                          </a:solidFill>
                        </a:rPr>
                        <a:t>ENDEAVOUR MINING</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420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~65 T</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0891B2"/>
                          </a:solidFill>
                        </a:rPr>
                        <a:t>Partiel</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buNone/>
                      </a:pPr>
                      <a:r>
                        <a:rPr lang="en-US" sz="950" dirty="0">
                          <a:solidFill>
                            <a:srgbClr val="334155"/>
                          </a:solidFill>
                        </a:rPr>
                        <a:t>NEWCREST (Bonikro)</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340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~55 T</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0891B2"/>
                          </a:solidFill>
                        </a:rPr>
                        <a:t>Partiel</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buNone/>
                      </a:pPr>
                      <a:r>
                        <a:rPr lang="en-US" sz="950" dirty="0">
                          <a:solidFill>
                            <a:srgbClr val="334155"/>
                          </a:solidFill>
                        </a:rPr>
                        <a:t>SAMA NICKEL (SRG)</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280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DC2626"/>
                          </a:solidFill>
                        </a:rPr>
                        <a:t>✗ Non</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buNone/>
                      </a:pPr>
                      <a:r>
                        <a:rPr lang="en-US" sz="950" dirty="0">
                          <a:solidFill>
                            <a:srgbClr val="334155"/>
                          </a:solidFill>
                        </a:rPr>
                        <a:t>IVOIRE MANGANÈSE</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230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~180 T</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16A34A"/>
                          </a:solidFill>
                        </a:rPr>
                        <a:t>✓ Actif</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buNone/>
                      </a:pPr>
                      <a:r>
                        <a:rPr lang="en-US" sz="950" dirty="0">
                          <a:solidFill>
                            <a:srgbClr val="334155"/>
                          </a:solidFill>
                        </a:rPr>
                        <a:t>LITHIUM CÔTE D'IVOIRE</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160</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DC2626"/>
                          </a:solidFill>
                        </a:rPr>
                        <a:t>✗ Non</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423" name="Text"/>
          <p:cNvSpPr/>
          <p:nvPr/>
        </p:nvSpPr>
        <p:spPr>
          <a:xfrm>
            <a:off x="320040" y="4160520"/>
            <a:ext cx="5943600" cy="274320"/>
          </a:xfrm>
          <a:prstGeom prst="rect">
            <a:avLst/>
          </a:prstGeom>
          <a:noFill/>
          <a:ln/>
        </p:spPr>
        <p:txBody>
          <a:bodyPr wrap="square" rtlCol="0" anchor="t"/>
          <a:lstStyle/>
          <a:p>
            <a:pPr marL="0" indent="0">
              <a:buNone/>
            </a:pPr>
            <a:r>
              <a:rPr lang="en-US" sz="1200" b="1" dirty="0">
                <a:solidFill>
                  <a:srgbClr val="0A2240"/>
                </a:solidFill>
                <a:latin typeface="Calibri" pitchFamily="34" charset="0"/>
                <a:ea typeface="Calibri" pitchFamily="34" charset="-122"/>
                <a:cs typeface="Calibri" pitchFamily="34" charset="-120"/>
              </a:rPr>
              <a:t>Chiffres clés du secteur</a:t>
            </a:r>
          </a:p>
        </p:txBody>
      </p:sp>
      <p:graphicFrame>
        <p:nvGraphicFramePr>
          <p:cNvPr id="424" name="Table"/>
          <p:cNvGraphicFramePr>
            <a:graphicFrameLocks noGrp="1"/>
          </p:cNvGraphicFramePr>
          <p:nvPr/>
        </p:nvGraphicFramePr>
        <p:xfrm>
          <a:off x="320040" y="4462272"/>
          <a:ext cx="5760720" cy="1691640"/>
        </p:xfrm>
        <a:graphic>
          <a:graphicData uri="http://schemas.openxmlformats.org/drawingml/2006/table">
            <a:tbl>
              <a:tblPr/>
              <a:tblGrid>
                <a:gridCol w="3760720"/>
                <a:gridCol w="2000000"/>
              </a:tblGrid>
              <a:tr h="338328">
                <a:tc>
                  <a:txBody>
                    <a:bodyPr/>
                    <a:lstStyle/>
                    <a:p>
                      <a:pPr marL="0" indent="0" algn="ctr">
                        <a:buNone/>
                      </a:pPr>
                      <a:r>
                        <a:rPr lang="en-US" sz="1000" b="1" dirty="0">
                          <a:solidFill>
                            <a:srgbClr val="FFFFFF"/>
                          </a:solidFill>
                        </a:rPr>
                        <a:t>Indicateur</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lgn="ctr">
                        <a:buNone/>
                      </a:pPr>
                      <a:r>
                        <a:rPr lang="en-US" sz="1000" b="1" dirty="0">
                          <a:solidFill>
                            <a:srgbClr val="FFFFFF"/>
                          </a:solidFill>
                        </a:rPr>
                        <a:t>Valeur</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r>
              <a:tr h="338328">
                <a:tc>
                  <a:txBody>
                    <a:bodyPr/>
                    <a:lstStyle/>
                    <a:p>
                      <a:pPr marL="0" indent="0">
                        <a:buNone/>
                      </a:pPr>
                      <a:r>
                        <a:rPr lang="en-US" sz="950" dirty="0">
                          <a:solidFill>
                            <a:srgbClr val="334155"/>
                          </a:solidFill>
                        </a:rPr>
                        <a:t>Import matériels miniers (3 métiers)</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334155"/>
                          </a:solidFill>
                        </a:rPr>
                        <a:t>3 371 TEU</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buNone/>
                      </a:pPr>
                      <a:r>
                        <a:rPr lang="en-US" sz="950" dirty="0">
                          <a:solidFill>
                            <a:srgbClr val="334155"/>
                          </a:solidFill>
                        </a:rPr>
                        <a:t>Export minerais (Or, Manganèse)</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334155"/>
                          </a:solidFill>
                        </a:rPr>
                        <a:t>~850 T</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buNone/>
                      </a:pPr>
                      <a:r>
                        <a:rPr lang="en-US" sz="950" dirty="0">
                          <a:solidFill>
                            <a:srgbClr val="334155"/>
                          </a:solidFill>
                        </a:rPr>
                        <a:t>PDM AGL Mat. Miniers (pondérée)</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334155"/>
                          </a:solidFill>
                        </a:rPr>
                        <a:t>~58 %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buNone/>
                      </a:pPr>
                      <a:r>
                        <a:rPr lang="en-US" sz="950" dirty="0">
                          <a:solidFill>
                            <a:srgbClr val="334155"/>
                          </a:solidFill>
                        </a:rPr>
                        <a:t>Projets miniers actifs CI</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334155"/>
                          </a:solidFill>
                        </a:rPr>
                        <a:t>28</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425" name="Text"/>
          <p:cNvSpPr/>
          <p:nvPr/>
        </p:nvSpPr>
        <p:spPr>
          <a:xfrm>
            <a:off x="6309360" y="1143000"/>
            <a:ext cx="5486400" cy="274320"/>
          </a:xfrm>
          <a:prstGeom prst="rect">
            <a:avLst/>
          </a:prstGeom>
          <a:noFill/>
          <a:ln/>
        </p:spPr>
        <p:txBody>
          <a:bodyPr wrap="square" rtlCol="0" anchor="t"/>
          <a:lstStyle/>
          <a:p>
            <a:pPr marL="0" indent="0">
              <a:buNone/>
            </a:pPr>
            <a:r>
              <a:rPr lang="en-US" sz="1200" b="1" dirty="0">
                <a:solidFill>
                  <a:srgbClr val="0A2240"/>
                </a:solidFill>
                <a:latin typeface="Calibri" pitchFamily="34" charset="0"/>
                <a:ea typeface="Calibri" pitchFamily="34" charset="-122"/>
                <a:cs typeface="Calibri" pitchFamily="34" charset="-120"/>
              </a:rPr>
              <a:t>PDM AGL Matériels Miniers par métier</a:t>
            </a:r>
          </a:p>
        </p:txBody>
      </p:sp>
      <p:sp>
        <p:nvSpPr>
          <p:cNvPr id="426" name="Shape"/>
          <p:cNvSpPr/>
          <p:nvPr/>
        </p:nvSpPr>
        <p:spPr>
          <a:xfrm>
            <a:off x="6309360" y="1444752"/>
            <a:ext cx="5577840" cy="411480"/>
          </a:xfrm>
          <a:prstGeom prst="roundRect">
            <a:avLst>
              <a:gd name="adj" fmla="val 8889"/>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427" name="Text"/>
          <p:cNvSpPr/>
          <p:nvPr/>
        </p:nvSpPr>
        <p:spPr>
          <a:xfrm>
            <a:off x="6446520" y="1444752"/>
            <a:ext cx="2423160" cy="411480"/>
          </a:xfrm>
          <a:prstGeom prst="rect">
            <a:avLst/>
          </a:prstGeom>
          <a:noFill/>
          <a:ln/>
        </p:spPr>
        <p:txBody>
          <a:bodyPr wrap="square" rtlCol="0" anchor="ctr"/>
          <a:lstStyle/>
          <a:p>
            <a:pPr marL="0" indent="0">
              <a:buNone/>
            </a:pPr>
            <a:r>
              <a:rPr lang="en-US" sz="900" b="1" dirty="0">
                <a:solidFill>
                  <a:srgbClr val="334155"/>
                </a:solidFill>
                <a:latin typeface="Calibri" pitchFamily="34" charset="0"/>
                <a:ea typeface="Calibri" pitchFamily="34" charset="-122"/>
                <a:cs typeface="Calibri" pitchFamily="34" charset="-120"/>
              </a:rPr>
              <a:t>TIM – IMPORT MARITIME</a:t>
            </a:r>
          </a:p>
        </p:txBody>
      </p:sp>
      <p:sp>
        <p:nvSpPr>
          <p:cNvPr id="428" name="Text"/>
          <p:cNvSpPr/>
          <p:nvPr/>
        </p:nvSpPr>
        <p:spPr>
          <a:xfrm>
            <a:off x="8869680" y="1444752"/>
            <a:ext cx="1325880" cy="41148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2 231 TEU</a:t>
            </a:r>
          </a:p>
        </p:txBody>
      </p:sp>
      <p:sp>
        <p:nvSpPr>
          <p:cNvPr id="429" name="Shape"/>
          <p:cNvSpPr/>
          <p:nvPr/>
        </p:nvSpPr>
        <p:spPr>
          <a:xfrm>
            <a:off x="9948672" y="1554480"/>
            <a:ext cx="1737360" cy="164592"/>
          </a:xfrm>
          <a:prstGeom prst="rect">
            <a:avLst/>
          </a:prstGeom>
          <a:solidFill>
            <a:srgbClr val="CBD5E1"/>
          </a:solidFill>
          <a:ln/>
        </p:spPr>
        <p:txBody>
          <a:bodyPr/>
          <a:lstStyle/>
          <a:p>
            <a:endParaRPr lang="en-US"/>
          </a:p>
        </p:txBody>
      </p:sp>
      <p:sp>
        <p:nvSpPr>
          <p:cNvPr id="430" name="Shape"/>
          <p:cNvSpPr/>
          <p:nvPr/>
        </p:nvSpPr>
        <p:spPr>
          <a:xfrm>
            <a:off x="9948672" y="1554480"/>
            <a:ext cx="1285646" cy="164592"/>
          </a:xfrm>
          <a:prstGeom prst="rect">
            <a:avLst/>
          </a:prstGeom>
          <a:solidFill>
            <a:srgbClr val="16A34A"/>
          </a:solidFill>
          <a:ln/>
        </p:spPr>
        <p:txBody>
          <a:bodyPr/>
          <a:lstStyle/>
          <a:p>
            <a:endParaRPr lang="en-US"/>
          </a:p>
        </p:txBody>
      </p:sp>
      <p:sp>
        <p:nvSpPr>
          <p:cNvPr id="431" name="Text"/>
          <p:cNvSpPr/>
          <p:nvPr/>
        </p:nvSpPr>
        <p:spPr>
          <a:xfrm>
            <a:off x="11722608" y="1444752"/>
            <a:ext cx="640080" cy="411480"/>
          </a:xfrm>
          <a:prstGeom prst="rect">
            <a:avLst/>
          </a:prstGeom>
          <a:noFill/>
          <a:ln/>
        </p:spPr>
        <p:txBody>
          <a:bodyPr wrap="square" rtlCol="0" anchor="ctr"/>
          <a:lstStyle/>
          <a:p>
            <a:pPr marL="0" indent="0">
              <a:buNone/>
            </a:pPr>
            <a:r>
              <a:rPr lang="en-US" sz="1000" b="1" dirty="0">
                <a:solidFill>
                  <a:srgbClr val="16A34A"/>
                </a:solidFill>
                <a:latin typeface="Calibri" pitchFamily="34" charset="0"/>
                <a:ea typeface="Calibri" pitchFamily="34" charset="-122"/>
                <a:cs typeface="Calibri" pitchFamily="34" charset="-120"/>
              </a:rPr>
              <a:t>74%</a:t>
            </a:r>
          </a:p>
        </p:txBody>
      </p:sp>
      <p:sp>
        <p:nvSpPr>
          <p:cNvPr id="432" name="Shape"/>
          <p:cNvSpPr/>
          <p:nvPr/>
        </p:nvSpPr>
        <p:spPr>
          <a:xfrm>
            <a:off x="6309360" y="1901952"/>
            <a:ext cx="5577840" cy="411480"/>
          </a:xfrm>
          <a:prstGeom prst="roundRect">
            <a:avLst>
              <a:gd name="adj" fmla="val 8889"/>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433" name="Text"/>
          <p:cNvSpPr/>
          <p:nvPr/>
        </p:nvSpPr>
        <p:spPr>
          <a:xfrm>
            <a:off x="6446520" y="1901952"/>
            <a:ext cx="2423160" cy="411480"/>
          </a:xfrm>
          <a:prstGeom prst="rect">
            <a:avLst/>
          </a:prstGeom>
          <a:noFill/>
          <a:ln/>
        </p:spPr>
        <p:txBody>
          <a:bodyPr wrap="square" rtlCol="0" anchor="ctr"/>
          <a:lstStyle/>
          <a:p>
            <a:pPr marL="0" indent="0">
              <a:buNone/>
            </a:pPr>
            <a:r>
              <a:rPr lang="en-US" sz="900" b="1" dirty="0">
                <a:solidFill>
                  <a:srgbClr val="334155"/>
                </a:solidFill>
                <a:latin typeface="Calibri" pitchFamily="34" charset="0"/>
                <a:ea typeface="Calibri" pitchFamily="34" charset="-122"/>
                <a:cs typeface="Calibri" pitchFamily="34" charset="-120"/>
              </a:rPr>
              <a:t>AÉRIEN IMPORT</a:t>
            </a:r>
          </a:p>
        </p:txBody>
      </p:sp>
      <p:sp>
        <p:nvSpPr>
          <p:cNvPr id="434" name="Text"/>
          <p:cNvSpPr/>
          <p:nvPr/>
        </p:nvSpPr>
        <p:spPr>
          <a:xfrm>
            <a:off x="8869680" y="1901952"/>
            <a:ext cx="1325880" cy="41148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515 776 kg</a:t>
            </a:r>
          </a:p>
        </p:txBody>
      </p:sp>
      <p:sp>
        <p:nvSpPr>
          <p:cNvPr id="435" name="Shape"/>
          <p:cNvSpPr/>
          <p:nvPr/>
        </p:nvSpPr>
        <p:spPr>
          <a:xfrm>
            <a:off x="9948672" y="2011680"/>
            <a:ext cx="1737360" cy="164592"/>
          </a:xfrm>
          <a:prstGeom prst="rect">
            <a:avLst/>
          </a:prstGeom>
          <a:solidFill>
            <a:srgbClr val="CBD5E1"/>
          </a:solidFill>
          <a:ln/>
        </p:spPr>
        <p:txBody>
          <a:bodyPr/>
          <a:lstStyle/>
          <a:p>
            <a:endParaRPr lang="en-US"/>
          </a:p>
        </p:txBody>
      </p:sp>
      <p:sp>
        <p:nvSpPr>
          <p:cNvPr id="436" name="Shape"/>
          <p:cNvSpPr/>
          <p:nvPr/>
        </p:nvSpPr>
        <p:spPr>
          <a:xfrm>
            <a:off x="9948672" y="2011680"/>
            <a:ext cx="1059790" cy="164592"/>
          </a:xfrm>
          <a:prstGeom prst="rect">
            <a:avLst/>
          </a:prstGeom>
          <a:solidFill>
            <a:srgbClr val="16A34A"/>
          </a:solidFill>
          <a:ln/>
        </p:spPr>
        <p:txBody>
          <a:bodyPr/>
          <a:lstStyle/>
          <a:p>
            <a:endParaRPr lang="en-US"/>
          </a:p>
        </p:txBody>
      </p:sp>
      <p:sp>
        <p:nvSpPr>
          <p:cNvPr id="437" name="Text"/>
          <p:cNvSpPr/>
          <p:nvPr/>
        </p:nvSpPr>
        <p:spPr>
          <a:xfrm>
            <a:off x="11722608" y="1901952"/>
            <a:ext cx="640080" cy="411480"/>
          </a:xfrm>
          <a:prstGeom prst="rect">
            <a:avLst/>
          </a:prstGeom>
          <a:noFill/>
          <a:ln/>
        </p:spPr>
        <p:txBody>
          <a:bodyPr wrap="square" rtlCol="0" anchor="ctr"/>
          <a:lstStyle/>
          <a:p>
            <a:pPr marL="0" indent="0">
              <a:buNone/>
            </a:pPr>
            <a:r>
              <a:rPr lang="en-US" sz="1000" b="1" dirty="0">
                <a:solidFill>
                  <a:srgbClr val="16A34A"/>
                </a:solidFill>
                <a:latin typeface="Calibri" pitchFamily="34" charset="0"/>
                <a:ea typeface="Calibri" pitchFamily="34" charset="-122"/>
                <a:cs typeface="Calibri" pitchFamily="34" charset="-120"/>
              </a:rPr>
              <a:t>61%</a:t>
            </a:r>
          </a:p>
        </p:txBody>
      </p:sp>
      <p:sp>
        <p:nvSpPr>
          <p:cNvPr id="438" name="Shape"/>
          <p:cNvSpPr/>
          <p:nvPr/>
        </p:nvSpPr>
        <p:spPr>
          <a:xfrm>
            <a:off x="6309360" y="2359152"/>
            <a:ext cx="5577840" cy="411480"/>
          </a:xfrm>
          <a:prstGeom prst="roundRect">
            <a:avLst>
              <a:gd name="adj" fmla="val 8889"/>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439" name="Text"/>
          <p:cNvSpPr/>
          <p:nvPr/>
        </p:nvSpPr>
        <p:spPr>
          <a:xfrm>
            <a:off x="6446520" y="2359152"/>
            <a:ext cx="2423160" cy="411480"/>
          </a:xfrm>
          <a:prstGeom prst="rect">
            <a:avLst/>
          </a:prstGeom>
          <a:noFill/>
          <a:ln/>
        </p:spPr>
        <p:txBody>
          <a:bodyPr wrap="square" rtlCol="0" anchor="ctr"/>
          <a:lstStyle/>
          <a:p>
            <a:pPr marL="0" indent="0">
              <a:buNone/>
            </a:pPr>
            <a:r>
              <a:rPr lang="en-US" sz="900" b="1" dirty="0">
                <a:solidFill>
                  <a:srgbClr val="334155"/>
                </a:solidFill>
                <a:latin typeface="Calibri" pitchFamily="34" charset="0"/>
                <a:ea typeface="Calibri" pitchFamily="34" charset="-122"/>
                <a:cs typeface="Calibri" pitchFamily="34" charset="-120"/>
              </a:rPr>
              <a:t>HINTERLAND IMPORT</a:t>
            </a:r>
          </a:p>
        </p:txBody>
      </p:sp>
      <p:sp>
        <p:nvSpPr>
          <p:cNvPr id="440" name="Text"/>
          <p:cNvSpPr/>
          <p:nvPr/>
        </p:nvSpPr>
        <p:spPr>
          <a:xfrm>
            <a:off x="8869680" y="2359152"/>
            <a:ext cx="1325880" cy="41148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600 TEU</a:t>
            </a:r>
          </a:p>
        </p:txBody>
      </p:sp>
      <p:sp>
        <p:nvSpPr>
          <p:cNvPr id="441" name="Shape"/>
          <p:cNvSpPr/>
          <p:nvPr/>
        </p:nvSpPr>
        <p:spPr>
          <a:xfrm>
            <a:off x="9948672" y="2468880"/>
            <a:ext cx="1737360" cy="164592"/>
          </a:xfrm>
          <a:prstGeom prst="rect">
            <a:avLst/>
          </a:prstGeom>
          <a:solidFill>
            <a:srgbClr val="CBD5E1"/>
          </a:solidFill>
          <a:ln/>
        </p:spPr>
        <p:txBody>
          <a:bodyPr/>
          <a:lstStyle/>
          <a:p>
            <a:endParaRPr lang="en-US"/>
          </a:p>
        </p:txBody>
      </p:sp>
      <p:sp>
        <p:nvSpPr>
          <p:cNvPr id="442" name="Shape"/>
          <p:cNvSpPr/>
          <p:nvPr/>
        </p:nvSpPr>
        <p:spPr>
          <a:xfrm>
            <a:off x="9948672" y="2468880"/>
            <a:ext cx="868680" cy="164592"/>
          </a:xfrm>
          <a:prstGeom prst="rect">
            <a:avLst/>
          </a:prstGeom>
          <a:solidFill>
            <a:srgbClr val="16A34A"/>
          </a:solidFill>
          <a:ln/>
        </p:spPr>
        <p:txBody>
          <a:bodyPr/>
          <a:lstStyle/>
          <a:p>
            <a:endParaRPr lang="en-US"/>
          </a:p>
        </p:txBody>
      </p:sp>
      <p:sp>
        <p:nvSpPr>
          <p:cNvPr id="443" name="Text"/>
          <p:cNvSpPr/>
          <p:nvPr/>
        </p:nvSpPr>
        <p:spPr>
          <a:xfrm>
            <a:off x="11722608" y="2359152"/>
            <a:ext cx="640080" cy="411480"/>
          </a:xfrm>
          <a:prstGeom prst="rect">
            <a:avLst/>
          </a:prstGeom>
          <a:noFill/>
          <a:ln/>
        </p:spPr>
        <p:txBody>
          <a:bodyPr wrap="square" rtlCol="0" anchor="ctr"/>
          <a:lstStyle/>
          <a:p>
            <a:pPr marL="0" indent="0">
              <a:buNone/>
            </a:pPr>
            <a:r>
              <a:rPr lang="en-US" sz="1000" b="1" dirty="0">
                <a:solidFill>
                  <a:srgbClr val="16A34A"/>
                </a:solidFill>
                <a:latin typeface="Calibri" pitchFamily="34" charset="0"/>
                <a:ea typeface="Calibri" pitchFamily="34" charset="-122"/>
                <a:cs typeface="Calibri" pitchFamily="34" charset="-120"/>
              </a:rPr>
              <a:t>50%</a:t>
            </a:r>
          </a:p>
        </p:txBody>
      </p:sp>
      <p:sp>
        <p:nvSpPr>
          <p:cNvPr id="444" name="Shape"/>
          <p:cNvSpPr/>
          <p:nvPr/>
        </p:nvSpPr>
        <p:spPr>
          <a:xfrm>
            <a:off x="6309360" y="2816352"/>
            <a:ext cx="5577840" cy="411480"/>
          </a:xfrm>
          <a:prstGeom prst="roundRect">
            <a:avLst>
              <a:gd name="adj" fmla="val 8889"/>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445" name="Text"/>
          <p:cNvSpPr/>
          <p:nvPr/>
        </p:nvSpPr>
        <p:spPr>
          <a:xfrm>
            <a:off x="6446520" y="2816352"/>
            <a:ext cx="2423160" cy="411480"/>
          </a:xfrm>
          <a:prstGeom prst="rect">
            <a:avLst/>
          </a:prstGeom>
          <a:noFill/>
          <a:ln/>
        </p:spPr>
        <p:txBody>
          <a:bodyPr wrap="square" rtlCol="0" anchor="ctr"/>
          <a:lstStyle/>
          <a:p>
            <a:pPr marL="0" indent="0">
              <a:buNone/>
            </a:pPr>
            <a:r>
              <a:rPr lang="en-US" sz="900" b="1" dirty="0">
                <a:solidFill>
                  <a:srgbClr val="334155"/>
                </a:solidFill>
                <a:latin typeface="Calibri" pitchFamily="34" charset="0"/>
                <a:ea typeface="Calibri" pitchFamily="34" charset="-122"/>
                <a:cs typeface="Calibri" pitchFamily="34" charset="-120"/>
              </a:rPr>
              <a:t>DSM – EXPORT MINERAIS</a:t>
            </a:r>
          </a:p>
        </p:txBody>
      </p:sp>
      <p:sp>
        <p:nvSpPr>
          <p:cNvPr id="446" name="Text"/>
          <p:cNvSpPr/>
          <p:nvPr/>
        </p:nvSpPr>
        <p:spPr>
          <a:xfrm>
            <a:off x="8869680" y="2816352"/>
            <a:ext cx="1325880" cy="41148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~180 T</a:t>
            </a:r>
          </a:p>
        </p:txBody>
      </p:sp>
      <p:sp>
        <p:nvSpPr>
          <p:cNvPr id="447" name="Shape"/>
          <p:cNvSpPr/>
          <p:nvPr/>
        </p:nvSpPr>
        <p:spPr>
          <a:xfrm>
            <a:off x="9948672" y="2926080"/>
            <a:ext cx="1737360" cy="164592"/>
          </a:xfrm>
          <a:prstGeom prst="rect">
            <a:avLst/>
          </a:prstGeom>
          <a:solidFill>
            <a:srgbClr val="CBD5E1"/>
          </a:solidFill>
          <a:ln/>
        </p:spPr>
        <p:txBody>
          <a:bodyPr/>
          <a:lstStyle/>
          <a:p>
            <a:endParaRPr lang="en-US"/>
          </a:p>
        </p:txBody>
      </p:sp>
      <p:sp>
        <p:nvSpPr>
          <p:cNvPr id="448" name="Shape"/>
          <p:cNvSpPr/>
          <p:nvPr/>
        </p:nvSpPr>
        <p:spPr>
          <a:xfrm>
            <a:off x="9948672" y="2926080"/>
            <a:ext cx="364846" cy="164592"/>
          </a:xfrm>
          <a:prstGeom prst="rect">
            <a:avLst/>
          </a:prstGeom>
          <a:solidFill>
            <a:srgbClr val="1E40AF"/>
          </a:solidFill>
          <a:ln/>
        </p:spPr>
        <p:txBody>
          <a:bodyPr/>
          <a:lstStyle/>
          <a:p>
            <a:endParaRPr lang="en-US"/>
          </a:p>
        </p:txBody>
      </p:sp>
      <p:sp>
        <p:nvSpPr>
          <p:cNvPr id="449" name="Text"/>
          <p:cNvSpPr/>
          <p:nvPr/>
        </p:nvSpPr>
        <p:spPr>
          <a:xfrm>
            <a:off x="11722608" y="2816352"/>
            <a:ext cx="640080" cy="411480"/>
          </a:xfrm>
          <a:prstGeom prst="rect">
            <a:avLst/>
          </a:prstGeom>
          <a:noFill/>
          <a:ln/>
        </p:spPr>
        <p:txBody>
          <a:bodyPr wrap="square" rtlCol="0" anchor="ctr"/>
          <a:lstStyle/>
          <a:p>
            <a:pPr marL="0" indent="0">
              <a:buNone/>
            </a:pPr>
            <a:r>
              <a:rPr lang="en-US" sz="1000" b="1" dirty="0">
                <a:solidFill>
                  <a:srgbClr val="1E40AF"/>
                </a:solidFill>
                <a:latin typeface="Calibri" pitchFamily="34" charset="0"/>
                <a:ea typeface="Calibri" pitchFamily="34" charset="-122"/>
                <a:cs typeface="Calibri" pitchFamily="34" charset="-120"/>
              </a:rPr>
              <a:t>21%</a:t>
            </a:r>
          </a:p>
        </p:txBody>
      </p:sp>
      <p:sp>
        <p:nvSpPr>
          <p:cNvPr id="450" name="Shape"/>
          <p:cNvSpPr/>
          <p:nvPr/>
        </p:nvSpPr>
        <p:spPr>
          <a:xfrm>
            <a:off x="6309360" y="3703320"/>
            <a:ext cx="5577840" cy="1371600"/>
          </a:xfrm>
          <a:prstGeom prst="roundRect">
            <a:avLst>
              <a:gd name="adj" fmla="val 8000"/>
            </a:avLst>
          </a:prstGeom>
          <a:solidFill>
            <a:srgbClr val="FFF5E6"/>
          </a:solidFill>
          <a:ln/>
        </p:spPr>
        <p:txBody>
          <a:bodyPr/>
          <a:lstStyle/>
          <a:p>
            <a:endParaRPr lang="en-US"/>
          </a:p>
        </p:txBody>
      </p:sp>
      <p:sp>
        <p:nvSpPr>
          <p:cNvPr id="451" name="Text"/>
          <p:cNvSpPr/>
          <p:nvPr/>
        </p:nvSpPr>
        <p:spPr>
          <a:xfrm>
            <a:off x="6446520" y="3703320"/>
            <a:ext cx="5303520" cy="1371600"/>
          </a:xfrm>
          <a:prstGeom prst="rect">
            <a:avLst/>
          </a:prstGeom>
          <a:noFill/>
          <a:ln/>
        </p:spPr>
        <p:txBody>
          <a:bodyPr wrap="square" rtlCol="0" anchor="ctr"/>
          <a:lstStyle/>
          <a:p>
            <a:pPr marL="0" indent="0">
              <a:buNone/>
            </a:pPr>
            <a:r>
              <a:rPr lang="en-US" sz="950" b="1" dirty="0">
                <a:solidFill>
                  <a:srgbClr val="EA580C"/>
                </a:solidFill>
                <a:latin typeface="Calibri" pitchFamily="34" charset="0"/>
                <a:ea typeface="Calibri" pitchFamily="34" charset="-122"/>
                <a:cs typeface="Calibri" pitchFamily="34" charset="-120"/>
              </a:rPr>
              <a:t>🏆 POSITION AGL : </a:t>
            </a:r>
            <a:r>
              <a:rPr lang="en-US" sz="950" dirty="0">
                <a:solidFill>
                  <a:srgbClr val="334155"/>
                </a:solidFill>
                <a:latin typeface="Calibri" pitchFamily="34" charset="0"/>
                <a:ea typeface="Calibri" pitchFamily="34" charset="-122"/>
                <a:cs typeface="Calibri" pitchFamily="34" charset="-120"/>
              </a:rPr>
              <a:t>AGL = prestataire logistique de référence du secteur minier ivoirien (~58% PDM). K1 Mining = 1 840 TEU répartis sur 3 métiers (TIM 10,1% / Aérien 26,5% / Hint 50% du vol. AGL). Cible : SAMA Nickel + Lithium CI = +440 TEU. Stratégie : package minier intégré TIM + AÉRIEN + DSM + HINTERLAND par site = différenciation majeure vs Bolloré et CEVA.</a:t>
            </a:r>
          </a:p>
        </p:txBody>
      </p:sp>
      <p:sp>
        <p:nvSpPr>
          <p:cNvPr id="452" name="Text"/>
          <p:cNvSpPr/>
          <p:nvPr/>
        </p:nvSpPr>
        <p:spPr>
          <a:xfrm>
            <a:off x="365760" y="6601968"/>
            <a:ext cx="11430000" cy="201168"/>
          </a:xfrm>
          <a:prstGeom prst="rect">
            <a:avLst/>
          </a:prstGeom>
          <a:noFill/>
          <a:ln/>
        </p:spPr>
        <p:txBody>
          <a:bodyPr wrap="square" rtlCol="0" anchor="t"/>
          <a:lstStyle/>
          <a:p>
            <a:pPr marL="0" indent="0" algn="ctr">
              <a:buNone/>
            </a:pPr>
            <a:r>
              <a:rPr lang="en-US" sz="850" dirty="0">
                <a:solidFill>
                  <a:srgbClr val="64748B"/>
                </a:solidFill>
                <a:latin typeface="Calibri" pitchFamily="34" charset="0"/>
                <a:ea typeface="Calibri" pitchFamily="34" charset="-122"/>
                <a:cs typeface="Calibri" pitchFamily="34" charset="-120"/>
              </a:rPr>
              <a:t>Africa Global Logistics – Étude de Marché Jan–Mai 2026  |  p.29</a:t>
            </a:r>
          </a:p>
        </p:txBody>
      </p:sp>
      <p:pic>
        <p:nvPicPr>
          <p:cNvPr id="453" name="Image logo"/>
          <p:cNvPicPr>
            <a:picLocks noChangeAspect="1"/>
          </p:cNvPicPr>
          <p:nvPr/>
        </p:nvPicPr>
        <p:blipFill>
          <a:blip r:embed="rId3" cstate="screen"/>
          <a:stretch>
            <a:fillRect/>
          </a:stretch>
        </p:blipFill>
        <p:spPr>
          <a:xfrm>
            <a:off x="11488450" y="6549898"/>
            <a:ext cx="450027" cy="292409"/>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Focus Ayman Synthèse">
    <p:bg>
      <p:bgPr>
        <a:solidFill>
          <a:srgbClr val="FFFFFF"/>
        </a:solidFill>
        <a:effectLst/>
      </p:bgPr>
    </p:bg>
    <p:spTree>
      <p:nvGrpSpPr>
        <p:cNvPr id="1" name=""/>
        <p:cNvGrpSpPr/>
        <p:nvPr/>
      </p:nvGrpSpPr>
      <p:grpSpPr>
        <a:xfrm>
          <a:off x="0" y="0"/>
          <a:ext cx="0" cy="0"/>
          <a:chOff x="0" y="0"/>
          <a:chExt cx="0" cy="0"/>
        </a:xfrm>
      </p:grpSpPr>
      <p:sp>
        <p:nvSpPr>
          <p:cNvPr id="454" name="Shape"/>
          <p:cNvSpPr/>
          <p:nvPr/>
        </p:nvSpPr>
        <p:spPr>
          <a:xfrm>
            <a:off x="0" y="0"/>
            <a:ext cx="12161520" cy="1051560"/>
          </a:xfrm>
          <a:prstGeom prst="rect">
            <a:avLst/>
          </a:prstGeom>
          <a:solidFill>
            <a:srgbClr val="0A2240"/>
          </a:solidFill>
          <a:ln w="12700">
            <a:solidFill>
              <a:srgbClr val="0A2240"/>
            </a:solidFill>
            <a:prstDash val="solid"/>
          </a:ln>
        </p:spPr>
        <p:txBody>
          <a:bodyPr/>
          <a:lstStyle/>
          <a:p>
            <a:endParaRPr lang="en-US"/>
          </a:p>
        </p:txBody>
      </p:sp>
      <p:sp>
        <p:nvSpPr>
          <p:cNvPr id="455" name="Text"/>
          <p:cNvSpPr/>
          <p:nvPr/>
        </p:nvSpPr>
        <p:spPr>
          <a:xfrm>
            <a:off x="365760" y="54864"/>
            <a:ext cx="11430000" cy="65836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FOCUS TRANSITAIRE – GROUPE AYMAN  |  Synthèse multi-métiers</a:t>
            </a:r>
          </a:p>
        </p:txBody>
      </p:sp>
      <p:sp>
        <p:nvSpPr>
          <p:cNvPr id="456" name="Text"/>
          <p:cNvSpPr/>
          <p:nvPr/>
        </p:nvSpPr>
        <p:spPr>
          <a:xfrm>
            <a:off x="365760" y="676656"/>
            <a:ext cx="11430000" cy="329184"/>
          </a:xfrm>
          <a:prstGeom prst="rect">
            <a:avLst/>
          </a:prstGeom>
          <a:noFill/>
          <a:ln/>
        </p:spPr>
        <p:txBody>
          <a:bodyPr wrap="square" rtlCol="0" anchor="t"/>
          <a:lstStyle/>
          <a:p>
            <a:pPr marL="0" indent="0">
              <a:buNone/>
            </a:pPr>
            <a:r>
              <a:rPr lang="en-US" sz="1200" i="1" dirty="0">
                <a:solidFill>
                  <a:srgbClr val="C8A951"/>
                </a:solidFill>
                <a:latin typeface="Calibri" pitchFamily="34" charset="0"/>
                <a:ea typeface="Calibri" pitchFamily="34" charset="-122"/>
                <a:cs typeface="Calibri" pitchFamily="34" charset="-120"/>
              </a:rPr>
              <a:t>Analyse toutes activités (incl. DJAM DKS TRANSIT &amp; HANNYYAH ET SAID)  |  Concurrence directe AGL  |  Jan–Mai 2026</a:t>
            </a:r>
          </a:p>
        </p:txBody>
      </p:sp>
      <p:sp>
        <p:nvSpPr>
          <p:cNvPr id="457" name="Text"/>
          <p:cNvSpPr/>
          <p:nvPr/>
        </p:nvSpPr>
        <p:spPr>
          <a:xfrm>
            <a:off x="320040" y="1143000"/>
            <a:ext cx="10515600" cy="274320"/>
          </a:xfrm>
          <a:prstGeom prst="rect">
            <a:avLst/>
          </a:prstGeom>
          <a:noFill/>
          <a:ln/>
        </p:spPr>
        <p:txBody>
          <a:bodyPr wrap="square" rtlCol="0" anchor="t"/>
          <a:lstStyle/>
          <a:p>
            <a:pPr marL="0" indent="0">
              <a:buNone/>
            </a:pPr>
            <a:r>
              <a:rPr lang="en-US" sz="1200" b="1" dirty="0">
                <a:solidFill>
                  <a:srgbClr val="0A2240"/>
                </a:solidFill>
                <a:latin typeface="Calibri" pitchFamily="34" charset="0"/>
                <a:ea typeface="Calibri" pitchFamily="34" charset="-122"/>
                <a:cs typeface="Calibri" pitchFamily="34" charset="-120"/>
              </a:rPr>
              <a:t>Activité AYMAN par métier vs position AGL – Jan–Mai 2026</a:t>
            </a:r>
          </a:p>
        </p:txBody>
      </p:sp>
      <p:graphicFrame>
        <p:nvGraphicFramePr>
          <p:cNvPr id="458" name="Table"/>
          <p:cNvGraphicFramePr>
            <a:graphicFrameLocks noGrp="1"/>
          </p:cNvGraphicFramePr>
          <p:nvPr/>
        </p:nvGraphicFramePr>
        <p:xfrm>
          <a:off x="320040" y="1444752"/>
          <a:ext cx="9890000" cy="2368296"/>
        </p:xfrm>
        <a:graphic>
          <a:graphicData uri="http://schemas.openxmlformats.org/drawingml/2006/table">
            <a:tbl>
              <a:tblPr/>
              <a:tblGrid>
                <a:gridCol w="2150000"/>
                <a:gridCol w="1050000"/>
                <a:gridCol w="2050000"/>
                <a:gridCol w="1150000"/>
                <a:gridCol w="1000000"/>
                <a:gridCol w="1100000"/>
                <a:gridCol w="1390000"/>
              </a:tblGrid>
              <a:tr h="338328">
                <a:tc>
                  <a:txBody>
                    <a:bodyPr/>
                    <a:lstStyle/>
                    <a:p>
                      <a:pPr marL="0" indent="0" algn="ctr">
                        <a:buNone/>
                      </a:pPr>
                      <a:r>
                        <a:rPr lang="en-US" sz="1000" b="1" dirty="0">
                          <a:solidFill>
                            <a:srgbClr val="FFFFFF"/>
                          </a:solidFill>
                        </a:rPr>
                        <a:t>Métier</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lgn="ctr">
                        <a:buNone/>
                      </a:pPr>
                      <a:r>
                        <a:rPr lang="en-US" sz="1000" b="1" dirty="0">
                          <a:solidFill>
                            <a:srgbClr val="FFFFFF"/>
                          </a:solidFill>
                        </a:rPr>
                        <a:t>Rang Ayman</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lgn="ctr">
                        <a:buNone/>
                      </a:pPr>
                      <a:r>
                        <a:rPr lang="en-US" sz="1000" b="1" dirty="0">
                          <a:solidFill>
                            <a:srgbClr val="FFFFFF"/>
                          </a:solidFill>
                        </a:rPr>
                        <a:t>Volume Ayman</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lgn="ctr">
                        <a:buNone/>
                      </a:pPr>
                      <a:r>
                        <a:rPr lang="en-US" sz="1000" b="1" dirty="0">
                          <a:solidFill>
                            <a:srgbClr val="FFFFFF"/>
                          </a:solidFill>
                        </a:rPr>
                        <a:t>PDM Ayman</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lgn="ctr">
                        <a:buNone/>
                      </a:pPr>
                      <a:r>
                        <a:rPr lang="en-US" sz="1000" b="1" dirty="0">
                          <a:solidFill>
                            <a:srgbClr val="FFFFFF"/>
                          </a:solidFill>
                        </a:rPr>
                        <a:t>Rang AGL</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lgn="ctr">
                        <a:buNone/>
                      </a:pPr>
                      <a:r>
                        <a:rPr lang="en-US" sz="1000" b="1" dirty="0">
                          <a:solidFill>
                            <a:srgbClr val="FFFFFF"/>
                          </a:solidFill>
                        </a:rPr>
                        <a:t>PDM AGL</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lgn="ctr">
                        <a:buNone/>
                      </a:pPr>
                      <a:r>
                        <a:rPr lang="en-US" sz="1000" b="1" dirty="0">
                          <a:solidFill>
                            <a:srgbClr val="FFFFFF"/>
                          </a:solidFill>
                        </a:rPr>
                        <a:t>Écart AGL</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r>
              <a:tr h="338328">
                <a:tc>
                  <a:txBody>
                    <a:bodyPr/>
                    <a:lstStyle/>
                    <a:p>
                      <a:pPr marL="0" indent="0">
                        <a:buNone/>
                      </a:pPr>
                      <a:r>
                        <a:rPr lang="en-US" sz="950" b="1" dirty="0">
                          <a:solidFill>
                            <a:srgbClr val="334155"/>
                          </a:solidFill>
                        </a:rPr>
                        <a:t>TIM – Import Maritime</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EA580C"/>
                          </a:solidFill>
                        </a:rPr>
                        <a:t>#5</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10 862 TEU (DJAM DKS)</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EA580C"/>
                          </a:solidFill>
                        </a:rPr>
                        <a:t>5,6 %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#1</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16A34A"/>
                          </a:solidFill>
                        </a:rPr>
                        <a:t>7,8 %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16A34A"/>
                          </a:solidFill>
                        </a:rPr>
                        <a:t>+2,2 pts</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buNone/>
                      </a:pPr>
                      <a:r>
                        <a:rPr lang="en-US" sz="950" b="1" dirty="0">
                          <a:solidFill>
                            <a:srgbClr val="334155"/>
                          </a:solidFill>
                        </a:rPr>
                        <a:t>TEM – Export Maritime</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Non classé</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~800 TEU</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~0,6 %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#1</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16A34A"/>
                          </a:solidFill>
                        </a:rPr>
                        <a:t>26,2 %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16A34A"/>
                          </a:solidFill>
                        </a:rPr>
                        <a:t>+25,6 pts</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buNone/>
                      </a:pPr>
                      <a:r>
                        <a:rPr lang="en-US" sz="950" b="1" dirty="0">
                          <a:solidFill>
                            <a:srgbClr val="334155"/>
                          </a:solidFill>
                        </a:rPr>
                        <a:t>Hinterland Import</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~#12</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~400 TEU</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~1,4 %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#3</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16A34A"/>
                          </a:solidFill>
                        </a:rPr>
                        <a:t>11,3 %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16A34A"/>
                          </a:solidFill>
                        </a:rPr>
                        <a:t>+9,9 pts</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buNone/>
                      </a:pPr>
                      <a:r>
                        <a:rPr lang="en-US" sz="950" b="1" dirty="0">
                          <a:solidFill>
                            <a:srgbClr val="334155"/>
                          </a:solidFill>
                        </a:rPr>
                        <a:t>Hinterland Export</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Non présent</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#1</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16A34A"/>
                          </a:solidFill>
                        </a:rPr>
                        <a:t>66,1 %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16A34A"/>
                          </a:solidFill>
                        </a:rPr>
                        <a:t>—</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buNone/>
                      </a:pPr>
                      <a:r>
                        <a:rPr lang="en-US" sz="950" b="1" dirty="0">
                          <a:solidFill>
                            <a:srgbClr val="334155"/>
                          </a:solidFill>
                        </a:rPr>
                        <a:t>Aérien Import</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EA580C"/>
                          </a:solidFill>
                        </a:rPr>
                        <a:t>#7</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273 092 kg (HANNYYAH)</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EA580C"/>
                          </a:solidFill>
                        </a:rPr>
                        <a:t>4,9 %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#1</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16A34A"/>
                          </a:solidFill>
                        </a:rPr>
                        <a:t>20,8 %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16A34A"/>
                          </a:solidFill>
                        </a:rPr>
                        <a:t>+15,9 pts</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buNone/>
                      </a:pPr>
                      <a:r>
                        <a:rPr lang="en-US" sz="950" b="1" dirty="0">
                          <a:solidFill>
                            <a:srgbClr val="334155"/>
                          </a:solidFill>
                        </a:rPr>
                        <a:t>DSM – Tramps</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~#8</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~3 900 T</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4,2 %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rPr>
                        <a:t>#3</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16A34A"/>
                          </a:solidFill>
                        </a:rPr>
                        <a:t>~11 %</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16A34A"/>
                          </a:solidFill>
                        </a:rPr>
                        <a:t>+6,8 pts</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459" name="Text"/>
          <p:cNvSpPr/>
          <p:nvPr/>
        </p:nvSpPr>
        <p:spPr>
          <a:xfrm>
            <a:off x="320040" y="4023360"/>
            <a:ext cx="10515600" cy="274320"/>
          </a:xfrm>
          <a:prstGeom prst="rect">
            <a:avLst/>
          </a:prstGeom>
          <a:noFill/>
          <a:ln/>
        </p:spPr>
        <p:txBody>
          <a:bodyPr wrap="square" rtlCol="0" anchor="t"/>
          <a:lstStyle/>
          <a:p>
            <a:pPr marL="0" indent="0">
              <a:buNone/>
            </a:pPr>
            <a:r>
              <a:rPr lang="en-US" sz="1200" b="1" dirty="0">
                <a:solidFill>
                  <a:srgbClr val="0A2240"/>
                </a:solidFill>
                <a:latin typeface="Calibri" pitchFamily="34" charset="0"/>
                <a:ea typeface="Calibri" pitchFamily="34" charset="-122"/>
                <a:cs typeface="Calibri" pitchFamily="34" charset="-120"/>
              </a:rPr>
              <a:t>Indicateurs consolidés Groupe AYMAN</a:t>
            </a:r>
          </a:p>
        </p:txBody>
      </p:sp>
      <p:sp>
        <p:nvSpPr>
          <p:cNvPr id="460" name="Shape"/>
          <p:cNvSpPr/>
          <p:nvPr/>
        </p:nvSpPr>
        <p:spPr>
          <a:xfrm>
            <a:off x="320040" y="4343400"/>
            <a:ext cx="5577840" cy="411480"/>
          </a:xfrm>
          <a:prstGeom prst="roundRect">
            <a:avLst>
              <a:gd name="adj" fmla="val 8889"/>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461" name="Text"/>
          <p:cNvSpPr/>
          <p:nvPr/>
        </p:nvSpPr>
        <p:spPr>
          <a:xfrm>
            <a:off x="457200" y="4343400"/>
            <a:ext cx="2423160" cy="411480"/>
          </a:xfrm>
          <a:prstGeom prst="rect">
            <a:avLst/>
          </a:prstGeom>
          <a:noFill/>
          <a:ln/>
        </p:spPr>
        <p:txBody>
          <a:bodyPr wrap="square" rtlCol="0" anchor="ctr"/>
          <a:lstStyle/>
          <a:p>
            <a:pPr marL="0" indent="0">
              <a:buNone/>
            </a:pPr>
            <a:r>
              <a:rPr lang="en-US" sz="900" b="1" dirty="0">
                <a:solidFill>
                  <a:srgbClr val="334155"/>
                </a:solidFill>
                <a:latin typeface="Calibri" pitchFamily="34" charset="0"/>
                <a:ea typeface="Calibri" pitchFamily="34" charset="-122"/>
                <a:cs typeface="Calibri" pitchFamily="34" charset="-120"/>
              </a:rPr>
              <a:t>VOLUME TOTAL ESTIMÉ</a:t>
            </a:r>
          </a:p>
        </p:txBody>
      </p:sp>
      <p:sp>
        <p:nvSpPr>
          <p:cNvPr id="462" name="Text"/>
          <p:cNvSpPr/>
          <p:nvPr/>
        </p:nvSpPr>
        <p:spPr>
          <a:xfrm>
            <a:off x="2880360" y="4343400"/>
            <a:ext cx="1645920" cy="41148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Toutes activités</a:t>
            </a:r>
          </a:p>
        </p:txBody>
      </p:sp>
      <p:sp>
        <p:nvSpPr>
          <p:cNvPr id="463" name="Text"/>
          <p:cNvSpPr/>
          <p:nvPr/>
        </p:nvSpPr>
        <p:spPr>
          <a:xfrm>
            <a:off x="4617720" y="4343400"/>
            <a:ext cx="914400" cy="411480"/>
          </a:xfrm>
          <a:prstGeom prst="rect">
            <a:avLst/>
          </a:prstGeom>
          <a:noFill/>
          <a:ln/>
        </p:spPr>
        <p:txBody>
          <a:bodyPr wrap="square" rtlCol="0" anchor="ctr"/>
          <a:lstStyle/>
          <a:p>
            <a:pPr marL="0" indent="0" algn="r">
              <a:buNone/>
            </a:pPr>
            <a:r>
              <a:rPr lang="en-US" sz="1000" b="1" dirty="0">
                <a:solidFill>
                  <a:srgbClr val="EA580C"/>
                </a:solidFill>
                <a:latin typeface="Calibri" pitchFamily="34" charset="0"/>
                <a:ea typeface="Calibri" pitchFamily="34" charset="-122"/>
                <a:cs typeface="Calibri" pitchFamily="34" charset="-120"/>
              </a:rPr>
              <a:t>~28 400</a:t>
            </a:r>
          </a:p>
        </p:txBody>
      </p:sp>
      <p:sp>
        <p:nvSpPr>
          <p:cNvPr id="464" name="Shape"/>
          <p:cNvSpPr/>
          <p:nvPr/>
        </p:nvSpPr>
        <p:spPr>
          <a:xfrm>
            <a:off x="320040" y="4800600"/>
            <a:ext cx="5577840" cy="411480"/>
          </a:xfrm>
          <a:prstGeom prst="roundRect">
            <a:avLst>
              <a:gd name="adj" fmla="val 8889"/>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465" name="Text"/>
          <p:cNvSpPr/>
          <p:nvPr/>
        </p:nvSpPr>
        <p:spPr>
          <a:xfrm>
            <a:off x="457200" y="4800600"/>
            <a:ext cx="2423160" cy="411480"/>
          </a:xfrm>
          <a:prstGeom prst="rect">
            <a:avLst/>
          </a:prstGeom>
          <a:noFill/>
          <a:ln/>
        </p:spPr>
        <p:txBody>
          <a:bodyPr wrap="square" rtlCol="0" anchor="ctr"/>
          <a:lstStyle/>
          <a:p>
            <a:pPr marL="0" indent="0">
              <a:buNone/>
            </a:pPr>
            <a:r>
              <a:rPr lang="en-US" sz="900" b="1" dirty="0">
                <a:solidFill>
                  <a:srgbClr val="334155"/>
                </a:solidFill>
                <a:latin typeface="Calibri" pitchFamily="34" charset="0"/>
                <a:ea typeface="Calibri" pitchFamily="34" charset="-122"/>
                <a:cs typeface="Calibri" pitchFamily="34" charset="-120"/>
              </a:rPr>
              <a:t>PDM MOYENNE PONDÉRÉE</a:t>
            </a:r>
          </a:p>
        </p:txBody>
      </p:sp>
      <p:sp>
        <p:nvSpPr>
          <p:cNvPr id="466" name="Text"/>
          <p:cNvSpPr/>
          <p:nvPr/>
        </p:nvSpPr>
        <p:spPr>
          <a:xfrm>
            <a:off x="2880360" y="4800600"/>
            <a:ext cx="1645920" cy="41148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6 métiers analysés</a:t>
            </a:r>
          </a:p>
        </p:txBody>
      </p:sp>
      <p:sp>
        <p:nvSpPr>
          <p:cNvPr id="467" name="Text"/>
          <p:cNvSpPr/>
          <p:nvPr/>
        </p:nvSpPr>
        <p:spPr>
          <a:xfrm>
            <a:off x="4617720" y="4800600"/>
            <a:ext cx="914400" cy="411480"/>
          </a:xfrm>
          <a:prstGeom prst="rect">
            <a:avLst/>
          </a:prstGeom>
          <a:noFill/>
          <a:ln/>
        </p:spPr>
        <p:txBody>
          <a:bodyPr wrap="square" rtlCol="0" anchor="ctr"/>
          <a:lstStyle/>
          <a:p>
            <a:pPr marL="0" indent="0" algn="r">
              <a:buNone/>
            </a:pPr>
            <a:r>
              <a:rPr lang="en-US" sz="1000" b="1" dirty="0">
                <a:solidFill>
                  <a:srgbClr val="EA580C"/>
                </a:solidFill>
                <a:latin typeface="Calibri" pitchFamily="34" charset="0"/>
                <a:ea typeface="Calibri" pitchFamily="34" charset="-122"/>
                <a:cs typeface="Calibri" pitchFamily="34" charset="-120"/>
              </a:rPr>
              <a:t>~6,8 %</a:t>
            </a:r>
          </a:p>
        </p:txBody>
      </p:sp>
      <p:sp>
        <p:nvSpPr>
          <p:cNvPr id="468" name="Shape"/>
          <p:cNvSpPr/>
          <p:nvPr/>
        </p:nvSpPr>
        <p:spPr>
          <a:xfrm>
            <a:off x="6309360" y="4343400"/>
            <a:ext cx="5577840" cy="411480"/>
          </a:xfrm>
          <a:prstGeom prst="roundRect">
            <a:avLst>
              <a:gd name="adj" fmla="val 8889"/>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469" name="Text"/>
          <p:cNvSpPr/>
          <p:nvPr/>
        </p:nvSpPr>
        <p:spPr>
          <a:xfrm>
            <a:off x="6446520" y="4343400"/>
            <a:ext cx="2423160" cy="411480"/>
          </a:xfrm>
          <a:prstGeom prst="rect">
            <a:avLst/>
          </a:prstGeom>
          <a:noFill/>
          <a:ln/>
        </p:spPr>
        <p:txBody>
          <a:bodyPr wrap="square" rtlCol="0" anchor="ctr"/>
          <a:lstStyle/>
          <a:p>
            <a:pPr marL="0" indent="0">
              <a:buNone/>
            </a:pPr>
            <a:r>
              <a:rPr lang="en-US" sz="900" b="1" dirty="0">
                <a:solidFill>
                  <a:srgbClr val="334155"/>
                </a:solidFill>
                <a:latin typeface="Calibri" pitchFamily="34" charset="0"/>
                <a:ea typeface="Calibri" pitchFamily="34" charset="-122"/>
                <a:cs typeface="Calibri" pitchFamily="34" charset="-120"/>
              </a:rPr>
              <a:t>CROISSANCE 2025 → 2026</a:t>
            </a:r>
          </a:p>
        </p:txBody>
      </p:sp>
      <p:sp>
        <p:nvSpPr>
          <p:cNvPr id="470" name="Text"/>
          <p:cNvSpPr/>
          <p:nvPr/>
        </p:nvSpPr>
        <p:spPr>
          <a:xfrm>
            <a:off x="8869680" y="4343400"/>
            <a:ext cx="1645920" cy="41148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Dynamique forte</a:t>
            </a:r>
          </a:p>
        </p:txBody>
      </p:sp>
      <p:sp>
        <p:nvSpPr>
          <p:cNvPr id="471" name="Text"/>
          <p:cNvSpPr/>
          <p:nvPr/>
        </p:nvSpPr>
        <p:spPr>
          <a:xfrm>
            <a:off x="10561320" y="4343400"/>
            <a:ext cx="960120" cy="411480"/>
          </a:xfrm>
          <a:prstGeom prst="rect">
            <a:avLst/>
          </a:prstGeom>
          <a:noFill/>
          <a:ln/>
        </p:spPr>
        <p:txBody>
          <a:bodyPr wrap="square" rtlCol="0" anchor="ctr"/>
          <a:lstStyle/>
          <a:p>
            <a:pPr marL="0" indent="0" algn="r">
              <a:buNone/>
            </a:pPr>
            <a:r>
              <a:rPr lang="en-US" sz="1000" b="1" dirty="0">
                <a:solidFill>
                  <a:srgbClr val="DC2626"/>
                </a:solidFill>
                <a:latin typeface="Calibri" pitchFamily="34" charset="0"/>
                <a:ea typeface="Calibri" pitchFamily="34" charset="-122"/>
                <a:cs typeface="Calibri" pitchFamily="34" charset="-120"/>
              </a:rPr>
              <a:t>+18 %</a:t>
            </a:r>
          </a:p>
        </p:txBody>
      </p:sp>
      <p:sp>
        <p:nvSpPr>
          <p:cNvPr id="472" name="Shape"/>
          <p:cNvSpPr/>
          <p:nvPr/>
        </p:nvSpPr>
        <p:spPr>
          <a:xfrm>
            <a:off x="6309360" y="4800600"/>
            <a:ext cx="5577840" cy="411480"/>
          </a:xfrm>
          <a:prstGeom prst="roundRect">
            <a:avLst>
              <a:gd name="adj" fmla="val 8889"/>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473" name="Text"/>
          <p:cNvSpPr/>
          <p:nvPr/>
        </p:nvSpPr>
        <p:spPr>
          <a:xfrm>
            <a:off x="6446520" y="4800600"/>
            <a:ext cx="2423160" cy="411480"/>
          </a:xfrm>
          <a:prstGeom prst="rect">
            <a:avLst/>
          </a:prstGeom>
          <a:noFill/>
          <a:ln/>
        </p:spPr>
        <p:txBody>
          <a:bodyPr wrap="square" rtlCol="0" anchor="ctr"/>
          <a:lstStyle/>
          <a:p>
            <a:pPr marL="0" indent="0">
              <a:buNone/>
            </a:pPr>
            <a:r>
              <a:rPr lang="en-US" sz="900" b="1" dirty="0">
                <a:solidFill>
                  <a:srgbClr val="334155"/>
                </a:solidFill>
                <a:latin typeface="Calibri" pitchFamily="34" charset="0"/>
                <a:ea typeface="Calibri" pitchFamily="34" charset="-122"/>
                <a:cs typeface="Calibri" pitchFamily="34" charset="-120"/>
              </a:rPr>
              <a:t>PRÉSENCE TOP 5</a:t>
            </a:r>
          </a:p>
        </p:txBody>
      </p:sp>
      <p:sp>
        <p:nvSpPr>
          <p:cNvPr id="474" name="Text"/>
          <p:cNvSpPr/>
          <p:nvPr/>
        </p:nvSpPr>
        <p:spPr>
          <a:xfrm>
            <a:off x="8869680" y="4800600"/>
            <a:ext cx="1645920" cy="41148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TIM #5  |  Aérien #7</a:t>
            </a:r>
          </a:p>
        </p:txBody>
      </p:sp>
      <p:sp>
        <p:nvSpPr>
          <p:cNvPr id="475" name="Text"/>
          <p:cNvSpPr/>
          <p:nvPr/>
        </p:nvSpPr>
        <p:spPr>
          <a:xfrm>
            <a:off x="10561320" y="4800600"/>
            <a:ext cx="960120" cy="411480"/>
          </a:xfrm>
          <a:prstGeom prst="rect">
            <a:avLst/>
          </a:prstGeom>
          <a:noFill/>
          <a:ln/>
        </p:spPr>
        <p:txBody>
          <a:bodyPr wrap="square" rtlCol="0" anchor="ctr"/>
          <a:lstStyle/>
          <a:p>
            <a:pPr marL="0" indent="0" algn="r">
              <a:buNone/>
            </a:pPr>
            <a:r>
              <a:rPr lang="en-US" sz="1000" b="1" dirty="0">
                <a:solidFill>
                  <a:srgbClr val="EA580C"/>
                </a:solidFill>
                <a:latin typeface="Calibri" pitchFamily="34" charset="0"/>
                <a:ea typeface="Calibri" pitchFamily="34" charset="-122"/>
                <a:cs typeface="Calibri" pitchFamily="34" charset="-120"/>
              </a:rPr>
              <a:t>2 métiers</a:t>
            </a:r>
          </a:p>
        </p:txBody>
      </p:sp>
      <p:sp>
        <p:nvSpPr>
          <p:cNvPr id="476" name="Shape"/>
          <p:cNvSpPr/>
          <p:nvPr/>
        </p:nvSpPr>
        <p:spPr>
          <a:xfrm>
            <a:off x="320040" y="5486400"/>
            <a:ext cx="11567160" cy="822960"/>
          </a:xfrm>
          <a:prstGeom prst="roundRect">
            <a:avLst>
              <a:gd name="adj" fmla="val 8000"/>
            </a:avLst>
          </a:prstGeom>
          <a:solidFill>
            <a:srgbClr val="FFF5E6"/>
          </a:solidFill>
          <a:ln/>
        </p:spPr>
        <p:txBody>
          <a:bodyPr/>
          <a:lstStyle/>
          <a:p>
            <a:endParaRPr lang="en-US"/>
          </a:p>
        </p:txBody>
      </p:sp>
      <p:sp>
        <p:nvSpPr>
          <p:cNvPr id="477" name="Text"/>
          <p:cNvSpPr/>
          <p:nvPr/>
        </p:nvSpPr>
        <p:spPr>
          <a:xfrm>
            <a:off x="457200" y="5486400"/>
            <a:ext cx="11292840" cy="822960"/>
          </a:xfrm>
          <a:prstGeom prst="rect">
            <a:avLst/>
          </a:prstGeom>
          <a:noFill/>
          <a:ln/>
        </p:spPr>
        <p:txBody>
          <a:bodyPr wrap="square" rtlCol="0" anchor="ctr"/>
          <a:lstStyle/>
          <a:p>
            <a:pPr marL="0" indent="0">
              <a:buNone/>
            </a:pPr>
            <a:r>
              <a:rPr lang="en-US" sz="950" b="1" dirty="0">
                <a:solidFill>
                  <a:srgbClr val="EA580C"/>
                </a:solidFill>
                <a:latin typeface="Calibri" pitchFamily="34" charset="0"/>
                <a:ea typeface="Calibri" pitchFamily="34" charset="-122"/>
                <a:cs typeface="Calibri" pitchFamily="34" charset="-120"/>
              </a:rPr>
              <a:t>⚠ SURVEILLANCE : </a:t>
            </a:r>
            <a:r>
              <a:rPr lang="en-US" sz="950" dirty="0">
                <a:solidFill>
                  <a:srgbClr val="334155"/>
                </a:solidFill>
                <a:latin typeface="Calibri" pitchFamily="34" charset="0"/>
                <a:ea typeface="Calibri" pitchFamily="34" charset="-122"/>
                <a:cs typeface="Calibri" pitchFamily="34" charset="-120"/>
              </a:rPr>
              <a:t>AYMAN est le concurrent à plus forte croissance (+18% en 2026). Présent dans le TOP 5 sur TIM (#5 via DJAM DKS) et Aérien (#7 via HANNYYAH ET SAID). AGL domine sur tous les métiers, mais l'écart TIM n'est que de +2,2 pts.</a:t>
            </a:r>
          </a:p>
        </p:txBody>
      </p:sp>
      <p:sp>
        <p:nvSpPr>
          <p:cNvPr id="478" name="Text"/>
          <p:cNvSpPr/>
          <p:nvPr/>
        </p:nvSpPr>
        <p:spPr>
          <a:xfrm>
            <a:off x="365760" y="6601968"/>
            <a:ext cx="11430000" cy="201168"/>
          </a:xfrm>
          <a:prstGeom prst="rect">
            <a:avLst/>
          </a:prstGeom>
          <a:noFill/>
          <a:ln/>
        </p:spPr>
        <p:txBody>
          <a:bodyPr wrap="square" rtlCol="0" anchor="t"/>
          <a:lstStyle/>
          <a:p>
            <a:pPr marL="0" indent="0" algn="ctr">
              <a:buNone/>
            </a:pPr>
            <a:r>
              <a:rPr lang="en-US" sz="850" dirty="0">
                <a:solidFill>
                  <a:srgbClr val="64748B"/>
                </a:solidFill>
                <a:latin typeface="Calibri" pitchFamily="34" charset="0"/>
                <a:ea typeface="Calibri" pitchFamily="34" charset="-122"/>
                <a:cs typeface="Calibri" pitchFamily="34" charset="-120"/>
              </a:rPr>
              <a:t>Africa Global Logistics – Étude de Marché Jan–Mai 2026  |  p.30</a:t>
            </a:r>
          </a:p>
        </p:txBody>
      </p:sp>
      <p:pic>
        <p:nvPicPr>
          <p:cNvPr id="479" name="Image logo"/>
          <p:cNvPicPr>
            <a:picLocks noChangeAspect="1"/>
          </p:cNvPicPr>
          <p:nvPr/>
        </p:nvPicPr>
        <p:blipFill>
          <a:blip r:embed="rId3" cstate="screen"/>
          <a:stretch>
            <a:fillRect/>
          </a:stretch>
        </p:blipFill>
        <p:spPr>
          <a:xfrm>
            <a:off x="11488450" y="6549898"/>
            <a:ext cx="450027" cy="292409"/>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Focus Ayman Détail">
    <p:bg>
      <p:bgPr>
        <a:solidFill>
          <a:srgbClr val="FFFFFF"/>
        </a:solidFill>
        <a:effectLst/>
      </p:bgPr>
    </p:bg>
    <p:spTree>
      <p:nvGrpSpPr>
        <p:cNvPr id="1" name=""/>
        <p:cNvGrpSpPr/>
        <p:nvPr/>
      </p:nvGrpSpPr>
      <p:grpSpPr>
        <a:xfrm>
          <a:off x="0" y="0"/>
          <a:ext cx="0" cy="0"/>
          <a:chOff x="0" y="0"/>
          <a:chExt cx="0" cy="0"/>
        </a:xfrm>
      </p:grpSpPr>
      <p:sp>
        <p:nvSpPr>
          <p:cNvPr id="480" name="Shape"/>
          <p:cNvSpPr/>
          <p:nvPr/>
        </p:nvSpPr>
        <p:spPr>
          <a:xfrm>
            <a:off x="0" y="0"/>
            <a:ext cx="12161520" cy="1051560"/>
          </a:xfrm>
          <a:prstGeom prst="rect">
            <a:avLst/>
          </a:prstGeom>
          <a:solidFill>
            <a:srgbClr val="0A2240"/>
          </a:solidFill>
          <a:ln w="12700">
            <a:solidFill>
              <a:srgbClr val="0A2240"/>
            </a:solidFill>
            <a:prstDash val="solid"/>
          </a:ln>
        </p:spPr>
        <p:txBody>
          <a:bodyPr/>
          <a:lstStyle/>
          <a:p>
            <a:endParaRPr lang="en-US"/>
          </a:p>
        </p:txBody>
      </p:sp>
      <p:sp>
        <p:nvSpPr>
          <p:cNvPr id="481" name="Text"/>
          <p:cNvSpPr/>
          <p:nvPr/>
        </p:nvSpPr>
        <p:spPr>
          <a:xfrm>
            <a:off x="365760" y="54864"/>
            <a:ext cx="11430000" cy="65836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FOCUS AYMAN – ANALYSE DÉTAILLÉE  |  Forces &amp; Réponse AGL</a:t>
            </a:r>
          </a:p>
        </p:txBody>
      </p:sp>
      <p:sp>
        <p:nvSpPr>
          <p:cNvPr id="482" name="Text"/>
          <p:cNvSpPr/>
          <p:nvPr/>
        </p:nvSpPr>
        <p:spPr>
          <a:xfrm>
            <a:off x="365760" y="676656"/>
            <a:ext cx="11430000" cy="329184"/>
          </a:xfrm>
          <a:prstGeom prst="rect">
            <a:avLst/>
          </a:prstGeom>
          <a:noFill/>
          <a:ln/>
        </p:spPr>
        <p:txBody>
          <a:bodyPr wrap="square" rtlCol="0" anchor="t"/>
          <a:lstStyle/>
          <a:p>
            <a:pPr marL="0" indent="0">
              <a:buNone/>
            </a:pPr>
            <a:r>
              <a:rPr lang="en-US" sz="1200" i="1" dirty="0">
                <a:solidFill>
                  <a:srgbClr val="C8A951"/>
                </a:solidFill>
                <a:latin typeface="Calibri" pitchFamily="34" charset="0"/>
                <a:ea typeface="Calibri" pitchFamily="34" charset="-122"/>
                <a:cs typeface="Calibri" pitchFamily="34" charset="-120"/>
              </a:rPr>
              <a:t>Profil concurrentiel  |  Face-à-face par segment  |  Recommandations</a:t>
            </a:r>
          </a:p>
        </p:txBody>
      </p:sp>
      <p:sp>
        <p:nvSpPr>
          <p:cNvPr id="483" name="Text"/>
          <p:cNvSpPr/>
          <p:nvPr/>
        </p:nvSpPr>
        <p:spPr>
          <a:xfrm>
            <a:off x="320040" y="1143000"/>
            <a:ext cx="5760720" cy="274320"/>
          </a:xfrm>
          <a:prstGeom prst="rect">
            <a:avLst/>
          </a:prstGeom>
          <a:noFill/>
          <a:ln/>
        </p:spPr>
        <p:txBody>
          <a:bodyPr wrap="square" rtlCol="0" anchor="t"/>
          <a:lstStyle/>
          <a:p>
            <a:pPr marL="0" indent="0">
              <a:buNone/>
            </a:pPr>
            <a:r>
              <a:rPr lang="en-US" sz="1200" b="1" dirty="0">
                <a:solidFill>
                  <a:srgbClr val="0A2240"/>
                </a:solidFill>
                <a:latin typeface="Calibri" pitchFamily="34" charset="0"/>
                <a:ea typeface="Calibri" pitchFamily="34" charset="-122"/>
                <a:cs typeface="Calibri" pitchFamily="34" charset="-120"/>
              </a:rPr>
              <a:t>Profil du Groupe AYMAN</a:t>
            </a:r>
          </a:p>
        </p:txBody>
      </p:sp>
      <p:graphicFrame>
        <p:nvGraphicFramePr>
          <p:cNvPr id="484" name="Table"/>
          <p:cNvGraphicFramePr>
            <a:graphicFrameLocks noGrp="1"/>
          </p:cNvGraphicFramePr>
          <p:nvPr/>
        </p:nvGraphicFramePr>
        <p:xfrm>
          <a:off x="320040" y="1444752"/>
          <a:ext cx="5760720" cy="2368296"/>
        </p:xfrm>
        <a:graphic>
          <a:graphicData uri="http://schemas.openxmlformats.org/drawingml/2006/table">
            <a:tbl>
              <a:tblPr/>
              <a:tblGrid>
                <a:gridCol w="1700000"/>
                <a:gridCol w="4060720"/>
              </a:tblGrid>
              <a:tr h="338328">
                <a:tc>
                  <a:txBody>
                    <a:bodyPr/>
                    <a:lstStyle/>
                    <a:p>
                      <a:pPr marL="0" indent="0" algn="ctr">
                        <a:buNone/>
                      </a:pPr>
                      <a:r>
                        <a:rPr lang="en-US" sz="1000" b="1" dirty="0">
                          <a:solidFill>
                            <a:srgbClr val="FFFFFF"/>
                          </a:solidFill>
                        </a:rPr>
                        <a:t>Attribut</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c>
                  <a:txBody>
                    <a:bodyPr/>
                    <a:lstStyle/>
                    <a:p>
                      <a:pPr marL="0" indent="0" algn="ctr">
                        <a:buNone/>
                      </a:pPr>
                      <a:r>
                        <a:rPr lang="en-US" sz="1000" b="1" dirty="0">
                          <a:solidFill>
                            <a:srgbClr val="FFFFFF"/>
                          </a:solidFill>
                        </a:rPr>
                        <a:t>Détail</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2240"/>
                    </a:solidFill>
                  </a:tcPr>
                </a:tc>
              </a:tr>
              <a:tr h="338328">
                <a:tc>
                  <a:txBody>
                    <a:bodyPr/>
                    <a:lstStyle/>
                    <a:p>
                      <a:pPr marL="0" indent="0">
                        <a:buNone/>
                      </a:pPr>
                      <a:r>
                        <a:rPr lang="en-US" sz="950" b="1" dirty="0">
                          <a:solidFill>
                            <a:srgbClr val="334155"/>
                          </a:solidFill>
                        </a:rPr>
                        <a:t>Création</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334155"/>
                          </a:solidFill>
                        </a:rPr>
                        <a:t>~2015 — croissance organique rapide</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buNone/>
                      </a:pPr>
                      <a:r>
                        <a:rPr lang="en-US" sz="950" b="1" dirty="0">
                          <a:solidFill>
                            <a:srgbClr val="334155"/>
                          </a:solidFill>
                        </a:rPr>
                        <a:t>Cœur de métier</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334155"/>
                          </a:solidFill>
                        </a:rPr>
                        <a:t>TIM (fret maritime import) + fret aérien</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buNone/>
                      </a:pPr>
                      <a:r>
                        <a:rPr lang="en-US" sz="950" b="1" dirty="0">
                          <a:solidFill>
                            <a:srgbClr val="334155"/>
                          </a:solidFill>
                        </a:rPr>
                        <a:t>Réseau</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334155"/>
                          </a:solidFill>
                        </a:rPr>
                        <a:t>Abidjan + filiales Mali, Sénégal</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buNone/>
                      </a:pPr>
                      <a:r>
                        <a:rPr lang="en-US" sz="950" b="1" dirty="0">
                          <a:solidFill>
                            <a:srgbClr val="334155"/>
                          </a:solidFill>
                        </a:rPr>
                        <a:t>Clientèle clé</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334155"/>
                          </a:solidFill>
                        </a:rPr>
                        <a:t>PME-PMI importatrices, tech &amp; télécoms</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buNone/>
                      </a:pPr>
                      <a:r>
                        <a:rPr lang="en-US" sz="950" b="1" dirty="0">
                          <a:solidFill>
                            <a:srgbClr val="334155"/>
                          </a:solidFill>
                        </a:rPr>
                        <a:t>Avantages</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334155"/>
                          </a:solidFill>
                        </a:rPr>
                        <a:t>Réactivité, tarifs agressifs, digitalisation</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38328">
                <a:tc>
                  <a:txBody>
                    <a:bodyPr/>
                    <a:lstStyle/>
                    <a:p>
                      <a:pPr marL="0" indent="0">
                        <a:buNone/>
                      </a:pPr>
                      <a:r>
                        <a:rPr lang="en-US" sz="950" b="1" dirty="0">
                          <a:solidFill>
                            <a:srgbClr val="334155"/>
                          </a:solidFill>
                        </a:rPr>
                        <a:t>Croissance</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950" dirty="0">
                          <a:solidFill>
                            <a:srgbClr val="334155"/>
                          </a:solidFill>
                        </a:rPr>
                        <a:t>+18 % volumes 2026 vs 2025</a:t>
                      </a:r>
                      <a:endParaRPr lang="en-US" sz="95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485" name="Text"/>
          <p:cNvSpPr/>
          <p:nvPr/>
        </p:nvSpPr>
        <p:spPr>
          <a:xfrm>
            <a:off x="6309360" y="1143000"/>
            <a:ext cx="5486400" cy="274320"/>
          </a:xfrm>
          <a:prstGeom prst="rect">
            <a:avLst/>
          </a:prstGeom>
          <a:noFill/>
          <a:ln/>
        </p:spPr>
        <p:txBody>
          <a:bodyPr wrap="square" rtlCol="0" anchor="t"/>
          <a:lstStyle/>
          <a:p>
            <a:pPr marL="0" indent="0">
              <a:buNone/>
            </a:pPr>
            <a:r>
              <a:rPr lang="en-US" sz="1200" b="1" dirty="0">
                <a:solidFill>
                  <a:srgbClr val="0A2240"/>
                </a:solidFill>
                <a:latin typeface="Calibri" pitchFamily="34" charset="0"/>
                <a:ea typeface="Calibri" pitchFamily="34" charset="-122"/>
                <a:cs typeface="Calibri" pitchFamily="34" charset="-120"/>
              </a:rPr>
              <a:t>Face-à-face par segment : Ayman vs AGL</a:t>
            </a:r>
          </a:p>
        </p:txBody>
      </p:sp>
      <p:sp>
        <p:nvSpPr>
          <p:cNvPr id="486" name="Shape"/>
          <p:cNvSpPr/>
          <p:nvPr/>
        </p:nvSpPr>
        <p:spPr>
          <a:xfrm>
            <a:off x="6309360" y="1444752"/>
            <a:ext cx="5577840" cy="411480"/>
          </a:xfrm>
          <a:prstGeom prst="roundRect">
            <a:avLst>
              <a:gd name="adj" fmla="val 8889"/>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487" name="Text"/>
          <p:cNvSpPr/>
          <p:nvPr/>
        </p:nvSpPr>
        <p:spPr>
          <a:xfrm>
            <a:off x="6446520" y="1444752"/>
            <a:ext cx="2377440" cy="411480"/>
          </a:xfrm>
          <a:prstGeom prst="rect">
            <a:avLst/>
          </a:prstGeom>
          <a:noFill/>
          <a:ln/>
        </p:spPr>
        <p:txBody>
          <a:bodyPr wrap="square" rtlCol="0" anchor="ctr"/>
          <a:lstStyle/>
          <a:p>
            <a:pPr marL="0" indent="0">
              <a:buNone/>
            </a:pPr>
            <a:r>
              <a:rPr lang="en-US" sz="900" b="1" dirty="0">
                <a:solidFill>
                  <a:srgbClr val="334155"/>
                </a:solidFill>
                <a:latin typeface="Calibri" pitchFamily="34" charset="0"/>
                <a:ea typeface="Calibri" pitchFamily="34" charset="-122"/>
                <a:cs typeface="Calibri" pitchFamily="34" charset="-120"/>
              </a:rPr>
              <a:t>TIM – MACHINES / ÉLECTRO</a:t>
            </a:r>
          </a:p>
        </p:txBody>
      </p:sp>
      <p:sp>
        <p:nvSpPr>
          <p:cNvPr id="488" name="Text"/>
          <p:cNvSpPr/>
          <p:nvPr/>
        </p:nvSpPr>
        <p:spPr>
          <a:xfrm>
            <a:off x="8823960" y="1444752"/>
            <a:ext cx="1417320" cy="41148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Ay ~18%  vs  AGL 11%</a:t>
            </a:r>
          </a:p>
        </p:txBody>
      </p:sp>
      <p:sp>
        <p:nvSpPr>
          <p:cNvPr id="489" name="Text"/>
          <p:cNvSpPr/>
          <p:nvPr/>
        </p:nvSpPr>
        <p:spPr>
          <a:xfrm>
            <a:off x="10241280" y="1444752"/>
            <a:ext cx="1481328" cy="411480"/>
          </a:xfrm>
          <a:prstGeom prst="rect">
            <a:avLst/>
          </a:prstGeom>
          <a:noFill/>
          <a:ln/>
        </p:spPr>
        <p:txBody>
          <a:bodyPr wrap="square" rtlCol="0" anchor="ctr"/>
          <a:lstStyle/>
          <a:p>
            <a:pPr marL="0" indent="0" algn="r">
              <a:buNone/>
            </a:pPr>
            <a:r>
              <a:rPr lang="en-US" sz="900" b="1" dirty="0">
                <a:solidFill>
                  <a:srgbClr val="DC2626"/>
                </a:solidFill>
                <a:latin typeface="Calibri" pitchFamily="34" charset="0"/>
                <a:ea typeface="Calibri" pitchFamily="34" charset="-122"/>
                <a:cs typeface="Calibri" pitchFamily="34" charset="-120"/>
              </a:rPr>
              <a:t>AYMAN</a:t>
            </a:r>
          </a:p>
        </p:txBody>
      </p:sp>
      <p:sp>
        <p:nvSpPr>
          <p:cNvPr id="490" name="Shape"/>
          <p:cNvSpPr/>
          <p:nvPr/>
        </p:nvSpPr>
        <p:spPr>
          <a:xfrm>
            <a:off x="6309360" y="1901952"/>
            <a:ext cx="5577840" cy="411480"/>
          </a:xfrm>
          <a:prstGeom prst="roundRect">
            <a:avLst>
              <a:gd name="adj" fmla="val 8889"/>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491" name="Text"/>
          <p:cNvSpPr/>
          <p:nvPr/>
        </p:nvSpPr>
        <p:spPr>
          <a:xfrm>
            <a:off x="6446520" y="1901952"/>
            <a:ext cx="2377440" cy="411480"/>
          </a:xfrm>
          <a:prstGeom prst="rect">
            <a:avLst/>
          </a:prstGeom>
          <a:noFill/>
          <a:ln/>
        </p:spPr>
        <p:txBody>
          <a:bodyPr wrap="square" rtlCol="0" anchor="ctr"/>
          <a:lstStyle/>
          <a:p>
            <a:pPr marL="0" indent="0">
              <a:buNone/>
            </a:pPr>
            <a:r>
              <a:rPr lang="en-US" sz="900" b="1" dirty="0">
                <a:solidFill>
                  <a:srgbClr val="334155"/>
                </a:solidFill>
                <a:latin typeface="Calibri" pitchFamily="34" charset="0"/>
                <a:ea typeface="Calibri" pitchFamily="34" charset="-122"/>
                <a:cs typeface="Calibri" pitchFamily="34" charset="-120"/>
              </a:rPr>
              <a:t>AÉRIEN – PIÈCES DÉTACHÉES</a:t>
            </a:r>
          </a:p>
        </p:txBody>
      </p:sp>
      <p:sp>
        <p:nvSpPr>
          <p:cNvPr id="492" name="Text"/>
          <p:cNvSpPr/>
          <p:nvPr/>
        </p:nvSpPr>
        <p:spPr>
          <a:xfrm>
            <a:off x="8823960" y="1901952"/>
            <a:ext cx="1417320" cy="41148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Ay ~12%  vs  AGL 8%</a:t>
            </a:r>
          </a:p>
        </p:txBody>
      </p:sp>
      <p:sp>
        <p:nvSpPr>
          <p:cNvPr id="493" name="Text"/>
          <p:cNvSpPr/>
          <p:nvPr/>
        </p:nvSpPr>
        <p:spPr>
          <a:xfrm>
            <a:off x="10241280" y="1901952"/>
            <a:ext cx="1481328" cy="411480"/>
          </a:xfrm>
          <a:prstGeom prst="rect">
            <a:avLst/>
          </a:prstGeom>
          <a:noFill/>
          <a:ln/>
        </p:spPr>
        <p:txBody>
          <a:bodyPr wrap="square" rtlCol="0" anchor="ctr"/>
          <a:lstStyle/>
          <a:p>
            <a:pPr marL="0" indent="0" algn="r">
              <a:buNone/>
            </a:pPr>
            <a:r>
              <a:rPr lang="en-US" sz="900" b="1" dirty="0">
                <a:solidFill>
                  <a:srgbClr val="DC2626"/>
                </a:solidFill>
                <a:latin typeface="Calibri" pitchFamily="34" charset="0"/>
                <a:ea typeface="Calibri" pitchFamily="34" charset="-122"/>
                <a:cs typeface="Calibri" pitchFamily="34" charset="-120"/>
              </a:rPr>
              <a:t>AYMAN</a:t>
            </a:r>
          </a:p>
        </p:txBody>
      </p:sp>
      <p:sp>
        <p:nvSpPr>
          <p:cNvPr id="494" name="Shape"/>
          <p:cNvSpPr/>
          <p:nvPr/>
        </p:nvSpPr>
        <p:spPr>
          <a:xfrm>
            <a:off x="6309360" y="2359152"/>
            <a:ext cx="5577840" cy="411480"/>
          </a:xfrm>
          <a:prstGeom prst="roundRect">
            <a:avLst>
              <a:gd name="adj" fmla="val 8889"/>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495" name="Text"/>
          <p:cNvSpPr/>
          <p:nvPr/>
        </p:nvSpPr>
        <p:spPr>
          <a:xfrm>
            <a:off x="6446520" y="2359152"/>
            <a:ext cx="2377440" cy="411480"/>
          </a:xfrm>
          <a:prstGeom prst="rect">
            <a:avLst/>
          </a:prstGeom>
          <a:noFill/>
          <a:ln/>
        </p:spPr>
        <p:txBody>
          <a:bodyPr wrap="square" rtlCol="0" anchor="ctr"/>
          <a:lstStyle/>
          <a:p>
            <a:pPr marL="0" indent="0">
              <a:buNone/>
            </a:pPr>
            <a:r>
              <a:rPr lang="en-US" sz="900" b="1" dirty="0">
                <a:solidFill>
                  <a:srgbClr val="334155"/>
                </a:solidFill>
                <a:latin typeface="Calibri" pitchFamily="34" charset="0"/>
                <a:ea typeface="Calibri" pitchFamily="34" charset="-122"/>
                <a:cs typeface="Calibri" pitchFamily="34" charset="-120"/>
              </a:rPr>
              <a:t>AÉRIEN – TECH / TÉLÉCOMS</a:t>
            </a:r>
          </a:p>
        </p:txBody>
      </p:sp>
      <p:sp>
        <p:nvSpPr>
          <p:cNvPr id="496" name="Text"/>
          <p:cNvSpPr/>
          <p:nvPr/>
        </p:nvSpPr>
        <p:spPr>
          <a:xfrm>
            <a:off x="8823960" y="2359152"/>
            <a:ext cx="1417320" cy="41148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AGL 33%  vs  Ay ~15%</a:t>
            </a:r>
          </a:p>
        </p:txBody>
      </p:sp>
      <p:sp>
        <p:nvSpPr>
          <p:cNvPr id="497" name="Text"/>
          <p:cNvSpPr/>
          <p:nvPr/>
        </p:nvSpPr>
        <p:spPr>
          <a:xfrm>
            <a:off x="10241280" y="2359152"/>
            <a:ext cx="1481328" cy="411480"/>
          </a:xfrm>
          <a:prstGeom prst="rect">
            <a:avLst/>
          </a:prstGeom>
          <a:noFill/>
          <a:ln/>
        </p:spPr>
        <p:txBody>
          <a:bodyPr wrap="square" rtlCol="0" anchor="ctr"/>
          <a:lstStyle/>
          <a:p>
            <a:pPr marL="0" indent="0" algn="r">
              <a:buNone/>
            </a:pPr>
            <a:r>
              <a:rPr lang="en-US" sz="900" b="1" dirty="0">
                <a:solidFill>
                  <a:srgbClr val="16A34A"/>
                </a:solidFill>
                <a:latin typeface="Calibri" pitchFamily="34" charset="0"/>
                <a:ea typeface="Calibri" pitchFamily="34" charset="-122"/>
                <a:cs typeface="Calibri" pitchFamily="34" charset="-120"/>
              </a:rPr>
              <a:t>AGL</a:t>
            </a:r>
          </a:p>
        </p:txBody>
      </p:sp>
      <p:sp>
        <p:nvSpPr>
          <p:cNvPr id="498" name="Shape"/>
          <p:cNvSpPr/>
          <p:nvPr/>
        </p:nvSpPr>
        <p:spPr>
          <a:xfrm>
            <a:off x="6309360" y="2816352"/>
            <a:ext cx="5577840" cy="411480"/>
          </a:xfrm>
          <a:prstGeom prst="roundRect">
            <a:avLst>
              <a:gd name="adj" fmla="val 8889"/>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499" name="Text"/>
          <p:cNvSpPr/>
          <p:nvPr/>
        </p:nvSpPr>
        <p:spPr>
          <a:xfrm>
            <a:off x="6446520" y="2816352"/>
            <a:ext cx="2377440" cy="411480"/>
          </a:xfrm>
          <a:prstGeom prst="rect">
            <a:avLst/>
          </a:prstGeom>
          <a:noFill/>
          <a:ln/>
        </p:spPr>
        <p:txBody>
          <a:bodyPr wrap="square" rtlCol="0" anchor="ctr"/>
          <a:lstStyle/>
          <a:p>
            <a:pPr marL="0" indent="0">
              <a:buNone/>
            </a:pPr>
            <a:r>
              <a:rPr lang="en-US" sz="900" b="1" dirty="0">
                <a:solidFill>
                  <a:srgbClr val="334155"/>
                </a:solidFill>
                <a:latin typeface="Calibri" pitchFamily="34" charset="0"/>
                <a:ea typeface="Calibri" pitchFamily="34" charset="-122"/>
                <a:cs typeface="Calibri" pitchFamily="34" charset="-120"/>
              </a:rPr>
              <a:t>TIM – MAT. CONSTRUCTION</a:t>
            </a:r>
          </a:p>
        </p:txBody>
      </p:sp>
      <p:sp>
        <p:nvSpPr>
          <p:cNvPr id="500" name="Text"/>
          <p:cNvSpPr/>
          <p:nvPr/>
        </p:nvSpPr>
        <p:spPr>
          <a:xfrm>
            <a:off x="8823960" y="2816352"/>
            <a:ext cx="1417320" cy="41148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AGL 18%  vs  Ay ~10%</a:t>
            </a:r>
          </a:p>
        </p:txBody>
      </p:sp>
      <p:sp>
        <p:nvSpPr>
          <p:cNvPr id="501" name="Text"/>
          <p:cNvSpPr/>
          <p:nvPr/>
        </p:nvSpPr>
        <p:spPr>
          <a:xfrm>
            <a:off x="10241280" y="2816352"/>
            <a:ext cx="1481328" cy="411480"/>
          </a:xfrm>
          <a:prstGeom prst="rect">
            <a:avLst/>
          </a:prstGeom>
          <a:noFill/>
          <a:ln/>
        </p:spPr>
        <p:txBody>
          <a:bodyPr wrap="square" rtlCol="0" anchor="ctr"/>
          <a:lstStyle/>
          <a:p>
            <a:pPr marL="0" indent="0" algn="r">
              <a:buNone/>
            </a:pPr>
            <a:r>
              <a:rPr lang="en-US" sz="900" b="1" dirty="0">
                <a:solidFill>
                  <a:srgbClr val="16A34A"/>
                </a:solidFill>
                <a:latin typeface="Calibri" pitchFamily="34" charset="0"/>
                <a:ea typeface="Calibri" pitchFamily="34" charset="-122"/>
                <a:cs typeface="Calibri" pitchFamily="34" charset="-120"/>
              </a:rPr>
              <a:t>AGL</a:t>
            </a:r>
          </a:p>
        </p:txBody>
      </p:sp>
      <p:sp>
        <p:nvSpPr>
          <p:cNvPr id="502" name="Shape"/>
          <p:cNvSpPr/>
          <p:nvPr/>
        </p:nvSpPr>
        <p:spPr>
          <a:xfrm>
            <a:off x="6309360" y="3273552"/>
            <a:ext cx="5577840" cy="411480"/>
          </a:xfrm>
          <a:prstGeom prst="roundRect">
            <a:avLst>
              <a:gd name="adj" fmla="val 8889"/>
            </a:avLst>
          </a:prstGeom>
          <a:solidFill>
            <a:srgbClr val="FFFFFF"/>
          </a:solidFill>
          <a:ln/>
          <a:effectLst>
            <a:outerShdw blurRad="63500" dist="25400" dir="2700000" algn="bl" rotWithShape="0">
              <a:srgbClr val="000000">
                <a:alpha val="10000"/>
              </a:srgbClr>
            </a:outerShdw>
          </a:effectLst>
        </p:spPr>
        <p:txBody>
          <a:bodyPr/>
          <a:lstStyle/>
          <a:p>
            <a:endParaRPr lang="en-US"/>
          </a:p>
        </p:txBody>
      </p:sp>
      <p:sp>
        <p:nvSpPr>
          <p:cNvPr id="503" name="Text"/>
          <p:cNvSpPr/>
          <p:nvPr/>
        </p:nvSpPr>
        <p:spPr>
          <a:xfrm>
            <a:off x="6446520" y="3273552"/>
            <a:ext cx="2377440" cy="411480"/>
          </a:xfrm>
          <a:prstGeom prst="rect">
            <a:avLst/>
          </a:prstGeom>
          <a:noFill/>
          <a:ln/>
        </p:spPr>
        <p:txBody>
          <a:bodyPr wrap="square" rtlCol="0" anchor="ctr"/>
          <a:lstStyle/>
          <a:p>
            <a:pPr marL="0" indent="0">
              <a:buNone/>
            </a:pPr>
            <a:r>
              <a:rPr lang="en-US" sz="900" b="1" dirty="0">
                <a:solidFill>
                  <a:srgbClr val="334155"/>
                </a:solidFill>
                <a:latin typeface="Calibri" pitchFamily="34" charset="0"/>
                <a:ea typeface="Calibri" pitchFamily="34" charset="-122"/>
                <a:cs typeface="Calibri" pitchFamily="34" charset="-120"/>
              </a:rPr>
              <a:t>TRAMPS – BRBK</a:t>
            </a:r>
          </a:p>
        </p:txBody>
      </p:sp>
      <p:sp>
        <p:nvSpPr>
          <p:cNvPr id="504" name="Text"/>
          <p:cNvSpPr/>
          <p:nvPr/>
        </p:nvSpPr>
        <p:spPr>
          <a:xfrm>
            <a:off x="8823960" y="3273552"/>
            <a:ext cx="1417320" cy="41148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AGL 18%  vs  Ay ~8%</a:t>
            </a:r>
          </a:p>
        </p:txBody>
      </p:sp>
      <p:sp>
        <p:nvSpPr>
          <p:cNvPr id="505" name="Text"/>
          <p:cNvSpPr/>
          <p:nvPr/>
        </p:nvSpPr>
        <p:spPr>
          <a:xfrm>
            <a:off x="10241280" y="3273552"/>
            <a:ext cx="1481328" cy="411480"/>
          </a:xfrm>
          <a:prstGeom prst="rect">
            <a:avLst/>
          </a:prstGeom>
          <a:noFill/>
          <a:ln/>
        </p:spPr>
        <p:txBody>
          <a:bodyPr wrap="square" rtlCol="0" anchor="ctr"/>
          <a:lstStyle/>
          <a:p>
            <a:pPr marL="0" indent="0" algn="r">
              <a:buNone/>
            </a:pPr>
            <a:r>
              <a:rPr lang="en-US" sz="900" b="1" dirty="0">
                <a:solidFill>
                  <a:srgbClr val="16A34A"/>
                </a:solidFill>
                <a:latin typeface="Calibri" pitchFamily="34" charset="0"/>
                <a:ea typeface="Calibri" pitchFamily="34" charset="-122"/>
                <a:cs typeface="Calibri" pitchFamily="34" charset="-120"/>
              </a:rPr>
              <a:t>AGL</a:t>
            </a:r>
          </a:p>
        </p:txBody>
      </p:sp>
      <p:sp>
        <p:nvSpPr>
          <p:cNvPr id="506" name="Shape"/>
          <p:cNvSpPr/>
          <p:nvPr/>
        </p:nvSpPr>
        <p:spPr>
          <a:xfrm>
            <a:off x="320040" y="4160520"/>
            <a:ext cx="5577840" cy="1371600"/>
          </a:xfrm>
          <a:prstGeom prst="roundRect">
            <a:avLst>
              <a:gd name="adj" fmla="val 8000"/>
            </a:avLst>
          </a:prstGeom>
          <a:solidFill>
            <a:srgbClr val="FFF5E6"/>
          </a:solidFill>
          <a:ln/>
        </p:spPr>
        <p:txBody>
          <a:bodyPr/>
          <a:lstStyle/>
          <a:p>
            <a:endParaRPr lang="en-US"/>
          </a:p>
        </p:txBody>
      </p:sp>
      <p:sp>
        <p:nvSpPr>
          <p:cNvPr id="507" name="Text"/>
          <p:cNvSpPr/>
          <p:nvPr/>
        </p:nvSpPr>
        <p:spPr>
          <a:xfrm>
            <a:off x="457200" y="4160520"/>
            <a:ext cx="5303520" cy="1371600"/>
          </a:xfrm>
          <a:prstGeom prst="rect">
            <a:avLst/>
          </a:prstGeom>
          <a:noFill/>
          <a:ln/>
        </p:spPr>
        <p:txBody>
          <a:bodyPr wrap="square" rtlCol="0" anchor="ctr"/>
          <a:lstStyle/>
          <a:p>
            <a:pPr marL="0" indent="0">
              <a:buNone/>
            </a:pPr>
            <a:r>
              <a:rPr lang="en-US" sz="950" b="1" dirty="0">
                <a:solidFill>
                  <a:srgbClr val="EA580C"/>
                </a:solidFill>
                <a:latin typeface="Calibri" pitchFamily="34" charset="0"/>
                <a:ea typeface="Calibri" pitchFamily="34" charset="-122"/>
                <a:cs typeface="Calibri" pitchFamily="34" charset="-120"/>
              </a:rPr>
              <a:t>💡 LECTURE : </a:t>
            </a:r>
            <a:r>
              <a:rPr lang="en-US" sz="950" dirty="0">
                <a:solidFill>
                  <a:srgbClr val="334155"/>
                </a:solidFill>
                <a:latin typeface="Calibri" pitchFamily="34" charset="0"/>
                <a:ea typeface="Calibri" pitchFamily="34" charset="-122"/>
                <a:cs typeface="Calibri" pitchFamily="34" charset="-120"/>
              </a:rPr>
              <a:t>Ayman attaque sur les segments à rotation rapide et petits lots (Machines, Électronique, Pièces détachées) avec une politique tarifaire agressive ciblant les PME-PMI. AGL conserve l'avantage sur les segments à forte technicité et les comptes corporate.</a:t>
            </a:r>
          </a:p>
        </p:txBody>
      </p:sp>
      <p:sp>
        <p:nvSpPr>
          <p:cNvPr id="508" name="Shape"/>
          <p:cNvSpPr/>
          <p:nvPr/>
        </p:nvSpPr>
        <p:spPr>
          <a:xfrm>
            <a:off x="6309360" y="4160520"/>
            <a:ext cx="5577840" cy="1371600"/>
          </a:xfrm>
          <a:prstGeom prst="roundRect">
            <a:avLst>
              <a:gd name="adj" fmla="val 8000"/>
            </a:avLst>
          </a:prstGeom>
          <a:solidFill>
            <a:srgbClr val="FFF5E6"/>
          </a:solidFill>
          <a:ln/>
        </p:spPr>
        <p:txBody>
          <a:bodyPr/>
          <a:lstStyle/>
          <a:p>
            <a:endParaRPr lang="en-US"/>
          </a:p>
        </p:txBody>
      </p:sp>
      <p:sp>
        <p:nvSpPr>
          <p:cNvPr id="509" name="Text"/>
          <p:cNvSpPr/>
          <p:nvPr/>
        </p:nvSpPr>
        <p:spPr>
          <a:xfrm>
            <a:off x="6446520" y="4160520"/>
            <a:ext cx="5303520" cy="1371600"/>
          </a:xfrm>
          <a:prstGeom prst="rect">
            <a:avLst/>
          </a:prstGeom>
          <a:noFill/>
          <a:ln/>
        </p:spPr>
        <p:txBody>
          <a:bodyPr wrap="square" rtlCol="0" anchor="ctr"/>
          <a:lstStyle/>
          <a:p>
            <a:pPr marL="0" indent="0">
              <a:buNone/>
            </a:pPr>
            <a:r>
              <a:rPr lang="en-US" sz="950" b="1" dirty="0">
                <a:solidFill>
                  <a:srgbClr val="EA580C"/>
                </a:solidFill>
                <a:latin typeface="Calibri" pitchFamily="34" charset="0"/>
                <a:ea typeface="Calibri" pitchFamily="34" charset="-122"/>
                <a:cs typeface="Calibri" pitchFamily="34" charset="-120"/>
              </a:rPr>
              <a:t>🎯 RÉPONSE AGL : </a:t>
            </a:r>
            <a:r>
              <a:rPr lang="en-US" sz="950" dirty="0">
                <a:solidFill>
                  <a:srgbClr val="334155"/>
                </a:solidFill>
                <a:latin typeface="Calibri" pitchFamily="34" charset="0"/>
                <a:ea typeface="Calibri" pitchFamily="34" charset="-122"/>
                <a:cs typeface="Calibri" pitchFamily="34" charset="-120"/>
              </a:rPr>
              <a:t>1) Tarification ciblée Machines / Électronique (TIM). 2) Service premium Pièces Détachées avec engagement délais (Aérien). 3) Verrouillage des clients communs (SITAB, importateurs télécoms) par contrats cadres. 4) Surveillance trimestrielle des volumes DJAM DKS et HANNYYAH.</a:t>
            </a:r>
          </a:p>
        </p:txBody>
      </p:sp>
      <p:sp>
        <p:nvSpPr>
          <p:cNvPr id="510" name="Text"/>
          <p:cNvSpPr/>
          <p:nvPr/>
        </p:nvSpPr>
        <p:spPr>
          <a:xfrm>
            <a:off x="365760" y="6601968"/>
            <a:ext cx="11430000" cy="201168"/>
          </a:xfrm>
          <a:prstGeom prst="rect">
            <a:avLst/>
          </a:prstGeom>
          <a:noFill/>
          <a:ln/>
        </p:spPr>
        <p:txBody>
          <a:bodyPr wrap="square" rtlCol="0" anchor="t"/>
          <a:lstStyle/>
          <a:p>
            <a:pPr marL="0" indent="0" algn="ctr">
              <a:buNone/>
            </a:pPr>
            <a:r>
              <a:rPr lang="en-US" sz="850" dirty="0">
                <a:solidFill>
                  <a:srgbClr val="64748B"/>
                </a:solidFill>
                <a:latin typeface="Calibri" pitchFamily="34" charset="0"/>
                <a:ea typeface="Calibri" pitchFamily="34" charset="-122"/>
                <a:cs typeface="Calibri" pitchFamily="34" charset="-120"/>
              </a:rPr>
              <a:t>Africa Global Logistics – Étude de Marché Jan–Mai 2026  |  p.31</a:t>
            </a:r>
          </a:p>
        </p:txBody>
      </p:sp>
      <p:pic>
        <p:nvPicPr>
          <p:cNvPr id="511" name="Image logo"/>
          <p:cNvPicPr>
            <a:picLocks noChangeAspect="1"/>
          </p:cNvPicPr>
          <p:nvPr/>
        </p:nvPicPr>
        <p:blipFill>
          <a:blip r:embed="rId3" cstate="screen"/>
          <a:stretch>
            <a:fillRect/>
          </a:stretch>
        </p:blipFill>
        <p:spPr>
          <a:xfrm>
            <a:off x="11488450" y="6549898"/>
            <a:ext cx="450027" cy="29240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c24caf1-31f7-40c1-bde0-ca915f0156e3}" enabled="1" method="Standard" siteId="{088e9b00-ffd0-458e-bfa1-acf4c596d3cb}" contentBits="2" removed="0"/>
</clbl:labelList>
</file>

<file path=docProps/app.xml><?xml version="1.0" encoding="utf-8"?>
<Properties xmlns="http://schemas.openxmlformats.org/officeDocument/2006/extended-properties" xmlns:vt="http://schemas.openxmlformats.org/officeDocument/2006/docPropsVTypes">
  <TotalTime>2</TotalTime>
  <Words>3056</Words>
  <Application>Microsoft Office PowerPoint</Application>
  <PresentationFormat>Grand écran</PresentationFormat>
  <Paragraphs>768</Paragraphs>
  <Slides>21</Slides>
  <Notes>21</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21</vt:i4>
      </vt:variant>
    </vt:vector>
  </HeadingPairs>
  <TitlesOfParts>
    <vt:vector size="25" baseType="lpstr">
      <vt:lpstr>Aptos</vt: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AGL – Étude de Marché Jan–Mai 2026</dc:title>
  <dc:subject>PptxGenJS Presentation</dc:subject>
  <dc:creator>PptxGenJS</dc:creator>
  <cp:lastModifiedBy>Olivier Assaf Germanos (AGL)</cp:lastModifiedBy>
  <cp:revision>3</cp:revision>
  <dcterms:created xsi:type="dcterms:W3CDTF">2026-06-09T08:53:20Z</dcterms:created>
  <dcterms:modified xsi:type="dcterms:W3CDTF">2026-06-09T09:48:01Z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Theme:3</vt:lpwstr>
  </property>
  <property fmtid="{D5CDD505-2E9C-101B-9397-08002B2CF9AE}" pid="3" name="ClassificationContentMarkingFooterText">
    <vt:lpwstr>Sensitivity: Internal</vt:lpwstr>
  </property>
</Properties>
</file>