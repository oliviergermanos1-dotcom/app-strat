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qualifié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41800</c:v>
                </c:pt>
                <c:pt idx="1">
                  <c:v>36800</c:v>
                </c:pt>
                <c:pt idx="2">
                  <c:v>43600</c:v>
                </c:pt>
                <c:pt idx="3">
                  <c:v>38500</c:v>
                </c:pt>
                <c:pt idx="4">
                  <c:v>33200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3470</c:v>
                </c:pt>
                <c:pt idx="1">
                  <c:v>2544</c:v>
                </c:pt>
                <c:pt idx="2">
                  <c:v>3270</c:v>
                </c:pt>
                <c:pt idx="3">
                  <c:v>3278</c:v>
                </c:pt>
                <c:pt idx="4">
                  <c:v>2571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243"/>
              </a:solidFill>
              <a:effectLst/>
            </c:spPr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bubble3D val="0"/>
            <c:spPr>
              <a:solidFill>
                <a:srgbClr val="2563A8"/>
              </a:solidFill>
              <a:effectLst/>
            </c:spPr>
          </c:dPt>
          <c:dPt>
            <c:idx val="3"/>
            <c:bubble3D val="0"/>
            <c:spPr>
              <a:solidFill>
                <a:srgbClr val="1A7C4F"/>
              </a:solidFill>
              <a:effectLst/>
            </c:spPr>
          </c:dPt>
          <c:dPt>
            <c:idx val="4"/>
            <c:bubble3D val="0"/>
            <c:spPr>
              <a:solidFill>
                <a:srgbClr val="E05A00"/>
              </a:solidFill>
              <a:effectLst/>
            </c:spPr>
          </c:dPt>
          <c:dPt>
            <c:idx val="5"/>
            <c:bubble3D val="0"/>
            <c:spPr>
              <a:solidFill>
                <a:srgbClr val="0E7490"/>
              </a:solidFill>
              <a:effectLst/>
            </c:spPr>
          </c:dPt>
          <c:dPt>
            <c:idx val="6"/>
            <c:bubble3D val="0"/>
            <c:spPr>
              <a:solidFill>
                <a:srgbClr val="CC2200"/>
              </a:solidFill>
              <a:effectLst/>
            </c:spPr>
          </c:dPt>
          <c:dPt>
            <c:idx val="7"/>
            <c:bubble3D val="0"/>
            <c:spPr>
              <a:solidFill>
                <a:srgbClr val="9CA3AF"/>
              </a:solidFill>
              <a:effectLst/>
            </c:spPr>
          </c:dPt>
          <c:dPt>
            <c:idx val="8"/>
            <c:bubble3D val="0"/>
            <c:spPr>
              <a:solidFill>
                <a:srgbClr val="D1D5D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Mat. Miniers</c:v>
                </c:pt>
                <c:pt idx="1">
                  <c:v>Emballages</c:v>
                </c:pt>
                <c:pt idx="2">
                  <c:v>Mat. Construction</c:v>
                </c:pt>
                <c:pt idx="3">
                  <c:v>Médicaments</c:v>
                </c:pt>
                <c:pt idx="4">
                  <c:v>PVC Résine</c:v>
                </c:pt>
                <c:pt idx="5">
                  <c:v>Papier</c:v>
                </c:pt>
                <c:pt idx="6">
                  <c:v>Cigarettes</c:v>
                </c:pt>
                <c:pt idx="7">
                  <c:v>Polyéthylène</c:v>
                </c:pt>
                <c:pt idx="8">
                  <c:v>Autres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16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24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qualifié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28900</c:v>
                </c:pt>
                <c:pt idx="1">
                  <c:v>26900</c:v>
                </c:pt>
                <c:pt idx="2">
                  <c:v>28100</c:v>
                </c:pt>
                <c:pt idx="3">
                  <c:v>31200</c:v>
                </c:pt>
                <c:pt idx="4">
                  <c:v>22400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8766</c:v>
                </c:pt>
                <c:pt idx="1">
                  <c:v>6778</c:v>
                </c:pt>
                <c:pt idx="2">
                  <c:v>8093</c:v>
                </c:pt>
                <c:pt idx="3">
                  <c:v>7895</c:v>
                </c:pt>
                <c:pt idx="4">
                  <c:v>4518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Filières TEM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243"/>
              </a:solidFill>
              <a:effectLst/>
            </c:spPr>
          </c:dPt>
          <c:dPt>
            <c:idx val="1"/>
            <c:bubble3D val="0"/>
            <c:spPr>
              <a:solidFill>
                <a:srgbClr val="1A7C4F"/>
              </a:solidFill>
              <a:effectLst/>
            </c:spPr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bubble3D val="0"/>
            <c:spPr>
              <a:solidFill>
                <a:srgbClr val="E05A00"/>
              </a:solidFill>
              <a:effectLst/>
            </c:spPr>
          </c:dPt>
          <c:dPt>
            <c:idx val="4"/>
            <c:bubble3D val="0"/>
            <c:spPr>
              <a:solidFill>
                <a:srgbClr val="2563A8"/>
              </a:solidFill>
              <a:effectLst/>
            </c:spPr>
          </c:dPt>
          <c:dPt>
            <c:idx val="5"/>
            <c:bubble3D val="0"/>
            <c:spPr>
              <a:solidFill>
                <a:srgbClr val="0E7490"/>
              </a:solidFill>
              <a:effectLst/>
            </c:spPr>
          </c:dPt>
          <c:dPt>
            <c:idx val="6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Cacao</c:v>
                </c:pt>
                <c:pt idx="1">
                  <c:v>Bananes</c:v>
                </c:pt>
                <c:pt idx="2">
                  <c:v>Caoutchouc</c:v>
                </c:pt>
                <c:pt idx="3">
                  <c:v>Dérivés cacao</c:v>
                </c:pt>
                <c:pt idx="4">
                  <c:v>Coton</c:v>
                </c:pt>
                <c:pt idx="5">
                  <c:v>Cajou</c:v>
                </c:pt>
                <c:pt idx="6">
                  <c:v>Autres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36</c:v>
                </c:pt>
                <c:pt idx="1">
                  <c:v>20</c:v>
                </c:pt>
                <c:pt idx="2">
                  <c:v>18</c:v>
                </c:pt>
                <c:pt idx="3">
                  <c:v>13</c:v>
                </c:pt>
                <c:pt idx="4">
                  <c:v>8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qualifié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5400</c:v>
                </c:pt>
                <c:pt idx="1">
                  <c:v>5800</c:v>
                </c:pt>
                <c:pt idx="2">
                  <c:v>5600</c:v>
                </c:pt>
                <c:pt idx="3">
                  <c:v>6100</c:v>
                </c:pt>
                <c:pt idx="4">
                  <c:v>5550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E05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886</c:v>
                </c:pt>
                <c:pt idx="1">
                  <c:v>598</c:v>
                </c:pt>
                <c:pt idx="2">
                  <c:v>431</c:v>
                </c:pt>
                <c:pt idx="3">
                  <c:v>652</c:v>
                </c:pt>
                <c:pt idx="4">
                  <c:v>647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total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870</c:v>
                </c:pt>
                <c:pt idx="1">
                  <c:v>950</c:v>
                </c:pt>
                <c:pt idx="2">
                  <c:v>900</c:v>
                </c:pt>
                <c:pt idx="3">
                  <c:v>820</c:v>
                </c:pt>
                <c:pt idx="4">
                  <c:v>754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AGL</c:v>
                </c:pt>
              </c:strCache>
            </c:strRef>
          </c:tx>
          <c:spPr>
            <a:solidFill>
              <a:srgbClr val="1A7C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441</c:v>
                </c:pt>
                <c:pt idx="1">
                  <c:v>693</c:v>
                </c:pt>
                <c:pt idx="2">
                  <c:v>647</c:v>
                </c:pt>
                <c:pt idx="3">
                  <c:v>559</c:v>
                </c:pt>
                <c:pt idx="4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2025 (kg)</c:v>
                </c:pt>
              </c:strCache>
            </c:strRef>
          </c:tx>
          <c:spPr>
            <a:solidFill>
              <a:srgbClr val="0D22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1180000</c:v>
                </c:pt>
                <c:pt idx="1">
                  <c:v>1020000</c:v>
                </c:pt>
                <c:pt idx="2">
                  <c:v>1100000</c:v>
                </c:pt>
                <c:pt idx="3">
                  <c:v>1150000</c:v>
                </c:pt>
                <c:pt idx="4">
                  <c:v>1071000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Marché 2026 (kg)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Janv.</c:v>
                  </c:pt>
                  <c:pt idx="1">
                    <c:v>Févr.</c:v>
                  </c:pt>
                  <c:pt idx="2">
                    <c:v>Mars</c:v>
                  </c:pt>
                  <c:pt idx="3">
                    <c:v>Avr.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1220000</c:v>
                </c:pt>
                <c:pt idx="1">
                  <c:v>1050000</c:v>
                </c:pt>
                <c:pt idx="2">
                  <c:v>1130000</c:v>
                </c:pt>
                <c:pt idx="3">
                  <c:v>1050000</c:v>
                </c:pt>
                <c:pt idx="4">
                  <c:v>1153000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 Aérien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243"/>
              </a:solidFill>
              <a:effectLst/>
            </c:spPr>
          </c:dPt>
          <c:dPt>
            <c:idx val="1"/>
            <c:bubble3D val="0"/>
            <c:spPr>
              <a:solidFill>
                <a:srgbClr val="1A7C4F"/>
              </a:solidFill>
              <a:effectLst/>
            </c:spPr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bubble3D val="0"/>
            <c:spPr>
              <a:solidFill>
                <a:srgbClr val="E05A00"/>
              </a:solidFill>
              <a:effectLst/>
            </c:spPr>
          </c:dPt>
          <c:dPt>
            <c:idx val="4"/>
            <c:bubble3D val="0"/>
            <c:spPr>
              <a:solidFill>
                <a:srgbClr val="0E7490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Mat. Miniers</c:v>
                </c:pt>
                <c:pt idx="1">
                  <c:v>Prod. Alimentaires</c:v>
                </c:pt>
                <c:pt idx="2">
                  <c:v>Médicaments</c:v>
                </c:pt>
                <c:pt idx="3">
                  <c:v>Télécoms</c:v>
                </c:pt>
                <c:pt idx="4">
                  <c:v>Alimentaire</c:v>
                </c:pt>
                <c:pt idx="5">
                  <c:v>Autres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27</c:v>
                </c:pt>
                <c:pt idx="1">
                  <c:v>23</c:v>
                </c:pt>
                <c:pt idx="2">
                  <c:v>5</c:v>
                </c:pt>
                <c:pt idx="3">
                  <c:v>6</c:v>
                </c:pt>
                <c:pt idx="4">
                  <c:v>3</c:v>
                </c:pt>
                <c:pt idx="5">
                  <c:v>36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3246120"/>
            <a:ext cx="77724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Stratégique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42519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heart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Africa's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6537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Marketing &amp; RP  |  AGL Abidjan  |  Juin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métier – 5 segments + synthèse stratégique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  p.2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14300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280160"/>
            <a:ext cx="502920" cy="50292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" y="1892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Transit Import Maritime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3134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#1 – PDM 7,8% sur 193 989 TEU qualifiés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14300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0248" y="1280160"/>
            <a:ext cx="502920" cy="502920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4" name="Text 12"/>
          <p:cNvSpPr/>
          <p:nvPr/>
        </p:nvSpPr>
        <p:spPr>
          <a:xfrm>
            <a:off x="427024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0248" y="1892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Transit Export Maritime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70248" y="23134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absolue – 26,2% PDM sur 137 283 TEU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14300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1280160"/>
            <a:ext cx="502920" cy="502920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47888" y="18928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Maritime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47888" y="23134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→ objectif #2 : 11,3% PDM sur 28 457 TEU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06324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3200400"/>
            <a:ext cx="502920" cy="5029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2608" y="38130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Maritime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" y="4233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#1 – 66,1% PDM  |  Bamako–Ouagadougou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60520" y="306324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0248" y="3200400"/>
            <a:ext cx="502920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9" name="Text 27"/>
          <p:cNvSpPr/>
          <p:nvPr/>
        </p:nvSpPr>
        <p:spPr>
          <a:xfrm>
            <a:off x="427024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70248" y="38130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70248" y="4233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 – 20,8% PDM  |  Croissance forte Jan→Mai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3063240"/>
            <a:ext cx="3840480" cy="1828800"/>
          </a:xfrm>
          <a:prstGeom prst="rect">
            <a:avLst/>
          </a:prstGeom>
          <a:solidFill>
            <a:srgbClr val="F0F2F5"/>
          </a:solidFill>
          <a:ln w="6350">
            <a:solidFill>
              <a:srgbClr val="DDE0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3200400"/>
            <a:ext cx="502920" cy="5029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4" name="Text 32"/>
          <p:cNvSpPr/>
          <p:nvPr/>
        </p:nvSpPr>
        <p:spPr>
          <a:xfrm>
            <a:off x="824788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47888" y="38130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47888" y="42336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IMPORT MARITIME (TIM)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193 989 TEU qualifiés  |  PDM AGL : 7,8%  |  Leader 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: 193 989 TEU  |  AGL : 15 133 TEU  |  PDM AGL : 7,8% (Leader #1)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193 989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 2026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15 133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 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– Leader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VS #2 STRACOTRANS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d'avance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PDM TOP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29,1 %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AGL+STRAC+TGR+GTC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marché TIM &amp; AGL (TEU)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TIM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2500077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2078377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2259106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234947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92240" y="5212080"/>
            <a:ext cx="5486400" cy="685800"/>
          </a:xfrm>
          <a:prstGeom prst="rect">
            <a:avLst/>
          </a:prstGeom>
          <a:solidFill>
            <a:srgbClr val="F0FDF4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83680" y="52852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PDM réelle (qualifiée) : 7,8% vs 7,3% brut. L'exclusion du Non Apuré révèle la vraie position AGL. Avance sur STRACOTRANS : seulement +558 TEU — position à consolider en urgence.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ANALYSE CONCURRENTIELLE &amp; SEGMENTS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PDM qualifié  |  Top marchandises AGL  |  Opportunités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Transitaires – TIM (hors Non Apuré, SIR CI, SMB)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15 133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STRACOTRANS 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14 575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TGR (Transit Général Rapide)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13 663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TRANSIT CI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12 028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DJAM DKS TRANSIT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10 862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MANUTENTION CI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10 203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PROFESIONNEL TRANSIT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9 479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TRANSIT CI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6 137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5 680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TRANSIT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5 274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2,7 %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983480"/>
            <a:ext cx="6217920" cy="6858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5056632"/>
            <a:ext cx="6035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TIM : Leader de justesse (+558 TEU sur STRACOTRANS). Forces : Mat. Miniers (74% PDM), Médicaments (50%), PVC (32%).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segment – TIM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2 231 TEU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Shape 67"/>
          <p:cNvSpPr/>
          <p:nvPr/>
        </p:nvSpPr>
        <p:spPr>
          <a:xfrm>
            <a:off x="9052560" y="1426464"/>
            <a:ext cx="2029968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0" name="Text 68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1 936 TEU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Shape 72"/>
          <p:cNvSpPr/>
          <p:nvPr/>
        </p:nvSpPr>
        <p:spPr>
          <a:xfrm>
            <a:off x="9052560" y="1810512"/>
            <a:ext cx="1371600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5" name="Text 73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RÉSINE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2 881 TEU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Shape 77"/>
          <p:cNvSpPr/>
          <p:nvPr/>
        </p:nvSpPr>
        <p:spPr>
          <a:xfrm>
            <a:off x="9052560" y="2194560"/>
            <a:ext cx="877824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0" name="Text 78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492240" y="2542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CONSTRUCTION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156448" y="2542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5 478 TEU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052560" y="257860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9052560" y="2578608"/>
            <a:ext cx="49377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85" name="Text 83"/>
          <p:cNvSpPr/>
          <p:nvPr/>
        </p:nvSpPr>
        <p:spPr>
          <a:xfrm>
            <a:off x="1184148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9224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&amp; DÉRIVÉS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156448" y="2926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5 024 TEU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052560" y="296265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Shape 87"/>
          <p:cNvSpPr/>
          <p:nvPr/>
        </p:nvSpPr>
        <p:spPr>
          <a:xfrm>
            <a:off x="9052560" y="2962656"/>
            <a:ext cx="411480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90" name="Text 88"/>
          <p:cNvSpPr/>
          <p:nvPr/>
        </p:nvSpPr>
        <p:spPr>
          <a:xfrm>
            <a:off x="11841480" y="2926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49224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LAIT EN POUDRE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156448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1 121 TEU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052560" y="334670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Shape 92"/>
          <p:cNvSpPr/>
          <p:nvPr/>
        </p:nvSpPr>
        <p:spPr>
          <a:xfrm>
            <a:off x="9052560" y="3346704"/>
            <a:ext cx="384048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95" name="Text 93"/>
          <p:cNvSpPr/>
          <p:nvPr/>
        </p:nvSpPr>
        <p:spPr>
          <a:xfrm>
            <a:off x="11841480" y="3310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492240" y="3694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56448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8 951 TEU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052560" y="373075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Shape 97"/>
          <p:cNvSpPr/>
          <p:nvPr/>
        </p:nvSpPr>
        <p:spPr>
          <a:xfrm>
            <a:off x="9052560" y="3730752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00" name="Text 98"/>
          <p:cNvSpPr/>
          <p:nvPr/>
        </p:nvSpPr>
        <p:spPr>
          <a:xfrm>
            <a:off x="11841480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492240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156448" y="40782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4 781 TEU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9052560" y="411480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052560" y="4114800"/>
            <a:ext cx="301752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05" name="Text 103"/>
          <p:cNvSpPr/>
          <p:nvPr/>
        </p:nvSpPr>
        <p:spPr>
          <a:xfrm>
            <a:off x="11841480" y="40782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492240" y="44622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MER CONGELÉ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156448" y="4462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22 915 TEU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9052560" y="449884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052560" y="4498848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10" name="Text 108"/>
          <p:cNvSpPr/>
          <p:nvPr/>
        </p:nvSpPr>
        <p:spPr>
          <a:xfrm>
            <a:off x="11841480" y="44622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6492240" y="4846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156448" y="4846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9 586 TEU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9052560" y="488289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052560" y="4882896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15" name="Text 113"/>
          <p:cNvSpPr/>
          <p:nvPr/>
        </p:nvSpPr>
        <p:spPr>
          <a:xfrm>
            <a:off x="11841480" y="4846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492240" y="5230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VIANDES CONGELÉES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8156448" y="5230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9 470 TEU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9052560" y="526694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052560" y="5266944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20" name="Text 118"/>
          <p:cNvSpPr/>
          <p:nvPr/>
        </p:nvSpPr>
        <p:spPr>
          <a:xfrm>
            <a:off x="11841480" y="5230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CLIENTÈLE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destinataires  |  Mix marchandises  |  Risques concentration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clients AGL – TIM (Destinataires, TEU)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(Destinataire)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39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1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743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Vol. AGL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MINING SA CI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739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1 531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SITAB CI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741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Cigares/Cigarettes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SCCI (PVC Compoundage CI)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739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Résine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ALLIAD CI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739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Polyéthylène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743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SOCIFAD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739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Divers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743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PROD ALIM CONGELÉ CI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39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Mer Congelé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743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SONACO CI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739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741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743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UBIPHARM CÔTE D'IVOIRE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739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741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743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SOLIBRA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739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741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Boissons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743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TRANSFO INDUS CI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739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741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743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92040"/>
            <a:ext cx="640080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65192"/>
            <a:ext cx="6217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Concentration : K1 Mining seul = 10,1% du volume AGL TIM. Risque client unique.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Opportunités cross-sell : SITAB (TIM+AER), UBIPHARM (TIM+AER+HINT IMP), SOLIBRA = clients multi-métiers à développer.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marchandises AGL – TIM</a:t>
            </a:r>
            <a:endParaRPr lang="en-US" sz="11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6675120" y="137160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NOUVEAUX ENTRANTS &amp; NOUVEAUX FLUX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entrants (rangs 11–15)  |  Nouvelles marchandises captées  |  Nouveaux destinataires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transitaires TIM (rangs 11–15)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8254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7987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7206" y="140817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521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ATLANTIQUE TRANSIT CI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8254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3 820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7987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77206" y="1664208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Emball. / Plastiques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WESTAFRICA LOG. CI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8254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3 410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7987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77206" y="1920240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TRANSIT RAPID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8254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3 180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7987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77206" y="2176272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Chimie / Pharma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 LOGISTICS CI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8254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2 950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7987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77206" y="2432304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SOCOPHAR TRANSIT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08254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2 640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7987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77206" y="2688336"/>
            <a:ext cx="145161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28600" y="281635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destinataires AGL – TIM (1er flux 2026)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37160" y="3090672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46" name="Text 44"/>
          <p:cNvSpPr/>
          <p:nvPr/>
        </p:nvSpPr>
        <p:spPr>
          <a:xfrm>
            <a:off x="1737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7739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741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74336" y="312724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37160" y="3346704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CI (équipements)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7739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3741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74336" y="338328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37160" y="360273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37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CI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7739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741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Alim. industriel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74336" y="363931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37160" y="385876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FOXTROT INTERNATIONAL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7739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741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974336" y="389534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37160" y="411480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37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RE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7739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741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974336" y="41513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37160" y="4370832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CI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7739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3741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974336" y="44074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marchandises captées par AGL – TIM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67512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TÉLÉCOMMUNICATIONS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339328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1 240 TEU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235440" y="145389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Shape 77"/>
          <p:cNvSpPr/>
          <p:nvPr/>
        </p:nvSpPr>
        <p:spPr>
          <a:xfrm>
            <a:off x="9235440" y="1453896"/>
            <a:ext cx="246888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80" name="Text 78"/>
          <p:cNvSpPr/>
          <p:nvPr/>
        </p:nvSpPr>
        <p:spPr>
          <a:xfrm>
            <a:off x="12024360" y="1417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675120" y="1801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HUILES VÉGÉTALES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339328" y="1801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 TEU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235440" y="183794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9235440" y="1837944"/>
            <a:ext cx="164592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85" name="Text 83"/>
          <p:cNvSpPr/>
          <p:nvPr/>
        </p:nvSpPr>
        <p:spPr>
          <a:xfrm>
            <a:off x="12024360" y="1801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675120" y="2185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FERTILISANTS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339328" y="21854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TEU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235440" y="222199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Shape 87"/>
          <p:cNvSpPr/>
          <p:nvPr/>
        </p:nvSpPr>
        <p:spPr>
          <a:xfrm>
            <a:off x="9235440" y="2221992"/>
            <a:ext cx="109728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90" name="Text 88"/>
          <p:cNvSpPr/>
          <p:nvPr/>
        </p:nvSpPr>
        <p:spPr>
          <a:xfrm>
            <a:off x="12024360" y="2185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675120" y="2569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ÉLECTRIQUES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339328" y="2569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TEU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235440" y="260604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Shape 92"/>
          <p:cNvSpPr/>
          <p:nvPr/>
        </p:nvSpPr>
        <p:spPr>
          <a:xfrm>
            <a:off x="9235440" y="2606040"/>
            <a:ext cx="8229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95" name="Text 93"/>
          <p:cNvSpPr/>
          <p:nvPr/>
        </p:nvSpPr>
        <p:spPr>
          <a:xfrm>
            <a:off x="12024360" y="256946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675120" y="3840480"/>
            <a:ext cx="5303520" cy="91440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766560" y="3913632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ALERTE : CEVA Logistics CI (groupe CMA CGM) entre dans le top 15 TIM en quelques mois — déploiement multi-métiers à surveiller en priorité. Télécoms : 9% PDM dès la 1ère année (effet 5G CI).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EXPORT MARITIME (TEM)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137 283 TEU  |  PDM AGL : 26,2%  |  #1 incontesté, ×4,7 le second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absolu – PDM AGL 26,2%  |  Marché : 137 283 TEU  |  ×4,7 sur le 2ème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137 283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35 972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– Dominance absolue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VS #2 MAERSK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28 242 TEU d'avance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JANV. (PEAK)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30,3 %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max de la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marché TEM &amp; AGL (TEU)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TEM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30,3 %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2129375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2433571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137825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1698430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20,1 %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92240" y="5212080"/>
            <a:ext cx="548640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83680" y="52852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ALERTE MAI : PDM chute à 20,1% (–10,2 pts vs Janvier). Marché en recul de –22% (28 586→22 421 TEU). Causes : fin saison cacao, recul cajou. Plan de relance à activer juin–juillet.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SEGMENTS &amp; CONCURRENTS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premières agricoles  |  PDM AGL par filière  |  Corridors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filière export – 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136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6 908 TEU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426464"/>
            <a:ext cx="2029968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DÉRIVÉS DE CACAO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0136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11 411 TEU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9748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1810512"/>
            <a:ext cx="1344168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0136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46 407 TEU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9748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2697480" y="2194560"/>
            <a:ext cx="877824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160" y="2542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01368" y="2542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4 179 TEU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257860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7480" y="2578608"/>
            <a:ext cx="795528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 USINE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01368" y="2926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35 516 TEU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97480" y="296265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7480" y="2962656"/>
            <a:ext cx="49377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2926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716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01368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3 777 TEU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97480" y="334670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Shape 34"/>
          <p:cNvSpPr/>
          <p:nvPr/>
        </p:nvSpPr>
        <p:spPr>
          <a:xfrm>
            <a:off x="2697480" y="3346704"/>
            <a:ext cx="35661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3310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" y="3694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AMANDE DE CAJOU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2 744 TEU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97480" y="373075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2697480" y="3730752"/>
            <a:ext cx="19202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0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7160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NOIX DE CAJOU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801368" y="40782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13 129 TEU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697480" y="411480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2697480" y="4114800"/>
            <a:ext cx="137160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0" y="40782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concurrentiel – TEM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1371600"/>
            <a:ext cx="566928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0" name="Text 48"/>
          <p:cNvSpPr/>
          <p:nvPr/>
        </p:nvSpPr>
        <p:spPr>
          <a:xfrm>
            <a:off x="643737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488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6014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3540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00800" y="1627632"/>
            <a:ext cx="566928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3737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488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6014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35 972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3540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26,2 %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00800" y="1883664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737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488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LOGISTIC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6014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7 730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3540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00800" y="2139696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3737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488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IVOIRE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014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7 671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3540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00800" y="2395728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3737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488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MANUTENTION CI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6014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5 893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3540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4,3 %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400800" y="2651760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3737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8488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6014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5 760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540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00800" y="2907792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3737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488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 CI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6014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4 921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3540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3,6 %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00800" y="3163824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3737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8488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SDMA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6014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4 902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03540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3,6 %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00800" y="3419856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737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8488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SERVICE INTL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6014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4 411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3540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00800" y="3675888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3737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8488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MOVIS TRANSIT CI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6014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4 067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3540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00800" y="3931920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3737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8488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 CI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014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4 010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03540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2,9 %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37160" y="4937760"/>
            <a:ext cx="11795760" cy="6858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28600" y="5010912"/>
            <a:ext cx="11612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POSITION TEM : AGL détient 26,2% du marché qualifié – soit 4,7x le 2ème acteur. Forces : Bananes (74% PDM), Dérivés cacao (49%), Cacao (32%). Levier : Noix de Cajou (13 129 TEU marché, seulement 5,4% PDM AGL) = +860 TEU si PDM portée à 12%.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CLIENTÈLE CHARGEURS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chargeurs  |  Répartition filières  |  Risques &amp; opportunités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chargeurs AGL – TEM (TEU)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39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1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743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Vol. AGL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 WEST AFRICA (CACAO)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739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3 219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EGLIN (PLANTATION)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741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SOURCING PRODUCE CI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739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2 425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 COCOA SA (DÉRIVÉS)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739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2 264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Dérivés cacao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743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CYRIAN INTERNATIONAL CI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739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2 191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743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COCOA PROCESSING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39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2 068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743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KINEDEN COMMODITIES SA CI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739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1 256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741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743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AGRI RUBBER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739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741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743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739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1 155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741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743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COTON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739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1 092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741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743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92040"/>
            <a:ext cx="6400800" cy="9144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65192"/>
            <a:ext cx="6217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Cargill groupe (Cacao + Dérivés) = 15,3% du volume AGL TEM. Concentration filière cacao à surveiller.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Bananes (74% PDM) : JEAN EGLIN, AFRICA SOURCING, CYRIAN = 3 chargeurs = 23,1% du volume. Fidélisation critique.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Cajou (5,4% PDM, 13 129 TEU marché) : objectif +860 TEU via approche commerciale OUTSPAN CI, STE IVOIRIENNE NOIX.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AGL par filière export – TEM</a:t>
            </a:r>
            <a:endParaRPr lang="en-US" sz="11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6675120" y="137160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– NOUVEAUX CHARGEURS &amp; NOUVELLES FILIÈRES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Chargeurs entrés en 2026  |  Nouvelles filières export AGL  |  Opportunité Cajou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chargeurs AGL – TEM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CI-ÉNERGIES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 GROUP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Mangue / Fruits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COOPERX CAJOU CI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2821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Noix de Cajou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3717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 INDUSTRIE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2821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Caoutchouc usiné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717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PALM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2821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8269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de Palme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717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filières export – PDM AGL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DE PALME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1 420 TEU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9052560" y="1426464"/>
            <a:ext cx="21945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43" name="Text 41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Mkt: 980 TEU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Shape 45"/>
          <p:cNvSpPr/>
          <p:nvPr/>
        </p:nvSpPr>
        <p:spPr>
          <a:xfrm>
            <a:off x="9052560" y="1810512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8" name="Text 46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MARITIME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28 457 TEU qualifiés  |  AGL #3 – PDM 11,3%  |  Objectif : rang #2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: 28 457 TEU  |  AGL : 3 214 TEU  |  PDM : 11,3%  |  Rang : #3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28 457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3 214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– Progression vs brut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UCT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26,6 %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7 559 TEU – Écart ×2,4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JANV. (PEAK)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PDM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marché qualifié &amp; AGL – Hinterland Import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Hinterland Import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1608006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1202101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1670453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1686064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10,8 %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37160" y="589788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 : Bamako 55,5% (17 407 TEU) | Ouagadougou 40,0% (12 549 TEU) | Bobo-Dioulasso 2,1%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37160" y="612648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: Chine 55,5% | Indonésie 7,1% | Inde 6,8%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– CONCURRENTS &amp; SEGMENTS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 &amp; Sitracom dominent  |  AGL en reconquête  |  Cibles prioritaires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transitaires – Hinterland Import (qualifié)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CENTER TRANSIT CI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7 559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SITRACOM 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7 208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3 214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ECOTRAM CI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 LOGISTICS CI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LOGISTIC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1 062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GENERAL SERVICES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EBURNEENE LOG. TRANSIT.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928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SOCOCIB TRANSIT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MEDLOG CI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855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92040"/>
            <a:ext cx="621792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65192"/>
            <a:ext cx="60350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STRATÉGIE HINT IMP : Écart de 3 994 TEU avec Sitracom (#2). Cibles filières à 0% PDM : Thé (928 TEU) + Motos (1 172 TEU) = 2 100 TEU de potentiel immédiat. Clients têtes de pont : SOFAO BF (926 TEU), BRAKINA (552 TEU), CODIMEX BF (461 TEU). Commercial dédié Ouagadougou requis.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marchandise – Hinterland Import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439 TEU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Shape 67"/>
          <p:cNvSpPr/>
          <p:nvPr/>
        </p:nvSpPr>
        <p:spPr>
          <a:xfrm>
            <a:off x="9052560" y="1426464"/>
            <a:ext cx="2002536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0" name="Text 68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TEU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Shape 72"/>
          <p:cNvSpPr/>
          <p:nvPr/>
        </p:nvSpPr>
        <p:spPr>
          <a:xfrm>
            <a:off x="9052560" y="1810512"/>
            <a:ext cx="1371600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75" name="Text 73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PÂTES ALIMENTAIRES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 TEU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Shape 77"/>
          <p:cNvSpPr/>
          <p:nvPr/>
        </p:nvSpPr>
        <p:spPr>
          <a:xfrm>
            <a:off x="9052560" y="2194560"/>
            <a:ext cx="850392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0" name="Text 78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492240" y="2542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ALIMENTAIRE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156448" y="2542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3 069 TEU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052560" y="2578608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9052560" y="2578608"/>
            <a:ext cx="768096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5" name="Text 83"/>
          <p:cNvSpPr/>
          <p:nvPr/>
        </p:nvSpPr>
        <p:spPr>
          <a:xfrm>
            <a:off x="1184148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9224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156448" y="2926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TEU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052560" y="296265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Shape 87"/>
          <p:cNvSpPr/>
          <p:nvPr/>
        </p:nvSpPr>
        <p:spPr>
          <a:xfrm>
            <a:off x="9052560" y="2962656"/>
            <a:ext cx="548640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90" name="Text 88"/>
          <p:cNvSpPr/>
          <p:nvPr/>
        </p:nvSpPr>
        <p:spPr>
          <a:xfrm>
            <a:off x="11841480" y="29260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49224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156448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1 151 TEU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052560" y="334670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Shape 92"/>
          <p:cNvSpPr/>
          <p:nvPr/>
        </p:nvSpPr>
        <p:spPr>
          <a:xfrm>
            <a:off x="9052560" y="3346704"/>
            <a:ext cx="548640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95" name="Text 93"/>
          <p:cNvSpPr/>
          <p:nvPr/>
        </p:nvSpPr>
        <p:spPr>
          <a:xfrm>
            <a:off x="11841480" y="3310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492240" y="3694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CONSTRUCTION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56448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 TEU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052560" y="373075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Shape 97"/>
          <p:cNvSpPr/>
          <p:nvPr/>
        </p:nvSpPr>
        <p:spPr>
          <a:xfrm>
            <a:off x="9052560" y="3730752"/>
            <a:ext cx="438912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100" name="Text 98"/>
          <p:cNvSpPr/>
          <p:nvPr/>
        </p:nvSpPr>
        <p:spPr>
          <a:xfrm>
            <a:off x="11841480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 – NOUVEAUX ENTRANTS &amp; NOUVEAUX FLUX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entrants  |  Nouvelles marchandises  |  Nouveaux destinataires Bamako–Ouagadougou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transitaires – Hinterland Import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3682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8843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40046" y="1408176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521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TRANSIT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3682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8843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2,2 %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40046" y="1664208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Sucre / Alimentaire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BURKINATRANS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3682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8843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40046" y="1920240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Burkina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TRANS-SAHEL LOG.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3682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8843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40046" y="2176272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KARAMOKOTRAKRANSIT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3682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8843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40046" y="2432304"/>
            <a:ext cx="140589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28600" y="27432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destinataires AGL – Hinterland Import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7160" y="301752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40" name="Text 38"/>
          <p:cNvSpPr/>
          <p:nvPr/>
        </p:nvSpPr>
        <p:spPr>
          <a:xfrm>
            <a:off x="17373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2821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8269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37176" y="30540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27355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SOFAO BF (alimentaire)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2821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926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269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37176" y="331012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37160" y="352958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BRAKINA (boissons)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72821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8269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Bobo-Dioulasso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37176" y="356616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37160" y="378561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CODIMEX BF (emballages)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72821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8269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37176" y="382219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37160" y="404164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ENERGIES ML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72821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8269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Bamako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37176" y="407822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37160" y="429768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373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ONATEL BF (télécoms)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72821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28269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837176" y="433425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marchandises hinterland – PDM AGL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AGRICOLE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TEU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Shape 71"/>
          <p:cNvSpPr/>
          <p:nvPr/>
        </p:nvSpPr>
        <p:spPr>
          <a:xfrm>
            <a:off x="9052560" y="1426464"/>
            <a:ext cx="21945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74" name="Text 72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BTP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TEU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Shape 76"/>
          <p:cNvSpPr/>
          <p:nvPr/>
        </p:nvSpPr>
        <p:spPr>
          <a:xfrm>
            <a:off x="9052560" y="1810512"/>
            <a:ext cx="137160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79" name="Text 77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INTRANTS PHARMA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TEU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Shape 81"/>
          <p:cNvSpPr/>
          <p:nvPr/>
        </p:nvSpPr>
        <p:spPr>
          <a:xfrm>
            <a:off x="9052560" y="2194560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84" name="Text 82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492240" y="3840480"/>
            <a:ext cx="5486400" cy="6858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83680" y="39136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CIBLES : Thé (928 TEU) + Motos (1 172 TEU) à 0–1% PDM = 2 100 TEU de potentiel immédiat. Commercial dédié Ouagadougou recommandé (40% du marché hinterland).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492240" y="4663440"/>
            <a:ext cx="548640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83680" y="473659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MENACE : CEVA Logistics déjà #5 (4,4%) en quelques mois. UCT + Sitracom verrouillent 51,9% du marché — l'écart vers le rang #2 est de 3 994 TEU.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MARITIME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4 294 TEU  |  PDM AGL : 66,1%  |  Dominance absolue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– VUE D'ENSEMBLE  |  Jan–Mai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#1 ABSOLU – PDM 66,1%  |  Marché : 4 294 TEU  |  Coton dominant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TOTAL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4 294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AGL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2 840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Jan–Mai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66,1 %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 AGL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2 522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– 88,8% du portef.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FÉV. (PEAK)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72,9 %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PDM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– Hinterland Export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par mois – Hinterland Export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1780634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72,9 %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2525199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71,9 %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391739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68,1 %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1991360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56,7 %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37160" y="594360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 : FM General Services 12,1% (518 TEU)  |  Movis Transit 5,8% (251 TEU)  |  CEVA Logistics 5,1% (220 TEU)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37160" y="617220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Chargeurs AGL : SOFITEX 1 492 TEU  |  CMDT Bamako 1 010 TEU  |  SAGROCOM BF 249 TEU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 – NOUVEAUX CHARGEURS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Chargeurs entrés en 2026  |  Sécurisation du portefeuille coton  |  Nouvelle filière huile de palme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chargeurs AGL – Hinterland Export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COTON EXPORT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 BURKINA SUD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SODECOTON ML (Mali)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2821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3717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PALM CI EXPORT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2821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de Palme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717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8600" y="30632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existant à sécuriser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37160" y="333756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5" name="Text 33"/>
          <p:cNvSpPr/>
          <p:nvPr/>
        </p:nvSpPr>
        <p:spPr>
          <a:xfrm>
            <a:off x="173736" y="3374136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Chargeur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46376" y="3374136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19016" y="3374136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Portefeuille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359359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3630168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SOFITEX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46376" y="3630168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1 492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19016" y="3630168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52,5 %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37160" y="384962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" y="3886200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CMDT Bamako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246376" y="3886200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1 010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319016" y="3886200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35,6 %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37160" y="410565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" y="4142232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SAGROCOM BF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246376" y="4142232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19016" y="4142232"/>
            <a:ext cx="2026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8,8 %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concurrentiel – PDM concurrents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24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GENERAL SERVICES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15644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TEU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052560" y="14264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Shape 52"/>
          <p:cNvSpPr/>
          <p:nvPr/>
        </p:nvSpPr>
        <p:spPr>
          <a:xfrm>
            <a:off x="9052560" y="1426464"/>
            <a:ext cx="329184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55" name="Text 53"/>
          <p:cNvSpPr/>
          <p:nvPr/>
        </p:nvSpPr>
        <p:spPr>
          <a:xfrm>
            <a:off x="11841480" y="1389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92240" y="1773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MOVIS TRANSIT CI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15644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TEU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052560" y="18105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Shape 57"/>
          <p:cNvSpPr/>
          <p:nvPr/>
        </p:nvSpPr>
        <p:spPr>
          <a:xfrm>
            <a:off x="9052560" y="1810512"/>
            <a:ext cx="164592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60" name="Text 58"/>
          <p:cNvSpPr/>
          <p:nvPr/>
        </p:nvSpPr>
        <p:spPr>
          <a:xfrm>
            <a:off x="11841480" y="17739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9224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 LOGISTICS CI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156448" y="21579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TEU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052560" y="219456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4" name="Shape 62"/>
          <p:cNvSpPr/>
          <p:nvPr/>
        </p:nvSpPr>
        <p:spPr>
          <a:xfrm>
            <a:off x="9052560" y="2194560"/>
            <a:ext cx="137160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65" name="Text 63"/>
          <p:cNvSpPr/>
          <p:nvPr/>
        </p:nvSpPr>
        <p:spPr>
          <a:xfrm>
            <a:off x="11841480" y="2157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3200400"/>
            <a:ext cx="548640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3273552"/>
            <a:ext cx="5303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MENACE CEVA : CEVA Logistics (CMA CGM, bureau Abidjan avril 2026) capte déjà 5,1% du marché. Risque direct sur les flux coton Bamako–Ouagadougou.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92240" y="4114800"/>
            <a:ext cx="5486400" cy="77724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0" y="4187952"/>
            <a:ext cx="5303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ACTION : Sécuriser SOFITEX (52,5% du portefeuille) et CMDT par contrats pluriannuels avant la campagne coton 2026–2027. Développer la filière huile de palme (140 TEU dès Q1).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5 603 T qualifiées  |  PDM AGL : 20,8%  |  #1 ABSOLU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VUE D'ENSEMBLE  |  Jan–Mai 2025 vs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: +1,5% vs 2025  |  AGL #1 ABSOLU – PDM 20,8%  |  Montée en puissance Jan→Mai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2025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5 521 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Jan–Mai 2025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008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008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QUALIFIÉ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2008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5 603 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008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+1,5% vs 2025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03013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013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3013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1 166 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03013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85939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5939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939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20,8 %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85939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~18% estimé 2025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68866" y="1097280"/>
            <a:ext cx="2291486" cy="8686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8866" y="1143000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MAI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68866" y="1316736"/>
            <a:ext cx="22914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68866" y="1719072"/>
            <a:ext cx="22914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 la période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aérien import qualifié (kg) – 2025 vs 2026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7160" y="23317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492240" y="2084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 aérien – Progression Jan→Mai 2026 (%)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92240" y="2395728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2523744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52360" y="2523744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3" name="Shape 30"/>
          <p:cNvSpPr/>
          <p:nvPr/>
        </p:nvSpPr>
        <p:spPr>
          <a:xfrm>
            <a:off x="7452360" y="2523744"/>
            <a:ext cx="894471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4" name="Text 31"/>
          <p:cNvSpPr/>
          <p:nvPr/>
        </p:nvSpPr>
        <p:spPr>
          <a:xfrm>
            <a:off x="10085832" y="2487168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10,9 %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92240" y="2926080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054096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52360" y="3054096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8" name="Shape 35"/>
          <p:cNvSpPr/>
          <p:nvPr/>
        </p:nvSpPr>
        <p:spPr>
          <a:xfrm>
            <a:off x="7452360" y="3054096"/>
            <a:ext cx="1247335" cy="20116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9" name="Text 36"/>
          <p:cNvSpPr/>
          <p:nvPr/>
        </p:nvSpPr>
        <p:spPr>
          <a:xfrm>
            <a:off x="10085832" y="3017520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15,2 %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92240" y="3456432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1968" y="3584448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452360" y="3584448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3" name="Shape 40"/>
          <p:cNvSpPr/>
          <p:nvPr/>
        </p:nvSpPr>
        <p:spPr>
          <a:xfrm>
            <a:off x="7452360" y="3584448"/>
            <a:ext cx="1838178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85832" y="3547872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22,4 %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92240" y="3986784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114800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452360" y="4114800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8" name="Shape 45"/>
          <p:cNvSpPr/>
          <p:nvPr/>
        </p:nvSpPr>
        <p:spPr>
          <a:xfrm>
            <a:off x="7452360" y="4114800"/>
            <a:ext cx="2305929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49" name="Text 46"/>
          <p:cNvSpPr/>
          <p:nvPr/>
        </p:nvSpPr>
        <p:spPr>
          <a:xfrm>
            <a:off x="10085832" y="4078224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01968" y="4645152"/>
            <a:ext cx="77724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2360" y="4645152"/>
            <a:ext cx="2560320" cy="20116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54" name="Text 51"/>
          <p:cNvSpPr/>
          <p:nvPr/>
        </p:nvSpPr>
        <p:spPr>
          <a:xfrm>
            <a:off x="10085832" y="4608576"/>
            <a:ext cx="8686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31,2 %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92240" y="5212080"/>
            <a:ext cx="5486400" cy="685800"/>
          </a:xfrm>
          <a:prstGeom prst="rect">
            <a:avLst/>
          </a:prstGeom>
          <a:solidFill>
            <a:srgbClr val="F0FDF4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83680" y="5285232"/>
            <a:ext cx="5303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AGL #1 ABSOLU aérien import (qualifié) : 20,8% de PDM sur 5 603 tonnes. Progression remarquable : 10,9% en Janvier → 31,2% en Mai, soit +20,3 pts en 5 mois.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SEGMENTS &amp; CONCURRENTS  |  2025 vs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marchandises  |  Classement transitaires qualifiés  |  PDM AGL par filière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marchandises – évolution 2025 vs 2026 (kg)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OEUFS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1 483 700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1 883 317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+26,9%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149 783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515 776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+244,3%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2821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255 984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486 785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37176" y="21762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+90,2%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2821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280 991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337 882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7176" y="24323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+20,2%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DE BANQUE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2821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268 210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8269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330 706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7176" y="26883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+23,3%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2821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113 602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8269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182 071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37176" y="294436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+60,3%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ÉLECTRIQUE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2821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64 622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8269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158 887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37176" y="320040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+145,9%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DÉTACHÉES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2821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1 181 203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8269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942 926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37176" y="345643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–20,2%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CHIMIQUES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2821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207 323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8269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189 901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37176" y="371246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–8,4%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LÉGUMES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2821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154 253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8269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115 798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37176" y="396849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–24,9%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transitaires – Aérien Import 2026 (qualifié)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0" y="1371600"/>
            <a:ext cx="566928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5" name="Text 63"/>
          <p:cNvSpPr/>
          <p:nvPr/>
        </p:nvSpPr>
        <p:spPr>
          <a:xfrm>
            <a:off x="643737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488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014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kg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354056" y="140817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00800" y="1627632"/>
            <a:ext cx="566928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3737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488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6014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1 165 994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354056" y="166420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20,8 %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400800" y="1883664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3737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8488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OSMOZ AFRICA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6014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525 506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54056" y="192024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9,4 %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00800" y="2139696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3737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488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 CI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6014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468 097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354056" y="217627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8,4 %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00800" y="2395728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3737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8488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INTL TRANSIT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6014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333 558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0354056" y="243230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00800" y="2651760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737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8488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6014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292 408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354056" y="268833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5,2 %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00800" y="2907792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3737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8488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TRANSIT-COSS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6014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274 613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354056" y="2944368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00800" y="3163824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3737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8488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HANNYYAH ET SAID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014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273 092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0354056" y="3200400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400800" y="3419856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3737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8488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DHL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6014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217 874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10354056" y="3456432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3,9 %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400800" y="3675888"/>
            <a:ext cx="5669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3737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8488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LOGISTICS SA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6014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187 906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0354056" y="3712464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3,4 %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400800" y="3931920"/>
            <a:ext cx="566928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3737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8488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IVOIRE PHENIX TRANSIT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86014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133 527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10354056" y="3968496"/>
            <a:ext cx="17068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2,4 %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37160" y="4919472"/>
            <a:ext cx="11795760" cy="77724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8600" y="4992624"/>
            <a:ext cx="116128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AGL #1 : 20,8% PDM sur marché qualifié. Progression continue Jan→Mai (+20 pts). ⚠ Transit-Coss : –60% (696K→274K kg). Clients récupérés partiellement par AGL. 🎯 Cibles : GTS CI (#3, 8,4%) à surveiller. Osmoz Africa (#2, 9,4%) à challenger sur Matériels Miniers.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CLIENTÈLE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destinataires  |  Mix produits  |  Risques &amp; leviers de croissance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clients AGL – Aérien Import (Destinataires, kg)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4008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(Destinataire)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39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(kg)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1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74336" y="140817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Vol. AGL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4008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MINING SA CI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739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308 596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741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Miniers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166420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PROSUMA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268 633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741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Alimentaires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192024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UBIPHARM CÔTE D'IVOIRE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739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61 130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741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17627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739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49 988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74336" y="243230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CÔTE D'IVOIRE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739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38 474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Alimentaire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74336" y="268833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SIFAAP CI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739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24 694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Alim. Animal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74336" y="2944368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SITAB CI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7739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23 535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741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74336" y="3200400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 DIAGNOSTICS CI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739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22 633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741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Labo.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74336" y="3456432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4008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CI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739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20 141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3741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74336" y="3712464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4008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FOXTROT INTERNATIONAL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7739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18 721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741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Pétrole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74336" y="3968496"/>
            <a:ext cx="155448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846320"/>
            <a:ext cx="6400800" cy="96012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919472"/>
            <a:ext cx="6217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Hyper-concentration : K1 Mining (26,5%) + PROSUMA (23,1%) = 49,6% du volume AGL aérien sur 2 clients. Risque élevé.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Télécoms (Orange + MTN) : 70 129 kg – Secteur en forte croissance. Contrats cadres 2026/2027 à signer.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Nestlé + SIFAAP = 63 168 kg (filière agro-alim). Ubipharm = pont TIM/AER. Développer offre multi-métiers.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75120" y="1097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produits AGL – Aérien Import</a:t>
            </a:r>
            <a:endParaRPr lang="en-US" sz="11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6675120" y="137160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 – NOUVEAUX ENTRANTS &amp; NOUVEAUX FLUX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entrants  |  Nouvelles marchandises en croissance  |  Récupération clients Transit-Coss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transitaires – Aérien Import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2821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kg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37176" y="14081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 INTER CI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2821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94 200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Alimentaire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SOTRA FRET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2821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78 400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détachées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37176" y="19202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8600" y="26974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Marchandises en forte croissance 2025 →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" y="29718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Marchandise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2821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(kg)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8269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37176" y="300837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32278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ŒUFS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2821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1 883 317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8269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+26,9 %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37176" y="3264408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37160" y="34838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MINIERS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72821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515 776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8269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+244,3 %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37176" y="3520440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37160" y="37398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2821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486 785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8269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+90,2 %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37176" y="3776472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9959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2821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182 071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269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+60,3 %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37176" y="4032504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37160" y="42519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MATÉR. ÉLECTRIQUES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72821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158 887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8269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+145,9 %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37176" y="4288536"/>
            <a:ext cx="1508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prioritaires – PDM AGL actuelle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ŒUFS (CIBLE 8%)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56448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1 883 317 kg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052560" y="145389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Shape 56"/>
          <p:cNvSpPr/>
          <p:nvPr/>
        </p:nvSpPr>
        <p:spPr>
          <a:xfrm>
            <a:off x="9052560" y="1453896"/>
            <a:ext cx="54864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59" name="Text 57"/>
          <p:cNvSpPr/>
          <p:nvPr/>
        </p:nvSpPr>
        <p:spPr>
          <a:xfrm>
            <a:off x="11841480" y="1417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92240" y="1801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TÉLÉCOMS (ORANGE+MTN)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156448" y="1801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182 071 kg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52560" y="183794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Shape 61"/>
          <p:cNvSpPr/>
          <p:nvPr/>
        </p:nvSpPr>
        <p:spPr>
          <a:xfrm>
            <a:off x="9052560" y="1837944"/>
            <a:ext cx="905256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4" name="Text 62"/>
          <p:cNvSpPr/>
          <p:nvPr/>
        </p:nvSpPr>
        <p:spPr>
          <a:xfrm>
            <a:off x="11841480" y="1801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2185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MINIERS (K1)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156448" y="21854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515 776 kg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052560" y="222199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8" name="Shape 66"/>
          <p:cNvSpPr/>
          <p:nvPr/>
        </p:nvSpPr>
        <p:spPr>
          <a:xfrm>
            <a:off x="9052560" y="2221992"/>
            <a:ext cx="1673352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69" name="Text 67"/>
          <p:cNvSpPr/>
          <p:nvPr/>
        </p:nvSpPr>
        <p:spPr>
          <a:xfrm>
            <a:off x="11841480" y="2185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92240" y="2569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DÉTACHÉES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156448" y="2569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942 926 kg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052560" y="2606040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Shape 71"/>
          <p:cNvSpPr/>
          <p:nvPr/>
        </p:nvSpPr>
        <p:spPr>
          <a:xfrm>
            <a:off x="9052560" y="2606040"/>
            <a:ext cx="219456" cy="16459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74" name="Text 72"/>
          <p:cNvSpPr/>
          <p:nvPr/>
        </p:nvSpPr>
        <p:spPr>
          <a:xfrm>
            <a:off x="11841480" y="256946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92240" y="3840480"/>
            <a:ext cx="5486400" cy="96012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3913632"/>
            <a:ext cx="53035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LEVIERS : Œufs : +26,9% de marché, AGL à 1% → cible 8% = +130 T/an. Transit-Coss en chute de –60% (696K→274K kg) : accélérer la captation de ses clients. Contrats cadres Télécoms 2027 à sécuriser dès maintenant.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DES SOLUTIONS MARITIMES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3703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des armateurs au B/L  |  Lignes régulières (TEU + RoRo)  |  Tramps : BRBK, Sac, Vrac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– ARMATEURS AU B/L  |  Tonnage Import 2025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annuel tonnage tous conditionnements  |  Marché : 23 557 176 T  |  Hors 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Armateurs au B/L (Import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AFFRETE   CLINKER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8 483 253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36,01 %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 DIVERS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2 611 451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11,09 %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2 575 251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10,93 %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ARMATEURS DIVERS RIZ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2 055 812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8,73 %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CGM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1 589 395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6,75 %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AFFRETES  BLE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1 531 565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LINE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1 386 832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5,89 %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ARMATEUR DIVERS ENGRAIS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1 043 989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4,43 %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HAPAG LLOYD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495 099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EXPRESS LINE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373 880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1,59 %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Top 5 armateurs (% du marché mensuel)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51206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Armateur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Fév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Aoû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AFFRETE   CLINKER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36,01 %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ARMATEUR DIVERS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11,09 %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10,93 %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ARMATEURS DIVERS R…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8,73 %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 CGM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6,75 %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Shape 62"/>
          <p:cNvSpPr/>
          <p:nvPr/>
        </p:nvSpPr>
        <p:spPr>
          <a:xfrm>
            <a:off x="137160" y="502920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28600" y="510235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ARMATEURS : Affrètement clinker (36,01 %) domine le tonnage import — flux cimenteries CIM-CI / SCA / SOCOCIM via CAM PHA, PORT SAID, MINA SAQR. Hors affrètement, MSC (10,93 %) + CMA CGM (6,75 %) + Maersk = ~16% sur lignes régulières. Cible AGL : consolider commission B/L sur ces 3 majors + capter armateurs riz/blé/engrais (vraquiers spot).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– MANUTENTIONNAIRES  |  Position AGL CI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annuel tonnage manutention  |  AGL CI : #8 avec 801 440 T (3,40 % PDM)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Manutentionnaires (Import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Manutentionnaire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SEA-INVEST SHIPPING AGENCY CI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7 842 206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33,29 %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 d'Ivoire Terminal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4 334 309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18,40 %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Abidjan Terminal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2 429 041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10,31 %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1 448 303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6,15 %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INDUSTRIEL POLYVAL.SP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1 385 420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5,88 %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SOGENA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950 828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4,04 %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PETROCI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818 059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801 440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532 188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2,26 %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 SHIPPING COTE D'IVOIRE SA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515 138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2,19 %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 – tonnage mensuel manutention 2025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29400" y="3539177"/>
            <a:ext cx="388620" cy="209863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5" name="Text 63"/>
          <p:cNvSpPr/>
          <p:nvPr/>
        </p:nvSpPr>
        <p:spPr>
          <a:xfrm>
            <a:off x="662940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537960" y="3310577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7063740" y="2944681"/>
            <a:ext cx="388620" cy="804359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8" name="Text 66"/>
          <p:cNvSpPr/>
          <p:nvPr/>
        </p:nvSpPr>
        <p:spPr>
          <a:xfrm>
            <a:off x="706374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972300" y="2716081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61k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7498080" y="3048076"/>
            <a:ext cx="388620" cy="700964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71" name="Text 69"/>
          <p:cNvSpPr/>
          <p:nvPr/>
        </p:nvSpPr>
        <p:spPr>
          <a:xfrm>
            <a:off x="749808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406640" y="2819476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53k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7932420" y="3244494"/>
            <a:ext cx="388620" cy="504546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74" name="Text 72"/>
          <p:cNvSpPr/>
          <p:nvPr/>
        </p:nvSpPr>
        <p:spPr>
          <a:xfrm>
            <a:off x="793242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840980" y="3015894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366760" y="1554480"/>
            <a:ext cx="388620" cy="219456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77" name="Text 75"/>
          <p:cNvSpPr/>
          <p:nvPr/>
        </p:nvSpPr>
        <p:spPr>
          <a:xfrm>
            <a:off x="836676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275320" y="1325880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166k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8801100" y="3114677"/>
            <a:ext cx="388620" cy="634363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0" name="Text 78"/>
          <p:cNvSpPr/>
          <p:nvPr/>
        </p:nvSpPr>
        <p:spPr>
          <a:xfrm>
            <a:off x="880110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709660" y="2886077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9235440" y="2439627"/>
            <a:ext cx="388620" cy="1309413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3" name="Text 81"/>
          <p:cNvSpPr/>
          <p:nvPr/>
        </p:nvSpPr>
        <p:spPr>
          <a:xfrm>
            <a:off x="923544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9144000" y="2211027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9669780" y="3179706"/>
            <a:ext cx="388620" cy="569334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6" name="Text 84"/>
          <p:cNvSpPr/>
          <p:nvPr/>
        </p:nvSpPr>
        <p:spPr>
          <a:xfrm>
            <a:off x="966978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578340" y="2951106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10104120" y="2682670"/>
            <a:ext cx="388620" cy="106637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89" name="Text 87"/>
          <p:cNvSpPr/>
          <p:nvPr/>
        </p:nvSpPr>
        <p:spPr>
          <a:xfrm>
            <a:off x="1010412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10012680" y="2454070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81k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10538460" y="2964773"/>
            <a:ext cx="388620" cy="784267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2" name="Text 90"/>
          <p:cNvSpPr/>
          <p:nvPr/>
        </p:nvSpPr>
        <p:spPr>
          <a:xfrm>
            <a:off x="1053846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10447020" y="2736173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59k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10972800" y="2289784"/>
            <a:ext cx="388620" cy="1459256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5" name="Text 93"/>
          <p:cNvSpPr/>
          <p:nvPr/>
        </p:nvSpPr>
        <p:spPr>
          <a:xfrm>
            <a:off x="1097280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10881360" y="2061184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110k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11407140" y="3370210"/>
            <a:ext cx="388620" cy="37883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8" name="Text 96"/>
          <p:cNvSpPr/>
          <p:nvPr/>
        </p:nvSpPr>
        <p:spPr>
          <a:xfrm>
            <a:off x="11407140" y="3794760"/>
            <a:ext cx="434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11315700" y="3141610"/>
            <a:ext cx="571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137160" y="502920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8600" y="510235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STRATÉGIE MANUTENTION : AGL CI #8 sur 10 (3,40 %) — écart important avec leader Sea-Invest (33,29 %) et Côte d'Ivoire Terminal (18,40 %). Levier 2026 : capter manutention vraquiers clinker (CAM PHA → cimenteries) + consolider Global Manutention en partenariat technique. Objectif 6% PDM à 18 mois.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– CONSIGNATAIRES &amp; PORTS DE CHARGEMENT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 #2 consignataire (13,73 % PDM, 3 235 436 T)  |  Top 10 POL Import 2025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p.27b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Consignataires (Import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621792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Consignataire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069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56176" y="140817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27632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SEA-INVEST SHIPPING AGENCY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069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4 674 668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6176" y="166420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19,84 %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883664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 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2069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3 235 436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6176" y="192024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13,73 %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39696"/>
            <a:ext cx="621792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069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2 566 802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6176" y="217627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10,90 %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395728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SEA-INVEST SHIPPING AGENCY SPY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2069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1 767 250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6176" y="243230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7,50 %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51760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MANUTENCION CI GMCI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069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1 488 870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6176" y="268833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6,32 %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07792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CGM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2069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1 482 003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6176" y="2944368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6,29 %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163824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LINES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2069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1 468 912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56176" y="3200400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6,24 %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19856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SAKINA SHIPS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2069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826 270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56176" y="3456432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3,51 %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7160" y="3675888"/>
            <a:ext cx="6217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CI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2069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580 614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56176" y="3712464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2,46 %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" y="3931920"/>
            <a:ext cx="621792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521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 SHIPPING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2069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559 906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56176" y="3968496"/>
            <a:ext cx="1889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2,38 %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92240" y="1097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POL — Origines des imports 2025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92240" y="1371600"/>
            <a:ext cx="548640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65" name="Text 63"/>
          <p:cNvSpPr/>
          <p:nvPr/>
        </p:nvSpPr>
        <p:spPr>
          <a:xfrm>
            <a:off x="652881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40296" y="140817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 chargement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31936" y="140817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Tonnage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323576" y="140817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492240" y="1627632"/>
            <a:ext cx="548640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2881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940296" y="166420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PHA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631936" y="166420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2 118 362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323576" y="166420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8,99 %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492240" y="1883664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2881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940296" y="192024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SAID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631936" y="192024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1 697 749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23576" y="192024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7,21 %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92240" y="2139696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2881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940296" y="217627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SAQR U.A.E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631936" y="217627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834 579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323576" y="217627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3,54 %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92240" y="2395728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2881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940296" y="243230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CHI MINH CITY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631936" y="243230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759 538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0323576" y="243230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3,22 %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92240" y="2651760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2881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940296" y="268833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TIANJIN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631936" y="268833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701 646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323576" y="268833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2,98 %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492240" y="2907792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2881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940296" y="294436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ANTWERPEN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631936" y="294436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691 164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323576" y="2944368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2,93 %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92240" y="3163824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2881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940296" y="320040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631936" y="320040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608 376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0323576" y="3200400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2,58 %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492240" y="3419856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2881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940296" y="345643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KAKINADA INDIA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631936" y="345643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527 339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10323576" y="3456432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2,24 %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492240" y="3675888"/>
            <a:ext cx="54864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2881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940296" y="371246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YANBU INDUSTRIAL CITY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631936" y="371246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454 632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0323576" y="3712464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1,93 %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492240" y="3931920"/>
            <a:ext cx="548640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2881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940296" y="396849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NANSHA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8631936" y="396849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419 374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10323576" y="3968496"/>
            <a:ext cx="164592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1,78 %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37160" y="502920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8600" y="510235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POSITION CONSIGNATAIRE FORTE : AGL CI #2 (13,73 %) — seulement Sea-Invest devant. ROUTES CLÉS : CAM PHA (clinker Vietnam, 8,99 %) + PORT SAID (transbord. Égypte, 7,21 %) + MINA SAQR (clinker UAE). Cible : consolider consignation armateurs spot vraquiers + capter co-consignation MSC/CMA sur lignes Asie-WAF.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 FOCUS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 |  Focus concurrent AYMAN  |  Jan–Mai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– VUE D'ENSEMBLE  |  Clients miniers traités par AGL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miniers à suivre  |  15 comptes CI  |  Or · Manganèse · Nickel · Lithium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Master-list Mining CI – à croiser avec STATCOM (fallback)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41732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538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8353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8185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67335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170992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AGBAOU GOLD OPERATIONS - AGO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8353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TIM/AER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8185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miniers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7160" y="192938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96596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BONIKRO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8353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8185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miniers + consommables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18541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" y="222199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SOCIETE MINIERE DE LAFIGUE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8353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8185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exploitation aurifère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44144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47802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D'ITY STE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8353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TIM/AER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8185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+ pièces détachées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697480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" y="273405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MINING (MONTAGE GOLD)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8353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TIM/AER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8185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projet Montage Gold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7160" y="2953512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99008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521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VERITAS CI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8353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8185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 / laboratoires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3209544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" y="324612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521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38353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8185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Manganèse / projets exploration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465576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50215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50215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ROXGOLD SANGO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83536" y="350215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81856" y="350215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exploration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80760" y="141732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4" name="Text 52"/>
          <p:cNvSpPr/>
          <p:nvPr/>
        </p:nvSpPr>
        <p:spPr>
          <a:xfrm>
            <a:off x="6117336" y="14538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2881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CI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32713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125456" y="145389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80760" y="167335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17336" y="170992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2881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ENDEAVOUR AVIATION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32713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0125456" y="170992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Aéroportage personnel mines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80760" y="192938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196596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2881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 MINING (MONTAGE GOLD)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32713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125456" y="196596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Sous-traitance Montage Gold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80760" y="218541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7336" y="222199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2881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 - COMPAGNIE MINIERE DU BAFING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32713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0125456" y="2221992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équipements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080760" y="244144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7336" y="247802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52881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EQUATORIAL ENGINEERING COTE D'IVOIRE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2713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125456" y="2478024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pour mines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080760" y="2697480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17336" y="273405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52881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AND MINING SUPPLIES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32713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0125456" y="2734056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 consommables miniers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080760" y="2953512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7336" y="299008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52881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EPIROC COTE D'IVOIRE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32713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125456" y="2990088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Équipementier (forage / drilling)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80760" y="3209544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17336" y="324612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52881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SOCIETE DES MINES DE LA LOBO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832713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0125456" y="3246120"/>
            <a:ext cx="175260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37160" y="5074920"/>
            <a:ext cx="11795760" cy="8686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28600" y="5148072"/>
            <a:ext cx="116128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POSITION AGL : 15 clients miniers CI à tracker. Uploader TIM (N + N-1) pour l'analyse live au volume.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– CONCURRENTS &amp; MARCHANDISES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Transitaires actifs sur le secteur minier  |  Marchandises minières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minier BF + Mali (fallback)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8269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/ Mine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" y="162763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521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AUMS BURKINA FASO SARL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8269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matériels via corridor Abidjan-Ouaga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" y="188366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SOMISA SA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8269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des Mines de Sanbrado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213969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HOUNDE GOLD OPERATION SA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8269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Endeavour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" y="239572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OREZONE BOMBORE SA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8269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Bombore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2651760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68833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" y="268833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BYRNECUT BURKINA FASO SARL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82696" y="268833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Sous-traitance minière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2907792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" y="294436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" y="294436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ESSAKANE BF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82696" y="294436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Iamgold Essakane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37160" y="3163824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" y="320040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5216" y="320040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MINING COMPANY SA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82696" y="320040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37160" y="3419856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" y="345643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5216" y="345643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WAHGNION GOLD OPERATIONS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82696" y="345643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Endeavour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675888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" y="371246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5216" y="371246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 BURKINA FASO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2696" y="371246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Mana / Boungou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" y="3931920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396849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" y="396849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 SA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82696" y="396849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projet Toega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37160" y="4187952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" y="422452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5216" y="422452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MINING SERVICES BURKINA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82696" y="422452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Sous-traitance souterraine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0760" y="1371600"/>
            <a:ext cx="580644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7" name="Text 55"/>
          <p:cNvSpPr/>
          <p:nvPr/>
        </p:nvSpPr>
        <p:spPr>
          <a:xfrm>
            <a:off x="6117336" y="1408176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2881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MALI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226296" y="1408176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/ Mine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080760" y="1627632"/>
            <a:ext cx="580644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17336" y="1664208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52881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VERITAS MALI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226296" y="1664208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Laboratoires / analyses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080760" y="1883664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17336" y="1920240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52881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SOMISY SA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226296" y="1920240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Syama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80760" y="2139696"/>
            <a:ext cx="58064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7336" y="2176272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2881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TOUBANI RESSOURCES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226296" y="2176272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projet Kobada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080760" y="2395728"/>
            <a:ext cx="580644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17336" y="2432304"/>
            <a:ext cx="365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52881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9226296" y="2432304"/>
            <a:ext cx="265176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lourds via corridor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37160" y="5074920"/>
            <a:ext cx="11795760" cy="82296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5148072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15 clients miniers hinterland à conquérir (Endeavour, Iamgold, Orezone).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MINIER – CLIENTÈLE AGL &amp; NOUVEAUX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clients miniers AGL  |  Nouveaux comptes  |  Conquête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Master-list Mining (fallback)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1463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1368" y="1463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clients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1499616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499616"/>
            <a:ext cx="1371600" cy="16459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4630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BURKINA FASO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01368" y="1847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clients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97480" y="1883664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1883664"/>
            <a:ext cx="1014984" cy="16459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8470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" y="22311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MALI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01368" y="2231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97480" y="2267712"/>
            <a:ext cx="27432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2697480" y="2267712"/>
            <a:ext cx="356616" cy="16459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2311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" y="5074920"/>
            <a:ext cx="11795760" cy="82296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5148072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Uploader TIM (N + N-1) pour l'analyse minière live (volumes, clients, nouveaux).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CONCURRENT – GROUPE AYMAN  |  Synthèse multi-métiers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DJAM DKS (maritime) &amp; HANNYYAH ET SAID (aérien)  |  Position vs AGL par métier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AYMAN par métier vs position AGL (référence)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371600"/>
            <a:ext cx="11795760" cy="256032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3969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Ayman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0565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Ayman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7161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Ayman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3757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AGL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03536" y="1408176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AGL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" y="1627632"/>
            <a:ext cx="11795760" cy="256032"/>
          </a:xfrm>
          <a:prstGeom prst="rect">
            <a:avLst/>
          </a:prstGeom>
          <a:solidFill>
            <a:srgbClr val="FFF9E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– Import Maritime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3969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0565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10 862 TEU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7161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3757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7,8 %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03536" y="1664208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+2,2 pts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37160" y="1883664"/>
            <a:ext cx="1179576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3969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0565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273 092 kg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7161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3757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20,8 %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03536" y="1920240"/>
            <a:ext cx="1920240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+15,9 pts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4206240"/>
            <a:ext cx="11795760" cy="91440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279392"/>
            <a:ext cx="11612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Uploader les fichiers STATCOM (TIM, AER, HIMP) pour l'analyse AYMAN live.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AYMAN – CLIENTS &amp; MARCHANDISES  |  Maritime import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servis par AYMAN  |  Marchandises  |  Évolution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p.34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concurrentiel AYMAN (référence)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463040"/>
            <a:ext cx="11795760" cy="1097280"/>
          </a:xfrm>
          <a:prstGeom prst="rect">
            <a:avLst/>
          </a:prstGeom>
          <a:solidFill>
            <a:srgbClr val="FFFBEC"/>
          </a:solidFill>
          <a:ln w="6350">
            <a:solidFill>
              <a:srgbClr val="E5C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36192"/>
            <a:ext cx="116128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AYMAN = concurrent forwarder (DJAM DKS maritime + HANNYYAH ET SAID aérien). Uploader les STATCOM pour l'analyse détaillée de ses clients et marchandises.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1097280" y="3520440"/>
            <a:ext cx="7498080" cy="594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6517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STRATÉGIQUES PRIORITAIRES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transversale  |  6 axes  |  Horizon 12 mois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45720"/>
            <a:ext cx="1188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– PARTS DE MARCHÉ AGL PAR MÉTIER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Global Logistics – Étude de Marché Jan–Mai 2026  |  p.21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5156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EXPORT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527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4 294 TEU  |  AGL : 2 840 TEU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30759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1307592"/>
            <a:ext cx="6858000" cy="34747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12344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66.1 %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149840" y="1124712"/>
            <a:ext cx="1691640" cy="29260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11247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49840" y="14904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205740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67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EXPORT MAR.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532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137 283 TEU  |  AGL : 35 972 TEU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31343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Shape 17"/>
          <p:cNvSpPr/>
          <p:nvPr/>
        </p:nvSpPr>
        <p:spPr>
          <a:xfrm>
            <a:off x="3108960" y="2313432"/>
            <a:ext cx="2718300" cy="34747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20" name="Text 18"/>
          <p:cNvSpPr/>
          <p:nvPr/>
        </p:nvSpPr>
        <p:spPr>
          <a:xfrm>
            <a:off x="5918700" y="224028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26.2 %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49840" y="2130552"/>
            <a:ext cx="1691640" cy="29260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21305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49840" y="24963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– ×4,7 le 2ème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306324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172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IMPORT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5 603 T  |  AGL : 1 166 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331927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3108960" y="3319272"/>
            <a:ext cx="2158039" cy="347472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29" name="Text 27"/>
          <p:cNvSpPr/>
          <p:nvPr/>
        </p:nvSpPr>
        <p:spPr>
          <a:xfrm>
            <a:off x="5358439" y="32461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20.8 %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149840" y="3136392"/>
            <a:ext cx="1691640" cy="292608"/>
          </a:xfrm>
          <a:prstGeom prst="rect">
            <a:avLst/>
          </a:prstGeom>
          <a:solidFill>
            <a:srgbClr val="1A7C4F"/>
          </a:solidFill>
          <a:ln/>
        </p:spPr>
      </p:sp>
      <p:sp>
        <p:nvSpPr>
          <p:cNvPr id="31" name="Text 29"/>
          <p:cNvSpPr/>
          <p:nvPr/>
        </p:nvSpPr>
        <p:spPr>
          <a:xfrm>
            <a:off x="10149840" y="31363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HAUSSE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49840" y="35021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ABSOLU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160" y="406908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178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HINTERLAND IMPORT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4320" y="4544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28 457 TEU  |  AGL : 3 214 TEU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08960" y="432511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7" name="Shape 35"/>
          <p:cNvSpPr/>
          <p:nvPr/>
        </p:nvSpPr>
        <p:spPr>
          <a:xfrm>
            <a:off x="3108960" y="4325112"/>
            <a:ext cx="1172396" cy="34747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38" name="Text 36"/>
          <p:cNvSpPr/>
          <p:nvPr/>
        </p:nvSpPr>
        <p:spPr>
          <a:xfrm>
            <a:off x="4372796" y="425196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0149840" y="4142232"/>
            <a:ext cx="1691640" cy="29260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0" name="Text 38"/>
          <p:cNvSpPr/>
          <p:nvPr/>
        </p:nvSpPr>
        <p:spPr>
          <a:xfrm>
            <a:off x="10149840" y="41422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RENFORCER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49840" y="45079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" y="5074920"/>
            <a:ext cx="11795760" cy="93268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5184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IMPORT MAR.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74320" y="5550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193 989 TEU  |  AGL : 15 133 TEU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08960" y="5330952"/>
            <a:ext cx="6858000" cy="34747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6" name="Shape 44"/>
          <p:cNvSpPr/>
          <p:nvPr/>
        </p:nvSpPr>
        <p:spPr>
          <a:xfrm>
            <a:off x="3108960" y="5330952"/>
            <a:ext cx="809265" cy="347472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7" name="Text 45"/>
          <p:cNvSpPr/>
          <p:nvPr/>
        </p:nvSpPr>
        <p:spPr>
          <a:xfrm>
            <a:off x="4009665" y="52578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7.8 %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10149840" y="5148072"/>
            <a:ext cx="1691640" cy="292608"/>
          </a:xfrm>
          <a:prstGeom prst="rect">
            <a:avLst/>
          </a:prstGeom>
          <a:solidFill>
            <a:srgbClr val="E05A00"/>
          </a:solidFill>
          <a:ln/>
        </p:spPr>
      </p:sp>
      <p:sp>
        <p:nvSpPr>
          <p:cNvPr id="49" name="Text 47"/>
          <p:cNvSpPr/>
          <p:nvPr/>
        </p:nvSpPr>
        <p:spPr>
          <a:xfrm>
            <a:off x="10149840" y="51480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PRESSION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149840" y="551383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FRAGILE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7160" y="6144768"/>
            <a:ext cx="11795760" cy="292608"/>
          </a:xfrm>
          <a:prstGeom prst="rect">
            <a:avLst/>
          </a:prstGeom>
          <a:solidFill>
            <a:srgbClr val="0D2243"/>
          </a:solidFill>
          <a:ln/>
        </p:spPr>
      </p:sp>
      <p:sp>
        <p:nvSpPr>
          <p:cNvPr id="52" name="Text 50"/>
          <p:cNvSpPr/>
          <p:nvPr/>
        </p:nvSpPr>
        <p:spPr>
          <a:xfrm>
            <a:off x="228600" y="61447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métiers sur 5 en position #1  |  TIM leader fragile (+558 TEU)  |  Hint.Imp. seul segment à conquérir (#3)  |  Aérien : montée en puissance historique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2026-06-22T10:47:19Z</dcterms:created>
  <dcterms:modified xsi:type="dcterms:W3CDTF">2026-06-22T10:47:19Z</dcterms:modified>
</cp:coreProperties>
</file>