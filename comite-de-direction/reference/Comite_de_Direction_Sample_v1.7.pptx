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2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3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4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charts/chart5.xml" ContentType="application/vnd.openxmlformats-officedocument.drawingml.chart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charts/chart6.xml" ContentType="application/vnd.openxmlformats-officedocument.drawingml.chart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charts/chart7.xml" ContentType="application/vnd.openxmlformats-officedocument.drawingml.chart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charts/chart8.xml" ContentType="application/vnd.openxmlformats-officedocument.drawingml.chart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</p:sldIdLst>
  <p:notesMasterIdLst>
    <p:notesMasterId r:id="rId4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notesMaster" Target="notesMasters/notesMaster1.xml"/><Relationship Id="rId42" Type="http://schemas.openxmlformats.org/officeDocument/2006/relationships/presProps" Target="presProps.xml"/><Relationship Id="rId43" Type="http://schemas.openxmlformats.org/officeDocument/2006/relationships/viewProps" Target="viewProps.xml"/><Relationship Id="rId44" Type="http://schemas.openxmlformats.org/officeDocument/2006/relationships/theme" Target="theme/theme1.xml"/><Relationship Id="rId45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Marché qualifié</c:v>
                </c:pt>
              </c:strCache>
            </c:strRef>
          </c:tx>
          <c:spPr>
            <a:solidFill>
              <a:srgbClr val="0D2243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Janv.</c:v>
                  </c:pt>
                  <c:pt idx="1">
                    <c:v>Févr.</c:v>
                  </c:pt>
                  <c:pt idx="2">
                    <c:v>Mars</c:v>
                  </c:pt>
                  <c:pt idx="3">
                    <c:v>Avr.</c:v>
                  </c:pt>
                  <c:pt idx="4">
                    <c:v>Mai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41800</c:v>
                </c:pt>
                <c:pt idx="1">
                  <c:v>36800</c:v>
                </c:pt>
                <c:pt idx="2">
                  <c:v>43600</c:v>
                </c:pt>
                <c:pt idx="3">
                  <c:v>38500</c:v>
                </c:pt>
                <c:pt idx="4">
                  <c:v>33200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AGL</c:v>
                </c:pt>
              </c:strCache>
            </c:strRef>
          </c:tx>
          <c:spPr>
            <a:solidFill>
              <a:srgbClr val="C9A84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Janv.</c:v>
                  </c:pt>
                  <c:pt idx="1">
                    <c:v>Févr.</c:v>
                  </c:pt>
                  <c:pt idx="2">
                    <c:v>Mars</c:v>
                  </c:pt>
                  <c:pt idx="3">
                    <c:v>Avr.</c:v>
                  </c:pt>
                  <c:pt idx="4">
                    <c:v>Mai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3470</c:v>
                </c:pt>
                <c:pt idx="1">
                  <c:v>2544</c:v>
                </c:pt>
                <c:pt idx="2">
                  <c:v>3270</c:v>
                </c:pt>
                <c:pt idx="3">
                  <c:v>3278</c:v>
                </c:pt>
                <c:pt idx="4">
                  <c:v>2571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7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Mix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D2243"/>
              </a:solidFill>
              <a:effectLst/>
            </c:spPr>
          </c:dPt>
          <c:dPt>
            <c:idx val="1"/>
            <c:bubble3D val="0"/>
            <c:spPr>
              <a:solidFill>
                <a:srgbClr val="C9A84C"/>
              </a:solidFill>
              <a:effectLst/>
            </c:spPr>
          </c:dPt>
          <c:dPt>
            <c:idx val="2"/>
            <c:bubble3D val="0"/>
            <c:spPr>
              <a:solidFill>
                <a:srgbClr val="2563A8"/>
              </a:solidFill>
              <a:effectLst/>
            </c:spPr>
          </c:dPt>
          <c:dPt>
            <c:idx val="3"/>
            <c:bubble3D val="0"/>
            <c:spPr>
              <a:solidFill>
                <a:srgbClr val="1A7C4F"/>
              </a:solidFill>
              <a:effectLst/>
            </c:spPr>
          </c:dPt>
          <c:dPt>
            <c:idx val="4"/>
            <c:bubble3D val="0"/>
            <c:spPr>
              <a:solidFill>
                <a:srgbClr val="E05A00"/>
              </a:solidFill>
              <a:effectLst/>
            </c:spPr>
          </c:dPt>
          <c:dPt>
            <c:idx val="5"/>
            <c:bubble3D val="0"/>
            <c:spPr>
              <a:solidFill>
                <a:srgbClr val="0E7490"/>
              </a:solidFill>
              <a:effectLst/>
            </c:spPr>
          </c:dPt>
          <c:dPt>
            <c:idx val="6"/>
            <c:bubble3D val="0"/>
            <c:spPr>
              <a:solidFill>
                <a:srgbClr val="CC2200"/>
              </a:solidFill>
              <a:effectLst/>
            </c:spPr>
          </c:dPt>
          <c:dPt>
            <c:idx val="7"/>
            <c:bubble3D val="0"/>
            <c:spPr>
              <a:solidFill>
                <a:srgbClr val="9CA3AF"/>
              </a:solidFill>
              <a:effectLst/>
            </c:spPr>
          </c:dPt>
          <c:dPt>
            <c:idx val="8"/>
            <c:bubble3D val="0"/>
            <c:spPr>
              <a:solidFill>
                <a:srgbClr val="D1D5DB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4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5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6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7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8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Sheet1!$A$2:$A$10</c:f>
              <c:strCache>
                <c:ptCount val="9"/>
                <c:pt idx="0">
                  <c:v>Mat. Miniers</c:v>
                </c:pt>
                <c:pt idx="1">
                  <c:v>Emballages</c:v>
                </c:pt>
                <c:pt idx="2">
                  <c:v>Mat. Construction</c:v>
                </c:pt>
                <c:pt idx="3">
                  <c:v>Médicaments</c:v>
                </c:pt>
                <c:pt idx="4">
                  <c:v>PVC Résine</c:v>
                </c:pt>
                <c:pt idx="5">
                  <c:v>Papier</c:v>
                </c:pt>
                <c:pt idx="6">
                  <c:v>Cigarettes</c:v>
                </c:pt>
                <c:pt idx="7">
                  <c:v>Polyéthylène</c:v>
                </c:pt>
                <c:pt idx="8">
                  <c:v>Autres</c:v>
                </c:pt>
              </c:strCache>
            </c:strRef>
          </c:cat>
          <c:val>
            <c:numRef>
              <c:f>Sheet1!$B$2:$B$10</c:f>
              <c:numCache>
                <c:ptCount val="9"/>
                <c:pt idx="0">
                  <c:v>16</c:v>
                </c:pt>
                <c:pt idx="1">
                  <c:v>10</c:v>
                </c:pt>
                <c:pt idx="2">
                  <c:v>10</c:v>
                </c:pt>
                <c:pt idx="3">
                  <c:v>10</c:v>
                </c:pt>
                <c:pt idx="4">
                  <c:v>9</c:v>
                </c:pt>
                <c:pt idx="5">
                  <c:v>8</c:v>
                </c:pt>
                <c:pt idx="6">
                  <c:v>7</c:v>
                </c:pt>
                <c:pt idx="7">
                  <c:v>6</c:v>
                </c:pt>
                <c:pt idx="8">
                  <c:v>24</c:v>
                </c:pt>
              </c:numCache>
            </c:numRef>
          </c:val>
        </c:ser>
        <c:firstSliceAng val="0"/>
      </c:pieChart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8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Marché qualifié</c:v>
                </c:pt>
              </c:strCache>
            </c:strRef>
          </c:tx>
          <c:spPr>
            <a:solidFill>
              <a:srgbClr val="0D2243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Janv.</c:v>
                  </c:pt>
                  <c:pt idx="1">
                    <c:v>Févr.</c:v>
                  </c:pt>
                  <c:pt idx="2">
                    <c:v>Mars</c:v>
                  </c:pt>
                  <c:pt idx="3">
                    <c:v>Avr.</c:v>
                  </c:pt>
                  <c:pt idx="4">
                    <c:v>Mai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28900</c:v>
                </c:pt>
                <c:pt idx="1">
                  <c:v>26900</c:v>
                </c:pt>
                <c:pt idx="2">
                  <c:v>28100</c:v>
                </c:pt>
                <c:pt idx="3">
                  <c:v>31200</c:v>
                </c:pt>
                <c:pt idx="4">
                  <c:v>22400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AGL</c:v>
                </c:pt>
              </c:strCache>
            </c:strRef>
          </c:tx>
          <c:spPr>
            <a:solidFill>
              <a:srgbClr val="C9A84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Janv.</c:v>
                  </c:pt>
                  <c:pt idx="1">
                    <c:v>Févr.</c:v>
                  </c:pt>
                  <c:pt idx="2">
                    <c:v>Mars</c:v>
                  </c:pt>
                  <c:pt idx="3">
                    <c:v>Avr.</c:v>
                  </c:pt>
                  <c:pt idx="4">
                    <c:v>Mai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8766</c:v>
                </c:pt>
                <c:pt idx="1">
                  <c:v>6778</c:v>
                </c:pt>
                <c:pt idx="2">
                  <c:v>8093</c:v>
                </c:pt>
                <c:pt idx="3">
                  <c:v>7895</c:v>
                </c:pt>
                <c:pt idx="4">
                  <c:v>4518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7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Filières TEM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D2243"/>
              </a:solidFill>
              <a:effectLst/>
            </c:spPr>
          </c:dPt>
          <c:dPt>
            <c:idx val="1"/>
            <c:bubble3D val="0"/>
            <c:spPr>
              <a:solidFill>
                <a:srgbClr val="1A7C4F"/>
              </a:solidFill>
              <a:effectLst/>
            </c:spPr>
          </c:dPt>
          <c:dPt>
            <c:idx val="2"/>
            <c:bubble3D val="0"/>
            <c:spPr>
              <a:solidFill>
                <a:srgbClr val="C9A84C"/>
              </a:solidFill>
              <a:effectLst/>
            </c:spPr>
          </c:dPt>
          <c:dPt>
            <c:idx val="3"/>
            <c:bubble3D val="0"/>
            <c:spPr>
              <a:solidFill>
                <a:srgbClr val="E05A00"/>
              </a:solidFill>
              <a:effectLst/>
            </c:spPr>
          </c:dPt>
          <c:dPt>
            <c:idx val="4"/>
            <c:bubble3D val="0"/>
            <c:spPr>
              <a:solidFill>
                <a:srgbClr val="2563A8"/>
              </a:solidFill>
              <a:effectLst/>
            </c:spPr>
          </c:dPt>
          <c:dPt>
            <c:idx val="5"/>
            <c:bubble3D val="0"/>
            <c:spPr>
              <a:solidFill>
                <a:srgbClr val="0E7490"/>
              </a:solidFill>
              <a:effectLst/>
            </c:spPr>
          </c:dPt>
          <c:dPt>
            <c:idx val="6"/>
            <c:bubble3D val="0"/>
            <c:spPr>
              <a:solidFill>
                <a:srgbClr val="6B7280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4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5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6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Sheet1!$A$2:$A$8</c:f>
              <c:strCache>
                <c:ptCount val="7"/>
                <c:pt idx="0">
                  <c:v>Cacao</c:v>
                </c:pt>
                <c:pt idx="1">
                  <c:v>Bananes</c:v>
                </c:pt>
                <c:pt idx="2">
                  <c:v>Caoutchouc</c:v>
                </c:pt>
                <c:pt idx="3">
                  <c:v>Dérivés cacao</c:v>
                </c:pt>
                <c:pt idx="4">
                  <c:v>Coton</c:v>
                </c:pt>
                <c:pt idx="5">
                  <c:v>Cajou</c:v>
                </c:pt>
                <c:pt idx="6">
                  <c:v>Autres</c:v>
                </c:pt>
              </c:strCache>
            </c:strRef>
          </c:cat>
          <c:val>
            <c:numRef>
              <c:f>Sheet1!$B$2:$B$8</c:f>
              <c:numCache>
                <c:ptCount val="7"/>
                <c:pt idx="0">
                  <c:v>36</c:v>
                </c:pt>
                <c:pt idx="1">
                  <c:v>20</c:v>
                </c:pt>
                <c:pt idx="2">
                  <c:v>18</c:v>
                </c:pt>
                <c:pt idx="3">
                  <c:v>13</c:v>
                </c:pt>
                <c:pt idx="4">
                  <c:v>8</c:v>
                </c:pt>
                <c:pt idx="5">
                  <c:v>3</c:v>
                </c:pt>
                <c:pt idx="6">
                  <c:v>2</c:v>
                </c:pt>
              </c:numCache>
            </c:numRef>
          </c:val>
        </c:ser>
        <c:firstSliceAng val="0"/>
      </c:pieChart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9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Marché qualifié</c:v>
                </c:pt>
              </c:strCache>
            </c:strRef>
          </c:tx>
          <c:spPr>
            <a:solidFill>
              <a:srgbClr val="0D2243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Janv.</c:v>
                  </c:pt>
                  <c:pt idx="1">
                    <c:v>Févr.</c:v>
                  </c:pt>
                  <c:pt idx="2">
                    <c:v>Mars</c:v>
                  </c:pt>
                  <c:pt idx="3">
                    <c:v>Avr.</c:v>
                  </c:pt>
                  <c:pt idx="4">
                    <c:v>Mai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5400</c:v>
                </c:pt>
                <c:pt idx="1">
                  <c:v>5800</c:v>
                </c:pt>
                <c:pt idx="2">
                  <c:v>5600</c:v>
                </c:pt>
                <c:pt idx="3">
                  <c:v>6100</c:v>
                </c:pt>
                <c:pt idx="4">
                  <c:v>5550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AGL</c:v>
                </c:pt>
              </c:strCache>
            </c:strRef>
          </c:tx>
          <c:spPr>
            <a:solidFill>
              <a:srgbClr val="E05A0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Janv.</c:v>
                  </c:pt>
                  <c:pt idx="1">
                    <c:v>Févr.</c:v>
                  </c:pt>
                  <c:pt idx="2">
                    <c:v>Mars</c:v>
                  </c:pt>
                  <c:pt idx="3">
                    <c:v>Avr.</c:v>
                  </c:pt>
                  <c:pt idx="4">
                    <c:v>Mai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886</c:v>
                </c:pt>
                <c:pt idx="1">
                  <c:v>598</c:v>
                </c:pt>
                <c:pt idx="2">
                  <c:v>431</c:v>
                </c:pt>
                <c:pt idx="3">
                  <c:v>652</c:v>
                </c:pt>
                <c:pt idx="4">
                  <c:v>647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7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Marché total</c:v>
                </c:pt>
              </c:strCache>
            </c:strRef>
          </c:tx>
          <c:spPr>
            <a:solidFill>
              <a:srgbClr val="0D2243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Janv.</c:v>
                  </c:pt>
                  <c:pt idx="1">
                    <c:v>Févr.</c:v>
                  </c:pt>
                  <c:pt idx="2">
                    <c:v>Mars</c:v>
                  </c:pt>
                  <c:pt idx="3">
                    <c:v>Avr.</c:v>
                  </c:pt>
                  <c:pt idx="4">
                    <c:v>Mai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870</c:v>
                </c:pt>
                <c:pt idx="1">
                  <c:v>950</c:v>
                </c:pt>
                <c:pt idx="2">
                  <c:v>900</c:v>
                </c:pt>
                <c:pt idx="3">
                  <c:v>820</c:v>
                </c:pt>
                <c:pt idx="4">
                  <c:v>754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AGL</c:v>
                </c:pt>
              </c:strCache>
            </c:strRef>
          </c:tx>
          <c:spPr>
            <a:solidFill>
              <a:srgbClr val="1A7C4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Janv.</c:v>
                  </c:pt>
                  <c:pt idx="1">
                    <c:v>Févr.</c:v>
                  </c:pt>
                  <c:pt idx="2">
                    <c:v>Mars</c:v>
                  </c:pt>
                  <c:pt idx="3">
                    <c:v>Avr.</c:v>
                  </c:pt>
                  <c:pt idx="4">
                    <c:v>Mai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441</c:v>
                </c:pt>
                <c:pt idx="1">
                  <c:v>693</c:v>
                </c:pt>
                <c:pt idx="2">
                  <c:v>647</c:v>
                </c:pt>
                <c:pt idx="3">
                  <c:v>559</c:v>
                </c:pt>
                <c:pt idx="4">
                  <c:v>500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7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Marché 2025 (kg)</c:v>
                </c:pt>
              </c:strCache>
            </c:strRef>
          </c:tx>
          <c:spPr>
            <a:solidFill>
              <a:srgbClr val="0D2243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Janv.</c:v>
                  </c:pt>
                  <c:pt idx="1">
                    <c:v>Févr.</c:v>
                  </c:pt>
                  <c:pt idx="2">
                    <c:v>Mars</c:v>
                  </c:pt>
                  <c:pt idx="3">
                    <c:v>Avr.</c:v>
                  </c:pt>
                  <c:pt idx="4">
                    <c:v>Mai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1180000</c:v>
                </c:pt>
                <c:pt idx="1">
                  <c:v>1020000</c:v>
                </c:pt>
                <c:pt idx="2">
                  <c:v>1100000</c:v>
                </c:pt>
                <c:pt idx="3">
                  <c:v>1150000</c:v>
                </c:pt>
                <c:pt idx="4">
                  <c:v>1071000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Marché 2026 (kg)</c:v>
                </c:pt>
              </c:strCache>
            </c:strRef>
          </c:tx>
          <c:spPr>
            <a:solidFill>
              <a:srgbClr val="C9A84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Janv.</c:v>
                  </c:pt>
                  <c:pt idx="1">
                    <c:v>Févr.</c:v>
                  </c:pt>
                  <c:pt idx="2">
                    <c:v>Mars</c:v>
                  </c:pt>
                  <c:pt idx="3">
                    <c:v>Avr.</c:v>
                  </c:pt>
                  <c:pt idx="4">
                    <c:v>Mai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1220000</c:v>
                </c:pt>
                <c:pt idx="1">
                  <c:v>1050000</c:v>
                </c:pt>
                <c:pt idx="2">
                  <c:v>1130000</c:v>
                </c:pt>
                <c:pt idx="3">
                  <c:v>1050000</c:v>
                </c:pt>
                <c:pt idx="4">
                  <c:v>1153000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7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Mix Aérien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D2243"/>
              </a:solidFill>
              <a:effectLst/>
            </c:spPr>
          </c:dPt>
          <c:dPt>
            <c:idx val="1"/>
            <c:bubble3D val="0"/>
            <c:spPr>
              <a:solidFill>
                <a:srgbClr val="1A7C4F"/>
              </a:solidFill>
              <a:effectLst/>
            </c:spPr>
          </c:dPt>
          <c:dPt>
            <c:idx val="2"/>
            <c:bubble3D val="0"/>
            <c:spPr>
              <a:solidFill>
                <a:srgbClr val="C9A84C"/>
              </a:solidFill>
              <a:effectLst/>
            </c:spPr>
          </c:dPt>
          <c:dPt>
            <c:idx val="3"/>
            <c:bubble3D val="0"/>
            <c:spPr>
              <a:solidFill>
                <a:srgbClr val="E05A00"/>
              </a:solidFill>
              <a:effectLst/>
            </c:spPr>
          </c:dPt>
          <c:dPt>
            <c:idx val="4"/>
            <c:bubble3D val="0"/>
            <c:spPr>
              <a:solidFill>
                <a:srgbClr val="0E7490"/>
              </a:solidFill>
              <a:effectLst/>
            </c:spPr>
          </c:dPt>
          <c:dPt>
            <c:idx val="5"/>
            <c:bubble3D val="0"/>
            <c:spPr>
              <a:solidFill>
                <a:srgbClr val="6B7280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4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5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Sheet1!$A$2:$A$7</c:f>
              <c:strCache>
                <c:ptCount val="6"/>
                <c:pt idx="0">
                  <c:v>Mat. Miniers</c:v>
                </c:pt>
                <c:pt idx="1">
                  <c:v>Prod. Alimentaires</c:v>
                </c:pt>
                <c:pt idx="2">
                  <c:v>Médicaments</c:v>
                </c:pt>
                <c:pt idx="3">
                  <c:v>Télécoms</c:v>
                </c:pt>
                <c:pt idx="4">
                  <c:v>Alimentaire</c:v>
                </c:pt>
                <c:pt idx="5">
                  <c:v>Autres</c:v>
                </c:pt>
              </c:strCache>
            </c:strRef>
          </c:cat>
          <c:val>
            <c:numRef>
              <c:f>Sheet1!$B$2:$B$7</c:f>
              <c:numCache>
                <c:ptCount val="6"/>
                <c:pt idx="0">
                  <c:v>27</c:v>
                </c:pt>
                <c:pt idx="1">
                  <c:v>23</c:v>
                </c:pt>
                <c:pt idx="2">
                  <c:v>5</c:v>
                </c:pt>
                <c:pt idx="3">
                  <c:v>6</c:v>
                </c:pt>
                <c:pt idx="4">
                  <c:v>3</c:v>
                </c:pt>
                <c:pt idx="5">
                  <c:v>36</c:v>
                </c:pt>
              </c:numCache>
            </c:numRef>
          </c:val>
        </c:ser>
        <c:firstSliceAng val="0"/>
      </c:pieChart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9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7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8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2243"/>
          </a:solidFill>
          <a:ln/>
        </p:spPr>
      </p:sp>
      <p:sp>
        <p:nvSpPr>
          <p:cNvPr id="3" name="Shape 1"/>
          <p:cNvSpPr/>
          <p:nvPr/>
        </p:nvSpPr>
        <p:spPr>
          <a:xfrm>
            <a:off x="320040" y="3246120"/>
            <a:ext cx="7772400" cy="54864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27432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AGL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320040" y="804672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AFRICA GLOBAL LOGISTICS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320040" y="1371600"/>
            <a:ext cx="73152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Revue Stratégique &amp;</a:t>
            </a:r>
            <a:endParaRPr lang="en-US" sz="4400" dirty="0"/>
          </a:p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320040" y="3429000"/>
            <a:ext cx="5486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 2026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320040" y="4251960"/>
            <a:ext cx="4114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the heart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Africa's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transformation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2743200" y="6537960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Direction Marketing &amp; RP  |  AGL Abidjan  |  Juin 2026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10972800" y="649224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D2243"/>
          </a:solidFill>
          <a:ln/>
        </p:spPr>
      </p:sp>
      <p:sp>
        <p:nvSpPr>
          <p:cNvPr id="3" name="Text 1"/>
          <p:cNvSpPr/>
          <p:nvPr/>
        </p:nvSpPr>
        <p:spPr>
          <a:xfrm>
            <a:off x="228600" y="45720"/>
            <a:ext cx="11887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SOMMAIRE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228600" y="548640"/>
            <a:ext cx="11430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par métier – 5 segments + synthèse stratégique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82880" y="6583680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Africa Global Logistics – Étude de Marché Jan–Mai 2026    p.2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430000" y="653796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AGL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182880" y="1143000"/>
            <a:ext cx="3840480" cy="1828800"/>
          </a:xfrm>
          <a:prstGeom prst="rect">
            <a:avLst/>
          </a:prstGeom>
          <a:solidFill>
            <a:srgbClr val="F0F2F5"/>
          </a:solidFill>
          <a:ln w="6350">
            <a:solidFill>
              <a:srgbClr val="DDE0E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92608" y="1280160"/>
            <a:ext cx="502920" cy="502920"/>
          </a:xfrm>
          <a:prstGeom prst="rect">
            <a:avLst/>
          </a:prstGeom>
          <a:solidFill>
            <a:srgbClr val="0D2243"/>
          </a:solidFill>
          <a:ln/>
        </p:spPr>
      </p:sp>
      <p:sp>
        <p:nvSpPr>
          <p:cNvPr id="9" name="Text 7"/>
          <p:cNvSpPr/>
          <p:nvPr/>
        </p:nvSpPr>
        <p:spPr>
          <a:xfrm>
            <a:off x="292608" y="12801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292608" y="1892808"/>
            <a:ext cx="3611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 – Transit Import Maritime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92608" y="2313432"/>
            <a:ext cx="3611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Leader #1 – PDM 7,8% sur 193 989 TEU qualifiés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160520" y="1143000"/>
            <a:ext cx="3840480" cy="1828800"/>
          </a:xfrm>
          <a:prstGeom prst="rect">
            <a:avLst/>
          </a:prstGeom>
          <a:solidFill>
            <a:srgbClr val="F0F2F5"/>
          </a:solidFill>
          <a:ln w="6350">
            <a:solidFill>
              <a:srgbClr val="DDE0E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270248" y="1280160"/>
            <a:ext cx="502920" cy="502920"/>
          </a:xfrm>
          <a:prstGeom prst="rect">
            <a:avLst/>
          </a:prstGeom>
          <a:solidFill>
            <a:srgbClr val="1A7C4F"/>
          </a:solidFill>
          <a:ln/>
        </p:spPr>
      </p:sp>
      <p:sp>
        <p:nvSpPr>
          <p:cNvPr id="14" name="Text 12"/>
          <p:cNvSpPr/>
          <p:nvPr/>
        </p:nvSpPr>
        <p:spPr>
          <a:xfrm>
            <a:off x="4270248" y="12801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270248" y="1892808"/>
            <a:ext cx="3611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 – Transit Export Maritime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270248" y="2313432"/>
            <a:ext cx="3611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Dominance absolue – 26,2% PDM sur 137 283 TEU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8138160" y="1143000"/>
            <a:ext cx="3840480" cy="1828800"/>
          </a:xfrm>
          <a:prstGeom prst="rect">
            <a:avLst/>
          </a:prstGeom>
          <a:solidFill>
            <a:srgbClr val="F0F2F5"/>
          </a:solidFill>
          <a:ln w="6350">
            <a:solidFill>
              <a:srgbClr val="DDE0E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247888" y="1280160"/>
            <a:ext cx="502920" cy="502920"/>
          </a:xfrm>
          <a:prstGeom prst="rect">
            <a:avLst/>
          </a:prstGeom>
          <a:solidFill>
            <a:srgbClr val="E05A00"/>
          </a:solidFill>
          <a:ln/>
        </p:spPr>
      </p:sp>
      <p:sp>
        <p:nvSpPr>
          <p:cNvPr id="19" name="Text 17"/>
          <p:cNvSpPr/>
          <p:nvPr/>
        </p:nvSpPr>
        <p:spPr>
          <a:xfrm>
            <a:off x="8247888" y="12801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8247888" y="1892808"/>
            <a:ext cx="3611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Hinterland Import Maritime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247888" y="2313432"/>
            <a:ext cx="3611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#3 → objectif #2 : 11,3% PDM sur 28 457 TEU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182880" y="3063240"/>
            <a:ext cx="3840480" cy="1828800"/>
          </a:xfrm>
          <a:prstGeom prst="rect">
            <a:avLst/>
          </a:prstGeom>
          <a:solidFill>
            <a:srgbClr val="F0F2F5"/>
          </a:solidFill>
          <a:ln w="6350">
            <a:solidFill>
              <a:srgbClr val="DDE0E4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92608" y="3200400"/>
            <a:ext cx="502920" cy="502920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24" name="Text 22"/>
          <p:cNvSpPr/>
          <p:nvPr/>
        </p:nvSpPr>
        <p:spPr>
          <a:xfrm>
            <a:off x="292608" y="32004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292608" y="3813048"/>
            <a:ext cx="3611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Hinterland Export Maritime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292608" y="4233672"/>
            <a:ext cx="3611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Leader #1 – 66,1% PDM  |  Bamako–Ouagadougou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160520" y="3063240"/>
            <a:ext cx="3840480" cy="1828800"/>
          </a:xfrm>
          <a:prstGeom prst="rect">
            <a:avLst/>
          </a:prstGeom>
          <a:solidFill>
            <a:srgbClr val="F0F2F5"/>
          </a:solidFill>
          <a:ln w="6350">
            <a:solidFill>
              <a:srgbClr val="DDE0E4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270248" y="3200400"/>
            <a:ext cx="502920" cy="502920"/>
          </a:xfrm>
          <a:prstGeom prst="rect">
            <a:avLst/>
          </a:prstGeom>
          <a:solidFill>
            <a:srgbClr val="0E7490"/>
          </a:solidFill>
          <a:ln/>
        </p:spPr>
      </p:sp>
      <p:sp>
        <p:nvSpPr>
          <p:cNvPr id="29" name="Text 27"/>
          <p:cNvSpPr/>
          <p:nvPr/>
        </p:nvSpPr>
        <p:spPr>
          <a:xfrm>
            <a:off x="4270248" y="32004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4270248" y="3813048"/>
            <a:ext cx="3611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Aérien Import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4270248" y="4233672"/>
            <a:ext cx="3611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#1 ABSOLU – 20,8% PDM  |  Croissance forte Jan→Mai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8138160" y="3063240"/>
            <a:ext cx="3840480" cy="1828800"/>
          </a:xfrm>
          <a:prstGeom prst="rect">
            <a:avLst/>
          </a:prstGeom>
          <a:solidFill>
            <a:srgbClr val="F0F2F5"/>
          </a:solidFill>
          <a:ln w="6350">
            <a:solidFill>
              <a:srgbClr val="DDE0E4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247888" y="3200400"/>
            <a:ext cx="502920" cy="502920"/>
          </a:xfrm>
          <a:prstGeom prst="rect">
            <a:avLst/>
          </a:prstGeom>
          <a:solidFill>
            <a:srgbClr val="8B6914"/>
          </a:solidFill>
          <a:ln/>
        </p:spPr>
      </p:sp>
      <p:sp>
        <p:nvSpPr>
          <p:cNvPr id="34" name="Text 32"/>
          <p:cNvSpPr/>
          <p:nvPr/>
        </p:nvSpPr>
        <p:spPr>
          <a:xfrm>
            <a:off x="8247888" y="32004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8247888" y="3813048"/>
            <a:ext cx="3611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Synthèses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8247888" y="4233672"/>
            <a:ext cx="3611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2243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0" y="457200"/>
            <a:ext cx="54864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0000" dirty="0"/>
          </a:p>
        </p:txBody>
      </p:sp>
      <p:sp>
        <p:nvSpPr>
          <p:cNvPr id="4" name="Shape 2"/>
          <p:cNvSpPr/>
          <p:nvPr/>
        </p:nvSpPr>
        <p:spPr>
          <a:xfrm>
            <a:off x="1097280" y="3520440"/>
            <a:ext cx="7498080" cy="59436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2651760"/>
            <a:ext cx="11430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TRANSIT IMPORT MARITIME (TIM)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365760" y="3657600"/>
            <a:ext cx="11430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193 989 TEU qualifiés  |  PDM AGL : 7,8%  |  Leader #1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828800" y="649224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Africa Global Logistics – Étude de Marché Jan–Mai 2026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430000" y="6473952"/>
            <a:ext cx="640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AGL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D2243"/>
          </a:solidFill>
          <a:ln/>
        </p:spPr>
      </p:sp>
      <p:sp>
        <p:nvSpPr>
          <p:cNvPr id="3" name="Text 1"/>
          <p:cNvSpPr/>
          <p:nvPr/>
        </p:nvSpPr>
        <p:spPr>
          <a:xfrm>
            <a:off x="228600" y="45720"/>
            <a:ext cx="11887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 – VUE D'ENSEMBLE  |  Jan–Mai 2026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228600" y="548640"/>
            <a:ext cx="11430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Marché qualifié : 193 989 TEU  |  AGL : 15 133 TEU  |  PDM AGL : 7,8% (Leader #1)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82880" y="6583680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Africa Global Logistics – Étude de Marché Jan–Mai 2026  |  p.4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430000" y="653796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AGL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137160" y="1097280"/>
            <a:ext cx="2291486" cy="868680"/>
          </a:xfrm>
          <a:prstGeom prst="rect">
            <a:avLst/>
          </a:prstGeom>
          <a:solidFill>
            <a:srgbClr val="F0F2F5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37160" y="1143000"/>
            <a:ext cx="229148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MARCHÉ QUALIFIÉ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37160" y="1316736"/>
            <a:ext cx="229148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D22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193 989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37160" y="1719072"/>
            <a:ext cx="229148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TEU Jan–Mai 2026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2520086" y="1097280"/>
            <a:ext cx="2291486" cy="868680"/>
          </a:xfrm>
          <a:prstGeom prst="rect">
            <a:avLst/>
          </a:prstGeom>
          <a:solidFill>
            <a:srgbClr val="F0F2F5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520086" y="1143000"/>
            <a:ext cx="229148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 AGL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2520086" y="1316736"/>
            <a:ext cx="229148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D22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15 133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2520086" y="1719072"/>
            <a:ext cx="229148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TEU Jan–Mai 2026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4903013" y="1097280"/>
            <a:ext cx="2291486" cy="868680"/>
          </a:xfrm>
          <a:prstGeom prst="rect">
            <a:avLst/>
          </a:prstGeom>
          <a:solidFill>
            <a:srgbClr val="F0F2F5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903013" y="1143000"/>
            <a:ext cx="229148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PDM AGL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4903013" y="1316736"/>
            <a:ext cx="229148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A7C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7,8 %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4903013" y="1719072"/>
            <a:ext cx="229148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#1 – Leader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7285939" y="1097280"/>
            <a:ext cx="2291486" cy="868680"/>
          </a:xfrm>
          <a:prstGeom prst="rect">
            <a:avLst/>
          </a:prstGeom>
          <a:solidFill>
            <a:srgbClr val="F0F2F5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285939" y="1143000"/>
            <a:ext cx="229148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ÉCART VS #2 STRACOTRANS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7285939" y="1316736"/>
            <a:ext cx="229148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0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+558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7285939" y="1719072"/>
            <a:ext cx="229148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TEU d'avance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9668866" y="1097280"/>
            <a:ext cx="2291486" cy="868680"/>
          </a:xfrm>
          <a:prstGeom prst="rect">
            <a:avLst/>
          </a:prstGeom>
          <a:solidFill>
            <a:srgbClr val="F0F2F5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668866" y="1143000"/>
            <a:ext cx="229148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CUMUL PDM TOP 4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9668866" y="1316736"/>
            <a:ext cx="229148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56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29,1 %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9668866" y="1719072"/>
            <a:ext cx="229148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AGL+STRAC+TGR+GTC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228600" y="2084832"/>
            <a:ext cx="5943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Évolution mensuelle marché TIM &amp; AGL (TEU)</a:t>
            </a:r>
            <a:endParaRPr lang="en-US" sz="1100" dirty="0"/>
          </a:p>
        </p:txBody>
      </p:sp>
      <p:graphicFrame>
        <p:nvGraphicFramePr>
          <p:cNvPr id="28" name="Chart 0" descr=""/>
          <p:cNvGraphicFramePr/>
          <p:nvPr/>
        </p:nvGraphicFramePr>
        <p:xfrm>
          <a:off x="137160" y="2331720"/>
          <a:ext cx="6217920" cy="3931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9" name="Text 26"/>
          <p:cNvSpPr/>
          <p:nvPr/>
        </p:nvSpPr>
        <p:spPr>
          <a:xfrm>
            <a:off x="6492240" y="2084832"/>
            <a:ext cx="5303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PDM AGL par mois – TIM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6492240" y="2395728"/>
            <a:ext cx="5486400" cy="475488"/>
          </a:xfrm>
          <a:prstGeom prst="rect">
            <a:avLst/>
          </a:prstGeom>
          <a:solidFill>
            <a:srgbClr val="F8FAFC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6601968" y="2523744"/>
            <a:ext cx="777240" cy="27432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Janvier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7452360" y="2523744"/>
            <a:ext cx="2560320" cy="201168"/>
          </a:xfrm>
          <a:prstGeom prst="rect">
            <a:avLst/>
          </a:prstGeom>
          <a:solidFill>
            <a:srgbClr val="D1D5DB"/>
          </a:solidFill>
          <a:ln/>
        </p:spPr>
      </p:sp>
      <p:sp>
        <p:nvSpPr>
          <p:cNvPr id="33" name="Shape 30"/>
          <p:cNvSpPr/>
          <p:nvPr/>
        </p:nvSpPr>
        <p:spPr>
          <a:xfrm>
            <a:off x="7452360" y="2523744"/>
            <a:ext cx="2500077" cy="201168"/>
          </a:xfrm>
          <a:prstGeom prst="rect">
            <a:avLst/>
          </a:prstGeom>
          <a:solidFill>
            <a:srgbClr val="1A7C4F"/>
          </a:solidFill>
          <a:ln/>
        </p:spPr>
      </p:sp>
      <p:sp>
        <p:nvSpPr>
          <p:cNvPr id="34" name="Text 31"/>
          <p:cNvSpPr/>
          <p:nvPr/>
        </p:nvSpPr>
        <p:spPr>
          <a:xfrm>
            <a:off x="10085832" y="2487168"/>
            <a:ext cx="868680" cy="27432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A7C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8,3 %</a:t>
            </a:r>
            <a:endParaRPr lang="en-US" sz="1100" dirty="0"/>
          </a:p>
        </p:txBody>
      </p:sp>
      <p:sp>
        <p:nvSpPr>
          <p:cNvPr id="35" name="Shape 32"/>
          <p:cNvSpPr/>
          <p:nvPr/>
        </p:nvSpPr>
        <p:spPr>
          <a:xfrm>
            <a:off x="6492240" y="2926080"/>
            <a:ext cx="5486400" cy="475488"/>
          </a:xfrm>
          <a:prstGeom prst="rect">
            <a:avLst/>
          </a:prstGeom>
          <a:solidFill>
            <a:srgbClr val="F8FAFC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6601968" y="3054096"/>
            <a:ext cx="777240" cy="27432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Février</a:t>
            </a:r>
            <a:endParaRPr lang="en-US" sz="1100" dirty="0"/>
          </a:p>
        </p:txBody>
      </p:sp>
      <p:sp>
        <p:nvSpPr>
          <p:cNvPr id="37" name="Shape 34"/>
          <p:cNvSpPr/>
          <p:nvPr/>
        </p:nvSpPr>
        <p:spPr>
          <a:xfrm>
            <a:off x="7452360" y="3054096"/>
            <a:ext cx="2560320" cy="201168"/>
          </a:xfrm>
          <a:prstGeom prst="rect">
            <a:avLst/>
          </a:prstGeom>
          <a:solidFill>
            <a:srgbClr val="D1D5DB"/>
          </a:solidFill>
          <a:ln/>
        </p:spPr>
      </p:sp>
      <p:sp>
        <p:nvSpPr>
          <p:cNvPr id="38" name="Shape 35"/>
          <p:cNvSpPr/>
          <p:nvPr/>
        </p:nvSpPr>
        <p:spPr>
          <a:xfrm>
            <a:off x="7452360" y="3054096"/>
            <a:ext cx="2078377" cy="201168"/>
          </a:xfrm>
          <a:prstGeom prst="rect">
            <a:avLst/>
          </a:prstGeom>
          <a:solidFill>
            <a:srgbClr val="E05A00"/>
          </a:solidFill>
          <a:ln/>
        </p:spPr>
      </p:sp>
      <p:sp>
        <p:nvSpPr>
          <p:cNvPr id="39" name="Text 36"/>
          <p:cNvSpPr/>
          <p:nvPr/>
        </p:nvSpPr>
        <p:spPr>
          <a:xfrm>
            <a:off x="10085832" y="3017520"/>
            <a:ext cx="868680" cy="27432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E0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6,9 %</a:t>
            </a:r>
            <a:endParaRPr lang="en-US" sz="1100" dirty="0"/>
          </a:p>
        </p:txBody>
      </p:sp>
      <p:sp>
        <p:nvSpPr>
          <p:cNvPr id="40" name="Shape 37"/>
          <p:cNvSpPr/>
          <p:nvPr/>
        </p:nvSpPr>
        <p:spPr>
          <a:xfrm>
            <a:off x="6492240" y="3456432"/>
            <a:ext cx="5486400" cy="475488"/>
          </a:xfrm>
          <a:prstGeom prst="rect">
            <a:avLst/>
          </a:prstGeom>
          <a:solidFill>
            <a:srgbClr val="F8FAFC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6601968" y="3584448"/>
            <a:ext cx="777240" cy="27432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Mars</a:t>
            </a:r>
            <a:endParaRPr lang="en-US" sz="1100" dirty="0"/>
          </a:p>
        </p:txBody>
      </p:sp>
      <p:sp>
        <p:nvSpPr>
          <p:cNvPr id="42" name="Shape 39"/>
          <p:cNvSpPr/>
          <p:nvPr/>
        </p:nvSpPr>
        <p:spPr>
          <a:xfrm>
            <a:off x="7452360" y="3584448"/>
            <a:ext cx="2560320" cy="201168"/>
          </a:xfrm>
          <a:prstGeom prst="rect">
            <a:avLst/>
          </a:prstGeom>
          <a:solidFill>
            <a:srgbClr val="D1D5DB"/>
          </a:solidFill>
          <a:ln/>
        </p:spPr>
      </p:sp>
      <p:sp>
        <p:nvSpPr>
          <p:cNvPr id="43" name="Shape 40"/>
          <p:cNvSpPr/>
          <p:nvPr/>
        </p:nvSpPr>
        <p:spPr>
          <a:xfrm>
            <a:off x="7452360" y="3584448"/>
            <a:ext cx="2259106" cy="201168"/>
          </a:xfrm>
          <a:prstGeom prst="rect">
            <a:avLst/>
          </a:prstGeom>
          <a:solidFill>
            <a:srgbClr val="1A7C4F"/>
          </a:solidFill>
          <a:ln/>
        </p:spPr>
      </p:sp>
      <p:sp>
        <p:nvSpPr>
          <p:cNvPr id="44" name="Text 41"/>
          <p:cNvSpPr/>
          <p:nvPr/>
        </p:nvSpPr>
        <p:spPr>
          <a:xfrm>
            <a:off x="10085832" y="3547872"/>
            <a:ext cx="868680" cy="27432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A7C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7,5 %</a:t>
            </a:r>
            <a:endParaRPr lang="en-US" sz="1100" dirty="0"/>
          </a:p>
        </p:txBody>
      </p:sp>
      <p:sp>
        <p:nvSpPr>
          <p:cNvPr id="45" name="Shape 42"/>
          <p:cNvSpPr/>
          <p:nvPr/>
        </p:nvSpPr>
        <p:spPr>
          <a:xfrm>
            <a:off x="6492240" y="3986784"/>
            <a:ext cx="5486400" cy="475488"/>
          </a:xfrm>
          <a:prstGeom prst="rect">
            <a:avLst/>
          </a:prstGeom>
          <a:solidFill>
            <a:srgbClr val="F8FAFC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>
            <a:off x="6601968" y="4114800"/>
            <a:ext cx="777240" cy="27432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Avril</a:t>
            </a:r>
            <a:endParaRPr lang="en-US" sz="1100" dirty="0"/>
          </a:p>
        </p:txBody>
      </p:sp>
      <p:sp>
        <p:nvSpPr>
          <p:cNvPr id="47" name="Shape 44"/>
          <p:cNvSpPr/>
          <p:nvPr/>
        </p:nvSpPr>
        <p:spPr>
          <a:xfrm>
            <a:off x="7452360" y="4114800"/>
            <a:ext cx="2560320" cy="201168"/>
          </a:xfrm>
          <a:prstGeom prst="rect">
            <a:avLst/>
          </a:prstGeom>
          <a:solidFill>
            <a:srgbClr val="D1D5DB"/>
          </a:solidFill>
          <a:ln/>
        </p:spPr>
      </p:sp>
      <p:sp>
        <p:nvSpPr>
          <p:cNvPr id="48" name="Shape 45"/>
          <p:cNvSpPr/>
          <p:nvPr/>
        </p:nvSpPr>
        <p:spPr>
          <a:xfrm>
            <a:off x="7452360" y="4114800"/>
            <a:ext cx="2560320" cy="201168"/>
          </a:xfrm>
          <a:prstGeom prst="rect">
            <a:avLst/>
          </a:prstGeom>
          <a:solidFill>
            <a:srgbClr val="1A7C4F"/>
          </a:solidFill>
          <a:ln/>
        </p:spPr>
      </p:sp>
      <p:sp>
        <p:nvSpPr>
          <p:cNvPr id="49" name="Text 46"/>
          <p:cNvSpPr/>
          <p:nvPr/>
        </p:nvSpPr>
        <p:spPr>
          <a:xfrm>
            <a:off x="10085832" y="4078224"/>
            <a:ext cx="868680" cy="27432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A7C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8,5 %</a:t>
            </a:r>
            <a:endParaRPr lang="en-US" sz="1100" dirty="0"/>
          </a:p>
        </p:txBody>
      </p:sp>
      <p:sp>
        <p:nvSpPr>
          <p:cNvPr id="50" name="Shape 47"/>
          <p:cNvSpPr/>
          <p:nvPr/>
        </p:nvSpPr>
        <p:spPr>
          <a:xfrm>
            <a:off x="6492240" y="4517136"/>
            <a:ext cx="5486400" cy="475488"/>
          </a:xfrm>
          <a:prstGeom prst="rect">
            <a:avLst/>
          </a:prstGeom>
          <a:solidFill>
            <a:srgbClr val="F8FAFC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51" name="Text 48"/>
          <p:cNvSpPr/>
          <p:nvPr/>
        </p:nvSpPr>
        <p:spPr>
          <a:xfrm>
            <a:off x="6601968" y="4645152"/>
            <a:ext cx="777240" cy="27432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</a:t>
            </a:r>
            <a:endParaRPr lang="en-US" sz="1100" dirty="0"/>
          </a:p>
        </p:txBody>
      </p:sp>
      <p:sp>
        <p:nvSpPr>
          <p:cNvPr id="52" name="Shape 49"/>
          <p:cNvSpPr/>
          <p:nvPr/>
        </p:nvSpPr>
        <p:spPr>
          <a:xfrm>
            <a:off x="7452360" y="4645152"/>
            <a:ext cx="2560320" cy="201168"/>
          </a:xfrm>
          <a:prstGeom prst="rect">
            <a:avLst/>
          </a:prstGeom>
          <a:solidFill>
            <a:srgbClr val="D1D5DB"/>
          </a:solidFill>
          <a:ln/>
        </p:spPr>
      </p:sp>
      <p:sp>
        <p:nvSpPr>
          <p:cNvPr id="53" name="Shape 50"/>
          <p:cNvSpPr/>
          <p:nvPr/>
        </p:nvSpPr>
        <p:spPr>
          <a:xfrm>
            <a:off x="7452360" y="4645152"/>
            <a:ext cx="2349470" cy="201168"/>
          </a:xfrm>
          <a:prstGeom prst="rect">
            <a:avLst/>
          </a:prstGeom>
          <a:solidFill>
            <a:srgbClr val="1A7C4F"/>
          </a:solidFill>
          <a:ln/>
        </p:spPr>
      </p:sp>
      <p:sp>
        <p:nvSpPr>
          <p:cNvPr id="54" name="Text 51"/>
          <p:cNvSpPr/>
          <p:nvPr/>
        </p:nvSpPr>
        <p:spPr>
          <a:xfrm>
            <a:off x="10085832" y="4608576"/>
            <a:ext cx="868680" cy="27432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A7C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7,8 %</a:t>
            </a:r>
            <a:endParaRPr lang="en-US" sz="1100" dirty="0"/>
          </a:p>
        </p:txBody>
      </p:sp>
      <p:sp>
        <p:nvSpPr>
          <p:cNvPr id="55" name="Shape 52"/>
          <p:cNvSpPr/>
          <p:nvPr/>
        </p:nvSpPr>
        <p:spPr>
          <a:xfrm>
            <a:off x="6492240" y="5212080"/>
            <a:ext cx="5486400" cy="685800"/>
          </a:xfrm>
          <a:prstGeom prst="rect">
            <a:avLst/>
          </a:prstGeom>
          <a:solidFill>
            <a:srgbClr val="F0FDF4"/>
          </a:solidFill>
          <a:ln w="6350">
            <a:solidFill>
              <a:srgbClr val="E5C97A"/>
            </a:solidFill>
            <a:prstDash val="solid"/>
          </a:ln>
        </p:spPr>
      </p:sp>
      <p:sp>
        <p:nvSpPr>
          <p:cNvPr id="56" name="Text 53"/>
          <p:cNvSpPr/>
          <p:nvPr/>
        </p:nvSpPr>
        <p:spPr>
          <a:xfrm>
            <a:off x="6583680" y="5285232"/>
            <a:ext cx="5303520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PDM réelle (qualifiée) : 7,8% vs 7,3% brut. L'exclusion du Non Apuré révèle la vraie position AGL. Avance sur STRACOTRANS : seulement +558 TEU — position à consolider en urgence.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D2243"/>
          </a:solidFill>
          <a:ln/>
        </p:spPr>
      </p:sp>
      <p:sp>
        <p:nvSpPr>
          <p:cNvPr id="3" name="Text 1"/>
          <p:cNvSpPr/>
          <p:nvPr/>
        </p:nvSpPr>
        <p:spPr>
          <a:xfrm>
            <a:off x="228600" y="45720"/>
            <a:ext cx="11887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 – ANALYSE CONCURRENTIELLE &amp; SEGMENTS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228600" y="548640"/>
            <a:ext cx="11430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Classement PDM qualifié  |  Top marchandises AGL  |  Opportunités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82880" y="6583680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Africa Global Logistics – Étude de Marché Jan–Mai 2026  |  p.5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430000" y="653796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AGL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228600" y="1097280"/>
            <a:ext cx="5943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Classement Transitaires – TIM (hors Non Apuré, SIR CI, SMB)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37160" y="1371600"/>
            <a:ext cx="6217920" cy="256032"/>
          </a:xfrm>
          <a:prstGeom prst="rect">
            <a:avLst/>
          </a:prstGeom>
          <a:solidFill>
            <a:srgbClr val="0D2243"/>
          </a:solidFill>
          <a:ln/>
        </p:spPr>
      </p:sp>
      <p:sp>
        <p:nvSpPr>
          <p:cNvPr id="9" name="Text 7"/>
          <p:cNvSpPr/>
          <p:nvPr/>
        </p:nvSpPr>
        <p:spPr>
          <a:xfrm>
            <a:off x="173736" y="1408176"/>
            <a:ext cx="365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585216" y="1408176"/>
            <a:ext cx="1889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Transitaire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2520696" y="1408176"/>
            <a:ext cx="1889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TEU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4456176" y="1408176"/>
            <a:ext cx="1889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PDM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137160" y="1627632"/>
            <a:ext cx="6217920" cy="256032"/>
          </a:xfrm>
          <a:prstGeom prst="rect">
            <a:avLst/>
          </a:prstGeom>
          <a:solidFill>
            <a:srgbClr val="FFF9EC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73736" y="1664208"/>
            <a:ext cx="365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#1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585216" y="1664208"/>
            <a:ext cx="1889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A7C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AFRICA GLOBAL LOGISTICS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2520696" y="1664208"/>
            <a:ext cx="1889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15 133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4456176" y="1664208"/>
            <a:ext cx="1889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A7C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7,8 %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137160" y="1883664"/>
            <a:ext cx="6217920" cy="256032"/>
          </a:xfrm>
          <a:prstGeom prst="rect">
            <a:avLst/>
          </a:prstGeom>
          <a:solidFill>
            <a:srgbClr val="F8F9FA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73736" y="1920240"/>
            <a:ext cx="365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#2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585216" y="1920240"/>
            <a:ext cx="1889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STRACOTRANS CI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2520696" y="1920240"/>
            <a:ext cx="1889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14 575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4456176" y="1920240"/>
            <a:ext cx="1889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7,5 %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137160" y="2139696"/>
            <a:ext cx="6217920" cy="256032"/>
          </a:xfrm>
          <a:prstGeom prst="rect">
            <a:avLst/>
          </a:prstGeom>
          <a:solidFill>
            <a:srgbClr val="FFFFFF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73736" y="2176272"/>
            <a:ext cx="365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#3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585216" y="2176272"/>
            <a:ext cx="1889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TGR (Transit Général Rapide)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2520696" y="2176272"/>
            <a:ext cx="1889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13 663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4456176" y="2176272"/>
            <a:ext cx="1889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7,0 %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137160" y="2395728"/>
            <a:ext cx="6217920" cy="256032"/>
          </a:xfrm>
          <a:prstGeom prst="rect">
            <a:avLst/>
          </a:prstGeom>
          <a:solidFill>
            <a:srgbClr val="F8F9FA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73736" y="2432304"/>
            <a:ext cx="365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#4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585216" y="2432304"/>
            <a:ext cx="1889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 TRANSIT CI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2520696" y="2432304"/>
            <a:ext cx="1889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12 028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4456176" y="2432304"/>
            <a:ext cx="1889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6,2 %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137160" y="2651760"/>
            <a:ext cx="6217920" cy="256032"/>
          </a:xfrm>
          <a:prstGeom prst="rect">
            <a:avLst/>
          </a:prstGeom>
          <a:solidFill>
            <a:srgbClr val="FFFFFF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73736" y="2688336"/>
            <a:ext cx="365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#5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585216" y="2688336"/>
            <a:ext cx="1889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DJAM DKS TRANSIT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2520696" y="2688336"/>
            <a:ext cx="1889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10 862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4456176" y="2688336"/>
            <a:ext cx="1889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5,6 %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137160" y="2907792"/>
            <a:ext cx="6217920" cy="256032"/>
          </a:xfrm>
          <a:prstGeom prst="rect">
            <a:avLst/>
          </a:prstGeom>
          <a:solidFill>
            <a:srgbClr val="F8F9FA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73736" y="2944368"/>
            <a:ext cx="365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#6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585216" y="2944368"/>
            <a:ext cx="1889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MANUTENTION CI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2520696" y="2944368"/>
            <a:ext cx="1889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10 203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4456176" y="2944368"/>
            <a:ext cx="1889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5,3 %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137160" y="3163824"/>
            <a:ext cx="6217920" cy="256032"/>
          </a:xfrm>
          <a:prstGeom prst="rect">
            <a:avLst/>
          </a:prstGeom>
          <a:solidFill>
            <a:srgbClr val="FFFFFF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173736" y="3200400"/>
            <a:ext cx="365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#7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585216" y="3200400"/>
            <a:ext cx="1889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PROFESIONNEL TRANSIT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2520696" y="3200400"/>
            <a:ext cx="1889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9 479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4456176" y="3200400"/>
            <a:ext cx="1889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4,9 %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137160" y="3419856"/>
            <a:ext cx="6217920" cy="256032"/>
          </a:xfrm>
          <a:prstGeom prst="rect">
            <a:avLst/>
          </a:prstGeom>
          <a:solidFill>
            <a:srgbClr val="F8F9FA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173736" y="3456432"/>
            <a:ext cx="365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#8</a:t>
            </a:r>
            <a:endParaRPr lang="en-US" sz="850" dirty="0"/>
          </a:p>
        </p:txBody>
      </p:sp>
      <p:sp>
        <p:nvSpPr>
          <p:cNvPr id="50" name="Text 48"/>
          <p:cNvSpPr/>
          <p:nvPr/>
        </p:nvSpPr>
        <p:spPr>
          <a:xfrm>
            <a:off x="585216" y="3456432"/>
            <a:ext cx="1889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 TRANSIT CI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2520696" y="3456432"/>
            <a:ext cx="1889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6 137</a:t>
            </a:r>
            <a:endParaRPr lang="en-US" sz="850" dirty="0"/>
          </a:p>
        </p:txBody>
      </p:sp>
      <p:sp>
        <p:nvSpPr>
          <p:cNvPr id="52" name="Text 50"/>
          <p:cNvSpPr/>
          <p:nvPr/>
        </p:nvSpPr>
        <p:spPr>
          <a:xfrm>
            <a:off x="4456176" y="3456432"/>
            <a:ext cx="1889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3,2 %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137160" y="3675888"/>
            <a:ext cx="6217920" cy="256032"/>
          </a:xfrm>
          <a:prstGeom prst="rect">
            <a:avLst/>
          </a:prstGeom>
          <a:solidFill>
            <a:srgbClr val="FFFFFF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173736" y="3712464"/>
            <a:ext cx="365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#9</a:t>
            </a:r>
            <a:endParaRPr lang="en-US" sz="850" dirty="0"/>
          </a:p>
        </p:txBody>
      </p:sp>
      <p:sp>
        <p:nvSpPr>
          <p:cNvPr id="55" name="Text 53"/>
          <p:cNvSpPr/>
          <p:nvPr/>
        </p:nvSpPr>
        <p:spPr>
          <a:xfrm>
            <a:off x="585216" y="3712464"/>
            <a:ext cx="1889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SDMA</a:t>
            </a:r>
            <a:endParaRPr lang="en-US" sz="850" dirty="0"/>
          </a:p>
        </p:txBody>
      </p:sp>
      <p:sp>
        <p:nvSpPr>
          <p:cNvPr id="56" name="Text 54"/>
          <p:cNvSpPr/>
          <p:nvPr/>
        </p:nvSpPr>
        <p:spPr>
          <a:xfrm>
            <a:off x="2520696" y="3712464"/>
            <a:ext cx="1889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5 680</a:t>
            </a:r>
            <a:endParaRPr lang="en-US" sz="850" dirty="0"/>
          </a:p>
        </p:txBody>
      </p:sp>
      <p:sp>
        <p:nvSpPr>
          <p:cNvPr id="57" name="Text 55"/>
          <p:cNvSpPr/>
          <p:nvPr/>
        </p:nvSpPr>
        <p:spPr>
          <a:xfrm>
            <a:off x="4456176" y="3712464"/>
            <a:ext cx="1889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2,9 %</a:t>
            </a:r>
            <a:endParaRPr lang="en-US" sz="850" dirty="0"/>
          </a:p>
        </p:txBody>
      </p:sp>
      <p:sp>
        <p:nvSpPr>
          <p:cNvPr id="58" name="Shape 56"/>
          <p:cNvSpPr/>
          <p:nvPr/>
        </p:nvSpPr>
        <p:spPr>
          <a:xfrm>
            <a:off x="137160" y="3931920"/>
            <a:ext cx="6217920" cy="256032"/>
          </a:xfrm>
          <a:prstGeom prst="rect">
            <a:avLst/>
          </a:prstGeom>
          <a:solidFill>
            <a:srgbClr val="F8F9FA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173736" y="3968496"/>
            <a:ext cx="365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#10</a:t>
            </a:r>
            <a:endParaRPr lang="en-US" sz="850" dirty="0"/>
          </a:p>
        </p:txBody>
      </p:sp>
      <p:sp>
        <p:nvSpPr>
          <p:cNvPr id="60" name="Text 58"/>
          <p:cNvSpPr/>
          <p:nvPr/>
        </p:nvSpPr>
        <p:spPr>
          <a:xfrm>
            <a:off x="585216" y="3968496"/>
            <a:ext cx="1889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SAS TRANSIT</a:t>
            </a:r>
            <a:endParaRPr lang="en-US" sz="850" dirty="0"/>
          </a:p>
        </p:txBody>
      </p:sp>
      <p:sp>
        <p:nvSpPr>
          <p:cNvPr id="61" name="Text 59"/>
          <p:cNvSpPr/>
          <p:nvPr/>
        </p:nvSpPr>
        <p:spPr>
          <a:xfrm>
            <a:off x="2520696" y="3968496"/>
            <a:ext cx="1889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5 274</a:t>
            </a:r>
            <a:endParaRPr lang="en-US" sz="850" dirty="0"/>
          </a:p>
        </p:txBody>
      </p:sp>
      <p:sp>
        <p:nvSpPr>
          <p:cNvPr id="62" name="Text 60"/>
          <p:cNvSpPr/>
          <p:nvPr/>
        </p:nvSpPr>
        <p:spPr>
          <a:xfrm>
            <a:off x="4456176" y="3968496"/>
            <a:ext cx="1889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2,7 %</a:t>
            </a:r>
            <a:endParaRPr lang="en-US" sz="850" dirty="0"/>
          </a:p>
        </p:txBody>
      </p:sp>
      <p:sp>
        <p:nvSpPr>
          <p:cNvPr id="63" name="Shape 61"/>
          <p:cNvSpPr/>
          <p:nvPr/>
        </p:nvSpPr>
        <p:spPr>
          <a:xfrm>
            <a:off x="137160" y="4983480"/>
            <a:ext cx="6217920" cy="685800"/>
          </a:xfrm>
          <a:prstGeom prst="rect">
            <a:avLst/>
          </a:prstGeom>
          <a:solidFill>
            <a:srgbClr val="FFFBEC"/>
          </a:solidFill>
          <a:ln w="6350">
            <a:solidFill>
              <a:srgbClr val="E5C97A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228600" y="5056632"/>
            <a:ext cx="6035040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INSIGHT TIM : Leader de justesse (+558 TEU sur STRACOTRANS). Forces : Mat. Miniers (74% PDM), Médicaments (50%), PVC (32%).</a:t>
            </a:r>
            <a:endParaRPr lang="en-US" sz="900" dirty="0"/>
          </a:p>
        </p:txBody>
      </p:sp>
      <p:sp>
        <p:nvSpPr>
          <p:cNvPr id="65" name="Text 63"/>
          <p:cNvSpPr/>
          <p:nvPr/>
        </p:nvSpPr>
        <p:spPr>
          <a:xfrm>
            <a:off x="6492240" y="1097280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PDM AGL par segment – TIM</a:t>
            </a:r>
            <a:endParaRPr lang="en-US" sz="1100" dirty="0"/>
          </a:p>
        </p:txBody>
      </p:sp>
      <p:sp>
        <p:nvSpPr>
          <p:cNvPr id="66" name="Text 64"/>
          <p:cNvSpPr/>
          <p:nvPr/>
        </p:nvSpPr>
        <p:spPr>
          <a:xfrm>
            <a:off x="6492240" y="1389888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MATÉRIELS MINIERS</a:t>
            </a:r>
            <a:endParaRPr lang="en-US" sz="850" dirty="0"/>
          </a:p>
        </p:txBody>
      </p:sp>
      <p:sp>
        <p:nvSpPr>
          <p:cNvPr id="67" name="Text 65"/>
          <p:cNvSpPr/>
          <p:nvPr/>
        </p:nvSpPr>
        <p:spPr>
          <a:xfrm>
            <a:off x="8156448" y="1389888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2 231 TEU</a:t>
            </a:r>
            <a:endParaRPr lang="en-US" sz="850" dirty="0"/>
          </a:p>
        </p:txBody>
      </p:sp>
      <p:sp>
        <p:nvSpPr>
          <p:cNvPr id="68" name="Shape 66"/>
          <p:cNvSpPr/>
          <p:nvPr/>
        </p:nvSpPr>
        <p:spPr>
          <a:xfrm>
            <a:off x="9052560" y="1426464"/>
            <a:ext cx="2743200" cy="164592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69" name="Shape 67"/>
          <p:cNvSpPr/>
          <p:nvPr/>
        </p:nvSpPr>
        <p:spPr>
          <a:xfrm>
            <a:off x="9052560" y="1426464"/>
            <a:ext cx="2029968" cy="164592"/>
          </a:xfrm>
          <a:prstGeom prst="rect">
            <a:avLst/>
          </a:prstGeom>
          <a:solidFill>
            <a:srgbClr val="1A7C4F"/>
          </a:solidFill>
          <a:ln/>
        </p:spPr>
      </p:sp>
      <p:sp>
        <p:nvSpPr>
          <p:cNvPr id="70" name="Text 68"/>
          <p:cNvSpPr/>
          <p:nvPr/>
        </p:nvSpPr>
        <p:spPr>
          <a:xfrm>
            <a:off x="11841480" y="1389888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7C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74%</a:t>
            </a:r>
            <a:endParaRPr lang="en-US" sz="900" dirty="0"/>
          </a:p>
        </p:txBody>
      </p:sp>
      <p:sp>
        <p:nvSpPr>
          <p:cNvPr id="71" name="Text 69"/>
          <p:cNvSpPr/>
          <p:nvPr/>
        </p:nvSpPr>
        <p:spPr>
          <a:xfrm>
            <a:off x="6492240" y="1773936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MÉDICAMENTS</a:t>
            </a:r>
            <a:endParaRPr lang="en-US" sz="850" dirty="0"/>
          </a:p>
        </p:txBody>
      </p:sp>
      <p:sp>
        <p:nvSpPr>
          <p:cNvPr id="72" name="Text 70"/>
          <p:cNvSpPr/>
          <p:nvPr/>
        </p:nvSpPr>
        <p:spPr>
          <a:xfrm>
            <a:off x="8156448" y="1773936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1 936 TEU</a:t>
            </a:r>
            <a:endParaRPr lang="en-US" sz="850" dirty="0"/>
          </a:p>
        </p:txBody>
      </p:sp>
      <p:sp>
        <p:nvSpPr>
          <p:cNvPr id="73" name="Shape 71"/>
          <p:cNvSpPr/>
          <p:nvPr/>
        </p:nvSpPr>
        <p:spPr>
          <a:xfrm>
            <a:off x="9052560" y="1810512"/>
            <a:ext cx="2743200" cy="164592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74" name="Shape 72"/>
          <p:cNvSpPr/>
          <p:nvPr/>
        </p:nvSpPr>
        <p:spPr>
          <a:xfrm>
            <a:off x="9052560" y="1810512"/>
            <a:ext cx="1371600" cy="164592"/>
          </a:xfrm>
          <a:prstGeom prst="rect">
            <a:avLst/>
          </a:prstGeom>
          <a:solidFill>
            <a:srgbClr val="1A7C4F"/>
          </a:solidFill>
          <a:ln/>
        </p:spPr>
      </p:sp>
      <p:sp>
        <p:nvSpPr>
          <p:cNvPr id="75" name="Text 73"/>
          <p:cNvSpPr/>
          <p:nvPr/>
        </p:nvSpPr>
        <p:spPr>
          <a:xfrm>
            <a:off x="11841480" y="1773936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7C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50%</a:t>
            </a:r>
            <a:endParaRPr lang="en-US" sz="900" dirty="0"/>
          </a:p>
        </p:txBody>
      </p:sp>
      <p:sp>
        <p:nvSpPr>
          <p:cNvPr id="76" name="Text 74"/>
          <p:cNvSpPr/>
          <p:nvPr/>
        </p:nvSpPr>
        <p:spPr>
          <a:xfrm>
            <a:off x="6492240" y="2157984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PVC RÉSINE</a:t>
            </a:r>
            <a:endParaRPr lang="en-US" sz="850" dirty="0"/>
          </a:p>
        </p:txBody>
      </p:sp>
      <p:sp>
        <p:nvSpPr>
          <p:cNvPr id="77" name="Text 75"/>
          <p:cNvSpPr/>
          <p:nvPr/>
        </p:nvSpPr>
        <p:spPr>
          <a:xfrm>
            <a:off x="8156448" y="2157984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2 881 TEU</a:t>
            </a:r>
            <a:endParaRPr lang="en-US" sz="850" dirty="0"/>
          </a:p>
        </p:txBody>
      </p:sp>
      <p:sp>
        <p:nvSpPr>
          <p:cNvPr id="78" name="Shape 76"/>
          <p:cNvSpPr/>
          <p:nvPr/>
        </p:nvSpPr>
        <p:spPr>
          <a:xfrm>
            <a:off x="9052560" y="2194560"/>
            <a:ext cx="2743200" cy="164592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79" name="Shape 77"/>
          <p:cNvSpPr/>
          <p:nvPr/>
        </p:nvSpPr>
        <p:spPr>
          <a:xfrm>
            <a:off x="9052560" y="2194560"/>
            <a:ext cx="877824" cy="164592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80" name="Text 78"/>
          <p:cNvSpPr/>
          <p:nvPr/>
        </p:nvSpPr>
        <p:spPr>
          <a:xfrm>
            <a:off x="11841480" y="2157984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32%</a:t>
            </a:r>
            <a:endParaRPr lang="en-US" sz="900" dirty="0"/>
          </a:p>
        </p:txBody>
      </p:sp>
      <p:sp>
        <p:nvSpPr>
          <p:cNvPr id="81" name="Text 79"/>
          <p:cNvSpPr/>
          <p:nvPr/>
        </p:nvSpPr>
        <p:spPr>
          <a:xfrm>
            <a:off x="6492240" y="254203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MATÉR. CONSTRUCTION</a:t>
            </a:r>
            <a:endParaRPr lang="en-US" sz="850" dirty="0"/>
          </a:p>
        </p:txBody>
      </p:sp>
      <p:sp>
        <p:nvSpPr>
          <p:cNvPr id="82" name="Text 80"/>
          <p:cNvSpPr/>
          <p:nvPr/>
        </p:nvSpPr>
        <p:spPr>
          <a:xfrm>
            <a:off x="8156448" y="2542032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5 478 TEU</a:t>
            </a:r>
            <a:endParaRPr lang="en-US" sz="850" dirty="0"/>
          </a:p>
        </p:txBody>
      </p:sp>
      <p:sp>
        <p:nvSpPr>
          <p:cNvPr id="83" name="Shape 81"/>
          <p:cNvSpPr/>
          <p:nvPr/>
        </p:nvSpPr>
        <p:spPr>
          <a:xfrm>
            <a:off x="9052560" y="2578608"/>
            <a:ext cx="2743200" cy="164592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84" name="Shape 82"/>
          <p:cNvSpPr/>
          <p:nvPr/>
        </p:nvSpPr>
        <p:spPr>
          <a:xfrm>
            <a:off x="9052560" y="2578608"/>
            <a:ext cx="493776" cy="164592"/>
          </a:xfrm>
          <a:prstGeom prst="rect">
            <a:avLst/>
          </a:prstGeom>
          <a:solidFill>
            <a:srgbClr val="E05A00"/>
          </a:solidFill>
          <a:ln/>
        </p:spPr>
      </p:sp>
      <p:sp>
        <p:nvSpPr>
          <p:cNvPr id="85" name="Text 83"/>
          <p:cNvSpPr/>
          <p:nvPr/>
        </p:nvSpPr>
        <p:spPr>
          <a:xfrm>
            <a:off x="11841480" y="2542032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0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18%</a:t>
            </a:r>
            <a:endParaRPr lang="en-US" sz="900" dirty="0"/>
          </a:p>
        </p:txBody>
      </p:sp>
      <p:sp>
        <p:nvSpPr>
          <p:cNvPr id="86" name="Text 84"/>
          <p:cNvSpPr/>
          <p:nvPr/>
        </p:nvSpPr>
        <p:spPr>
          <a:xfrm>
            <a:off x="6492240" y="2926080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PAPIER &amp; DÉRIVÉS</a:t>
            </a:r>
            <a:endParaRPr lang="en-US" sz="850" dirty="0"/>
          </a:p>
        </p:txBody>
      </p:sp>
      <p:sp>
        <p:nvSpPr>
          <p:cNvPr id="87" name="Text 85"/>
          <p:cNvSpPr/>
          <p:nvPr/>
        </p:nvSpPr>
        <p:spPr>
          <a:xfrm>
            <a:off x="8156448" y="2926080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5 024 TEU</a:t>
            </a:r>
            <a:endParaRPr lang="en-US" sz="850" dirty="0"/>
          </a:p>
        </p:txBody>
      </p:sp>
      <p:sp>
        <p:nvSpPr>
          <p:cNvPr id="88" name="Shape 86"/>
          <p:cNvSpPr/>
          <p:nvPr/>
        </p:nvSpPr>
        <p:spPr>
          <a:xfrm>
            <a:off x="9052560" y="2962656"/>
            <a:ext cx="2743200" cy="164592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89" name="Shape 87"/>
          <p:cNvSpPr/>
          <p:nvPr/>
        </p:nvSpPr>
        <p:spPr>
          <a:xfrm>
            <a:off x="9052560" y="2962656"/>
            <a:ext cx="411480" cy="164592"/>
          </a:xfrm>
          <a:prstGeom prst="rect">
            <a:avLst/>
          </a:prstGeom>
          <a:solidFill>
            <a:srgbClr val="E05A00"/>
          </a:solidFill>
          <a:ln/>
        </p:spPr>
      </p:sp>
      <p:sp>
        <p:nvSpPr>
          <p:cNvPr id="90" name="Text 88"/>
          <p:cNvSpPr/>
          <p:nvPr/>
        </p:nvSpPr>
        <p:spPr>
          <a:xfrm>
            <a:off x="11841480" y="2926080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0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15%</a:t>
            </a:r>
            <a:endParaRPr lang="en-US" sz="900" dirty="0"/>
          </a:p>
        </p:txBody>
      </p:sp>
      <p:sp>
        <p:nvSpPr>
          <p:cNvPr id="91" name="Text 89"/>
          <p:cNvSpPr/>
          <p:nvPr/>
        </p:nvSpPr>
        <p:spPr>
          <a:xfrm>
            <a:off x="6492240" y="3310128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LAIT EN POUDRE</a:t>
            </a:r>
            <a:endParaRPr lang="en-US" sz="850" dirty="0"/>
          </a:p>
        </p:txBody>
      </p:sp>
      <p:sp>
        <p:nvSpPr>
          <p:cNvPr id="92" name="Text 90"/>
          <p:cNvSpPr/>
          <p:nvPr/>
        </p:nvSpPr>
        <p:spPr>
          <a:xfrm>
            <a:off x="8156448" y="3310128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1 121 TEU</a:t>
            </a:r>
            <a:endParaRPr lang="en-US" sz="850" dirty="0"/>
          </a:p>
        </p:txBody>
      </p:sp>
      <p:sp>
        <p:nvSpPr>
          <p:cNvPr id="93" name="Shape 91"/>
          <p:cNvSpPr/>
          <p:nvPr/>
        </p:nvSpPr>
        <p:spPr>
          <a:xfrm>
            <a:off x="9052560" y="3346704"/>
            <a:ext cx="2743200" cy="164592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94" name="Shape 92"/>
          <p:cNvSpPr/>
          <p:nvPr/>
        </p:nvSpPr>
        <p:spPr>
          <a:xfrm>
            <a:off x="9052560" y="3346704"/>
            <a:ext cx="384048" cy="164592"/>
          </a:xfrm>
          <a:prstGeom prst="rect">
            <a:avLst/>
          </a:prstGeom>
          <a:solidFill>
            <a:srgbClr val="E05A00"/>
          </a:solidFill>
          <a:ln/>
        </p:spPr>
      </p:sp>
      <p:sp>
        <p:nvSpPr>
          <p:cNvPr id="95" name="Text 93"/>
          <p:cNvSpPr/>
          <p:nvPr/>
        </p:nvSpPr>
        <p:spPr>
          <a:xfrm>
            <a:off x="11841480" y="3310128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0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14%</a:t>
            </a:r>
            <a:endParaRPr lang="en-US" sz="900" dirty="0"/>
          </a:p>
        </p:txBody>
      </p:sp>
      <p:sp>
        <p:nvSpPr>
          <p:cNvPr id="96" name="Text 94"/>
          <p:cNvSpPr/>
          <p:nvPr/>
        </p:nvSpPr>
        <p:spPr>
          <a:xfrm>
            <a:off x="6492240" y="3694176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EMBALLAGES</a:t>
            </a:r>
            <a:endParaRPr lang="en-US" sz="850" dirty="0"/>
          </a:p>
        </p:txBody>
      </p:sp>
      <p:sp>
        <p:nvSpPr>
          <p:cNvPr id="97" name="Text 95"/>
          <p:cNvSpPr/>
          <p:nvPr/>
        </p:nvSpPr>
        <p:spPr>
          <a:xfrm>
            <a:off x="8156448" y="3694176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8 951 TEU</a:t>
            </a:r>
            <a:endParaRPr lang="en-US" sz="850" dirty="0"/>
          </a:p>
        </p:txBody>
      </p:sp>
      <p:sp>
        <p:nvSpPr>
          <p:cNvPr id="98" name="Shape 96"/>
          <p:cNvSpPr/>
          <p:nvPr/>
        </p:nvSpPr>
        <p:spPr>
          <a:xfrm>
            <a:off x="9052560" y="3730752"/>
            <a:ext cx="2743200" cy="164592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99" name="Shape 97"/>
          <p:cNvSpPr/>
          <p:nvPr/>
        </p:nvSpPr>
        <p:spPr>
          <a:xfrm>
            <a:off x="9052560" y="3730752"/>
            <a:ext cx="329184" cy="164592"/>
          </a:xfrm>
          <a:prstGeom prst="rect">
            <a:avLst/>
          </a:prstGeom>
          <a:solidFill>
            <a:srgbClr val="E05A00"/>
          </a:solidFill>
          <a:ln/>
        </p:spPr>
      </p:sp>
      <p:sp>
        <p:nvSpPr>
          <p:cNvPr id="100" name="Text 98"/>
          <p:cNvSpPr/>
          <p:nvPr/>
        </p:nvSpPr>
        <p:spPr>
          <a:xfrm>
            <a:off x="11841480" y="3694176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0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12%</a:t>
            </a:r>
            <a:endParaRPr lang="en-US" sz="900" dirty="0"/>
          </a:p>
        </p:txBody>
      </p:sp>
      <p:sp>
        <p:nvSpPr>
          <p:cNvPr id="101" name="Text 99"/>
          <p:cNvSpPr/>
          <p:nvPr/>
        </p:nvSpPr>
        <p:spPr>
          <a:xfrm>
            <a:off x="6492240" y="4078224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MACHINES</a:t>
            </a:r>
            <a:endParaRPr lang="en-US" sz="850" dirty="0"/>
          </a:p>
        </p:txBody>
      </p:sp>
      <p:sp>
        <p:nvSpPr>
          <p:cNvPr id="102" name="Text 100"/>
          <p:cNvSpPr/>
          <p:nvPr/>
        </p:nvSpPr>
        <p:spPr>
          <a:xfrm>
            <a:off x="8156448" y="4078224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4 781 TEU</a:t>
            </a:r>
            <a:endParaRPr lang="en-US" sz="850" dirty="0"/>
          </a:p>
        </p:txBody>
      </p:sp>
      <p:sp>
        <p:nvSpPr>
          <p:cNvPr id="103" name="Shape 101"/>
          <p:cNvSpPr/>
          <p:nvPr/>
        </p:nvSpPr>
        <p:spPr>
          <a:xfrm>
            <a:off x="9052560" y="4114800"/>
            <a:ext cx="2743200" cy="164592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104" name="Shape 102"/>
          <p:cNvSpPr/>
          <p:nvPr/>
        </p:nvSpPr>
        <p:spPr>
          <a:xfrm>
            <a:off x="9052560" y="4114800"/>
            <a:ext cx="301752" cy="164592"/>
          </a:xfrm>
          <a:prstGeom prst="rect">
            <a:avLst/>
          </a:prstGeom>
          <a:solidFill>
            <a:srgbClr val="E05A00"/>
          </a:solidFill>
          <a:ln/>
        </p:spPr>
      </p:sp>
      <p:sp>
        <p:nvSpPr>
          <p:cNvPr id="105" name="Text 103"/>
          <p:cNvSpPr/>
          <p:nvPr/>
        </p:nvSpPr>
        <p:spPr>
          <a:xfrm>
            <a:off x="11841480" y="4078224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0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11%</a:t>
            </a:r>
            <a:endParaRPr lang="en-US" sz="900" dirty="0"/>
          </a:p>
        </p:txBody>
      </p:sp>
      <p:sp>
        <p:nvSpPr>
          <p:cNvPr id="106" name="Text 104"/>
          <p:cNvSpPr/>
          <p:nvPr/>
        </p:nvSpPr>
        <p:spPr>
          <a:xfrm>
            <a:off x="6492240" y="446227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PRODUITS MER CONGELÉ</a:t>
            </a:r>
            <a:endParaRPr lang="en-US" sz="850" dirty="0"/>
          </a:p>
        </p:txBody>
      </p:sp>
      <p:sp>
        <p:nvSpPr>
          <p:cNvPr id="107" name="Text 105"/>
          <p:cNvSpPr/>
          <p:nvPr/>
        </p:nvSpPr>
        <p:spPr>
          <a:xfrm>
            <a:off x="8156448" y="4462272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22 915 TEU</a:t>
            </a:r>
            <a:endParaRPr lang="en-US" sz="850" dirty="0"/>
          </a:p>
        </p:txBody>
      </p:sp>
      <p:sp>
        <p:nvSpPr>
          <p:cNvPr id="108" name="Shape 106"/>
          <p:cNvSpPr/>
          <p:nvPr/>
        </p:nvSpPr>
        <p:spPr>
          <a:xfrm>
            <a:off x="9052560" y="4498848"/>
            <a:ext cx="2743200" cy="164592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109" name="Shape 107"/>
          <p:cNvSpPr/>
          <p:nvPr/>
        </p:nvSpPr>
        <p:spPr>
          <a:xfrm>
            <a:off x="9052560" y="4498848"/>
            <a:ext cx="54864" cy="164592"/>
          </a:xfrm>
          <a:prstGeom prst="rect">
            <a:avLst/>
          </a:prstGeom>
          <a:solidFill>
            <a:srgbClr val="CC2200"/>
          </a:solidFill>
          <a:ln/>
        </p:spPr>
      </p:sp>
      <p:sp>
        <p:nvSpPr>
          <p:cNvPr id="110" name="Text 108"/>
          <p:cNvSpPr/>
          <p:nvPr/>
        </p:nvSpPr>
        <p:spPr>
          <a:xfrm>
            <a:off x="11841480" y="4462272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C2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2%</a:t>
            </a:r>
            <a:endParaRPr lang="en-US" sz="900" dirty="0"/>
          </a:p>
        </p:txBody>
      </p:sp>
      <p:sp>
        <p:nvSpPr>
          <p:cNvPr id="111" name="Text 109"/>
          <p:cNvSpPr/>
          <p:nvPr/>
        </p:nvSpPr>
        <p:spPr>
          <a:xfrm>
            <a:off x="6492240" y="4846320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RIZ</a:t>
            </a:r>
            <a:endParaRPr lang="en-US" sz="850" dirty="0"/>
          </a:p>
        </p:txBody>
      </p:sp>
      <p:sp>
        <p:nvSpPr>
          <p:cNvPr id="112" name="Text 110"/>
          <p:cNvSpPr/>
          <p:nvPr/>
        </p:nvSpPr>
        <p:spPr>
          <a:xfrm>
            <a:off x="8156448" y="4846320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9 586 TEU</a:t>
            </a:r>
            <a:endParaRPr lang="en-US" sz="850" dirty="0"/>
          </a:p>
        </p:txBody>
      </p:sp>
      <p:sp>
        <p:nvSpPr>
          <p:cNvPr id="113" name="Shape 111"/>
          <p:cNvSpPr/>
          <p:nvPr/>
        </p:nvSpPr>
        <p:spPr>
          <a:xfrm>
            <a:off x="9052560" y="4882896"/>
            <a:ext cx="2743200" cy="164592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114" name="Shape 112"/>
          <p:cNvSpPr/>
          <p:nvPr/>
        </p:nvSpPr>
        <p:spPr>
          <a:xfrm>
            <a:off x="9052560" y="4882896"/>
            <a:ext cx="54864" cy="164592"/>
          </a:xfrm>
          <a:prstGeom prst="rect">
            <a:avLst/>
          </a:prstGeom>
          <a:solidFill>
            <a:srgbClr val="CC2200"/>
          </a:solidFill>
          <a:ln/>
        </p:spPr>
      </p:sp>
      <p:sp>
        <p:nvSpPr>
          <p:cNvPr id="115" name="Text 113"/>
          <p:cNvSpPr/>
          <p:nvPr/>
        </p:nvSpPr>
        <p:spPr>
          <a:xfrm>
            <a:off x="11841480" y="4846320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C2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0%</a:t>
            </a:r>
            <a:endParaRPr lang="en-US" sz="900" dirty="0"/>
          </a:p>
        </p:txBody>
      </p:sp>
      <p:sp>
        <p:nvSpPr>
          <p:cNvPr id="116" name="Text 114"/>
          <p:cNvSpPr/>
          <p:nvPr/>
        </p:nvSpPr>
        <p:spPr>
          <a:xfrm>
            <a:off x="6492240" y="5230368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VIANDES CONGELÉES</a:t>
            </a:r>
            <a:endParaRPr lang="en-US" sz="850" dirty="0"/>
          </a:p>
        </p:txBody>
      </p:sp>
      <p:sp>
        <p:nvSpPr>
          <p:cNvPr id="117" name="Text 115"/>
          <p:cNvSpPr/>
          <p:nvPr/>
        </p:nvSpPr>
        <p:spPr>
          <a:xfrm>
            <a:off x="8156448" y="5230368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9 470 TEU</a:t>
            </a:r>
            <a:endParaRPr lang="en-US" sz="850" dirty="0"/>
          </a:p>
        </p:txBody>
      </p:sp>
      <p:sp>
        <p:nvSpPr>
          <p:cNvPr id="118" name="Shape 116"/>
          <p:cNvSpPr/>
          <p:nvPr/>
        </p:nvSpPr>
        <p:spPr>
          <a:xfrm>
            <a:off x="9052560" y="5266944"/>
            <a:ext cx="2743200" cy="164592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119" name="Shape 117"/>
          <p:cNvSpPr/>
          <p:nvPr/>
        </p:nvSpPr>
        <p:spPr>
          <a:xfrm>
            <a:off x="9052560" y="5266944"/>
            <a:ext cx="54864" cy="164592"/>
          </a:xfrm>
          <a:prstGeom prst="rect">
            <a:avLst/>
          </a:prstGeom>
          <a:solidFill>
            <a:srgbClr val="CC2200"/>
          </a:solidFill>
          <a:ln/>
        </p:spPr>
      </p:sp>
      <p:sp>
        <p:nvSpPr>
          <p:cNvPr id="120" name="Text 118"/>
          <p:cNvSpPr/>
          <p:nvPr/>
        </p:nvSpPr>
        <p:spPr>
          <a:xfrm>
            <a:off x="11841480" y="5230368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C2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2%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D2243"/>
          </a:solidFill>
          <a:ln/>
        </p:spPr>
      </p:sp>
      <p:sp>
        <p:nvSpPr>
          <p:cNvPr id="3" name="Text 1"/>
          <p:cNvSpPr/>
          <p:nvPr/>
        </p:nvSpPr>
        <p:spPr>
          <a:xfrm>
            <a:off x="228600" y="45720"/>
            <a:ext cx="11887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 – CLIENTÈLE AGL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228600" y="548640"/>
            <a:ext cx="11430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10 destinataires  |  Mix marchandises  |  Risques concentration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82880" y="6583680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Africa Global Logistics – Étude de Marché Jan–Mai 2026  |  p.6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430000" y="653796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AGL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228600" y="1097280"/>
            <a:ext cx="5943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10 clients AGL – TIM (Destinataires, TEU)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37160" y="1371600"/>
            <a:ext cx="6400800" cy="256032"/>
          </a:xfrm>
          <a:prstGeom prst="rect">
            <a:avLst/>
          </a:prstGeom>
          <a:solidFill>
            <a:srgbClr val="0D2243"/>
          </a:solidFill>
          <a:ln/>
        </p:spPr>
      </p:sp>
      <p:sp>
        <p:nvSpPr>
          <p:cNvPr id="9" name="Text 7"/>
          <p:cNvSpPr/>
          <p:nvPr/>
        </p:nvSpPr>
        <p:spPr>
          <a:xfrm>
            <a:off x="173736" y="1408176"/>
            <a:ext cx="155448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(Destinataire)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1773936" y="1408176"/>
            <a:ext cx="155448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TEU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3374136" y="1408176"/>
            <a:ext cx="155448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4974336" y="1408176"/>
            <a:ext cx="155448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Vol. AGL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137160" y="1627632"/>
            <a:ext cx="6400800" cy="256032"/>
          </a:xfrm>
          <a:prstGeom prst="rect">
            <a:avLst/>
          </a:prstGeom>
          <a:solidFill>
            <a:srgbClr val="FFF9EC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73736" y="1664208"/>
            <a:ext cx="155448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A7C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K1 MINING SA CI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1773936" y="1664208"/>
            <a:ext cx="155448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1 531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3374136" y="1664208"/>
            <a:ext cx="155448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Matériels Miniers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4974336" y="1664208"/>
            <a:ext cx="155448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A7C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10,1%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137160" y="1883664"/>
            <a:ext cx="6400800" cy="256032"/>
          </a:xfrm>
          <a:prstGeom prst="rect">
            <a:avLst/>
          </a:prstGeom>
          <a:solidFill>
            <a:srgbClr val="F8F9FA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73736" y="1920240"/>
            <a:ext cx="155448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SITAB CI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1773936" y="1920240"/>
            <a:ext cx="155448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876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3374136" y="1920240"/>
            <a:ext cx="155448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Cigares/Cigarettes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4974336" y="1920240"/>
            <a:ext cx="155448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5,8%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137160" y="2139696"/>
            <a:ext cx="6400800" cy="256032"/>
          </a:xfrm>
          <a:prstGeom prst="rect">
            <a:avLst/>
          </a:prstGeom>
          <a:solidFill>
            <a:srgbClr val="FFFFFF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73736" y="2176272"/>
            <a:ext cx="155448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SCCI (PVC Compoundage CI)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1773936" y="2176272"/>
            <a:ext cx="155448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790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3374136" y="2176272"/>
            <a:ext cx="155448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PVC Résine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4974336" y="2176272"/>
            <a:ext cx="155448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5,2%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137160" y="2395728"/>
            <a:ext cx="6400800" cy="256032"/>
          </a:xfrm>
          <a:prstGeom prst="rect">
            <a:avLst/>
          </a:prstGeom>
          <a:solidFill>
            <a:srgbClr val="F8F9FA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73736" y="2432304"/>
            <a:ext cx="155448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ALLIAD CI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1773936" y="2432304"/>
            <a:ext cx="155448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687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3374136" y="2432304"/>
            <a:ext cx="155448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Polyéthylène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4974336" y="2432304"/>
            <a:ext cx="155448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4,5%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137160" y="2651760"/>
            <a:ext cx="6400800" cy="256032"/>
          </a:xfrm>
          <a:prstGeom prst="rect">
            <a:avLst/>
          </a:prstGeom>
          <a:solidFill>
            <a:srgbClr val="FFFFFF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73736" y="2688336"/>
            <a:ext cx="155448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SOCIFAD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1773936" y="2688336"/>
            <a:ext cx="155448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480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3374136" y="2688336"/>
            <a:ext cx="155448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Articles Divers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4974336" y="2688336"/>
            <a:ext cx="155448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3,2%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137160" y="2907792"/>
            <a:ext cx="6400800" cy="256032"/>
          </a:xfrm>
          <a:prstGeom prst="rect">
            <a:avLst/>
          </a:prstGeom>
          <a:solidFill>
            <a:srgbClr val="F8F9FA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73736" y="2944368"/>
            <a:ext cx="155448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 PROD ALIM CONGELÉ CI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1773936" y="2944368"/>
            <a:ext cx="155448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418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3374136" y="2944368"/>
            <a:ext cx="155448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Prod. Mer Congelé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4974336" y="2944368"/>
            <a:ext cx="155448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2,8%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137160" y="3163824"/>
            <a:ext cx="6400800" cy="256032"/>
          </a:xfrm>
          <a:prstGeom prst="rect">
            <a:avLst/>
          </a:prstGeom>
          <a:solidFill>
            <a:srgbClr val="FFFFFF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173736" y="3200400"/>
            <a:ext cx="155448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SONACO CI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1773936" y="3200400"/>
            <a:ext cx="155448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417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3374136" y="3200400"/>
            <a:ext cx="155448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Cigarettes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4974336" y="3200400"/>
            <a:ext cx="155448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2,8%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137160" y="3419856"/>
            <a:ext cx="6400800" cy="256032"/>
          </a:xfrm>
          <a:prstGeom prst="rect">
            <a:avLst/>
          </a:prstGeom>
          <a:solidFill>
            <a:srgbClr val="F8F9FA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173736" y="3456432"/>
            <a:ext cx="155448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UBIPHARM CÔTE D'IVOIRE</a:t>
            </a:r>
            <a:endParaRPr lang="en-US" sz="850" dirty="0"/>
          </a:p>
        </p:txBody>
      </p:sp>
      <p:sp>
        <p:nvSpPr>
          <p:cNvPr id="50" name="Text 48"/>
          <p:cNvSpPr/>
          <p:nvPr/>
        </p:nvSpPr>
        <p:spPr>
          <a:xfrm>
            <a:off x="1773936" y="3456432"/>
            <a:ext cx="155448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399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3374136" y="3456432"/>
            <a:ext cx="155448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Médicaments</a:t>
            </a:r>
            <a:endParaRPr lang="en-US" sz="850" dirty="0"/>
          </a:p>
        </p:txBody>
      </p:sp>
      <p:sp>
        <p:nvSpPr>
          <p:cNvPr id="52" name="Text 50"/>
          <p:cNvSpPr/>
          <p:nvPr/>
        </p:nvSpPr>
        <p:spPr>
          <a:xfrm>
            <a:off x="4974336" y="3456432"/>
            <a:ext cx="155448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2,6%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137160" y="3675888"/>
            <a:ext cx="6400800" cy="256032"/>
          </a:xfrm>
          <a:prstGeom prst="rect">
            <a:avLst/>
          </a:prstGeom>
          <a:solidFill>
            <a:srgbClr val="FFFFFF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173736" y="3712464"/>
            <a:ext cx="155448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SOLIBRA</a:t>
            </a:r>
            <a:endParaRPr lang="en-US" sz="850" dirty="0"/>
          </a:p>
        </p:txBody>
      </p:sp>
      <p:sp>
        <p:nvSpPr>
          <p:cNvPr id="55" name="Text 53"/>
          <p:cNvSpPr/>
          <p:nvPr/>
        </p:nvSpPr>
        <p:spPr>
          <a:xfrm>
            <a:off x="1773936" y="3712464"/>
            <a:ext cx="155448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373</a:t>
            </a:r>
            <a:endParaRPr lang="en-US" sz="850" dirty="0"/>
          </a:p>
        </p:txBody>
      </p:sp>
      <p:sp>
        <p:nvSpPr>
          <p:cNvPr id="56" name="Text 54"/>
          <p:cNvSpPr/>
          <p:nvPr/>
        </p:nvSpPr>
        <p:spPr>
          <a:xfrm>
            <a:off x="3374136" y="3712464"/>
            <a:ext cx="155448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Boissons</a:t>
            </a:r>
            <a:endParaRPr lang="en-US" sz="850" dirty="0"/>
          </a:p>
        </p:txBody>
      </p:sp>
      <p:sp>
        <p:nvSpPr>
          <p:cNvPr id="57" name="Text 55"/>
          <p:cNvSpPr/>
          <p:nvPr/>
        </p:nvSpPr>
        <p:spPr>
          <a:xfrm>
            <a:off x="4974336" y="3712464"/>
            <a:ext cx="155448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2,5%</a:t>
            </a:r>
            <a:endParaRPr lang="en-US" sz="850" dirty="0"/>
          </a:p>
        </p:txBody>
      </p:sp>
      <p:sp>
        <p:nvSpPr>
          <p:cNvPr id="58" name="Shape 56"/>
          <p:cNvSpPr/>
          <p:nvPr/>
        </p:nvSpPr>
        <p:spPr>
          <a:xfrm>
            <a:off x="137160" y="3931920"/>
            <a:ext cx="6400800" cy="256032"/>
          </a:xfrm>
          <a:prstGeom prst="rect">
            <a:avLst/>
          </a:prstGeom>
          <a:solidFill>
            <a:srgbClr val="F8F9FA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173736" y="3968496"/>
            <a:ext cx="155448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 TRANSFO INDUS CI</a:t>
            </a:r>
            <a:endParaRPr lang="en-US" sz="850" dirty="0"/>
          </a:p>
        </p:txBody>
      </p:sp>
      <p:sp>
        <p:nvSpPr>
          <p:cNvPr id="60" name="Text 58"/>
          <p:cNvSpPr/>
          <p:nvPr/>
        </p:nvSpPr>
        <p:spPr>
          <a:xfrm>
            <a:off x="1773936" y="3968496"/>
            <a:ext cx="155448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363</a:t>
            </a:r>
            <a:endParaRPr lang="en-US" sz="850" dirty="0"/>
          </a:p>
        </p:txBody>
      </p:sp>
      <p:sp>
        <p:nvSpPr>
          <p:cNvPr id="61" name="Text 59"/>
          <p:cNvSpPr/>
          <p:nvPr/>
        </p:nvSpPr>
        <p:spPr>
          <a:xfrm>
            <a:off x="3374136" y="3968496"/>
            <a:ext cx="155448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Emballages</a:t>
            </a:r>
            <a:endParaRPr lang="en-US" sz="850" dirty="0"/>
          </a:p>
        </p:txBody>
      </p:sp>
      <p:sp>
        <p:nvSpPr>
          <p:cNvPr id="62" name="Text 60"/>
          <p:cNvSpPr/>
          <p:nvPr/>
        </p:nvSpPr>
        <p:spPr>
          <a:xfrm>
            <a:off x="4974336" y="3968496"/>
            <a:ext cx="155448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2,4%</a:t>
            </a:r>
            <a:endParaRPr lang="en-US" sz="850" dirty="0"/>
          </a:p>
        </p:txBody>
      </p:sp>
      <p:sp>
        <p:nvSpPr>
          <p:cNvPr id="63" name="Shape 61"/>
          <p:cNvSpPr/>
          <p:nvPr/>
        </p:nvSpPr>
        <p:spPr>
          <a:xfrm>
            <a:off x="137160" y="4892040"/>
            <a:ext cx="6400800" cy="868680"/>
          </a:xfrm>
          <a:prstGeom prst="rect">
            <a:avLst/>
          </a:prstGeom>
          <a:solidFill>
            <a:srgbClr val="FFFBEC"/>
          </a:solidFill>
          <a:ln w="6350">
            <a:solidFill>
              <a:srgbClr val="E5C97A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228600" y="4965192"/>
            <a:ext cx="6217920" cy="7589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Concentration : K1 Mining seul = 10,1% du volume AGL TIM. Risque client unique.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Opportunités cross-sell : SITAB (TIM+AER), UBIPHARM (TIM+AER+HINT IMP), SOLIBRA = clients multi-métiers à développer.</a:t>
            </a:r>
            <a:endParaRPr lang="en-US" sz="900" dirty="0"/>
          </a:p>
        </p:txBody>
      </p:sp>
      <p:sp>
        <p:nvSpPr>
          <p:cNvPr id="65" name="Text 63"/>
          <p:cNvSpPr/>
          <p:nvPr/>
        </p:nvSpPr>
        <p:spPr>
          <a:xfrm>
            <a:off x="6675120" y="1097280"/>
            <a:ext cx="5303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 marchandises AGL – TIM</a:t>
            </a:r>
            <a:endParaRPr lang="en-US" sz="1100" dirty="0"/>
          </a:p>
        </p:txBody>
      </p:sp>
      <p:graphicFrame>
        <p:nvGraphicFramePr>
          <p:cNvPr id="66" name="Chart 0" descr=""/>
          <p:cNvGraphicFramePr/>
          <p:nvPr/>
        </p:nvGraphicFramePr>
        <p:xfrm>
          <a:off x="6675120" y="1371600"/>
          <a:ext cx="5303520" cy="4114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D2243"/>
          </a:solidFill>
          <a:ln/>
        </p:spPr>
      </p:sp>
      <p:sp>
        <p:nvSpPr>
          <p:cNvPr id="3" name="Text 1"/>
          <p:cNvSpPr/>
          <p:nvPr/>
        </p:nvSpPr>
        <p:spPr>
          <a:xfrm>
            <a:off x="228600" y="45720"/>
            <a:ext cx="11887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 – NOUVEAUX ENTRANTS &amp; NOUVEAUX FLUX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228600" y="548640"/>
            <a:ext cx="11430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Transitaires entrants (rangs 11–15)  |  Nouvelles marchandises captées  |  Nouveaux destinataires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82880" y="6583680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Africa Global Logistics – Étude de Marché Jan–Mai 2026  |  p.7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430000" y="653796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AGL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228600" y="1097280"/>
            <a:ext cx="5943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Nouveaux transitaires TIM (rangs 11–15)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37160" y="1371600"/>
            <a:ext cx="6400800" cy="256032"/>
          </a:xfrm>
          <a:prstGeom prst="rect">
            <a:avLst/>
          </a:prstGeom>
          <a:solidFill>
            <a:srgbClr val="0D2243"/>
          </a:solidFill>
          <a:ln/>
        </p:spPr>
      </p:sp>
      <p:sp>
        <p:nvSpPr>
          <p:cNvPr id="9" name="Text 7"/>
          <p:cNvSpPr/>
          <p:nvPr/>
        </p:nvSpPr>
        <p:spPr>
          <a:xfrm>
            <a:off x="173736" y="1408176"/>
            <a:ext cx="365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585216" y="1408176"/>
            <a:ext cx="145161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Transitaire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2082546" y="1408176"/>
            <a:ext cx="145161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TEU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3579876" y="1408176"/>
            <a:ext cx="145161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PDM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5077206" y="1408176"/>
            <a:ext cx="145161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Spécialité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137160" y="1627632"/>
            <a:ext cx="6400800" cy="256032"/>
          </a:xfrm>
          <a:prstGeom prst="rect">
            <a:avLst/>
          </a:prstGeom>
          <a:solidFill>
            <a:srgbClr val="FFFFFF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73736" y="1664208"/>
            <a:ext cx="365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#11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585216" y="1664208"/>
            <a:ext cx="145161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A7C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ATLANTIQUE TRANSIT CI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2082546" y="1664208"/>
            <a:ext cx="145161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3 820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3579876" y="1664208"/>
            <a:ext cx="145161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2,0 %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5077206" y="1664208"/>
            <a:ext cx="145161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Emball. / Plastiques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137160" y="1883664"/>
            <a:ext cx="6400800" cy="256032"/>
          </a:xfrm>
          <a:prstGeom prst="rect">
            <a:avLst/>
          </a:prstGeom>
          <a:solidFill>
            <a:srgbClr val="F8F9FA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73736" y="1920240"/>
            <a:ext cx="365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#12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585216" y="1920240"/>
            <a:ext cx="145161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WESTAFRICA LOG. CI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2082546" y="1920240"/>
            <a:ext cx="145161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3 410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579876" y="1920240"/>
            <a:ext cx="145161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1,8 %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5077206" y="1920240"/>
            <a:ext cx="145161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Machines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137160" y="2139696"/>
            <a:ext cx="6400800" cy="256032"/>
          </a:xfrm>
          <a:prstGeom prst="rect">
            <a:avLst/>
          </a:prstGeom>
          <a:solidFill>
            <a:srgbClr val="FFFFFF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73736" y="2176272"/>
            <a:ext cx="365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#13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585216" y="2176272"/>
            <a:ext cx="145161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IVOIRE TRANSIT RAPID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2082546" y="2176272"/>
            <a:ext cx="145161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3 180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3579876" y="2176272"/>
            <a:ext cx="145161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1,6 %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5077206" y="2176272"/>
            <a:ext cx="145161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Chimie / Pharma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137160" y="2395728"/>
            <a:ext cx="6400800" cy="256032"/>
          </a:xfrm>
          <a:prstGeom prst="rect">
            <a:avLst/>
          </a:prstGeom>
          <a:solidFill>
            <a:srgbClr val="FFF9EC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73736" y="2432304"/>
            <a:ext cx="365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#14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585216" y="2432304"/>
            <a:ext cx="145161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CEVA LOGISTICS CI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2082546" y="2432304"/>
            <a:ext cx="145161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2 950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3579876" y="2432304"/>
            <a:ext cx="145161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1,5 %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5077206" y="2432304"/>
            <a:ext cx="145161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A7C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Multi-segments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137160" y="2651760"/>
            <a:ext cx="6400800" cy="256032"/>
          </a:xfrm>
          <a:prstGeom prst="rect">
            <a:avLst/>
          </a:prstGeom>
          <a:solidFill>
            <a:srgbClr val="FFFFFF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73736" y="2688336"/>
            <a:ext cx="365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#15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585216" y="2688336"/>
            <a:ext cx="145161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SOCOPHAR TRANSIT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2082546" y="2688336"/>
            <a:ext cx="145161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2 640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3579876" y="2688336"/>
            <a:ext cx="145161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1,4 %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5077206" y="2688336"/>
            <a:ext cx="145161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Médicaments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228600" y="2816352"/>
            <a:ext cx="5943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Nouveaux destinataires AGL – TIM (1er flux 2026)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137160" y="3090672"/>
            <a:ext cx="6400800" cy="256032"/>
          </a:xfrm>
          <a:prstGeom prst="rect">
            <a:avLst/>
          </a:prstGeom>
          <a:solidFill>
            <a:srgbClr val="0D2243"/>
          </a:solidFill>
          <a:ln/>
        </p:spPr>
      </p:sp>
      <p:sp>
        <p:nvSpPr>
          <p:cNvPr id="46" name="Text 44"/>
          <p:cNvSpPr/>
          <p:nvPr/>
        </p:nvSpPr>
        <p:spPr>
          <a:xfrm>
            <a:off x="173736" y="3127248"/>
            <a:ext cx="155448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Destinataire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1773936" y="3127248"/>
            <a:ext cx="155448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TEU</a:t>
            </a:r>
            <a:endParaRPr lang="en-US" sz="850" dirty="0"/>
          </a:p>
        </p:txBody>
      </p:sp>
      <p:sp>
        <p:nvSpPr>
          <p:cNvPr id="48" name="Text 46"/>
          <p:cNvSpPr/>
          <p:nvPr/>
        </p:nvSpPr>
        <p:spPr>
          <a:xfrm>
            <a:off x="3374136" y="3127248"/>
            <a:ext cx="155448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Secteur</a:t>
            </a:r>
            <a:endParaRPr lang="en-US" sz="850" dirty="0"/>
          </a:p>
        </p:txBody>
      </p:sp>
      <p:sp>
        <p:nvSpPr>
          <p:cNvPr id="49" name="Text 47"/>
          <p:cNvSpPr/>
          <p:nvPr/>
        </p:nvSpPr>
        <p:spPr>
          <a:xfrm>
            <a:off x="4974336" y="3127248"/>
            <a:ext cx="155448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Entrée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137160" y="3346704"/>
            <a:ext cx="6400800" cy="256032"/>
          </a:xfrm>
          <a:prstGeom prst="rect">
            <a:avLst/>
          </a:prstGeom>
          <a:solidFill>
            <a:srgbClr val="FFF9EC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173736" y="3383280"/>
            <a:ext cx="155448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A7C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ORANGE CI (équipements)</a:t>
            </a:r>
            <a:endParaRPr lang="en-US" sz="850" dirty="0"/>
          </a:p>
        </p:txBody>
      </p:sp>
      <p:sp>
        <p:nvSpPr>
          <p:cNvPr id="52" name="Text 50"/>
          <p:cNvSpPr/>
          <p:nvPr/>
        </p:nvSpPr>
        <p:spPr>
          <a:xfrm>
            <a:off x="1773936" y="3383280"/>
            <a:ext cx="155448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680</a:t>
            </a:r>
            <a:endParaRPr lang="en-US" sz="850" dirty="0"/>
          </a:p>
        </p:txBody>
      </p:sp>
      <p:sp>
        <p:nvSpPr>
          <p:cNvPr id="53" name="Text 51"/>
          <p:cNvSpPr/>
          <p:nvPr/>
        </p:nvSpPr>
        <p:spPr>
          <a:xfrm>
            <a:off x="3374136" y="3383280"/>
            <a:ext cx="155448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Télécoms</a:t>
            </a:r>
            <a:endParaRPr lang="en-US" sz="850" dirty="0"/>
          </a:p>
        </p:txBody>
      </p:sp>
      <p:sp>
        <p:nvSpPr>
          <p:cNvPr id="54" name="Text 52"/>
          <p:cNvSpPr/>
          <p:nvPr/>
        </p:nvSpPr>
        <p:spPr>
          <a:xfrm>
            <a:off x="4974336" y="3383280"/>
            <a:ext cx="155448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A7C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2026</a:t>
            </a:r>
            <a:endParaRPr lang="en-US" sz="850" dirty="0"/>
          </a:p>
        </p:txBody>
      </p:sp>
      <p:sp>
        <p:nvSpPr>
          <p:cNvPr id="55" name="Shape 53"/>
          <p:cNvSpPr/>
          <p:nvPr/>
        </p:nvSpPr>
        <p:spPr>
          <a:xfrm>
            <a:off x="137160" y="3602736"/>
            <a:ext cx="6400800" cy="256032"/>
          </a:xfrm>
          <a:prstGeom prst="rect">
            <a:avLst/>
          </a:prstGeom>
          <a:solidFill>
            <a:srgbClr val="F8F9FA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173736" y="3639312"/>
            <a:ext cx="155448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NESTLÉ CI</a:t>
            </a:r>
            <a:endParaRPr lang="en-US" sz="850" dirty="0"/>
          </a:p>
        </p:txBody>
      </p:sp>
      <p:sp>
        <p:nvSpPr>
          <p:cNvPr id="57" name="Text 55"/>
          <p:cNvSpPr/>
          <p:nvPr/>
        </p:nvSpPr>
        <p:spPr>
          <a:xfrm>
            <a:off x="1773936" y="3639312"/>
            <a:ext cx="155448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420</a:t>
            </a:r>
            <a:endParaRPr lang="en-US" sz="850" dirty="0"/>
          </a:p>
        </p:txBody>
      </p:sp>
      <p:sp>
        <p:nvSpPr>
          <p:cNvPr id="58" name="Text 56"/>
          <p:cNvSpPr/>
          <p:nvPr/>
        </p:nvSpPr>
        <p:spPr>
          <a:xfrm>
            <a:off x="3374136" y="3639312"/>
            <a:ext cx="155448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Alim. industriel</a:t>
            </a:r>
            <a:endParaRPr lang="en-US" sz="850" dirty="0"/>
          </a:p>
        </p:txBody>
      </p:sp>
      <p:sp>
        <p:nvSpPr>
          <p:cNvPr id="59" name="Text 57"/>
          <p:cNvSpPr/>
          <p:nvPr/>
        </p:nvSpPr>
        <p:spPr>
          <a:xfrm>
            <a:off x="4974336" y="3639312"/>
            <a:ext cx="155448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2026</a:t>
            </a:r>
            <a:endParaRPr lang="en-US" sz="850" dirty="0"/>
          </a:p>
        </p:txBody>
      </p:sp>
      <p:sp>
        <p:nvSpPr>
          <p:cNvPr id="60" name="Shape 58"/>
          <p:cNvSpPr/>
          <p:nvPr/>
        </p:nvSpPr>
        <p:spPr>
          <a:xfrm>
            <a:off x="137160" y="3858768"/>
            <a:ext cx="6400800" cy="256032"/>
          </a:xfrm>
          <a:prstGeom prst="rect">
            <a:avLst/>
          </a:prstGeom>
          <a:solidFill>
            <a:srgbClr val="FFFFFF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173736" y="3895344"/>
            <a:ext cx="155448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FOXTROT INTERNATIONAL</a:t>
            </a:r>
            <a:endParaRPr lang="en-US" sz="850" dirty="0"/>
          </a:p>
        </p:txBody>
      </p:sp>
      <p:sp>
        <p:nvSpPr>
          <p:cNvPr id="62" name="Text 60"/>
          <p:cNvSpPr/>
          <p:nvPr/>
        </p:nvSpPr>
        <p:spPr>
          <a:xfrm>
            <a:off x="1773936" y="3895344"/>
            <a:ext cx="155448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380</a:t>
            </a:r>
            <a:endParaRPr lang="en-US" sz="850" dirty="0"/>
          </a:p>
        </p:txBody>
      </p:sp>
      <p:sp>
        <p:nvSpPr>
          <p:cNvPr id="63" name="Text 61"/>
          <p:cNvSpPr/>
          <p:nvPr/>
        </p:nvSpPr>
        <p:spPr>
          <a:xfrm>
            <a:off x="3374136" y="3895344"/>
            <a:ext cx="155448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Pétrole</a:t>
            </a:r>
            <a:endParaRPr lang="en-US" sz="850" dirty="0"/>
          </a:p>
        </p:txBody>
      </p:sp>
      <p:sp>
        <p:nvSpPr>
          <p:cNvPr id="64" name="Text 62"/>
          <p:cNvSpPr/>
          <p:nvPr/>
        </p:nvSpPr>
        <p:spPr>
          <a:xfrm>
            <a:off x="4974336" y="3895344"/>
            <a:ext cx="155448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 2026</a:t>
            </a:r>
            <a:endParaRPr lang="en-US" sz="850" dirty="0"/>
          </a:p>
        </p:txBody>
      </p:sp>
      <p:sp>
        <p:nvSpPr>
          <p:cNvPr id="65" name="Shape 63"/>
          <p:cNvSpPr/>
          <p:nvPr/>
        </p:nvSpPr>
        <p:spPr>
          <a:xfrm>
            <a:off x="137160" y="4114800"/>
            <a:ext cx="6400800" cy="256032"/>
          </a:xfrm>
          <a:prstGeom prst="rect">
            <a:avLst/>
          </a:prstGeom>
          <a:solidFill>
            <a:srgbClr val="F8F9FA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173736" y="4151376"/>
            <a:ext cx="155448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AFRICA RE</a:t>
            </a:r>
            <a:endParaRPr lang="en-US" sz="850" dirty="0"/>
          </a:p>
        </p:txBody>
      </p:sp>
      <p:sp>
        <p:nvSpPr>
          <p:cNvPr id="67" name="Text 65"/>
          <p:cNvSpPr/>
          <p:nvPr/>
        </p:nvSpPr>
        <p:spPr>
          <a:xfrm>
            <a:off x="1773936" y="4151376"/>
            <a:ext cx="155448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290</a:t>
            </a:r>
            <a:endParaRPr lang="en-US" sz="850" dirty="0"/>
          </a:p>
        </p:txBody>
      </p:sp>
      <p:sp>
        <p:nvSpPr>
          <p:cNvPr id="68" name="Text 66"/>
          <p:cNvSpPr/>
          <p:nvPr/>
        </p:nvSpPr>
        <p:spPr>
          <a:xfrm>
            <a:off x="3374136" y="4151376"/>
            <a:ext cx="155448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Services</a:t>
            </a:r>
            <a:endParaRPr lang="en-US" sz="850" dirty="0"/>
          </a:p>
        </p:txBody>
      </p:sp>
      <p:sp>
        <p:nvSpPr>
          <p:cNvPr id="69" name="Text 67"/>
          <p:cNvSpPr/>
          <p:nvPr/>
        </p:nvSpPr>
        <p:spPr>
          <a:xfrm>
            <a:off x="4974336" y="4151376"/>
            <a:ext cx="155448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 2026</a:t>
            </a:r>
            <a:endParaRPr lang="en-US" sz="850" dirty="0"/>
          </a:p>
        </p:txBody>
      </p:sp>
      <p:sp>
        <p:nvSpPr>
          <p:cNvPr id="70" name="Shape 68"/>
          <p:cNvSpPr/>
          <p:nvPr/>
        </p:nvSpPr>
        <p:spPr>
          <a:xfrm>
            <a:off x="137160" y="4370832"/>
            <a:ext cx="6400800" cy="256032"/>
          </a:xfrm>
          <a:prstGeom prst="rect">
            <a:avLst/>
          </a:prstGeom>
          <a:solidFill>
            <a:srgbClr val="FFFFFF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173736" y="4407408"/>
            <a:ext cx="155448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MTN CI</a:t>
            </a:r>
            <a:endParaRPr lang="en-US" sz="850" dirty="0"/>
          </a:p>
        </p:txBody>
      </p:sp>
      <p:sp>
        <p:nvSpPr>
          <p:cNvPr id="72" name="Text 70"/>
          <p:cNvSpPr/>
          <p:nvPr/>
        </p:nvSpPr>
        <p:spPr>
          <a:xfrm>
            <a:off x="1773936" y="4407408"/>
            <a:ext cx="155448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245</a:t>
            </a:r>
            <a:endParaRPr lang="en-US" sz="850" dirty="0"/>
          </a:p>
        </p:txBody>
      </p:sp>
      <p:sp>
        <p:nvSpPr>
          <p:cNvPr id="73" name="Text 71"/>
          <p:cNvSpPr/>
          <p:nvPr/>
        </p:nvSpPr>
        <p:spPr>
          <a:xfrm>
            <a:off x="3374136" y="4407408"/>
            <a:ext cx="155448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Télécoms</a:t>
            </a:r>
            <a:endParaRPr lang="en-US" sz="850" dirty="0"/>
          </a:p>
        </p:txBody>
      </p:sp>
      <p:sp>
        <p:nvSpPr>
          <p:cNvPr id="74" name="Text 72"/>
          <p:cNvSpPr/>
          <p:nvPr/>
        </p:nvSpPr>
        <p:spPr>
          <a:xfrm>
            <a:off x="4974336" y="4407408"/>
            <a:ext cx="155448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 2026</a:t>
            </a:r>
            <a:endParaRPr lang="en-US" sz="850" dirty="0"/>
          </a:p>
        </p:txBody>
      </p:sp>
      <p:sp>
        <p:nvSpPr>
          <p:cNvPr id="75" name="Text 73"/>
          <p:cNvSpPr/>
          <p:nvPr/>
        </p:nvSpPr>
        <p:spPr>
          <a:xfrm>
            <a:off x="6675120" y="1097280"/>
            <a:ext cx="5303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Nouvelles marchandises captées par AGL – TIM</a:t>
            </a:r>
            <a:endParaRPr lang="en-US" sz="1100" dirty="0"/>
          </a:p>
        </p:txBody>
      </p:sp>
      <p:sp>
        <p:nvSpPr>
          <p:cNvPr id="76" name="Text 74"/>
          <p:cNvSpPr/>
          <p:nvPr/>
        </p:nvSpPr>
        <p:spPr>
          <a:xfrm>
            <a:off x="6675120" y="1417320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TÉLÉCOMMUNICATIONS</a:t>
            </a:r>
            <a:endParaRPr lang="en-US" sz="850" dirty="0"/>
          </a:p>
        </p:txBody>
      </p:sp>
      <p:sp>
        <p:nvSpPr>
          <p:cNvPr id="77" name="Text 75"/>
          <p:cNvSpPr/>
          <p:nvPr/>
        </p:nvSpPr>
        <p:spPr>
          <a:xfrm>
            <a:off x="8339328" y="1417320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1 240 TEU</a:t>
            </a:r>
            <a:endParaRPr lang="en-US" sz="850" dirty="0"/>
          </a:p>
        </p:txBody>
      </p:sp>
      <p:sp>
        <p:nvSpPr>
          <p:cNvPr id="78" name="Shape 76"/>
          <p:cNvSpPr/>
          <p:nvPr/>
        </p:nvSpPr>
        <p:spPr>
          <a:xfrm>
            <a:off x="9235440" y="1453896"/>
            <a:ext cx="2743200" cy="164592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79" name="Shape 77"/>
          <p:cNvSpPr/>
          <p:nvPr/>
        </p:nvSpPr>
        <p:spPr>
          <a:xfrm>
            <a:off x="9235440" y="1453896"/>
            <a:ext cx="246888" cy="164592"/>
          </a:xfrm>
          <a:prstGeom prst="rect">
            <a:avLst/>
          </a:prstGeom>
          <a:solidFill>
            <a:srgbClr val="CC2200"/>
          </a:solidFill>
          <a:ln/>
        </p:spPr>
      </p:sp>
      <p:sp>
        <p:nvSpPr>
          <p:cNvPr id="80" name="Text 78"/>
          <p:cNvSpPr/>
          <p:nvPr/>
        </p:nvSpPr>
        <p:spPr>
          <a:xfrm>
            <a:off x="12024360" y="1417320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C2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9%</a:t>
            </a:r>
            <a:endParaRPr lang="en-US" sz="900" dirty="0"/>
          </a:p>
        </p:txBody>
      </p:sp>
      <p:sp>
        <p:nvSpPr>
          <p:cNvPr id="81" name="Text 79"/>
          <p:cNvSpPr/>
          <p:nvPr/>
        </p:nvSpPr>
        <p:spPr>
          <a:xfrm>
            <a:off x="6675120" y="1801368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HUILES VÉGÉTALES</a:t>
            </a:r>
            <a:endParaRPr lang="en-US" sz="850" dirty="0"/>
          </a:p>
        </p:txBody>
      </p:sp>
      <p:sp>
        <p:nvSpPr>
          <p:cNvPr id="82" name="Text 80"/>
          <p:cNvSpPr/>
          <p:nvPr/>
        </p:nvSpPr>
        <p:spPr>
          <a:xfrm>
            <a:off x="8339328" y="1801368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890 TEU</a:t>
            </a:r>
            <a:endParaRPr lang="en-US" sz="850" dirty="0"/>
          </a:p>
        </p:txBody>
      </p:sp>
      <p:sp>
        <p:nvSpPr>
          <p:cNvPr id="83" name="Shape 81"/>
          <p:cNvSpPr/>
          <p:nvPr/>
        </p:nvSpPr>
        <p:spPr>
          <a:xfrm>
            <a:off x="9235440" y="1837944"/>
            <a:ext cx="2743200" cy="164592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84" name="Shape 82"/>
          <p:cNvSpPr/>
          <p:nvPr/>
        </p:nvSpPr>
        <p:spPr>
          <a:xfrm>
            <a:off x="9235440" y="1837944"/>
            <a:ext cx="164592" cy="164592"/>
          </a:xfrm>
          <a:prstGeom prst="rect">
            <a:avLst/>
          </a:prstGeom>
          <a:solidFill>
            <a:srgbClr val="CC2200"/>
          </a:solidFill>
          <a:ln/>
        </p:spPr>
      </p:sp>
      <p:sp>
        <p:nvSpPr>
          <p:cNvPr id="85" name="Text 83"/>
          <p:cNvSpPr/>
          <p:nvPr/>
        </p:nvSpPr>
        <p:spPr>
          <a:xfrm>
            <a:off x="12024360" y="1801368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C2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6%</a:t>
            </a:r>
            <a:endParaRPr lang="en-US" sz="900" dirty="0"/>
          </a:p>
        </p:txBody>
      </p:sp>
      <p:sp>
        <p:nvSpPr>
          <p:cNvPr id="86" name="Text 84"/>
          <p:cNvSpPr/>
          <p:nvPr/>
        </p:nvSpPr>
        <p:spPr>
          <a:xfrm>
            <a:off x="6675120" y="2185416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FERTILISANTS</a:t>
            </a:r>
            <a:endParaRPr lang="en-US" sz="850" dirty="0"/>
          </a:p>
        </p:txBody>
      </p:sp>
      <p:sp>
        <p:nvSpPr>
          <p:cNvPr id="87" name="Text 85"/>
          <p:cNvSpPr/>
          <p:nvPr/>
        </p:nvSpPr>
        <p:spPr>
          <a:xfrm>
            <a:off x="8339328" y="2185416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650 TEU</a:t>
            </a:r>
            <a:endParaRPr lang="en-US" sz="850" dirty="0"/>
          </a:p>
        </p:txBody>
      </p:sp>
      <p:sp>
        <p:nvSpPr>
          <p:cNvPr id="88" name="Shape 86"/>
          <p:cNvSpPr/>
          <p:nvPr/>
        </p:nvSpPr>
        <p:spPr>
          <a:xfrm>
            <a:off x="9235440" y="2221992"/>
            <a:ext cx="2743200" cy="164592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89" name="Shape 87"/>
          <p:cNvSpPr/>
          <p:nvPr/>
        </p:nvSpPr>
        <p:spPr>
          <a:xfrm>
            <a:off x="9235440" y="2221992"/>
            <a:ext cx="109728" cy="164592"/>
          </a:xfrm>
          <a:prstGeom prst="rect">
            <a:avLst/>
          </a:prstGeom>
          <a:solidFill>
            <a:srgbClr val="CC2200"/>
          </a:solidFill>
          <a:ln/>
        </p:spPr>
      </p:sp>
      <p:sp>
        <p:nvSpPr>
          <p:cNvPr id="90" name="Text 88"/>
          <p:cNvSpPr/>
          <p:nvPr/>
        </p:nvSpPr>
        <p:spPr>
          <a:xfrm>
            <a:off x="12024360" y="2185416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C2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4%</a:t>
            </a:r>
            <a:endParaRPr lang="en-US" sz="900" dirty="0"/>
          </a:p>
        </p:txBody>
      </p:sp>
      <p:sp>
        <p:nvSpPr>
          <p:cNvPr id="91" name="Text 89"/>
          <p:cNvSpPr/>
          <p:nvPr/>
        </p:nvSpPr>
        <p:spPr>
          <a:xfrm>
            <a:off x="6675120" y="2569464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MATÉR. ÉLECTRIQUES</a:t>
            </a:r>
            <a:endParaRPr lang="en-US" sz="850" dirty="0"/>
          </a:p>
        </p:txBody>
      </p:sp>
      <p:sp>
        <p:nvSpPr>
          <p:cNvPr id="92" name="Text 90"/>
          <p:cNvSpPr/>
          <p:nvPr/>
        </p:nvSpPr>
        <p:spPr>
          <a:xfrm>
            <a:off x="8339328" y="2569464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580 TEU</a:t>
            </a:r>
            <a:endParaRPr lang="en-US" sz="850" dirty="0"/>
          </a:p>
        </p:txBody>
      </p:sp>
      <p:sp>
        <p:nvSpPr>
          <p:cNvPr id="93" name="Shape 91"/>
          <p:cNvSpPr/>
          <p:nvPr/>
        </p:nvSpPr>
        <p:spPr>
          <a:xfrm>
            <a:off x="9235440" y="2606040"/>
            <a:ext cx="2743200" cy="164592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94" name="Shape 92"/>
          <p:cNvSpPr/>
          <p:nvPr/>
        </p:nvSpPr>
        <p:spPr>
          <a:xfrm>
            <a:off x="9235440" y="2606040"/>
            <a:ext cx="82296" cy="164592"/>
          </a:xfrm>
          <a:prstGeom prst="rect">
            <a:avLst/>
          </a:prstGeom>
          <a:solidFill>
            <a:srgbClr val="CC2200"/>
          </a:solidFill>
          <a:ln/>
        </p:spPr>
      </p:sp>
      <p:sp>
        <p:nvSpPr>
          <p:cNvPr id="95" name="Text 93"/>
          <p:cNvSpPr/>
          <p:nvPr/>
        </p:nvSpPr>
        <p:spPr>
          <a:xfrm>
            <a:off x="12024360" y="2569464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C2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3%</a:t>
            </a:r>
            <a:endParaRPr lang="en-US" sz="900" dirty="0"/>
          </a:p>
        </p:txBody>
      </p:sp>
      <p:sp>
        <p:nvSpPr>
          <p:cNvPr id="96" name="Shape 94"/>
          <p:cNvSpPr/>
          <p:nvPr/>
        </p:nvSpPr>
        <p:spPr>
          <a:xfrm>
            <a:off x="6675120" y="3840480"/>
            <a:ext cx="5303520" cy="914400"/>
          </a:xfrm>
          <a:prstGeom prst="rect">
            <a:avLst/>
          </a:prstGeom>
          <a:solidFill>
            <a:srgbClr val="FEF2F2"/>
          </a:solidFill>
          <a:ln w="6350">
            <a:solidFill>
              <a:srgbClr val="E5C97A"/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6766560" y="3913632"/>
            <a:ext cx="512064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ALERTE : CEVA Logistics CI (groupe CMA CGM) entre dans le top 15 TIM en quelques mois — déploiement multi-métiers à surveiller en priorité. Télécoms : 9% PDM dès la 1ère année (effet 5G CI).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2243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0" y="457200"/>
            <a:ext cx="54864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0000" dirty="0"/>
          </a:p>
        </p:txBody>
      </p:sp>
      <p:sp>
        <p:nvSpPr>
          <p:cNvPr id="4" name="Shape 2"/>
          <p:cNvSpPr/>
          <p:nvPr/>
        </p:nvSpPr>
        <p:spPr>
          <a:xfrm>
            <a:off x="1097280" y="3520440"/>
            <a:ext cx="7498080" cy="59436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2651760"/>
            <a:ext cx="11430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TRANSIT EXPORT MARITIME (TEM)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365760" y="3657600"/>
            <a:ext cx="11430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137 283 TEU  |  PDM AGL : 26,2%  |  #1 incontesté, ×4,7 le second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828800" y="649224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Africa Global Logistics – Étude de Marché Jan–Mai 2026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430000" y="6473952"/>
            <a:ext cx="640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AGL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D2243"/>
          </a:solidFill>
          <a:ln/>
        </p:spPr>
      </p:sp>
      <p:sp>
        <p:nvSpPr>
          <p:cNvPr id="3" name="Text 1"/>
          <p:cNvSpPr/>
          <p:nvPr/>
        </p:nvSpPr>
        <p:spPr>
          <a:xfrm>
            <a:off x="228600" y="45720"/>
            <a:ext cx="11887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 – VUE D'ENSEMBLE  |  Jan–Mai 2026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228600" y="548640"/>
            <a:ext cx="11430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Leader absolu – PDM AGL 26,2%  |  Marché : 137 283 TEU  |  ×4,7 sur le 2ème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82880" y="6583680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Africa Global Logistics – Étude de Marché Jan–Mai 2026  |  p.8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430000" y="653796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AGL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137160" y="1097280"/>
            <a:ext cx="2291486" cy="868680"/>
          </a:xfrm>
          <a:prstGeom prst="rect">
            <a:avLst/>
          </a:prstGeom>
          <a:solidFill>
            <a:srgbClr val="F0F2F5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37160" y="1143000"/>
            <a:ext cx="229148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MARCHÉ QUALIFIÉ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37160" y="1316736"/>
            <a:ext cx="229148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D22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137 283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37160" y="1719072"/>
            <a:ext cx="229148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TEU Jan–Mai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2520086" y="1097280"/>
            <a:ext cx="2291486" cy="868680"/>
          </a:xfrm>
          <a:prstGeom prst="rect">
            <a:avLst/>
          </a:prstGeom>
          <a:solidFill>
            <a:srgbClr val="F0F2F5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520086" y="1143000"/>
            <a:ext cx="229148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 AGL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2520086" y="1316736"/>
            <a:ext cx="229148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D22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35 972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2520086" y="1719072"/>
            <a:ext cx="229148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TEU Jan–Mai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4903013" y="1097280"/>
            <a:ext cx="2291486" cy="868680"/>
          </a:xfrm>
          <a:prstGeom prst="rect">
            <a:avLst/>
          </a:prstGeom>
          <a:solidFill>
            <a:srgbClr val="F0F2F5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903013" y="1143000"/>
            <a:ext cx="229148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PDM AGL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4903013" y="1316736"/>
            <a:ext cx="229148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A7C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26,2 %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4903013" y="1719072"/>
            <a:ext cx="229148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#1 – Dominance absolue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7285939" y="1097280"/>
            <a:ext cx="2291486" cy="868680"/>
          </a:xfrm>
          <a:prstGeom prst="rect">
            <a:avLst/>
          </a:prstGeom>
          <a:solidFill>
            <a:srgbClr val="F0F2F5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285939" y="1143000"/>
            <a:ext cx="229148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ÉCART VS #2 MAERSK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7285939" y="1316736"/>
            <a:ext cx="229148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A7C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×4,7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7285939" y="1719072"/>
            <a:ext cx="229148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28 242 TEU d'avance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9668866" y="1097280"/>
            <a:ext cx="2291486" cy="868680"/>
          </a:xfrm>
          <a:prstGeom prst="rect">
            <a:avLst/>
          </a:prstGeom>
          <a:solidFill>
            <a:srgbClr val="F0F2F5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668866" y="1143000"/>
            <a:ext cx="229148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PDM JANV. (PEAK)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9668866" y="1316736"/>
            <a:ext cx="229148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56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30,3 %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9668866" y="1719072"/>
            <a:ext cx="229148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PDM max de la période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228600" y="2084832"/>
            <a:ext cx="5943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Évolution mensuelle marché TEM &amp; AGL (TEU)</a:t>
            </a:r>
            <a:endParaRPr lang="en-US" sz="1100" dirty="0"/>
          </a:p>
        </p:txBody>
      </p:sp>
      <p:graphicFrame>
        <p:nvGraphicFramePr>
          <p:cNvPr id="28" name="Chart 0" descr=""/>
          <p:cNvGraphicFramePr/>
          <p:nvPr/>
        </p:nvGraphicFramePr>
        <p:xfrm>
          <a:off x="137160" y="2331720"/>
          <a:ext cx="6217920" cy="3931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9" name="Text 26"/>
          <p:cNvSpPr/>
          <p:nvPr/>
        </p:nvSpPr>
        <p:spPr>
          <a:xfrm>
            <a:off x="6492240" y="2084832"/>
            <a:ext cx="5303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PDM AGL par mois – TEM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6492240" y="2395728"/>
            <a:ext cx="5486400" cy="475488"/>
          </a:xfrm>
          <a:prstGeom prst="rect">
            <a:avLst/>
          </a:prstGeom>
          <a:solidFill>
            <a:srgbClr val="F8FAFC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6601968" y="2523744"/>
            <a:ext cx="777240" cy="27432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Janvier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7452360" y="2523744"/>
            <a:ext cx="2560320" cy="201168"/>
          </a:xfrm>
          <a:prstGeom prst="rect">
            <a:avLst/>
          </a:prstGeom>
          <a:solidFill>
            <a:srgbClr val="D1D5DB"/>
          </a:solidFill>
          <a:ln/>
        </p:spPr>
      </p:sp>
      <p:sp>
        <p:nvSpPr>
          <p:cNvPr id="33" name="Shape 30"/>
          <p:cNvSpPr/>
          <p:nvPr/>
        </p:nvSpPr>
        <p:spPr>
          <a:xfrm>
            <a:off x="7452360" y="2523744"/>
            <a:ext cx="2560320" cy="201168"/>
          </a:xfrm>
          <a:prstGeom prst="rect">
            <a:avLst/>
          </a:prstGeom>
          <a:solidFill>
            <a:srgbClr val="1A7C4F"/>
          </a:solidFill>
          <a:ln/>
        </p:spPr>
      </p:sp>
      <p:sp>
        <p:nvSpPr>
          <p:cNvPr id="34" name="Text 31"/>
          <p:cNvSpPr/>
          <p:nvPr/>
        </p:nvSpPr>
        <p:spPr>
          <a:xfrm>
            <a:off x="10085832" y="2487168"/>
            <a:ext cx="868680" cy="27432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A7C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30,3 %</a:t>
            </a:r>
            <a:endParaRPr lang="en-US" sz="1100" dirty="0"/>
          </a:p>
        </p:txBody>
      </p:sp>
      <p:sp>
        <p:nvSpPr>
          <p:cNvPr id="35" name="Shape 32"/>
          <p:cNvSpPr/>
          <p:nvPr/>
        </p:nvSpPr>
        <p:spPr>
          <a:xfrm>
            <a:off x="6492240" y="2926080"/>
            <a:ext cx="5486400" cy="475488"/>
          </a:xfrm>
          <a:prstGeom prst="rect">
            <a:avLst/>
          </a:prstGeom>
          <a:solidFill>
            <a:srgbClr val="F8FAFC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6601968" y="3054096"/>
            <a:ext cx="777240" cy="27432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Février</a:t>
            </a:r>
            <a:endParaRPr lang="en-US" sz="1100" dirty="0"/>
          </a:p>
        </p:txBody>
      </p:sp>
      <p:sp>
        <p:nvSpPr>
          <p:cNvPr id="37" name="Shape 34"/>
          <p:cNvSpPr/>
          <p:nvPr/>
        </p:nvSpPr>
        <p:spPr>
          <a:xfrm>
            <a:off x="7452360" y="3054096"/>
            <a:ext cx="2560320" cy="201168"/>
          </a:xfrm>
          <a:prstGeom prst="rect">
            <a:avLst/>
          </a:prstGeom>
          <a:solidFill>
            <a:srgbClr val="D1D5DB"/>
          </a:solidFill>
          <a:ln/>
        </p:spPr>
      </p:sp>
      <p:sp>
        <p:nvSpPr>
          <p:cNvPr id="38" name="Shape 35"/>
          <p:cNvSpPr/>
          <p:nvPr/>
        </p:nvSpPr>
        <p:spPr>
          <a:xfrm>
            <a:off x="7452360" y="3054096"/>
            <a:ext cx="2129375" cy="201168"/>
          </a:xfrm>
          <a:prstGeom prst="rect">
            <a:avLst/>
          </a:prstGeom>
          <a:solidFill>
            <a:srgbClr val="1A7C4F"/>
          </a:solidFill>
          <a:ln/>
        </p:spPr>
      </p:sp>
      <p:sp>
        <p:nvSpPr>
          <p:cNvPr id="39" name="Text 36"/>
          <p:cNvSpPr/>
          <p:nvPr/>
        </p:nvSpPr>
        <p:spPr>
          <a:xfrm>
            <a:off x="10085832" y="3017520"/>
            <a:ext cx="868680" cy="27432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A7C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25,2 %</a:t>
            </a:r>
            <a:endParaRPr lang="en-US" sz="1100" dirty="0"/>
          </a:p>
        </p:txBody>
      </p:sp>
      <p:sp>
        <p:nvSpPr>
          <p:cNvPr id="40" name="Shape 37"/>
          <p:cNvSpPr/>
          <p:nvPr/>
        </p:nvSpPr>
        <p:spPr>
          <a:xfrm>
            <a:off x="6492240" y="3456432"/>
            <a:ext cx="5486400" cy="475488"/>
          </a:xfrm>
          <a:prstGeom prst="rect">
            <a:avLst/>
          </a:prstGeom>
          <a:solidFill>
            <a:srgbClr val="F8FAFC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6601968" y="3584448"/>
            <a:ext cx="777240" cy="27432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Mars</a:t>
            </a:r>
            <a:endParaRPr lang="en-US" sz="1100" dirty="0"/>
          </a:p>
        </p:txBody>
      </p:sp>
      <p:sp>
        <p:nvSpPr>
          <p:cNvPr id="42" name="Shape 39"/>
          <p:cNvSpPr/>
          <p:nvPr/>
        </p:nvSpPr>
        <p:spPr>
          <a:xfrm>
            <a:off x="7452360" y="3584448"/>
            <a:ext cx="2560320" cy="201168"/>
          </a:xfrm>
          <a:prstGeom prst="rect">
            <a:avLst/>
          </a:prstGeom>
          <a:solidFill>
            <a:srgbClr val="D1D5DB"/>
          </a:solidFill>
          <a:ln/>
        </p:spPr>
      </p:sp>
      <p:sp>
        <p:nvSpPr>
          <p:cNvPr id="43" name="Shape 40"/>
          <p:cNvSpPr/>
          <p:nvPr/>
        </p:nvSpPr>
        <p:spPr>
          <a:xfrm>
            <a:off x="7452360" y="3584448"/>
            <a:ext cx="2433571" cy="201168"/>
          </a:xfrm>
          <a:prstGeom prst="rect">
            <a:avLst/>
          </a:prstGeom>
          <a:solidFill>
            <a:srgbClr val="1A7C4F"/>
          </a:solidFill>
          <a:ln/>
        </p:spPr>
      </p:sp>
      <p:sp>
        <p:nvSpPr>
          <p:cNvPr id="44" name="Text 41"/>
          <p:cNvSpPr/>
          <p:nvPr/>
        </p:nvSpPr>
        <p:spPr>
          <a:xfrm>
            <a:off x="10085832" y="3547872"/>
            <a:ext cx="868680" cy="27432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A7C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28,8 %</a:t>
            </a:r>
            <a:endParaRPr lang="en-US" sz="1100" dirty="0"/>
          </a:p>
        </p:txBody>
      </p:sp>
      <p:sp>
        <p:nvSpPr>
          <p:cNvPr id="45" name="Shape 42"/>
          <p:cNvSpPr/>
          <p:nvPr/>
        </p:nvSpPr>
        <p:spPr>
          <a:xfrm>
            <a:off x="6492240" y="3986784"/>
            <a:ext cx="5486400" cy="475488"/>
          </a:xfrm>
          <a:prstGeom prst="rect">
            <a:avLst/>
          </a:prstGeom>
          <a:solidFill>
            <a:srgbClr val="F8FAFC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>
            <a:off x="6601968" y="4114800"/>
            <a:ext cx="777240" cy="27432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Avril</a:t>
            </a:r>
            <a:endParaRPr lang="en-US" sz="1100" dirty="0"/>
          </a:p>
        </p:txBody>
      </p:sp>
      <p:sp>
        <p:nvSpPr>
          <p:cNvPr id="47" name="Shape 44"/>
          <p:cNvSpPr/>
          <p:nvPr/>
        </p:nvSpPr>
        <p:spPr>
          <a:xfrm>
            <a:off x="7452360" y="4114800"/>
            <a:ext cx="2560320" cy="201168"/>
          </a:xfrm>
          <a:prstGeom prst="rect">
            <a:avLst/>
          </a:prstGeom>
          <a:solidFill>
            <a:srgbClr val="D1D5DB"/>
          </a:solidFill>
          <a:ln/>
        </p:spPr>
      </p:sp>
      <p:sp>
        <p:nvSpPr>
          <p:cNvPr id="48" name="Shape 45"/>
          <p:cNvSpPr/>
          <p:nvPr/>
        </p:nvSpPr>
        <p:spPr>
          <a:xfrm>
            <a:off x="7452360" y="4114800"/>
            <a:ext cx="2137825" cy="201168"/>
          </a:xfrm>
          <a:prstGeom prst="rect">
            <a:avLst/>
          </a:prstGeom>
          <a:solidFill>
            <a:srgbClr val="1A7C4F"/>
          </a:solidFill>
          <a:ln/>
        </p:spPr>
      </p:sp>
      <p:sp>
        <p:nvSpPr>
          <p:cNvPr id="49" name="Text 46"/>
          <p:cNvSpPr/>
          <p:nvPr/>
        </p:nvSpPr>
        <p:spPr>
          <a:xfrm>
            <a:off x="10085832" y="4078224"/>
            <a:ext cx="868680" cy="27432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A7C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25,3 %</a:t>
            </a:r>
            <a:endParaRPr lang="en-US" sz="1100" dirty="0"/>
          </a:p>
        </p:txBody>
      </p:sp>
      <p:sp>
        <p:nvSpPr>
          <p:cNvPr id="50" name="Shape 47"/>
          <p:cNvSpPr/>
          <p:nvPr/>
        </p:nvSpPr>
        <p:spPr>
          <a:xfrm>
            <a:off x="6492240" y="4517136"/>
            <a:ext cx="5486400" cy="475488"/>
          </a:xfrm>
          <a:prstGeom prst="rect">
            <a:avLst/>
          </a:prstGeom>
          <a:solidFill>
            <a:srgbClr val="F8FAFC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51" name="Text 48"/>
          <p:cNvSpPr/>
          <p:nvPr/>
        </p:nvSpPr>
        <p:spPr>
          <a:xfrm>
            <a:off x="6601968" y="4645152"/>
            <a:ext cx="777240" cy="27432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</a:t>
            </a:r>
            <a:endParaRPr lang="en-US" sz="1100" dirty="0"/>
          </a:p>
        </p:txBody>
      </p:sp>
      <p:sp>
        <p:nvSpPr>
          <p:cNvPr id="52" name="Shape 49"/>
          <p:cNvSpPr/>
          <p:nvPr/>
        </p:nvSpPr>
        <p:spPr>
          <a:xfrm>
            <a:off x="7452360" y="4645152"/>
            <a:ext cx="2560320" cy="201168"/>
          </a:xfrm>
          <a:prstGeom prst="rect">
            <a:avLst/>
          </a:prstGeom>
          <a:solidFill>
            <a:srgbClr val="D1D5DB"/>
          </a:solidFill>
          <a:ln/>
        </p:spPr>
      </p:sp>
      <p:sp>
        <p:nvSpPr>
          <p:cNvPr id="53" name="Shape 50"/>
          <p:cNvSpPr/>
          <p:nvPr/>
        </p:nvSpPr>
        <p:spPr>
          <a:xfrm>
            <a:off x="7452360" y="4645152"/>
            <a:ext cx="1698430" cy="201168"/>
          </a:xfrm>
          <a:prstGeom prst="rect">
            <a:avLst/>
          </a:prstGeom>
          <a:solidFill>
            <a:srgbClr val="E05A00"/>
          </a:solidFill>
          <a:ln/>
        </p:spPr>
      </p:sp>
      <p:sp>
        <p:nvSpPr>
          <p:cNvPr id="54" name="Text 51"/>
          <p:cNvSpPr/>
          <p:nvPr/>
        </p:nvSpPr>
        <p:spPr>
          <a:xfrm>
            <a:off x="10085832" y="4608576"/>
            <a:ext cx="868680" cy="27432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E0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20,1 %</a:t>
            </a:r>
            <a:endParaRPr lang="en-US" sz="1100" dirty="0"/>
          </a:p>
        </p:txBody>
      </p:sp>
      <p:sp>
        <p:nvSpPr>
          <p:cNvPr id="55" name="Shape 52"/>
          <p:cNvSpPr/>
          <p:nvPr/>
        </p:nvSpPr>
        <p:spPr>
          <a:xfrm>
            <a:off x="6492240" y="5212080"/>
            <a:ext cx="5486400" cy="685800"/>
          </a:xfrm>
          <a:prstGeom prst="rect">
            <a:avLst/>
          </a:prstGeom>
          <a:solidFill>
            <a:srgbClr val="FEF2F2"/>
          </a:solidFill>
          <a:ln w="6350">
            <a:solidFill>
              <a:srgbClr val="E5C97A"/>
            </a:solidFill>
            <a:prstDash val="solid"/>
          </a:ln>
        </p:spPr>
      </p:sp>
      <p:sp>
        <p:nvSpPr>
          <p:cNvPr id="56" name="Text 53"/>
          <p:cNvSpPr/>
          <p:nvPr/>
        </p:nvSpPr>
        <p:spPr>
          <a:xfrm>
            <a:off x="6583680" y="5285232"/>
            <a:ext cx="5303520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ALERTE MAI : PDM chute à 20,1% (–10,2 pts vs Janvier). Marché en recul de –22% (28 586→22 421 TEU). Causes : fin saison cacao, recul cajou. Plan de relance à activer juin–juillet.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D2243"/>
          </a:solidFill>
          <a:ln/>
        </p:spPr>
      </p:sp>
      <p:sp>
        <p:nvSpPr>
          <p:cNvPr id="3" name="Text 1"/>
          <p:cNvSpPr/>
          <p:nvPr/>
        </p:nvSpPr>
        <p:spPr>
          <a:xfrm>
            <a:off x="228600" y="45720"/>
            <a:ext cx="11887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 – SEGMENTS &amp; CONCURRENTS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228600" y="548640"/>
            <a:ext cx="11430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Matières premières agricoles  |  PDM AGL par filière  |  Corridors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82880" y="6583680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Africa Global Logistics – Étude de Marché Jan–Mai 2026  |  p.9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430000" y="653796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AGL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228600" y="1097280"/>
            <a:ext cx="5943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PDM AGL par filière export – TEM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37160" y="1389888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BANANES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801368" y="1389888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Mkt: 6 908 TEU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2697480" y="1426464"/>
            <a:ext cx="2743200" cy="164592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11" name="Shape 9"/>
          <p:cNvSpPr/>
          <p:nvPr/>
        </p:nvSpPr>
        <p:spPr>
          <a:xfrm>
            <a:off x="2697480" y="1426464"/>
            <a:ext cx="2029968" cy="164592"/>
          </a:xfrm>
          <a:prstGeom prst="rect">
            <a:avLst/>
          </a:prstGeom>
          <a:solidFill>
            <a:srgbClr val="1A7C4F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0" y="1389888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7C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74%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37160" y="1773936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DÉRIVÉS DE CACAO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1801368" y="1773936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Mkt: 11 411 TEU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2697480" y="1810512"/>
            <a:ext cx="2743200" cy="164592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16" name="Shape 14"/>
          <p:cNvSpPr/>
          <p:nvPr/>
        </p:nvSpPr>
        <p:spPr>
          <a:xfrm>
            <a:off x="2697480" y="1810512"/>
            <a:ext cx="1344168" cy="164592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0" y="1773936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49%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37160" y="2157984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CACAO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1801368" y="2157984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Mkt: 46 407 TEU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2697480" y="2194560"/>
            <a:ext cx="2743200" cy="164592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21" name="Shape 19"/>
          <p:cNvSpPr/>
          <p:nvPr/>
        </p:nvSpPr>
        <p:spPr>
          <a:xfrm>
            <a:off x="2697480" y="2194560"/>
            <a:ext cx="877824" cy="164592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22" name="Text 20"/>
          <p:cNvSpPr/>
          <p:nvPr/>
        </p:nvSpPr>
        <p:spPr>
          <a:xfrm>
            <a:off x="5486400" y="2157984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32%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37160" y="254203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COTON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1801368" y="2542032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Mkt: 4 179 TEU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2697480" y="2578608"/>
            <a:ext cx="2743200" cy="164592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26" name="Shape 24"/>
          <p:cNvSpPr/>
          <p:nvPr/>
        </p:nvSpPr>
        <p:spPr>
          <a:xfrm>
            <a:off x="2697480" y="2578608"/>
            <a:ext cx="795528" cy="164592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27" name="Text 25"/>
          <p:cNvSpPr/>
          <p:nvPr/>
        </p:nvSpPr>
        <p:spPr>
          <a:xfrm>
            <a:off x="5486400" y="2542032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29%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37160" y="2926080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CAOUTCHOUC USINE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1801368" y="2926080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Mkt: 35 516 TEU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2697480" y="2962656"/>
            <a:ext cx="2743200" cy="164592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31" name="Shape 29"/>
          <p:cNvSpPr/>
          <p:nvPr/>
        </p:nvSpPr>
        <p:spPr>
          <a:xfrm>
            <a:off x="2697480" y="2962656"/>
            <a:ext cx="493776" cy="164592"/>
          </a:xfrm>
          <a:prstGeom prst="rect">
            <a:avLst/>
          </a:prstGeom>
          <a:solidFill>
            <a:srgbClr val="E05A00"/>
          </a:solidFill>
          <a:ln/>
        </p:spPr>
      </p:sp>
      <p:sp>
        <p:nvSpPr>
          <p:cNvPr id="32" name="Text 30"/>
          <p:cNvSpPr/>
          <p:nvPr/>
        </p:nvSpPr>
        <p:spPr>
          <a:xfrm>
            <a:off x="5486400" y="2926080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0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18%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37160" y="3310128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MANGUE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1801368" y="3310128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Mkt: 3 777 TEU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2697480" y="3346704"/>
            <a:ext cx="2743200" cy="164592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36" name="Shape 34"/>
          <p:cNvSpPr/>
          <p:nvPr/>
        </p:nvSpPr>
        <p:spPr>
          <a:xfrm>
            <a:off x="2697480" y="3346704"/>
            <a:ext cx="356616" cy="164592"/>
          </a:xfrm>
          <a:prstGeom prst="rect">
            <a:avLst/>
          </a:prstGeom>
          <a:solidFill>
            <a:srgbClr val="E05A00"/>
          </a:solidFill>
          <a:ln/>
        </p:spPr>
      </p:sp>
      <p:sp>
        <p:nvSpPr>
          <p:cNvPr id="37" name="Text 35"/>
          <p:cNvSpPr/>
          <p:nvPr/>
        </p:nvSpPr>
        <p:spPr>
          <a:xfrm>
            <a:off x="5486400" y="3310128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0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13%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37160" y="3694176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AMANDE DE CAJOU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1801368" y="3694176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Mkt: 2 744 TEU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2697480" y="3730752"/>
            <a:ext cx="2743200" cy="164592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41" name="Shape 39"/>
          <p:cNvSpPr/>
          <p:nvPr/>
        </p:nvSpPr>
        <p:spPr>
          <a:xfrm>
            <a:off x="2697480" y="3730752"/>
            <a:ext cx="192024" cy="164592"/>
          </a:xfrm>
          <a:prstGeom prst="rect">
            <a:avLst/>
          </a:prstGeom>
          <a:solidFill>
            <a:srgbClr val="CC2200"/>
          </a:solidFill>
          <a:ln/>
        </p:spPr>
      </p:sp>
      <p:sp>
        <p:nvSpPr>
          <p:cNvPr id="42" name="Text 40"/>
          <p:cNvSpPr/>
          <p:nvPr/>
        </p:nvSpPr>
        <p:spPr>
          <a:xfrm>
            <a:off x="5486400" y="3694176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C2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7%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137160" y="4078224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NOIX DE CAJOU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1801368" y="4078224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Mkt: 13 129 TEU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2697480" y="4114800"/>
            <a:ext cx="2743200" cy="164592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46" name="Shape 44"/>
          <p:cNvSpPr/>
          <p:nvPr/>
        </p:nvSpPr>
        <p:spPr>
          <a:xfrm>
            <a:off x="2697480" y="4114800"/>
            <a:ext cx="137160" cy="164592"/>
          </a:xfrm>
          <a:prstGeom prst="rect">
            <a:avLst/>
          </a:prstGeom>
          <a:solidFill>
            <a:srgbClr val="CC2200"/>
          </a:solidFill>
          <a:ln/>
        </p:spPr>
      </p:sp>
      <p:sp>
        <p:nvSpPr>
          <p:cNvPr id="47" name="Text 45"/>
          <p:cNvSpPr/>
          <p:nvPr/>
        </p:nvSpPr>
        <p:spPr>
          <a:xfrm>
            <a:off x="5486400" y="4078224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C2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5%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6492240" y="1097280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Classement concurrentiel – TEM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6400800" y="1371600"/>
            <a:ext cx="5669280" cy="256032"/>
          </a:xfrm>
          <a:prstGeom prst="rect">
            <a:avLst/>
          </a:prstGeom>
          <a:solidFill>
            <a:srgbClr val="0D2243"/>
          </a:solidFill>
          <a:ln/>
        </p:spPr>
      </p:sp>
      <p:sp>
        <p:nvSpPr>
          <p:cNvPr id="50" name="Text 48"/>
          <p:cNvSpPr/>
          <p:nvPr/>
        </p:nvSpPr>
        <p:spPr>
          <a:xfrm>
            <a:off x="6437376" y="1408176"/>
            <a:ext cx="365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6848856" y="1408176"/>
            <a:ext cx="170688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Transitaire</a:t>
            </a:r>
            <a:endParaRPr lang="en-US" sz="850" dirty="0"/>
          </a:p>
        </p:txBody>
      </p:sp>
      <p:sp>
        <p:nvSpPr>
          <p:cNvPr id="52" name="Text 50"/>
          <p:cNvSpPr/>
          <p:nvPr/>
        </p:nvSpPr>
        <p:spPr>
          <a:xfrm>
            <a:off x="8601456" y="1408176"/>
            <a:ext cx="170688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TEU</a:t>
            </a:r>
            <a:endParaRPr lang="en-US" sz="850" dirty="0"/>
          </a:p>
        </p:txBody>
      </p:sp>
      <p:sp>
        <p:nvSpPr>
          <p:cNvPr id="53" name="Text 51"/>
          <p:cNvSpPr/>
          <p:nvPr/>
        </p:nvSpPr>
        <p:spPr>
          <a:xfrm>
            <a:off x="10354056" y="1408176"/>
            <a:ext cx="170688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PDM</a:t>
            </a:r>
            <a:endParaRPr lang="en-US" sz="850" dirty="0"/>
          </a:p>
        </p:txBody>
      </p:sp>
      <p:sp>
        <p:nvSpPr>
          <p:cNvPr id="54" name="Shape 52"/>
          <p:cNvSpPr/>
          <p:nvPr/>
        </p:nvSpPr>
        <p:spPr>
          <a:xfrm>
            <a:off x="6400800" y="1627632"/>
            <a:ext cx="5669280" cy="256032"/>
          </a:xfrm>
          <a:prstGeom prst="rect">
            <a:avLst/>
          </a:prstGeom>
          <a:solidFill>
            <a:srgbClr val="FFF9EC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437376" y="1664208"/>
            <a:ext cx="365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#1</a:t>
            </a:r>
            <a:endParaRPr lang="en-US" sz="850" dirty="0"/>
          </a:p>
        </p:txBody>
      </p:sp>
      <p:sp>
        <p:nvSpPr>
          <p:cNvPr id="56" name="Text 54"/>
          <p:cNvSpPr/>
          <p:nvPr/>
        </p:nvSpPr>
        <p:spPr>
          <a:xfrm>
            <a:off x="6848856" y="1664208"/>
            <a:ext cx="170688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A7C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AFRICA GLOBAL LOGISTICS</a:t>
            </a:r>
            <a:endParaRPr lang="en-US" sz="850" dirty="0"/>
          </a:p>
        </p:txBody>
      </p:sp>
      <p:sp>
        <p:nvSpPr>
          <p:cNvPr id="57" name="Text 55"/>
          <p:cNvSpPr/>
          <p:nvPr/>
        </p:nvSpPr>
        <p:spPr>
          <a:xfrm>
            <a:off x="8601456" y="1664208"/>
            <a:ext cx="170688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35 972</a:t>
            </a:r>
            <a:endParaRPr lang="en-US" sz="850" dirty="0"/>
          </a:p>
        </p:txBody>
      </p:sp>
      <p:sp>
        <p:nvSpPr>
          <p:cNvPr id="58" name="Text 56"/>
          <p:cNvSpPr/>
          <p:nvPr/>
        </p:nvSpPr>
        <p:spPr>
          <a:xfrm>
            <a:off x="10354056" y="1664208"/>
            <a:ext cx="170688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A7C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26,2 %</a:t>
            </a:r>
            <a:endParaRPr lang="en-US" sz="850" dirty="0"/>
          </a:p>
        </p:txBody>
      </p:sp>
      <p:sp>
        <p:nvSpPr>
          <p:cNvPr id="59" name="Shape 57"/>
          <p:cNvSpPr/>
          <p:nvPr/>
        </p:nvSpPr>
        <p:spPr>
          <a:xfrm>
            <a:off x="6400800" y="1883664"/>
            <a:ext cx="5669280" cy="256032"/>
          </a:xfrm>
          <a:prstGeom prst="rect">
            <a:avLst/>
          </a:prstGeom>
          <a:solidFill>
            <a:srgbClr val="F8F9FA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6437376" y="1920240"/>
            <a:ext cx="365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#2</a:t>
            </a:r>
            <a:endParaRPr lang="en-US" sz="850" dirty="0"/>
          </a:p>
        </p:txBody>
      </p:sp>
      <p:sp>
        <p:nvSpPr>
          <p:cNvPr id="61" name="Text 59"/>
          <p:cNvSpPr/>
          <p:nvPr/>
        </p:nvSpPr>
        <p:spPr>
          <a:xfrm>
            <a:off x="6848856" y="1920240"/>
            <a:ext cx="170688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MAERSK LOGISTIC</a:t>
            </a:r>
            <a:endParaRPr lang="en-US" sz="850" dirty="0"/>
          </a:p>
        </p:txBody>
      </p:sp>
      <p:sp>
        <p:nvSpPr>
          <p:cNvPr id="62" name="Text 60"/>
          <p:cNvSpPr/>
          <p:nvPr/>
        </p:nvSpPr>
        <p:spPr>
          <a:xfrm>
            <a:off x="8601456" y="1920240"/>
            <a:ext cx="170688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7 730</a:t>
            </a:r>
            <a:endParaRPr lang="en-US" sz="850" dirty="0"/>
          </a:p>
        </p:txBody>
      </p:sp>
      <p:sp>
        <p:nvSpPr>
          <p:cNvPr id="63" name="Text 61"/>
          <p:cNvSpPr/>
          <p:nvPr/>
        </p:nvSpPr>
        <p:spPr>
          <a:xfrm>
            <a:off x="10354056" y="1920240"/>
            <a:ext cx="170688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5,6 %</a:t>
            </a:r>
            <a:endParaRPr lang="en-US" sz="850" dirty="0"/>
          </a:p>
        </p:txBody>
      </p:sp>
      <p:sp>
        <p:nvSpPr>
          <p:cNvPr id="64" name="Shape 62"/>
          <p:cNvSpPr/>
          <p:nvPr/>
        </p:nvSpPr>
        <p:spPr>
          <a:xfrm>
            <a:off x="6400800" y="2139696"/>
            <a:ext cx="5669280" cy="256032"/>
          </a:xfrm>
          <a:prstGeom prst="rect">
            <a:avLst/>
          </a:prstGeom>
          <a:solidFill>
            <a:srgbClr val="FFFFFF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6437376" y="2176272"/>
            <a:ext cx="365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#3</a:t>
            </a:r>
            <a:endParaRPr lang="en-US" sz="850" dirty="0"/>
          </a:p>
        </p:txBody>
      </p:sp>
      <p:sp>
        <p:nvSpPr>
          <p:cNvPr id="66" name="Text 64"/>
          <p:cNvSpPr/>
          <p:nvPr/>
        </p:nvSpPr>
        <p:spPr>
          <a:xfrm>
            <a:off x="6848856" y="2176272"/>
            <a:ext cx="170688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MANTRA IVOIRE</a:t>
            </a:r>
            <a:endParaRPr lang="en-US" sz="850" dirty="0"/>
          </a:p>
        </p:txBody>
      </p:sp>
      <p:sp>
        <p:nvSpPr>
          <p:cNvPr id="67" name="Text 65"/>
          <p:cNvSpPr/>
          <p:nvPr/>
        </p:nvSpPr>
        <p:spPr>
          <a:xfrm>
            <a:off x="8601456" y="2176272"/>
            <a:ext cx="170688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7 671</a:t>
            </a:r>
            <a:endParaRPr lang="en-US" sz="850" dirty="0"/>
          </a:p>
        </p:txBody>
      </p:sp>
      <p:sp>
        <p:nvSpPr>
          <p:cNvPr id="68" name="Text 66"/>
          <p:cNvSpPr/>
          <p:nvPr/>
        </p:nvSpPr>
        <p:spPr>
          <a:xfrm>
            <a:off x="10354056" y="2176272"/>
            <a:ext cx="170688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5,6 %</a:t>
            </a:r>
            <a:endParaRPr lang="en-US" sz="850" dirty="0"/>
          </a:p>
        </p:txBody>
      </p:sp>
      <p:sp>
        <p:nvSpPr>
          <p:cNvPr id="69" name="Shape 67"/>
          <p:cNvSpPr/>
          <p:nvPr/>
        </p:nvSpPr>
        <p:spPr>
          <a:xfrm>
            <a:off x="6400800" y="2395728"/>
            <a:ext cx="5669280" cy="256032"/>
          </a:xfrm>
          <a:prstGeom prst="rect">
            <a:avLst/>
          </a:prstGeom>
          <a:solidFill>
            <a:srgbClr val="F8F9FA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6437376" y="2432304"/>
            <a:ext cx="365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#4</a:t>
            </a:r>
            <a:endParaRPr lang="en-US" sz="850" dirty="0"/>
          </a:p>
        </p:txBody>
      </p:sp>
      <p:sp>
        <p:nvSpPr>
          <p:cNvPr id="71" name="Text 69"/>
          <p:cNvSpPr/>
          <p:nvPr/>
        </p:nvSpPr>
        <p:spPr>
          <a:xfrm>
            <a:off x="6848856" y="2432304"/>
            <a:ext cx="170688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MANUTENTION CI</a:t>
            </a:r>
            <a:endParaRPr lang="en-US" sz="850" dirty="0"/>
          </a:p>
        </p:txBody>
      </p:sp>
      <p:sp>
        <p:nvSpPr>
          <p:cNvPr id="72" name="Text 70"/>
          <p:cNvSpPr/>
          <p:nvPr/>
        </p:nvSpPr>
        <p:spPr>
          <a:xfrm>
            <a:off x="8601456" y="2432304"/>
            <a:ext cx="170688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5 893</a:t>
            </a:r>
            <a:endParaRPr lang="en-US" sz="850" dirty="0"/>
          </a:p>
        </p:txBody>
      </p:sp>
      <p:sp>
        <p:nvSpPr>
          <p:cNvPr id="73" name="Text 71"/>
          <p:cNvSpPr/>
          <p:nvPr/>
        </p:nvSpPr>
        <p:spPr>
          <a:xfrm>
            <a:off x="10354056" y="2432304"/>
            <a:ext cx="170688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4,3 %</a:t>
            </a:r>
            <a:endParaRPr lang="en-US" sz="850" dirty="0"/>
          </a:p>
        </p:txBody>
      </p:sp>
      <p:sp>
        <p:nvSpPr>
          <p:cNvPr id="74" name="Shape 72"/>
          <p:cNvSpPr/>
          <p:nvPr/>
        </p:nvSpPr>
        <p:spPr>
          <a:xfrm>
            <a:off x="6400800" y="2651760"/>
            <a:ext cx="5669280" cy="256032"/>
          </a:xfrm>
          <a:prstGeom prst="rect">
            <a:avLst/>
          </a:prstGeom>
          <a:solidFill>
            <a:srgbClr val="FFFFFF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6437376" y="2688336"/>
            <a:ext cx="365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#5</a:t>
            </a:r>
            <a:endParaRPr lang="en-US" sz="850" dirty="0"/>
          </a:p>
        </p:txBody>
      </p:sp>
      <p:sp>
        <p:nvSpPr>
          <p:cNvPr id="76" name="Text 74"/>
          <p:cNvSpPr/>
          <p:nvPr/>
        </p:nvSpPr>
        <p:spPr>
          <a:xfrm>
            <a:off x="6848856" y="2688336"/>
            <a:ext cx="170688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OTL</a:t>
            </a:r>
            <a:endParaRPr lang="en-US" sz="850" dirty="0"/>
          </a:p>
        </p:txBody>
      </p:sp>
      <p:sp>
        <p:nvSpPr>
          <p:cNvPr id="77" name="Text 75"/>
          <p:cNvSpPr/>
          <p:nvPr/>
        </p:nvSpPr>
        <p:spPr>
          <a:xfrm>
            <a:off x="8601456" y="2688336"/>
            <a:ext cx="170688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5 760</a:t>
            </a:r>
            <a:endParaRPr lang="en-US" sz="850" dirty="0"/>
          </a:p>
        </p:txBody>
      </p:sp>
      <p:sp>
        <p:nvSpPr>
          <p:cNvPr id="78" name="Text 76"/>
          <p:cNvSpPr/>
          <p:nvPr/>
        </p:nvSpPr>
        <p:spPr>
          <a:xfrm>
            <a:off x="10354056" y="2688336"/>
            <a:ext cx="170688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4,2 %</a:t>
            </a:r>
            <a:endParaRPr lang="en-US" sz="850" dirty="0"/>
          </a:p>
        </p:txBody>
      </p:sp>
      <p:sp>
        <p:nvSpPr>
          <p:cNvPr id="79" name="Shape 77"/>
          <p:cNvSpPr/>
          <p:nvPr/>
        </p:nvSpPr>
        <p:spPr>
          <a:xfrm>
            <a:off x="6400800" y="2907792"/>
            <a:ext cx="5669280" cy="256032"/>
          </a:xfrm>
          <a:prstGeom prst="rect">
            <a:avLst/>
          </a:prstGeom>
          <a:solidFill>
            <a:srgbClr val="F8F9FA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6437376" y="2944368"/>
            <a:ext cx="365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#6</a:t>
            </a:r>
            <a:endParaRPr lang="en-US" sz="850" dirty="0"/>
          </a:p>
        </p:txBody>
      </p:sp>
      <p:sp>
        <p:nvSpPr>
          <p:cNvPr id="81" name="Text 79"/>
          <p:cNvSpPr/>
          <p:nvPr/>
        </p:nvSpPr>
        <p:spPr>
          <a:xfrm>
            <a:off x="6848856" y="2944368"/>
            <a:ext cx="170688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MEDLOG CI</a:t>
            </a:r>
            <a:endParaRPr lang="en-US" sz="850" dirty="0"/>
          </a:p>
        </p:txBody>
      </p:sp>
      <p:sp>
        <p:nvSpPr>
          <p:cNvPr id="82" name="Text 80"/>
          <p:cNvSpPr/>
          <p:nvPr/>
        </p:nvSpPr>
        <p:spPr>
          <a:xfrm>
            <a:off x="8601456" y="2944368"/>
            <a:ext cx="170688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4 921</a:t>
            </a:r>
            <a:endParaRPr lang="en-US" sz="850" dirty="0"/>
          </a:p>
        </p:txBody>
      </p:sp>
      <p:sp>
        <p:nvSpPr>
          <p:cNvPr id="83" name="Text 81"/>
          <p:cNvSpPr/>
          <p:nvPr/>
        </p:nvSpPr>
        <p:spPr>
          <a:xfrm>
            <a:off x="10354056" y="2944368"/>
            <a:ext cx="170688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3,6 %</a:t>
            </a:r>
            <a:endParaRPr lang="en-US" sz="850" dirty="0"/>
          </a:p>
        </p:txBody>
      </p:sp>
      <p:sp>
        <p:nvSpPr>
          <p:cNvPr id="84" name="Shape 82"/>
          <p:cNvSpPr/>
          <p:nvPr/>
        </p:nvSpPr>
        <p:spPr>
          <a:xfrm>
            <a:off x="6400800" y="3163824"/>
            <a:ext cx="5669280" cy="256032"/>
          </a:xfrm>
          <a:prstGeom prst="rect">
            <a:avLst/>
          </a:prstGeom>
          <a:solidFill>
            <a:srgbClr val="FFFFFF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6437376" y="3200400"/>
            <a:ext cx="365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#7</a:t>
            </a:r>
            <a:endParaRPr lang="en-US" sz="850" dirty="0"/>
          </a:p>
        </p:txBody>
      </p:sp>
      <p:sp>
        <p:nvSpPr>
          <p:cNvPr id="86" name="Text 84"/>
          <p:cNvSpPr/>
          <p:nvPr/>
        </p:nvSpPr>
        <p:spPr>
          <a:xfrm>
            <a:off x="6848856" y="3200400"/>
            <a:ext cx="170688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SDMA</a:t>
            </a:r>
            <a:endParaRPr lang="en-US" sz="850" dirty="0"/>
          </a:p>
        </p:txBody>
      </p:sp>
      <p:sp>
        <p:nvSpPr>
          <p:cNvPr id="87" name="Text 85"/>
          <p:cNvSpPr/>
          <p:nvPr/>
        </p:nvSpPr>
        <p:spPr>
          <a:xfrm>
            <a:off x="8601456" y="3200400"/>
            <a:ext cx="170688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4 902</a:t>
            </a:r>
            <a:endParaRPr lang="en-US" sz="850" dirty="0"/>
          </a:p>
        </p:txBody>
      </p:sp>
      <p:sp>
        <p:nvSpPr>
          <p:cNvPr id="88" name="Text 86"/>
          <p:cNvSpPr/>
          <p:nvPr/>
        </p:nvSpPr>
        <p:spPr>
          <a:xfrm>
            <a:off x="10354056" y="3200400"/>
            <a:ext cx="170688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3,6 %</a:t>
            </a:r>
            <a:endParaRPr lang="en-US" sz="850" dirty="0"/>
          </a:p>
        </p:txBody>
      </p:sp>
      <p:sp>
        <p:nvSpPr>
          <p:cNvPr id="89" name="Shape 87"/>
          <p:cNvSpPr/>
          <p:nvPr/>
        </p:nvSpPr>
        <p:spPr>
          <a:xfrm>
            <a:off x="6400800" y="3419856"/>
            <a:ext cx="5669280" cy="256032"/>
          </a:xfrm>
          <a:prstGeom prst="rect">
            <a:avLst/>
          </a:prstGeom>
          <a:solidFill>
            <a:srgbClr val="F8F9FA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6437376" y="3456432"/>
            <a:ext cx="365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#8</a:t>
            </a:r>
            <a:endParaRPr lang="en-US" sz="850" dirty="0"/>
          </a:p>
        </p:txBody>
      </p:sp>
      <p:sp>
        <p:nvSpPr>
          <p:cNvPr id="91" name="Text 89"/>
          <p:cNvSpPr/>
          <p:nvPr/>
        </p:nvSpPr>
        <p:spPr>
          <a:xfrm>
            <a:off x="6848856" y="3456432"/>
            <a:ext cx="170688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PACKING SERVICE INTL</a:t>
            </a:r>
            <a:endParaRPr lang="en-US" sz="850" dirty="0"/>
          </a:p>
        </p:txBody>
      </p:sp>
      <p:sp>
        <p:nvSpPr>
          <p:cNvPr id="92" name="Text 90"/>
          <p:cNvSpPr/>
          <p:nvPr/>
        </p:nvSpPr>
        <p:spPr>
          <a:xfrm>
            <a:off x="8601456" y="3456432"/>
            <a:ext cx="170688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4 411</a:t>
            </a:r>
            <a:endParaRPr lang="en-US" sz="850" dirty="0"/>
          </a:p>
        </p:txBody>
      </p:sp>
      <p:sp>
        <p:nvSpPr>
          <p:cNvPr id="93" name="Text 91"/>
          <p:cNvSpPr/>
          <p:nvPr/>
        </p:nvSpPr>
        <p:spPr>
          <a:xfrm>
            <a:off x="10354056" y="3456432"/>
            <a:ext cx="170688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3,2 %</a:t>
            </a:r>
            <a:endParaRPr lang="en-US" sz="850" dirty="0"/>
          </a:p>
        </p:txBody>
      </p:sp>
      <p:sp>
        <p:nvSpPr>
          <p:cNvPr id="94" name="Shape 92"/>
          <p:cNvSpPr/>
          <p:nvPr/>
        </p:nvSpPr>
        <p:spPr>
          <a:xfrm>
            <a:off x="6400800" y="3675888"/>
            <a:ext cx="5669280" cy="256032"/>
          </a:xfrm>
          <a:prstGeom prst="rect">
            <a:avLst/>
          </a:prstGeom>
          <a:solidFill>
            <a:srgbClr val="FFFFFF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6437376" y="3712464"/>
            <a:ext cx="365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#9</a:t>
            </a:r>
            <a:endParaRPr lang="en-US" sz="850" dirty="0"/>
          </a:p>
        </p:txBody>
      </p:sp>
      <p:sp>
        <p:nvSpPr>
          <p:cNvPr id="96" name="Text 94"/>
          <p:cNvSpPr/>
          <p:nvPr/>
        </p:nvSpPr>
        <p:spPr>
          <a:xfrm>
            <a:off x="6848856" y="3712464"/>
            <a:ext cx="170688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MOVIS TRANSIT CI</a:t>
            </a:r>
            <a:endParaRPr lang="en-US" sz="850" dirty="0"/>
          </a:p>
        </p:txBody>
      </p:sp>
      <p:sp>
        <p:nvSpPr>
          <p:cNvPr id="97" name="Text 95"/>
          <p:cNvSpPr/>
          <p:nvPr/>
        </p:nvSpPr>
        <p:spPr>
          <a:xfrm>
            <a:off x="8601456" y="3712464"/>
            <a:ext cx="170688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4 067</a:t>
            </a:r>
            <a:endParaRPr lang="en-US" sz="850" dirty="0"/>
          </a:p>
        </p:txBody>
      </p:sp>
      <p:sp>
        <p:nvSpPr>
          <p:cNvPr id="98" name="Text 96"/>
          <p:cNvSpPr/>
          <p:nvPr/>
        </p:nvSpPr>
        <p:spPr>
          <a:xfrm>
            <a:off x="10354056" y="3712464"/>
            <a:ext cx="170688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3,0 %</a:t>
            </a:r>
            <a:endParaRPr lang="en-US" sz="850" dirty="0"/>
          </a:p>
        </p:txBody>
      </p:sp>
      <p:sp>
        <p:nvSpPr>
          <p:cNvPr id="99" name="Shape 97"/>
          <p:cNvSpPr/>
          <p:nvPr/>
        </p:nvSpPr>
        <p:spPr>
          <a:xfrm>
            <a:off x="6400800" y="3931920"/>
            <a:ext cx="5669280" cy="256032"/>
          </a:xfrm>
          <a:prstGeom prst="rect">
            <a:avLst/>
          </a:prstGeom>
          <a:solidFill>
            <a:srgbClr val="F8F9FA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100" name="Text 98"/>
          <p:cNvSpPr/>
          <p:nvPr/>
        </p:nvSpPr>
        <p:spPr>
          <a:xfrm>
            <a:off x="6437376" y="3968496"/>
            <a:ext cx="365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#10</a:t>
            </a:r>
            <a:endParaRPr lang="en-US" sz="850" dirty="0"/>
          </a:p>
        </p:txBody>
      </p:sp>
      <p:sp>
        <p:nvSpPr>
          <p:cNvPr id="101" name="Text 99"/>
          <p:cNvSpPr/>
          <p:nvPr/>
        </p:nvSpPr>
        <p:spPr>
          <a:xfrm>
            <a:off x="6848856" y="3968496"/>
            <a:ext cx="170688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GTS CI</a:t>
            </a:r>
            <a:endParaRPr lang="en-US" sz="850" dirty="0"/>
          </a:p>
        </p:txBody>
      </p:sp>
      <p:sp>
        <p:nvSpPr>
          <p:cNvPr id="102" name="Text 100"/>
          <p:cNvSpPr/>
          <p:nvPr/>
        </p:nvSpPr>
        <p:spPr>
          <a:xfrm>
            <a:off x="8601456" y="3968496"/>
            <a:ext cx="170688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4 010</a:t>
            </a:r>
            <a:endParaRPr lang="en-US" sz="850" dirty="0"/>
          </a:p>
        </p:txBody>
      </p:sp>
      <p:sp>
        <p:nvSpPr>
          <p:cNvPr id="103" name="Text 101"/>
          <p:cNvSpPr/>
          <p:nvPr/>
        </p:nvSpPr>
        <p:spPr>
          <a:xfrm>
            <a:off x="10354056" y="3968496"/>
            <a:ext cx="170688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2,9 %</a:t>
            </a:r>
            <a:endParaRPr lang="en-US" sz="850" dirty="0"/>
          </a:p>
        </p:txBody>
      </p:sp>
      <p:sp>
        <p:nvSpPr>
          <p:cNvPr id="104" name="Shape 102"/>
          <p:cNvSpPr/>
          <p:nvPr/>
        </p:nvSpPr>
        <p:spPr>
          <a:xfrm>
            <a:off x="137160" y="4937760"/>
            <a:ext cx="11795760" cy="685800"/>
          </a:xfrm>
          <a:prstGeom prst="rect">
            <a:avLst/>
          </a:prstGeom>
          <a:solidFill>
            <a:srgbClr val="FFFBEC"/>
          </a:solidFill>
          <a:ln w="6350">
            <a:solidFill>
              <a:srgbClr val="E5C97A"/>
            </a:solidFill>
            <a:prstDash val="solid"/>
          </a:ln>
        </p:spPr>
      </p:sp>
      <p:sp>
        <p:nvSpPr>
          <p:cNvPr id="105" name="Text 103"/>
          <p:cNvSpPr/>
          <p:nvPr/>
        </p:nvSpPr>
        <p:spPr>
          <a:xfrm>
            <a:off x="228600" y="5010912"/>
            <a:ext cx="11612880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🏆  POSITION TEM : AGL détient 26,2% du marché qualifié – soit 4,7x le 2ème acteur. Forces : Bananes (74% PDM), Dérivés cacao (49%), Cacao (32%). Levier : Noix de Cajou (13 129 TEU marché, seulement 5,4% PDM AGL) = +860 TEU si PDM portée à 12%.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D2243"/>
          </a:solidFill>
          <a:ln/>
        </p:spPr>
      </p:sp>
      <p:sp>
        <p:nvSpPr>
          <p:cNvPr id="3" name="Text 1"/>
          <p:cNvSpPr/>
          <p:nvPr/>
        </p:nvSpPr>
        <p:spPr>
          <a:xfrm>
            <a:off x="228600" y="45720"/>
            <a:ext cx="11887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 – CLIENTÈLE CHARGEURS AGL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228600" y="548640"/>
            <a:ext cx="11430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10 chargeurs  |  Répartition filières  |  Risques &amp; opportunités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82880" y="6583680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Africa Global Logistics – Étude de Marché Jan–Mai 2026  |  p.10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430000" y="653796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AGL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228600" y="1097280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10 chargeurs AGL – TEM (TEU)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37160" y="1371600"/>
            <a:ext cx="6400800" cy="256032"/>
          </a:xfrm>
          <a:prstGeom prst="rect">
            <a:avLst/>
          </a:prstGeom>
          <a:solidFill>
            <a:srgbClr val="0D2243"/>
          </a:solidFill>
          <a:ln/>
        </p:spPr>
      </p:sp>
      <p:sp>
        <p:nvSpPr>
          <p:cNvPr id="9" name="Text 7"/>
          <p:cNvSpPr/>
          <p:nvPr/>
        </p:nvSpPr>
        <p:spPr>
          <a:xfrm>
            <a:off x="173736" y="1408176"/>
            <a:ext cx="155448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Chargeur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1773936" y="1408176"/>
            <a:ext cx="155448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TEU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3374136" y="1408176"/>
            <a:ext cx="155448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Filière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4974336" y="1408176"/>
            <a:ext cx="155448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Vol. AGL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137160" y="1627632"/>
            <a:ext cx="6400800" cy="256032"/>
          </a:xfrm>
          <a:prstGeom prst="rect">
            <a:avLst/>
          </a:prstGeom>
          <a:solidFill>
            <a:srgbClr val="FFF9EC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73736" y="1664208"/>
            <a:ext cx="155448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A7C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CARGILL WEST AFRICA (CACAO)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1773936" y="1664208"/>
            <a:ext cx="155448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3 219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3374136" y="1664208"/>
            <a:ext cx="155448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Cacao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4974336" y="1664208"/>
            <a:ext cx="155448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A7C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9,0%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137160" y="1883664"/>
            <a:ext cx="6400800" cy="256032"/>
          </a:xfrm>
          <a:prstGeom prst="rect">
            <a:avLst/>
          </a:prstGeom>
          <a:solidFill>
            <a:srgbClr val="F8F9FA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73736" y="1920240"/>
            <a:ext cx="155448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JEAN EGLIN (PLANTATION)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1773936" y="1920240"/>
            <a:ext cx="155448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2 500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3374136" y="1920240"/>
            <a:ext cx="155448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Bananes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4974336" y="1920240"/>
            <a:ext cx="155448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6,9%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137160" y="2139696"/>
            <a:ext cx="6400800" cy="256032"/>
          </a:xfrm>
          <a:prstGeom prst="rect">
            <a:avLst/>
          </a:prstGeom>
          <a:solidFill>
            <a:srgbClr val="FFFFFF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73736" y="2176272"/>
            <a:ext cx="155448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AFRICA SOURCING PRODUCE CI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1773936" y="2176272"/>
            <a:ext cx="155448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2 425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3374136" y="2176272"/>
            <a:ext cx="155448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Bananes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4974336" y="2176272"/>
            <a:ext cx="155448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6,7%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137160" y="2395728"/>
            <a:ext cx="6400800" cy="256032"/>
          </a:xfrm>
          <a:prstGeom prst="rect">
            <a:avLst/>
          </a:prstGeom>
          <a:solidFill>
            <a:srgbClr val="F8F9FA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73736" y="2432304"/>
            <a:ext cx="155448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CARGILL COCOA SA (DÉRIVÉS)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1773936" y="2432304"/>
            <a:ext cx="155448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2 264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3374136" y="2432304"/>
            <a:ext cx="155448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Dérivés cacao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4974336" y="2432304"/>
            <a:ext cx="155448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6,3%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137160" y="2651760"/>
            <a:ext cx="6400800" cy="256032"/>
          </a:xfrm>
          <a:prstGeom prst="rect">
            <a:avLst/>
          </a:prstGeom>
          <a:solidFill>
            <a:srgbClr val="FFFFFF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73736" y="2688336"/>
            <a:ext cx="155448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CYRIAN INTERNATIONAL CI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1773936" y="2688336"/>
            <a:ext cx="155448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2 191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3374136" y="2688336"/>
            <a:ext cx="155448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Bananes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4974336" y="2688336"/>
            <a:ext cx="155448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6,1%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137160" y="2907792"/>
            <a:ext cx="6400800" cy="256032"/>
          </a:xfrm>
          <a:prstGeom prst="rect">
            <a:avLst/>
          </a:prstGeom>
          <a:solidFill>
            <a:srgbClr val="F8F9FA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73736" y="2944368"/>
            <a:ext cx="155448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OLAM COCOA PROCESSING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1773936" y="2944368"/>
            <a:ext cx="155448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2 068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3374136" y="2944368"/>
            <a:ext cx="155448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Cacao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4974336" y="2944368"/>
            <a:ext cx="155448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5,7%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137160" y="3163824"/>
            <a:ext cx="6400800" cy="256032"/>
          </a:xfrm>
          <a:prstGeom prst="rect">
            <a:avLst/>
          </a:prstGeom>
          <a:solidFill>
            <a:srgbClr val="FFFFFF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173736" y="3200400"/>
            <a:ext cx="155448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KINEDEN COMMODITIES SA CI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1773936" y="3200400"/>
            <a:ext cx="155448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1 256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3374136" y="3200400"/>
            <a:ext cx="155448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Cacao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4974336" y="3200400"/>
            <a:ext cx="155448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3,5%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137160" y="3419856"/>
            <a:ext cx="6400800" cy="256032"/>
          </a:xfrm>
          <a:prstGeom prst="rect">
            <a:avLst/>
          </a:prstGeom>
          <a:solidFill>
            <a:srgbClr val="F8F9FA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173736" y="3456432"/>
            <a:ext cx="155448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OLAM AGRI RUBBER</a:t>
            </a:r>
            <a:endParaRPr lang="en-US" sz="850" dirty="0"/>
          </a:p>
        </p:txBody>
      </p:sp>
      <p:sp>
        <p:nvSpPr>
          <p:cNvPr id="50" name="Text 48"/>
          <p:cNvSpPr/>
          <p:nvPr/>
        </p:nvSpPr>
        <p:spPr>
          <a:xfrm>
            <a:off x="1773936" y="3456432"/>
            <a:ext cx="155448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1 203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3374136" y="3456432"/>
            <a:ext cx="155448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Caoutchouc</a:t>
            </a:r>
            <a:endParaRPr lang="en-US" sz="850" dirty="0"/>
          </a:p>
        </p:txBody>
      </p:sp>
      <p:sp>
        <p:nvSpPr>
          <p:cNvPr id="52" name="Text 50"/>
          <p:cNvSpPr/>
          <p:nvPr/>
        </p:nvSpPr>
        <p:spPr>
          <a:xfrm>
            <a:off x="4974336" y="3456432"/>
            <a:ext cx="155448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3,3%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137160" y="3675888"/>
            <a:ext cx="6400800" cy="256032"/>
          </a:xfrm>
          <a:prstGeom prst="rect">
            <a:avLst/>
          </a:prstGeom>
          <a:solidFill>
            <a:srgbClr val="FFFFFF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173736" y="3712464"/>
            <a:ext cx="155448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SAPH</a:t>
            </a:r>
            <a:endParaRPr lang="en-US" sz="850" dirty="0"/>
          </a:p>
        </p:txBody>
      </p:sp>
      <p:sp>
        <p:nvSpPr>
          <p:cNvPr id="55" name="Text 53"/>
          <p:cNvSpPr/>
          <p:nvPr/>
        </p:nvSpPr>
        <p:spPr>
          <a:xfrm>
            <a:off x="1773936" y="3712464"/>
            <a:ext cx="155448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1 155</a:t>
            </a:r>
            <a:endParaRPr lang="en-US" sz="850" dirty="0"/>
          </a:p>
        </p:txBody>
      </p:sp>
      <p:sp>
        <p:nvSpPr>
          <p:cNvPr id="56" name="Text 54"/>
          <p:cNvSpPr/>
          <p:nvPr/>
        </p:nvSpPr>
        <p:spPr>
          <a:xfrm>
            <a:off x="3374136" y="3712464"/>
            <a:ext cx="155448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Caoutchouc</a:t>
            </a:r>
            <a:endParaRPr lang="en-US" sz="850" dirty="0"/>
          </a:p>
        </p:txBody>
      </p:sp>
      <p:sp>
        <p:nvSpPr>
          <p:cNvPr id="57" name="Text 55"/>
          <p:cNvSpPr/>
          <p:nvPr/>
        </p:nvSpPr>
        <p:spPr>
          <a:xfrm>
            <a:off x="4974336" y="3712464"/>
            <a:ext cx="155448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3,2%</a:t>
            </a:r>
            <a:endParaRPr lang="en-US" sz="850" dirty="0"/>
          </a:p>
        </p:txBody>
      </p:sp>
      <p:sp>
        <p:nvSpPr>
          <p:cNvPr id="58" name="Shape 56"/>
          <p:cNvSpPr/>
          <p:nvPr/>
        </p:nvSpPr>
        <p:spPr>
          <a:xfrm>
            <a:off x="137160" y="3931920"/>
            <a:ext cx="6400800" cy="256032"/>
          </a:xfrm>
          <a:prstGeom prst="rect">
            <a:avLst/>
          </a:prstGeom>
          <a:solidFill>
            <a:srgbClr val="F8F9FA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173736" y="3968496"/>
            <a:ext cx="155448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IVOIRE COTON</a:t>
            </a:r>
            <a:endParaRPr lang="en-US" sz="850" dirty="0"/>
          </a:p>
        </p:txBody>
      </p:sp>
      <p:sp>
        <p:nvSpPr>
          <p:cNvPr id="60" name="Text 58"/>
          <p:cNvSpPr/>
          <p:nvPr/>
        </p:nvSpPr>
        <p:spPr>
          <a:xfrm>
            <a:off x="1773936" y="3968496"/>
            <a:ext cx="155448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1 092</a:t>
            </a:r>
            <a:endParaRPr lang="en-US" sz="850" dirty="0"/>
          </a:p>
        </p:txBody>
      </p:sp>
      <p:sp>
        <p:nvSpPr>
          <p:cNvPr id="61" name="Text 59"/>
          <p:cNvSpPr/>
          <p:nvPr/>
        </p:nvSpPr>
        <p:spPr>
          <a:xfrm>
            <a:off x="3374136" y="3968496"/>
            <a:ext cx="155448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Coton</a:t>
            </a:r>
            <a:endParaRPr lang="en-US" sz="850" dirty="0"/>
          </a:p>
        </p:txBody>
      </p:sp>
      <p:sp>
        <p:nvSpPr>
          <p:cNvPr id="62" name="Text 60"/>
          <p:cNvSpPr/>
          <p:nvPr/>
        </p:nvSpPr>
        <p:spPr>
          <a:xfrm>
            <a:off x="4974336" y="3968496"/>
            <a:ext cx="155448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3,0%</a:t>
            </a:r>
            <a:endParaRPr lang="en-US" sz="850" dirty="0"/>
          </a:p>
        </p:txBody>
      </p:sp>
      <p:sp>
        <p:nvSpPr>
          <p:cNvPr id="63" name="Shape 61"/>
          <p:cNvSpPr/>
          <p:nvPr/>
        </p:nvSpPr>
        <p:spPr>
          <a:xfrm>
            <a:off x="137160" y="4892040"/>
            <a:ext cx="6400800" cy="914400"/>
          </a:xfrm>
          <a:prstGeom prst="rect">
            <a:avLst/>
          </a:prstGeom>
          <a:solidFill>
            <a:srgbClr val="FFFBEC"/>
          </a:solidFill>
          <a:ln w="6350">
            <a:solidFill>
              <a:srgbClr val="E5C97A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228600" y="4965192"/>
            <a:ext cx="62179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Cargill groupe (Cacao + Dérivés) = 15,3% du volume AGL TEM. Concentration filière cacao à surveiller.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Bananes (74% PDM) : JEAN EGLIN, AFRICA SOURCING, CYRIAN = 3 chargeurs = 23,1% du volume. Fidélisation critique.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Cajou (5,4% PDM, 13 129 TEU marché) : objectif +860 TEU via approche commerciale OUTSPAN CI, STE IVOIRIENNE NOIX.</a:t>
            </a:r>
            <a:endParaRPr lang="en-US" sz="900" dirty="0"/>
          </a:p>
        </p:txBody>
      </p:sp>
      <p:sp>
        <p:nvSpPr>
          <p:cNvPr id="65" name="Text 63"/>
          <p:cNvSpPr/>
          <p:nvPr/>
        </p:nvSpPr>
        <p:spPr>
          <a:xfrm>
            <a:off x="6675120" y="1097280"/>
            <a:ext cx="5303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Répartition AGL par filière export – TEM</a:t>
            </a:r>
            <a:endParaRPr lang="en-US" sz="1100" dirty="0"/>
          </a:p>
        </p:txBody>
      </p:sp>
      <p:graphicFrame>
        <p:nvGraphicFramePr>
          <p:cNvPr id="66" name="Chart 0" descr=""/>
          <p:cNvGraphicFramePr/>
          <p:nvPr/>
        </p:nvGraphicFramePr>
        <p:xfrm>
          <a:off x="6675120" y="1371600"/>
          <a:ext cx="5303520" cy="4114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D2243"/>
          </a:solidFill>
          <a:ln/>
        </p:spPr>
      </p:sp>
      <p:sp>
        <p:nvSpPr>
          <p:cNvPr id="3" name="Text 1"/>
          <p:cNvSpPr/>
          <p:nvPr/>
        </p:nvSpPr>
        <p:spPr>
          <a:xfrm>
            <a:off x="228600" y="45720"/>
            <a:ext cx="11887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 – NOUVEAUX CHARGEURS &amp; NOUVELLES FILIÈRES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228600" y="548640"/>
            <a:ext cx="11430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Chargeurs entrés en 2026  |  Nouvelles filières export AGL  |  Opportunité Cajou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82880" y="6583680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Africa Global Logistics – Étude de Marché Jan–Mai 2026  |  p.11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430000" y="653796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AGL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228600" y="1097280"/>
            <a:ext cx="5943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Nouveaux chargeurs AGL – TEM 2026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37160" y="1371600"/>
            <a:ext cx="6217920" cy="256032"/>
          </a:xfrm>
          <a:prstGeom prst="rect">
            <a:avLst/>
          </a:prstGeom>
          <a:solidFill>
            <a:srgbClr val="0D2243"/>
          </a:solidFill>
          <a:ln/>
        </p:spPr>
      </p:sp>
      <p:sp>
        <p:nvSpPr>
          <p:cNvPr id="9" name="Text 7"/>
          <p:cNvSpPr/>
          <p:nvPr/>
        </p:nvSpPr>
        <p:spPr>
          <a:xfrm>
            <a:off x="173736" y="1408176"/>
            <a:ext cx="1508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Chargeur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1728216" y="1408176"/>
            <a:ext cx="1508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TEU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3282696" y="1408176"/>
            <a:ext cx="1508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Filière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4837176" y="1408176"/>
            <a:ext cx="1508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Entrée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137160" y="1627632"/>
            <a:ext cx="6217920" cy="256032"/>
          </a:xfrm>
          <a:prstGeom prst="rect">
            <a:avLst/>
          </a:prstGeom>
          <a:solidFill>
            <a:srgbClr val="FFF9EC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73736" y="1664208"/>
            <a:ext cx="1508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A7C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CI-ÉNERGIES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1728216" y="1664208"/>
            <a:ext cx="1508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890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3282696" y="1664208"/>
            <a:ext cx="1508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Caoutchouc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4837176" y="1664208"/>
            <a:ext cx="1508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A7C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2026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137160" y="1883664"/>
            <a:ext cx="6217920" cy="256032"/>
          </a:xfrm>
          <a:prstGeom prst="rect">
            <a:avLst/>
          </a:prstGeom>
          <a:solidFill>
            <a:srgbClr val="F8F9FA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73736" y="1920240"/>
            <a:ext cx="1508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SITA GROUP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1728216" y="1920240"/>
            <a:ext cx="1508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760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3282696" y="1920240"/>
            <a:ext cx="1508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Mangue / Fruits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4837176" y="1920240"/>
            <a:ext cx="1508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2026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137160" y="2139696"/>
            <a:ext cx="6217920" cy="256032"/>
          </a:xfrm>
          <a:prstGeom prst="rect">
            <a:avLst/>
          </a:prstGeom>
          <a:solidFill>
            <a:srgbClr val="FFFFFF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73736" y="2176272"/>
            <a:ext cx="1508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COOPERX CAJOU CI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1728216" y="2176272"/>
            <a:ext cx="1508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640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3282696" y="2176272"/>
            <a:ext cx="1508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Noix de Cajou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4837176" y="2176272"/>
            <a:ext cx="1508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 2026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137160" y="2395728"/>
            <a:ext cx="6217920" cy="256032"/>
          </a:xfrm>
          <a:prstGeom prst="rect">
            <a:avLst/>
          </a:prstGeom>
          <a:solidFill>
            <a:srgbClr val="F8F9FA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73736" y="2432304"/>
            <a:ext cx="1508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 INDUSTRIE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1728216" y="2432304"/>
            <a:ext cx="1508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520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3282696" y="2432304"/>
            <a:ext cx="1508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Caoutchouc usiné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4837176" y="2432304"/>
            <a:ext cx="1508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 2026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137160" y="2651760"/>
            <a:ext cx="6217920" cy="256032"/>
          </a:xfrm>
          <a:prstGeom prst="rect">
            <a:avLst/>
          </a:prstGeom>
          <a:solidFill>
            <a:srgbClr val="FFFFFF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73736" y="2688336"/>
            <a:ext cx="1508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OLAM PALM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1728216" y="2688336"/>
            <a:ext cx="1508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410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3282696" y="2688336"/>
            <a:ext cx="1508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Huile de Palme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4837176" y="2688336"/>
            <a:ext cx="1508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2026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6492240" y="1097280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Nouvelles filières export – PDM AGL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6492240" y="1389888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HUILE DE PALME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8156448" y="1389888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Mkt: 1 420 TEU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9052560" y="1426464"/>
            <a:ext cx="2743200" cy="164592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42" name="Shape 40"/>
          <p:cNvSpPr/>
          <p:nvPr/>
        </p:nvSpPr>
        <p:spPr>
          <a:xfrm>
            <a:off x="9052560" y="1426464"/>
            <a:ext cx="219456" cy="164592"/>
          </a:xfrm>
          <a:prstGeom prst="rect">
            <a:avLst/>
          </a:prstGeom>
          <a:solidFill>
            <a:srgbClr val="CC2200"/>
          </a:solidFill>
          <a:ln/>
        </p:spPr>
      </p:sp>
      <p:sp>
        <p:nvSpPr>
          <p:cNvPr id="43" name="Text 41"/>
          <p:cNvSpPr/>
          <p:nvPr/>
        </p:nvSpPr>
        <p:spPr>
          <a:xfrm>
            <a:off x="11841480" y="1389888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C2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8%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6492240" y="1773936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COLA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8156448" y="1773936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Mkt: 980 TEU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9052560" y="1810512"/>
            <a:ext cx="2743200" cy="164592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47" name="Shape 45"/>
          <p:cNvSpPr/>
          <p:nvPr/>
        </p:nvSpPr>
        <p:spPr>
          <a:xfrm>
            <a:off x="9052560" y="1810512"/>
            <a:ext cx="329184" cy="164592"/>
          </a:xfrm>
          <a:prstGeom prst="rect">
            <a:avLst/>
          </a:prstGeom>
          <a:solidFill>
            <a:srgbClr val="E05A00"/>
          </a:solidFill>
          <a:ln/>
        </p:spPr>
      </p:sp>
      <p:sp>
        <p:nvSpPr>
          <p:cNvPr id="48" name="Text 46"/>
          <p:cNvSpPr/>
          <p:nvPr/>
        </p:nvSpPr>
        <p:spPr>
          <a:xfrm>
            <a:off x="11841480" y="1773936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0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12%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2243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0" y="457200"/>
            <a:ext cx="54864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0000" dirty="0"/>
          </a:p>
        </p:txBody>
      </p:sp>
      <p:sp>
        <p:nvSpPr>
          <p:cNvPr id="4" name="Shape 2"/>
          <p:cNvSpPr/>
          <p:nvPr/>
        </p:nvSpPr>
        <p:spPr>
          <a:xfrm>
            <a:off x="1097280" y="3520440"/>
            <a:ext cx="7498080" cy="59436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2651760"/>
            <a:ext cx="11430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HINTERLAND IMPORT MARITIME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365760" y="3657600"/>
            <a:ext cx="11430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28 457 TEU qualifiés  |  AGL #3 – PDM 11,3%  |  Objectif : rang #2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828800" y="649224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Africa Global Logistics – Étude de Marché Jan–Mai 2026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430000" y="6473952"/>
            <a:ext cx="640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AGL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D2243"/>
          </a:solidFill>
          <a:ln/>
        </p:spPr>
      </p:sp>
      <p:sp>
        <p:nvSpPr>
          <p:cNvPr id="3" name="Text 1"/>
          <p:cNvSpPr/>
          <p:nvPr/>
        </p:nvSpPr>
        <p:spPr>
          <a:xfrm>
            <a:off x="228600" y="45720"/>
            <a:ext cx="11887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HINTERLAND IMPORT – VUE D'ENSEMBLE  |  Jan–Mai 2026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228600" y="548640"/>
            <a:ext cx="11430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Marché qualifié : 28 457 TEU  |  AGL : 3 214 TEU  |  PDM : 11,3%  |  Rang : #3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82880" y="6583680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Africa Global Logistics – Étude de Marché Jan–Mai 2026  |  p.12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430000" y="653796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AGL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137160" y="1097280"/>
            <a:ext cx="2291486" cy="868680"/>
          </a:xfrm>
          <a:prstGeom prst="rect">
            <a:avLst/>
          </a:prstGeom>
          <a:solidFill>
            <a:srgbClr val="F0F2F5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37160" y="1143000"/>
            <a:ext cx="229148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MARCHÉ QUALIFIÉ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37160" y="1316736"/>
            <a:ext cx="229148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D22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28 457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37160" y="1719072"/>
            <a:ext cx="229148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TEU Jan–Mai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2520086" y="1097280"/>
            <a:ext cx="2291486" cy="868680"/>
          </a:xfrm>
          <a:prstGeom prst="rect">
            <a:avLst/>
          </a:prstGeom>
          <a:solidFill>
            <a:srgbClr val="F0F2F5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520086" y="1143000"/>
            <a:ext cx="229148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 AGL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2520086" y="1316736"/>
            <a:ext cx="229148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D22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3 214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2520086" y="1719072"/>
            <a:ext cx="229148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TEU Jan–Mai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4903013" y="1097280"/>
            <a:ext cx="2291486" cy="868680"/>
          </a:xfrm>
          <a:prstGeom prst="rect">
            <a:avLst/>
          </a:prstGeom>
          <a:solidFill>
            <a:srgbClr val="F0F2F5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903013" y="1143000"/>
            <a:ext cx="229148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PDM AGL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4903013" y="1316736"/>
            <a:ext cx="229148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0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11,3 %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4903013" y="1719072"/>
            <a:ext cx="229148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#3 – Progression vs brut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7285939" y="1097280"/>
            <a:ext cx="2291486" cy="868680"/>
          </a:xfrm>
          <a:prstGeom prst="rect">
            <a:avLst/>
          </a:prstGeom>
          <a:solidFill>
            <a:srgbClr val="F0F2F5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285939" y="1143000"/>
            <a:ext cx="229148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LEADER UCT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7285939" y="1316736"/>
            <a:ext cx="229148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C2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26,6 %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7285939" y="1719072"/>
            <a:ext cx="229148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7 559 TEU – Écart ×2,4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9668866" y="1097280"/>
            <a:ext cx="2291486" cy="868680"/>
          </a:xfrm>
          <a:prstGeom prst="rect">
            <a:avLst/>
          </a:prstGeom>
          <a:solidFill>
            <a:srgbClr val="F0F2F5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668866" y="1143000"/>
            <a:ext cx="229148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PDM JANV. (PEAK)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9668866" y="1316736"/>
            <a:ext cx="229148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56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16,4 %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9668866" y="1719072"/>
            <a:ext cx="229148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Meilleure PDM période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228600" y="2084832"/>
            <a:ext cx="5943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Évolution mensuelle marché qualifié &amp; AGL – Hinterland Import</a:t>
            </a:r>
            <a:endParaRPr lang="en-US" sz="1100" dirty="0"/>
          </a:p>
        </p:txBody>
      </p:sp>
      <p:graphicFrame>
        <p:nvGraphicFramePr>
          <p:cNvPr id="28" name="Chart 0" descr=""/>
          <p:cNvGraphicFramePr/>
          <p:nvPr/>
        </p:nvGraphicFramePr>
        <p:xfrm>
          <a:off x="137160" y="2331720"/>
          <a:ext cx="6217920" cy="3474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9" name="Text 26"/>
          <p:cNvSpPr/>
          <p:nvPr/>
        </p:nvSpPr>
        <p:spPr>
          <a:xfrm>
            <a:off x="6492240" y="2084832"/>
            <a:ext cx="5303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PDM AGL par mois – Hinterland Import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6492240" y="2395728"/>
            <a:ext cx="5486400" cy="475488"/>
          </a:xfrm>
          <a:prstGeom prst="rect">
            <a:avLst/>
          </a:prstGeom>
          <a:solidFill>
            <a:srgbClr val="F8FAFC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6601968" y="2523744"/>
            <a:ext cx="777240" cy="27432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Janvier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7452360" y="2523744"/>
            <a:ext cx="2560320" cy="201168"/>
          </a:xfrm>
          <a:prstGeom prst="rect">
            <a:avLst/>
          </a:prstGeom>
          <a:solidFill>
            <a:srgbClr val="D1D5DB"/>
          </a:solidFill>
          <a:ln/>
        </p:spPr>
      </p:sp>
      <p:sp>
        <p:nvSpPr>
          <p:cNvPr id="33" name="Shape 30"/>
          <p:cNvSpPr/>
          <p:nvPr/>
        </p:nvSpPr>
        <p:spPr>
          <a:xfrm>
            <a:off x="7452360" y="2523744"/>
            <a:ext cx="2560320" cy="201168"/>
          </a:xfrm>
          <a:prstGeom prst="rect">
            <a:avLst/>
          </a:prstGeom>
          <a:solidFill>
            <a:srgbClr val="1A7C4F"/>
          </a:solidFill>
          <a:ln/>
        </p:spPr>
      </p:sp>
      <p:sp>
        <p:nvSpPr>
          <p:cNvPr id="34" name="Text 31"/>
          <p:cNvSpPr/>
          <p:nvPr/>
        </p:nvSpPr>
        <p:spPr>
          <a:xfrm>
            <a:off x="10085832" y="2487168"/>
            <a:ext cx="868680" cy="27432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A7C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16,4 %</a:t>
            </a:r>
            <a:endParaRPr lang="en-US" sz="1100" dirty="0"/>
          </a:p>
        </p:txBody>
      </p:sp>
      <p:sp>
        <p:nvSpPr>
          <p:cNvPr id="35" name="Shape 32"/>
          <p:cNvSpPr/>
          <p:nvPr/>
        </p:nvSpPr>
        <p:spPr>
          <a:xfrm>
            <a:off x="6492240" y="2926080"/>
            <a:ext cx="5486400" cy="475488"/>
          </a:xfrm>
          <a:prstGeom prst="rect">
            <a:avLst/>
          </a:prstGeom>
          <a:solidFill>
            <a:srgbClr val="F8FAFC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6601968" y="3054096"/>
            <a:ext cx="777240" cy="27432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Février</a:t>
            </a:r>
            <a:endParaRPr lang="en-US" sz="1100" dirty="0"/>
          </a:p>
        </p:txBody>
      </p:sp>
      <p:sp>
        <p:nvSpPr>
          <p:cNvPr id="37" name="Shape 34"/>
          <p:cNvSpPr/>
          <p:nvPr/>
        </p:nvSpPr>
        <p:spPr>
          <a:xfrm>
            <a:off x="7452360" y="3054096"/>
            <a:ext cx="2560320" cy="201168"/>
          </a:xfrm>
          <a:prstGeom prst="rect">
            <a:avLst/>
          </a:prstGeom>
          <a:solidFill>
            <a:srgbClr val="D1D5DB"/>
          </a:solidFill>
          <a:ln/>
        </p:spPr>
      </p:sp>
      <p:sp>
        <p:nvSpPr>
          <p:cNvPr id="38" name="Shape 35"/>
          <p:cNvSpPr/>
          <p:nvPr/>
        </p:nvSpPr>
        <p:spPr>
          <a:xfrm>
            <a:off x="7452360" y="3054096"/>
            <a:ext cx="1608006" cy="201168"/>
          </a:xfrm>
          <a:prstGeom prst="rect">
            <a:avLst/>
          </a:prstGeom>
          <a:solidFill>
            <a:srgbClr val="E05A00"/>
          </a:solidFill>
          <a:ln/>
        </p:spPr>
      </p:sp>
      <p:sp>
        <p:nvSpPr>
          <p:cNvPr id="39" name="Text 36"/>
          <p:cNvSpPr/>
          <p:nvPr/>
        </p:nvSpPr>
        <p:spPr>
          <a:xfrm>
            <a:off x="10085832" y="3017520"/>
            <a:ext cx="868680" cy="27432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E0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10,3 %</a:t>
            </a:r>
            <a:endParaRPr lang="en-US" sz="1100" dirty="0"/>
          </a:p>
        </p:txBody>
      </p:sp>
      <p:sp>
        <p:nvSpPr>
          <p:cNvPr id="40" name="Shape 37"/>
          <p:cNvSpPr/>
          <p:nvPr/>
        </p:nvSpPr>
        <p:spPr>
          <a:xfrm>
            <a:off x="6492240" y="3456432"/>
            <a:ext cx="5486400" cy="475488"/>
          </a:xfrm>
          <a:prstGeom prst="rect">
            <a:avLst/>
          </a:prstGeom>
          <a:solidFill>
            <a:srgbClr val="F8FAFC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6601968" y="3584448"/>
            <a:ext cx="777240" cy="27432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Mars</a:t>
            </a:r>
            <a:endParaRPr lang="en-US" sz="1100" dirty="0"/>
          </a:p>
        </p:txBody>
      </p:sp>
      <p:sp>
        <p:nvSpPr>
          <p:cNvPr id="42" name="Shape 39"/>
          <p:cNvSpPr/>
          <p:nvPr/>
        </p:nvSpPr>
        <p:spPr>
          <a:xfrm>
            <a:off x="7452360" y="3584448"/>
            <a:ext cx="2560320" cy="201168"/>
          </a:xfrm>
          <a:prstGeom prst="rect">
            <a:avLst/>
          </a:prstGeom>
          <a:solidFill>
            <a:srgbClr val="D1D5DB"/>
          </a:solidFill>
          <a:ln/>
        </p:spPr>
      </p:sp>
      <p:sp>
        <p:nvSpPr>
          <p:cNvPr id="43" name="Shape 40"/>
          <p:cNvSpPr/>
          <p:nvPr/>
        </p:nvSpPr>
        <p:spPr>
          <a:xfrm>
            <a:off x="7452360" y="3584448"/>
            <a:ext cx="1202101" cy="201168"/>
          </a:xfrm>
          <a:prstGeom prst="rect">
            <a:avLst/>
          </a:prstGeom>
          <a:solidFill>
            <a:srgbClr val="E05A00"/>
          </a:solidFill>
          <a:ln/>
        </p:spPr>
      </p:sp>
      <p:sp>
        <p:nvSpPr>
          <p:cNvPr id="44" name="Text 41"/>
          <p:cNvSpPr/>
          <p:nvPr/>
        </p:nvSpPr>
        <p:spPr>
          <a:xfrm>
            <a:off x="10085832" y="3547872"/>
            <a:ext cx="868680" cy="27432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E0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7,7 %</a:t>
            </a:r>
            <a:endParaRPr lang="en-US" sz="1100" dirty="0"/>
          </a:p>
        </p:txBody>
      </p:sp>
      <p:sp>
        <p:nvSpPr>
          <p:cNvPr id="45" name="Shape 42"/>
          <p:cNvSpPr/>
          <p:nvPr/>
        </p:nvSpPr>
        <p:spPr>
          <a:xfrm>
            <a:off x="6492240" y="3986784"/>
            <a:ext cx="5486400" cy="475488"/>
          </a:xfrm>
          <a:prstGeom prst="rect">
            <a:avLst/>
          </a:prstGeom>
          <a:solidFill>
            <a:srgbClr val="F8FAFC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>
            <a:off x="6601968" y="4114800"/>
            <a:ext cx="777240" cy="27432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Avril</a:t>
            </a:r>
            <a:endParaRPr lang="en-US" sz="1100" dirty="0"/>
          </a:p>
        </p:txBody>
      </p:sp>
      <p:sp>
        <p:nvSpPr>
          <p:cNvPr id="47" name="Shape 44"/>
          <p:cNvSpPr/>
          <p:nvPr/>
        </p:nvSpPr>
        <p:spPr>
          <a:xfrm>
            <a:off x="7452360" y="4114800"/>
            <a:ext cx="2560320" cy="201168"/>
          </a:xfrm>
          <a:prstGeom prst="rect">
            <a:avLst/>
          </a:prstGeom>
          <a:solidFill>
            <a:srgbClr val="D1D5DB"/>
          </a:solidFill>
          <a:ln/>
        </p:spPr>
      </p:sp>
      <p:sp>
        <p:nvSpPr>
          <p:cNvPr id="48" name="Shape 45"/>
          <p:cNvSpPr/>
          <p:nvPr/>
        </p:nvSpPr>
        <p:spPr>
          <a:xfrm>
            <a:off x="7452360" y="4114800"/>
            <a:ext cx="1670453" cy="201168"/>
          </a:xfrm>
          <a:prstGeom prst="rect">
            <a:avLst/>
          </a:prstGeom>
          <a:solidFill>
            <a:srgbClr val="E05A00"/>
          </a:solidFill>
          <a:ln/>
        </p:spPr>
      </p:sp>
      <p:sp>
        <p:nvSpPr>
          <p:cNvPr id="49" name="Text 46"/>
          <p:cNvSpPr/>
          <p:nvPr/>
        </p:nvSpPr>
        <p:spPr>
          <a:xfrm>
            <a:off x="10085832" y="4078224"/>
            <a:ext cx="868680" cy="27432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E0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10,7 %</a:t>
            </a:r>
            <a:endParaRPr lang="en-US" sz="1100" dirty="0"/>
          </a:p>
        </p:txBody>
      </p:sp>
      <p:sp>
        <p:nvSpPr>
          <p:cNvPr id="50" name="Shape 47"/>
          <p:cNvSpPr/>
          <p:nvPr/>
        </p:nvSpPr>
        <p:spPr>
          <a:xfrm>
            <a:off x="6492240" y="4517136"/>
            <a:ext cx="5486400" cy="475488"/>
          </a:xfrm>
          <a:prstGeom prst="rect">
            <a:avLst/>
          </a:prstGeom>
          <a:solidFill>
            <a:srgbClr val="F8FAFC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51" name="Text 48"/>
          <p:cNvSpPr/>
          <p:nvPr/>
        </p:nvSpPr>
        <p:spPr>
          <a:xfrm>
            <a:off x="6601968" y="4645152"/>
            <a:ext cx="777240" cy="27432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</a:t>
            </a:r>
            <a:endParaRPr lang="en-US" sz="1100" dirty="0"/>
          </a:p>
        </p:txBody>
      </p:sp>
      <p:sp>
        <p:nvSpPr>
          <p:cNvPr id="52" name="Shape 49"/>
          <p:cNvSpPr/>
          <p:nvPr/>
        </p:nvSpPr>
        <p:spPr>
          <a:xfrm>
            <a:off x="7452360" y="4645152"/>
            <a:ext cx="2560320" cy="201168"/>
          </a:xfrm>
          <a:prstGeom prst="rect">
            <a:avLst/>
          </a:prstGeom>
          <a:solidFill>
            <a:srgbClr val="D1D5DB"/>
          </a:solidFill>
          <a:ln/>
        </p:spPr>
      </p:sp>
      <p:sp>
        <p:nvSpPr>
          <p:cNvPr id="53" name="Shape 50"/>
          <p:cNvSpPr/>
          <p:nvPr/>
        </p:nvSpPr>
        <p:spPr>
          <a:xfrm>
            <a:off x="7452360" y="4645152"/>
            <a:ext cx="1686064" cy="201168"/>
          </a:xfrm>
          <a:prstGeom prst="rect">
            <a:avLst/>
          </a:prstGeom>
          <a:solidFill>
            <a:srgbClr val="E05A00"/>
          </a:solidFill>
          <a:ln/>
        </p:spPr>
      </p:sp>
      <p:sp>
        <p:nvSpPr>
          <p:cNvPr id="54" name="Text 51"/>
          <p:cNvSpPr/>
          <p:nvPr/>
        </p:nvSpPr>
        <p:spPr>
          <a:xfrm>
            <a:off x="10085832" y="4608576"/>
            <a:ext cx="868680" cy="27432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E0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10,8 %</a:t>
            </a:r>
            <a:endParaRPr lang="en-US" sz="1100" dirty="0"/>
          </a:p>
        </p:txBody>
      </p:sp>
      <p:sp>
        <p:nvSpPr>
          <p:cNvPr id="55" name="Text 52"/>
          <p:cNvSpPr/>
          <p:nvPr/>
        </p:nvSpPr>
        <p:spPr>
          <a:xfrm>
            <a:off x="137160" y="5897880"/>
            <a:ext cx="1188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Destinations : Bamako 55,5% (17 407 TEU) | Ouagadougou 40,0% (12 549 TEU) | Bobo-Dioulasso 2,1%</a:t>
            </a:r>
            <a:endParaRPr lang="en-US" sz="900" dirty="0"/>
          </a:p>
        </p:txBody>
      </p:sp>
      <p:sp>
        <p:nvSpPr>
          <p:cNvPr id="56" name="Text 53"/>
          <p:cNvSpPr/>
          <p:nvPr/>
        </p:nvSpPr>
        <p:spPr>
          <a:xfrm>
            <a:off x="137160" y="6126480"/>
            <a:ext cx="1188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Origines : Chine 55,5% | Indonésie 7,1% | Inde 6,8%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D2243"/>
          </a:solidFill>
          <a:ln/>
        </p:spPr>
      </p:sp>
      <p:sp>
        <p:nvSpPr>
          <p:cNvPr id="3" name="Text 1"/>
          <p:cNvSpPr/>
          <p:nvPr/>
        </p:nvSpPr>
        <p:spPr>
          <a:xfrm>
            <a:off x="228600" y="45720"/>
            <a:ext cx="11887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HINTERLAND IMPORT – CONCURRENTS &amp; SEGMENTS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228600" y="548640"/>
            <a:ext cx="11430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UCT &amp; Sitracom dominent  |  AGL en reconquête  |  Cibles prioritaires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82880" y="6583680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Africa Global Logistics – Étude de Marché Jan–Mai 2026  |  p.13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430000" y="653796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AGL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228600" y="1097280"/>
            <a:ext cx="5943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Classement transitaires – Hinterland Import (qualifié)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37160" y="1371600"/>
            <a:ext cx="6217920" cy="256032"/>
          </a:xfrm>
          <a:prstGeom prst="rect">
            <a:avLst/>
          </a:prstGeom>
          <a:solidFill>
            <a:srgbClr val="0D2243"/>
          </a:solidFill>
          <a:ln/>
        </p:spPr>
      </p:sp>
      <p:sp>
        <p:nvSpPr>
          <p:cNvPr id="9" name="Text 7"/>
          <p:cNvSpPr/>
          <p:nvPr/>
        </p:nvSpPr>
        <p:spPr>
          <a:xfrm>
            <a:off x="173736" y="1408176"/>
            <a:ext cx="365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585216" y="1408176"/>
            <a:ext cx="1889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Transitaire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2520696" y="1408176"/>
            <a:ext cx="1889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TEU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4456176" y="1408176"/>
            <a:ext cx="1889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PDM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137160" y="1627632"/>
            <a:ext cx="6217920" cy="256032"/>
          </a:xfrm>
          <a:prstGeom prst="rect">
            <a:avLst/>
          </a:prstGeom>
          <a:solidFill>
            <a:srgbClr val="FFFFFF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73736" y="1664208"/>
            <a:ext cx="365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#1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585216" y="1664208"/>
            <a:ext cx="1889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A7C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UNION CENTER TRANSIT CI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2520696" y="1664208"/>
            <a:ext cx="1889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7 559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4456176" y="1664208"/>
            <a:ext cx="1889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26,6 %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137160" y="1883664"/>
            <a:ext cx="6217920" cy="256032"/>
          </a:xfrm>
          <a:prstGeom prst="rect">
            <a:avLst/>
          </a:prstGeom>
          <a:solidFill>
            <a:srgbClr val="F8F9FA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73736" y="1920240"/>
            <a:ext cx="365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#2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585216" y="1920240"/>
            <a:ext cx="1889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SITRACOM CI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2520696" y="1920240"/>
            <a:ext cx="1889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7 208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4456176" y="1920240"/>
            <a:ext cx="1889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25,3 %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137160" y="2139696"/>
            <a:ext cx="6217920" cy="256032"/>
          </a:xfrm>
          <a:prstGeom prst="rect">
            <a:avLst/>
          </a:prstGeom>
          <a:solidFill>
            <a:srgbClr val="FFF9EC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73736" y="2176272"/>
            <a:ext cx="365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#3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585216" y="2176272"/>
            <a:ext cx="1889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AFRICA GLOBAL LOGISTICS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2520696" y="2176272"/>
            <a:ext cx="1889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3 214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4456176" y="2176272"/>
            <a:ext cx="1889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A7C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11,3 %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137160" y="2395728"/>
            <a:ext cx="6217920" cy="256032"/>
          </a:xfrm>
          <a:prstGeom prst="rect">
            <a:avLst/>
          </a:prstGeom>
          <a:solidFill>
            <a:srgbClr val="F8F9FA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73736" y="2432304"/>
            <a:ext cx="365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#4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585216" y="2432304"/>
            <a:ext cx="1889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ECOTRAM CI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2520696" y="2432304"/>
            <a:ext cx="1889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1 249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4456176" y="2432304"/>
            <a:ext cx="1889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4,4 %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137160" y="2651760"/>
            <a:ext cx="6217920" cy="256032"/>
          </a:xfrm>
          <a:prstGeom prst="rect">
            <a:avLst/>
          </a:prstGeom>
          <a:solidFill>
            <a:srgbClr val="FFFFFF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73736" y="2688336"/>
            <a:ext cx="365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#5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585216" y="2688336"/>
            <a:ext cx="1889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CEVA LOGISTICS CI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2520696" y="2688336"/>
            <a:ext cx="1889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1 242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4456176" y="2688336"/>
            <a:ext cx="1889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4,4 %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137160" y="2907792"/>
            <a:ext cx="6217920" cy="256032"/>
          </a:xfrm>
          <a:prstGeom prst="rect">
            <a:avLst/>
          </a:prstGeom>
          <a:solidFill>
            <a:srgbClr val="F8F9FA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73736" y="2944368"/>
            <a:ext cx="365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#6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585216" y="2944368"/>
            <a:ext cx="1889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MAERSK LOGISTIC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2520696" y="2944368"/>
            <a:ext cx="1889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1 062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4456176" y="2944368"/>
            <a:ext cx="1889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3,7 %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137160" y="3163824"/>
            <a:ext cx="6217920" cy="256032"/>
          </a:xfrm>
          <a:prstGeom prst="rect">
            <a:avLst/>
          </a:prstGeom>
          <a:solidFill>
            <a:srgbClr val="FFFFFF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173736" y="3200400"/>
            <a:ext cx="365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#7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585216" y="3200400"/>
            <a:ext cx="1889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FM GENERAL SERVICES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2520696" y="3200400"/>
            <a:ext cx="1889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955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4456176" y="3200400"/>
            <a:ext cx="1889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3,4 %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137160" y="3419856"/>
            <a:ext cx="6217920" cy="256032"/>
          </a:xfrm>
          <a:prstGeom prst="rect">
            <a:avLst/>
          </a:prstGeom>
          <a:solidFill>
            <a:srgbClr val="F8F9FA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173736" y="3456432"/>
            <a:ext cx="365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#8</a:t>
            </a:r>
            <a:endParaRPr lang="en-US" sz="850" dirty="0"/>
          </a:p>
        </p:txBody>
      </p:sp>
      <p:sp>
        <p:nvSpPr>
          <p:cNvPr id="50" name="Text 48"/>
          <p:cNvSpPr/>
          <p:nvPr/>
        </p:nvSpPr>
        <p:spPr>
          <a:xfrm>
            <a:off x="585216" y="3456432"/>
            <a:ext cx="1889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EBURNEENE LOG. TRANSIT.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2520696" y="3456432"/>
            <a:ext cx="1889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928</a:t>
            </a:r>
            <a:endParaRPr lang="en-US" sz="850" dirty="0"/>
          </a:p>
        </p:txBody>
      </p:sp>
      <p:sp>
        <p:nvSpPr>
          <p:cNvPr id="52" name="Text 50"/>
          <p:cNvSpPr/>
          <p:nvPr/>
        </p:nvSpPr>
        <p:spPr>
          <a:xfrm>
            <a:off x="4456176" y="3456432"/>
            <a:ext cx="1889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3,3 %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137160" y="3675888"/>
            <a:ext cx="6217920" cy="256032"/>
          </a:xfrm>
          <a:prstGeom prst="rect">
            <a:avLst/>
          </a:prstGeom>
          <a:solidFill>
            <a:srgbClr val="FFFFFF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173736" y="3712464"/>
            <a:ext cx="365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#9</a:t>
            </a:r>
            <a:endParaRPr lang="en-US" sz="850" dirty="0"/>
          </a:p>
        </p:txBody>
      </p:sp>
      <p:sp>
        <p:nvSpPr>
          <p:cNvPr id="55" name="Text 53"/>
          <p:cNvSpPr/>
          <p:nvPr/>
        </p:nvSpPr>
        <p:spPr>
          <a:xfrm>
            <a:off x="585216" y="3712464"/>
            <a:ext cx="1889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SOCOCIB TRANSIT</a:t>
            </a:r>
            <a:endParaRPr lang="en-US" sz="850" dirty="0"/>
          </a:p>
        </p:txBody>
      </p:sp>
      <p:sp>
        <p:nvSpPr>
          <p:cNvPr id="56" name="Text 54"/>
          <p:cNvSpPr/>
          <p:nvPr/>
        </p:nvSpPr>
        <p:spPr>
          <a:xfrm>
            <a:off x="2520696" y="3712464"/>
            <a:ext cx="1889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886</a:t>
            </a:r>
            <a:endParaRPr lang="en-US" sz="850" dirty="0"/>
          </a:p>
        </p:txBody>
      </p:sp>
      <p:sp>
        <p:nvSpPr>
          <p:cNvPr id="57" name="Text 55"/>
          <p:cNvSpPr/>
          <p:nvPr/>
        </p:nvSpPr>
        <p:spPr>
          <a:xfrm>
            <a:off x="4456176" y="3712464"/>
            <a:ext cx="1889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3,1 %</a:t>
            </a:r>
            <a:endParaRPr lang="en-US" sz="850" dirty="0"/>
          </a:p>
        </p:txBody>
      </p:sp>
      <p:sp>
        <p:nvSpPr>
          <p:cNvPr id="58" name="Shape 56"/>
          <p:cNvSpPr/>
          <p:nvPr/>
        </p:nvSpPr>
        <p:spPr>
          <a:xfrm>
            <a:off x="137160" y="3931920"/>
            <a:ext cx="6217920" cy="256032"/>
          </a:xfrm>
          <a:prstGeom prst="rect">
            <a:avLst/>
          </a:prstGeom>
          <a:solidFill>
            <a:srgbClr val="F8F9FA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173736" y="3968496"/>
            <a:ext cx="365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#10</a:t>
            </a:r>
            <a:endParaRPr lang="en-US" sz="850" dirty="0"/>
          </a:p>
        </p:txBody>
      </p:sp>
      <p:sp>
        <p:nvSpPr>
          <p:cNvPr id="60" name="Text 58"/>
          <p:cNvSpPr/>
          <p:nvPr/>
        </p:nvSpPr>
        <p:spPr>
          <a:xfrm>
            <a:off x="585216" y="3968496"/>
            <a:ext cx="1889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MEDLOG CI</a:t>
            </a:r>
            <a:endParaRPr lang="en-US" sz="850" dirty="0"/>
          </a:p>
        </p:txBody>
      </p:sp>
      <p:sp>
        <p:nvSpPr>
          <p:cNvPr id="61" name="Text 59"/>
          <p:cNvSpPr/>
          <p:nvPr/>
        </p:nvSpPr>
        <p:spPr>
          <a:xfrm>
            <a:off x="2520696" y="3968496"/>
            <a:ext cx="1889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855</a:t>
            </a:r>
            <a:endParaRPr lang="en-US" sz="850" dirty="0"/>
          </a:p>
        </p:txBody>
      </p:sp>
      <p:sp>
        <p:nvSpPr>
          <p:cNvPr id="62" name="Text 60"/>
          <p:cNvSpPr/>
          <p:nvPr/>
        </p:nvSpPr>
        <p:spPr>
          <a:xfrm>
            <a:off x="4456176" y="3968496"/>
            <a:ext cx="1889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3,0 %</a:t>
            </a:r>
            <a:endParaRPr lang="en-US" sz="850" dirty="0"/>
          </a:p>
        </p:txBody>
      </p:sp>
      <p:sp>
        <p:nvSpPr>
          <p:cNvPr id="63" name="Shape 61"/>
          <p:cNvSpPr/>
          <p:nvPr/>
        </p:nvSpPr>
        <p:spPr>
          <a:xfrm>
            <a:off x="137160" y="4892040"/>
            <a:ext cx="6217920" cy="868680"/>
          </a:xfrm>
          <a:prstGeom prst="rect">
            <a:avLst/>
          </a:prstGeom>
          <a:solidFill>
            <a:srgbClr val="FFFBEC"/>
          </a:solidFill>
          <a:ln w="6350">
            <a:solidFill>
              <a:srgbClr val="E5C97A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228600" y="4965192"/>
            <a:ext cx="6035040" cy="7589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STRATÉGIE HINT IMP : Écart de 3 994 TEU avec Sitracom (#2). Cibles filières à 0% PDM : Thé (928 TEU) + Motos (1 172 TEU) = 2 100 TEU de potentiel immédiat. Clients têtes de pont : SOFAO BF (926 TEU), BRAKINA (552 TEU), CODIMEX BF (461 TEU). Commercial dédié Ouagadougou requis.</a:t>
            </a:r>
            <a:endParaRPr lang="en-US" sz="900" dirty="0"/>
          </a:p>
        </p:txBody>
      </p:sp>
      <p:sp>
        <p:nvSpPr>
          <p:cNvPr id="65" name="Text 63"/>
          <p:cNvSpPr/>
          <p:nvPr/>
        </p:nvSpPr>
        <p:spPr>
          <a:xfrm>
            <a:off x="6492240" y="1097280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PDM AGL par marchandise – Hinterland Import</a:t>
            </a:r>
            <a:endParaRPr lang="en-US" sz="1100" dirty="0"/>
          </a:p>
        </p:txBody>
      </p:sp>
      <p:sp>
        <p:nvSpPr>
          <p:cNvPr id="66" name="Text 64"/>
          <p:cNvSpPr/>
          <p:nvPr/>
        </p:nvSpPr>
        <p:spPr>
          <a:xfrm>
            <a:off x="6492240" y="1389888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MALT</a:t>
            </a:r>
            <a:endParaRPr lang="en-US" sz="850" dirty="0"/>
          </a:p>
        </p:txBody>
      </p:sp>
      <p:sp>
        <p:nvSpPr>
          <p:cNvPr id="67" name="Text 65"/>
          <p:cNvSpPr/>
          <p:nvPr/>
        </p:nvSpPr>
        <p:spPr>
          <a:xfrm>
            <a:off x="8156448" y="1389888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439 TEU</a:t>
            </a:r>
            <a:endParaRPr lang="en-US" sz="850" dirty="0"/>
          </a:p>
        </p:txBody>
      </p:sp>
      <p:sp>
        <p:nvSpPr>
          <p:cNvPr id="68" name="Shape 66"/>
          <p:cNvSpPr/>
          <p:nvPr/>
        </p:nvSpPr>
        <p:spPr>
          <a:xfrm>
            <a:off x="9052560" y="1426464"/>
            <a:ext cx="2743200" cy="164592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69" name="Shape 67"/>
          <p:cNvSpPr/>
          <p:nvPr/>
        </p:nvSpPr>
        <p:spPr>
          <a:xfrm>
            <a:off x="9052560" y="1426464"/>
            <a:ext cx="2002536" cy="164592"/>
          </a:xfrm>
          <a:prstGeom prst="rect">
            <a:avLst/>
          </a:prstGeom>
          <a:solidFill>
            <a:srgbClr val="1A7C4F"/>
          </a:solidFill>
          <a:ln/>
        </p:spPr>
      </p:sp>
      <p:sp>
        <p:nvSpPr>
          <p:cNvPr id="70" name="Text 68"/>
          <p:cNvSpPr/>
          <p:nvPr/>
        </p:nvSpPr>
        <p:spPr>
          <a:xfrm>
            <a:off x="11841480" y="1389888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7C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73%</a:t>
            </a:r>
            <a:endParaRPr lang="en-US" sz="900" dirty="0"/>
          </a:p>
        </p:txBody>
      </p:sp>
      <p:sp>
        <p:nvSpPr>
          <p:cNvPr id="71" name="Text 69"/>
          <p:cNvSpPr/>
          <p:nvPr/>
        </p:nvSpPr>
        <p:spPr>
          <a:xfrm>
            <a:off x="6492240" y="1773936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MATÉRIELS MINIERS</a:t>
            </a:r>
            <a:endParaRPr lang="en-US" sz="850" dirty="0"/>
          </a:p>
        </p:txBody>
      </p:sp>
      <p:sp>
        <p:nvSpPr>
          <p:cNvPr id="72" name="Text 70"/>
          <p:cNvSpPr/>
          <p:nvPr/>
        </p:nvSpPr>
        <p:spPr>
          <a:xfrm>
            <a:off x="8156448" y="1773936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600 TEU</a:t>
            </a:r>
            <a:endParaRPr lang="en-US" sz="850" dirty="0"/>
          </a:p>
        </p:txBody>
      </p:sp>
      <p:sp>
        <p:nvSpPr>
          <p:cNvPr id="73" name="Shape 71"/>
          <p:cNvSpPr/>
          <p:nvPr/>
        </p:nvSpPr>
        <p:spPr>
          <a:xfrm>
            <a:off x="9052560" y="1810512"/>
            <a:ext cx="2743200" cy="164592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74" name="Shape 72"/>
          <p:cNvSpPr/>
          <p:nvPr/>
        </p:nvSpPr>
        <p:spPr>
          <a:xfrm>
            <a:off x="9052560" y="1810512"/>
            <a:ext cx="1371600" cy="164592"/>
          </a:xfrm>
          <a:prstGeom prst="rect">
            <a:avLst/>
          </a:prstGeom>
          <a:solidFill>
            <a:srgbClr val="1A7C4F"/>
          </a:solidFill>
          <a:ln/>
        </p:spPr>
      </p:sp>
      <p:sp>
        <p:nvSpPr>
          <p:cNvPr id="75" name="Text 73"/>
          <p:cNvSpPr/>
          <p:nvPr/>
        </p:nvSpPr>
        <p:spPr>
          <a:xfrm>
            <a:off x="11841480" y="1773936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7C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50%</a:t>
            </a:r>
            <a:endParaRPr lang="en-US" sz="900" dirty="0"/>
          </a:p>
        </p:txBody>
      </p:sp>
      <p:sp>
        <p:nvSpPr>
          <p:cNvPr id="76" name="Text 74"/>
          <p:cNvSpPr/>
          <p:nvPr/>
        </p:nvSpPr>
        <p:spPr>
          <a:xfrm>
            <a:off x="6492240" y="2157984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PÂTES ALIMENTAIRES</a:t>
            </a:r>
            <a:endParaRPr lang="en-US" sz="850" dirty="0"/>
          </a:p>
        </p:txBody>
      </p:sp>
      <p:sp>
        <p:nvSpPr>
          <p:cNvPr id="77" name="Text 75"/>
          <p:cNvSpPr/>
          <p:nvPr/>
        </p:nvSpPr>
        <p:spPr>
          <a:xfrm>
            <a:off x="8156448" y="2157984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528 TEU</a:t>
            </a:r>
            <a:endParaRPr lang="en-US" sz="850" dirty="0"/>
          </a:p>
        </p:txBody>
      </p:sp>
      <p:sp>
        <p:nvSpPr>
          <p:cNvPr id="78" name="Shape 76"/>
          <p:cNvSpPr/>
          <p:nvPr/>
        </p:nvSpPr>
        <p:spPr>
          <a:xfrm>
            <a:off x="9052560" y="2194560"/>
            <a:ext cx="2743200" cy="164592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79" name="Shape 77"/>
          <p:cNvSpPr/>
          <p:nvPr/>
        </p:nvSpPr>
        <p:spPr>
          <a:xfrm>
            <a:off x="9052560" y="2194560"/>
            <a:ext cx="850392" cy="164592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80" name="Text 78"/>
          <p:cNvSpPr/>
          <p:nvPr/>
        </p:nvSpPr>
        <p:spPr>
          <a:xfrm>
            <a:off x="11841480" y="2157984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31%</a:t>
            </a:r>
            <a:endParaRPr lang="en-US" sz="900" dirty="0"/>
          </a:p>
        </p:txBody>
      </p:sp>
      <p:sp>
        <p:nvSpPr>
          <p:cNvPr id="81" name="Text 79"/>
          <p:cNvSpPr/>
          <p:nvPr/>
        </p:nvSpPr>
        <p:spPr>
          <a:xfrm>
            <a:off x="6492240" y="254203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HUILE ALIMENTAIRE</a:t>
            </a:r>
            <a:endParaRPr lang="en-US" sz="850" dirty="0"/>
          </a:p>
        </p:txBody>
      </p:sp>
      <p:sp>
        <p:nvSpPr>
          <p:cNvPr id="82" name="Text 80"/>
          <p:cNvSpPr/>
          <p:nvPr/>
        </p:nvSpPr>
        <p:spPr>
          <a:xfrm>
            <a:off x="8156448" y="2542032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3 069 TEU</a:t>
            </a:r>
            <a:endParaRPr lang="en-US" sz="850" dirty="0"/>
          </a:p>
        </p:txBody>
      </p:sp>
      <p:sp>
        <p:nvSpPr>
          <p:cNvPr id="83" name="Shape 81"/>
          <p:cNvSpPr/>
          <p:nvPr/>
        </p:nvSpPr>
        <p:spPr>
          <a:xfrm>
            <a:off x="9052560" y="2578608"/>
            <a:ext cx="2743200" cy="164592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84" name="Shape 82"/>
          <p:cNvSpPr/>
          <p:nvPr/>
        </p:nvSpPr>
        <p:spPr>
          <a:xfrm>
            <a:off x="9052560" y="2578608"/>
            <a:ext cx="768096" cy="164592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85" name="Text 83"/>
          <p:cNvSpPr/>
          <p:nvPr/>
        </p:nvSpPr>
        <p:spPr>
          <a:xfrm>
            <a:off x="11841480" y="2542032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28%</a:t>
            </a:r>
            <a:endParaRPr lang="en-US" sz="900" dirty="0"/>
          </a:p>
        </p:txBody>
      </p:sp>
      <p:sp>
        <p:nvSpPr>
          <p:cNvPr id="86" name="Text 84"/>
          <p:cNvSpPr/>
          <p:nvPr/>
        </p:nvSpPr>
        <p:spPr>
          <a:xfrm>
            <a:off x="6492240" y="2926080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RIZ</a:t>
            </a:r>
            <a:endParaRPr lang="en-US" sz="850" dirty="0"/>
          </a:p>
        </p:txBody>
      </p:sp>
      <p:sp>
        <p:nvSpPr>
          <p:cNvPr id="87" name="Text 85"/>
          <p:cNvSpPr/>
          <p:nvPr/>
        </p:nvSpPr>
        <p:spPr>
          <a:xfrm>
            <a:off x="8156448" y="2926080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736 TEU</a:t>
            </a:r>
            <a:endParaRPr lang="en-US" sz="850" dirty="0"/>
          </a:p>
        </p:txBody>
      </p:sp>
      <p:sp>
        <p:nvSpPr>
          <p:cNvPr id="88" name="Shape 86"/>
          <p:cNvSpPr/>
          <p:nvPr/>
        </p:nvSpPr>
        <p:spPr>
          <a:xfrm>
            <a:off x="9052560" y="2962656"/>
            <a:ext cx="2743200" cy="164592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89" name="Shape 87"/>
          <p:cNvSpPr/>
          <p:nvPr/>
        </p:nvSpPr>
        <p:spPr>
          <a:xfrm>
            <a:off x="9052560" y="2962656"/>
            <a:ext cx="548640" cy="164592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90" name="Text 88"/>
          <p:cNvSpPr/>
          <p:nvPr/>
        </p:nvSpPr>
        <p:spPr>
          <a:xfrm>
            <a:off x="11841480" y="2926080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</a:t>
            </a:r>
            <a:endParaRPr lang="en-US" sz="900" dirty="0"/>
          </a:p>
        </p:txBody>
      </p:sp>
      <p:sp>
        <p:nvSpPr>
          <p:cNvPr id="91" name="Text 89"/>
          <p:cNvSpPr/>
          <p:nvPr/>
        </p:nvSpPr>
        <p:spPr>
          <a:xfrm>
            <a:off x="6492240" y="3310128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EMBALLAGES</a:t>
            </a:r>
            <a:endParaRPr lang="en-US" sz="850" dirty="0"/>
          </a:p>
        </p:txBody>
      </p:sp>
      <p:sp>
        <p:nvSpPr>
          <p:cNvPr id="92" name="Text 90"/>
          <p:cNvSpPr/>
          <p:nvPr/>
        </p:nvSpPr>
        <p:spPr>
          <a:xfrm>
            <a:off x="8156448" y="3310128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1 151 TEU</a:t>
            </a:r>
            <a:endParaRPr lang="en-US" sz="850" dirty="0"/>
          </a:p>
        </p:txBody>
      </p:sp>
      <p:sp>
        <p:nvSpPr>
          <p:cNvPr id="93" name="Shape 91"/>
          <p:cNvSpPr/>
          <p:nvPr/>
        </p:nvSpPr>
        <p:spPr>
          <a:xfrm>
            <a:off x="9052560" y="3346704"/>
            <a:ext cx="2743200" cy="164592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94" name="Shape 92"/>
          <p:cNvSpPr/>
          <p:nvPr/>
        </p:nvSpPr>
        <p:spPr>
          <a:xfrm>
            <a:off x="9052560" y="3346704"/>
            <a:ext cx="548640" cy="164592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95" name="Text 93"/>
          <p:cNvSpPr/>
          <p:nvPr/>
        </p:nvSpPr>
        <p:spPr>
          <a:xfrm>
            <a:off x="11841480" y="3310128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</a:t>
            </a:r>
            <a:endParaRPr lang="en-US" sz="900" dirty="0"/>
          </a:p>
        </p:txBody>
      </p:sp>
      <p:sp>
        <p:nvSpPr>
          <p:cNvPr id="96" name="Text 94"/>
          <p:cNvSpPr/>
          <p:nvPr/>
        </p:nvSpPr>
        <p:spPr>
          <a:xfrm>
            <a:off x="6492240" y="3694176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MATÉR. CONSTRUCTION</a:t>
            </a:r>
            <a:endParaRPr lang="en-US" sz="850" dirty="0"/>
          </a:p>
        </p:txBody>
      </p:sp>
      <p:sp>
        <p:nvSpPr>
          <p:cNvPr id="97" name="Text 95"/>
          <p:cNvSpPr/>
          <p:nvPr/>
        </p:nvSpPr>
        <p:spPr>
          <a:xfrm>
            <a:off x="8156448" y="3694176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645 TEU</a:t>
            </a:r>
            <a:endParaRPr lang="en-US" sz="850" dirty="0"/>
          </a:p>
        </p:txBody>
      </p:sp>
      <p:sp>
        <p:nvSpPr>
          <p:cNvPr id="98" name="Shape 96"/>
          <p:cNvSpPr/>
          <p:nvPr/>
        </p:nvSpPr>
        <p:spPr>
          <a:xfrm>
            <a:off x="9052560" y="3730752"/>
            <a:ext cx="2743200" cy="164592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99" name="Shape 97"/>
          <p:cNvSpPr/>
          <p:nvPr/>
        </p:nvSpPr>
        <p:spPr>
          <a:xfrm>
            <a:off x="9052560" y="3730752"/>
            <a:ext cx="438912" cy="164592"/>
          </a:xfrm>
          <a:prstGeom prst="rect">
            <a:avLst/>
          </a:prstGeom>
          <a:solidFill>
            <a:srgbClr val="E05A00"/>
          </a:solidFill>
          <a:ln/>
        </p:spPr>
      </p:sp>
      <p:sp>
        <p:nvSpPr>
          <p:cNvPr id="100" name="Text 98"/>
          <p:cNvSpPr/>
          <p:nvPr/>
        </p:nvSpPr>
        <p:spPr>
          <a:xfrm>
            <a:off x="11841480" y="3694176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0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16%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D2243"/>
          </a:solidFill>
          <a:ln/>
        </p:spPr>
      </p:sp>
      <p:sp>
        <p:nvSpPr>
          <p:cNvPr id="3" name="Text 1"/>
          <p:cNvSpPr/>
          <p:nvPr/>
        </p:nvSpPr>
        <p:spPr>
          <a:xfrm>
            <a:off x="228600" y="45720"/>
            <a:ext cx="11887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HINTERLAND IMPORT – NOUVEAUX ENTRANTS &amp; NOUVEAUX FLUX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228600" y="548640"/>
            <a:ext cx="11430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Transitaires entrants  |  Nouvelles marchandises  |  Nouveaux destinataires Bamako–Ouagadougou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82880" y="6583680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Africa Global Logistics – Étude de Marché Jan–Mai 2026  |  p.16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430000" y="653796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AGL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228600" y="1097280"/>
            <a:ext cx="5943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Nouveaux transitaires – Hinterland Import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37160" y="1371600"/>
            <a:ext cx="6217920" cy="256032"/>
          </a:xfrm>
          <a:prstGeom prst="rect">
            <a:avLst/>
          </a:prstGeom>
          <a:solidFill>
            <a:srgbClr val="0D2243"/>
          </a:solidFill>
          <a:ln/>
        </p:spPr>
      </p:sp>
      <p:sp>
        <p:nvSpPr>
          <p:cNvPr id="9" name="Text 7"/>
          <p:cNvSpPr/>
          <p:nvPr/>
        </p:nvSpPr>
        <p:spPr>
          <a:xfrm>
            <a:off x="173736" y="1408176"/>
            <a:ext cx="365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585216" y="1408176"/>
            <a:ext cx="140589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Transitaire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2036826" y="1408176"/>
            <a:ext cx="140589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TEU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3488436" y="1408176"/>
            <a:ext cx="140589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PDM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4940046" y="1408176"/>
            <a:ext cx="140589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Spécialité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137160" y="1627632"/>
            <a:ext cx="6217920" cy="256032"/>
          </a:xfrm>
          <a:prstGeom prst="rect">
            <a:avLst/>
          </a:prstGeom>
          <a:solidFill>
            <a:srgbClr val="FFF9EC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73736" y="1664208"/>
            <a:ext cx="365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#11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585216" y="1664208"/>
            <a:ext cx="140589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A7C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SAHEL TRANSIT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2036826" y="1664208"/>
            <a:ext cx="140589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620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3488436" y="1664208"/>
            <a:ext cx="140589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2,2 %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4940046" y="1664208"/>
            <a:ext cx="140589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A7C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Sucre / Alimentaire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137160" y="1883664"/>
            <a:ext cx="6217920" cy="256032"/>
          </a:xfrm>
          <a:prstGeom prst="rect">
            <a:avLst/>
          </a:prstGeom>
          <a:solidFill>
            <a:srgbClr val="F8F9FA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73736" y="1920240"/>
            <a:ext cx="365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#12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585216" y="1920240"/>
            <a:ext cx="140589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BURKINATRANS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2036826" y="1920240"/>
            <a:ext cx="140589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580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88436" y="1920240"/>
            <a:ext cx="140589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2,0 %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4940046" y="1920240"/>
            <a:ext cx="140589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BTP Burkina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137160" y="2139696"/>
            <a:ext cx="6217920" cy="256032"/>
          </a:xfrm>
          <a:prstGeom prst="rect">
            <a:avLst/>
          </a:prstGeom>
          <a:solidFill>
            <a:srgbClr val="FFFFFF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73736" y="2176272"/>
            <a:ext cx="365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#13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585216" y="2176272"/>
            <a:ext cx="140589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TRANS-SAHEL LOG.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2036826" y="2176272"/>
            <a:ext cx="140589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450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3488436" y="2176272"/>
            <a:ext cx="140589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1,6 %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4940046" y="2176272"/>
            <a:ext cx="140589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Machines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137160" y="2395728"/>
            <a:ext cx="6217920" cy="256032"/>
          </a:xfrm>
          <a:prstGeom prst="rect">
            <a:avLst/>
          </a:prstGeom>
          <a:solidFill>
            <a:srgbClr val="F8F9FA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73736" y="2432304"/>
            <a:ext cx="365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#14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585216" y="2432304"/>
            <a:ext cx="140589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KARAMOKOTRAKRANSIT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2036826" y="2432304"/>
            <a:ext cx="140589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380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3488436" y="2432304"/>
            <a:ext cx="140589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1,3 %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4940046" y="2432304"/>
            <a:ext cx="140589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Alimentation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228600" y="2743200"/>
            <a:ext cx="5943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Nouveaux destinataires AGL – Hinterland Import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137160" y="3017520"/>
            <a:ext cx="6217920" cy="256032"/>
          </a:xfrm>
          <a:prstGeom prst="rect">
            <a:avLst/>
          </a:prstGeom>
          <a:solidFill>
            <a:srgbClr val="0D2243"/>
          </a:solidFill>
          <a:ln/>
        </p:spPr>
      </p:sp>
      <p:sp>
        <p:nvSpPr>
          <p:cNvPr id="40" name="Text 38"/>
          <p:cNvSpPr/>
          <p:nvPr/>
        </p:nvSpPr>
        <p:spPr>
          <a:xfrm>
            <a:off x="173736" y="3054096"/>
            <a:ext cx="1508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Destinataire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1728216" y="3054096"/>
            <a:ext cx="1508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TEU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3282696" y="3054096"/>
            <a:ext cx="1508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Destination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4837176" y="3054096"/>
            <a:ext cx="1508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Entrée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137160" y="3273552"/>
            <a:ext cx="6217920" cy="256032"/>
          </a:xfrm>
          <a:prstGeom prst="rect">
            <a:avLst/>
          </a:prstGeom>
          <a:solidFill>
            <a:srgbClr val="FFF9EC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173736" y="3310128"/>
            <a:ext cx="1508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A7C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SOFAO BF (alimentaire)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1728216" y="3310128"/>
            <a:ext cx="1508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926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3282696" y="3310128"/>
            <a:ext cx="1508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Ouagadougou</a:t>
            </a:r>
            <a:endParaRPr lang="en-US" sz="850" dirty="0"/>
          </a:p>
        </p:txBody>
      </p:sp>
      <p:sp>
        <p:nvSpPr>
          <p:cNvPr id="48" name="Text 46"/>
          <p:cNvSpPr/>
          <p:nvPr/>
        </p:nvSpPr>
        <p:spPr>
          <a:xfrm>
            <a:off x="4837176" y="3310128"/>
            <a:ext cx="1508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A7C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2026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137160" y="3529584"/>
            <a:ext cx="6217920" cy="256032"/>
          </a:xfrm>
          <a:prstGeom prst="rect">
            <a:avLst/>
          </a:prstGeom>
          <a:solidFill>
            <a:srgbClr val="F8F9FA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173736" y="3566160"/>
            <a:ext cx="1508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BRAKINA (boissons)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1728216" y="3566160"/>
            <a:ext cx="1508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552</a:t>
            </a:r>
            <a:endParaRPr lang="en-US" sz="850" dirty="0"/>
          </a:p>
        </p:txBody>
      </p:sp>
      <p:sp>
        <p:nvSpPr>
          <p:cNvPr id="52" name="Text 50"/>
          <p:cNvSpPr/>
          <p:nvPr/>
        </p:nvSpPr>
        <p:spPr>
          <a:xfrm>
            <a:off x="3282696" y="3566160"/>
            <a:ext cx="1508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Bobo-Dioulasso</a:t>
            </a:r>
            <a:endParaRPr lang="en-US" sz="850" dirty="0"/>
          </a:p>
        </p:txBody>
      </p:sp>
      <p:sp>
        <p:nvSpPr>
          <p:cNvPr id="53" name="Text 51"/>
          <p:cNvSpPr/>
          <p:nvPr/>
        </p:nvSpPr>
        <p:spPr>
          <a:xfrm>
            <a:off x="4837176" y="3566160"/>
            <a:ext cx="1508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2026</a:t>
            </a:r>
            <a:endParaRPr lang="en-US" sz="850" dirty="0"/>
          </a:p>
        </p:txBody>
      </p:sp>
      <p:sp>
        <p:nvSpPr>
          <p:cNvPr id="54" name="Shape 52"/>
          <p:cNvSpPr/>
          <p:nvPr/>
        </p:nvSpPr>
        <p:spPr>
          <a:xfrm>
            <a:off x="137160" y="3785616"/>
            <a:ext cx="6217920" cy="256032"/>
          </a:xfrm>
          <a:prstGeom prst="rect">
            <a:avLst/>
          </a:prstGeom>
          <a:solidFill>
            <a:srgbClr val="FFFFFF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173736" y="3822192"/>
            <a:ext cx="1508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CODIMEX BF (emballages)</a:t>
            </a:r>
            <a:endParaRPr lang="en-US" sz="850" dirty="0"/>
          </a:p>
        </p:txBody>
      </p:sp>
      <p:sp>
        <p:nvSpPr>
          <p:cNvPr id="56" name="Text 54"/>
          <p:cNvSpPr/>
          <p:nvPr/>
        </p:nvSpPr>
        <p:spPr>
          <a:xfrm>
            <a:off x="1728216" y="3822192"/>
            <a:ext cx="1508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461</a:t>
            </a:r>
            <a:endParaRPr lang="en-US" sz="850" dirty="0"/>
          </a:p>
        </p:txBody>
      </p:sp>
      <p:sp>
        <p:nvSpPr>
          <p:cNvPr id="57" name="Text 55"/>
          <p:cNvSpPr/>
          <p:nvPr/>
        </p:nvSpPr>
        <p:spPr>
          <a:xfrm>
            <a:off x="3282696" y="3822192"/>
            <a:ext cx="1508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Ouagadougou</a:t>
            </a:r>
            <a:endParaRPr lang="en-US" sz="850" dirty="0"/>
          </a:p>
        </p:txBody>
      </p:sp>
      <p:sp>
        <p:nvSpPr>
          <p:cNvPr id="58" name="Text 56"/>
          <p:cNvSpPr/>
          <p:nvPr/>
        </p:nvSpPr>
        <p:spPr>
          <a:xfrm>
            <a:off x="4837176" y="3822192"/>
            <a:ext cx="1508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 2026</a:t>
            </a:r>
            <a:endParaRPr lang="en-US" sz="850" dirty="0"/>
          </a:p>
        </p:txBody>
      </p:sp>
      <p:sp>
        <p:nvSpPr>
          <p:cNvPr id="59" name="Shape 57"/>
          <p:cNvSpPr/>
          <p:nvPr/>
        </p:nvSpPr>
        <p:spPr>
          <a:xfrm>
            <a:off x="137160" y="4041648"/>
            <a:ext cx="6217920" cy="256032"/>
          </a:xfrm>
          <a:prstGeom prst="rect">
            <a:avLst/>
          </a:prstGeom>
          <a:solidFill>
            <a:srgbClr val="F8F9FA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173736" y="4078224"/>
            <a:ext cx="1508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ENERGIES ML</a:t>
            </a:r>
            <a:endParaRPr lang="en-US" sz="850" dirty="0"/>
          </a:p>
        </p:txBody>
      </p:sp>
      <p:sp>
        <p:nvSpPr>
          <p:cNvPr id="61" name="Text 59"/>
          <p:cNvSpPr/>
          <p:nvPr/>
        </p:nvSpPr>
        <p:spPr>
          <a:xfrm>
            <a:off x="1728216" y="4078224"/>
            <a:ext cx="1508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390</a:t>
            </a:r>
            <a:endParaRPr lang="en-US" sz="850" dirty="0"/>
          </a:p>
        </p:txBody>
      </p:sp>
      <p:sp>
        <p:nvSpPr>
          <p:cNvPr id="62" name="Text 60"/>
          <p:cNvSpPr/>
          <p:nvPr/>
        </p:nvSpPr>
        <p:spPr>
          <a:xfrm>
            <a:off x="3282696" y="4078224"/>
            <a:ext cx="1508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Bamako</a:t>
            </a:r>
            <a:endParaRPr lang="en-US" sz="850" dirty="0"/>
          </a:p>
        </p:txBody>
      </p:sp>
      <p:sp>
        <p:nvSpPr>
          <p:cNvPr id="63" name="Text 61"/>
          <p:cNvSpPr/>
          <p:nvPr/>
        </p:nvSpPr>
        <p:spPr>
          <a:xfrm>
            <a:off x="4837176" y="4078224"/>
            <a:ext cx="1508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2026</a:t>
            </a:r>
            <a:endParaRPr lang="en-US" sz="850" dirty="0"/>
          </a:p>
        </p:txBody>
      </p:sp>
      <p:sp>
        <p:nvSpPr>
          <p:cNvPr id="64" name="Shape 62"/>
          <p:cNvSpPr/>
          <p:nvPr/>
        </p:nvSpPr>
        <p:spPr>
          <a:xfrm>
            <a:off x="137160" y="4297680"/>
            <a:ext cx="6217920" cy="256032"/>
          </a:xfrm>
          <a:prstGeom prst="rect">
            <a:avLst/>
          </a:prstGeom>
          <a:solidFill>
            <a:srgbClr val="FFFFFF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173736" y="4334256"/>
            <a:ext cx="1508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ONATEL BF (télécoms)</a:t>
            </a:r>
            <a:endParaRPr lang="en-US" sz="850" dirty="0"/>
          </a:p>
        </p:txBody>
      </p:sp>
      <p:sp>
        <p:nvSpPr>
          <p:cNvPr id="66" name="Text 64"/>
          <p:cNvSpPr/>
          <p:nvPr/>
        </p:nvSpPr>
        <p:spPr>
          <a:xfrm>
            <a:off x="1728216" y="4334256"/>
            <a:ext cx="1508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320</a:t>
            </a:r>
            <a:endParaRPr lang="en-US" sz="850" dirty="0"/>
          </a:p>
        </p:txBody>
      </p:sp>
      <p:sp>
        <p:nvSpPr>
          <p:cNvPr id="67" name="Text 65"/>
          <p:cNvSpPr/>
          <p:nvPr/>
        </p:nvSpPr>
        <p:spPr>
          <a:xfrm>
            <a:off x="3282696" y="4334256"/>
            <a:ext cx="1508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Ouagadougou</a:t>
            </a:r>
            <a:endParaRPr lang="en-US" sz="850" dirty="0"/>
          </a:p>
        </p:txBody>
      </p:sp>
      <p:sp>
        <p:nvSpPr>
          <p:cNvPr id="68" name="Text 66"/>
          <p:cNvSpPr/>
          <p:nvPr/>
        </p:nvSpPr>
        <p:spPr>
          <a:xfrm>
            <a:off x="4837176" y="4334256"/>
            <a:ext cx="1508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 2026</a:t>
            </a:r>
            <a:endParaRPr lang="en-US" sz="850" dirty="0"/>
          </a:p>
        </p:txBody>
      </p:sp>
      <p:sp>
        <p:nvSpPr>
          <p:cNvPr id="69" name="Text 67"/>
          <p:cNvSpPr/>
          <p:nvPr/>
        </p:nvSpPr>
        <p:spPr>
          <a:xfrm>
            <a:off x="6492240" y="1097280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Nouvelles marchandises hinterland – PDM AGL</a:t>
            </a:r>
            <a:endParaRPr lang="en-US" sz="1100" dirty="0"/>
          </a:p>
        </p:txBody>
      </p:sp>
      <p:sp>
        <p:nvSpPr>
          <p:cNvPr id="70" name="Text 68"/>
          <p:cNvSpPr/>
          <p:nvPr/>
        </p:nvSpPr>
        <p:spPr>
          <a:xfrm>
            <a:off x="6492240" y="1389888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MATÉRIEL AGRICOLE</a:t>
            </a:r>
            <a:endParaRPr lang="en-US" sz="850" dirty="0"/>
          </a:p>
        </p:txBody>
      </p:sp>
      <p:sp>
        <p:nvSpPr>
          <p:cNvPr id="71" name="Text 69"/>
          <p:cNvSpPr/>
          <p:nvPr/>
        </p:nvSpPr>
        <p:spPr>
          <a:xfrm>
            <a:off x="8156448" y="1389888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520 TEU</a:t>
            </a:r>
            <a:endParaRPr lang="en-US" sz="850" dirty="0"/>
          </a:p>
        </p:txBody>
      </p:sp>
      <p:sp>
        <p:nvSpPr>
          <p:cNvPr id="72" name="Shape 70"/>
          <p:cNvSpPr/>
          <p:nvPr/>
        </p:nvSpPr>
        <p:spPr>
          <a:xfrm>
            <a:off x="9052560" y="1426464"/>
            <a:ext cx="2743200" cy="164592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73" name="Shape 71"/>
          <p:cNvSpPr/>
          <p:nvPr/>
        </p:nvSpPr>
        <p:spPr>
          <a:xfrm>
            <a:off x="9052560" y="1426464"/>
            <a:ext cx="219456" cy="164592"/>
          </a:xfrm>
          <a:prstGeom prst="rect">
            <a:avLst/>
          </a:prstGeom>
          <a:solidFill>
            <a:srgbClr val="CC2200"/>
          </a:solidFill>
          <a:ln/>
        </p:spPr>
      </p:sp>
      <p:sp>
        <p:nvSpPr>
          <p:cNvPr id="74" name="Text 72"/>
          <p:cNvSpPr/>
          <p:nvPr/>
        </p:nvSpPr>
        <p:spPr>
          <a:xfrm>
            <a:off x="11841480" y="1389888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C2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8%</a:t>
            </a:r>
            <a:endParaRPr lang="en-US" sz="900" dirty="0"/>
          </a:p>
        </p:txBody>
      </p:sp>
      <p:sp>
        <p:nvSpPr>
          <p:cNvPr id="75" name="Text 73"/>
          <p:cNvSpPr/>
          <p:nvPr/>
        </p:nvSpPr>
        <p:spPr>
          <a:xfrm>
            <a:off x="6492240" y="1773936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VÉHICULES BTP</a:t>
            </a:r>
            <a:endParaRPr lang="en-US" sz="850" dirty="0"/>
          </a:p>
        </p:txBody>
      </p:sp>
      <p:sp>
        <p:nvSpPr>
          <p:cNvPr id="76" name="Text 74"/>
          <p:cNvSpPr/>
          <p:nvPr/>
        </p:nvSpPr>
        <p:spPr>
          <a:xfrm>
            <a:off x="8156448" y="1773936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380 TEU</a:t>
            </a:r>
            <a:endParaRPr lang="en-US" sz="850" dirty="0"/>
          </a:p>
        </p:txBody>
      </p:sp>
      <p:sp>
        <p:nvSpPr>
          <p:cNvPr id="77" name="Shape 75"/>
          <p:cNvSpPr/>
          <p:nvPr/>
        </p:nvSpPr>
        <p:spPr>
          <a:xfrm>
            <a:off x="9052560" y="1810512"/>
            <a:ext cx="2743200" cy="164592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78" name="Shape 76"/>
          <p:cNvSpPr/>
          <p:nvPr/>
        </p:nvSpPr>
        <p:spPr>
          <a:xfrm>
            <a:off x="9052560" y="1810512"/>
            <a:ext cx="137160" cy="164592"/>
          </a:xfrm>
          <a:prstGeom prst="rect">
            <a:avLst/>
          </a:prstGeom>
          <a:solidFill>
            <a:srgbClr val="CC2200"/>
          </a:solidFill>
          <a:ln/>
        </p:spPr>
      </p:sp>
      <p:sp>
        <p:nvSpPr>
          <p:cNvPr id="79" name="Text 77"/>
          <p:cNvSpPr/>
          <p:nvPr/>
        </p:nvSpPr>
        <p:spPr>
          <a:xfrm>
            <a:off x="11841480" y="1773936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C2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5%</a:t>
            </a:r>
            <a:endParaRPr lang="en-US" sz="900" dirty="0"/>
          </a:p>
        </p:txBody>
      </p:sp>
      <p:sp>
        <p:nvSpPr>
          <p:cNvPr id="80" name="Text 78"/>
          <p:cNvSpPr/>
          <p:nvPr/>
        </p:nvSpPr>
        <p:spPr>
          <a:xfrm>
            <a:off x="6492240" y="2157984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INTRANTS PHARMA</a:t>
            </a:r>
            <a:endParaRPr lang="en-US" sz="850" dirty="0"/>
          </a:p>
        </p:txBody>
      </p:sp>
      <p:sp>
        <p:nvSpPr>
          <p:cNvPr id="81" name="Text 79"/>
          <p:cNvSpPr/>
          <p:nvPr/>
        </p:nvSpPr>
        <p:spPr>
          <a:xfrm>
            <a:off x="8156448" y="2157984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290 TEU</a:t>
            </a:r>
            <a:endParaRPr lang="en-US" sz="850" dirty="0"/>
          </a:p>
        </p:txBody>
      </p:sp>
      <p:sp>
        <p:nvSpPr>
          <p:cNvPr id="82" name="Shape 80"/>
          <p:cNvSpPr/>
          <p:nvPr/>
        </p:nvSpPr>
        <p:spPr>
          <a:xfrm>
            <a:off x="9052560" y="2194560"/>
            <a:ext cx="2743200" cy="164592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83" name="Shape 81"/>
          <p:cNvSpPr/>
          <p:nvPr/>
        </p:nvSpPr>
        <p:spPr>
          <a:xfrm>
            <a:off x="9052560" y="2194560"/>
            <a:ext cx="329184" cy="164592"/>
          </a:xfrm>
          <a:prstGeom prst="rect">
            <a:avLst/>
          </a:prstGeom>
          <a:solidFill>
            <a:srgbClr val="E05A00"/>
          </a:solidFill>
          <a:ln/>
        </p:spPr>
      </p:sp>
      <p:sp>
        <p:nvSpPr>
          <p:cNvPr id="84" name="Text 82"/>
          <p:cNvSpPr/>
          <p:nvPr/>
        </p:nvSpPr>
        <p:spPr>
          <a:xfrm>
            <a:off x="11841480" y="2157984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0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12%</a:t>
            </a:r>
            <a:endParaRPr lang="en-US" sz="900" dirty="0"/>
          </a:p>
        </p:txBody>
      </p:sp>
      <p:sp>
        <p:nvSpPr>
          <p:cNvPr id="85" name="Shape 83"/>
          <p:cNvSpPr/>
          <p:nvPr/>
        </p:nvSpPr>
        <p:spPr>
          <a:xfrm>
            <a:off x="6492240" y="3840480"/>
            <a:ext cx="5486400" cy="685800"/>
          </a:xfrm>
          <a:prstGeom prst="rect">
            <a:avLst/>
          </a:prstGeom>
          <a:solidFill>
            <a:srgbClr val="FFFBEC"/>
          </a:solidFill>
          <a:ln w="6350">
            <a:solidFill>
              <a:srgbClr val="E5C97A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6583680" y="3913632"/>
            <a:ext cx="5303520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CIBLES : Thé (928 TEU) + Motos (1 172 TEU) à 0–1% PDM = 2 100 TEU de potentiel immédiat. Commercial dédié Ouagadougou recommandé (40% du marché hinterland).</a:t>
            </a:r>
            <a:endParaRPr lang="en-US" sz="900" dirty="0"/>
          </a:p>
        </p:txBody>
      </p:sp>
      <p:sp>
        <p:nvSpPr>
          <p:cNvPr id="87" name="Shape 85"/>
          <p:cNvSpPr/>
          <p:nvPr/>
        </p:nvSpPr>
        <p:spPr>
          <a:xfrm>
            <a:off x="6492240" y="4663440"/>
            <a:ext cx="5486400" cy="685800"/>
          </a:xfrm>
          <a:prstGeom prst="rect">
            <a:avLst/>
          </a:prstGeom>
          <a:solidFill>
            <a:srgbClr val="FEF2F2"/>
          </a:solidFill>
          <a:ln w="6350">
            <a:solidFill>
              <a:srgbClr val="E5C97A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6583680" y="4736592"/>
            <a:ext cx="5303520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MENACE : CEVA Logistics déjà #5 (4,4%) en quelques mois. UCT + Sitracom verrouillent 51,9% du marché — l'écart vers le rang #2 est de 3 994 TEU.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2243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0" y="457200"/>
            <a:ext cx="54864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0000" dirty="0"/>
          </a:p>
        </p:txBody>
      </p:sp>
      <p:sp>
        <p:nvSpPr>
          <p:cNvPr id="4" name="Shape 2"/>
          <p:cNvSpPr/>
          <p:nvPr/>
        </p:nvSpPr>
        <p:spPr>
          <a:xfrm>
            <a:off x="1097280" y="3520440"/>
            <a:ext cx="7498080" cy="59436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2651760"/>
            <a:ext cx="11430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HINTERLAND EXPORT MARITIME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365760" y="3657600"/>
            <a:ext cx="11430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4 294 TEU  |  PDM AGL : 66,1%  |  Dominance absolue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828800" y="649224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Africa Global Logistics – Étude de Marché Jan–Mai 2026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430000" y="6473952"/>
            <a:ext cx="640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AGL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D2243"/>
          </a:solidFill>
          <a:ln/>
        </p:spPr>
      </p:sp>
      <p:sp>
        <p:nvSpPr>
          <p:cNvPr id="3" name="Text 1"/>
          <p:cNvSpPr/>
          <p:nvPr/>
        </p:nvSpPr>
        <p:spPr>
          <a:xfrm>
            <a:off x="228600" y="45720"/>
            <a:ext cx="11887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HINTERLAND EXPORT – VUE D'ENSEMBLE  |  Jan–Mai 2026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228600" y="548640"/>
            <a:ext cx="11430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AGL #1 ABSOLU – PDM 66,1%  |  Marché : 4 294 TEU  |  Coton dominant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82880" y="6583680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Africa Global Logistics – Étude de Marché Jan–Mai 2026  |  p.15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430000" y="653796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AGL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137160" y="1097280"/>
            <a:ext cx="2291486" cy="868680"/>
          </a:xfrm>
          <a:prstGeom prst="rect">
            <a:avLst/>
          </a:prstGeom>
          <a:solidFill>
            <a:srgbClr val="F0F2F5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37160" y="1143000"/>
            <a:ext cx="229148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MARCHÉ TOTAL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37160" y="1316736"/>
            <a:ext cx="229148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D22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4 294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37160" y="1719072"/>
            <a:ext cx="229148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TEU Jan–Mai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2520086" y="1097280"/>
            <a:ext cx="2291486" cy="868680"/>
          </a:xfrm>
          <a:prstGeom prst="rect">
            <a:avLst/>
          </a:prstGeom>
          <a:solidFill>
            <a:srgbClr val="F0F2F5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520086" y="1143000"/>
            <a:ext cx="229148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 AGL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2520086" y="1316736"/>
            <a:ext cx="229148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D22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2 840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2520086" y="1719072"/>
            <a:ext cx="229148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TEU Jan–Mai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4903013" y="1097280"/>
            <a:ext cx="2291486" cy="868680"/>
          </a:xfrm>
          <a:prstGeom prst="rect">
            <a:avLst/>
          </a:prstGeom>
          <a:solidFill>
            <a:srgbClr val="F0F2F5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903013" y="1143000"/>
            <a:ext cx="229148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PDM AGL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4903013" y="1316736"/>
            <a:ext cx="229148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A7C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66,1 %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4903013" y="1719072"/>
            <a:ext cx="229148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#1 ABSOLU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7285939" y="1097280"/>
            <a:ext cx="2291486" cy="868680"/>
          </a:xfrm>
          <a:prstGeom prst="rect">
            <a:avLst/>
          </a:prstGeom>
          <a:solidFill>
            <a:srgbClr val="F0F2F5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285939" y="1143000"/>
            <a:ext cx="229148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COTON AGL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7285939" y="1316736"/>
            <a:ext cx="229148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D22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2 522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7285939" y="1719072"/>
            <a:ext cx="229148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TEU – 88,8% du portef.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9668866" y="1097280"/>
            <a:ext cx="2291486" cy="868680"/>
          </a:xfrm>
          <a:prstGeom prst="rect">
            <a:avLst/>
          </a:prstGeom>
          <a:solidFill>
            <a:srgbClr val="F0F2F5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668866" y="1143000"/>
            <a:ext cx="229148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PDM FÉV. (PEAK)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9668866" y="1316736"/>
            <a:ext cx="229148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56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72,9 %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9668866" y="1719072"/>
            <a:ext cx="229148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Meilleure PDM période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228600" y="2084832"/>
            <a:ext cx="5943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Évolution mensuelle – Hinterland Export</a:t>
            </a:r>
            <a:endParaRPr lang="en-US" sz="1100" dirty="0"/>
          </a:p>
        </p:txBody>
      </p:sp>
      <p:graphicFrame>
        <p:nvGraphicFramePr>
          <p:cNvPr id="28" name="Chart 0" descr=""/>
          <p:cNvGraphicFramePr/>
          <p:nvPr/>
        </p:nvGraphicFramePr>
        <p:xfrm>
          <a:off x="137160" y="2331720"/>
          <a:ext cx="6217920" cy="3931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9" name="Text 26"/>
          <p:cNvSpPr/>
          <p:nvPr/>
        </p:nvSpPr>
        <p:spPr>
          <a:xfrm>
            <a:off x="6492240" y="2084832"/>
            <a:ext cx="5303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PDM AGL par mois – Hinterland Export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6492240" y="2395728"/>
            <a:ext cx="5486400" cy="475488"/>
          </a:xfrm>
          <a:prstGeom prst="rect">
            <a:avLst/>
          </a:prstGeom>
          <a:solidFill>
            <a:srgbClr val="F8FAFC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6601968" y="2523744"/>
            <a:ext cx="777240" cy="27432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Janvier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7452360" y="2523744"/>
            <a:ext cx="2560320" cy="201168"/>
          </a:xfrm>
          <a:prstGeom prst="rect">
            <a:avLst/>
          </a:prstGeom>
          <a:solidFill>
            <a:srgbClr val="D1D5DB"/>
          </a:solidFill>
          <a:ln/>
        </p:spPr>
      </p:sp>
      <p:sp>
        <p:nvSpPr>
          <p:cNvPr id="33" name="Shape 30"/>
          <p:cNvSpPr/>
          <p:nvPr/>
        </p:nvSpPr>
        <p:spPr>
          <a:xfrm>
            <a:off x="7452360" y="2523744"/>
            <a:ext cx="1780634" cy="201168"/>
          </a:xfrm>
          <a:prstGeom prst="rect">
            <a:avLst/>
          </a:prstGeom>
          <a:solidFill>
            <a:srgbClr val="E05A00"/>
          </a:solidFill>
          <a:ln/>
        </p:spPr>
      </p:sp>
      <p:sp>
        <p:nvSpPr>
          <p:cNvPr id="34" name="Text 31"/>
          <p:cNvSpPr/>
          <p:nvPr/>
        </p:nvSpPr>
        <p:spPr>
          <a:xfrm>
            <a:off x="10085832" y="2487168"/>
            <a:ext cx="868680" cy="27432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E0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50,7 %</a:t>
            </a:r>
            <a:endParaRPr lang="en-US" sz="1100" dirty="0"/>
          </a:p>
        </p:txBody>
      </p:sp>
      <p:sp>
        <p:nvSpPr>
          <p:cNvPr id="35" name="Shape 32"/>
          <p:cNvSpPr/>
          <p:nvPr/>
        </p:nvSpPr>
        <p:spPr>
          <a:xfrm>
            <a:off x="6492240" y="2926080"/>
            <a:ext cx="5486400" cy="475488"/>
          </a:xfrm>
          <a:prstGeom prst="rect">
            <a:avLst/>
          </a:prstGeom>
          <a:solidFill>
            <a:srgbClr val="F8FAFC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6601968" y="3054096"/>
            <a:ext cx="777240" cy="27432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Février</a:t>
            </a:r>
            <a:endParaRPr lang="en-US" sz="1100" dirty="0"/>
          </a:p>
        </p:txBody>
      </p:sp>
      <p:sp>
        <p:nvSpPr>
          <p:cNvPr id="37" name="Shape 34"/>
          <p:cNvSpPr/>
          <p:nvPr/>
        </p:nvSpPr>
        <p:spPr>
          <a:xfrm>
            <a:off x="7452360" y="3054096"/>
            <a:ext cx="2560320" cy="201168"/>
          </a:xfrm>
          <a:prstGeom prst="rect">
            <a:avLst/>
          </a:prstGeom>
          <a:solidFill>
            <a:srgbClr val="D1D5DB"/>
          </a:solidFill>
          <a:ln/>
        </p:spPr>
      </p:sp>
      <p:sp>
        <p:nvSpPr>
          <p:cNvPr id="38" name="Shape 35"/>
          <p:cNvSpPr/>
          <p:nvPr/>
        </p:nvSpPr>
        <p:spPr>
          <a:xfrm>
            <a:off x="7452360" y="3054096"/>
            <a:ext cx="2560320" cy="201168"/>
          </a:xfrm>
          <a:prstGeom prst="rect">
            <a:avLst/>
          </a:prstGeom>
          <a:solidFill>
            <a:srgbClr val="1A7C4F"/>
          </a:solidFill>
          <a:ln/>
        </p:spPr>
      </p:sp>
      <p:sp>
        <p:nvSpPr>
          <p:cNvPr id="39" name="Text 36"/>
          <p:cNvSpPr/>
          <p:nvPr/>
        </p:nvSpPr>
        <p:spPr>
          <a:xfrm>
            <a:off x="10085832" y="3017520"/>
            <a:ext cx="868680" cy="27432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A7C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72,9 %</a:t>
            </a:r>
            <a:endParaRPr lang="en-US" sz="1100" dirty="0"/>
          </a:p>
        </p:txBody>
      </p:sp>
      <p:sp>
        <p:nvSpPr>
          <p:cNvPr id="40" name="Shape 37"/>
          <p:cNvSpPr/>
          <p:nvPr/>
        </p:nvSpPr>
        <p:spPr>
          <a:xfrm>
            <a:off x="6492240" y="3456432"/>
            <a:ext cx="5486400" cy="475488"/>
          </a:xfrm>
          <a:prstGeom prst="rect">
            <a:avLst/>
          </a:prstGeom>
          <a:solidFill>
            <a:srgbClr val="F8FAFC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6601968" y="3584448"/>
            <a:ext cx="777240" cy="27432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Mars</a:t>
            </a:r>
            <a:endParaRPr lang="en-US" sz="1100" dirty="0"/>
          </a:p>
        </p:txBody>
      </p:sp>
      <p:sp>
        <p:nvSpPr>
          <p:cNvPr id="42" name="Shape 39"/>
          <p:cNvSpPr/>
          <p:nvPr/>
        </p:nvSpPr>
        <p:spPr>
          <a:xfrm>
            <a:off x="7452360" y="3584448"/>
            <a:ext cx="2560320" cy="201168"/>
          </a:xfrm>
          <a:prstGeom prst="rect">
            <a:avLst/>
          </a:prstGeom>
          <a:solidFill>
            <a:srgbClr val="D1D5DB"/>
          </a:solidFill>
          <a:ln/>
        </p:spPr>
      </p:sp>
      <p:sp>
        <p:nvSpPr>
          <p:cNvPr id="43" name="Shape 40"/>
          <p:cNvSpPr/>
          <p:nvPr/>
        </p:nvSpPr>
        <p:spPr>
          <a:xfrm>
            <a:off x="7452360" y="3584448"/>
            <a:ext cx="2525199" cy="201168"/>
          </a:xfrm>
          <a:prstGeom prst="rect">
            <a:avLst/>
          </a:prstGeom>
          <a:solidFill>
            <a:srgbClr val="1A7C4F"/>
          </a:solidFill>
          <a:ln/>
        </p:spPr>
      </p:sp>
      <p:sp>
        <p:nvSpPr>
          <p:cNvPr id="44" name="Text 41"/>
          <p:cNvSpPr/>
          <p:nvPr/>
        </p:nvSpPr>
        <p:spPr>
          <a:xfrm>
            <a:off x="10085832" y="3547872"/>
            <a:ext cx="868680" cy="27432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A7C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71,9 %</a:t>
            </a:r>
            <a:endParaRPr lang="en-US" sz="1100" dirty="0"/>
          </a:p>
        </p:txBody>
      </p:sp>
      <p:sp>
        <p:nvSpPr>
          <p:cNvPr id="45" name="Shape 42"/>
          <p:cNvSpPr/>
          <p:nvPr/>
        </p:nvSpPr>
        <p:spPr>
          <a:xfrm>
            <a:off x="6492240" y="3986784"/>
            <a:ext cx="5486400" cy="475488"/>
          </a:xfrm>
          <a:prstGeom prst="rect">
            <a:avLst/>
          </a:prstGeom>
          <a:solidFill>
            <a:srgbClr val="F8FAFC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>
            <a:off x="6601968" y="4114800"/>
            <a:ext cx="777240" cy="27432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Avril</a:t>
            </a:r>
            <a:endParaRPr lang="en-US" sz="1100" dirty="0"/>
          </a:p>
        </p:txBody>
      </p:sp>
      <p:sp>
        <p:nvSpPr>
          <p:cNvPr id="47" name="Shape 44"/>
          <p:cNvSpPr/>
          <p:nvPr/>
        </p:nvSpPr>
        <p:spPr>
          <a:xfrm>
            <a:off x="7452360" y="4114800"/>
            <a:ext cx="2560320" cy="201168"/>
          </a:xfrm>
          <a:prstGeom prst="rect">
            <a:avLst/>
          </a:prstGeom>
          <a:solidFill>
            <a:srgbClr val="D1D5DB"/>
          </a:solidFill>
          <a:ln/>
        </p:spPr>
      </p:sp>
      <p:sp>
        <p:nvSpPr>
          <p:cNvPr id="48" name="Shape 45"/>
          <p:cNvSpPr/>
          <p:nvPr/>
        </p:nvSpPr>
        <p:spPr>
          <a:xfrm>
            <a:off x="7452360" y="4114800"/>
            <a:ext cx="2391739" cy="201168"/>
          </a:xfrm>
          <a:prstGeom prst="rect">
            <a:avLst/>
          </a:prstGeom>
          <a:solidFill>
            <a:srgbClr val="1A7C4F"/>
          </a:solidFill>
          <a:ln/>
        </p:spPr>
      </p:sp>
      <p:sp>
        <p:nvSpPr>
          <p:cNvPr id="49" name="Text 46"/>
          <p:cNvSpPr/>
          <p:nvPr/>
        </p:nvSpPr>
        <p:spPr>
          <a:xfrm>
            <a:off x="10085832" y="4078224"/>
            <a:ext cx="868680" cy="27432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A7C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68,1 %</a:t>
            </a:r>
            <a:endParaRPr lang="en-US" sz="1100" dirty="0"/>
          </a:p>
        </p:txBody>
      </p:sp>
      <p:sp>
        <p:nvSpPr>
          <p:cNvPr id="50" name="Shape 47"/>
          <p:cNvSpPr/>
          <p:nvPr/>
        </p:nvSpPr>
        <p:spPr>
          <a:xfrm>
            <a:off x="6492240" y="4517136"/>
            <a:ext cx="5486400" cy="475488"/>
          </a:xfrm>
          <a:prstGeom prst="rect">
            <a:avLst/>
          </a:prstGeom>
          <a:solidFill>
            <a:srgbClr val="F8FAFC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51" name="Text 48"/>
          <p:cNvSpPr/>
          <p:nvPr/>
        </p:nvSpPr>
        <p:spPr>
          <a:xfrm>
            <a:off x="6601968" y="4645152"/>
            <a:ext cx="777240" cy="27432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</a:t>
            </a:r>
            <a:endParaRPr lang="en-US" sz="1100" dirty="0"/>
          </a:p>
        </p:txBody>
      </p:sp>
      <p:sp>
        <p:nvSpPr>
          <p:cNvPr id="52" name="Shape 49"/>
          <p:cNvSpPr/>
          <p:nvPr/>
        </p:nvSpPr>
        <p:spPr>
          <a:xfrm>
            <a:off x="7452360" y="4645152"/>
            <a:ext cx="2560320" cy="201168"/>
          </a:xfrm>
          <a:prstGeom prst="rect">
            <a:avLst/>
          </a:prstGeom>
          <a:solidFill>
            <a:srgbClr val="D1D5DB"/>
          </a:solidFill>
          <a:ln/>
        </p:spPr>
      </p:sp>
      <p:sp>
        <p:nvSpPr>
          <p:cNvPr id="53" name="Shape 50"/>
          <p:cNvSpPr/>
          <p:nvPr/>
        </p:nvSpPr>
        <p:spPr>
          <a:xfrm>
            <a:off x="7452360" y="4645152"/>
            <a:ext cx="1991360" cy="201168"/>
          </a:xfrm>
          <a:prstGeom prst="rect">
            <a:avLst/>
          </a:prstGeom>
          <a:solidFill>
            <a:srgbClr val="E05A00"/>
          </a:solidFill>
          <a:ln/>
        </p:spPr>
      </p:sp>
      <p:sp>
        <p:nvSpPr>
          <p:cNvPr id="54" name="Text 51"/>
          <p:cNvSpPr/>
          <p:nvPr/>
        </p:nvSpPr>
        <p:spPr>
          <a:xfrm>
            <a:off x="10085832" y="4608576"/>
            <a:ext cx="868680" cy="27432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E0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56,7 %</a:t>
            </a:r>
            <a:endParaRPr lang="en-US" sz="1100" dirty="0"/>
          </a:p>
        </p:txBody>
      </p:sp>
      <p:sp>
        <p:nvSpPr>
          <p:cNvPr id="55" name="Text 52"/>
          <p:cNvSpPr/>
          <p:nvPr/>
        </p:nvSpPr>
        <p:spPr>
          <a:xfrm>
            <a:off x="137160" y="5943600"/>
            <a:ext cx="1188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Concurrents : FM General Services 12,1% (518 TEU)  |  Movis Transit 5,8% (251 TEU)  |  CEVA Logistics 5,1% (220 TEU)</a:t>
            </a:r>
            <a:endParaRPr lang="en-US" sz="900" dirty="0"/>
          </a:p>
        </p:txBody>
      </p:sp>
      <p:sp>
        <p:nvSpPr>
          <p:cNvPr id="56" name="Text 53"/>
          <p:cNvSpPr/>
          <p:nvPr/>
        </p:nvSpPr>
        <p:spPr>
          <a:xfrm>
            <a:off x="137160" y="6172200"/>
            <a:ext cx="1188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Chargeurs AGL : SOFITEX 1 492 TEU  |  CMDT Bamako 1 010 TEU  |  SAGROCOM BF 249 TEU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D2243"/>
          </a:solidFill>
          <a:ln/>
        </p:spPr>
      </p:sp>
      <p:sp>
        <p:nvSpPr>
          <p:cNvPr id="3" name="Text 1"/>
          <p:cNvSpPr/>
          <p:nvPr/>
        </p:nvSpPr>
        <p:spPr>
          <a:xfrm>
            <a:off x="228600" y="45720"/>
            <a:ext cx="11887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HINTERLAND EXPORT – NOUVEAUX CHARGEURS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228600" y="548640"/>
            <a:ext cx="11430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Chargeurs entrés en 2026  |  Sécurisation du portefeuille coton  |  Nouvelle filière huile de palme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82880" y="6583680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Africa Global Logistics – Étude de Marché Jan–Mai 2026  |  p.19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430000" y="653796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AGL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228600" y="1097280"/>
            <a:ext cx="5943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Nouveaux chargeurs AGL – Hinterland Export 2026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37160" y="1371600"/>
            <a:ext cx="6217920" cy="256032"/>
          </a:xfrm>
          <a:prstGeom prst="rect">
            <a:avLst/>
          </a:prstGeom>
          <a:solidFill>
            <a:srgbClr val="0D2243"/>
          </a:solidFill>
          <a:ln/>
        </p:spPr>
      </p:sp>
      <p:sp>
        <p:nvSpPr>
          <p:cNvPr id="9" name="Text 7"/>
          <p:cNvSpPr/>
          <p:nvPr/>
        </p:nvSpPr>
        <p:spPr>
          <a:xfrm>
            <a:off x="173736" y="1408176"/>
            <a:ext cx="1508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Chargeur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1728216" y="1408176"/>
            <a:ext cx="1508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TEU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3282696" y="1408176"/>
            <a:ext cx="1508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Filière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4837176" y="1408176"/>
            <a:ext cx="1508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Entrée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137160" y="1627632"/>
            <a:ext cx="6217920" cy="256032"/>
          </a:xfrm>
          <a:prstGeom prst="rect">
            <a:avLst/>
          </a:prstGeom>
          <a:solidFill>
            <a:srgbClr val="FFF9EC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73736" y="1664208"/>
            <a:ext cx="1508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A7C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IVOIRE COTON EXPORT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1728216" y="1664208"/>
            <a:ext cx="1508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280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3282696" y="1664208"/>
            <a:ext cx="1508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Coton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4837176" y="1664208"/>
            <a:ext cx="1508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A7C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2026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137160" y="1883664"/>
            <a:ext cx="6217920" cy="256032"/>
          </a:xfrm>
          <a:prstGeom prst="rect">
            <a:avLst/>
          </a:prstGeom>
          <a:solidFill>
            <a:srgbClr val="F8F9FA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73736" y="1920240"/>
            <a:ext cx="1508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COTON BURKINA SUD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1728216" y="1920240"/>
            <a:ext cx="1508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195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3282696" y="1920240"/>
            <a:ext cx="1508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Coton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4837176" y="1920240"/>
            <a:ext cx="1508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 2026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137160" y="2139696"/>
            <a:ext cx="6217920" cy="256032"/>
          </a:xfrm>
          <a:prstGeom prst="rect">
            <a:avLst/>
          </a:prstGeom>
          <a:solidFill>
            <a:srgbClr val="FFFFFF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73736" y="2176272"/>
            <a:ext cx="1508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SODECOTON ML (Mali)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1728216" y="2176272"/>
            <a:ext cx="1508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160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3282696" y="2176272"/>
            <a:ext cx="1508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Coton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4837176" y="2176272"/>
            <a:ext cx="1508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 2026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137160" y="2395728"/>
            <a:ext cx="6217920" cy="256032"/>
          </a:xfrm>
          <a:prstGeom prst="rect">
            <a:avLst/>
          </a:prstGeom>
          <a:solidFill>
            <a:srgbClr val="F8F9FA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73736" y="2432304"/>
            <a:ext cx="1508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OIL PALM CI EXPORT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1728216" y="2432304"/>
            <a:ext cx="1508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140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3282696" y="2432304"/>
            <a:ext cx="1508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Huile de Palme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4837176" y="2432304"/>
            <a:ext cx="1508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2026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228600" y="3063240"/>
            <a:ext cx="5943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Portefeuille existant à sécuriser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137160" y="3337560"/>
            <a:ext cx="6217920" cy="256032"/>
          </a:xfrm>
          <a:prstGeom prst="rect">
            <a:avLst/>
          </a:prstGeom>
          <a:solidFill>
            <a:srgbClr val="0D2243"/>
          </a:solidFill>
          <a:ln/>
        </p:spPr>
      </p:sp>
      <p:sp>
        <p:nvSpPr>
          <p:cNvPr id="35" name="Text 33"/>
          <p:cNvSpPr/>
          <p:nvPr/>
        </p:nvSpPr>
        <p:spPr>
          <a:xfrm>
            <a:off x="173736" y="3374136"/>
            <a:ext cx="202692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Chargeur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2246376" y="3374136"/>
            <a:ext cx="202692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TEU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4319016" y="3374136"/>
            <a:ext cx="202692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Portefeuille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137160" y="3593592"/>
            <a:ext cx="6217920" cy="256032"/>
          </a:xfrm>
          <a:prstGeom prst="rect">
            <a:avLst/>
          </a:prstGeom>
          <a:solidFill>
            <a:srgbClr val="FFF9EC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73736" y="3630168"/>
            <a:ext cx="202692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A7C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SOFITEX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2246376" y="3630168"/>
            <a:ext cx="202692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1 492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4319016" y="3630168"/>
            <a:ext cx="202692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A7C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52,5 %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137160" y="3849624"/>
            <a:ext cx="6217920" cy="256032"/>
          </a:xfrm>
          <a:prstGeom prst="rect">
            <a:avLst/>
          </a:prstGeom>
          <a:solidFill>
            <a:srgbClr val="F8F9FA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73736" y="3886200"/>
            <a:ext cx="202692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CMDT Bamako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2246376" y="3886200"/>
            <a:ext cx="202692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1 010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4319016" y="3886200"/>
            <a:ext cx="202692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35,6 %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137160" y="4105656"/>
            <a:ext cx="6217920" cy="256032"/>
          </a:xfrm>
          <a:prstGeom prst="rect">
            <a:avLst/>
          </a:prstGeom>
          <a:solidFill>
            <a:srgbClr val="FFFFFF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173736" y="4142232"/>
            <a:ext cx="202692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SAGROCOM BF</a:t>
            </a:r>
            <a:endParaRPr lang="en-US" sz="850" dirty="0"/>
          </a:p>
        </p:txBody>
      </p:sp>
      <p:sp>
        <p:nvSpPr>
          <p:cNvPr id="48" name="Text 46"/>
          <p:cNvSpPr/>
          <p:nvPr/>
        </p:nvSpPr>
        <p:spPr>
          <a:xfrm>
            <a:off x="2246376" y="4142232"/>
            <a:ext cx="202692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249</a:t>
            </a:r>
            <a:endParaRPr lang="en-US" sz="850" dirty="0"/>
          </a:p>
        </p:txBody>
      </p:sp>
      <p:sp>
        <p:nvSpPr>
          <p:cNvPr id="49" name="Text 47"/>
          <p:cNvSpPr/>
          <p:nvPr/>
        </p:nvSpPr>
        <p:spPr>
          <a:xfrm>
            <a:off x="4319016" y="4142232"/>
            <a:ext cx="202692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8,8 %</a:t>
            </a:r>
            <a:endParaRPr lang="en-US" sz="850" dirty="0"/>
          </a:p>
        </p:txBody>
      </p:sp>
      <p:sp>
        <p:nvSpPr>
          <p:cNvPr id="50" name="Text 48"/>
          <p:cNvSpPr/>
          <p:nvPr/>
        </p:nvSpPr>
        <p:spPr>
          <a:xfrm>
            <a:off x="6492240" y="1097280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Contexte concurrentiel – PDM concurrents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6492240" y="1389888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FM GENERAL SERVICES</a:t>
            </a:r>
            <a:endParaRPr lang="en-US" sz="850" dirty="0"/>
          </a:p>
        </p:txBody>
      </p:sp>
      <p:sp>
        <p:nvSpPr>
          <p:cNvPr id="52" name="Text 50"/>
          <p:cNvSpPr/>
          <p:nvPr/>
        </p:nvSpPr>
        <p:spPr>
          <a:xfrm>
            <a:off x="8156448" y="1389888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518 TEU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9052560" y="1426464"/>
            <a:ext cx="2743200" cy="164592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54" name="Shape 52"/>
          <p:cNvSpPr/>
          <p:nvPr/>
        </p:nvSpPr>
        <p:spPr>
          <a:xfrm>
            <a:off x="9052560" y="1426464"/>
            <a:ext cx="329184" cy="164592"/>
          </a:xfrm>
          <a:prstGeom prst="rect">
            <a:avLst/>
          </a:prstGeom>
          <a:solidFill>
            <a:srgbClr val="E05A00"/>
          </a:solidFill>
          <a:ln/>
        </p:spPr>
      </p:sp>
      <p:sp>
        <p:nvSpPr>
          <p:cNvPr id="55" name="Text 53"/>
          <p:cNvSpPr/>
          <p:nvPr/>
        </p:nvSpPr>
        <p:spPr>
          <a:xfrm>
            <a:off x="11841480" y="1389888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0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12%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6492240" y="1773936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MOVIS TRANSIT CI</a:t>
            </a:r>
            <a:endParaRPr lang="en-US" sz="850" dirty="0"/>
          </a:p>
        </p:txBody>
      </p:sp>
      <p:sp>
        <p:nvSpPr>
          <p:cNvPr id="57" name="Text 55"/>
          <p:cNvSpPr/>
          <p:nvPr/>
        </p:nvSpPr>
        <p:spPr>
          <a:xfrm>
            <a:off x="8156448" y="1773936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251 TEU</a:t>
            </a:r>
            <a:endParaRPr lang="en-US" sz="850" dirty="0"/>
          </a:p>
        </p:txBody>
      </p:sp>
      <p:sp>
        <p:nvSpPr>
          <p:cNvPr id="58" name="Shape 56"/>
          <p:cNvSpPr/>
          <p:nvPr/>
        </p:nvSpPr>
        <p:spPr>
          <a:xfrm>
            <a:off x="9052560" y="1810512"/>
            <a:ext cx="2743200" cy="164592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59" name="Shape 57"/>
          <p:cNvSpPr/>
          <p:nvPr/>
        </p:nvSpPr>
        <p:spPr>
          <a:xfrm>
            <a:off x="9052560" y="1810512"/>
            <a:ext cx="164592" cy="164592"/>
          </a:xfrm>
          <a:prstGeom prst="rect">
            <a:avLst/>
          </a:prstGeom>
          <a:solidFill>
            <a:srgbClr val="CC2200"/>
          </a:solidFill>
          <a:ln/>
        </p:spPr>
      </p:sp>
      <p:sp>
        <p:nvSpPr>
          <p:cNvPr id="60" name="Text 58"/>
          <p:cNvSpPr/>
          <p:nvPr/>
        </p:nvSpPr>
        <p:spPr>
          <a:xfrm>
            <a:off x="11841480" y="1773936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C2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6%</a:t>
            </a:r>
            <a:endParaRPr lang="en-US" sz="900" dirty="0"/>
          </a:p>
        </p:txBody>
      </p:sp>
      <p:sp>
        <p:nvSpPr>
          <p:cNvPr id="61" name="Text 59"/>
          <p:cNvSpPr/>
          <p:nvPr/>
        </p:nvSpPr>
        <p:spPr>
          <a:xfrm>
            <a:off x="6492240" y="2157984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CEVA LOGISTICS CI</a:t>
            </a:r>
            <a:endParaRPr lang="en-US" sz="850" dirty="0"/>
          </a:p>
        </p:txBody>
      </p:sp>
      <p:sp>
        <p:nvSpPr>
          <p:cNvPr id="62" name="Text 60"/>
          <p:cNvSpPr/>
          <p:nvPr/>
        </p:nvSpPr>
        <p:spPr>
          <a:xfrm>
            <a:off x="8156448" y="2157984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220 TEU</a:t>
            </a:r>
            <a:endParaRPr lang="en-US" sz="850" dirty="0"/>
          </a:p>
        </p:txBody>
      </p:sp>
      <p:sp>
        <p:nvSpPr>
          <p:cNvPr id="63" name="Shape 61"/>
          <p:cNvSpPr/>
          <p:nvPr/>
        </p:nvSpPr>
        <p:spPr>
          <a:xfrm>
            <a:off x="9052560" y="2194560"/>
            <a:ext cx="2743200" cy="164592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64" name="Shape 62"/>
          <p:cNvSpPr/>
          <p:nvPr/>
        </p:nvSpPr>
        <p:spPr>
          <a:xfrm>
            <a:off x="9052560" y="2194560"/>
            <a:ext cx="137160" cy="164592"/>
          </a:xfrm>
          <a:prstGeom prst="rect">
            <a:avLst/>
          </a:prstGeom>
          <a:solidFill>
            <a:srgbClr val="CC2200"/>
          </a:solidFill>
          <a:ln/>
        </p:spPr>
      </p:sp>
      <p:sp>
        <p:nvSpPr>
          <p:cNvPr id="65" name="Text 63"/>
          <p:cNvSpPr/>
          <p:nvPr/>
        </p:nvSpPr>
        <p:spPr>
          <a:xfrm>
            <a:off x="11841480" y="2157984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C2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5%</a:t>
            </a:r>
            <a:endParaRPr lang="en-US" sz="900" dirty="0"/>
          </a:p>
        </p:txBody>
      </p:sp>
      <p:sp>
        <p:nvSpPr>
          <p:cNvPr id="66" name="Shape 64"/>
          <p:cNvSpPr/>
          <p:nvPr/>
        </p:nvSpPr>
        <p:spPr>
          <a:xfrm>
            <a:off x="6492240" y="3200400"/>
            <a:ext cx="5486400" cy="777240"/>
          </a:xfrm>
          <a:prstGeom prst="rect">
            <a:avLst/>
          </a:prstGeom>
          <a:solidFill>
            <a:srgbClr val="FEF2F2"/>
          </a:solidFill>
          <a:ln w="6350">
            <a:solidFill>
              <a:srgbClr val="E5C97A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6583680" y="3273552"/>
            <a:ext cx="5303520" cy="6675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MENACE CEVA : CEVA Logistics (CMA CGM, bureau Abidjan avril 2026) capte déjà 5,1% du marché. Risque direct sur les flux coton Bamako–Ouagadougou.</a:t>
            </a:r>
            <a:endParaRPr lang="en-US" sz="900" dirty="0"/>
          </a:p>
        </p:txBody>
      </p:sp>
      <p:sp>
        <p:nvSpPr>
          <p:cNvPr id="68" name="Shape 66"/>
          <p:cNvSpPr/>
          <p:nvPr/>
        </p:nvSpPr>
        <p:spPr>
          <a:xfrm>
            <a:off x="6492240" y="4114800"/>
            <a:ext cx="5486400" cy="777240"/>
          </a:xfrm>
          <a:prstGeom prst="rect">
            <a:avLst/>
          </a:prstGeom>
          <a:solidFill>
            <a:srgbClr val="FFFBEC"/>
          </a:solidFill>
          <a:ln w="6350">
            <a:solidFill>
              <a:srgbClr val="E5C97A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6583680" y="4187952"/>
            <a:ext cx="5303520" cy="6675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ACTION : Sécuriser SOFITEX (52,5% du portefeuille) et CMDT par contrats pluriannuels avant la campagne coton 2026–2027. Développer la filière huile de palme (140 TEU dès Q1).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2243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0" y="457200"/>
            <a:ext cx="54864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0000" dirty="0"/>
          </a:p>
        </p:txBody>
      </p:sp>
      <p:sp>
        <p:nvSpPr>
          <p:cNvPr id="4" name="Shape 2"/>
          <p:cNvSpPr/>
          <p:nvPr/>
        </p:nvSpPr>
        <p:spPr>
          <a:xfrm>
            <a:off x="1097280" y="3520440"/>
            <a:ext cx="7498080" cy="59436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2651760"/>
            <a:ext cx="11430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AÉRIEN IMPORT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365760" y="3657600"/>
            <a:ext cx="11430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5 603 T qualifiées  |  PDM AGL : 20,8%  |  #1 ABSOLU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828800" y="649224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Africa Global Logistics – Étude de Marché Jan–Mai 2026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430000" y="6473952"/>
            <a:ext cx="640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AGL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D2243"/>
          </a:solidFill>
          <a:ln/>
        </p:spPr>
      </p:sp>
      <p:sp>
        <p:nvSpPr>
          <p:cNvPr id="3" name="Text 1"/>
          <p:cNvSpPr/>
          <p:nvPr/>
        </p:nvSpPr>
        <p:spPr>
          <a:xfrm>
            <a:off x="228600" y="45720"/>
            <a:ext cx="11887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AÉRIEN IMPORT – VUE D'ENSEMBLE  |  Jan–Mai 2025 vs 2026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228600" y="548640"/>
            <a:ext cx="11430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Marché qualifié : +1,5% vs 2025  |  AGL #1 ABSOLU – PDM 20,8%  |  Montée en puissance Jan→Mai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82880" y="6583680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Africa Global Logistics – Étude de Marché Jan–Mai 2026  |  p.17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430000" y="653796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AGL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137160" y="1097280"/>
            <a:ext cx="2291486" cy="868680"/>
          </a:xfrm>
          <a:prstGeom prst="rect">
            <a:avLst/>
          </a:prstGeom>
          <a:solidFill>
            <a:srgbClr val="F0F2F5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37160" y="1143000"/>
            <a:ext cx="229148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MARCHÉ QUALIFIÉ 2025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37160" y="1316736"/>
            <a:ext cx="229148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D22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5 521 T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37160" y="1719072"/>
            <a:ext cx="229148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Jan–Mai 2025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2520086" y="1097280"/>
            <a:ext cx="2291486" cy="868680"/>
          </a:xfrm>
          <a:prstGeom prst="rect">
            <a:avLst/>
          </a:prstGeom>
          <a:solidFill>
            <a:srgbClr val="F0F2F5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520086" y="1143000"/>
            <a:ext cx="229148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MARCHÉ QUALIFIÉ 2026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2520086" y="1316736"/>
            <a:ext cx="229148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D22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5 603 T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2520086" y="1719072"/>
            <a:ext cx="229148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+1,5% vs 2025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4903013" y="1097280"/>
            <a:ext cx="2291486" cy="868680"/>
          </a:xfrm>
          <a:prstGeom prst="rect">
            <a:avLst/>
          </a:prstGeom>
          <a:solidFill>
            <a:srgbClr val="F0F2F5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903013" y="1143000"/>
            <a:ext cx="229148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AGL 2026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4903013" y="1316736"/>
            <a:ext cx="229148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A7C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1 166 T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903013" y="1719072"/>
            <a:ext cx="229148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#1 ABSOLU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7285939" y="1097280"/>
            <a:ext cx="2291486" cy="868680"/>
          </a:xfrm>
          <a:prstGeom prst="rect">
            <a:avLst/>
          </a:prstGeom>
          <a:solidFill>
            <a:srgbClr val="F0F2F5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285939" y="1143000"/>
            <a:ext cx="229148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PDM AGL 2026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7285939" y="1316736"/>
            <a:ext cx="229148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A7C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20,8 %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7285939" y="1719072"/>
            <a:ext cx="229148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~18% estimé 2025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9668866" y="1097280"/>
            <a:ext cx="2291486" cy="868680"/>
          </a:xfrm>
          <a:prstGeom prst="rect">
            <a:avLst/>
          </a:prstGeom>
          <a:solidFill>
            <a:srgbClr val="F0F2F5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668866" y="1143000"/>
            <a:ext cx="229148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PDM MAI 2026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9668866" y="1316736"/>
            <a:ext cx="229148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56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31,2 %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9668866" y="1719072"/>
            <a:ext cx="229148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de la période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228600" y="2084832"/>
            <a:ext cx="5943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Marché aérien import qualifié (kg) – 2025 vs 2026</a:t>
            </a:r>
            <a:endParaRPr lang="en-US" sz="1100" dirty="0"/>
          </a:p>
        </p:txBody>
      </p:sp>
      <p:graphicFrame>
        <p:nvGraphicFramePr>
          <p:cNvPr id="28" name="Chart 0" descr=""/>
          <p:cNvGraphicFramePr/>
          <p:nvPr/>
        </p:nvGraphicFramePr>
        <p:xfrm>
          <a:off x="137160" y="2331720"/>
          <a:ext cx="6217920" cy="3931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9" name="Text 26"/>
          <p:cNvSpPr/>
          <p:nvPr/>
        </p:nvSpPr>
        <p:spPr>
          <a:xfrm>
            <a:off x="6492240" y="2084832"/>
            <a:ext cx="5303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PDM AGL aérien – Progression Jan→Mai 2026 (%)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6492240" y="2395728"/>
            <a:ext cx="5486400" cy="475488"/>
          </a:xfrm>
          <a:prstGeom prst="rect">
            <a:avLst/>
          </a:prstGeom>
          <a:solidFill>
            <a:srgbClr val="F8FAFC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6601968" y="2523744"/>
            <a:ext cx="777240" cy="27432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Janvier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7452360" y="2523744"/>
            <a:ext cx="2560320" cy="201168"/>
          </a:xfrm>
          <a:prstGeom prst="rect">
            <a:avLst/>
          </a:prstGeom>
          <a:solidFill>
            <a:srgbClr val="D1D5DB"/>
          </a:solidFill>
          <a:ln/>
        </p:spPr>
      </p:sp>
      <p:sp>
        <p:nvSpPr>
          <p:cNvPr id="33" name="Shape 30"/>
          <p:cNvSpPr/>
          <p:nvPr/>
        </p:nvSpPr>
        <p:spPr>
          <a:xfrm>
            <a:off x="7452360" y="2523744"/>
            <a:ext cx="894471" cy="201168"/>
          </a:xfrm>
          <a:prstGeom prst="rect">
            <a:avLst/>
          </a:prstGeom>
          <a:solidFill>
            <a:srgbClr val="E05A00"/>
          </a:solidFill>
          <a:ln/>
        </p:spPr>
      </p:sp>
      <p:sp>
        <p:nvSpPr>
          <p:cNvPr id="34" name="Text 31"/>
          <p:cNvSpPr/>
          <p:nvPr/>
        </p:nvSpPr>
        <p:spPr>
          <a:xfrm>
            <a:off x="10085832" y="2487168"/>
            <a:ext cx="868680" cy="27432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E0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10,9 %</a:t>
            </a:r>
            <a:endParaRPr lang="en-US" sz="1100" dirty="0"/>
          </a:p>
        </p:txBody>
      </p:sp>
      <p:sp>
        <p:nvSpPr>
          <p:cNvPr id="35" name="Shape 32"/>
          <p:cNvSpPr/>
          <p:nvPr/>
        </p:nvSpPr>
        <p:spPr>
          <a:xfrm>
            <a:off x="6492240" y="2926080"/>
            <a:ext cx="5486400" cy="475488"/>
          </a:xfrm>
          <a:prstGeom prst="rect">
            <a:avLst/>
          </a:prstGeom>
          <a:solidFill>
            <a:srgbClr val="F8FAFC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6601968" y="3054096"/>
            <a:ext cx="777240" cy="27432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Février</a:t>
            </a:r>
            <a:endParaRPr lang="en-US" sz="1100" dirty="0"/>
          </a:p>
        </p:txBody>
      </p:sp>
      <p:sp>
        <p:nvSpPr>
          <p:cNvPr id="37" name="Shape 34"/>
          <p:cNvSpPr/>
          <p:nvPr/>
        </p:nvSpPr>
        <p:spPr>
          <a:xfrm>
            <a:off x="7452360" y="3054096"/>
            <a:ext cx="2560320" cy="201168"/>
          </a:xfrm>
          <a:prstGeom prst="rect">
            <a:avLst/>
          </a:prstGeom>
          <a:solidFill>
            <a:srgbClr val="D1D5DB"/>
          </a:solidFill>
          <a:ln/>
        </p:spPr>
      </p:sp>
      <p:sp>
        <p:nvSpPr>
          <p:cNvPr id="38" name="Shape 35"/>
          <p:cNvSpPr/>
          <p:nvPr/>
        </p:nvSpPr>
        <p:spPr>
          <a:xfrm>
            <a:off x="7452360" y="3054096"/>
            <a:ext cx="1247335" cy="201168"/>
          </a:xfrm>
          <a:prstGeom prst="rect">
            <a:avLst/>
          </a:prstGeom>
          <a:solidFill>
            <a:srgbClr val="E05A00"/>
          </a:solidFill>
          <a:ln/>
        </p:spPr>
      </p:sp>
      <p:sp>
        <p:nvSpPr>
          <p:cNvPr id="39" name="Text 36"/>
          <p:cNvSpPr/>
          <p:nvPr/>
        </p:nvSpPr>
        <p:spPr>
          <a:xfrm>
            <a:off x="10085832" y="3017520"/>
            <a:ext cx="868680" cy="27432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E0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15,2 %</a:t>
            </a:r>
            <a:endParaRPr lang="en-US" sz="1100" dirty="0"/>
          </a:p>
        </p:txBody>
      </p:sp>
      <p:sp>
        <p:nvSpPr>
          <p:cNvPr id="40" name="Shape 37"/>
          <p:cNvSpPr/>
          <p:nvPr/>
        </p:nvSpPr>
        <p:spPr>
          <a:xfrm>
            <a:off x="6492240" y="3456432"/>
            <a:ext cx="5486400" cy="475488"/>
          </a:xfrm>
          <a:prstGeom prst="rect">
            <a:avLst/>
          </a:prstGeom>
          <a:solidFill>
            <a:srgbClr val="F8FAFC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6601968" y="3584448"/>
            <a:ext cx="777240" cy="27432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Mars</a:t>
            </a:r>
            <a:endParaRPr lang="en-US" sz="1100" dirty="0"/>
          </a:p>
        </p:txBody>
      </p:sp>
      <p:sp>
        <p:nvSpPr>
          <p:cNvPr id="42" name="Shape 39"/>
          <p:cNvSpPr/>
          <p:nvPr/>
        </p:nvSpPr>
        <p:spPr>
          <a:xfrm>
            <a:off x="7452360" y="3584448"/>
            <a:ext cx="2560320" cy="201168"/>
          </a:xfrm>
          <a:prstGeom prst="rect">
            <a:avLst/>
          </a:prstGeom>
          <a:solidFill>
            <a:srgbClr val="D1D5DB"/>
          </a:solidFill>
          <a:ln/>
        </p:spPr>
      </p:sp>
      <p:sp>
        <p:nvSpPr>
          <p:cNvPr id="43" name="Shape 40"/>
          <p:cNvSpPr/>
          <p:nvPr/>
        </p:nvSpPr>
        <p:spPr>
          <a:xfrm>
            <a:off x="7452360" y="3584448"/>
            <a:ext cx="1838178" cy="201168"/>
          </a:xfrm>
          <a:prstGeom prst="rect">
            <a:avLst/>
          </a:prstGeom>
          <a:solidFill>
            <a:srgbClr val="1A7C4F"/>
          </a:solidFill>
          <a:ln/>
        </p:spPr>
      </p:sp>
      <p:sp>
        <p:nvSpPr>
          <p:cNvPr id="44" name="Text 41"/>
          <p:cNvSpPr/>
          <p:nvPr/>
        </p:nvSpPr>
        <p:spPr>
          <a:xfrm>
            <a:off x="10085832" y="3547872"/>
            <a:ext cx="868680" cy="27432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A7C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22,4 %</a:t>
            </a:r>
            <a:endParaRPr lang="en-US" sz="1100" dirty="0"/>
          </a:p>
        </p:txBody>
      </p:sp>
      <p:sp>
        <p:nvSpPr>
          <p:cNvPr id="45" name="Shape 42"/>
          <p:cNvSpPr/>
          <p:nvPr/>
        </p:nvSpPr>
        <p:spPr>
          <a:xfrm>
            <a:off x="6492240" y="3986784"/>
            <a:ext cx="5486400" cy="475488"/>
          </a:xfrm>
          <a:prstGeom prst="rect">
            <a:avLst/>
          </a:prstGeom>
          <a:solidFill>
            <a:srgbClr val="F8FAFC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>
            <a:off x="6601968" y="4114800"/>
            <a:ext cx="777240" cy="27432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Avril</a:t>
            </a:r>
            <a:endParaRPr lang="en-US" sz="1100" dirty="0"/>
          </a:p>
        </p:txBody>
      </p:sp>
      <p:sp>
        <p:nvSpPr>
          <p:cNvPr id="47" name="Shape 44"/>
          <p:cNvSpPr/>
          <p:nvPr/>
        </p:nvSpPr>
        <p:spPr>
          <a:xfrm>
            <a:off x="7452360" y="4114800"/>
            <a:ext cx="2560320" cy="201168"/>
          </a:xfrm>
          <a:prstGeom prst="rect">
            <a:avLst/>
          </a:prstGeom>
          <a:solidFill>
            <a:srgbClr val="D1D5DB"/>
          </a:solidFill>
          <a:ln/>
        </p:spPr>
      </p:sp>
      <p:sp>
        <p:nvSpPr>
          <p:cNvPr id="48" name="Shape 45"/>
          <p:cNvSpPr/>
          <p:nvPr/>
        </p:nvSpPr>
        <p:spPr>
          <a:xfrm>
            <a:off x="7452360" y="4114800"/>
            <a:ext cx="2305929" cy="201168"/>
          </a:xfrm>
          <a:prstGeom prst="rect">
            <a:avLst/>
          </a:prstGeom>
          <a:solidFill>
            <a:srgbClr val="1A7C4F"/>
          </a:solidFill>
          <a:ln/>
        </p:spPr>
      </p:sp>
      <p:sp>
        <p:nvSpPr>
          <p:cNvPr id="49" name="Text 46"/>
          <p:cNvSpPr/>
          <p:nvPr/>
        </p:nvSpPr>
        <p:spPr>
          <a:xfrm>
            <a:off x="10085832" y="4078224"/>
            <a:ext cx="868680" cy="27432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A7C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28,1 %</a:t>
            </a:r>
            <a:endParaRPr lang="en-US" sz="1100" dirty="0"/>
          </a:p>
        </p:txBody>
      </p:sp>
      <p:sp>
        <p:nvSpPr>
          <p:cNvPr id="50" name="Shape 47"/>
          <p:cNvSpPr/>
          <p:nvPr/>
        </p:nvSpPr>
        <p:spPr>
          <a:xfrm>
            <a:off x="6492240" y="4517136"/>
            <a:ext cx="5486400" cy="475488"/>
          </a:xfrm>
          <a:prstGeom prst="rect">
            <a:avLst/>
          </a:prstGeom>
          <a:solidFill>
            <a:srgbClr val="F8FAFC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51" name="Text 48"/>
          <p:cNvSpPr/>
          <p:nvPr/>
        </p:nvSpPr>
        <p:spPr>
          <a:xfrm>
            <a:off x="6601968" y="4645152"/>
            <a:ext cx="777240" cy="27432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</a:t>
            </a:r>
            <a:endParaRPr lang="en-US" sz="1100" dirty="0"/>
          </a:p>
        </p:txBody>
      </p:sp>
      <p:sp>
        <p:nvSpPr>
          <p:cNvPr id="52" name="Shape 49"/>
          <p:cNvSpPr/>
          <p:nvPr/>
        </p:nvSpPr>
        <p:spPr>
          <a:xfrm>
            <a:off x="7452360" y="4645152"/>
            <a:ext cx="2560320" cy="201168"/>
          </a:xfrm>
          <a:prstGeom prst="rect">
            <a:avLst/>
          </a:prstGeom>
          <a:solidFill>
            <a:srgbClr val="D1D5DB"/>
          </a:solidFill>
          <a:ln/>
        </p:spPr>
      </p:sp>
      <p:sp>
        <p:nvSpPr>
          <p:cNvPr id="53" name="Shape 50"/>
          <p:cNvSpPr/>
          <p:nvPr/>
        </p:nvSpPr>
        <p:spPr>
          <a:xfrm>
            <a:off x="7452360" y="4645152"/>
            <a:ext cx="2560320" cy="201168"/>
          </a:xfrm>
          <a:prstGeom prst="rect">
            <a:avLst/>
          </a:prstGeom>
          <a:solidFill>
            <a:srgbClr val="1A7C4F"/>
          </a:solidFill>
          <a:ln/>
        </p:spPr>
      </p:sp>
      <p:sp>
        <p:nvSpPr>
          <p:cNvPr id="54" name="Text 51"/>
          <p:cNvSpPr/>
          <p:nvPr/>
        </p:nvSpPr>
        <p:spPr>
          <a:xfrm>
            <a:off x="10085832" y="4608576"/>
            <a:ext cx="868680" cy="27432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A7C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31,2 %</a:t>
            </a:r>
            <a:endParaRPr lang="en-US" sz="1100" dirty="0"/>
          </a:p>
        </p:txBody>
      </p:sp>
      <p:sp>
        <p:nvSpPr>
          <p:cNvPr id="55" name="Shape 52"/>
          <p:cNvSpPr/>
          <p:nvPr/>
        </p:nvSpPr>
        <p:spPr>
          <a:xfrm>
            <a:off x="6492240" y="5212080"/>
            <a:ext cx="5486400" cy="685800"/>
          </a:xfrm>
          <a:prstGeom prst="rect">
            <a:avLst/>
          </a:prstGeom>
          <a:solidFill>
            <a:srgbClr val="F0FDF4"/>
          </a:solidFill>
          <a:ln w="6350">
            <a:solidFill>
              <a:srgbClr val="E5C97A"/>
            </a:solidFill>
            <a:prstDash val="solid"/>
          </a:ln>
        </p:spPr>
      </p:sp>
      <p:sp>
        <p:nvSpPr>
          <p:cNvPr id="56" name="Text 53"/>
          <p:cNvSpPr/>
          <p:nvPr/>
        </p:nvSpPr>
        <p:spPr>
          <a:xfrm>
            <a:off x="6583680" y="5285232"/>
            <a:ext cx="5303520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🏆  AGL #1 ABSOLU aérien import (qualifié) : 20,8% de PDM sur 5 603 tonnes. Progression remarquable : 10,9% en Janvier → 31,2% en Mai, soit +20,3 pts en 5 mois.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D2243"/>
          </a:solidFill>
          <a:ln/>
        </p:spPr>
      </p:sp>
      <p:sp>
        <p:nvSpPr>
          <p:cNvPr id="3" name="Text 1"/>
          <p:cNvSpPr/>
          <p:nvPr/>
        </p:nvSpPr>
        <p:spPr>
          <a:xfrm>
            <a:off x="228600" y="45720"/>
            <a:ext cx="11887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AÉRIEN IMPORT – SEGMENTS &amp; CONCURRENTS  |  2025 vs 2026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228600" y="548640"/>
            <a:ext cx="11430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Évolution marchandises  |  Classement transitaires qualifiés  |  PDM AGL par filière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82880" y="6583680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Africa Global Logistics – Étude de Marché Jan–Mai 2026  |  p.18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430000" y="653796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AGL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228600" y="1097280"/>
            <a:ext cx="5943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marchandises – évolution 2025 vs 2026 (kg)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37160" y="1371600"/>
            <a:ext cx="6217920" cy="256032"/>
          </a:xfrm>
          <a:prstGeom prst="rect">
            <a:avLst/>
          </a:prstGeom>
          <a:solidFill>
            <a:srgbClr val="0D2243"/>
          </a:solidFill>
          <a:ln/>
        </p:spPr>
      </p:sp>
      <p:sp>
        <p:nvSpPr>
          <p:cNvPr id="9" name="Text 7"/>
          <p:cNvSpPr/>
          <p:nvPr/>
        </p:nvSpPr>
        <p:spPr>
          <a:xfrm>
            <a:off x="173736" y="1408176"/>
            <a:ext cx="1508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Marchandise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1728216" y="1408176"/>
            <a:ext cx="1508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3282696" y="1408176"/>
            <a:ext cx="1508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4837176" y="1408176"/>
            <a:ext cx="1508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Var.%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137160" y="1627632"/>
            <a:ext cx="6217920" cy="256032"/>
          </a:xfrm>
          <a:prstGeom prst="rect">
            <a:avLst/>
          </a:prstGeom>
          <a:solidFill>
            <a:srgbClr val="FFF9EC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73736" y="1664208"/>
            <a:ext cx="1508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A7C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OEUFS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1728216" y="1664208"/>
            <a:ext cx="1508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1 483 700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3282696" y="1664208"/>
            <a:ext cx="1508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1 883 317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4837176" y="1664208"/>
            <a:ext cx="1508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A7C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+26,9%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137160" y="1883664"/>
            <a:ext cx="6217920" cy="256032"/>
          </a:xfrm>
          <a:prstGeom prst="rect">
            <a:avLst/>
          </a:prstGeom>
          <a:solidFill>
            <a:srgbClr val="F8F9FA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73736" y="1920240"/>
            <a:ext cx="1508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MATÉRIELS MINIERS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1728216" y="1920240"/>
            <a:ext cx="1508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149 783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3282696" y="1920240"/>
            <a:ext cx="1508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515 776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4837176" y="1920240"/>
            <a:ext cx="1508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+244,3%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137160" y="2139696"/>
            <a:ext cx="6217920" cy="256032"/>
          </a:xfrm>
          <a:prstGeom prst="rect">
            <a:avLst/>
          </a:prstGeom>
          <a:solidFill>
            <a:srgbClr val="FFFFFF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73736" y="2176272"/>
            <a:ext cx="1508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MACHINES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1728216" y="2176272"/>
            <a:ext cx="1508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255 984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3282696" y="2176272"/>
            <a:ext cx="1508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486 785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4837176" y="2176272"/>
            <a:ext cx="1508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+90,2%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137160" y="2395728"/>
            <a:ext cx="6217920" cy="256032"/>
          </a:xfrm>
          <a:prstGeom prst="rect">
            <a:avLst/>
          </a:prstGeom>
          <a:solidFill>
            <a:srgbClr val="F8F9FA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73736" y="2432304"/>
            <a:ext cx="1508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MÉDICAMENTS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1728216" y="2432304"/>
            <a:ext cx="1508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280 991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3282696" y="2432304"/>
            <a:ext cx="1508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337 882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4837176" y="2432304"/>
            <a:ext cx="1508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+20,2%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137160" y="2651760"/>
            <a:ext cx="6217920" cy="256032"/>
          </a:xfrm>
          <a:prstGeom prst="rect">
            <a:avLst/>
          </a:prstGeom>
          <a:solidFill>
            <a:srgbClr val="FFFFFF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73736" y="2688336"/>
            <a:ext cx="1508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BILLETS DE BANQUE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1728216" y="2688336"/>
            <a:ext cx="1508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268 210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3282696" y="2688336"/>
            <a:ext cx="1508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330 706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4837176" y="2688336"/>
            <a:ext cx="1508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+23,3%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137160" y="2907792"/>
            <a:ext cx="6217920" cy="256032"/>
          </a:xfrm>
          <a:prstGeom prst="rect">
            <a:avLst/>
          </a:prstGeom>
          <a:solidFill>
            <a:srgbClr val="F8F9FA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73736" y="2944368"/>
            <a:ext cx="1508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TÉLÉCOMS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1728216" y="2944368"/>
            <a:ext cx="1508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113 602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3282696" y="2944368"/>
            <a:ext cx="1508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182 071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4837176" y="2944368"/>
            <a:ext cx="1508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+60,3%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137160" y="3163824"/>
            <a:ext cx="6217920" cy="256032"/>
          </a:xfrm>
          <a:prstGeom prst="rect">
            <a:avLst/>
          </a:prstGeom>
          <a:solidFill>
            <a:srgbClr val="FFFFFF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173736" y="3200400"/>
            <a:ext cx="1508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MATÉRIELS ÉLECTRIQUE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1728216" y="3200400"/>
            <a:ext cx="1508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64 622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3282696" y="3200400"/>
            <a:ext cx="1508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158 887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4837176" y="3200400"/>
            <a:ext cx="1508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+145,9%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137160" y="3419856"/>
            <a:ext cx="6217920" cy="256032"/>
          </a:xfrm>
          <a:prstGeom prst="rect">
            <a:avLst/>
          </a:prstGeom>
          <a:solidFill>
            <a:srgbClr val="F8F9FA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173736" y="3456432"/>
            <a:ext cx="1508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PIÈCES DÉTACHÉES</a:t>
            </a:r>
            <a:endParaRPr lang="en-US" sz="850" dirty="0"/>
          </a:p>
        </p:txBody>
      </p:sp>
      <p:sp>
        <p:nvSpPr>
          <p:cNvPr id="50" name="Text 48"/>
          <p:cNvSpPr/>
          <p:nvPr/>
        </p:nvSpPr>
        <p:spPr>
          <a:xfrm>
            <a:off x="1728216" y="3456432"/>
            <a:ext cx="1508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1 181 203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3282696" y="3456432"/>
            <a:ext cx="1508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942 926</a:t>
            </a:r>
            <a:endParaRPr lang="en-US" sz="850" dirty="0"/>
          </a:p>
        </p:txBody>
      </p:sp>
      <p:sp>
        <p:nvSpPr>
          <p:cNvPr id="52" name="Text 50"/>
          <p:cNvSpPr/>
          <p:nvPr/>
        </p:nvSpPr>
        <p:spPr>
          <a:xfrm>
            <a:off x="4837176" y="3456432"/>
            <a:ext cx="1508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–20,2%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137160" y="3675888"/>
            <a:ext cx="6217920" cy="256032"/>
          </a:xfrm>
          <a:prstGeom prst="rect">
            <a:avLst/>
          </a:prstGeom>
          <a:solidFill>
            <a:srgbClr val="FFFFFF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173736" y="3712464"/>
            <a:ext cx="1508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PRODUITS CHIMIQUES</a:t>
            </a:r>
            <a:endParaRPr lang="en-US" sz="850" dirty="0"/>
          </a:p>
        </p:txBody>
      </p:sp>
      <p:sp>
        <p:nvSpPr>
          <p:cNvPr id="55" name="Text 53"/>
          <p:cNvSpPr/>
          <p:nvPr/>
        </p:nvSpPr>
        <p:spPr>
          <a:xfrm>
            <a:off x="1728216" y="3712464"/>
            <a:ext cx="1508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207 323</a:t>
            </a:r>
            <a:endParaRPr lang="en-US" sz="850" dirty="0"/>
          </a:p>
        </p:txBody>
      </p:sp>
      <p:sp>
        <p:nvSpPr>
          <p:cNvPr id="56" name="Text 54"/>
          <p:cNvSpPr/>
          <p:nvPr/>
        </p:nvSpPr>
        <p:spPr>
          <a:xfrm>
            <a:off x="3282696" y="3712464"/>
            <a:ext cx="1508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189 901</a:t>
            </a:r>
            <a:endParaRPr lang="en-US" sz="850" dirty="0"/>
          </a:p>
        </p:txBody>
      </p:sp>
      <p:sp>
        <p:nvSpPr>
          <p:cNvPr id="57" name="Text 55"/>
          <p:cNvSpPr/>
          <p:nvPr/>
        </p:nvSpPr>
        <p:spPr>
          <a:xfrm>
            <a:off x="4837176" y="3712464"/>
            <a:ext cx="1508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–8,4%</a:t>
            </a:r>
            <a:endParaRPr lang="en-US" sz="850" dirty="0"/>
          </a:p>
        </p:txBody>
      </p:sp>
      <p:sp>
        <p:nvSpPr>
          <p:cNvPr id="58" name="Shape 56"/>
          <p:cNvSpPr/>
          <p:nvPr/>
        </p:nvSpPr>
        <p:spPr>
          <a:xfrm>
            <a:off x="137160" y="3931920"/>
            <a:ext cx="6217920" cy="256032"/>
          </a:xfrm>
          <a:prstGeom prst="rect">
            <a:avLst/>
          </a:prstGeom>
          <a:solidFill>
            <a:srgbClr val="F8F9FA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173736" y="3968496"/>
            <a:ext cx="1508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FRUITS &amp; LÉGUMES</a:t>
            </a:r>
            <a:endParaRPr lang="en-US" sz="850" dirty="0"/>
          </a:p>
        </p:txBody>
      </p:sp>
      <p:sp>
        <p:nvSpPr>
          <p:cNvPr id="60" name="Text 58"/>
          <p:cNvSpPr/>
          <p:nvPr/>
        </p:nvSpPr>
        <p:spPr>
          <a:xfrm>
            <a:off x="1728216" y="3968496"/>
            <a:ext cx="1508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154 253</a:t>
            </a:r>
            <a:endParaRPr lang="en-US" sz="850" dirty="0"/>
          </a:p>
        </p:txBody>
      </p:sp>
      <p:sp>
        <p:nvSpPr>
          <p:cNvPr id="61" name="Text 59"/>
          <p:cNvSpPr/>
          <p:nvPr/>
        </p:nvSpPr>
        <p:spPr>
          <a:xfrm>
            <a:off x="3282696" y="3968496"/>
            <a:ext cx="1508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115 798</a:t>
            </a:r>
            <a:endParaRPr lang="en-US" sz="850" dirty="0"/>
          </a:p>
        </p:txBody>
      </p:sp>
      <p:sp>
        <p:nvSpPr>
          <p:cNvPr id="62" name="Text 60"/>
          <p:cNvSpPr/>
          <p:nvPr/>
        </p:nvSpPr>
        <p:spPr>
          <a:xfrm>
            <a:off x="4837176" y="3968496"/>
            <a:ext cx="1508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–24,9%</a:t>
            </a:r>
            <a:endParaRPr lang="en-US" sz="850" dirty="0"/>
          </a:p>
        </p:txBody>
      </p:sp>
      <p:sp>
        <p:nvSpPr>
          <p:cNvPr id="63" name="Text 61"/>
          <p:cNvSpPr/>
          <p:nvPr/>
        </p:nvSpPr>
        <p:spPr>
          <a:xfrm>
            <a:off x="6492240" y="1097280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Classement transitaires – Aérien Import 2026 (qualifié)</a:t>
            </a:r>
            <a:endParaRPr lang="en-US" sz="1100" dirty="0"/>
          </a:p>
        </p:txBody>
      </p:sp>
      <p:sp>
        <p:nvSpPr>
          <p:cNvPr id="64" name="Shape 62"/>
          <p:cNvSpPr/>
          <p:nvPr/>
        </p:nvSpPr>
        <p:spPr>
          <a:xfrm>
            <a:off x="6400800" y="1371600"/>
            <a:ext cx="5669280" cy="256032"/>
          </a:xfrm>
          <a:prstGeom prst="rect">
            <a:avLst/>
          </a:prstGeom>
          <a:solidFill>
            <a:srgbClr val="0D2243"/>
          </a:solidFill>
          <a:ln/>
        </p:spPr>
      </p:sp>
      <p:sp>
        <p:nvSpPr>
          <p:cNvPr id="65" name="Text 63"/>
          <p:cNvSpPr/>
          <p:nvPr/>
        </p:nvSpPr>
        <p:spPr>
          <a:xfrm>
            <a:off x="6437376" y="1408176"/>
            <a:ext cx="365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</a:t>
            </a:r>
            <a:endParaRPr lang="en-US" sz="850" dirty="0"/>
          </a:p>
        </p:txBody>
      </p:sp>
      <p:sp>
        <p:nvSpPr>
          <p:cNvPr id="66" name="Text 64"/>
          <p:cNvSpPr/>
          <p:nvPr/>
        </p:nvSpPr>
        <p:spPr>
          <a:xfrm>
            <a:off x="6848856" y="1408176"/>
            <a:ext cx="170688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Transitaire</a:t>
            </a:r>
            <a:endParaRPr lang="en-US" sz="850" dirty="0"/>
          </a:p>
        </p:txBody>
      </p:sp>
      <p:sp>
        <p:nvSpPr>
          <p:cNvPr id="67" name="Text 65"/>
          <p:cNvSpPr/>
          <p:nvPr/>
        </p:nvSpPr>
        <p:spPr>
          <a:xfrm>
            <a:off x="8601456" y="1408176"/>
            <a:ext cx="170688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Poids kg</a:t>
            </a:r>
            <a:endParaRPr lang="en-US" sz="850" dirty="0"/>
          </a:p>
        </p:txBody>
      </p:sp>
      <p:sp>
        <p:nvSpPr>
          <p:cNvPr id="68" name="Text 66"/>
          <p:cNvSpPr/>
          <p:nvPr/>
        </p:nvSpPr>
        <p:spPr>
          <a:xfrm>
            <a:off x="10354056" y="1408176"/>
            <a:ext cx="170688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PDM</a:t>
            </a:r>
            <a:endParaRPr lang="en-US" sz="850" dirty="0"/>
          </a:p>
        </p:txBody>
      </p:sp>
      <p:sp>
        <p:nvSpPr>
          <p:cNvPr id="69" name="Shape 67"/>
          <p:cNvSpPr/>
          <p:nvPr/>
        </p:nvSpPr>
        <p:spPr>
          <a:xfrm>
            <a:off x="6400800" y="1627632"/>
            <a:ext cx="5669280" cy="256032"/>
          </a:xfrm>
          <a:prstGeom prst="rect">
            <a:avLst/>
          </a:prstGeom>
          <a:solidFill>
            <a:srgbClr val="FFF9EC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6437376" y="1664208"/>
            <a:ext cx="365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#1</a:t>
            </a:r>
            <a:endParaRPr lang="en-US" sz="850" dirty="0"/>
          </a:p>
        </p:txBody>
      </p:sp>
      <p:sp>
        <p:nvSpPr>
          <p:cNvPr id="71" name="Text 69"/>
          <p:cNvSpPr/>
          <p:nvPr/>
        </p:nvSpPr>
        <p:spPr>
          <a:xfrm>
            <a:off x="6848856" y="1664208"/>
            <a:ext cx="170688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A7C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AFRICA GLOBAL LOGISTICS</a:t>
            </a:r>
            <a:endParaRPr lang="en-US" sz="850" dirty="0"/>
          </a:p>
        </p:txBody>
      </p:sp>
      <p:sp>
        <p:nvSpPr>
          <p:cNvPr id="72" name="Text 70"/>
          <p:cNvSpPr/>
          <p:nvPr/>
        </p:nvSpPr>
        <p:spPr>
          <a:xfrm>
            <a:off x="8601456" y="1664208"/>
            <a:ext cx="170688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1 165 994</a:t>
            </a:r>
            <a:endParaRPr lang="en-US" sz="850" dirty="0"/>
          </a:p>
        </p:txBody>
      </p:sp>
      <p:sp>
        <p:nvSpPr>
          <p:cNvPr id="73" name="Text 71"/>
          <p:cNvSpPr/>
          <p:nvPr/>
        </p:nvSpPr>
        <p:spPr>
          <a:xfrm>
            <a:off x="10354056" y="1664208"/>
            <a:ext cx="170688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A7C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20,8 %</a:t>
            </a:r>
            <a:endParaRPr lang="en-US" sz="850" dirty="0"/>
          </a:p>
        </p:txBody>
      </p:sp>
      <p:sp>
        <p:nvSpPr>
          <p:cNvPr id="74" name="Shape 72"/>
          <p:cNvSpPr/>
          <p:nvPr/>
        </p:nvSpPr>
        <p:spPr>
          <a:xfrm>
            <a:off x="6400800" y="1883664"/>
            <a:ext cx="5669280" cy="256032"/>
          </a:xfrm>
          <a:prstGeom prst="rect">
            <a:avLst/>
          </a:prstGeom>
          <a:solidFill>
            <a:srgbClr val="F8F9FA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6437376" y="1920240"/>
            <a:ext cx="365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#2</a:t>
            </a:r>
            <a:endParaRPr lang="en-US" sz="850" dirty="0"/>
          </a:p>
        </p:txBody>
      </p:sp>
      <p:sp>
        <p:nvSpPr>
          <p:cNvPr id="76" name="Text 74"/>
          <p:cNvSpPr/>
          <p:nvPr/>
        </p:nvSpPr>
        <p:spPr>
          <a:xfrm>
            <a:off x="6848856" y="1920240"/>
            <a:ext cx="170688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OSMOZ AFRICA</a:t>
            </a:r>
            <a:endParaRPr lang="en-US" sz="850" dirty="0"/>
          </a:p>
        </p:txBody>
      </p:sp>
      <p:sp>
        <p:nvSpPr>
          <p:cNvPr id="77" name="Text 75"/>
          <p:cNvSpPr/>
          <p:nvPr/>
        </p:nvSpPr>
        <p:spPr>
          <a:xfrm>
            <a:off x="8601456" y="1920240"/>
            <a:ext cx="170688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525 506</a:t>
            </a:r>
            <a:endParaRPr lang="en-US" sz="850" dirty="0"/>
          </a:p>
        </p:txBody>
      </p:sp>
      <p:sp>
        <p:nvSpPr>
          <p:cNvPr id="78" name="Text 76"/>
          <p:cNvSpPr/>
          <p:nvPr/>
        </p:nvSpPr>
        <p:spPr>
          <a:xfrm>
            <a:off x="10354056" y="1920240"/>
            <a:ext cx="170688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9,4 %</a:t>
            </a:r>
            <a:endParaRPr lang="en-US" sz="850" dirty="0"/>
          </a:p>
        </p:txBody>
      </p:sp>
      <p:sp>
        <p:nvSpPr>
          <p:cNvPr id="79" name="Shape 77"/>
          <p:cNvSpPr/>
          <p:nvPr/>
        </p:nvSpPr>
        <p:spPr>
          <a:xfrm>
            <a:off x="6400800" y="2139696"/>
            <a:ext cx="5669280" cy="256032"/>
          </a:xfrm>
          <a:prstGeom prst="rect">
            <a:avLst/>
          </a:prstGeom>
          <a:solidFill>
            <a:srgbClr val="FFFFFF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6437376" y="2176272"/>
            <a:ext cx="365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#3</a:t>
            </a:r>
            <a:endParaRPr lang="en-US" sz="850" dirty="0"/>
          </a:p>
        </p:txBody>
      </p:sp>
      <p:sp>
        <p:nvSpPr>
          <p:cNvPr id="81" name="Text 79"/>
          <p:cNvSpPr/>
          <p:nvPr/>
        </p:nvSpPr>
        <p:spPr>
          <a:xfrm>
            <a:off x="6848856" y="2176272"/>
            <a:ext cx="170688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GTS CI</a:t>
            </a:r>
            <a:endParaRPr lang="en-US" sz="850" dirty="0"/>
          </a:p>
        </p:txBody>
      </p:sp>
      <p:sp>
        <p:nvSpPr>
          <p:cNvPr id="82" name="Text 80"/>
          <p:cNvSpPr/>
          <p:nvPr/>
        </p:nvSpPr>
        <p:spPr>
          <a:xfrm>
            <a:off x="8601456" y="2176272"/>
            <a:ext cx="170688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468 097</a:t>
            </a:r>
            <a:endParaRPr lang="en-US" sz="850" dirty="0"/>
          </a:p>
        </p:txBody>
      </p:sp>
      <p:sp>
        <p:nvSpPr>
          <p:cNvPr id="83" name="Text 81"/>
          <p:cNvSpPr/>
          <p:nvPr/>
        </p:nvSpPr>
        <p:spPr>
          <a:xfrm>
            <a:off x="10354056" y="2176272"/>
            <a:ext cx="170688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8,4 %</a:t>
            </a:r>
            <a:endParaRPr lang="en-US" sz="850" dirty="0"/>
          </a:p>
        </p:txBody>
      </p:sp>
      <p:sp>
        <p:nvSpPr>
          <p:cNvPr id="84" name="Shape 82"/>
          <p:cNvSpPr/>
          <p:nvPr/>
        </p:nvSpPr>
        <p:spPr>
          <a:xfrm>
            <a:off x="6400800" y="2395728"/>
            <a:ext cx="5669280" cy="256032"/>
          </a:xfrm>
          <a:prstGeom prst="rect">
            <a:avLst/>
          </a:prstGeom>
          <a:solidFill>
            <a:srgbClr val="F8F9FA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6437376" y="2432304"/>
            <a:ext cx="365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#4</a:t>
            </a:r>
            <a:endParaRPr lang="en-US" sz="850" dirty="0"/>
          </a:p>
        </p:txBody>
      </p:sp>
      <p:sp>
        <p:nvSpPr>
          <p:cNvPr id="86" name="Text 84"/>
          <p:cNvSpPr/>
          <p:nvPr/>
        </p:nvSpPr>
        <p:spPr>
          <a:xfrm>
            <a:off x="6848856" y="2432304"/>
            <a:ext cx="170688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IVOIRE INTL TRANSIT</a:t>
            </a:r>
            <a:endParaRPr lang="en-US" sz="850" dirty="0"/>
          </a:p>
        </p:txBody>
      </p:sp>
      <p:sp>
        <p:nvSpPr>
          <p:cNvPr id="87" name="Text 85"/>
          <p:cNvSpPr/>
          <p:nvPr/>
        </p:nvSpPr>
        <p:spPr>
          <a:xfrm>
            <a:off x="8601456" y="2432304"/>
            <a:ext cx="170688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333 558</a:t>
            </a:r>
            <a:endParaRPr lang="en-US" sz="850" dirty="0"/>
          </a:p>
        </p:txBody>
      </p:sp>
      <p:sp>
        <p:nvSpPr>
          <p:cNvPr id="88" name="Text 86"/>
          <p:cNvSpPr/>
          <p:nvPr/>
        </p:nvSpPr>
        <p:spPr>
          <a:xfrm>
            <a:off x="10354056" y="2432304"/>
            <a:ext cx="170688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6,0 %</a:t>
            </a:r>
            <a:endParaRPr lang="en-US" sz="850" dirty="0"/>
          </a:p>
        </p:txBody>
      </p:sp>
      <p:sp>
        <p:nvSpPr>
          <p:cNvPr id="89" name="Shape 87"/>
          <p:cNvSpPr/>
          <p:nvPr/>
        </p:nvSpPr>
        <p:spPr>
          <a:xfrm>
            <a:off x="6400800" y="2651760"/>
            <a:ext cx="5669280" cy="256032"/>
          </a:xfrm>
          <a:prstGeom prst="rect">
            <a:avLst/>
          </a:prstGeom>
          <a:solidFill>
            <a:srgbClr val="FFFFFF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6437376" y="2688336"/>
            <a:ext cx="365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#5</a:t>
            </a:r>
            <a:endParaRPr lang="en-US" sz="850" dirty="0"/>
          </a:p>
        </p:txBody>
      </p:sp>
      <p:sp>
        <p:nvSpPr>
          <p:cNvPr id="91" name="Text 89"/>
          <p:cNvSpPr/>
          <p:nvPr/>
        </p:nvSpPr>
        <p:spPr>
          <a:xfrm>
            <a:off x="6848856" y="2688336"/>
            <a:ext cx="170688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MANUEL</a:t>
            </a:r>
            <a:endParaRPr lang="en-US" sz="850" dirty="0"/>
          </a:p>
        </p:txBody>
      </p:sp>
      <p:sp>
        <p:nvSpPr>
          <p:cNvPr id="92" name="Text 90"/>
          <p:cNvSpPr/>
          <p:nvPr/>
        </p:nvSpPr>
        <p:spPr>
          <a:xfrm>
            <a:off x="8601456" y="2688336"/>
            <a:ext cx="170688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292 408</a:t>
            </a:r>
            <a:endParaRPr lang="en-US" sz="850" dirty="0"/>
          </a:p>
        </p:txBody>
      </p:sp>
      <p:sp>
        <p:nvSpPr>
          <p:cNvPr id="93" name="Text 91"/>
          <p:cNvSpPr/>
          <p:nvPr/>
        </p:nvSpPr>
        <p:spPr>
          <a:xfrm>
            <a:off x="10354056" y="2688336"/>
            <a:ext cx="170688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5,2 %</a:t>
            </a:r>
            <a:endParaRPr lang="en-US" sz="850" dirty="0"/>
          </a:p>
        </p:txBody>
      </p:sp>
      <p:sp>
        <p:nvSpPr>
          <p:cNvPr id="94" name="Shape 92"/>
          <p:cNvSpPr/>
          <p:nvPr/>
        </p:nvSpPr>
        <p:spPr>
          <a:xfrm>
            <a:off x="6400800" y="2907792"/>
            <a:ext cx="5669280" cy="256032"/>
          </a:xfrm>
          <a:prstGeom prst="rect">
            <a:avLst/>
          </a:prstGeom>
          <a:solidFill>
            <a:srgbClr val="F8F9FA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6437376" y="2944368"/>
            <a:ext cx="365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#6</a:t>
            </a:r>
            <a:endParaRPr lang="en-US" sz="850" dirty="0"/>
          </a:p>
        </p:txBody>
      </p:sp>
      <p:sp>
        <p:nvSpPr>
          <p:cNvPr id="96" name="Text 94"/>
          <p:cNvSpPr/>
          <p:nvPr/>
        </p:nvSpPr>
        <p:spPr>
          <a:xfrm>
            <a:off x="6848856" y="2944368"/>
            <a:ext cx="170688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TRANSIT-COSS</a:t>
            </a:r>
            <a:endParaRPr lang="en-US" sz="850" dirty="0"/>
          </a:p>
        </p:txBody>
      </p:sp>
      <p:sp>
        <p:nvSpPr>
          <p:cNvPr id="97" name="Text 95"/>
          <p:cNvSpPr/>
          <p:nvPr/>
        </p:nvSpPr>
        <p:spPr>
          <a:xfrm>
            <a:off x="8601456" y="2944368"/>
            <a:ext cx="170688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274 613</a:t>
            </a:r>
            <a:endParaRPr lang="en-US" sz="850" dirty="0"/>
          </a:p>
        </p:txBody>
      </p:sp>
      <p:sp>
        <p:nvSpPr>
          <p:cNvPr id="98" name="Text 96"/>
          <p:cNvSpPr/>
          <p:nvPr/>
        </p:nvSpPr>
        <p:spPr>
          <a:xfrm>
            <a:off x="10354056" y="2944368"/>
            <a:ext cx="170688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4,9 %</a:t>
            </a:r>
            <a:endParaRPr lang="en-US" sz="850" dirty="0"/>
          </a:p>
        </p:txBody>
      </p:sp>
      <p:sp>
        <p:nvSpPr>
          <p:cNvPr id="99" name="Shape 97"/>
          <p:cNvSpPr/>
          <p:nvPr/>
        </p:nvSpPr>
        <p:spPr>
          <a:xfrm>
            <a:off x="6400800" y="3163824"/>
            <a:ext cx="5669280" cy="256032"/>
          </a:xfrm>
          <a:prstGeom prst="rect">
            <a:avLst/>
          </a:prstGeom>
          <a:solidFill>
            <a:srgbClr val="FFFFFF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100" name="Text 98"/>
          <p:cNvSpPr/>
          <p:nvPr/>
        </p:nvSpPr>
        <p:spPr>
          <a:xfrm>
            <a:off x="6437376" y="3200400"/>
            <a:ext cx="365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#7</a:t>
            </a:r>
            <a:endParaRPr lang="en-US" sz="850" dirty="0"/>
          </a:p>
        </p:txBody>
      </p:sp>
      <p:sp>
        <p:nvSpPr>
          <p:cNvPr id="101" name="Text 99"/>
          <p:cNvSpPr/>
          <p:nvPr/>
        </p:nvSpPr>
        <p:spPr>
          <a:xfrm>
            <a:off x="6848856" y="3200400"/>
            <a:ext cx="170688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HANNYYAH ET SAID</a:t>
            </a:r>
            <a:endParaRPr lang="en-US" sz="850" dirty="0"/>
          </a:p>
        </p:txBody>
      </p:sp>
      <p:sp>
        <p:nvSpPr>
          <p:cNvPr id="102" name="Text 100"/>
          <p:cNvSpPr/>
          <p:nvPr/>
        </p:nvSpPr>
        <p:spPr>
          <a:xfrm>
            <a:off x="8601456" y="3200400"/>
            <a:ext cx="170688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273 092</a:t>
            </a:r>
            <a:endParaRPr lang="en-US" sz="850" dirty="0"/>
          </a:p>
        </p:txBody>
      </p:sp>
      <p:sp>
        <p:nvSpPr>
          <p:cNvPr id="103" name="Text 101"/>
          <p:cNvSpPr/>
          <p:nvPr/>
        </p:nvSpPr>
        <p:spPr>
          <a:xfrm>
            <a:off x="10354056" y="3200400"/>
            <a:ext cx="170688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4,9 %</a:t>
            </a:r>
            <a:endParaRPr lang="en-US" sz="850" dirty="0"/>
          </a:p>
        </p:txBody>
      </p:sp>
      <p:sp>
        <p:nvSpPr>
          <p:cNvPr id="104" name="Shape 102"/>
          <p:cNvSpPr/>
          <p:nvPr/>
        </p:nvSpPr>
        <p:spPr>
          <a:xfrm>
            <a:off x="6400800" y="3419856"/>
            <a:ext cx="5669280" cy="256032"/>
          </a:xfrm>
          <a:prstGeom prst="rect">
            <a:avLst/>
          </a:prstGeom>
          <a:solidFill>
            <a:srgbClr val="F8F9FA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105" name="Text 103"/>
          <p:cNvSpPr/>
          <p:nvPr/>
        </p:nvSpPr>
        <p:spPr>
          <a:xfrm>
            <a:off x="6437376" y="3456432"/>
            <a:ext cx="365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#8</a:t>
            </a:r>
            <a:endParaRPr lang="en-US" sz="850" dirty="0"/>
          </a:p>
        </p:txBody>
      </p:sp>
      <p:sp>
        <p:nvSpPr>
          <p:cNvPr id="106" name="Text 104"/>
          <p:cNvSpPr/>
          <p:nvPr/>
        </p:nvSpPr>
        <p:spPr>
          <a:xfrm>
            <a:off x="6848856" y="3456432"/>
            <a:ext cx="170688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DHL</a:t>
            </a:r>
            <a:endParaRPr lang="en-US" sz="850" dirty="0"/>
          </a:p>
        </p:txBody>
      </p:sp>
      <p:sp>
        <p:nvSpPr>
          <p:cNvPr id="107" name="Text 105"/>
          <p:cNvSpPr/>
          <p:nvPr/>
        </p:nvSpPr>
        <p:spPr>
          <a:xfrm>
            <a:off x="8601456" y="3456432"/>
            <a:ext cx="170688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217 874</a:t>
            </a:r>
            <a:endParaRPr lang="en-US" sz="850" dirty="0"/>
          </a:p>
        </p:txBody>
      </p:sp>
      <p:sp>
        <p:nvSpPr>
          <p:cNvPr id="108" name="Text 106"/>
          <p:cNvSpPr/>
          <p:nvPr/>
        </p:nvSpPr>
        <p:spPr>
          <a:xfrm>
            <a:off x="10354056" y="3456432"/>
            <a:ext cx="170688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3,9 %</a:t>
            </a:r>
            <a:endParaRPr lang="en-US" sz="850" dirty="0"/>
          </a:p>
        </p:txBody>
      </p:sp>
      <p:sp>
        <p:nvSpPr>
          <p:cNvPr id="109" name="Shape 107"/>
          <p:cNvSpPr/>
          <p:nvPr/>
        </p:nvSpPr>
        <p:spPr>
          <a:xfrm>
            <a:off x="6400800" y="3675888"/>
            <a:ext cx="5669280" cy="256032"/>
          </a:xfrm>
          <a:prstGeom prst="rect">
            <a:avLst/>
          </a:prstGeom>
          <a:solidFill>
            <a:srgbClr val="FFFFFF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110" name="Text 108"/>
          <p:cNvSpPr/>
          <p:nvPr/>
        </p:nvSpPr>
        <p:spPr>
          <a:xfrm>
            <a:off x="6437376" y="3712464"/>
            <a:ext cx="365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#9</a:t>
            </a:r>
            <a:endParaRPr lang="en-US" sz="850" dirty="0"/>
          </a:p>
        </p:txBody>
      </p:sp>
      <p:sp>
        <p:nvSpPr>
          <p:cNvPr id="111" name="Text 109"/>
          <p:cNvSpPr/>
          <p:nvPr/>
        </p:nvSpPr>
        <p:spPr>
          <a:xfrm>
            <a:off x="6848856" y="3712464"/>
            <a:ext cx="170688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INTL LOGISTICS SA</a:t>
            </a:r>
            <a:endParaRPr lang="en-US" sz="850" dirty="0"/>
          </a:p>
        </p:txBody>
      </p:sp>
      <p:sp>
        <p:nvSpPr>
          <p:cNvPr id="112" name="Text 110"/>
          <p:cNvSpPr/>
          <p:nvPr/>
        </p:nvSpPr>
        <p:spPr>
          <a:xfrm>
            <a:off x="8601456" y="3712464"/>
            <a:ext cx="170688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187 906</a:t>
            </a:r>
            <a:endParaRPr lang="en-US" sz="850" dirty="0"/>
          </a:p>
        </p:txBody>
      </p:sp>
      <p:sp>
        <p:nvSpPr>
          <p:cNvPr id="113" name="Text 111"/>
          <p:cNvSpPr/>
          <p:nvPr/>
        </p:nvSpPr>
        <p:spPr>
          <a:xfrm>
            <a:off x="10354056" y="3712464"/>
            <a:ext cx="170688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3,4 %</a:t>
            </a:r>
            <a:endParaRPr lang="en-US" sz="850" dirty="0"/>
          </a:p>
        </p:txBody>
      </p:sp>
      <p:sp>
        <p:nvSpPr>
          <p:cNvPr id="114" name="Shape 112"/>
          <p:cNvSpPr/>
          <p:nvPr/>
        </p:nvSpPr>
        <p:spPr>
          <a:xfrm>
            <a:off x="6400800" y="3931920"/>
            <a:ext cx="5669280" cy="256032"/>
          </a:xfrm>
          <a:prstGeom prst="rect">
            <a:avLst/>
          </a:prstGeom>
          <a:solidFill>
            <a:srgbClr val="F8F9FA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115" name="Text 113"/>
          <p:cNvSpPr/>
          <p:nvPr/>
        </p:nvSpPr>
        <p:spPr>
          <a:xfrm>
            <a:off x="6437376" y="3968496"/>
            <a:ext cx="365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#10</a:t>
            </a:r>
            <a:endParaRPr lang="en-US" sz="850" dirty="0"/>
          </a:p>
        </p:txBody>
      </p:sp>
      <p:sp>
        <p:nvSpPr>
          <p:cNvPr id="116" name="Text 114"/>
          <p:cNvSpPr/>
          <p:nvPr/>
        </p:nvSpPr>
        <p:spPr>
          <a:xfrm>
            <a:off x="6848856" y="3968496"/>
            <a:ext cx="170688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IVOIRE PHENIX TRANSIT</a:t>
            </a:r>
            <a:endParaRPr lang="en-US" sz="850" dirty="0"/>
          </a:p>
        </p:txBody>
      </p:sp>
      <p:sp>
        <p:nvSpPr>
          <p:cNvPr id="117" name="Text 115"/>
          <p:cNvSpPr/>
          <p:nvPr/>
        </p:nvSpPr>
        <p:spPr>
          <a:xfrm>
            <a:off x="8601456" y="3968496"/>
            <a:ext cx="170688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133 527</a:t>
            </a:r>
            <a:endParaRPr lang="en-US" sz="850" dirty="0"/>
          </a:p>
        </p:txBody>
      </p:sp>
      <p:sp>
        <p:nvSpPr>
          <p:cNvPr id="118" name="Text 116"/>
          <p:cNvSpPr/>
          <p:nvPr/>
        </p:nvSpPr>
        <p:spPr>
          <a:xfrm>
            <a:off x="10354056" y="3968496"/>
            <a:ext cx="170688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2,4 %</a:t>
            </a:r>
            <a:endParaRPr lang="en-US" sz="850" dirty="0"/>
          </a:p>
        </p:txBody>
      </p:sp>
      <p:sp>
        <p:nvSpPr>
          <p:cNvPr id="119" name="Shape 117"/>
          <p:cNvSpPr/>
          <p:nvPr/>
        </p:nvSpPr>
        <p:spPr>
          <a:xfrm>
            <a:off x="137160" y="4919472"/>
            <a:ext cx="11795760" cy="777240"/>
          </a:xfrm>
          <a:prstGeom prst="rect">
            <a:avLst/>
          </a:prstGeom>
          <a:solidFill>
            <a:srgbClr val="FFFBEC"/>
          </a:solidFill>
          <a:ln w="6350">
            <a:solidFill>
              <a:srgbClr val="E5C97A"/>
            </a:solidFill>
            <a:prstDash val="solid"/>
          </a:ln>
        </p:spPr>
      </p:sp>
      <p:sp>
        <p:nvSpPr>
          <p:cNvPr id="120" name="Text 118"/>
          <p:cNvSpPr/>
          <p:nvPr/>
        </p:nvSpPr>
        <p:spPr>
          <a:xfrm>
            <a:off x="228600" y="4992624"/>
            <a:ext cx="11612880" cy="6675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🏆  AGL #1 : 20,8% PDM sur marché qualifié. Progression continue Jan→Mai (+20 pts). ⚠ Transit-Coss : –60% (696K→274K kg). Clients récupérés partiellement par AGL. 🎯 Cibles : GTS CI (#3, 8,4%) à surveiller. Osmoz Africa (#2, 9,4%) à challenger sur Matériels Miniers.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D2243"/>
          </a:solidFill>
          <a:ln/>
        </p:spPr>
      </p:sp>
      <p:sp>
        <p:nvSpPr>
          <p:cNvPr id="3" name="Text 1"/>
          <p:cNvSpPr/>
          <p:nvPr/>
        </p:nvSpPr>
        <p:spPr>
          <a:xfrm>
            <a:off x="228600" y="45720"/>
            <a:ext cx="11887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AÉRIEN IMPORT – CLIENTÈLE AGL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228600" y="548640"/>
            <a:ext cx="11430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10 destinataires  |  Mix produits  |  Risques &amp; leviers de croissance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82880" y="6583680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Africa Global Logistics – Étude de Marché Jan–Mai 2026  |  p.19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430000" y="653796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AGL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228600" y="1097280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10 clients AGL – Aérien Import (Destinataires, kg)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37160" y="1371600"/>
            <a:ext cx="6400800" cy="256032"/>
          </a:xfrm>
          <a:prstGeom prst="rect">
            <a:avLst/>
          </a:prstGeom>
          <a:solidFill>
            <a:srgbClr val="0D2243"/>
          </a:solidFill>
          <a:ln/>
        </p:spPr>
      </p:sp>
      <p:sp>
        <p:nvSpPr>
          <p:cNvPr id="9" name="Text 7"/>
          <p:cNvSpPr/>
          <p:nvPr/>
        </p:nvSpPr>
        <p:spPr>
          <a:xfrm>
            <a:off x="173736" y="1408176"/>
            <a:ext cx="155448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(Destinataire)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1773936" y="1408176"/>
            <a:ext cx="155448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Poids (kg)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3374136" y="1408176"/>
            <a:ext cx="155448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4974336" y="1408176"/>
            <a:ext cx="155448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Vol. AGL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137160" y="1627632"/>
            <a:ext cx="6400800" cy="256032"/>
          </a:xfrm>
          <a:prstGeom prst="rect">
            <a:avLst/>
          </a:prstGeom>
          <a:solidFill>
            <a:srgbClr val="FFF9EC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73736" y="1664208"/>
            <a:ext cx="155448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A7C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K1 MINING SA CI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1773936" y="1664208"/>
            <a:ext cx="155448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308 596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3374136" y="1664208"/>
            <a:ext cx="155448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Mat. Miniers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4974336" y="1664208"/>
            <a:ext cx="155448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A7C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26,5%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137160" y="1883664"/>
            <a:ext cx="6400800" cy="256032"/>
          </a:xfrm>
          <a:prstGeom prst="rect">
            <a:avLst/>
          </a:prstGeom>
          <a:solidFill>
            <a:srgbClr val="F8F9FA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73736" y="1920240"/>
            <a:ext cx="155448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PROSUMA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1773936" y="1920240"/>
            <a:ext cx="155448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268 633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3374136" y="1920240"/>
            <a:ext cx="155448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Prod. Alimentaires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4974336" y="1920240"/>
            <a:ext cx="155448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23,1%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137160" y="2139696"/>
            <a:ext cx="6400800" cy="256032"/>
          </a:xfrm>
          <a:prstGeom prst="rect">
            <a:avLst/>
          </a:prstGeom>
          <a:solidFill>
            <a:srgbClr val="FFFFFF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73736" y="2176272"/>
            <a:ext cx="155448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UBIPHARM CÔTE D'IVOIRE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1773936" y="2176272"/>
            <a:ext cx="155448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61 130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3374136" y="2176272"/>
            <a:ext cx="155448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Médicaments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4974336" y="2176272"/>
            <a:ext cx="155448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5,2%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137160" y="2395728"/>
            <a:ext cx="6400800" cy="256032"/>
          </a:xfrm>
          <a:prstGeom prst="rect">
            <a:avLst/>
          </a:prstGeom>
          <a:solidFill>
            <a:srgbClr val="F8F9FA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73736" y="2432304"/>
            <a:ext cx="155448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ORANGE CI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1773936" y="2432304"/>
            <a:ext cx="155448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49 988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3374136" y="2432304"/>
            <a:ext cx="155448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Télécoms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4974336" y="2432304"/>
            <a:ext cx="155448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4,3%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137160" y="2651760"/>
            <a:ext cx="6400800" cy="256032"/>
          </a:xfrm>
          <a:prstGeom prst="rect">
            <a:avLst/>
          </a:prstGeom>
          <a:solidFill>
            <a:srgbClr val="FFFFFF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73736" y="2688336"/>
            <a:ext cx="155448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NESTLÉ CÔTE D'IVOIRE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1773936" y="2688336"/>
            <a:ext cx="155448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38 474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3374136" y="2688336"/>
            <a:ext cx="155448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Alimentaire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4974336" y="2688336"/>
            <a:ext cx="155448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3,3%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137160" y="2907792"/>
            <a:ext cx="6400800" cy="256032"/>
          </a:xfrm>
          <a:prstGeom prst="rect">
            <a:avLst/>
          </a:prstGeom>
          <a:solidFill>
            <a:srgbClr val="F8F9FA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73736" y="2944368"/>
            <a:ext cx="155448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SIFAAP CI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1773936" y="2944368"/>
            <a:ext cx="155448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24 694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3374136" y="2944368"/>
            <a:ext cx="155448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Alim. Animal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4974336" y="2944368"/>
            <a:ext cx="155448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2,1%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137160" y="3163824"/>
            <a:ext cx="6400800" cy="256032"/>
          </a:xfrm>
          <a:prstGeom prst="rect">
            <a:avLst/>
          </a:prstGeom>
          <a:solidFill>
            <a:srgbClr val="FFFFFF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173736" y="3200400"/>
            <a:ext cx="155448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SITAB CI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1773936" y="3200400"/>
            <a:ext cx="155448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23 535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3374136" y="3200400"/>
            <a:ext cx="155448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Cigarettes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4974336" y="3200400"/>
            <a:ext cx="155448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2,0%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137160" y="3419856"/>
            <a:ext cx="6400800" cy="256032"/>
          </a:xfrm>
          <a:prstGeom prst="rect">
            <a:avLst/>
          </a:prstGeom>
          <a:solidFill>
            <a:srgbClr val="F8F9FA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173736" y="3456432"/>
            <a:ext cx="155448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ROCHE DIAGNOSTICS CI</a:t>
            </a:r>
            <a:endParaRPr lang="en-US" sz="850" dirty="0"/>
          </a:p>
        </p:txBody>
      </p:sp>
      <p:sp>
        <p:nvSpPr>
          <p:cNvPr id="50" name="Text 48"/>
          <p:cNvSpPr/>
          <p:nvPr/>
        </p:nvSpPr>
        <p:spPr>
          <a:xfrm>
            <a:off x="1773936" y="3456432"/>
            <a:ext cx="155448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22 633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3374136" y="3456432"/>
            <a:ext cx="155448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Mat. Labo.</a:t>
            </a:r>
            <a:endParaRPr lang="en-US" sz="850" dirty="0"/>
          </a:p>
        </p:txBody>
      </p:sp>
      <p:sp>
        <p:nvSpPr>
          <p:cNvPr id="52" name="Text 50"/>
          <p:cNvSpPr/>
          <p:nvPr/>
        </p:nvSpPr>
        <p:spPr>
          <a:xfrm>
            <a:off x="4974336" y="3456432"/>
            <a:ext cx="155448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1,9%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137160" y="3675888"/>
            <a:ext cx="6400800" cy="256032"/>
          </a:xfrm>
          <a:prstGeom prst="rect">
            <a:avLst/>
          </a:prstGeom>
          <a:solidFill>
            <a:srgbClr val="FFFFFF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173736" y="3712464"/>
            <a:ext cx="155448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MTN CI</a:t>
            </a:r>
            <a:endParaRPr lang="en-US" sz="850" dirty="0"/>
          </a:p>
        </p:txBody>
      </p:sp>
      <p:sp>
        <p:nvSpPr>
          <p:cNvPr id="55" name="Text 53"/>
          <p:cNvSpPr/>
          <p:nvPr/>
        </p:nvSpPr>
        <p:spPr>
          <a:xfrm>
            <a:off x="1773936" y="3712464"/>
            <a:ext cx="155448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20 141</a:t>
            </a:r>
            <a:endParaRPr lang="en-US" sz="850" dirty="0"/>
          </a:p>
        </p:txBody>
      </p:sp>
      <p:sp>
        <p:nvSpPr>
          <p:cNvPr id="56" name="Text 54"/>
          <p:cNvSpPr/>
          <p:nvPr/>
        </p:nvSpPr>
        <p:spPr>
          <a:xfrm>
            <a:off x="3374136" y="3712464"/>
            <a:ext cx="155448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Télécoms</a:t>
            </a:r>
            <a:endParaRPr lang="en-US" sz="850" dirty="0"/>
          </a:p>
        </p:txBody>
      </p:sp>
      <p:sp>
        <p:nvSpPr>
          <p:cNvPr id="57" name="Text 55"/>
          <p:cNvSpPr/>
          <p:nvPr/>
        </p:nvSpPr>
        <p:spPr>
          <a:xfrm>
            <a:off x="4974336" y="3712464"/>
            <a:ext cx="155448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1,7%</a:t>
            </a:r>
            <a:endParaRPr lang="en-US" sz="850" dirty="0"/>
          </a:p>
        </p:txBody>
      </p:sp>
      <p:sp>
        <p:nvSpPr>
          <p:cNvPr id="58" name="Shape 56"/>
          <p:cNvSpPr/>
          <p:nvPr/>
        </p:nvSpPr>
        <p:spPr>
          <a:xfrm>
            <a:off x="137160" y="3931920"/>
            <a:ext cx="6400800" cy="256032"/>
          </a:xfrm>
          <a:prstGeom prst="rect">
            <a:avLst/>
          </a:prstGeom>
          <a:solidFill>
            <a:srgbClr val="F8F9FA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173736" y="3968496"/>
            <a:ext cx="155448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FOXTROT INTERNATIONAL</a:t>
            </a:r>
            <a:endParaRPr lang="en-US" sz="850" dirty="0"/>
          </a:p>
        </p:txBody>
      </p:sp>
      <p:sp>
        <p:nvSpPr>
          <p:cNvPr id="60" name="Text 58"/>
          <p:cNvSpPr/>
          <p:nvPr/>
        </p:nvSpPr>
        <p:spPr>
          <a:xfrm>
            <a:off x="1773936" y="3968496"/>
            <a:ext cx="155448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18 721</a:t>
            </a:r>
            <a:endParaRPr lang="en-US" sz="850" dirty="0"/>
          </a:p>
        </p:txBody>
      </p:sp>
      <p:sp>
        <p:nvSpPr>
          <p:cNvPr id="61" name="Text 59"/>
          <p:cNvSpPr/>
          <p:nvPr/>
        </p:nvSpPr>
        <p:spPr>
          <a:xfrm>
            <a:off x="3374136" y="3968496"/>
            <a:ext cx="155448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Pétrole</a:t>
            </a:r>
            <a:endParaRPr lang="en-US" sz="850" dirty="0"/>
          </a:p>
        </p:txBody>
      </p:sp>
      <p:sp>
        <p:nvSpPr>
          <p:cNvPr id="62" name="Text 60"/>
          <p:cNvSpPr/>
          <p:nvPr/>
        </p:nvSpPr>
        <p:spPr>
          <a:xfrm>
            <a:off x="4974336" y="3968496"/>
            <a:ext cx="155448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1,6%</a:t>
            </a:r>
            <a:endParaRPr lang="en-US" sz="850" dirty="0"/>
          </a:p>
        </p:txBody>
      </p:sp>
      <p:sp>
        <p:nvSpPr>
          <p:cNvPr id="63" name="Shape 61"/>
          <p:cNvSpPr/>
          <p:nvPr/>
        </p:nvSpPr>
        <p:spPr>
          <a:xfrm>
            <a:off x="137160" y="4846320"/>
            <a:ext cx="6400800" cy="960120"/>
          </a:xfrm>
          <a:prstGeom prst="rect">
            <a:avLst/>
          </a:prstGeom>
          <a:solidFill>
            <a:srgbClr val="FFFBEC"/>
          </a:solidFill>
          <a:ln w="6350">
            <a:solidFill>
              <a:srgbClr val="E5C97A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228600" y="4919472"/>
            <a:ext cx="6217920" cy="8503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Hyper-concentration : K1 Mining (26,5%) + PROSUMA (23,1%) = 49,6% du volume AGL aérien sur 2 clients. Risque élevé.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Télécoms (Orange + MTN) : 70 129 kg – Secteur en forte croissance. Contrats cadres 2026/2027 à signer.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Nestlé + SIFAAP = 63 168 kg (filière agro-alim). Ubipharm = pont TIM/AER. Développer offre multi-métiers.</a:t>
            </a:r>
            <a:endParaRPr lang="en-US" sz="900" dirty="0"/>
          </a:p>
        </p:txBody>
      </p:sp>
      <p:sp>
        <p:nvSpPr>
          <p:cNvPr id="65" name="Text 63"/>
          <p:cNvSpPr/>
          <p:nvPr/>
        </p:nvSpPr>
        <p:spPr>
          <a:xfrm>
            <a:off x="6675120" y="1097280"/>
            <a:ext cx="5303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 produits AGL – Aérien Import</a:t>
            </a:r>
            <a:endParaRPr lang="en-US" sz="1100" dirty="0"/>
          </a:p>
        </p:txBody>
      </p:sp>
      <p:graphicFrame>
        <p:nvGraphicFramePr>
          <p:cNvPr id="66" name="Chart 0" descr=""/>
          <p:cNvGraphicFramePr/>
          <p:nvPr/>
        </p:nvGraphicFramePr>
        <p:xfrm>
          <a:off x="6675120" y="1371600"/>
          <a:ext cx="5303520" cy="4114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D2243"/>
          </a:solidFill>
          <a:ln/>
        </p:spPr>
      </p:sp>
      <p:sp>
        <p:nvSpPr>
          <p:cNvPr id="3" name="Text 1"/>
          <p:cNvSpPr/>
          <p:nvPr/>
        </p:nvSpPr>
        <p:spPr>
          <a:xfrm>
            <a:off x="228600" y="45720"/>
            <a:ext cx="11887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AÉRIEN IMPORT – NOUVEAUX ENTRANTS &amp; NOUVEAUX FLUX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228600" y="548640"/>
            <a:ext cx="11430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Transitaires entrants  |  Nouvelles marchandises en croissance  |  Récupération clients Transit-Coss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82880" y="6583680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Africa Global Logistics – Étude de Marché Jan–Mai 2026  |  p.24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430000" y="653796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AGL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228600" y="1097280"/>
            <a:ext cx="5943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Nouveaux transitaires – Aérien Import 2026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37160" y="1371600"/>
            <a:ext cx="6217920" cy="256032"/>
          </a:xfrm>
          <a:prstGeom prst="rect">
            <a:avLst/>
          </a:prstGeom>
          <a:solidFill>
            <a:srgbClr val="0D2243"/>
          </a:solidFill>
          <a:ln/>
        </p:spPr>
      </p:sp>
      <p:sp>
        <p:nvSpPr>
          <p:cNvPr id="9" name="Text 7"/>
          <p:cNvSpPr/>
          <p:nvPr/>
        </p:nvSpPr>
        <p:spPr>
          <a:xfrm>
            <a:off x="173736" y="1408176"/>
            <a:ext cx="1508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Transitaire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1728216" y="1408176"/>
            <a:ext cx="1508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Poids kg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3282696" y="1408176"/>
            <a:ext cx="1508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Spécialité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4837176" y="1408176"/>
            <a:ext cx="1508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Entrée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137160" y="1627632"/>
            <a:ext cx="6217920" cy="256032"/>
          </a:xfrm>
          <a:prstGeom prst="rect">
            <a:avLst/>
          </a:prstGeom>
          <a:solidFill>
            <a:srgbClr val="FFF9EC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73736" y="1664208"/>
            <a:ext cx="1508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A7C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FRET INTER CI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1728216" y="1664208"/>
            <a:ext cx="1508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94 200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3282696" y="1664208"/>
            <a:ext cx="1508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Alimentaire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4837176" y="1664208"/>
            <a:ext cx="1508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A7C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2026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137160" y="1883664"/>
            <a:ext cx="6217920" cy="256032"/>
          </a:xfrm>
          <a:prstGeom prst="rect">
            <a:avLst/>
          </a:prstGeom>
          <a:solidFill>
            <a:srgbClr val="F8F9FA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73736" y="1920240"/>
            <a:ext cx="1508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SOTRA FRET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1728216" y="1920240"/>
            <a:ext cx="1508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78 400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3282696" y="1920240"/>
            <a:ext cx="1508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Pièces détachées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4837176" y="1920240"/>
            <a:ext cx="1508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 2026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228600" y="2697480"/>
            <a:ext cx="5943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Marchandises en forte croissance 2025 → 2026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37160" y="2971800"/>
            <a:ext cx="6217920" cy="256032"/>
          </a:xfrm>
          <a:prstGeom prst="rect">
            <a:avLst/>
          </a:prstGeom>
          <a:solidFill>
            <a:srgbClr val="0D2243"/>
          </a:solidFill>
          <a:ln/>
        </p:spPr>
      </p:sp>
      <p:sp>
        <p:nvSpPr>
          <p:cNvPr id="25" name="Text 23"/>
          <p:cNvSpPr/>
          <p:nvPr/>
        </p:nvSpPr>
        <p:spPr>
          <a:xfrm>
            <a:off x="173736" y="3008376"/>
            <a:ext cx="1508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Marchandise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1728216" y="3008376"/>
            <a:ext cx="1508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(kg)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3282696" y="3008376"/>
            <a:ext cx="1508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Var. %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4837176" y="3008376"/>
            <a:ext cx="1508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PDM AGL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137160" y="3227832"/>
            <a:ext cx="6217920" cy="256032"/>
          </a:xfrm>
          <a:prstGeom prst="rect">
            <a:avLst/>
          </a:prstGeom>
          <a:solidFill>
            <a:srgbClr val="FFF9EC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73736" y="3264408"/>
            <a:ext cx="1508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A7C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ŒUFS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1728216" y="3264408"/>
            <a:ext cx="1508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1 883 317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3282696" y="3264408"/>
            <a:ext cx="1508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+26,9 %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4837176" y="3264408"/>
            <a:ext cx="1508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A7C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1 %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137160" y="3483864"/>
            <a:ext cx="6217920" cy="256032"/>
          </a:xfrm>
          <a:prstGeom prst="rect">
            <a:avLst/>
          </a:prstGeom>
          <a:solidFill>
            <a:srgbClr val="F8F9FA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73736" y="3520440"/>
            <a:ext cx="1508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MATÉRIELS MINIERS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1728216" y="3520440"/>
            <a:ext cx="1508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515 776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3282696" y="3520440"/>
            <a:ext cx="1508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+244,3 %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4837176" y="3520440"/>
            <a:ext cx="1508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61 %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137160" y="3739896"/>
            <a:ext cx="6217920" cy="256032"/>
          </a:xfrm>
          <a:prstGeom prst="rect">
            <a:avLst/>
          </a:prstGeom>
          <a:solidFill>
            <a:srgbClr val="FFFFFF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73736" y="3776472"/>
            <a:ext cx="1508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MACHINES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1728216" y="3776472"/>
            <a:ext cx="1508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486 785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3282696" y="3776472"/>
            <a:ext cx="1508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+90,2 %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4837176" y="3776472"/>
            <a:ext cx="1508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137160" y="3995928"/>
            <a:ext cx="6217920" cy="256032"/>
          </a:xfrm>
          <a:prstGeom prst="rect">
            <a:avLst/>
          </a:prstGeom>
          <a:solidFill>
            <a:srgbClr val="F8F9FA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173736" y="4032504"/>
            <a:ext cx="1508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TÉLÉCOMS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1728216" y="4032504"/>
            <a:ext cx="1508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182 071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3282696" y="4032504"/>
            <a:ext cx="1508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+60,3 %</a:t>
            </a:r>
            <a:endParaRPr lang="en-US" sz="850" dirty="0"/>
          </a:p>
        </p:txBody>
      </p:sp>
      <p:sp>
        <p:nvSpPr>
          <p:cNvPr id="48" name="Text 46"/>
          <p:cNvSpPr/>
          <p:nvPr/>
        </p:nvSpPr>
        <p:spPr>
          <a:xfrm>
            <a:off x="4837176" y="4032504"/>
            <a:ext cx="1508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33 %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137160" y="4251960"/>
            <a:ext cx="6217920" cy="256032"/>
          </a:xfrm>
          <a:prstGeom prst="rect">
            <a:avLst/>
          </a:prstGeom>
          <a:solidFill>
            <a:srgbClr val="FFFFFF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173736" y="4288536"/>
            <a:ext cx="1508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MATÉR. ÉLECTRIQUES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1728216" y="4288536"/>
            <a:ext cx="1508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158 887</a:t>
            </a:r>
            <a:endParaRPr lang="en-US" sz="850" dirty="0"/>
          </a:p>
        </p:txBody>
      </p:sp>
      <p:sp>
        <p:nvSpPr>
          <p:cNvPr id="52" name="Text 50"/>
          <p:cNvSpPr/>
          <p:nvPr/>
        </p:nvSpPr>
        <p:spPr>
          <a:xfrm>
            <a:off x="3282696" y="4288536"/>
            <a:ext cx="1508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+145,9 %</a:t>
            </a:r>
            <a:endParaRPr lang="en-US" sz="850" dirty="0"/>
          </a:p>
        </p:txBody>
      </p:sp>
      <p:sp>
        <p:nvSpPr>
          <p:cNvPr id="53" name="Text 51"/>
          <p:cNvSpPr/>
          <p:nvPr/>
        </p:nvSpPr>
        <p:spPr>
          <a:xfrm>
            <a:off x="4837176" y="4288536"/>
            <a:ext cx="1508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850" dirty="0"/>
          </a:p>
        </p:txBody>
      </p:sp>
      <p:sp>
        <p:nvSpPr>
          <p:cNvPr id="54" name="Text 52"/>
          <p:cNvSpPr/>
          <p:nvPr/>
        </p:nvSpPr>
        <p:spPr>
          <a:xfrm>
            <a:off x="6492240" y="1097280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Opportunités prioritaires – PDM AGL actuelle</a:t>
            </a:r>
            <a:endParaRPr lang="en-US" sz="1100" dirty="0"/>
          </a:p>
        </p:txBody>
      </p:sp>
      <p:sp>
        <p:nvSpPr>
          <p:cNvPr id="55" name="Text 53"/>
          <p:cNvSpPr/>
          <p:nvPr/>
        </p:nvSpPr>
        <p:spPr>
          <a:xfrm>
            <a:off x="6492240" y="1417320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ŒUFS (CIBLE 8%)</a:t>
            </a:r>
            <a:endParaRPr lang="en-US" sz="850" dirty="0"/>
          </a:p>
        </p:txBody>
      </p:sp>
      <p:sp>
        <p:nvSpPr>
          <p:cNvPr id="56" name="Text 54"/>
          <p:cNvSpPr/>
          <p:nvPr/>
        </p:nvSpPr>
        <p:spPr>
          <a:xfrm>
            <a:off x="8156448" y="1417320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1 883 317 kg</a:t>
            </a:r>
            <a:endParaRPr lang="en-US" sz="850" dirty="0"/>
          </a:p>
        </p:txBody>
      </p:sp>
      <p:sp>
        <p:nvSpPr>
          <p:cNvPr id="57" name="Shape 55"/>
          <p:cNvSpPr/>
          <p:nvPr/>
        </p:nvSpPr>
        <p:spPr>
          <a:xfrm>
            <a:off x="9052560" y="1453896"/>
            <a:ext cx="2743200" cy="164592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58" name="Shape 56"/>
          <p:cNvSpPr/>
          <p:nvPr/>
        </p:nvSpPr>
        <p:spPr>
          <a:xfrm>
            <a:off x="9052560" y="1453896"/>
            <a:ext cx="54864" cy="164592"/>
          </a:xfrm>
          <a:prstGeom prst="rect">
            <a:avLst/>
          </a:prstGeom>
          <a:solidFill>
            <a:srgbClr val="CC2200"/>
          </a:solidFill>
          <a:ln/>
        </p:spPr>
      </p:sp>
      <p:sp>
        <p:nvSpPr>
          <p:cNvPr id="59" name="Text 57"/>
          <p:cNvSpPr/>
          <p:nvPr/>
        </p:nvSpPr>
        <p:spPr>
          <a:xfrm>
            <a:off x="11841480" y="1417320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C2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1%</a:t>
            </a:r>
            <a:endParaRPr lang="en-US" sz="900" dirty="0"/>
          </a:p>
        </p:txBody>
      </p:sp>
      <p:sp>
        <p:nvSpPr>
          <p:cNvPr id="60" name="Text 58"/>
          <p:cNvSpPr/>
          <p:nvPr/>
        </p:nvSpPr>
        <p:spPr>
          <a:xfrm>
            <a:off x="6492240" y="1801368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TÉLÉCOMS (ORANGE+MTN)</a:t>
            </a:r>
            <a:endParaRPr lang="en-US" sz="850" dirty="0"/>
          </a:p>
        </p:txBody>
      </p:sp>
      <p:sp>
        <p:nvSpPr>
          <p:cNvPr id="61" name="Text 59"/>
          <p:cNvSpPr/>
          <p:nvPr/>
        </p:nvSpPr>
        <p:spPr>
          <a:xfrm>
            <a:off x="8156448" y="1801368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182 071 kg</a:t>
            </a:r>
            <a:endParaRPr lang="en-US" sz="850" dirty="0"/>
          </a:p>
        </p:txBody>
      </p:sp>
      <p:sp>
        <p:nvSpPr>
          <p:cNvPr id="62" name="Shape 60"/>
          <p:cNvSpPr/>
          <p:nvPr/>
        </p:nvSpPr>
        <p:spPr>
          <a:xfrm>
            <a:off x="9052560" y="1837944"/>
            <a:ext cx="2743200" cy="164592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63" name="Shape 61"/>
          <p:cNvSpPr/>
          <p:nvPr/>
        </p:nvSpPr>
        <p:spPr>
          <a:xfrm>
            <a:off x="9052560" y="1837944"/>
            <a:ext cx="905256" cy="164592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64" name="Text 62"/>
          <p:cNvSpPr/>
          <p:nvPr/>
        </p:nvSpPr>
        <p:spPr>
          <a:xfrm>
            <a:off x="11841480" y="1801368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33%</a:t>
            </a:r>
            <a:endParaRPr lang="en-US" sz="900" dirty="0"/>
          </a:p>
        </p:txBody>
      </p:sp>
      <p:sp>
        <p:nvSpPr>
          <p:cNvPr id="65" name="Text 63"/>
          <p:cNvSpPr/>
          <p:nvPr/>
        </p:nvSpPr>
        <p:spPr>
          <a:xfrm>
            <a:off x="6492240" y="2185416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MAT. MINIERS (K1)</a:t>
            </a:r>
            <a:endParaRPr lang="en-US" sz="850" dirty="0"/>
          </a:p>
        </p:txBody>
      </p:sp>
      <p:sp>
        <p:nvSpPr>
          <p:cNvPr id="66" name="Text 64"/>
          <p:cNvSpPr/>
          <p:nvPr/>
        </p:nvSpPr>
        <p:spPr>
          <a:xfrm>
            <a:off x="8156448" y="2185416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515 776 kg</a:t>
            </a:r>
            <a:endParaRPr lang="en-US" sz="850" dirty="0"/>
          </a:p>
        </p:txBody>
      </p:sp>
      <p:sp>
        <p:nvSpPr>
          <p:cNvPr id="67" name="Shape 65"/>
          <p:cNvSpPr/>
          <p:nvPr/>
        </p:nvSpPr>
        <p:spPr>
          <a:xfrm>
            <a:off x="9052560" y="2221992"/>
            <a:ext cx="2743200" cy="164592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68" name="Shape 66"/>
          <p:cNvSpPr/>
          <p:nvPr/>
        </p:nvSpPr>
        <p:spPr>
          <a:xfrm>
            <a:off x="9052560" y="2221992"/>
            <a:ext cx="1673352" cy="164592"/>
          </a:xfrm>
          <a:prstGeom prst="rect">
            <a:avLst/>
          </a:prstGeom>
          <a:solidFill>
            <a:srgbClr val="1A7C4F"/>
          </a:solidFill>
          <a:ln/>
        </p:spPr>
      </p:sp>
      <p:sp>
        <p:nvSpPr>
          <p:cNvPr id="69" name="Text 67"/>
          <p:cNvSpPr/>
          <p:nvPr/>
        </p:nvSpPr>
        <p:spPr>
          <a:xfrm>
            <a:off x="11841480" y="2185416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7C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61%</a:t>
            </a:r>
            <a:endParaRPr lang="en-US" sz="900" dirty="0"/>
          </a:p>
        </p:txBody>
      </p:sp>
      <p:sp>
        <p:nvSpPr>
          <p:cNvPr id="70" name="Text 68"/>
          <p:cNvSpPr/>
          <p:nvPr/>
        </p:nvSpPr>
        <p:spPr>
          <a:xfrm>
            <a:off x="6492240" y="2569464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PIÈCES DÉTACHÉES</a:t>
            </a:r>
            <a:endParaRPr lang="en-US" sz="850" dirty="0"/>
          </a:p>
        </p:txBody>
      </p:sp>
      <p:sp>
        <p:nvSpPr>
          <p:cNvPr id="71" name="Text 69"/>
          <p:cNvSpPr/>
          <p:nvPr/>
        </p:nvSpPr>
        <p:spPr>
          <a:xfrm>
            <a:off x="8156448" y="2569464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942 926 kg</a:t>
            </a:r>
            <a:endParaRPr lang="en-US" sz="850" dirty="0"/>
          </a:p>
        </p:txBody>
      </p:sp>
      <p:sp>
        <p:nvSpPr>
          <p:cNvPr id="72" name="Shape 70"/>
          <p:cNvSpPr/>
          <p:nvPr/>
        </p:nvSpPr>
        <p:spPr>
          <a:xfrm>
            <a:off x="9052560" y="2606040"/>
            <a:ext cx="2743200" cy="164592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73" name="Shape 71"/>
          <p:cNvSpPr/>
          <p:nvPr/>
        </p:nvSpPr>
        <p:spPr>
          <a:xfrm>
            <a:off x="9052560" y="2606040"/>
            <a:ext cx="219456" cy="164592"/>
          </a:xfrm>
          <a:prstGeom prst="rect">
            <a:avLst/>
          </a:prstGeom>
          <a:solidFill>
            <a:srgbClr val="CC2200"/>
          </a:solidFill>
          <a:ln/>
        </p:spPr>
      </p:sp>
      <p:sp>
        <p:nvSpPr>
          <p:cNvPr id="74" name="Text 72"/>
          <p:cNvSpPr/>
          <p:nvPr/>
        </p:nvSpPr>
        <p:spPr>
          <a:xfrm>
            <a:off x="11841480" y="2569464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C2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8%</a:t>
            </a:r>
            <a:endParaRPr lang="en-US" sz="900" dirty="0"/>
          </a:p>
        </p:txBody>
      </p:sp>
      <p:sp>
        <p:nvSpPr>
          <p:cNvPr id="75" name="Shape 73"/>
          <p:cNvSpPr/>
          <p:nvPr/>
        </p:nvSpPr>
        <p:spPr>
          <a:xfrm>
            <a:off x="6492240" y="3840480"/>
            <a:ext cx="5486400" cy="960120"/>
          </a:xfrm>
          <a:prstGeom prst="rect">
            <a:avLst/>
          </a:prstGeom>
          <a:solidFill>
            <a:srgbClr val="FFFBEC"/>
          </a:solidFill>
          <a:ln w="6350">
            <a:solidFill>
              <a:srgbClr val="E5C97A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6583680" y="3913632"/>
            <a:ext cx="5303520" cy="8503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LEVIERS : Œufs : +26,9% de marché, AGL à 1% → cible 8% = +130 T/an. Transit-Coss en chute de –60% (696K→274K kg) : accélérer la captation de ses clients. Contrats cadres Télécoms 2027 à sécuriser dès maintenant.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2243"/>
          </a:solidFill>
          <a:ln/>
        </p:spPr>
      </p:sp>
      <p:sp>
        <p:nvSpPr>
          <p:cNvPr id="3" name="Shape 1"/>
          <p:cNvSpPr/>
          <p:nvPr/>
        </p:nvSpPr>
        <p:spPr>
          <a:xfrm>
            <a:off x="1097280" y="3520440"/>
            <a:ext cx="7498080" cy="59436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2011680"/>
            <a:ext cx="11430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DSM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365760" y="2651760"/>
            <a:ext cx="11430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DIRECTION DES SOLUTIONS MARITIMES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365760" y="3703320"/>
            <a:ext cx="11430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Étude des armateurs au B/L  |  Lignes régulières (TEU + RoRo)  |  Tramps : BRBK, Sac, Vrac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828800" y="649224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Africa Global Logistics – Étude de Marché Jan–Mai 2026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430000" y="6473952"/>
            <a:ext cx="640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AGL</a:t>
            </a:r>
            <a:endParaRPr lang="en-US" sz="1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D2243"/>
          </a:solidFill>
          <a:ln/>
        </p:spPr>
      </p:sp>
      <p:sp>
        <p:nvSpPr>
          <p:cNvPr id="3" name="Text 1"/>
          <p:cNvSpPr/>
          <p:nvPr/>
        </p:nvSpPr>
        <p:spPr>
          <a:xfrm>
            <a:off x="228600" y="45720"/>
            <a:ext cx="11887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DSM – ARMATEURS AU B/L  |  Tonnage Import 2025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228600" y="548640"/>
            <a:ext cx="11430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Classement annuel tonnage tous conditionnements  |  Marché : 23 557 176 T  |  Hors PP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82880" y="6583680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Africa Global Logistics – Étude de Marché Jan–Mai 2026  |  p.26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430000" y="653796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AGL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228600" y="1097280"/>
            <a:ext cx="5943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10 Armateurs au B/L (Import 2025)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37160" y="1371600"/>
            <a:ext cx="6217920" cy="256032"/>
          </a:xfrm>
          <a:prstGeom prst="rect">
            <a:avLst/>
          </a:prstGeom>
          <a:solidFill>
            <a:srgbClr val="0D2243"/>
          </a:solidFill>
          <a:ln/>
        </p:spPr>
      </p:sp>
      <p:sp>
        <p:nvSpPr>
          <p:cNvPr id="9" name="Text 7"/>
          <p:cNvSpPr/>
          <p:nvPr/>
        </p:nvSpPr>
        <p:spPr>
          <a:xfrm>
            <a:off x="173736" y="1408176"/>
            <a:ext cx="365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585216" y="1408176"/>
            <a:ext cx="1889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Armateur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2520696" y="1408176"/>
            <a:ext cx="1889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Tonnage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4456176" y="1408176"/>
            <a:ext cx="1889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PDM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137160" y="1627632"/>
            <a:ext cx="6217920" cy="256032"/>
          </a:xfrm>
          <a:prstGeom prst="rect">
            <a:avLst/>
          </a:prstGeom>
          <a:solidFill>
            <a:srgbClr val="FFF9EC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73736" y="1664208"/>
            <a:ext cx="365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#1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585216" y="1664208"/>
            <a:ext cx="1889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A7C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AFFRETE   CLINKER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2520696" y="1664208"/>
            <a:ext cx="1889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8 483 253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4456176" y="1664208"/>
            <a:ext cx="1889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A7C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36,01 %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137160" y="1883664"/>
            <a:ext cx="6217920" cy="256032"/>
          </a:xfrm>
          <a:prstGeom prst="rect">
            <a:avLst/>
          </a:prstGeom>
          <a:solidFill>
            <a:srgbClr val="F8F9FA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73736" y="1920240"/>
            <a:ext cx="365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#2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585216" y="1920240"/>
            <a:ext cx="1889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ARMATEUR DIVERS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2520696" y="1920240"/>
            <a:ext cx="1889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2 611 451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4456176" y="1920240"/>
            <a:ext cx="1889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11,09 %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137160" y="2139696"/>
            <a:ext cx="6217920" cy="256032"/>
          </a:xfrm>
          <a:prstGeom prst="rect">
            <a:avLst/>
          </a:prstGeom>
          <a:solidFill>
            <a:srgbClr val="FFFFFF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73736" y="2176272"/>
            <a:ext cx="365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#3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585216" y="2176272"/>
            <a:ext cx="1889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MSC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2520696" y="2176272"/>
            <a:ext cx="1889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2 575 251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4456176" y="2176272"/>
            <a:ext cx="1889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10,93 %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137160" y="2395728"/>
            <a:ext cx="6217920" cy="256032"/>
          </a:xfrm>
          <a:prstGeom prst="rect">
            <a:avLst/>
          </a:prstGeom>
          <a:solidFill>
            <a:srgbClr val="F8F9FA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73736" y="2432304"/>
            <a:ext cx="365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#4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585216" y="2432304"/>
            <a:ext cx="1889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ARMATEURS DIVERS RIZ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2520696" y="2432304"/>
            <a:ext cx="1889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2 055 812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4456176" y="2432304"/>
            <a:ext cx="1889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8,73 %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137160" y="2651760"/>
            <a:ext cx="6217920" cy="256032"/>
          </a:xfrm>
          <a:prstGeom prst="rect">
            <a:avLst/>
          </a:prstGeom>
          <a:solidFill>
            <a:srgbClr val="FFFFFF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73736" y="2688336"/>
            <a:ext cx="365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#5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585216" y="2688336"/>
            <a:ext cx="1889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CMA CGM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2520696" y="2688336"/>
            <a:ext cx="1889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1 589 395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4456176" y="2688336"/>
            <a:ext cx="1889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6,75 %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137160" y="2907792"/>
            <a:ext cx="6217920" cy="256032"/>
          </a:xfrm>
          <a:prstGeom prst="rect">
            <a:avLst/>
          </a:prstGeom>
          <a:solidFill>
            <a:srgbClr val="F8F9FA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73736" y="2944368"/>
            <a:ext cx="365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#6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585216" y="2944368"/>
            <a:ext cx="1889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AFFRETES  BLE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2520696" y="2944368"/>
            <a:ext cx="1889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1 531 565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4456176" y="2944368"/>
            <a:ext cx="1889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6,50 %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137160" y="3163824"/>
            <a:ext cx="6217920" cy="256032"/>
          </a:xfrm>
          <a:prstGeom prst="rect">
            <a:avLst/>
          </a:prstGeom>
          <a:solidFill>
            <a:srgbClr val="FFFFFF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173736" y="3200400"/>
            <a:ext cx="365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#7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585216" y="3200400"/>
            <a:ext cx="1889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MAERSK LINE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2520696" y="3200400"/>
            <a:ext cx="1889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1 386 832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4456176" y="3200400"/>
            <a:ext cx="1889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5,89 %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137160" y="3419856"/>
            <a:ext cx="6217920" cy="256032"/>
          </a:xfrm>
          <a:prstGeom prst="rect">
            <a:avLst/>
          </a:prstGeom>
          <a:solidFill>
            <a:srgbClr val="F8F9FA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173736" y="3456432"/>
            <a:ext cx="365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#8</a:t>
            </a:r>
            <a:endParaRPr lang="en-US" sz="850" dirty="0"/>
          </a:p>
        </p:txBody>
      </p:sp>
      <p:sp>
        <p:nvSpPr>
          <p:cNvPr id="50" name="Text 48"/>
          <p:cNvSpPr/>
          <p:nvPr/>
        </p:nvSpPr>
        <p:spPr>
          <a:xfrm>
            <a:off x="585216" y="3456432"/>
            <a:ext cx="1889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ARMATEUR DIVERS ENGRAIS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2520696" y="3456432"/>
            <a:ext cx="1889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1 043 989</a:t>
            </a:r>
            <a:endParaRPr lang="en-US" sz="850" dirty="0"/>
          </a:p>
        </p:txBody>
      </p:sp>
      <p:sp>
        <p:nvSpPr>
          <p:cNvPr id="52" name="Text 50"/>
          <p:cNvSpPr/>
          <p:nvPr/>
        </p:nvSpPr>
        <p:spPr>
          <a:xfrm>
            <a:off x="4456176" y="3456432"/>
            <a:ext cx="1889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4,43 %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137160" y="3675888"/>
            <a:ext cx="6217920" cy="256032"/>
          </a:xfrm>
          <a:prstGeom prst="rect">
            <a:avLst/>
          </a:prstGeom>
          <a:solidFill>
            <a:srgbClr val="FFFFFF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173736" y="3712464"/>
            <a:ext cx="365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#9</a:t>
            </a:r>
            <a:endParaRPr lang="en-US" sz="850" dirty="0"/>
          </a:p>
        </p:txBody>
      </p:sp>
      <p:sp>
        <p:nvSpPr>
          <p:cNvPr id="55" name="Text 53"/>
          <p:cNvSpPr/>
          <p:nvPr/>
        </p:nvSpPr>
        <p:spPr>
          <a:xfrm>
            <a:off x="585216" y="3712464"/>
            <a:ext cx="1889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HAPAG LLOYD</a:t>
            </a:r>
            <a:endParaRPr lang="en-US" sz="850" dirty="0"/>
          </a:p>
        </p:txBody>
      </p:sp>
      <p:sp>
        <p:nvSpPr>
          <p:cNvPr id="56" name="Text 54"/>
          <p:cNvSpPr/>
          <p:nvPr/>
        </p:nvSpPr>
        <p:spPr>
          <a:xfrm>
            <a:off x="2520696" y="3712464"/>
            <a:ext cx="1889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495 099</a:t>
            </a:r>
            <a:endParaRPr lang="en-US" sz="850" dirty="0"/>
          </a:p>
        </p:txBody>
      </p:sp>
      <p:sp>
        <p:nvSpPr>
          <p:cNvPr id="57" name="Text 55"/>
          <p:cNvSpPr/>
          <p:nvPr/>
        </p:nvSpPr>
        <p:spPr>
          <a:xfrm>
            <a:off x="4456176" y="3712464"/>
            <a:ext cx="1889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2,10 %</a:t>
            </a:r>
            <a:endParaRPr lang="en-US" sz="850" dirty="0"/>
          </a:p>
        </p:txBody>
      </p:sp>
      <p:sp>
        <p:nvSpPr>
          <p:cNvPr id="58" name="Shape 56"/>
          <p:cNvSpPr/>
          <p:nvPr/>
        </p:nvSpPr>
        <p:spPr>
          <a:xfrm>
            <a:off x="137160" y="3931920"/>
            <a:ext cx="6217920" cy="256032"/>
          </a:xfrm>
          <a:prstGeom prst="rect">
            <a:avLst/>
          </a:prstGeom>
          <a:solidFill>
            <a:srgbClr val="F8F9FA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173736" y="3968496"/>
            <a:ext cx="365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#10</a:t>
            </a:r>
            <a:endParaRPr lang="en-US" sz="850" dirty="0"/>
          </a:p>
        </p:txBody>
      </p:sp>
      <p:sp>
        <p:nvSpPr>
          <p:cNvPr id="60" name="Text 58"/>
          <p:cNvSpPr/>
          <p:nvPr/>
        </p:nvSpPr>
        <p:spPr>
          <a:xfrm>
            <a:off x="585216" y="3968496"/>
            <a:ext cx="1889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AFRICA EXPRESS LINE</a:t>
            </a:r>
            <a:endParaRPr lang="en-US" sz="850" dirty="0"/>
          </a:p>
        </p:txBody>
      </p:sp>
      <p:sp>
        <p:nvSpPr>
          <p:cNvPr id="61" name="Text 59"/>
          <p:cNvSpPr/>
          <p:nvPr/>
        </p:nvSpPr>
        <p:spPr>
          <a:xfrm>
            <a:off x="2520696" y="3968496"/>
            <a:ext cx="1889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373 880</a:t>
            </a:r>
            <a:endParaRPr lang="en-US" sz="850" dirty="0"/>
          </a:p>
        </p:txBody>
      </p:sp>
      <p:sp>
        <p:nvSpPr>
          <p:cNvPr id="62" name="Text 60"/>
          <p:cNvSpPr/>
          <p:nvPr/>
        </p:nvSpPr>
        <p:spPr>
          <a:xfrm>
            <a:off x="4456176" y="3968496"/>
            <a:ext cx="1889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1,59 %</a:t>
            </a:r>
            <a:endParaRPr lang="en-US" sz="850" dirty="0"/>
          </a:p>
        </p:txBody>
      </p:sp>
      <p:sp>
        <p:nvSpPr>
          <p:cNvPr id="63" name="Text 61"/>
          <p:cNvSpPr/>
          <p:nvPr/>
        </p:nvSpPr>
        <p:spPr>
          <a:xfrm>
            <a:off x="6492240" y="1097280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Évolution mensuelle Top 5 armateurs (% du marché mensuel)</a:t>
            </a:r>
            <a:endParaRPr lang="en-US" sz="1100" dirty="0"/>
          </a:p>
        </p:txBody>
      </p:sp>
      <p:graphicFrame>
        <p:nvGraphicFramePr>
          <p:cNvPr id="2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92240" y="1371600"/>
          <a:ext cx="5486400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292608"/>
                <a:gridCol w="292608"/>
                <a:gridCol w="292608"/>
                <a:gridCol w="292608"/>
                <a:gridCol w="292608"/>
                <a:gridCol w="292608"/>
                <a:gridCol w="292608"/>
                <a:gridCol w="292608"/>
                <a:gridCol w="292608"/>
                <a:gridCol w="292608"/>
                <a:gridCol w="292608"/>
                <a:gridCol w="292608"/>
                <a:gridCol w="512064"/>
              </a:tblGrid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Armateur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17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Jan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17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Fév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17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17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Avr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17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Mai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17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Jun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17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Jul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17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Aoû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17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Sep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17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Oct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17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Nov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17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Déc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17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17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AFFRETE   CLINKER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17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26%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17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34%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17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41%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17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34%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17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49%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17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44%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17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34%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17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47%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17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40%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17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47%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17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29%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17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28%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17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36,01 %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17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ARMATEUR DIVERS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17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10%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17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12%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17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8%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17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13%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17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9%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17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12%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17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16%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17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8%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17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10%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17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13%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17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17%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17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13%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17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11,09 %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17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MSC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17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13%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17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10%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17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11%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17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10%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17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9%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17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14%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17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11%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17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10%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17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14%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17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10%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17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14%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17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16%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17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10,93 %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17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ARMATEURS DIVERS R…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17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21%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17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8%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17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7%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17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14%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17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7%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17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17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10%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17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9%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17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8%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17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7%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17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12%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17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9%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17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8,73 %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17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CMA CGM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17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7%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17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6%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17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7%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17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7%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17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7%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17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9%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17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5%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17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7%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17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7%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17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7%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17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7%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17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11%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17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6,75 %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17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5" name="Shape 62"/>
          <p:cNvSpPr/>
          <p:nvPr/>
        </p:nvSpPr>
        <p:spPr>
          <a:xfrm>
            <a:off x="137160" y="5029200"/>
            <a:ext cx="11795760" cy="868680"/>
          </a:xfrm>
          <a:prstGeom prst="rect">
            <a:avLst/>
          </a:prstGeom>
          <a:solidFill>
            <a:srgbClr val="FFFBEC"/>
          </a:solidFill>
          <a:ln w="6350">
            <a:solidFill>
              <a:srgbClr val="E5C97A"/>
            </a:solidFill>
            <a:prstDash val="solid"/>
          </a:ln>
        </p:spPr>
      </p:sp>
      <p:sp>
        <p:nvSpPr>
          <p:cNvPr id="66" name="Text 63"/>
          <p:cNvSpPr/>
          <p:nvPr/>
        </p:nvSpPr>
        <p:spPr>
          <a:xfrm>
            <a:off x="228600" y="5102352"/>
            <a:ext cx="11612880" cy="7589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INSIGHT ARMATEURS : Affrètement clinker (36,01 %) domine le tonnage import — flux cimenteries CIM-CI / SCA / SOCOCIM via CAM PHA, PORT SAID, MINA SAQR. Hors affrètement, MSC (10,93 %) + CMA CGM (6,75 %) + Maersk = ~16% sur lignes régulières. Cible AGL : consolider commission B/L sur ces 3 majors + capter armateurs riz/blé/engrais (vraquiers spot).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D2243"/>
          </a:solidFill>
          <a:ln/>
        </p:spPr>
      </p:sp>
      <p:sp>
        <p:nvSpPr>
          <p:cNvPr id="3" name="Text 1"/>
          <p:cNvSpPr/>
          <p:nvPr/>
        </p:nvSpPr>
        <p:spPr>
          <a:xfrm>
            <a:off x="228600" y="45720"/>
            <a:ext cx="11887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DSM – MANUTENTIONNAIRES  |  Position AGL CI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228600" y="548640"/>
            <a:ext cx="11430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Classement annuel tonnage manutention  |  AGL CI : #8 avec 801 440 T (3,40 % PDM)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82880" y="6583680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Africa Global Logistics – Étude de Marché Jan–Mai 2026  |  p.27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430000" y="653796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AGL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228600" y="1097280"/>
            <a:ext cx="5943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10 Manutentionnaires (Import 2025)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37160" y="1371600"/>
            <a:ext cx="6217920" cy="256032"/>
          </a:xfrm>
          <a:prstGeom prst="rect">
            <a:avLst/>
          </a:prstGeom>
          <a:solidFill>
            <a:srgbClr val="0D2243"/>
          </a:solidFill>
          <a:ln/>
        </p:spPr>
      </p:sp>
      <p:sp>
        <p:nvSpPr>
          <p:cNvPr id="9" name="Text 7"/>
          <p:cNvSpPr/>
          <p:nvPr/>
        </p:nvSpPr>
        <p:spPr>
          <a:xfrm>
            <a:off x="173736" y="1408176"/>
            <a:ext cx="365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585216" y="1408176"/>
            <a:ext cx="1889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Manutentionnaire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2520696" y="1408176"/>
            <a:ext cx="1889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Tonnage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4456176" y="1408176"/>
            <a:ext cx="1889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PDM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137160" y="1627632"/>
            <a:ext cx="6217920" cy="256032"/>
          </a:xfrm>
          <a:prstGeom prst="rect">
            <a:avLst/>
          </a:prstGeom>
          <a:solidFill>
            <a:srgbClr val="FFFFFF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73736" y="1664208"/>
            <a:ext cx="365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#1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585216" y="1664208"/>
            <a:ext cx="1889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A7C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SEA-INVEST SHIPPING AGENCY CI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2520696" y="1664208"/>
            <a:ext cx="1889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7 842 206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4456176" y="1664208"/>
            <a:ext cx="1889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33,29 %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137160" y="1883664"/>
            <a:ext cx="6217920" cy="256032"/>
          </a:xfrm>
          <a:prstGeom prst="rect">
            <a:avLst/>
          </a:prstGeom>
          <a:solidFill>
            <a:srgbClr val="F8F9FA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73736" y="1920240"/>
            <a:ext cx="365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#2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585216" y="1920240"/>
            <a:ext cx="1889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Cote d'Ivoire Terminal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2520696" y="1920240"/>
            <a:ext cx="1889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4 334 309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4456176" y="1920240"/>
            <a:ext cx="1889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18,40 %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137160" y="2139696"/>
            <a:ext cx="6217920" cy="256032"/>
          </a:xfrm>
          <a:prstGeom prst="rect">
            <a:avLst/>
          </a:prstGeom>
          <a:solidFill>
            <a:srgbClr val="FFFFFF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73736" y="2176272"/>
            <a:ext cx="365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#3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585216" y="2176272"/>
            <a:ext cx="1889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Abidjan Terminal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2520696" y="2176272"/>
            <a:ext cx="1889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2 429 041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4456176" y="2176272"/>
            <a:ext cx="1889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10,31 %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137160" y="2395728"/>
            <a:ext cx="6217920" cy="256032"/>
          </a:xfrm>
          <a:prstGeom prst="rect">
            <a:avLst/>
          </a:prstGeom>
          <a:solidFill>
            <a:srgbClr val="F8F9FA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73736" y="2432304"/>
            <a:ext cx="365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#4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585216" y="2432304"/>
            <a:ext cx="1889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MANUTENTION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2520696" y="2432304"/>
            <a:ext cx="1889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1 448 303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4456176" y="2432304"/>
            <a:ext cx="1889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6,15 %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137160" y="2651760"/>
            <a:ext cx="6217920" cy="256032"/>
          </a:xfrm>
          <a:prstGeom prst="rect">
            <a:avLst/>
          </a:prstGeom>
          <a:solidFill>
            <a:srgbClr val="FFFFFF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73736" y="2688336"/>
            <a:ext cx="365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#5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585216" y="2688336"/>
            <a:ext cx="1889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TERMINAL INDUSTRIEL POLYVAL.SP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2520696" y="2688336"/>
            <a:ext cx="1889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1 385 420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4456176" y="2688336"/>
            <a:ext cx="1889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5,88 %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137160" y="2907792"/>
            <a:ext cx="6217920" cy="256032"/>
          </a:xfrm>
          <a:prstGeom prst="rect">
            <a:avLst/>
          </a:prstGeom>
          <a:solidFill>
            <a:srgbClr val="F8F9FA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73736" y="2944368"/>
            <a:ext cx="365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#6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585216" y="2944368"/>
            <a:ext cx="1889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SOGENA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2520696" y="2944368"/>
            <a:ext cx="1889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950 828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4456176" y="2944368"/>
            <a:ext cx="1889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4,04 %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137160" y="3163824"/>
            <a:ext cx="6217920" cy="256032"/>
          </a:xfrm>
          <a:prstGeom prst="rect">
            <a:avLst/>
          </a:prstGeom>
          <a:solidFill>
            <a:srgbClr val="FFFFFF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173736" y="3200400"/>
            <a:ext cx="365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#7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585216" y="3200400"/>
            <a:ext cx="1889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PETROCI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2520696" y="3200400"/>
            <a:ext cx="1889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818 059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4456176" y="3200400"/>
            <a:ext cx="1889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3,47 %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137160" y="3419856"/>
            <a:ext cx="6217920" cy="256032"/>
          </a:xfrm>
          <a:prstGeom prst="rect">
            <a:avLst/>
          </a:prstGeom>
          <a:solidFill>
            <a:srgbClr val="F8F9FA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173736" y="3456432"/>
            <a:ext cx="365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#8</a:t>
            </a:r>
            <a:endParaRPr lang="en-US" sz="850" dirty="0"/>
          </a:p>
        </p:txBody>
      </p:sp>
      <p:sp>
        <p:nvSpPr>
          <p:cNvPr id="50" name="Text 48"/>
          <p:cNvSpPr/>
          <p:nvPr/>
        </p:nvSpPr>
        <p:spPr>
          <a:xfrm>
            <a:off x="585216" y="3456432"/>
            <a:ext cx="1889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AGL CI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2520696" y="3456432"/>
            <a:ext cx="1889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801 440</a:t>
            </a:r>
            <a:endParaRPr lang="en-US" sz="850" dirty="0"/>
          </a:p>
        </p:txBody>
      </p:sp>
      <p:sp>
        <p:nvSpPr>
          <p:cNvPr id="52" name="Text 50"/>
          <p:cNvSpPr/>
          <p:nvPr/>
        </p:nvSpPr>
        <p:spPr>
          <a:xfrm>
            <a:off x="4456176" y="3456432"/>
            <a:ext cx="1889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3,40 %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137160" y="3675888"/>
            <a:ext cx="6217920" cy="256032"/>
          </a:xfrm>
          <a:prstGeom prst="rect">
            <a:avLst/>
          </a:prstGeom>
          <a:solidFill>
            <a:srgbClr val="FFF9EC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173736" y="3712464"/>
            <a:ext cx="365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#9</a:t>
            </a:r>
            <a:endParaRPr lang="en-US" sz="850" dirty="0"/>
          </a:p>
        </p:txBody>
      </p:sp>
      <p:sp>
        <p:nvSpPr>
          <p:cNvPr id="55" name="Text 53"/>
          <p:cNvSpPr/>
          <p:nvPr/>
        </p:nvSpPr>
        <p:spPr>
          <a:xfrm>
            <a:off x="585216" y="3712464"/>
            <a:ext cx="1889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</a:t>
            </a:r>
            <a:endParaRPr lang="en-US" sz="850" dirty="0"/>
          </a:p>
        </p:txBody>
      </p:sp>
      <p:sp>
        <p:nvSpPr>
          <p:cNvPr id="56" name="Text 54"/>
          <p:cNvSpPr/>
          <p:nvPr/>
        </p:nvSpPr>
        <p:spPr>
          <a:xfrm>
            <a:off x="2520696" y="3712464"/>
            <a:ext cx="1889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532 188</a:t>
            </a:r>
            <a:endParaRPr lang="en-US" sz="850" dirty="0"/>
          </a:p>
        </p:txBody>
      </p:sp>
      <p:sp>
        <p:nvSpPr>
          <p:cNvPr id="57" name="Text 55"/>
          <p:cNvSpPr/>
          <p:nvPr/>
        </p:nvSpPr>
        <p:spPr>
          <a:xfrm>
            <a:off x="4456176" y="3712464"/>
            <a:ext cx="1889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A7C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2,26 %</a:t>
            </a:r>
            <a:endParaRPr lang="en-US" sz="850" dirty="0"/>
          </a:p>
        </p:txBody>
      </p:sp>
      <p:sp>
        <p:nvSpPr>
          <p:cNvPr id="58" name="Shape 56"/>
          <p:cNvSpPr/>
          <p:nvPr/>
        </p:nvSpPr>
        <p:spPr>
          <a:xfrm>
            <a:off x="137160" y="3931920"/>
            <a:ext cx="6217920" cy="256032"/>
          </a:xfrm>
          <a:prstGeom prst="rect">
            <a:avLst/>
          </a:prstGeom>
          <a:solidFill>
            <a:srgbClr val="F8F9FA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173736" y="3968496"/>
            <a:ext cx="365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#10</a:t>
            </a:r>
            <a:endParaRPr lang="en-US" sz="850" dirty="0"/>
          </a:p>
        </p:txBody>
      </p:sp>
      <p:sp>
        <p:nvSpPr>
          <p:cNvPr id="60" name="Text 58"/>
          <p:cNvSpPr/>
          <p:nvPr/>
        </p:nvSpPr>
        <p:spPr>
          <a:xfrm>
            <a:off x="585216" y="3968496"/>
            <a:ext cx="1889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GMT SHIPPING COTE D'IVOIRE SA</a:t>
            </a:r>
            <a:endParaRPr lang="en-US" sz="850" dirty="0"/>
          </a:p>
        </p:txBody>
      </p:sp>
      <p:sp>
        <p:nvSpPr>
          <p:cNvPr id="61" name="Text 59"/>
          <p:cNvSpPr/>
          <p:nvPr/>
        </p:nvSpPr>
        <p:spPr>
          <a:xfrm>
            <a:off x="2520696" y="3968496"/>
            <a:ext cx="1889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515 138</a:t>
            </a:r>
            <a:endParaRPr lang="en-US" sz="850" dirty="0"/>
          </a:p>
        </p:txBody>
      </p:sp>
      <p:sp>
        <p:nvSpPr>
          <p:cNvPr id="62" name="Text 60"/>
          <p:cNvSpPr/>
          <p:nvPr/>
        </p:nvSpPr>
        <p:spPr>
          <a:xfrm>
            <a:off x="4456176" y="3968496"/>
            <a:ext cx="1889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2,19 %</a:t>
            </a:r>
            <a:endParaRPr lang="en-US" sz="850" dirty="0"/>
          </a:p>
        </p:txBody>
      </p:sp>
      <p:sp>
        <p:nvSpPr>
          <p:cNvPr id="63" name="Text 61"/>
          <p:cNvSpPr/>
          <p:nvPr/>
        </p:nvSpPr>
        <p:spPr>
          <a:xfrm>
            <a:off x="6492240" y="1097280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AGL CI – tonnage mensuel manutention 2025</a:t>
            </a:r>
            <a:endParaRPr lang="en-US" sz="1100" dirty="0"/>
          </a:p>
        </p:txBody>
      </p:sp>
      <p:sp>
        <p:nvSpPr>
          <p:cNvPr id="64" name="Shape 62"/>
          <p:cNvSpPr/>
          <p:nvPr/>
        </p:nvSpPr>
        <p:spPr>
          <a:xfrm>
            <a:off x="6629400" y="3539177"/>
            <a:ext cx="388620" cy="209863"/>
          </a:xfrm>
          <a:prstGeom prst="rect">
            <a:avLst/>
          </a:prstGeom>
          <a:solidFill>
            <a:srgbClr val="0D2243"/>
          </a:solidFill>
          <a:ln/>
        </p:spPr>
      </p:sp>
      <p:sp>
        <p:nvSpPr>
          <p:cNvPr id="65" name="Text 63"/>
          <p:cNvSpPr/>
          <p:nvPr/>
        </p:nvSpPr>
        <p:spPr>
          <a:xfrm>
            <a:off x="6629400" y="3794760"/>
            <a:ext cx="4343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</a:t>
            </a:r>
            <a:endParaRPr lang="en-US" sz="700" dirty="0"/>
          </a:p>
        </p:txBody>
      </p:sp>
      <p:sp>
        <p:nvSpPr>
          <p:cNvPr id="66" name="Text 64"/>
          <p:cNvSpPr/>
          <p:nvPr/>
        </p:nvSpPr>
        <p:spPr>
          <a:xfrm>
            <a:off x="6537960" y="3310577"/>
            <a:ext cx="5715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0D22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16k</a:t>
            </a:r>
            <a:endParaRPr lang="en-US" sz="600" dirty="0"/>
          </a:p>
        </p:txBody>
      </p:sp>
      <p:sp>
        <p:nvSpPr>
          <p:cNvPr id="67" name="Shape 65"/>
          <p:cNvSpPr/>
          <p:nvPr/>
        </p:nvSpPr>
        <p:spPr>
          <a:xfrm>
            <a:off x="7063740" y="2944681"/>
            <a:ext cx="388620" cy="804359"/>
          </a:xfrm>
          <a:prstGeom prst="rect">
            <a:avLst/>
          </a:prstGeom>
          <a:solidFill>
            <a:srgbClr val="0D2243"/>
          </a:solidFill>
          <a:ln/>
        </p:spPr>
      </p:sp>
      <p:sp>
        <p:nvSpPr>
          <p:cNvPr id="68" name="Text 66"/>
          <p:cNvSpPr/>
          <p:nvPr/>
        </p:nvSpPr>
        <p:spPr>
          <a:xfrm>
            <a:off x="7063740" y="3794760"/>
            <a:ext cx="4343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Fév</a:t>
            </a:r>
            <a:endParaRPr lang="en-US" sz="700" dirty="0"/>
          </a:p>
        </p:txBody>
      </p:sp>
      <p:sp>
        <p:nvSpPr>
          <p:cNvPr id="69" name="Text 67"/>
          <p:cNvSpPr/>
          <p:nvPr/>
        </p:nvSpPr>
        <p:spPr>
          <a:xfrm>
            <a:off x="6972300" y="2716081"/>
            <a:ext cx="5715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0D22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61k</a:t>
            </a:r>
            <a:endParaRPr lang="en-US" sz="600" dirty="0"/>
          </a:p>
        </p:txBody>
      </p:sp>
      <p:sp>
        <p:nvSpPr>
          <p:cNvPr id="70" name="Shape 68"/>
          <p:cNvSpPr/>
          <p:nvPr/>
        </p:nvSpPr>
        <p:spPr>
          <a:xfrm>
            <a:off x="7498080" y="3048076"/>
            <a:ext cx="388620" cy="700964"/>
          </a:xfrm>
          <a:prstGeom prst="rect">
            <a:avLst/>
          </a:prstGeom>
          <a:solidFill>
            <a:srgbClr val="0D2243"/>
          </a:solidFill>
          <a:ln/>
        </p:spPr>
      </p:sp>
      <p:sp>
        <p:nvSpPr>
          <p:cNvPr id="71" name="Text 69"/>
          <p:cNvSpPr/>
          <p:nvPr/>
        </p:nvSpPr>
        <p:spPr>
          <a:xfrm>
            <a:off x="7498080" y="3794760"/>
            <a:ext cx="4343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</a:t>
            </a:r>
            <a:endParaRPr lang="en-US" sz="700" dirty="0"/>
          </a:p>
        </p:txBody>
      </p:sp>
      <p:sp>
        <p:nvSpPr>
          <p:cNvPr id="72" name="Text 70"/>
          <p:cNvSpPr/>
          <p:nvPr/>
        </p:nvSpPr>
        <p:spPr>
          <a:xfrm>
            <a:off x="7406640" y="2819476"/>
            <a:ext cx="5715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0D22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53k</a:t>
            </a:r>
            <a:endParaRPr lang="en-US" sz="600" dirty="0"/>
          </a:p>
        </p:txBody>
      </p:sp>
      <p:sp>
        <p:nvSpPr>
          <p:cNvPr id="73" name="Shape 71"/>
          <p:cNvSpPr/>
          <p:nvPr/>
        </p:nvSpPr>
        <p:spPr>
          <a:xfrm>
            <a:off x="7932420" y="3244494"/>
            <a:ext cx="388620" cy="504546"/>
          </a:xfrm>
          <a:prstGeom prst="rect">
            <a:avLst/>
          </a:prstGeom>
          <a:solidFill>
            <a:srgbClr val="0D2243"/>
          </a:solidFill>
          <a:ln/>
        </p:spPr>
      </p:sp>
      <p:sp>
        <p:nvSpPr>
          <p:cNvPr id="74" name="Text 72"/>
          <p:cNvSpPr/>
          <p:nvPr/>
        </p:nvSpPr>
        <p:spPr>
          <a:xfrm>
            <a:off x="7932420" y="3794760"/>
            <a:ext cx="4343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Avr</a:t>
            </a:r>
            <a:endParaRPr lang="en-US" sz="700" dirty="0"/>
          </a:p>
        </p:txBody>
      </p:sp>
      <p:sp>
        <p:nvSpPr>
          <p:cNvPr id="75" name="Text 73"/>
          <p:cNvSpPr/>
          <p:nvPr/>
        </p:nvSpPr>
        <p:spPr>
          <a:xfrm>
            <a:off x="7840980" y="3015894"/>
            <a:ext cx="5715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0D22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38k</a:t>
            </a:r>
            <a:endParaRPr lang="en-US" sz="600" dirty="0"/>
          </a:p>
        </p:txBody>
      </p:sp>
      <p:sp>
        <p:nvSpPr>
          <p:cNvPr id="76" name="Shape 74"/>
          <p:cNvSpPr/>
          <p:nvPr/>
        </p:nvSpPr>
        <p:spPr>
          <a:xfrm>
            <a:off x="8366760" y="1554480"/>
            <a:ext cx="388620" cy="2194560"/>
          </a:xfrm>
          <a:prstGeom prst="rect">
            <a:avLst/>
          </a:prstGeom>
          <a:solidFill>
            <a:srgbClr val="0D2243"/>
          </a:solidFill>
          <a:ln/>
        </p:spPr>
      </p:sp>
      <p:sp>
        <p:nvSpPr>
          <p:cNvPr id="77" name="Text 75"/>
          <p:cNvSpPr/>
          <p:nvPr/>
        </p:nvSpPr>
        <p:spPr>
          <a:xfrm>
            <a:off x="8366760" y="3794760"/>
            <a:ext cx="4343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</a:t>
            </a:r>
            <a:endParaRPr lang="en-US" sz="700" dirty="0"/>
          </a:p>
        </p:txBody>
      </p:sp>
      <p:sp>
        <p:nvSpPr>
          <p:cNvPr id="78" name="Text 76"/>
          <p:cNvSpPr/>
          <p:nvPr/>
        </p:nvSpPr>
        <p:spPr>
          <a:xfrm>
            <a:off x="8275320" y="1325880"/>
            <a:ext cx="5715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0D22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166k</a:t>
            </a:r>
            <a:endParaRPr lang="en-US" sz="600" dirty="0"/>
          </a:p>
        </p:txBody>
      </p:sp>
      <p:sp>
        <p:nvSpPr>
          <p:cNvPr id="79" name="Shape 77"/>
          <p:cNvSpPr/>
          <p:nvPr/>
        </p:nvSpPr>
        <p:spPr>
          <a:xfrm>
            <a:off x="8801100" y="3114677"/>
            <a:ext cx="388620" cy="634363"/>
          </a:xfrm>
          <a:prstGeom prst="rect">
            <a:avLst/>
          </a:prstGeom>
          <a:solidFill>
            <a:srgbClr val="0D2243"/>
          </a:solidFill>
          <a:ln/>
        </p:spPr>
      </p:sp>
      <p:sp>
        <p:nvSpPr>
          <p:cNvPr id="80" name="Text 78"/>
          <p:cNvSpPr/>
          <p:nvPr/>
        </p:nvSpPr>
        <p:spPr>
          <a:xfrm>
            <a:off x="8801100" y="3794760"/>
            <a:ext cx="4343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</a:t>
            </a:r>
            <a:endParaRPr lang="en-US" sz="700" dirty="0"/>
          </a:p>
        </p:txBody>
      </p:sp>
      <p:sp>
        <p:nvSpPr>
          <p:cNvPr id="81" name="Text 79"/>
          <p:cNvSpPr/>
          <p:nvPr/>
        </p:nvSpPr>
        <p:spPr>
          <a:xfrm>
            <a:off x="8709660" y="2886077"/>
            <a:ext cx="5715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0D22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48k</a:t>
            </a:r>
            <a:endParaRPr lang="en-US" sz="600" dirty="0"/>
          </a:p>
        </p:txBody>
      </p:sp>
      <p:sp>
        <p:nvSpPr>
          <p:cNvPr id="82" name="Shape 80"/>
          <p:cNvSpPr/>
          <p:nvPr/>
        </p:nvSpPr>
        <p:spPr>
          <a:xfrm>
            <a:off x="9235440" y="2439627"/>
            <a:ext cx="388620" cy="1309413"/>
          </a:xfrm>
          <a:prstGeom prst="rect">
            <a:avLst/>
          </a:prstGeom>
          <a:solidFill>
            <a:srgbClr val="0D2243"/>
          </a:solidFill>
          <a:ln/>
        </p:spPr>
      </p:sp>
      <p:sp>
        <p:nvSpPr>
          <p:cNvPr id="83" name="Text 81"/>
          <p:cNvSpPr/>
          <p:nvPr/>
        </p:nvSpPr>
        <p:spPr>
          <a:xfrm>
            <a:off x="9235440" y="3794760"/>
            <a:ext cx="4343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</a:t>
            </a:r>
            <a:endParaRPr lang="en-US" sz="700" dirty="0"/>
          </a:p>
        </p:txBody>
      </p:sp>
      <p:sp>
        <p:nvSpPr>
          <p:cNvPr id="84" name="Text 82"/>
          <p:cNvSpPr/>
          <p:nvPr/>
        </p:nvSpPr>
        <p:spPr>
          <a:xfrm>
            <a:off x="9144000" y="2211027"/>
            <a:ext cx="5715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0D22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99k</a:t>
            </a:r>
            <a:endParaRPr lang="en-US" sz="600" dirty="0"/>
          </a:p>
        </p:txBody>
      </p:sp>
      <p:sp>
        <p:nvSpPr>
          <p:cNvPr id="85" name="Shape 83"/>
          <p:cNvSpPr/>
          <p:nvPr/>
        </p:nvSpPr>
        <p:spPr>
          <a:xfrm>
            <a:off x="9669780" y="3179706"/>
            <a:ext cx="388620" cy="569334"/>
          </a:xfrm>
          <a:prstGeom prst="rect">
            <a:avLst/>
          </a:prstGeom>
          <a:solidFill>
            <a:srgbClr val="0D2243"/>
          </a:solidFill>
          <a:ln/>
        </p:spPr>
      </p:sp>
      <p:sp>
        <p:nvSpPr>
          <p:cNvPr id="86" name="Text 84"/>
          <p:cNvSpPr/>
          <p:nvPr/>
        </p:nvSpPr>
        <p:spPr>
          <a:xfrm>
            <a:off x="9669780" y="3794760"/>
            <a:ext cx="4343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Aoû</a:t>
            </a:r>
            <a:endParaRPr lang="en-US" sz="700" dirty="0"/>
          </a:p>
        </p:txBody>
      </p:sp>
      <p:sp>
        <p:nvSpPr>
          <p:cNvPr id="87" name="Text 85"/>
          <p:cNvSpPr/>
          <p:nvPr/>
        </p:nvSpPr>
        <p:spPr>
          <a:xfrm>
            <a:off x="9578340" y="2951106"/>
            <a:ext cx="5715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0D22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43k</a:t>
            </a:r>
            <a:endParaRPr lang="en-US" sz="600" dirty="0"/>
          </a:p>
        </p:txBody>
      </p:sp>
      <p:sp>
        <p:nvSpPr>
          <p:cNvPr id="88" name="Shape 86"/>
          <p:cNvSpPr/>
          <p:nvPr/>
        </p:nvSpPr>
        <p:spPr>
          <a:xfrm>
            <a:off x="10104120" y="2682670"/>
            <a:ext cx="388620" cy="1066370"/>
          </a:xfrm>
          <a:prstGeom prst="rect">
            <a:avLst/>
          </a:prstGeom>
          <a:solidFill>
            <a:srgbClr val="0D2243"/>
          </a:solidFill>
          <a:ln/>
        </p:spPr>
      </p:sp>
      <p:sp>
        <p:nvSpPr>
          <p:cNvPr id="89" name="Text 87"/>
          <p:cNvSpPr/>
          <p:nvPr/>
        </p:nvSpPr>
        <p:spPr>
          <a:xfrm>
            <a:off x="10104120" y="3794760"/>
            <a:ext cx="4343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</a:t>
            </a:r>
            <a:endParaRPr lang="en-US" sz="700" dirty="0"/>
          </a:p>
        </p:txBody>
      </p:sp>
      <p:sp>
        <p:nvSpPr>
          <p:cNvPr id="90" name="Text 88"/>
          <p:cNvSpPr/>
          <p:nvPr/>
        </p:nvSpPr>
        <p:spPr>
          <a:xfrm>
            <a:off x="10012680" y="2454070"/>
            <a:ext cx="5715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0D22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81k</a:t>
            </a:r>
            <a:endParaRPr lang="en-US" sz="600" dirty="0"/>
          </a:p>
        </p:txBody>
      </p:sp>
      <p:sp>
        <p:nvSpPr>
          <p:cNvPr id="91" name="Shape 89"/>
          <p:cNvSpPr/>
          <p:nvPr/>
        </p:nvSpPr>
        <p:spPr>
          <a:xfrm>
            <a:off x="10538460" y="2964773"/>
            <a:ext cx="388620" cy="784267"/>
          </a:xfrm>
          <a:prstGeom prst="rect">
            <a:avLst/>
          </a:prstGeom>
          <a:solidFill>
            <a:srgbClr val="0D2243"/>
          </a:solidFill>
          <a:ln/>
        </p:spPr>
      </p:sp>
      <p:sp>
        <p:nvSpPr>
          <p:cNvPr id="92" name="Text 90"/>
          <p:cNvSpPr/>
          <p:nvPr/>
        </p:nvSpPr>
        <p:spPr>
          <a:xfrm>
            <a:off x="10538460" y="3794760"/>
            <a:ext cx="4343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Oct</a:t>
            </a:r>
            <a:endParaRPr lang="en-US" sz="700" dirty="0"/>
          </a:p>
        </p:txBody>
      </p:sp>
      <p:sp>
        <p:nvSpPr>
          <p:cNvPr id="93" name="Text 91"/>
          <p:cNvSpPr/>
          <p:nvPr/>
        </p:nvSpPr>
        <p:spPr>
          <a:xfrm>
            <a:off x="10447020" y="2736173"/>
            <a:ext cx="5715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0D22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59k</a:t>
            </a:r>
            <a:endParaRPr lang="en-US" sz="600" dirty="0"/>
          </a:p>
        </p:txBody>
      </p:sp>
      <p:sp>
        <p:nvSpPr>
          <p:cNvPr id="94" name="Shape 92"/>
          <p:cNvSpPr/>
          <p:nvPr/>
        </p:nvSpPr>
        <p:spPr>
          <a:xfrm>
            <a:off x="10972800" y="2289784"/>
            <a:ext cx="388620" cy="1459256"/>
          </a:xfrm>
          <a:prstGeom prst="rect">
            <a:avLst/>
          </a:prstGeom>
          <a:solidFill>
            <a:srgbClr val="0D2243"/>
          </a:solidFill>
          <a:ln/>
        </p:spPr>
      </p:sp>
      <p:sp>
        <p:nvSpPr>
          <p:cNvPr id="95" name="Text 93"/>
          <p:cNvSpPr/>
          <p:nvPr/>
        </p:nvSpPr>
        <p:spPr>
          <a:xfrm>
            <a:off x="10972800" y="3794760"/>
            <a:ext cx="4343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</a:t>
            </a:r>
            <a:endParaRPr lang="en-US" sz="700" dirty="0"/>
          </a:p>
        </p:txBody>
      </p:sp>
      <p:sp>
        <p:nvSpPr>
          <p:cNvPr id="96" name="Text 94"/>
          <p:cNvSpPr/>
          <p:nvPr/>
        </p:nvSpPr>
        <p:spPr>
          <a:xfrm>
            <a:off x="10881360" y="2061184"/>
            <a:ext cx="5715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0D22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110k</a:t>
            </a:r>
            <a:endParaRPr lang="en-US" sz="600" dirty="0"/>
          </a:p>
        </p:txBody>
      </p:sp>
      <p:sp>
        <p:nvSpPr>
          <p:cNvPr id="97" name="Shape 95"/>
          <p:cNvSpPr/>
          <p:nvPr/>
        </p:nvSpPr>
        <p:spPr>
          <a:xfrm>
            <a:off x="11407140" y="3370210"/>
            <a:ext cx="388620" cy="378830"/>
          </a:xfrm>
          <a:prstGeom prst="rect">
            <a:avLst/>
          </a:prstGeom>
          <a:solidFill>
            <a:srgbClr val="0D2243"/>
          </a:solidFill>
          <a:ln/>
        </p:spPr>
      </p:sp>
      <p:sp>
        <p:nvSpPr>
          <p:cNvPr id="98" name="Text 96"/>
          <p:cNvSpPr/>
          <p:nvPr/>
        </p:nvSpPr>
        <p:spPr>
          <a:xfrm>
            <a:off x="11407140" y="3794760"/>
            <a:ext cx="4343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Déc</a:t>
            </a:r>
            <a:endParaRPr lang="en-US" sz="700" dirty="0"/>
          </a:p>
        </p:txBody>
      </p:sp>
      <p:sp>
        <p:nvSpPr>
          <p:cNvPr id="99" name="Text 97"/>
          <p:cNvSpPr/>
          <p:nvPr/>
        </p:nvSpPr>
        <p:spPr>
          <a:xfrm>
            <a:off x="11315700" y="3141610"/>
            <a:ext cx="5715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0D22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29k</a:t>
            </a:r>
            <a:endParaRPr lang="en-US" sz="600" dirty="0"/>
          </a:p>
        </p:txBody>
      </p:sp>
      <p:sp>
        <p:nvSpPr>
          <p:cNvPr id="100" name="Shape 98"/>
          <p:cNvSpPr/>
          <p:nvPr/>
        </p:nvSpPr>
        <p:spPr>
          <a:xfrm>
            <a:off x="137160" y="5029200"/>
            <a:ext cx="11795760" cy="868680"/>
          </a:xfrm>
          <a:prstGeom prst="rect">
            <a:avLst/>
          </a:prstGeom>
          <a:solidFill>
            <a:srgbClr val="FFFBEC"/>
          </a:solidFill>
          <a:ln w="6350">
            <a:solidFill>
              <a:srgbClr val="E5C97A"/>
            </a:solidFill>
            <a:prstDash val="solid"/>
          </a:ln>
        </p:spPr>
      </p:sp>
      <p:sp>
        <p:nvSpPr>
          <p:cNvPr id="101" name="Text 99"/>
          <p:cNvSpPr/>
          <p:nvPr/>
        </p:nvSpPr>
        <p:spPr>
          <a:xfrm>
            <a:off x="228600" y="5102352"/>
            <a:ext cx="11612880" cy="7589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STRATÉGIE MANUTENTION : AGL CI #8 sur 10 (3,40 %) — écart important avec leader Sea-Invest (33,29 %) et Côte d'Ivoire Terminal (18,40 %). Levier 2026 : capter manutention vraquiers clinker (CAM PHA → cimenteries) + consolider Global Manutention en partenariat technique. Objectif 6% PDM à 18 mois.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D2243"/>
          </a:solidFill>
          <a:ln/>
        </p:spPr>
      </p:sp>
      <p:sp>
        <p:nvSpPr>
          <p:cNvPr id="3" name="Text 1"/>
          <p:cNvSpPr/>
          <p:nvPr/>
        </p:nvSpPr>
        <p:spPr>
          <a:xfrm>
            <a:off x="228600" y="45720"/>
            <a:ext cx="11887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DSM – CONSIGNATAIRES &amp; PORTS DE CHARGEMENT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228600" y="548640"/>
            <a:ext cx="11430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AGL CI #2 consignataire (13,73 % PDM, 3 235 436 T)  |  Top 10 POL Import 2025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82880" y="6583680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Africa Global Logistics – Étude de Marché Jan–Mai 2026  |  p.27b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430000" y="653796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AGL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228600" y="1097280"/>
            <a:ext cx="5943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10 Consignataires (Import 2025)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37160" y="1371600"/>
            <a:ext cx="6217920" cy="256032"/>
          </a:xfrm>
          <a:prstGeom prst="rect">
            <a:avLst/>
          </a:prstGeom>
          <a:solidFill>
            <a:srgbClr val="0D2243"/>
          </a:solidFill>
          <a:ln/>
        </p:spPr>
      </p:sp>
      <p:sp>
        <p:nvSpPr>
          <p:cNvPr id="9" name="Text 7"/>
          <p:cNvSpPr/>
          <p:nvPr/>
        </p:nvSpPr>
        <p:spPr>
          <a:xfrm>
            <a:off x="173736" y="1408176"/>
            <a:ext cx="365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585216" y="1408176"/>
            <a:ext cx="1889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Consignataire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2520696" y="1408176"/>
            <a:ext cx="1889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Tonnage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4456176" y="1408176"/>
            <a:ext cx="1889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PDM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137160" y="1627632"/>
            <a:ext cx="6217920" cy="256032"/>
          </a:xfrm>
          <a:prstGeom prst="rect">
            <a:avLst/>
          </a:prstGeom>
          <a:solidFill>
            <a:srgbClr val="FFFFFF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73736" y="1664208"/>
            <a:ext cx="365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#1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585216" y="1664208"/>
            <a:ext cx="1889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A7C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SEA-INVEST SHIPPING AGENCY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2520696" y="1664208"/>
            <a:ext cx="1889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4 674 668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4456176" y="1664208"/>
            <a:ext cx="1889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19,84 %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137160" y="1883664"/>
            <a:ext cx="6217920" cy="256032"/>
          </a:xfrm>
          <a:prstGeom prst="rect">
            <a:avLst/>
          </a:prstGeom>
          <a:solidFill>
            <a:srgbClr val="F8F9FA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73736" y="1920240"/>
            <a:ext cx="365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#2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585216" y="1920240"/>
            <a:ext cx="1889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AGL CI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2520696" y="1920240"/>
            <a:ext cx="1889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3 235 436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4456176" y="1920240"/>
            <a:ext cx="1889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13,73 %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137160" y="2139696"/>
            <a:ext cx="6217920" cy="256032"/>
          </a:xfrm>
          <a:prstGeom prst="rect">
            <a:avLst/>
          </a:prstGeom>
          <a:solidFill>
            <a:srgbClr val="FFF9EC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73736" y="2176272"/>
            <a:ext cx="365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#3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585216" y="2176272"/>
            <a:ext cx="1889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MSC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2520696" y="2176272"/>
            <a:ext cx="1889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2 566 802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4456176" y="2176272"/>
            <a:ext cx="1889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A7C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10,90 %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137160" y="2395728"/>
            <a:ext cx="6217920" cy="256032"/>
          </a:xfrm>
          <a:prstGeom prst="rect">
            <a:avLst/>
          </a:prstGeom>
          <a:solidFill>
            <a:srgbClr val="F8F9FA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73736" y="2432304"/>
            <a:ext cx="365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#4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585216" y="2432304"/>
            <a:ext cx="1889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SEA-INVEST SHIPPING AGENCY SPY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2520696" y="2432304"/>
            <a:ext cx="1889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1 767 250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4456176" y="2432304"/>
            <a:ext cx="1889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7,50 %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137160" y="2651760"/>
            <a:ext cx="6217920" cy="256032"/>
          </a:xfrm>
          <a:prstGeom prst="rect">
            <a:avLst/>
          </a:prstGeom>
          <a:solidFill>
            <a:srgbClr val="FFFFFF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73736" y="2688336"/>
            <a:ext cx="365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#5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585216" y="2688336"/>
            <a:ext cx="1889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MANUTENCION CI GMCI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2520696" y="2688336"/>
            <a:ext cx="1889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1 488 870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4456176" y="2688336"/>
            <a:ext cx="1889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6,32 %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137160" y="2907792"/>
            <a:ext cx="6217920" cy="256032"/>
          </a:xfrm>
          <a:prstGeom prst="rect">
            <a:avLst/>
          </a:prstGeom>
          <a:solidFill>
            <a:srgbClr val="F8F9FA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73736" y="2944368"/>
            <a:ext cx="365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#6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585216" y="2944368"/>
            <a:ext cx="1889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CMA CGM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2520696" y="2944368"/>
            <a:ext cx="1889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1 482 003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4456176" y="2944368"/>
            <a:ext cx="1889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6,29 %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137160" y="3163824"/>
            <a:ext cx="6217920" cy="256032"/>
          </a:xfrm>
          <a:prstGeom prst="rect">
            <a:avLst/>
          </a:prstGeom>
          <a:solidFill>
            <a:srgbClr val="FFFFFF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173736" y="3200400"/>
            <a:ext cx="365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#7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585216" y="3200400"/>
            <a:ext cx="1889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MAERSK LINES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2520696" y="3200400"/>
            <a:ext cx="1889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1 468 912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4456176" y="3200400"/>
            <a:ext cx="1889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6,24 %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137160" y="3419856"/>
            <a:ext cx="6217920" cy="256032"/>
          </a:xfrm>
          <a:prstGeom prst="rect">
            <a:avLst/>
          </a:prstGeom>
          <a:solidFill>
            <a:srgbClr val="F8F9FA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173736" y="3456432"/>
            <a:ext cx="365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#8</a:t>
            </a:r>
            <a:endParaRPr lang="en-US" sz="850" dirty="0"/>
          </a:p>
        </p:txBody>
      </p:sp>
      <p:sp>
        <p:nvSpPr>
          <p:cNvPr id="50" name="Text 48"/>
          <p:cNvSpPr/>
          <p:nvPr/>
        </p:nvSpPr>
        <p:spPr>
          <a:xfrm>
            <a:off x="585216" y="3456432"/>
            <a:ext cx="1889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SAKINA SHIPS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2520696" y="3456432"/>
            <a:ext cx="1889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826 270</a:t>
            </a:r>
            <a:endParaRPr lang="en-US" sz="850" dirty="0"/>
          </a:p>
        </p:txBody>
      </p:sp>
      <p:sp>
        <p:nvSpPr>
          <p:cNvPr id="52" name="Text 50"/>
          <p:cNvSpPr/>
          <p:nvPr/>
        </p:nvSpPr>
        <p:spPr>
          <a:xfrm>
            <a:off x="4456176" y="3456432"/>
            <a:ext cx="1889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3,51 %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137160" y="3675888"/>
            <a:ext cx="6217920" cy="256032"/>
          </a:xfrm>
          <a:prstGeom prst="rect">
            <a:avLst/>
          </a:prstGeom>
          <a:solidFill>
            <a:srgbClr val="FFFFFF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173736" y="3712464"/>
            <a:ext cx="365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#9</a:t>
            </a:r>
            <a:endParaRPr lang="en-US" sz="850" dirty="0"/>
          </a:p>
        </p:txBody>
      </p:sp>
      <p:sp>
        <p:nvSpPr>
          <p:cNvPr id="55" name="Text 53"/>
          <p:cNvSpPr/>
          <p:nvPr/>
        </p:nvSpPr>
        <p:spPr>
          <a:xfrm>
            <a:off x="585216" y="3712464"/>
            <a:ext cx="1889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OMA CI</a:t>
            </a:r>
            <a:endParaRPr lang="en-US" sz="850" dirty="0"/>
          </a:p>
        </p:txBody>
      </p:sp>
      <p:sp>
        <p:nvSpPr>
          <p:cNvPr id="56" name="Text 54"/>
          <p:cNvSpPr/>
          <p:nvPr/>
        </p:nvSpPr>
        <p:spPr>
          <a:xfrm>
            <a:off x="2520696" y="3712464"/>
            <a:ext cx="1889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580 614</a:t>
            </a:r>
            <a:endParaRPr lang="en-US" sz="850" dirty="0"/>
          </a:p>
        </p:txBody>
      </p:sp>
      <p:sp>
        <p:nvSpPr>
          <p:cNvPr id="57" name="Text 55"/>
          <p:cNvSpPr/>
          <p:nvPr/>
        </p:nvSpPr>
        <p:spPr>
          <a:xfrm>
            <a:off x="4456176" y="3712464"/>
            <a:ext cx="1889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2,46 %</a:t>
            </a:r>
            <a:endParaRPr lang="en-US" sz="850" dirty="0"/>
          </a:p>
        </p:txBody>
      </p:sp>
      <p:sp>
        <p:nvSpPr>
          <p:cNvPr id="58" name="Shape 56"/>
          <p:cNvSpPr/>
          <p:nvPr/>
        </p:nvSpPr>
        <p:spPr>
          <a:xfrm>
            <a:off x="137160" y="3931920"/>
            <a:ext cx="6217920" cy="256032"/>
          </a:xfrm>
          <a:prstGeom prst="rect">
            <a:avLst/>
          </a:prstGeom>
          <a:solidFill>
            <a:srgbClr val="F8F9FA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173736" y="3968496"/>
            <a:ext cx="365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#10</a:t>
            </a:r>
            <a:endParaRPr lang="en-US" sz="850" dirty="0"/>
          </a:p>
        </p:txBody>
      </p:sp>
      <p:sp>
        <p:nvSpPr>
          <p:cNvPr id="60" name="Text 58"/>
          <p:cNvSpPr/>
          <p:nvPr/>
        </p:nvSpPr>
        <p:spPr>
          <a:xfrm>
            <a:off x="585216" y="3968496"/>
            <a:ext cx="1889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GMT SHIPPING</a:t>
            </a:r>
            <a:endParaRPr lang="en-US" sz="850" dirty="0"/>
          </a:p>
        </p:txBody>
      </p:sp>
      <p:sp>
        <p:nvSpPr>
          <p:cNvPr id="61" name="Text 59"/>
          <p:cNvSpPr/>
          <p:nvPr/>
        </p:nvSpPr>
        <p:spPr>
          <a:xfrm>
            <a:off x="2520696" y="3968496"/>
            <a:ext cx="1889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559 906</a:t>
            </a:r>
            <a:endParaRPr lang="en-US" sz="850" dirty="0"/>
          </a:p>
        </p:txBody>
      </p:sp>
      <p:sp>
        <p:nvSpPr>
          <p:cNvPr id="62" name="Text 60"/>
          <p:cNvSpPr/>
          <p:nvPr/>
        </p:nvSpPr>
        <p:spPr>
          <a:xfrm>
            <a:off x="4456176" y="3968496"/>
            <a:ext cx="1889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2,38 %</a:t>
            </a:r>
            <a:endParaRPr lang="en-US" sz="850" dirty="0"/>
          </a:p>
        </p:txBody>
      </p:sp>
      <p:sp>
        <p:nvSpPr>
          <p:cNvPr id="63" name="Text 61"/>
          <p:cNvSpPr/>
          <p:nvPr/>
        </p:nvSpPr>
        <p:spPr>
          <a:xfrm>
            <a:off x="6492240" y="1097280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10 POL — Origines des imports 2025</a:t>
            </a:r>
            <a:endParaRPr lang="en-US" sz="1100" dirty="0"/>
          </a:p>
        </p:txBody>
      </p:sp>
      <p:sp>
        <p:nvSpPr>
          <p:cNvPr id="64" name="Shape 62"/>
          <p:cNvSpPr/>
          <p:nvPr/>
        </p:nvSpPr>
        <p:spPr>
          <a:xfrm>
            <a:off x="6492240" y="1371600"/>
            <a:ext cx="5486400" cy="256032"/>
          </a:xfrm>
          <a:prstGeom prst="rect">
            <a:avLst/>
          </a:prstGeom>
          <a:solidFill>
            <a:srgbClr val="0D2243"/>
          </a:solidFill>
          <a:ln/>
        </p:spPr>
      </p:sp>
      <p:sp>
        <p:nvSpPr>
          <p:cNvPr id="65" name="Text 63"/>
          <p:cNvSpPr/>
          <p:nvPr/>
        </p:nvSpPr>
        <p:spPr>
          <a:xfrm>
            <a:off x="6528816" y="1408176"/>
            <a:ext cx="365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</a:t>
            </a:r>
            <a:endParaRPr lang="en-US" sz="850" dirty="0"/>
          </a:p>
        </p:txBody>
      </p:sp>
      <p:sp>
        <p:nvSpPr>
          <p:cNvPr id="66" name="Text 64"/>
          <p:cNvSpPr/>
          <p:nvPr/>
        </p:nvSpPr>
        <p:spPr>
          <a:xfrm>
            <a:off x="6940296" y="1408176"/>
            <a:ext cx="164592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 de chargement</a:t>
            </a:r>
            <a:endParaRPr lang="en-US" sz="850" dirty="0"/>
          </a:p>
        </p:txBody>
      </p:sp>
      <p:sp>
        <p:nvSpPr>
          <p:cNvPr id="67" name="Text 65"/>
          <p:cNvSpPr/>
          <p:nvPr/>
        </p:nvSpPr>
        <p:spPr>
          <a:xfrm>
            <a:off x="8631936" y="1408176"/>
            <a:ext cx="164592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Tonnage</a:t>
            </a:r>
            <a:endParaRPr lang="en-US" sz="850" dirty="0"/>
          </a:p>
        </p:txBody>
      </p:sp>
      <p:sp>
        <p:nvSpPr>
          <p:cNvPr id="68" name="Text 66"/>
          <p:cNvSpPr/>
          <p:nvPr/>
        </p:nvSpPr>
        <p:spPr>
          <a:xfrm>
            <a:off x="10323576" y="1408176"/>
            <a:ext cx="164592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PDM</a:t>
            </a:r>
            <a:endParaRPr lang="en-US" sz="850" dirty="0"/>
          </a:p>
        </p:txBody>
      </p:sp>
      <p:sp>
        <p:nvSpPr>
          <p:cNvPr id="69" name="Shape 67"/>
          <p:cNvSpPr/>
          <p:nvPr/>
        </p:nvSpPr>
        <p:spPr>
          <a:xfrm>
            <a:off x="6492240" y="1627632"/>
            <a:ext cx="5486400" cy="256032"/>
          </a:xfrm>
          <a:prstGeom prst="rect">
            <a:avLst/>
          </a:prstGeom>
          <a:solidFill>
            <a:srgbClr val="FFF9EC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6528816" y="1664208"/>
            <a:ext cx="365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#1</a:t>
            </a:r>
            <a:endParaRPr lang="en-US" sz="850" dirty="0"/>
          </a:p>
        </p:txBody>
      </p:sp>
      <p:sp>
        <p:nvSpPr>
          <p:cNvPr id="71" name="Text 69"/>
          <p:cNvSpPr/>
          <p:nvPr/>
        </p:nvSpPr>
        <p:spPr>
          <a:xfrm>
            <a:off x="6940296" y="1664208"/>
            <a:ext cx="164592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A7C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 PHA</a:t>
            </a:r>
            <a:endParaRPr lang="en-US" sz="850" dirty="0"/>
          </a:p>
        </p:txBody>
      </p:sp>
      <p:sp>
        <p:nvSpPr>
          <p:cNvPr id="72" name="Text 70"/>
          <p:cNvSpPr/>
          <p:nvPr/>
        </p:nvSpPr>
        <p:spPr>
          <a:xfrm>
            <a:off x="8631936" y="1664208"/>
            <a:ext cx="164592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2 118 362</a:t>
            </a:r>
            <a:endParaRPr lang="en-US" sz="850" dirty="0"/>
          </a:p>
        </p:txBody>
      </p:sp>
      <p:sp>
        <p:nvSpPr>
          <p:cNvPr id="73" name="Text 71"/>
          <p:cNvSpPr/>
          <p:nvPr/>
        </p:nvSpPr>
        <p:spPr>
          <a:xfrm>
            <a:off x="10323576" y="1664208"/>
            <a:ext cx="164592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A7C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8,99 %</a:t>
            </a:r>
            <a:endParaRPr lang="en-US" sz="850" dirty="0"/>
          </a:p>
        </p:txBody>
      </p:sp>
      <p:sp>
        <p:nvSpPr>
          <p:cNvPr id="74" name="Shape 72"/>
          <p:cNvSpPr/>
          <p:nvPr/>
        </p:nvSpPr>
        <p:spPr>
          <a:xfrm>
            <a:off x="6492240" y="1883664"/>
            <a:ext cx="5486400" cy="256032"/>
          </a:xfrm>
          <a:prstGeom prst="rect">
            <a:avLst/>
          </a:prstGeom>
          <a:solidFill>
            <a:srgbClr val="F8F9FA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6528816" y="1920240"/>
            <a:ext cx="365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#2</a:t>
            </a:r>
            <a:endParaRPr lang="en-US" sz="850" dirty="0"/>
          </a:p>
        </p:txBody>
      </p:sp>
      <p:sp>
        <p:nvSpPr>
          <p:cNvPr id="76" name="Text 74"/>
          <p:cNvSpPr/>
          <p:nvPr/>
        </p:nvSpPr>
        <p:spPr>
          <a:xfrm>
            <a:off x="6940296" y="1920240"/>
            <a:ext cx="164592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 SAID</a:t>
            </a:r>
            <a:endParaRPr lang="en-US" sz="850" dirty="0"/>
          </a:p>
        </p:txBody>
      </p:sp>
      <p:sp>
        <p:nvSpPr>
          <p:cNvPr id="77" name="Text 75"/>
          <p:cNvSpPr/>
          <p:nvPr/>
        </p:nvSpPr>
        <p:spPr>
          <a:xfrm>
            <a:off x="8631936" y="1920240"/>
            <a:ext cx="164592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1 697 749</a:t>
            </a:r>
            <a:endParaRPr lang="en-US" sz="850" dirty="0"/>
          </a:p>
        </p:txBody>
      </p:sp>
      <p:sp>
        <p:nvSpPr>
          <p:cNvPr id="78" name="Text 76"/>
          <p:cNvSpPr/>
          <p:nvPr/>
        </p:nvSpPr>
        <p:spPr>
          <a:xfrm>
            <a:off x="10323576" y="1920240"/>
            <a:ext cx="164592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7,21 %</a:t>
            </a:r>
            <a:endParaRPr lang="en-US" sz="850" dirty="0"/>
          </a:p>
        </p:txBody>
      </p:sp>
      <p:sp>
        <p:nvSpPr>
          <p:cNvPr id="79" name="Shape 77"/>
          <p:cNvSpPr/>
          <p:nvPr/>
        </p:nvSpPr>
        <p:spPr>
          <a:xfrm>
            <a:off x="6492240" y="2139696"/>
            <a:ext cx="5486400" cy="256032"/>
          </a:xfrm>
          <a:prstGeom prst="rect">
            <a:avLst/>
          </a:prstGeom>
          <a:solidFill>
            <a:srgbClr val="FFFFFF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6528816" y="2176272"/>
            <a:ext cx="365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#3</a:t>
            </a:r>
            <a:endParaRPr lang="en-US" sz="850" dirty="0"/>
          </a:p>
        </p:txBody>
      </p:sp>
      <p:sp>
        <p:nvSpPr>
          <p:cNvPr id="81" name="Text 79"/>
          <p:cNvSpPr/>
          <p:nvPr/>
        </p:nvSpPr>
        <p:spPr>
          <a:xfrm>
            <a:off x="6940296" y="2176272"/>
            <a:ext cx="164592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MINA SAQR U.A.E</a:t>
            </a:r>
            <a:endParaRPr lang="en-US" sz="850" dirty="0"/>
          </a:p>
        </p:txBody>
      </p:sp>
      <p:sp>
        <p:nvSpPr>
          <p:cNvPr id="82" name="Text 80"/>
          <p:cNvSpPr/>
          <p:nvPr/>
        </p:nvSpPr>
        <p:spPr>
          <a:xfrm>
            <a:off x="8631936" y="2176272"/>
            <a:ext cx="164592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834 579</a:t>
            </a:r>
            <a:endParaRPr lang="en-US" sz="850" dirty="0"/>
          </a:p>
        </p:txBody>
      </p:sp>
      <p:sp>
        <p:nvSpPr>
          <p:cNvPr id="83" name="Text 81"/>
          <p:cNvSpPr/>
          <p:nvPr/>
        </p:nvSpPr>
        <p:spPr>
          <a:xfrm>
            <a:off x="10323576" y="2176272"/>
            <a:ext cx="164592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3,54 %</a:t>
            </a:r>
            <a:endParaRPr lang="en-US" sz="850" dirty="0"/>
          </a:p>
        </p:txBody>
      </p:sp>
      <p:sp>
        <p:nvSpPr>
          <p:cNvPr id="84" name="Shape 82"/>
          <p:cNvSpPr/>
          <p:nvPr/>
        </p:nvSpPr>
        <p:spPr>
          <a:xfrm>
            <a:off x="6492240" y="2395728"/>
            <a:ext cx="5486400" cy="256032"/>
          </a:xfrm>
          <a:prstGeom prst="rect">
            <a:avLst/>
          </a:prstGeom>
          <a:solidFill>
            <a:srgbClr val="F8F9FA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6528816" y="2432304"/>
            <a:ext cx="365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#4</a:t>
            </a:r>
            <a:endParaRPr lang="en-US" sz="850" dirty="0"/>
          </a:p>
        </p:txBody>
      </p:sp>
      <p:sp>
        <p:nvSpPr>
          <p:cNvPr id="86" name="Text 84"/>
          <p:cNvSpPr/>
          <p:nvPr/>
        </p:nvSpPr>
        <p:spPr>
          <a:xfrm>
            <a:off x="6940296" y="2432304"/>
            <a:ext cx="164592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 CHI MINH CITY</a:t>
            </a:r>
            <a:endParaRPr lang="en-US" sz="850" dirty="0"/>
          </a:p>
        </p:txBody>
      </p:sp>
      <p:sp>
        <p:nvSpPr>
          <p:cNvPr id="87" name="Text 85"/>
          <p:cNvSpPr/>
          <p:nvPr/>
        </p:nvSpPr>
        <p:spPr>
          <a:xfrm>
            <a:off x="8631936" y="2432304"/>
            <a:ext cx="164592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759 538</a:t>
            </a:r>
            <a:endParaRPr lang="en-US" sz="850" dirty="0"/>
          </a:p>
        </p:txBody>
      </p:sp>
      <p:sp>
        <p:nvSpPr>
          <p:cNvPr id="88" name="Text 86"/>
          <p:cNvSpPr/>
          <p:nvPr/>
        </p:nvSpPr>
        <p:spPr>
          <a:xfrm>
            <a:off x="10323576" y="2432304"/>
            <a:ext cx="164592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3,22 %</a:t>
            </a:r>
            <a:endParaRPr lang="en-US" sz="850" dirty="0"/>
          </a:p>
        </p:txBody>
      </p:sp>
      <p:sp>
        <p:nvSpPr>
          <p:cNvPr id="89" name="Shape 87"/>
          <p:cNvSpPr/>
          <p:nvPr/>
        </p:nvSpPr>
        <p:spPr>
          <a:xfrm>
            <a:off x="6492240" y="2651760"/>
            <a:ext cx="5486400" cy="256032"/>
          </a:xfrm>
          <a:prstGeom prst="rect">
            <a:avLst/>
          </a:prstGeom>
          <a:solidFill>
            <a:srgbClr val="FFFFFF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6528816" y="2688336"/>
            <a:ext cx="365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#5</a:t>
            </a:r>
            <a:endParaRPr lang="en-US" sz="850" dirty="0"/>
          </a:p>
        </p:txBody>
      </p:sp>
      <p:sp>
        <p:nvSpPr>
          <p:cNvPr id="91" name="Text 89"/>
          <p:cNvSpPr/>
          <p:nvPr/>
        </p:nvSpPr>
        <p:spPr>
          <a:xfrm>
            <a:off x="6940296" y="2688336"/>
            <a:ext cx="164592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TIANJIN</a:t>
            </a:r>
            <a:endParaRPr lang="en-US" sz="850" dirty="0"/>
          </a:p>
        </p:txBody>
      </p:sp>
      <p:sp>
        <p:nvSpPr>
          <p:cNvPr id="92" name="Text 90"/>
          <p:cNvSpPr/>
          <p:nvPr/>
        </p:nvSpPr>
        <p:spPr>
          <a:xfrm>
            <a:off x="8631936" y="2688336"/>
            <a:ext cx="164592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701 646</a:t>
            </a:r>
            <a:endParaRPr lang="en-US" sz="850" dirty="0"/>
          </a:p>
        </p:txBody>
      </p:sp>
      <p:sp>
        <p:nvSpPr>
          <p:cNvPr id="93" name="Text 91"/>
          <p:cNvSpPr/>
          <p:nvPr/>
        </p:nvSpPr>
        <p:spPr>
          <a:xfrm>
            <a:off x="10323576" y="2688336"/>
            <a:ext cx="164592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2,98 %</a:t>
            </a:r>
            <a:endParaRPr lang="en-US" sz="850" dirty="0"/>
          </a:p>
        </p:txBody>
      </p:sp>
      <p:sp>
        <p:nvSpPr>
          <p:cNvPr id="94" name="Shape 92"/>
          <p:cNvSpPr/>
          <p:nvPr/>
        </p:nvSpPr>
        <p:spPr>
          <a:xfrm>
            <a:off x="6492240" y="2907792"/>
            <a:ext cx="5486400" cy="256032"/>
          </a:xfrm>
          <a:prstGeom prst="rect">
            <a:avLst/>
          </a:prstGeom>
          <a:solidFill>
            <a:srgbClr val="F8F9FA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6528816" y="2944368"/>
            <a:ext cx="365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#6</a:t>
            </a:r>
            <a:endParaRPr lang="en-US" sz="850" dirty="0"/>
          </a:p>
        </p:txBody>
      </p:sp>
      <p:sp>
        <p:nvSpPr>
          <p:cNvPr id="96" name="Text 94"/>
          <p:cNvSpPr/>
          <p:nvPr/>
        </p:nvSpPr>
        <p:spPr>
          <a:xfrm>
            <a:off x="6940296" y="2944368"/>
            <a:ext cx="164592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ANTWERPEN</a:t>
            </a:r>
            <a:endParaRPr lang="en-US" sz="850" dirty="0"/>
          </a:p>
        </p:txBody>
      </p:sp>
      <p:sp>
        <p:nvSpPr>
          <p:cNvPr id="97" name="Text 95"/>
          <p:cNvSpPr/>
          <p:nvPr/>
        </p:nvSpPr>
        <p:spPr>
          <a:xfrm>
            <a:off x="8631936" y="2944368"/>
            <a:ext cx="164592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691 164</a:t>
            </a:r>
            <a:endParaRPr lang="en-US" sz="850" dirty="0"/>
          </a:p>
        </p:txBody>
      </p:sp>
      <p:sp>
        <p:nvSpPr>
          <p:cNvPr id="98" name="Text 96"/>
          <p:cNvSpPr/>
          <p:nvPr/>
        </p:nvSpPr>
        <p:spPr>
          <a:xfrm>
            <a:off x="10323576" y="2944368"/>
            <a:ext cx="164592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2,93 %</a:t>
            </a:r>
            <a:endParaRPr lang="en-US" sz="850" dirty="0"/>
          </a:p>
        </p:txBody>
      </p:sp>
      <p:sp>
        <p:nvSpPr>
          <p:cNvPr id="99" name="Shape 97"/>
          <p:cNvSpPr/>
          <p:nvPr/>
        </p:nvSpPr>
        <p:spPr>
          <a:xfrm>
            <a:off x="6492240" y="3163824"/>
            <a:ext cx="5486400" cy="256032"/>
          </a:xfrm>
          <a:prstGeom prst="rect">
            <a:avLst/>
          </a:prstGeom>
          <a:solidFill>
            <a:srgbClr val="FFFFFF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100" name="Text 98"/>
          <p:cNvSpPr/>
          <p:nvPr/>
        </p:nvSpPr>
        <p:spPr>
          <a:xfrm>
            <a:off x="6528816" y="3200400"/>
            <a:ext cx="365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#7</a:t>
            </a:r>
            <a:endParaRPr lang="en-US" sz="850" dirty="0"/>
          </a:p>
        </p:txBody>
      </p:sp>
      <p:sp>
        <p:nvSpPr>
          <p:cNvPr id="101" name="Text 99"/>
          <p:cNvSpPr/>
          <p:nvPr/>
        </p:nvSpPr>
        <p:spPr>
          <a:xfrm>
            <a:off x="6940296" y="3200400"/>
            <a:ext cx="164592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KARACHI</a:t>
            </a:r>
            <a:endParaRPr lang="en-US" sz="850" dirty="0"/>
          </a:p>
        </p:txBody>
      </p:sp>
      <p:sp>
        <p:nvSpPr>
          <p:cNvPr id="102" name="Text 100"/>
          <p:cNvSpPr/>
          <p:nvPr/>
        </p:nvSpPr>
        <p:spPr>
          <a:xfrm>
            <a:off x="8631936" y="3200400"/>
            <a:ext cx="164592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608 376</a:t>
            </a:r>
            <a:endParaRPr lang="en-US" sz="850" dirty="0"/>
          </a:p>
        </p:txBody>
      </p:sp>
      <p:sp>
        <p:nvSpPr>
          <p:cNvPr id="103" name="Text 101"/>
          <p:cNvSpPr/>
          <p:nvPr/>
        </p:nvSpPr>
        <p:spPr>
          <a:xfrm>
            <a:off x="10323576" y="3200400"/>
            <a:ext cx="164592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2,58 %</a:t>
            </a:r>
            <a:endParaRPr lang="en-US" sz="850" dirty="0"/>
          </a:p>
        </p:txBody>
      </p:sp>
      <p:sp>
        <p:nvSpPr>
          <p:cNvPr id="104" name="Shape 102"/>
          <p:cNvSpPr/>
          <p:nvPr/>
        </p:nvSpPr>
        <p:spPr>
          <a:xfrm>
            <a:off x="6492240" y="3419856"/>
            <a:ext cx="5486400" cy="256032"/>
          </a:xfrm>
          <a:prstGeom prst="rect">
            <a:avLst/>
          </a:prstGeom>
          <a:solidFill>
            <a:srgbClr val="F8F9FA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105" name="Text 103"/>
          <p:cNvSpPr/>
          <p:nvPr/>
        </p:nvSpPr>
        <p:spPr>
          <a:xfrm>
            <a:off x="6528816" y="3456432"/>
            <a:ext cx="365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#8</a:t>
            </a:r>
            <a:endParaRPr lang="en-US" sz="850" dirty="0"/>
          </a:p>
        </p:txBody>
      </p:sp>
      <p:sp>
        <p:nvSpPr>
          <p:cNvPr id="106" name="Text 104"/>
          <p:cNvSpPr/>
          <p:nvPr/>
        </p:nvSpPr>
        <p:spPr>
          <a:xfrm>
            <a:off x="6940296" y="3456432"/>
            <a:ext cx="164592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KAKINADA INDIA</a:t>
            </a:r>
            <a:endParaRPr lang="en-US" sz="850" dirty="0"/>
          </a:p>
        </p:txBody>
      </p:sp>
      <p:sp>
        <p:nvSpPr>
          <p:cNvPr id="107" name="Text 105"/>
          <p:cNvSpPr/>
          <p:nvPr/>
        </p:nvSpPr>
        <p:spPr>
          <a:xfrm>
            <a:off x="8631936" y="3456432"/>
            <a:ext cx="164592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527 339</a:t>
            </a:r>
            <a:endParaRPr lang="en-US" sz="850" dirty="0"/>
          </a:p>
        </p:txBody>
      </p:sp>
      <p:sp>
        <p:nvSpPr>
          <p:cNvPr id="108" name="Text 106"/>
          <p:cNvSpPr/>
          <p:nvPr/>
        </p:nvSpPr>
        <p:spPr>
          <a:xfrm>
            <a:off x="10323576" y="3456432"/>
            <a:ext cx="164592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2,24 %</a:t>
            </a:r>
            <a:endParaRPr lang="en-US" sz="850" dirty="0"/>
          </a:p>
        </p:txBody>
      </p:sp>
      <p:sp>
        <p:nvSpPr>
          <p:cNvPr id="109" name="Shape 107"/>
          <p:cNvSpPr/>
          <p:nvPr/>
        </p:nvSpPr>
        <p:spPr>
          <a:xfrm>
            <a:off x="6492240" y="3675888"/>
            <a:ext cx="5486400" cy="256032"/>
          </a:xfrm>
          <a:prstGeom prst="rect">
            <a:avLst/>
          </a:prstGeom>
          <a:solidFill>
            <a:srgbClr val="FFFFFF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110" name="Text 108"/>
          <p:cNvSpPr/>
          <p:nvPr/>
        </p:nvSpPr>
        <p:spPr>
          <a:xfrm>
            <a:off x="6528816" y="3712464"/>
            <a:ext cx="365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#9</a:t>
            </a:r>
            <a:endParaRPr lang="en-US" sz="850" dirty="0"/>
          </a:p>
        </p:txBody>
      </p:sp>
      <p:sp>
        <p:nvSpPr>
          <p:cNvPr id="111" name="Text 109"/>
          <p:cNvSpPr/>
          <p:nvPr/>
        </p:nvSpPr>
        <p:spPr>
          <a:xfrm>
            <a:off x="6940296" y="3712464"/>
            <a:ext cx="164592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YANBU INDUSTRIAL CITY</a:t>
            </a:r>
            <a:endParaRPr lang="en-US" sz="850" dirty="0"/>
          </a:p>
        </p:txBody>
      </p:sp>
      <p:sp>
        <p:nvSpPr>
          <p:cNvPr id="112" name="Text 110"/>
          <p:cNvSpPr/>
          <p:nvPr/>
        </p:nvSpPr>
        <p:spPr>
          <a:xfrm>
            <a:off x="8631936" y="3712464"/>
            <a:ext cx="164592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454 632</a:t>
            </a:r>
            <a:endParaRPr lang="en-US" sz="850" dirty="0"/>
          </a:p>
        </p:txBody>
      </p:sp>
      <p:sp>
        <p:nvSpPr>
          <p:cNvPr id="113" name="Text 111"/>
          <p:cNvSpPr/>
          <p:nvPr/>
        </p:nvSpPr>
        <p:spPr>
          <a:xfrm>
            <a:off x="10323576" y="3712464"/>
            <a:ext cx="164592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1,93 %</a:t>
            </a:r>
            <a:endParaRPr lang="en-US" sz="850" dirty="0"/>
          </a:p>
        </p:txBody>
      </p:sp>
      <p:sp>
        <p:nvSpPr>
          <p:cNvPr id="114" name="Shape 112"/>
          <p:cNvSpPr/>
          <p:nvPr/>
        </p:nvSpPr>
        <p:spPr>
          <a:xfrm>
            <a:off x="6492240" y="3931920"/>
            <a:ext cx="5486400" cy="256032"/>
          </a:xfrm>
          <a:prstGeom prst="rect">
            <a:avLst/>
          </a:prstGeom>
          <a:solidFill>
            <a:srgbClr val="F8F9FA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115" name="Text 113"/>
          <p:cNvSpPr/>
          <p:nvPr/>
        </p:nvSpPr>
        <p:spPr>
          <a:xfrm>
            <a:off x="6528816" y="3968496"/>
            <a:ext cx="365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#10</a:t>
            </a:r>
            <a:endParaRPr lang="en-US" sz="850" dirty="0"/>
          </a:p>
        </p:txBody>
      </p:sp>
      <p:sp>
        <p:nvSpPr>
          <p:cNvPr id="116" name="Text 114"/>
          <p:cNvSpPr/>
          <p:nvPr/>
        </p:nvSpPr>
        <p:spPr>
          <a:xfrm>
            <a:off x="6940296" y="3968496"/>
            <a:ext cx="164592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NANSHA</a:t>
            </a:r>
            <a:endParaRPr lang="en-US" sz="850" dirty="0"/>
          </a:p>
        </p:txBody>
      </p:sp>
      <p:sp>
        <p:nvSpPr>
          <p:cNvPr id="117" name="Text 115"/>
          <p:cNvSpPr/>
          <p:nvPr/>
        </p:nvSpPr>
        <p:spPr>
          <a:xfrm>
            <a:off x="8631936" y="3968496"/>
            <a:ext cx="164592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419 374</a:t>
            </a:r>
            <a:endParaRPr lang="en-US" sz="850" dirty="0"/>
          </a:p>
        </p:txBody>
      </p:sp>
      <p:sp>
        <p:nvSpPr>
          <p:cNvPr id="118" name="Text 116"/>
          <p:cNvSpPr/>
          <p:nvPr/>
        </p:nvSpPr>
        <p:spPr>
          <a:xfrm>
            <a:off x="10323576" y="3968496"/>
            <a:ext cx="164592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1,78 %</a:t>
            </a:r>
            <a:endParaRPr lang="en-US" sz="850" dirty="0"/>
          </a:p>
        </p:txBody>
      </p:sp>
      <p:sp>
        <p:nvSpPr>
          <p:cNvPr id="119" name="Shape 117"/>
          <p:cNvSpPr/>
          <p:nvPr/>
        </p:nvSpPr>
        <p:spPr>
          <a:xfrm>
            <a:off x="137160" y="5029200"/>
            <a:ext cx="11795760" cy="868680"/>
          </a:xfrm>
          <a:prstGeom prst="rect">
            <a:avLst/>
          </a:prstGeom>
          <a:solidFill>
            <a:srgbClr val="FFFBEC"/>
          </a:solidFill>
          <a:ln w="6350">
            <a:solidFill>
              <a:srgbClr val="E5C97A"/>
            </a:solidFill>
            <a:prstDash val="solid"/>
          </a:ln>
        </p:spPr>
      </p:sp>
      <p:sp>
        <p:nvSpPr>
          <p:cNvPr id="120" name="Text 118"/>
          <p:cNvSpPr/>
          <p:nvPr/>
        </p:nvSpPr>
        <p:spPr>
          <a:xfrm>
            <a:off x="228600" y="5102352"/>
            <a:ext cx="11612880" cy="7589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POSITION CONSIGNATAIRE FORTE : AGL CI #2 (13,73 %) — seulement Sea-Invest devant. ROUTES CLÉS : CAM PHA (clinker Vietnam, 8,99 %) + PORT SAID (transbord. Égypte, 7,21 %) + MINA SAQR (clinker UAE). Cible : consolider consignation armateurs spot vraquiers + capter co-consignation MSC/CMA sur lignes Asie-WAF.</a:t>
            </a:r>
            <a:endParaRPr lang="en-US" sz="9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2243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0" y="457200"/>
            <a:ext cx="54864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20000" dirty="0"/>
          </a:p>
        </p:txBody>
      </p:sp>
      <p:sp>
        <p:nvSpPr>
          <p:cNvPr id="4" name="Shape 2"/>
          <p:cNvSpPr/>
          <p:nvPr/>
        </p:nvSpPr>
        <p:spPr>
          <a:xfrm>
            <a:off x="1097280" y="3520440"/>
            <a:ext cx="7498080" cy="59436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2651760"/>
            <a:ext cx="11430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DIVERS FOCUS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365760" y="3657600"/>
            <a:ext cx="11430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 Minier  |  Focus concurrent AYMAN  |  Jan–Mai 2026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828800" y="649224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Africa Global Logistics – Étude de Marché Jan–Mai 2026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430000" y="6473952"/>
            <a:ext cx="640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AGL</a:t>
            </a:r>
            <a:endParaRPr lang="en-US" sz="10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D2243"/>
          </a:solidFill>
          <a:ln/>
        </p:spPr>
      </p:sp>
      <p:sp>
        <p:nvSpPr>
          <p:cNvPr id="3" name="Text 1"/>
          <p:cNvSpPr/>
          <p:nvPr/>
        </p:nvSpPr>
        <p:spPr>
          <a:xfrm>
            <a:off x="228600" y="45720"/>
            <a:ext cx="11887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 MINIER – VUE D'ENSEMBLE  |  Clients miniers traités par AGL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228600" y="548640"/>
            <a:ext cx="11430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Clients miniers à suivre  |  15 comptes CI  |  Or · Manganèse · Nickel · Lithium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82880" y="6583680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Africa Global Logistics – Étude de Marché Jan–Mai 2026  |  p.30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430000" y="653796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AGL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228600" y="1097280"/>
            <a:ext cx="1179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Master-list Mining CI – à croiser avec STATCOM (fallback)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37160" y="1417320"/>
            <a:ext cx="5806440" cy="256032"/>
          </a:xfrm>
          <a:prstGeom prst="rect">
            <a:avLst/>
          </a:prstGeom>
          <a:solidFill>
            <a:srgbClr val="0D2243"/>
          </a:solidFill>
          <a:ln/>
        </p:spPr>
      </p:sp>
      <p:sp>
        <p:nvSpPr>
          <p:cNvPr id="9" name="Text 7"/>
          <p:cNvSpPr/>
          <p:nvPr/>
        </p:nvSpPr>
        <p:spPr>
          <a:xfrm>
            <a:off x="173736" y="1453896"/>
            <a:ext cx="365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585216" y="1453896"/>
            <a:ext cx="175260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CI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2383536" y="1453896"/>
            <a:ext cx="175260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Métiers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4181856" y="1453896"/>
            <a:ext cx="175260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Flux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137160" y="1673352"/>
            <a:ext cx="5806440" cy="256032"/>
          </a:xfrm>
          <a:prstGeom prst="rect">
            <a:avLst/>
          </a:prstGeom>
          <a:solidFill>
            <a:srgbClr val="FFF9EC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73736" y="1709928"/>
            <a:ext cx="365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#1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585216" y="1709928"/>
            <a:ext cx="175260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A7C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AGBAOU GOLD OPERATIONS - AGO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2383536" y="1709928"/>
            <a:ext cx="175260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TIM/AER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4181856" y="1709928"/>
            <a:ext cx="175260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A7C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 matériels miniers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137160" y="1929384"/>
            <a:ext cx="5806440" cy="256032"/>
          </a:xfrm>
          <a:prstGeom prst="rect">
            <a:avLst/>
          </a:prstGeom>
          <a:solidFill>
            <a:srgbClr val="F8F9FA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73736" y="1965960"/>
            <a:ext cx="365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#2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585216" y="1965960"/>
            <a:ext cx="175260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BONIKRO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2383536" y="1965960"/>
            <a:ext cx="175260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4181856" y="1965960"/>
            <a:ext cx="175260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 matériels miniers + consommables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137160" y="2185416"/>
            <a:ext cx="5806440" cy="256032"/>
          </a:xfrm>
          <a:prstGeom prst="rect">
            <a:avLst/>
          </a:prstGeom>
          <a:solidFill>
            <a:srgbClr val="FFFFFF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73736" y="2221992"/>
            <a:ext cx="365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#3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585216" y="2221992"/>
            <a:ext cx="175260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SOCIETE MINIERE DE LAFIGUE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2383536" y="2221992"/>
            <a:ext cx="175260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4181856" y="2221992"/>
            <a:ext cx="175260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 exploitation aurifère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137160" y="2441448"/>
            <a:ext cx="5806440" cy="256032"/>
          </a:xfrm>
          <a:prstGeom prst="rect">
            <a:avLst/>
          </a:prstGeom>
          <a:solidFill>
            <a:srgbClr val="F8F9FA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73736" y="2478024"/>
            <a:ext cx="365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#4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585216" y="2478024"/>
            <a:ext cx="175260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MINES D'ITY STE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2383536" y="2478024"/>
            <a:ext cx="175260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TIM/AER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4181856" y="2478024"/>
            <a:ext cx="175260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 matériels + pièces détachées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137160" y="2697480"/>
            <a:ext cx="5806440" cy="256032"/>
          </a:xfrm>
          <a:prstGeom prst="rect">
            <a:avLst/>
          </a:prstGeom>
          <a:solidFill>
            <a:srgbClr val="FFFFFF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73736" y="2734056"/>
            <a:ext cx="365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#5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585216" y="2734056"/>
            <a:ext cx="175260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K1 MINING (MONTAGE GOLD)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2383536" y="2734056"/>
            <a:ext cx="175260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TIM/AER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4181856" y="2734056"/>
            <a:ext cx="175260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 projet Montage Gold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137160" y="2953512"/>
            <a:ext cx="5806440" cy="256032"/>
          </a:xfrm>
          <a:prstGeom prst="rect">
            <a:avLst/>
          </a:prstGeom>
          <a:solidFill>
            <a:srgbClr val="F8F9FA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73736" y="2990088"/>
            <a:ext cx="365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#6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585216" y="2990088"/>
            <a:ext cx="175260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BUREAU VERITAS CI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2383536" y="2990088"/>
            <a:ext cx="175260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AER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4181856" y="2990088"/>
            <a:ext cx="175260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Échantillons / laboratoires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137160" y="3209544"/>
            <a:ext cx="5806440" cy="256032"/>
          </a:xfrm>
          <a:prstGeom prst="rect">
            <a:avLst/>
          </a:prstGeom>
          <a:solidFill>
            <a:srgbClr val="FFFFFF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173736" y="3246120"/>
            <a:ext cx="365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#7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585216" y="3246120"/>
            <a:ext cx="175260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CORICA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2383536" y="3246120"/>
            <a:ext cx="175260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4181856" y="3246120"/>
            <a:ext cx="175260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Manganèse / projets exploration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137160" y="3465576"/>
            <a:ext cx="5806440" cy="256032"/>
          </a:xfrm>
          <a:prstGeom prst="rect">
            <a:avLst/>
          </a:prstGeom>
          <a:solidFill>
            <a:srgbClr val="F8F9FA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173736" y="3502152"/>
            <a:ext cx="365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#8</a:t>
            </a:r>
            <a:endParaRPr lang="en-US" sz="850" dirty="0"/>
          </a:p>
        </p:txBody>
      </p:sp>
      <p:sp>
        <p:nvSpPr>
          <p:cNvPr id="50" name="Text 48"/>
          <p:cNvSpPr/>
          <p:nvPr/>
        </p:nvSpPr>
        <p:spPr>
          <a:xfrm>
            <a:off x="585216" y="3502152"/>
            <a:ext cx="175260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ROXGOLD SANGO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2383536" y="3502152"/>
            <a:ext cx="175260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</a:t>
            </a:r>
            <a:endParaRPr lang="en-US" sz="850" dirty="0"/>
          </a:p>
        </p:txBody>
      </p:sp>
      <p:sp>
        <p:nvSpPr>
          <p:cNvPr id="52" name="Text 50"/>
          <p:cNvSpPr/>
          <p:nvPr/>
        </p:nvSpPr>
        <p:spPr>
          <a:xfrm>
            <a:off x="4181856" y="3502152"/>
            <a:ext cx="175260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— exploration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6080760" y="1417320"/>
            <a:ext cx="5806440" cy="256032"/>
          </a:xfrm>
          <a:prstGeom prst="rect">
            <a:avLst/>
          </a:prstGeom>
          <a:solidFill>
            <a:srgbClr val="0D2243"/>
          </a:solidFill>
          <a:ln/>
        </p:spPr>
      </p:sp>
      <p:sp>
        <p:nvSpPr>
          <p:cNvPr id="54" name="Text 52"/>
          <p:cNvSpPr/>
          <p:nvPr/>
        </p:nvSpPr>
        <p:spPr>
          <a:xfrm>
            <a:off x="6117336" y="1453896"/>
            <a:ext cx="365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</a:t>
            </a:r>
            <a:endParaRPr lang="en-US" sz="850" dirty="0"/>
          </a:p>
        </p:txBody>
      </p:sp>
      <p:sp>
        <p:nvSpPr>
          <p:cNvPr id="55" name="Text 53"/>
          <p:cNvSpPr/>
          <p:nvPr/>
        </p:nvSpPr>
        <p:spPr>
          <a:xfrm>
            <a:off x="6528816" y="1453896"/>
            <a:ext cx="175260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CI</a:t>
            </a:r>
            <a:endParaRPr lang="en-US" sz="850" dirty="0"/>
          </a:p>
        </p:txBody>
      </p:sp>
      <p:sp>
        <p:nvSpPr>
          <p:cNvPr id="56" name="Text 54"/>
          <p:cNvSpPr/>
          <p:nvPr/>
        </p:nvSpPr>
        <p:spPr>
          <a:xfrm>
            <a:off x="8327136" y="1453896"/>
            <a:ext cx="175260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Métiers</a:t>
            </a:r>
            <a:endParaRPr lang="en-US" sz="850" dirty="0"/>
          </a:p>
        </p:txBody>
      </p:sp>
      <p:sp>
        <p:nvSpPr>
          <p:cNvPr id="57" name="Text 55"/>
          <p:cNvSpPr/>
          <p:nvPr/>
        </p:nvSpPr>
        <p:spPr>
          <a:xfrm>
            <a:off x="10125456" y="1453896"/>
            <a:ext cx="175260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Flux</a:t>
            </a:r>
            <a:endParaRPr lang="en-US" sz="850" dirty="0"/>
          </a:p>
        </p:txBody>
      </p:sp>
      <p:sp>
        <p:nvSpPr>
          <p:cNvPr id="58" name="Shape 56"/>
          <p:cNvSpPr/>
          <p:nvPr/>
        </p:nvSpPr>
        <p:spPr>
          <a:xfrm>
            <a:off x="6080760" y="1673352"/>
            <a:ext cx="5806440" cy="256032"/>
          </a:xfrm>
          <a:prstGeom prst="rect">
            <a:avLst/>
          </a:prstGeom>
          <a:solidFill>
            <a:srgbClr val="FFF9EC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6117336" y="1709928"/>
            <a:ext cx="365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#9</a:t>
            </a:r>
            <a:endParaRPr lang="en-US" sz="850" dirty="0"/>
          </a:p>
        </p:txBody>
      </p:sp>
      <p:sp>
        <p:nvSpPr>
          <p:cNvPr id="60" name="Text 58"/>
          <p:cNvSpPr/>
          <p:nvPr/>
        </p:nvSpPr>
        <p:spPr>
          <a:xfrm>
            <a:off x="6528816" y="1709928"/>
            <a:ext cx="175260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A7C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ENDEAVOUR AVIATION</a:t>
            </a:r>
            <a:endParaRPr lang="en-US" sz="850" dirty="0"/>
          </a:p>
        </p:txBody>
      </p:sp>
      <p:sp>
        <p:nvSpPr>
          <p:cNvPr id="61" name="Text 59"/>
          <p:cNvSpPr/>
          <p:nvPr/>
        </p:nvSpPr>
        <p:spPr>
          <a:xfrm>
            <a:off x="8327136" y="1709928"/>
            <a:ext cx="175260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AER</a:t>
            </a:r>
            <a:endParaRPr lang="en-US" sz="850" dirty="0"/>
          </a:p>
        </p:txBody>
      </p:sp>
      <p:sp>
        <p:nvSpPr>
          <p:cNvPr id="62" name="Text 60"/>
          <p:cNvSpPr/>
          <p:nvPr/>
        </p:nvSpPr>
        <p:spPr>
          <a:xfrm>
            <a:off x="10125456" y="1709928"/>
            <a:ext cx="175260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A7C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Aéroportage personnel mines</a:t>
            </a:r>
            <a:endParaRPr lang="en-US" sz="850" dirty="0"/>
          </a:p>
        </p:txBody>
      </p:sp>
      <p:sp>
        <p:nvSpPr>
          <p:cNvPr id="63" name="Shape 61"/>
          <p:cNvSpPr/>
          <p:nvPr/>
        </p:nvSpPr>
        <p:spPr>
          <a:xfrm>
            <a:off x="6080760" y="1929384"/>
            <a:ext cx="5806440" cy="256032"/>
          </a:xfrm>
          <a:prstGeom prst="rect">
            <a:avLst/>
          </a:prstGeom>
          <a:solidFill>
            <a:srgbClr val="F8F9FA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6117336" y="1965960"/>
            <a:ext cx="365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#10</a:t>
            </a:r>
            <a:endParaRPr lang="en-US" sz="850" dirty="0"/>
          </a:p>
        </p:txBody>
      </p:sp>
      <p:sp>
        <p:nvSpPr>
          <p:cNvPr id="65" name="Text 63"/>
          <p:cNvSpPr/>
          <p:nvPr/>
        </p:nvSpPr>
        <p:spPr>
          <a:xfrm>
            <a:off x="6528816" y="1965960"/>
            <a:ext cx="175260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3G MINING (MONTAGE GOLD)</a:t>
            </a:r>
            <a:endParaRPr lang="en-US" sz="850" dirty="0"/>
          </a:p>
        </p:txBody>
      </p:sp>
      <p:sp>
        <p:nvSpPr>
          <p:cNvPr id="66" name="Text 64"/>
          <p:cNvSpPr/>
          <p:nvPr/>
        </p:nvSpPr>
        <p:spPr>
          <a:xfrm>
            <a:off x="8327136" y="1965960"/>
            <a:ext cx="175260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</a:t>
            </a:r>
            <a:endParaRPr lang="en-US" sz="850" dirty="0"/>
          </a:p>
        </p:txBody>
      </p:sp>
      <p:sp>
        <p:nvSpPr>
          <p:cNvPr id="67" name="Text 65"/>
          <p:cNvSpPr/>
          <p:nvPr/>
        </p:nvSpPr>
        <p:spPr>
          <a:xfrm>
            <a:off x="10125456" y="1965960"/>
            <a:ext cx="175260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Sous-traitance Montage Gold</a:t>
            </a:r>
            <a:endParaRPr lang="en-US" sz="850" dirty="0"/>
          </a:p>
        </p:txBody>
      </p:sp>
      <p:sp>
        <p:nvSpPr>
          <p:cNvPr id="68" name="Shape 66"/>
          <p:cNvSpPr/>
          <p:nvPr/>
        </p:nvSpPr>
        <p:spPr>
          <a:xfrm>
            <a:off x="6080760" y="2185416"/>
            <a:ext cx="5806440" cy="256032"/>
          </a:xfrm>
          <a:prstGeom prst="rect">
            <a:avLst/>
          </a:prstGeom>
          <a:solidFill>
            <a:srgbClr val="FFFFFF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6117336" y="2221992"/>
            <a:ext cx="365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#11</a:t>
            </a:r>
            <a:endParaRPr lang="en-US" sz="850" dirty="0"/>
          </a:p>
        </p:txBody>
      </p:sp>
      <p:sp>
        <p:nvSpPr>
          <p:cNvPr id="70" name="Text 68"/>
          <p:cNvSpPr/>
          <p:nvPr/>
        </p:nvSpPr>
        <p:spPr>
          <a:xfrm>
            <a:off x="6528816" y="2221992"/>
            <a:ext cx="175260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CMB - COMPAGNIE MINIERE DU BAFING</a:t>
            </a:r>
            <a:endParaRPr lang="en-US" sz="850" dirty="0"/>
          </a:p>
        </p:txBody>
      </p:sp>
      <p:sp>
        <p:nvSpPr>
          <p:cNvPr id="71" name="Text 69"/>
          <p:cNvSpPr/>
          <p:nvPr/>
        </p:nvSpPr>
        <p:spPr>
          <a:xfrm>
            <a:off x="8327136" y="2221992"/>
            <a:ext cx="175260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</a:t>
            </a:r>
            <a:endParaRPr lang="en-US" sz="850" dirty="0"/>
          </a:p>
        </p:txBody>
      </p:sp>
      <p:sp>
        <p:nvSpPr>
          <p:cNvPr id="72" name="Text 70"/>
          <p:cNvSpPr/>
          <p:nvPr/>
        </p:nvSpPr>
        <p:spPr>
          <a:xfrm>
            <a:off x="10125456" y="2221992"/>
            <a:ext cx="175260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 équipements</a:t>
            </a:r>
            <a:endParaRPr lang="en-US" sz="850" dirty="0"/>
          </a:p>
        </p:txBody>
      </p:sp>
      <p:sp>
        <p:nvSpPr>
          <p:cNvPr id="73" name="Shape 71"/>
          <p:cNvSpPr/>
          <p:nvPr/>
        </p:nvSpPr>
        <p:spPr>
          <a:xfrm>
            <a:off x="6080760" y="2441448"/>
            <a:ext cx="5806440" cy="256032"/>
          </a:xfrm>
          <a:prstGeom prst="rect">
            <a:avLst/>
          </a:prstGeom>
          <a:solidFill>
            <a:srgbClr val="F8F9FA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6117336" y="2478024"/>
            <a:ext cx="365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#12</a:t>
            </a:r>
            <a:endParaRPr lang="en-US" sz="850" dirty="0"/>
          </a:p>
        </p:txBody>
      </p:sp>
      <p:sp>
        <p:nvSpPr>
          <p:cNvPr id="75" name="Text 73"/>
          <p:cNvSpPr/>
          <p:nvPr/>
        </p:nvSpPr>
        <p:spPr>
          <a:xfrm>
            <a:off x="6528816" y="2478024"/>
            <a:ext cx="175260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EQUATORIAL ENGINEERING COTE D'IVOIRE</a:t>
            </a:r>
            <a:endParaRPr lang="en-US" sz="850" dirty="0"/>
          </a:p>
        </p:txBody>
      </p:sp>
      <p:sp>
        <p:nvSpPr>
          <p:cNvPr id="76" name="Text 74"/>
          <p:cNvSpPr/>
          <p:nvPr/>
        </p:nvSpPr>
        <p:spPr>
          <a:xfrm>
            <a:off x="8327136" y="2478024"/>
            <a:ext cx="175260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</a:t>
            </a:r>
            <a:endParaRPr lang="en-US" sz="850" dirty="0"/>
          </a:p>
        </p:txBody>
      </p:sp>
      <p:sp>
        <p:nvSpPr>
          <p:cNvPr id="77" name="Text 75"/>
          <p:cNvSpPr/>
          <p:nvPr/>
        </p:nvSpPr>
        <p:spPr>
          <a:xfrm>
            <a:off x="10125456" y="2478024"/>
            <a:ext cx="175260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pour mines</a:t>
            </a:r>
            <a:endParaRPr lang="en-US" sz="850" dirty="0"/>
          </a:p>
        </p:txBody>
      </p:sp>
      <p:sp>
        <p:nvSpPr>
          <p:cNvPr id="78" name="Shape 76"/>
          <p:cNvSpPr/>
          <p:nvPr/>
        </p:nvSpPr>
        <p:spPr>
          <a:xfrm>
            <a:off x="6080760" y="2697480"/>
            <a:ext cx="5806440" cy="256032"/>
          </a:xfrm>
          <a:prstGeom prst="rect">
            <a:avLst/>
          </a:prstGeom>
          <a:solidFill>
            <a:srgbClr val="FFFFFF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6117336" y="2734056"/>
            <a:ext cx="365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#13</a:t>
            </a:r>
            <a:endParaRPr lang="en-US" sz="850" dirty="0"/>
          </a:p>
        </p:txBody>
      </p:sp>
      <p:sp>
        <p:nvSpPr>
          <p:cNvPr id="80" name="Text 78"/>
          <p:cNvSpPr/>
          <p:nvPr/>
        </p:nvSpPr>
        <p:spPr>
          <a:xfrm>
            <a:off x="6528816" y="2734056"/>
            <a:ext cx="175260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EXPLORATION AND MINING SUPPLIES</a:t>
            </a:r>
            <a:endParaRPr lang="en-US" sz="850" dirty="0"/>
          </a:p>
        </p:txBody>
      </p:sp>
      <p:sp>
        <p:nvSpPr>
          <p:cNvPr id="81" name="Text 79"/>
          <p:cNvSpPr/>
          <p:nvPr/>
        </p:nvSpPr>
        <p:spPr>
          <a:xfrm>
            <a:off x="8327136" y="2734056"/>
            <a:ext cx="175260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</a:t>
            </a:r>
            <a:endParaRPr lang="en-US" sz="850" dirty="0"/>
          </a:p>
        </p:txBody>
      </p:sp>
      <p:sp>
        <p:nvSpPr>
          <p:cNvPr id="82" name="Text 80"/>
          <p:cNvSpPr/>
          <p:nvPr/>
        </p:nvSpPr>
        <p:spPr>
          <a:xfrm>
            <a:off x="10125456" y="2734056"/>
            <a:ext cx="175260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Fournisseur consommables miniers</a:t>
            </a:r>
            <a:endParaRPr lang="en-US" sz="850" dirty="0"/>
          </a:p>
        </p:txBody>
      </p:sp>
      <p:sp>
        <p:nvSpPr>
          <p:cNvPr id="83" name="Shape 81"/>
          <p:cNvSpPr/>
          <p:nvPr/>
        </p:nvSpPr>
        <p:spPr>
          <a:xfrm>
            <a:off x="6080760" y="2953512"/>
            <a:ext cx="5806440" cy="256032"/>
          </a:xfrm>
          <a:prstGeom prst="rect">
            <a:avLst/>
          </a:prstGeom>
          <a:solidFill>
            <a:srgbClr val="F8F9FA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6117336" y="2990088"/>
            <a:ext cx="365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#14</a:t>
            </a:r>
            <a:endParaRPr lang="en-US" sz="850" dirty="0"/>
          </a:p>
        </p:txBody>
      </p:sp>
      <p:sp>
        <p:nvSpPr>
          <p:cNvPr id="85" name="Text 83"/>
          <p:cNvSpPr/>
          <p:nvPr/>
        </p:nvSpPr>
        <p:spPr>
          <a:xfrm>
            <a:off x="6528816" y="2990088"/>
            <a:ext cx="175260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EPIROC COTE D'IVOIRE</a:t>
            </a:r>
            <a:endParaRPr lang="en-US" sz="850" dirty="0"/>
          </a:p>
        </p:txBody>
      </p:sp>
      <p:sp>
        <p:nvSpPr>
          <p:cNvPr id="86" name="Text 84"/>
          <p:cNvSpPr/>
          <p:nvPr/>
        </p:nvSpPr>
        <p:spPr>
          <a:xfrm>
            <a:off x="8327136" y="2990088"/>
            <a:ext cx="175260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</a:t>
            </a:r>
            <a:endParaRPr lang="en-US" sz="850" dirty="0"/>
          </a:p>
        </p:txBody>
      </p:sp>
      <p:sp>
        <p:nvSpPr>
          <p:cNvPr id="87" name="Text 85"/>
          <p:cNvSpPr/>
          <p:nvPr/>
        </p:nvSpPr>
        <p:spPr>
          <a:xfrm>
            <a:off x="10125456" y="2990088"/>
            <a:ext cx="175260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Équipementier (forage / drilling)</a:t>
            </a:r>
            <a:endParaRPr lang="en-US" sz="850" dirty="0"/>
          </a:p>
        </p:txBody>
      </p:sp>
      <p:sp>
        <p:nvSpPr>
          <p:cNvPr id="88" name="Shape 86"/>
          <p:cNvSpPr/>
          <p:nvPr/>
        </p:nvSpPr>
        <p:spPr>
          <a:xfrm>
            <a:off x="6080760" y="3209544"/>
            <a:ext cx="5806440" cy="256032"/>
          </a:xfrm>
          <a:prstGeom prst="rect">
            <a:avLst/>
          </a:prstGeom>
          <a:solidFill>
            <a:srgbClr val="FFFFFF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6117336" y="3246120"/>
            <a:ext cx="365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#15</a:t>
            </a:r>
            <a:endParaRPr lang="en-US" sz="850" dirty="0"/>
          </a:p>
        </p:txBody>
      </p:sp>
      <p:sp>
        <p:nvSpPr>
          <p:cNvPr id="90" name="Text 88"/>
          <p:cNvSpPr/>
          <p:nvPr/>
        </p:nvSpPr>
        <p:spPr>
          <a:xfrm>
            <a:off x="6528816" y="3246120"/>
            <a:ext cx="175260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SOCIETE DES MINES DE LA LOBO</a:t>
            </a:r>
            <a:endParaRPr lang="en-US" sz="850" dirty="0"/>
          </a:p>
        </p:txBody>
      </p:sp>
      <p:sp>
        <p:nvSpPr>
          <p:cNvPr id="91" name="Text 89"/>
          <p:cNvSpPr/>
          <p:nvPr/>
        </p:nvSpPr>
        <p:spPr>
          <a:xfrm>
            <a:off x="8327136" y="3246120"/>
            <a:ext cx="175260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</a:t>
            </a:r>
            <a:endParaRPr lang="en-US" sz="850" dirty="0"/>
          </a:p>
        </p:txBody>
      </p:sp>
      <p:sp>
        <p:nvSpPr>
          <p:cNvPr id="92" name="Text 90"/>
          <p:cNvSpPr/>
          <p:nvPr/>
        </p:nvSpPr>
        <p:spPr>
          <a:xfrm>
            <a:off x="10125456" y="3246120"/>
            <a:ext cx="175260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</a:t>
            </a:r>
            <a:endParaRPr lang="en-US" sz="850" dirty="0"/>
          </a:p>
        </p:txBody>
      </p:sp>
      <p:sp>
        <p:nvSpPr>
          <p:cNvPr id="93" name="Shape 91"/>
          <p:cNvSpPr/>
          <p:nvPr/>
        </p:nvSpPr>
        <p:spPr>
          <a:xfrm>
            <a:off x="137160" y="5074920"/>
            <a:ext cx="11795760" cy="868680"/>
          </a:xfrm>
          <a:prstGeom prst="rect">
            <a:avLst/>
          </a:prstGeom>
          <a:solidFill>
            <a:srgbClr val="FFFBEC"/>
          </a:solidFill>
          <a:ln w="6350">
            <a:solidFill>
              <a:srgbClr val="E5C97A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228600" y="5148072"/>
            <a:ext cx="11612880" cy="7589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🏆  POSITION AGL : 15 clients miniers CI à tracker. Uploader TIM (N + N-1) pour l'analyse live au volume.</a:t>
            </a:r>
            <a:endParaRPr lang="en-US" sz="9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D2243"/>
          </a:solidFill>
          <a:ln/>
        </p:spPr>
      </p:sp>
      <p:sp>
        <p:nvSpPr>
          <p:cNvPr id="3" name="Text 1"/>
          <p:cNvSpPr/>
          <p:nvPr/>
        </p:nvSpPr>
        <p:spPr>
          <a:xfrm>
            <a:off x="228600" y="45720"/>
            <a:ext cx="11887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 MINIER – CONCURRENTS &amp; MARCHANDISES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228600" y="548640"/>
            <a:ext cx="11430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Transitaires actifs sur le secteur minier  |  Marchandises minières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82880" y="6583680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Africa Global Logistics – Étude de Marché Jan–Mai 2026  |  p.31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430000" y="653796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AGL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228600" y="1097280"/>
            <a:ext cx="1179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Hinterland minier BF + Mali (fallback)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37160" y="1371600"/>
            <a:ext cx="5806440" cy="256032"/>
          </a:xfrm>
          <a:prstGeom prst="rect">
            <a:avLst/>
          </a:prstGeom>
          <a:solidFill>
            <a:srgbClr val="0D2243"/>
          </a:solidFill>
          <a:ln/>
        </p:spPr>
      </p:sp>
      <p:sp>
        <p:nvSpPr>
          <p:cNvPr id="9" name="Text 7"/>
          <p:cNvSpPr/>
          <p:nvPr/>
        </p:nvSpPr>
        <p:spPr>
          <a:xfrm>
            <a:off x="173736" y="1408176"/>
            <a:ext cx="365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585216" y="1408176"/>
            <a:ext cx="2651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BF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3282696" y="1408176"/>
            <a:ext cx="2651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Activité / Mine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137160" y="1627632"/>
            <a:ext cx="5806440" cy="256032"/>
          </a:xfrm>
          <a:prstGeom prst="rect">
            <a:avLst/>
          </a:prstGeom>
          <a:solidFill>
            <a:srgbClr val="FFF9EC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73736" y="1664208"/>
            <a:ext cx="365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#1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585216" y="1664208"/>
            <a:ext cx="2651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A7C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AUMS BURKINA FASO SARL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3282696" y="1664208"/>
            <a:ext cx="2651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A7C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 matériels via corridor Abidjan-Ouaga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137160" y="1883664"/>
            <a:ext cx="5806440" cy="256032"/>
          </a:xfrm>
          <a:prstGeom prst="rect">
            <a:avLst/>
          </a:prstGeom>
          <a:solidFill>
            <a:srgbClr val="F8F9FA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73736" y="1920240"/>
            <a:ext cx="365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#2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585216" y="1920240"/>
            <a:ext cx="2651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SOMISA SA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3282696" y="1920240"/>
            <a:ext cx="2651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Société des Mines de Sanbrado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137160" y="2139696"/>
            <a:ext cx="5806440" cy="256032"/>
          </a:xfrm>
          <a:prstGeom prst="rect">
            <a:avLst/>
          </a:prstGeom>
          <a:solidFill>
            <a:srgbClr val="FFFFFF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73736" y="2176272"/>
            <a:ext cx="365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#3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585216" y="2176272"/>
            <a:ext cx="2651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HOUNDE GOLD OPERATION SA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3282696" y="2176272"/>
            <a:ext cx="2651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— Endeavour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137160" y="2395728"/>
            <a:ext cx="5806440" cy="256032"/>
          </a:xfrm>
          <a:prstGeom prst="rect">
            <a:avLst/>
          </a:prstGeom>
          <a:solidFill>
            <a:srgbClr val="F8F9FA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73736" y="2432304"/>
            <a:ext cx="365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#4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585216" y="2432304"/>
            <a:ext cx="2651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OREZONE BOMBORE SA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3282696" y="2432304"/>
            <a:ext cx="2651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— Bombore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137160" y="2651760"/>
            <a:ext cx="5806440" cy="256032"/>
          </a:xfrm>
          <a:prstGeom prst="rect">
            <a:avLst/>
          </a:prstGeom>
          <a:solidFill>
            <a:srgbClr val="FFFFFF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73736" y="2688336"/>
            <a:ext cx="365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#5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585216" y="2688336"/>
            <a:ext cx="2651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BYRNECUT BURKINA FASO SARL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3282696" y="2688336"/>
            <a:ext cx="2651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Sous-traitance minière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137160" y="2907792"/>
            <a:ext cx="5806440" cy="256032"/>
          </a:xfrm>
          <a:prstGeom prst="rect">
            <a:avLst/>
          </a:prstGeom>
          <a:solidFill>
            <a:srgbClr val="F8F9FA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73736" y="2944368"/>
            <a:ext cx="365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#6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585216" y="2944368"/>
            <a:ext cx="2651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ESSAKANE BF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3282696" y="2944368"/>
            <a:ext cx="2651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Iamgold Essakane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137160" y="3163824"/>
            <a:ext cx="5806440" cy="256032"/>
          </a:xfrm>
          <a:prstGeom prst="rect">
            <a:avLst/>
          </a:prstGeom>
          <a:solidFill>
            <a:srgbClr val="FFFFFF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73736" y="3200400"/>
            <a:ext cx="365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#7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585216" y="3200400"/>
            <a:ext cx="2651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BURKINA MINING COMPANY SA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3282696" y="3200400"/>
            <a:ext cx="2651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137160" y="3419856"/>
            <a:ext cx="5806440" cy="256032"/>
          </a:xfrm>
          <a:prstGeom prst="rect">
            <a:avLst/>
          </a:prstGeom>
          <a:solidFill>
            <a:srgbClr val="F8F9FA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173736" y="3456432"/>
            <a:ext cx="365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#8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585216" y="3456432"/>
            <a:ext cx="2651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WAHGNION GOLD OPERATIONS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3282696" y="3456432"/>
            <a:ext cx="2651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— Endeavour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137160" y="3675888"/>
            <a:ext cx="5806440" cy="256032"/>
          </a:xfrm>
          <a:prstGeom prst="rect">
            <a:avLst/>
          </a:prstGeom>
          <a:solidFill>
            <a:srgbClr val="FFFFFF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173736" y="3712464"/>
            <a:ext cx="365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#9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585216" y="3712464"/>
            <a:ext cx="2651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SEMAFO BURKINA FASO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3282696" y="3712464"/>
            <a:ext cx="2651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— Mana / Boungou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137160" y="3931920"/>
            <a:ext cx="5806440" cy="256032"/>
          </a:xfrm>
          <a:prstGeom prst="rect">
            <a:avLst/>
          </a:prstGeom>
          <a:solidFill>
            <a:srgbClr val="F8F9FA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173736" y="3968496"/>
            <a:ext cx="365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#10</a:t>
            </a:r>
            <a:endParaRPr lang="en-US" sz="850" dirty="0"/>
          </a:p>
        </p:txBody>
      </p:sp>
      <p:sp>
        <p:nvSpPr>
          <p:cNvPr id="50" name="Text 48"/>
          <p:cNvSpPr/>
          <p:nvPr/>
        </p:nvSpPr>
        <p:spPr>
          <a:xfrm>
            <a:off x="585216" y="3968496"/>
            <a:ext cx="2651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TOEGA SA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3282696" y="3968496"/>
            <a:ext cx="2651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— projet Toega</a:t>
            </a:r>
            <a:endParaRPr lang="en-US" sz="850" dirty="0"/>
          </a:p>
        </p:txBody>
      </p:sp>
      <p:sp>
        <p:nvSpPr>
          <p:cNvPr id="52" name="Shape 50"/>
          <p:cNvSpPr/>
          <p:nvPr/>
        </p:nvSpPr>
        <p:spPr>
          <a:xfrm>
            <a:off x="137160" y="4187952"/>
            <a:ext cx="5806440" cy="256032"/>
          </a:xfrm>
          <a:prstGeom prst="rect">
            <a:avLst/>
          </a:prstGeom>
          <a:solidFill>
            <a:srgbClr val="FFFFFF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173736" y="4224528"/>
            <a:ext cx="365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#11</a:t>
            </a:r>
            <a:endParaRPr lang="en-US" sz="850" dirty="0"/>
          </a:p>
        </p:txBody>
      </p:sp>
      <p:sp>
        <p:nvSpPr>
          <p:cNvPr id="54" name="Text 52"/>
          <p:cNvSpPr/>
          <p:nvPr/>
        </p:nvSpPr>
        <p:spPr>
          <a:xfrm>
            <a:off x="585216" y="4224528"/>
            <a:ext cx="2651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UNDERGROUND MINING SERVICES BURKINA</a:t>
            </a:r>
            <a:endParaRPr lang="en-US" sz="850" dirty="0"/>
          </a:p>
        </p:txBody>
      </p:sp>
      <p:sp>
        <p:nvSpPr>
          <p:cNvPr id="55" name="Text 53"/>
          <p:cNvSpPr/>
          <p:nvPr/>
        </p:nvSpPr>
        <p:spPr>
          <a:xfrm>
            <a:off x="3282696" y="4224528"/>
            <a:ext cx="2651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Sous-traitance souterraine</a:t>
            </a:r>
            <a:endParaRPr lang="en-US" sz="850" dirty="0"/>
          </a:p>
        </p:txBody>
      </p:sp>
      <p:sp>
        <p:nvSpPr>
          <p:cNvPr id="56" name="Shape 54"/>
          <p:cNvSpPr/>
          <p:nvPr/>
        </p:nvSpPr>
        <p:spPr>
          <a:xfrm>
            <a:off x="6080760" y="1371600"/>
            <a:ext cx="5806440" cy="256032"/>
          </a:xfrm>
          <a:prstGeom prst="rect">
            <a:avLst/>
          </a:prstGeom>
          <a:solidFill>
            <a:srgbClr val="0D2243"/>
          </a:solidFill>
          <a:ln/>
        </p:spPr>
      </p:sp>
      <p:sp>
        <p:nvSpPr>
          <p:cNvPr id="57" name="Text 55"/>
          <p:cNvSpPr/>
          <p:nvPr/>
        </p:nvSpPr>
        <p:spPr>
          <a:xfrm>
            <a:off x="6117336" y="1408176"/>
            <a:ext cx="365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</a:t>
            </a:r>
            <a:endParaRPr lang="en-US" sz="850" dirty="0"/>
          </a:p>
        </p:txBody>
      </p:sp>
      <p:sp>
        <p:nvSpPr>
          <p:cNvPr id="58" name="Text 56"/>
          <p:cNvSpPr/>
          <p:nvPr/>
        </p:nvSpPr>
        <p:spPr>
          <a:xfrm>
            <a:off x="6528816" y="1408176"/>
            <a:ext cx="2651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MALI</a:t>
            </a:r>
            <a:endParaRPr lang="en-US" sz="850" dirty="0"/>
          </a:p>
        </p:txBody>
      </p:sp>
      <p:sp>
        <p:nvSpPr>
          <p:cNvPr id="59" name="Text 57"/>
          <p:cNvSpPr/>
          <p:nvPr/>
        </p:nvSpPr>
        <p:spPr>
          <a:xfrm>
            <a:off x="9226296" y="1408176"/>
            <a:ext cx="2651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Activité / Mine</a:t>
            </a:r>
            <a:endParaRPr lang="en-US" sz="850" dirty="0"/>
          </a:p>
        </p:txBody>
      </p:sp>
      <p:sp>
        <p:nvSpPr>
          <p:cNvPr id="60" name="Shape 58"/>
          <p:cNvSpPr/>
          <p:nvPr/>
        </p:nvSpPr>
        <p:spPr>
          <a:xfrm>
            <a:off x="6080760" y="1627632"/>
            <a:ext cx="5806440" cy="256032"/>
          </a:xfrm>
          <a:prstGeom prst="rect">
            <a:avLst/>
          </a:prstGeom>
          <a:solidFill>
            <a:srgbClr val="FFF9EC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6117336" y="1664208"/>
            <a:ext cx="365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#1</a:t>
            </a:r>
            <a:endParaRPr lang="en-US" sz="850" dirty="0"/>
          </a:p>
        </p:txBody>
      </p:sp>
      <p:sp>
        <p:nvSpPr>
          <p:cNvPr id="62" name="Text 60"/>
          <p:cNvSpPr/>
          <p:nvPr/>
        </p:nvSpPr>
        <p:spPr>
          <a:xfrm>
            <a:off x="6528816" y="1664208"/>
            <a:ext cx="2651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A7C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BUREAU VERITAS MALI</a:t>
            </a:r>
            <a:endParaRPr lang="en-US" sz="850" dirty="0"/>
          </a:p>
        </p:txBody>
      </p:sp>
      <p:sp>
        <p:nvSpPr>
          <p:cNvPr id="63" name="Text 61"/>
          <p:cNvSpPr/>
          <p:nvPr/>
        </p:nvSpPr>
        <p:spPr>
          <a:xfrm>
            <a:off x="9226296" y="1664208"/>
            <a:ext cx="2651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A7C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Laboratoires / analyses</a:t>
            </a:r>
            <a:endParaRPr lang="en-US" sz="850" dirty="0"/>
          </a:p>
        </p:txBody>
      </p:sp>
      <p:sp>
        <p:nvSpPr>
          <p:cNvPr id="64" name="Shape 62"/>
          <p:cNvSpPr/>
          <p:nvPr/>
        </p:nvSpPr>
        <p:spPr>
          <a:xfrm>
            <a:off x="6080760" y="1883664"/>
            <a:ext cx="5806440" cy="256032"/>
          </a:xfrm>
          <a:prstGeom prst="rect">
            <a:avLst/>
          </a:prstGeom>
          <a:solidFill>
            <a:srgbClr val="F8F9FA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6117336" y="1920240"/>
            <a:ext cx="365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#2</a:t>
            </a:r>
            <a:endParaRPr lang="en-US" sz="850" dirty="0"/>
          </a:p>
        </p:txBody>
      </p:sp>
      <p:sp>
        <p:nvSpPr>
          <p:cNvPr id="66" name="Text 64"/>
          <p:cNvSpPr/>
          <p:nvPr/>
        </p:nvSpPr>
        <p:spPr>
          <a:xfrm>
            <a:off x="6528816" y="1920240"/>
            <a:ext cx="2651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SOMISY SA</a:t>
            </a:r>
            <a:endParaRPr lang="en-US" sz="850" dirty="0"/>
          </a:p>
        </p:txBody>
      </p:sp>
      <p:sp>
        <p:nvSpPr>
          <p:cNvPr id="67" name="Text 65"/>
          <p:cNvSpPr/>
          <p:nvPr/>
        </p:nvSpPr>
        <p:spPr>
          <a:xfrm>
            <a:off x="9226296" y="1920240"/>
            <a:ext cx="2651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— Syama</a:t>
            </a:r>
            <a:endParaRPr lang="en-US" sz="850" dirty="0"/>
          </a:p>
        </p:txBody>
      </p:sp>
      <p:sp>
        <p:nvSpPr>
          <p:cNvPr id="68" name="Shape 66"/>
          <p:cNvSpPr/>
          <p:nvPr/>
        </p:nvSpPr>
        <p:spPr>
          <a:xfrm>
            <a:off x="6080760" y="2139696"/>
            <a:ext cx="5806440" cy="256032"/>
          </a:xfrm>
          <a:prstGeom prst="rect">
            <a:avLst/>
          </a:prstGeom>
          <a:solidFill>
            <a:srgbClr val="FFFFFF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6117336" y="2176272"/>
            <a:ext cx="365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#3</a:t>
            </a:r>
            <a:endParaRPr lang="en-US" sz="850" dirty="0"/>
          </a:p>
        </p:txBody>
      </p:sp>
      <p:sp>
        <p:nvSpPr>
          <p:cNvPr id="70" name="Text 68"/>
          <p:cNvSpPr/>
          <p:nvPr/>
        </p:nvSpPr>
        <p:spPr>
          <a:xfrm>
            <a:off x="6528816" y="2176272"/>
            <a:ext cx="2651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TOUBANI RESSOURCES</a:t>
            </a:r>
            <a:endParaRPr lang="en-US" sz="850" dirty="0"/>
          </a:p>
        </p:txBody>
      </p:sp>
      <p:sp>
        <p:nvSpPr>
          <p:cNvPr id="71" name="Text 69"/>
          <p:cNvSpPr/>
          <p:nvPr/>
        </p:nvSpPr>
        <p:spPr>
          <a:xfrm>
            <a:off x="9226296" y="2176272"/>
            <a:ext cx="2651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— projet Kobada</a:t>
            </a:r>
            <a:endParaRPr lang="en-US" sz="850" dirty="0"/>
          </a:p>
        </p:txBody>
      </p:sp>
      <p:sp>
        <p:nvSpPr>
          <p:cNvPr id="72" name="Shape 70"/>
          <p:cNvSpPr/>
          <p:nvPr/>
        </p:nvSpPr>
        <p:spPr>
          <a:xfrm>
            <a:off x="6080760" y="2395728"/>
            <a:ext cx="5806440" cy="256032"/>
          </a:xfrm>
          <a:prstGeom prst="rect">
            <a:avLst/>
          </a:prstGeom>
          <a:solidFill>
            <a:srgbClr val="F8F9FA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6117336" y="2432304"/>
            <a:ext cx="365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#4</a:t>
            </a:r>
            <a:endParaRPr lang="en-US" sz="850" dirty="0"/>
          </a:p>
        </p:txBody>
      </p:sp>
      <p:sp>
        <p:nvSpPr>
          <p:cNvPr id="74" name="Text 72"/>
          <p:cNvSpPr/>
          <p:nvPr/>
        </p:nvSpPr>
        <p:spPr>
          <a:xfrm>
            <a:off x="6528816" y="2432304"/>
            <a:ext cx="2651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SAMSUNG</a:t>
            </a:r>
            <a:endParaRPr lang="en-US" sz="850" dirty="0"/>
          </a:p>
        </p:txBody>
      </p:sp>
      <p:sp>
        <p:nvSpPr>
          <p:cNvPr id="75" name="Text 73"/>
          <p:cNvSpPr/>
          <p:nvPr/>
        </p:nvSpPr>
        <p:spPr>
          <a:xfrm>
            <a:off x="9226296" y="2432304"/>
            <a:ext cx="2651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Matériels lourds via corridor</a:t>
            </a:r>
            <a:endParaRPr lang="en-US" sz="850" dirty="0"/>
          </a:p>
        </p:txBody>
      </p:sp>
      <p:sp>
        <p:nvSpPr>
          <p:cNvPr id="76" name="Shape 74"/>
          <p:cNvSpPr/>
          <p:nvPr/>
        </p:nvSpPr>
        <p:spPr>
          <a:xfrm>
            <a:off x="137160" y="5074920"/>
            <a:ext cx="11795760" cy="822960"/>
          </a:xfrm>
          <a:prstGeom prst="rect">
            <a:avLst/>
          </a:prstGeom>
          <a:solidFill>
            <a:srgbClr val="FFFBEC"/>
          </a:solidFill>
          <a:ln w="6350">
            <a:solidFill>
              <a:srgbClr val="E5C97A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228600" y="5148072"/>
            <a:ext cx="116128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15 clients miniers hinterland à conquérir (Endeavour, Iamgold, Orezone).</a:t>
            </a:r>
            <a:endParaRPr lang="en-US" sz="9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D2243"/>
          </a:solidFill>
          <a:ln/>
        </p:spPr>
      </p:sp>
      <p:sp>
        <p:nvSpPr>
          <p:cNvPr id="3" name="Text 1"/>
          <p:cNvSpPr/>
          <p:nvPr/>
        </p:nvSpPr>
        <p:spPr>
          <a:xfrm>
            <a:off x="228600" y="45720"/>
            <a:ext cx="11887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 MINIER – CLIENTÈLE AGL &amp; NOUVEAUX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228600" y="548640"/>
            <a:ext cx="11430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clients miniers AGL  |  Nouveaux comptes  |  Conquête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82880" y="6583680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Africa Global Logistics – Étude de Marché Jan–Mai 2026  |  p.32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430000" y="653796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AGL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228600" y="1097280"/>
            <a:ext cx="1179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Ventilation Master-list Mining (fallback)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37160" y="1463040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CÔTE D'IVOIRE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801368" y="1463040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clients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2697480" y="1499616"/>
            <a:ext cx="2743200" cy="164592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11" name="Shape 9"/>
          <p:cNvSpPr/>
          <p:nvPr/>
        </p:nvSpPr>
        <p:spPr>
          <a:xfrm>
            <a:off x="2697480" y="1499616"/>
            <a:ext cx="1371600" cy="164592"/>
          </a:xfrm>
          <a:prstGeom prst="rect">
            <a:avLst/>
          </a:prstGeom>
          <a:solidFill>
            <a:srgbClr val="1A7C4F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0" y="1463040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7C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50%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37160" y="1847088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HINTERLAND BURKINA FASO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1801368" y="1847088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clients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2697480" y="1883664"/>
            <a:ext cx="2743200" cy="164592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16" name="Shape 14"/>
          <p:cNvSpPr/>
          <p:nvPr/>
        </p:nvSpPr>
        <p:spPr>
          <a:xfrm>
            <a:off x="2697480" y="1883664"/>
            <a:ext cx="1014984" cy="164592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0" y="1847088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37%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37160" y="2231136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HINTERLAND MALI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1801368" y="2231136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clients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2697480" y="2267712"/>
            <a:ext cx="2743200" cy="164592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21" name="Shape 19"/>
          <p:cNvSpPr/>
          <p:nvPr/>
        </p:nvSpPr>
        <p:spPr>
          <a:xfrm>
            <a:off x="2697480" y="2267712"/>
            <a:ext cx="356616" cy="164592"/>
          </a:xfrm>
          <a:prstGeom prst="rect">
            <a:avLst/>
          </a:prstGeom>
          <a:solidFill>
            <a:srgbClr val="E05A00"/>
          </a:solidFill>
          <a:ln/>
        </p:spPr>
      </p:sp>
      <p:sp>
        <p:nvSpPr>
          <p:cNvPr id="22" name="Text 20"/>
          <p:cNvSpPr/>
          <p:nvPr/>
        </p:nvSpPr>
        <p:spPr>
          <a:xfrm>
            <a:off x="5486400" y="2231136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0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13%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137160" y="5074920"/>
            <a:ext cx="11795760" cy="822960"/>
          </a:xfrm>
          <a:prstGeom prst="rect">
            <a:avLst/>
          </a:prstGeom>
          <a:solidFill>
            <a:srgbClr val="FFFBEC"/>
          </a:solidFill>
          <a:ln w="6350">
            <a:solidFill>
              <a:srgbClr val="E5C97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28600" y="5148072"/>
            <a:ext cx="116128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🏆  Uploader TIM (N + N-1) pour l'analyse minière live (volumes, clients, nouveaux).</a:t>
            </a:r>
            <a:endParaRPr lang="en-US" sz="9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D2243"/>
          </a:solidFill>
          <a:ln/>
        </p:spPr>
      </p:sp>
      <p:sp>
        <p:nvSpPr>
          <p:cNvPr id="3" name="Text 1"/>
          <p:cNvSpPr/>
          <p:nvPr/>
        </p:nvSpPr>
        <p:spPr>
          <a:xfrm>
            <a:off x="228600" y="45720"/>
            <a:ext cx="11887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 CONCURRENT – GROUPE AYMAN  |  Synthèse multi-métiers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228600" y="548640"/>
            <a:ext cx="11430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DJAM DKS (maritime) &amp; HANNYYAH ET SAID (aérien)  |  Position vs AGL par métier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82880" y="6583680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Africa Global Logistics – Étude de Marché Jan–Mai 2026  |  p.33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430000" y="653796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AGL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228600" y="1097280"/>
            <a:ext cx="1179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Activité AYMAN par métier vs position AGL (référence)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37160" y="1371600"/>
            <a:ext cx="11795760" cy="256032"/>
          </a:xfrm>
          <a:prstGeom prst="rect">
            <a:avLst/>
          </a:prstGeom>
          <a:solidFill>
            <a:srgbClr val="0D2243"/>
          </a:solidFill>
          <a:ln/>
        </p:spPr>
      </p:sp>
      <p:sp>
        <p:nvSpPr>
          <p:cNvPr id="9" name="Text 7"/>
          <p:cNvSpPr/>
          <p:nvPr/>
        </p:nvSpPr>
        <p:spPr>
          <a:xfrm>
            <a:off x="173736" y="1408176"/>
            <a:ext cx="192024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Métier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2139696" y="1408176"/>
            <a:ext cx="192024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 Ayman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4105656" y="1408176"/>
            <a:ext cx="192024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 Ayman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6071616" y="1408176"/>
            <a:ext cx="192024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PDM Ayman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8037576" y="1408176"/>
            <a:ext cx="192024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PDM AGL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10003536" y="1408176"/>
            <a:ext cx="192024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Écart AGL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137160" y="1627632"/>
            <a:ext cx="11795760" cy="256032"/>
          </a:xfrm>
          <a:prstGeom prst="rect">
            <a:avLst/>
          </a:prstGeom>
          <a:solidFill>
            <a:srgbClr val="FFF9EC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73736" y="1664208"/>
            <a:ext cx="192024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A7C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 – Import Maritime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2139696" y="1664208"/>
            <a:ext cx="192024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#5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4105656" y="1664208"/>
            <a:ext cx="192024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10 862 TEU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6071616" y="1664208"/>
            <a:ext cx="192024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5,6 %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8037576" y="1664208"/>
            <a:ext cx="192024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7,8 %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10003536" y="1664208"/>
            <a:ext cx="192024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A7C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+2,2 pts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137160" y="1883664"/>
            <a:ext cx="11795760" cy="256032"/>
          </a:xfrm>
          <a:prstGeom prst="rect">
            <a:avLst/>
          </a:prstGeom>
          <a:solidFill>
            <a:srgbClr val="F8F9FA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73736" y="1920240"/>
            <a:ext cx="192024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Aérien Import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2139696" y="1920240"/>
            <a:ext cx="192024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#7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4105656" y="1920240"/>
            <a:ext cx="192024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273 092 kg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6071616" y="1920240"/>
            <a:ext cx="192024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4,9 %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8037576" y="1920240"/>
            <a:ext cx="192024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20,8 %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10003536" y="1920240"/>
            <a:ext cx="192024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+15,9 pts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137160" y="4206240"/>
            <a:ext cx="11795760" cy="914400"/>
          </a:xfrm>
          <a:prstGeom prst="rect">
            <a:avLst/>
          </a:prstGeom>
          <a:solidFill>
            <a:srgbClr val="FFFBEC"/>
          </a:solidFill>
          <a:ln w="6350">
            <a:solidFill>
              <a:srgbClr val="E5C97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28600" y="4279392"/>
            <a:ext cx="1161288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Uploader les fichiers STATCOM (TIM, AER, HIMP) pour l'analyse AYMAN live.</a:t>
            </a:r>
            <a:endParaRPr lang="en-US" sz="9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D2243"/>
          </a:solidFill>
          <a:ln/>
        </p:spPr>
      </p:sp>
      <p:sp>
        <p:nvSpPr>
          <p:cNvPr id="3" name="Text 1"/>
          <p:cNvSpPr/>
          <p:nvPr/>
        </p:nvSpPr>
        <p:spPr>
          <a:xfrm>
            <a:off x="228600" y="45720"/>
            <a:ext cx="11887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 AYMAN – CLIENTS &amp; MARCHANDISES  |  Maritime import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228600" y="548640"/>
            <a:ext cx="11430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Clients servis par AYMAN  |  Marchandises  |  Évolution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82880" y="6583680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Africa Global Logistics – Étude de Marché Jan–Mai 2026  |  p.34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430000" y="653796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AGL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228600" y="1097280"/>
            <a:ext cx="1179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 concurrentiel AYMAN (référence)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37160" y="1463040"/>
            <a:ext cx="11795760" cy="1097280"/>
          </a:xfrm>
          <a:prstGeom prst="rect">
            <a:avLst/>
          </a:prstGeom>
          <a:solidFill>
            <a:srgbClr val="FFFBEC"/>
          </a:solidFill>
          <a:ln w="6350">
            <a:solidFill>
              <a:srgbClr val="E5C97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28600" y="1536192"/>
            <a:ext cx="11612880" cy="9875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ℹ  AYMAN = concurrent forwarder (DJAM DKS maritime + HANNYYAH ET SAID aérien). Uploader les STATCOM pour l'analyse détaillée de ses clients et marchandises.</a:t>
            </a:r>
            <a:endParaRPr lang="en-US" sz="9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2243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0" y="457200"/>
            <a:ext cx="54864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20000" dirty="0"/>
          </a:p>
        </p:txBody>
      </p:sp>
      <p:sp>
        <p:nvSpPr>
          <p:cNvPr id="4" name="Shape 2"/>
          <p:cNvSpPr/>
          <p:nvPr/>
        </p:nvSpPr>
        <p:spPr>
          <a:xfrm>
            <a:off x="1097280" y="3520440"/>
            <a:ext cx="7498080" cy="59436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2651760"/>
            <a:ext cx="11430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PRÉDICTION MARCHÉ &amp; PRÉCONISATIONS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365760" y="3657600"/>
            <a:ext cx="11430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Signaux newsletters  |  AO &amp; agréments  |  Positionnement stratégique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828800" y="649224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Africa Global Logistics – Étude de Marché Jan–Mai 2026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430000" y="6473952"/>
            <a:ext cx="640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AGL</a:t>
            </a:r>
            <a:endParaRPr lang="en-US" sz="10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D2243"/>
          </a:solidFill>
          <a:ln/>
        </p:spPr>
      </p:sp>
      <p:sp>
        <p:nvSpPr>
          <p:cNvPr id="3" name="Text 1"/>
          <p:cNvSpPr/>
          <p:nvPr/>
        </p:nvSpPr>
        <p:spPr>
          <a:xfrm>
            <a:off x="228600" y="45720"/>
            <a:ext cx="11887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PRÉDICTION – SIGNAUX DE MARCHÉ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228600" y="548640"/>
            <a:ext cx="11430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Signaux secteurs (newsletters)  |  Dynamique AO &amp; agréments  |  Hausses STATCOM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82880" y="6583680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Africa Global Logistics – Étude de Marché Jan–Mai 2026  |  p.signaux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430000" y="653796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AGL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228600" y="1097280"/>
            <a:ext cx="5852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Secteurs les plus cités (newsletters)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37160" y="1371600"/>
            <a:ext cx="5852160" cy="731520"/>
          </a:xfrm>
          <a:prstGeom prst="rect">
            <a:avLst/>
          </a:prstGeom>
          <a:solidFill>
            <a:srgbClr val="FFFBEC"/>
          </a:solidFill>
          <a:ln w="6350">
            <a:solidFill>
              <a:srgbClr val="E5C97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28600" y="1444752"/>
            <a:ext cx="56692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ℹ  Aucune newsletter PDF chargée. Déposer jusqu'à 6 PDF dans la section Prédiction pour extraire les signaux secteurs.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492240" y="1097280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Dynamique commerciale (AO &amp; agréments)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492240" y="1371600"/>
            <a:ext cx="5486400" cy="731520"/>
          </a:xfrm>
          <a:prstGeom prst="rect">
            <a:avLst/>
          </a:prstGeom>
          <a:solidFill>
            <a:srgbClr val="FFFBEC"/>
          </a:solidFill>
          <a:ln w="6350">
            <a:solidFill>
              <a:srgbClr val="E5C97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83680" y="1444752"/>
            <a:ext cx="53035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ℹ  Excel AO/agréments non chargé. Déposer le fichier RECAP_AO_ET_AGREMENTS pour la synthèse.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137160" y="5212080"/>
            <a:ext cx="11795760" cy="731520"/>
          </a:xfrm>
          <a:prstGeom prst="rect">
            <a:avLst/>
          </a:prstGeom>
          <a:solidFill>
            <a:srgbClr val="FFFBEC"/>
          </a:solidFill>
          <a:ln w="6350">
            <a:solidFill>
              <a:srgbClr val="E5C97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28600" y="5285232"/>
            <a:ext cx="116128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  Uploader les fichiers STATCOM (N + N-1) pour faire ressortir automatiquement les hausses de marché comme signaux internes.</a:t>
            </a:r>
            <a:endParaRPr lang="en-US" sz="9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D2243"/>
          </a:solidFill>
          <a:ln/>
        </p:spPr>
      </p:sp>
      <p:sp>
        <p:nvSpPr>
          <p:cNvPr id="3" name="Text 1"/>
          <p:cNvSpPr/>
          <p:nvPr/>
        </p:nvSpPr>
        <p:spPr>
          <a:xfrm>
            <a:off x="228600" y="45720"/>
            <a:ext cx="11887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PRÉDICTION – PRÉCONISATIONS DE POSITIONNEMENT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228600" y="548640"/>
            <a:ext cx="11430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Secteurs porteurs  |  Marchandises  |  Clients cibles  |  Recommandations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82880" y="6583680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Africa Global Logistics – Étude de Marché Jan–Mai 2026  |  p.préco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430000" y="653796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AGL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137160" y="1078992"/>
            <a:ext cx="5806440" cy="1874520"/>
          </a:xfrm>
          <a:prstGeom prst="rect">
            <a:avLst/>
          </a:prstGeom>
          <a:solidFill>
            <a:srgbClr val="F8F9FA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37160" y="1078992"/>
            <a:ext cx="5806440" cy="292608"/>
          </a:xfrm>
          <a:prstGeom prst="rect">
            <a:avLst/>
          </a:prstGeom>
          <a:solidFill>
            <a:srgbClr val="0D2243"/>
          </a:solidFill>
          <a:ln/>
        </p:spPr>
      </p:sp>
      <p:sp>
        <p:nvSpPr>
          <p:cNvPr id="9" name="Text 7"/>
          <p:cNvSpPr/>
          <p:nvPr/>
        </p:nvSpPr>
        <p:spPr>
          <a:xfrm>
            <a:off x="246888" y="1106424"/>
            <a:ext cx="5577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SECTEURS PORTEURS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74320" y="1463040"/>
            <a:ext cx="553212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(à compléter : secteurs en croissance, projets structurants…)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6080760" y="1078992"/>
            <a:ext cx="5806440" cy="1874520"/>
          </a:xfrm>
          <a:prstGeom prst="rect">
            <a:avLst/>
          </a:prstGeom>
          <a:solidFill>
            <a:srgbClr val="F8F9FA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080760" y="1078992"/>
            <a:ext cx="5806440" cy="292608"/>
          </a:xfrm>
          <a:prstGeom prst="rect">
            <a:avLst/>
          </a:prstGeom>
          <a:solidFill>
            <a:srgbClr val="1A7C4F"/>
          </a:solidFill>
          <a:ln/>
        </p:spPr>
      </p:sp>
      <p:sp>
        <p:nvSpPr>
          <p:cNvPr id="13" name="Text 11"/>
          <p:cNvSpPr/>
          <p:nvPr/>
        </p:nvSpPr>
        <p:spPr>
          <a:xfrm>
            <a:off x="6190488" y="1106424"/>
            <a:ext cx="5577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MARCHANDISES À SURVEILLER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217920" y="1463040"/>
            <a:ext cx="553212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(à compléter : flux en hausse, nouvelles marchandises…)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137160" y="3108960"/>
            <a:ext cx="5806440" cy="1874520"/>
          </a:xfrm>
          <a:prstGeom prst="rect">
            <a:avLst/>
          </a:prstGeom>
          <a:solidFill>
            <a:srgbClr val="F8F9FA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37160" y="3108960"/>
            <a:ext cx="5806440" cy="292608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17" name="Text 15"/>
          <p:cNvSpPr/>
          <p:nvPr/>
        </p:nvSpPr>
        <p:spPr>
          <a:xfrm>
            <a:off x="246888" y="3136392"/>
            <a:ext cx="5577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CLIENTS CIBLES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74320" y="3493008"/>
            <a:ext cx="553212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(à compléter : comptes à conquérir, AO en cours…)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080760" y="3108960"/>
            <a:ext cx="5806440" cy="1874520"/>
          </a:xfrm>
          <a:prstGeom prst="rect">
            <a:avLst/>
          </a:prstGeom>
          <a:solidFill>
            <a:srgbClr val="F8F9FA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080760" y="3108960"/>
            <a:ext cx="5806440" cy="292608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21" name="Text 19"/>
          <p:cNvSpPr/>
          <p:nvPr/>
        </p:nvSpPr>
        <p:spPr>
          <a:xfrm>
            <a:off x="6190488" y="3136392"/>
            <a:ext cx="5577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RECOMMANDATIONS DE POSITIONNEMENT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217920" y="3493008"/>
            <a:ext cx="553212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(à compléter : leviers commerciaux, contrats-cadres, tarification…)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137160" y="5212080"/>
            <a:ext cx="11795760" cy="1097280"/>
          </a:xfrm>
          <a:prstGeom prst="rect">
            <a:avLst/>
          </a:prstGeom>
          <a:solidFill>
            <a:srgbClr val="FFFBEC"/>
          </a:solidFill>
          <a:ln w="6350">
            <a:solidFill>
              <a:srgbClr val="E5C97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28600" y="5285232"/>
            <a:ext cx="11612880" cy="9875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🧭  SYNTHÈSE PRÉDICTIVE : croiser les hausses STATCOM mesurées, les signaux des newsletters et le pipeline AO pour prioriser les secteurs et comptes à fort potentiel sur l'horizon retenu.</a:t>
            </a:r>
            <a:endParaRPr lang="en-US" sz="9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2243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0" y="457200"/>
            <a:ext cx="54864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20000" dirty="0"/>
          </a:p>
        </p:txBody>
      </p:sp>
      <p:sp>
        <p:nvSpPr>
          <p:cNvPr id="4" name="Shape 2"/>
          <p:cNvSpPr/>
          <p:nvPr/>
        </p:nvSpPr>
        <p:spPr>
          <a:xfrm>
            <a:off x="1097280" y="3520440"/>
            <a:ext cx="7498080" cy="59436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2651760"/>
            <a:ext cx="11430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ACTIONS STRATÉGIQUES PRIORITAIRES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365760" y="3657600"/>
            <a:ext cx="11430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Synthèse transversale  |  6 axes  |  Horizon 12 mois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828800" y="649224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Africa Global Logistics – Étude de Marché Jan–Mai 2026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430000" y="6473952"/>
            <a:ext cx="640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AGL</a:t>
            </a:r>
            <a:endParaRPr lang="en-US" sz="10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D2243"/>
          </a:solidFill>
          <a:ln/>
        </p:spPr>
      </p:sp>
      <p:sp>
        <p:nvSpPr>
          <p:cNvPr id="3" name="Text 1"/>
          <p:cNvSpPr/>
          <p:nvPr/>
        </p:nvSpPr>
        <p:spPr>
          <a:xfrm>
            <a:off x="228600" y="45720"/>
            <a:ext cx="11887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SYNTHÈSE – PARTS DE MARCHÉ AGL PAR MÉTIER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82880" y="6583680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Africa Global Logistics – Étude de Marché Jan–Mai 2026  |  p.21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430000" y="653796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AGL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137160" y="1051560"/>
            <a:ext cx="11795760" cy="932688"/>
          </a:xfrm>
          <a:prstGeom prst="rect">
            <a:avLst/>
          </a:prstGeom>
          <a:solidFill>
            <a:srgbClr val="F0F4F8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161288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22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HINTERLAND EXPORT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74320" y="1527048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4 294 TEU  |  AGL : 2 840 TEU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108960" y="1307592"/>
            <a:ext cx="6858000" cy="347472"/>
          </a:xfrm>
          <a:prstGeom prst="rect">
            <a:avLst/>
          </a:prstGeom>
          <a:solidFill>
            <a:srgbClr val="D1D5DB"/>
          </a:solidFill>
          <a:ln/>
        </p:spPr>
      </p:sp>
      <p:sp>
        <p:nvSpPr>
          <p:cNvPr id="10" name="Shape 8"/>
          <p:cNvSpPr/>
          <p:nvPr/>
        </p:nvSpPr>
        <p:spPr>
          <a:xfrm>
            <a:off x="3108960" y="1307592"/>
            <a:ext cx="6858000" cy="347472"/>
          </a:xfrm>
          <a:prstGeom prst="rect">
            <a:avLst/>
          </a:prstGeom>
          <a:solidFill>
            <a:srgbClr val="1A7C4F"/>
          </a:solidFill>
          <a:ln/>
        </p:spPr>
      </p:sp>
      <p:sp>
        <p:nvSpPr>
          <p:cNvPr id="11" name="Text 9"/>
          <p:cNvSpPr/>
          <p:nvPr/>
        </p:nvSpPr>
        <p:spPr>
          <a:xfrm>
            <a:off x="10058400" y="1234440"/>
            <a:ext cx="10972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7C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66.1 %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10149840" y="1124712"/>
            <a:ext cx="1691640" cy="292608"/>
          </a:xfrm>
          <a:prstGeom prst="rect">
            <a:avLst/>
          </a:prstGeom>
          <a:solidFill>
            <a:srgbClr val="1A7C4F"/>
          </a:solidFill>
          <a:ln/>
        </p:spPr>
      </p:sp>
      <p:sp>
        <p:nvSpPr>
          <p:cNvPr id="13" name="Text 11"/>
          <p:cNvSpPr/>
          <p:nvPr/>
        </p:nvSpPr>
        <p:spPr>
          <a:xfrm>
            <a:off x="10149840" y="1124712"/>
            <a:ext cx="1691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LEADER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0149840" y="1490472"/>
            <a:ext cx="1691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7C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#1 ABSOLU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137160" y="2057400"/>
            <a:ext cx="11795760" cy="932688"/>
          </a:xfrm>
          <a:prstGeom prst="rect">
            <a:avLst/>
          </a:prstGeom>
          <a:solidFill>
            <a:srgbClr val="F0F4F8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74320" y="2167128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22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TRANSIT EXPORT MAR.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274320" y="2532888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137 283 TEU  |  AGL : 35 972 TEU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108960" y="2313432"/>
            <a:ext cx="6858000" cy="347472"/>
          </a:xfrm>
          <a:prstGeom prst="rect">
            <a:avLst/>
          </a:prstGeom>
          <a:solidFill>
            <a:srgbClr val="D1D5DB"/>
          </a:solidFill>
          <a:ln/>
        </p:spPr>
      </p:sp>
      <p:sp>
        <p:nvSpPr>
          <p:cNvPr id="19" name="Shape 17"/>
          <p:cNvSpPr/>
          <p:nvPr/>
        </p:nvSpPr>
        <p:spPr>
          <a:xfrm>
            <a:off x="3108960" y="2313432"/>
            <a:ext cx="2718300" cy="347472"/>
          </a:xfrm>
          <a:prstGeom prst="rect">
            <a:avLst/>
          </a:prstGeom>
          <a:solidFill>
            <a:srgbClr val="1A7C4F"/>
          </a:solidFill>
          <a:ln/>
        </p:spPr>
      </p:sp>
      <p:sp>
        <p:nvSpPr>
          <p:cNvPr id="20" name="Text 18"/>
          <p:cNvSpPr/>
          <p:nvPr/>
        </p:nvSpPr>
        <p:spPr>
          <a:xfrm>
            <a:off x="5918700" y="2240280"/>
            <a:ext cx="10972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7C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26.2 %</a:t>
            </a:r>
            <a:endParaRPr lang="en-US" sz="2000" dirty="0"/>
          </a:p>
        </p:txBody>
      </p:sp>
      <p:sp>
        <p:nvSpPr>
          <p:cNvPr id="21" name="Shape 19"/>
          <p:cNvSpPr/>
          <p:nvPr/>
        </p:nvSpPr>
        <p:spPr>
          <a:xfrm>
            <a:off x="10149840" y="2130552"/>
            <a:ext cx="1691640" cy="292608"/>
          </a:xfrm>
          <a:prstGeom prst="rect">
            <a:avLst/>
          </a:prstGeom>
          <a:solidFill>
            <a:srgbClr val="1A7C4F"/>
          </a:solidFill>
          <a:ln/>
        </p:spPr>
      </p:sp>
      <p:sp>
        <p:nvSpPr>
          <p:cNvPr id="22" name="Text 20"/>
          <p:cNvSpPr/>
          <p:nvPr/>
        </p:nvSpPr>
        <p:spPr>
          <a:xfrm>
            <a:off x="10149840" y="2130552"/>
            <a:ext cx="1691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DOMINANT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0149840" y="2496312"/>
            <a:ext cx="1691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7C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#1 – ×4,7 le 2ème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137160" y="3063240"/>
            <a:ext cx="11795760" cy="932688"/>
          </a:xfrm>
          <a:prstGeom prst="rect">
            <a:avLst/>
          </a:prstGeom>
          <a:solidFill>
            <a:srgbClr val="F0F4F8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74320" y="3172968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22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AÉRIEN IMPORT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274320" y="3538728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5 603 T  |  AGL : 1 166 T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3108960" y="3319272"/>
            <a:ext cx="6858000" cy="347472"/>
          </a:xfrm>
          <a:prstGeom prst="rect">
            <a:avLst/>
          </a:prstGeom>
          <a:solidFill>
            <a:srgbClr val="D1D5DB"/>
          </a:solidFill>
          <a:ln/>
        </p:spPr>
      </p:sp>
      <p:sp>
        <p:nvSpPr>
          <p:cNvPr id="28" name="Shape 26"/>
          <p:cNvSpPr/>
          <p:nvPr/>
        </p:nvSpPr>
        <p:spPr>
          <a:xfrm>
            <a:off x="3108960" y="3319272"/>
            <a:ext cx="2158039" cy="347472"/>
          </a:xfrm>
          <a:prstGeom prst="rect">
            <a:avLst/>
          </a:prstGeom>
          <a:solidFill>
            <a:srgbClr val="1A7C4F"/>
          </a:solidFill>
          <a:ln/>
        </p:spPr>
      </p:sp>
      <p:sp>
        <p:nvSpPr>
          <p:cNvPr id="29" name="Text 27"/>
          <p:cNvSpPr/>
          <p:nvPr/>
        </p:nvSpPr>
        <p:spPr>
          <a:xfrm>
            <a:off x="5358439" y="3246120"/>
            <a:ext cx="10972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7C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20.8 %</a:t>
            </a:r>
            <a:endParaRPr lang="en-US" sz="2000" dirty="0"/>
          </a:p>
        </p:txBody>
      </p:sp>
      <p:sp>
        <p:nvSpPr>
          <p:cNvPr id="30" name="Shape 28"/>
          <p:cNvSpPr/>
          <p:nvPr/>
        </p:nvSpPr>
        <p:spPr>
          <a:xfrm>
            <a:off x="10149840" y="3136392"/>
            <a:ext cx="1691640" cy="292608"/>
          </a:xfrm>
          <a:prstGeom prst="rect">
            <a:avLst/>
          </a:prstGeom>
          <a:solidFill>
            <a:srgbClr val="1A7C4F"/>
          </a:solidFill>
          <a:ln/>
        </p:spPr>
      </p:sp>
      <p:sp>
        <p:nvSpPr>
          <p:cNvPr id="31" name="Text 29"/>
          <p:cNvSpPr/>
          <p:nvPr/>
        </p:nvSpPr>
        <p:spPr>
          <a:xfrm>
            <a:off x="10149840" y="3136392"/>
            <a:ext cx="1691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HAUSSE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0149840" y="3502152"/>
            <a:ext cx="1691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7C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#1 ABSOLU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137160" y="4069080"/>
            <a:ext cx="11795760" cy="932688"/>
          </a:xfrm>
          <a:prstGeom prst="rect">
            <a:avLst/>
          </a:prstGeom>
          <a:solidFill>
            <a:srgbClr val="F0F4F8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74320" y="4178808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22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HINTERLAND IMPORT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274320" y="4544568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28 457 TEU  |  AGL : 3 214 TEU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3108960" y="4325112"/>
            <a:ext cx="6858000" cy="347472"/>
          </a:xfrm>
          <a:prstGeom prst="rect">
            <a:avLst/>
          </a:prstGeom>
          <a:solidFill>
            <a:srgbClr val="D1D5DB"/>
          </a:solidFill>
          <a:ln/>
        </p:spPr>
      </p:sp>
      <p:sp>
        <p:nvSpPr>
          <p:cNvPr id="37" name="Shape 35"/>
          <p:cNvSpPr/>
          <p:nvPr/>
        </p:nvSpPr>
        <p:spPr>
          <a:xfrm>
            <a:off x="3108960" y="4325112"/>
            <a:ext cx="1172396" cy="347472"/>
          </a:xfrm>
          <a:prstGeom prst="rect">
            <a:avLst/>
          </a:prstGeom>
          <a:solidFill>
            <a:srgbClr val="E05A00"/>
          </a:solidFill>
          <a:ln/>
        </p:spPr>
      </p:sp>
      <p:sp>
        <p:nvSpPr>
          <p:cNvPr id="38" name="Text 36"/>
          <p:cNvSpPr/>
          <p:nvPr/>
        </p:nvSpPr>
        <p:spPr>
          <a:xfrm>
            <a:off x="4372796" y="4251960"/>
            <a:ext cx="10972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0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11.3 %</a:t>
            </a:r>
            <a:endParaRPr lang="en-US" sz="2000" dirty="0"/>
          </a:p>
        </p:txBody>
      </p:sp>
      <p:sp>
        <p:nvSpPr>
          <p:cNvPr id="39" name="Shape 37"/>
          <p:cNvSpPr/>
          <p:nvPr/>
        </p:nvSpPr>
        <p:spPr>
          <a:xfrm>
            <a:off x="10149840" y="4142232"/>
            <a:ext cx="1691640" cy="292608"/>
          </a:xfrm>
          <a:prstGeom prst="rect">
            <a:avLst/>
          </a:prstGeom>
          <a:solidFill>
            <a:srgbClr val="E05A00"/>
          </a:solidFill>
          <a:ln/>
        </p:spPr>
      </p:sp>
      <p:sp>
        <p:nvSpPr>
          <p:cNvPr id="40" name="Text 38"/>
          <p:cNvSpPr/>
          <p:nvPr/>
        </p:nvSpPr>
        <p:spPr>
          <a:xfrm>
            <a:off x="10149840" y="4142232"/>
            <a:ext cx="1691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RENFORCER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10149840" y="4507992"/>
            <a:ext cx="1691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0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#3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137160" y="5074920"/>
            <a:ext cx="11795760" cy="932688"/>
          </a:xfrm>
          <a:prstGeom prst="rect">
            <a:avLst/>
          </a:prstGeom>
          <a:solidFill>
            <a:srgbClr val="F0F4F8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74320" y="5184648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22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TRANSIT IMPORT MAR.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274320" y="5550408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193 989 TEU  |  AGL : 15 133 TEU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3108960" y="5330952"/>
            <a:ext cx="6858000" cy="347472"/>
          </a:xfrm>
          <a:prstGeom prst="rect">
            <a:avLst/>
          </a:prstGeom>
          <a:solidFill>
            <a:srgbClr val="D1D5DB"/>
          </a:solidFill>
          <a:ln/>
        </p:spPr>
      </p:sp>
      <p:sp>
        <p:nvSpPr>
          <p:cNvPr id="46" name="Shape 44"/>
          <p:cNvSpPr/>
          <p:nvPr/>
        </p:nvSpPr>
        <p:spPr>
          <a:xfrm>
            <a:off x="3108960" y="5330952"/>
            <a:ext cx="809265" cy="347472"/>
          </a:xfrm>
          <a:prstGeom prst="rect">
            <a:avLst/>
          </a:prstGeom>
          <a:solidFill>
            <a:srgbClr val="E05A00"/>
          </a:solidFill>
          <a:ln/>
        </p:spPr>
      </p:sp>
      <p:sp>
        <p:nvSpPr>
          <p:cNvPr id="47" name="Text 45"/>
          <p:cNvSpPr/>
          <p:nvPr/>
        </p:nvSpPr>
        <p:spPr>
          <a:xfrm>
            <a:off x="4009665" y="5257800"/>
            <a:ext cx="10972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0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7.8 %</a:t>
            </a:r>
            <a:endParaRPr lang="en-US" sz="2000" dirty="0"/>
          </a:p>
        </p:txBody>
      </p:sp>
      <p:sp>
        <p:nvSpPr>
          <p:cNvPr id="48" name="Shape 46"/>
          <p:cNvSpPr/>
          <p:nvPr/>
        </p:nvSpPr>
        <p:spPr>
          <a:xfrm>
            <a:off x="10149840" y="5148072"/>
            <a:ext cx="1691640" cy="292608"/>
          </a:xfrm>
          <a:prstGeom prst="rect">
            <a:avLst/>
          </a:prstGeom>
          <a:solidFill>
            <a:srgbClr val="E05A00"/>
          </a:solidFill>
          <a:ln/>
        </p:spPr>
      </p:sp>
      <p:sp>
        <p:nvSpPr>
          <p:cNvPr id="49" name="Text 47"/>
          <p:cNvSpPr/>
          <p:nvPr/>
        </p:nvSpPr>
        <p:spPr>
          <a:xfrm>
            <a:off x="10149840" y="5148072"/>
            <a:ext cx="1691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SOUS PRESSION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10149840" y="5513832"/>
            <a:ext cx="1691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0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#1 FRAGILE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137160" y="6144768"/>
            <a:ext cx="11795760" cy="292608"/>
          </a:xfrm>
          <a:prstGeom prst="rect">
            <a:avLst/>
          </a:prstGeom>
          <a:solidFill>
            <a:srgbClr val="0D2243"/>
          </a:solidFill>
          <a:ln/>
        </p:spPr>
      </p:sp>
      <p:sp>
        <p:nvSpPr>
          <p:cNvPr id="52" name="Text 50"/>
          <p:cNvSpPr/>
          <p:nvPr/>
        </p:nvSpPr>
        <p:spPr>
          <a:xfrm>
            <a:off x="228600" y="6144768"/>
            <a:ext cx="11612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métiers sur 5 en position #1  |  TIM leader fragile (+558 TEU)  |  Hint.Imp. seul segment à conquérir (#3)  |  Aérien : montée en puissance historique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39</Slides>
  <Notes>39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39</vt:i4>
      </vt:variant>
    </vt:vector>
  </HeadingPairs>
  <TitlesOfParts>
    <vt:vector size="4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2026-06-22T10:57:47Z</dcterms:created>
  <dcterms:modified xsi:type="dcterms:W3CDTF">2026-06-22T10:57:47Z</dcterms:modified>
</cp:coreProperties>
</file>