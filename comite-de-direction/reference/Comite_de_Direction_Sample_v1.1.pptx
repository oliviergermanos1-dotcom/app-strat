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7.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8.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qualifié</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41800</c:v>
                </c:pt>
                <c:pt idx="1">
                  <c:v>36800</c:v>
                </c:pt>
                <c:pt idx="2">
                  <c:v>43600</c:v>
                </c:pt>
                <c:pt idx="3">
                  <c:v>38500</c:v>
                </c:pt>
                <c:pt idx="4">
                  <c:v>33200</c:v>
                </c:pt>
              </c:numCache>
            </c:numRef>
          </c:val>
        </c:ser>
        <c:ser>
          <c:idx val="1"/>
          <c:order val="1"/>
          <c:tx>
            <c:strRef>
              <c:f>Sheet1!$C$1</c:f>
              <c:strCache>
                <c:ptCount val="1"/>
                <c:pt idx="0">
                  <c:v>AGL</c:v>
                </c:pt>
              </c:strCache>
            </c:strRef>
          </c:tx>
          <c:spPr>
            <a:solidFill>
              <a:srgbClr val="C9A84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3470</c:v>
                </c:pt>
                <c:pt idx="1">
                  <c:v>2544</c:v>
                </c:pt>
                <c:pt idx="2">
                  <c:v>3270</c:v>
                </c:pt>
                <c:pt idx="3">
                  <c:v>3278</c:v>
                </c:pt>
                <c:pt idx="4">
                  <c:v>2571</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rgbClr val="0D2243"/>
              </a:solidFill>
              <a:effectLst/>
            </c:spPr>
          </c:dPt>
          <c:dPt>
            <c:idx val="1"/>
            <c:bubble3D val="0"/>
            <c:spPr>
              <a:solidFill>
                <a:srgbClr val="C9A84C"/>
              </a:solidFill>
              <a:effectLst/>
            </c:spPr>
          </c:dPt>
          <c:dPt>
            <c:idx val="2"/>
            <c:bubble3D val="0"/>
            <c:spPr>
              <a:solidFill>
                <a:srgbClr val="2563A8"/>
              </a:solidFill>
              <a:effectLst/>
            </c:spPr>
          </c:dPt>
          <c:dPt>
            <c:idx val="3"/>
            <c:bubble3D val="0"/>
            <c:spPr>
              <a:solidFill>
                <a:srgbClr val="1A7C4F"/>
              </a:solidFill>
              <a:effectLst/>
            </c:spPr>
          </c:dPt>
          <c:dPt>
            <c:idx val="4"/>
            <c:bubble3D val="0"/>
            <c:spPr>
              <a:solidFill>
                <a:srgbClr val="E05A00"/>
              </a:solidFill>
              <a:effectLst/>
            </c:spPr>
          </c:dPt>
          <c:dPt>
            <c:idx val="5"/>
            <c:bubble3D val="0"/>
            <c:spPr>
              <a:solidFill>
                <a:srgbClr val="0E7490"/>
              </a:solidFill>
              <a:effectLst/>
            </c:spPr>
          </c:dPt>
          <c:dPt>
            <c:idx val="6"/>
            <c:bubble3D val="0"/>
            <c:spPr>
              <a:solidFill>
                <a:srgbClr val="CC2200"/>
              </a:solidFill>
              <a:effectLst/>
            </c:spPr>
          </c:dPt>
          <c:dPt>
            <c:idx val="7"/>
            <c:bubble3D val="0"/>
            <c:spPr>
              <a:solidFill>
                <a:srgbClr val="9CA3AF"/>
              </a:solidFill>
              <a:effectLst/>
            </c:spPr>
          </c:dPt>
          <c:dPt>
            <c:idx val="8"/>
            <c:bubble3D val="0"/>
            <c:spPr>
              <a:solidFill>
                <a:srgbClr val="D1D5DB"/>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6"/>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7"/>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8"/>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Sheet1!$A$2:$A$10</c:f>
              <c:strCache>
                <c:ptCount val="9"/>
                <c:pt idx="0">
                  <c:v>Mat. Miniers</c:v>
                </c:pt>
                <c:pt idx="1">
                  <c:v>Emballages</c:v>
                </c:pt>
                <c:pt idx="2">
                  <c:v>Mat. Construction</c:v>
                </c:pt>
                <c:pt idx="3">
                  <c:v>Médicaments</c:v>
                </c:pt>
                <c:pt idx="4">
                  <c:v>PVC Résine</c:v>
                </c:pt>
                <c:pt idx="5">
                  <c:v>Papier</c:v>
                </c:pt>
                <c:pt idx="6">
                  <c:v>Cigarettes</c:v>
                </c:pt>
                <c:pt idx="7">
                  <c:v>Polyéthylène</c:v>
                </c:pt>
                <c:pt idx="8">
                  <c:v>Autres</c:v>
                </c:pt>
              </c:strCache>
            </c:strRef>
          </c:cat>
          <c:val>
            <c:numRef>
              <c:f>Sheet1!$B$2:$B$10</c:f>
              <c:numCache>
                <c:ptCount val="9"/>
                <c:pt idx="0">
                  <c:v>16</c:v>
                </c:pt>
                <c:pt idx="1">
                  <c:v>10</c:v>
                </c:pt>
                <c:pt idx="2">
                  <c:v>10</c:v>
                </c:pt>
                <c:pt idx="3">
                  <c:v>10</c:v>
                </c:pt>
                <c:pt idx="4">
                  <c:v>9</c:v>
                </c:pt>
                <c:pt idx="5">
                  <c:v>8</c:v>
                </c:pt>
                <c:pt idx="6">
                  <c:v>7</c:v>
                </c:pt>
                <c:pt idx="7">
                  <c:v>6</c:v>
                </c:pt>
                <c:pt idx="8">
                  <c:v>24</c:v>
                </c:pt>
              </c:numCache>
            </c:numRef>
          </c:val>
        </c:ser>
        <c:firstSliceAng val="0"/>
      </c:pieChart>
      <c:spPr>
        <a:noFill/>
        <a:ln>
          <a:noFill/>
        </a:ln>
        <a:effectLst/>
      </c:spPr>
    </c:plotArea>
    <c:legend>
      <c:legendPos val="r"/>
      <c:overlay val="0"/>
      <c:txPr>
        <a:bodyPr/>
        <a:lstStyle/>
        <a:p>
          <a:pPr>
            <a:defRPr sz="8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qualifié</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28900</c:v>
                </c:pt>
                <c:pt idx="1">
                  <c:v>26900</c:v>
                </c:pt>
                <c:pt idx="2">
                  <c:v>28100</c:v>
                </c:pt>
                <c:pt idx="3">
                  <c:v>31200</c:v>
                </c:pt>
                <c:pt idx="4">
                  <c:v>22400</c:v>
                </c:pt>
              </c:numCache>
            </c:numRef>
          </c:val>
        </c:ser>
        <c:ser>
          <c:idx val="1"/>
          <c:order val="1"/>
          <c:tx>
            <c:strRef>
              <c:f>Sheet1!$C$1</c:f>
              <c:strCache>
                <c:ptCount val="1"/>
                <c:pt idx="0">
                  <c:v>AGL</c:v>
                </c:pt>
              </c:strCache>
            </c:strRef>
          </c:tx>
          <c:spPr>
            <a:solidFill>
              <a:srgbClr val="C9A84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8766</c:v>
                </c:pt>
                <c:pt idx="1">
                  <c:v>6778</c:v>
                </c:pt>
                <c:pt idx="2">
                  <c:v>8093</c:v>
                </c:pt>
                <c:pt idx="3">
                  <c:v>7895</c:v>
                </c:pt>
                <c:pt idx="4">
                  <c:v>4518</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Filières TEM</c:v>
                </c:pt>
              </c:strCache>
            </c:strRef>
          </c:tx>
          <c:spPr>
            <a:solidFill>
              <a:schemeClr val="accent1"/>
            </a:solidFill>
            <a:ln w="9525" cap="flat">
              <a:solidFill>
                <a:srgbClr val="F9F9F9"/>
              </a:solidFill>
              <a:prstDash val="solid"/>
              <a:round/>
            </a:ln>
            <a:effectLst/>
          </c:spPr>
          <c:dPt>
            <c:idx val="0"/>
            <c:bubble3D val="0"/>
            <c:spPr>
              <a:solidFill>
                <a:srgbClr val="0D2243"/>
              </a:solidFill>
              <a:effectLst/>
            </c:spPr>
          </c:dPt>
          <c:dPt>
            <c:idx val="1"/>
            <c:bubble3D val="0"/>
            <c:spPr>
              <a:solidFill>
                <a:srgbClr val="1A7C4F"/>
              </a:solidFill>
              <a:effectLst/>
            </c:spPr>
          </c:dPt>
          <c:dPt>
            <c:idx val="2"/>
            <c:bubble3D val="0"/>
            <c:spPr>
              <a:solidFill>
                <a:srgbClr val="C9A84C"/>
              </a:solidFill>
              <a:effectLst/>
            </c:spPr>
          </c:dPt>
          <c:dPt>
            <c:idx val="3"/>
            <c:bubble3D val="0"/>
            <c:spPr>
              <a:solidFill>
                <a:srgbClr val="E05A00"/>
              </a:solidFill>
              <a:effectLst/>
            </c:spPr>
          </c:dPt>
          <c:dPt>
            <c:idx val="4"/>
            <c:bubble3D val="0"/>
            <c:spPr>
              <a:solidFill>
                <a:srgbClr val="2563A8"/>
              </a:solidFill>
              <a:effectLst/>
            </c:spPr>
          </c:dPt>
          <c:dPt>
            <c:idx val="5"/>
            <c:bubble3D val="0"/>
            <c:spPr>
              <a:solidFill>
                <a:srgbClr val="0E7490"/>
              </a:solidFill>
              <a:effectLst/>
            </c:spPr>
          </c:dPt>
          <c:dPt>
            <c:idx val="6"/>
            <c:bubble3D val="0"/>
            <c:spPr>
              <a:solidFill>
                <a:srgbClr val="6B7280"/>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6"/>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Sheet1!$A$2:$A$8</c:f>
              <c:strCache>
                <c:ptCount val="7"/>
                <c:pt idx="0">
                  <c:v>Cacao</c:v>
                </c:pt>
                <c:pt idx="1">
                  <c:v>Bananes</c:v>
                </c:pt>
                <c:pt idx="2">
                  <c:v>Caoutchouc</c:v>
                </c:pt>
                <c:pt idx="3">
                  <c:v>Dérivés cacao</c:v>
                </c:pt>
                <c:pt idx="4">
                  <c:v>Coton</c:v>
                </c:pt>
                <c:pt idx="5">
                  <c:v>Cajou</c:v>
                </c:pt>
                <c:pt idx="6">
                  <c:v>Autres</c:v>
                </c:pt>
              </c:strCache>
            </c:strRef>
          </c:cat>
          <c:val>
            <c:numRef>
              <c:f>Sheet1!$B$2:$B$8</c:f>
              <c:numCache>
                <c:ptCount val="7"/>
                <c:pt idx="0">
                  <c:v>36</c:v>
                </c:pt>
                <c:pt idx="1">
                  <c:v>20</c:v>
                </c:pt>
                <c:pt idx="2">
                  <c:v>18</c:v>
                </c:pt>
                <c:pt idx="3">
                  <c:v>13</c:v>
                </c:pt>
                <c:pt idx="4">
                  <c:v>8</c:v>
                </c:pt>
                <c:pt idx="5">
                  <c:v>3</c:v>
                </c:pt>
                <c:pt idx="6">
                  <c:v>2</c:v>
                </c:pt>
              </c:numCache>
            </c:numRef>
          </c:val>
        </c:ser>
        <c:firstSliceAng val="0"/>
      </c:pieChart>
      <c:spPr>
        <a:noFill/>
        <a:ln>
          <a:noFill/>
        </a:ln>
        <a:effectLst/>
      </c:spPr>
    </c:plotArea>
    <c:legend>
      <c:legendPos val="r"/>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qualifié</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5400</c:v>
                </c:pt>
                <c:pt idx="1">
                  <c:v>5800</c:v>
                </c:pt>
                <c:pt idx="2">
                  <c:v>5600</c:v>
                </c:pt>
                <c:pt idx="3">
                  <c:v>6100</c:v>
                </c:pt>
                <c:pt idx="4">
                  <c:v>5550</c:v>
                </c:pt>
              </c:numCache>
            </c:numRef>
          </c:val>
        </c:ser>
        <c:ser>
          <c:idx val="1"/>
          <c:order val="1"/>
          <c:tx>
            <c:strRef>
              <c:f>Sheet1!$C$1</c:f>
              <c:strCache>
                <c:ptCount val="1"/>
                <c:pt idx="0">
                  <c:v>AGL</c:v>
                </c:pt>
              </c:strCache>
            </c:strRef>
          </c:tx>
          <c:spPr>
            <a:solidFill>
              <a:srgbClr val="E05A00"/>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886</c:v>
                </c:pt>
                <c:pt idx="1">
                  <c:v>598</c:v>
                </c:pt>
                <c:pt idx="2">
                  <c:v>431</c:v>
                </c:pt>
                <c:pt idx="3">
                  <c:v>652</c:v>
                </c:pt>
                <c:pt idx="4">
                  <c:v>647</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total</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870</c:v>
                </c:pt>
                <c:pt idx="1">
                  <c:v>950</c:v>
                </c:pt>
                <c:pt idx="2">
                  <c:v>900</c:v>
                </c:pt>
                <c:pt idx="3">
                  <c:v>820</c:v>
                </c:pt>
                <c:pt idx="4">
                  <c:v>754</c:v>
                </c:pt>
              </c:numCache>
            </c:numRef>
          </c:val>
        </c:ser>
        <c:ser>
          <c:idx val="1"/>
          <c:order val="1"/>
          <c:tx>
            <c:strRef>
              <c:f>Sheet1!$C$1</c:f>
              <c:strCache>
                <c:ptCount val="1"/>
                <c:pt idx="0">
                  <c:v>AGL</c:v>
                </c:pt>
              </c:strCache>
            </c:strRef>
          </c:tx>
          <c:spPr>
            <a:solidFill>
              <a:srgbClr val="1A7C4F"/>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441</c:v>
                </c:pt>
                <c:pt idx="1">
                  <c:v>693</c:v>
                </c:pt>
                <c:pt idx="2">
                  <c:v>647</c:v>
                </c:pt>
                <c:pt idx="3">
                  <c:v>559</c:v>
                </c:pt>
                <c:pt idx="4">
                  <c:v>500</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 2025 (kg)</c:v>
                </c:pt>
              </c:strCache>
            </c:strRef>
          </c:tx>
          <c:spPr>
            <a:solidFill>
              <a:srgbClr val="0D2243"/>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Sheet1!$B$2:$B$6</c:f>
              <c:numCache>
                <c:formatCode>General</c:formatCode>
                <c:ptCount val="5"/>
                <c:pt idx="0">
                  <c:v>1180000</c:v>
                </c:pt>
                <c:pt idx="1">
                  <c:v>1020000</c:v>
                </c:pt>
                <c:pt idx="2">
                  <c:v>1100000</c:v>
                </c:pt>
                <c:pt idx="3">
                  <c:v>1150000</c:v>
                </c:pt>
                <c:pt idx="4">
                  <c:v>1071000</c:v>
                </c:pt>
              </c:numCache>
            </c:numRef>
          </c:val>
        </c:ser>
        <c:ser>
          <c:idx val="1"/>
          <c:order val="1"/>
          <c:tx>
            <c:strRef>
              <c:f>Sheet1!$C$1</c:f>
              <c:strCache>
                <c:ptCount val="1"/>
                <c:pt idx="0">
                  <c:v>Marché 2026 (kg)</c:v>
                </c:pt>
              </c:strCache>
            </c:strRef>
          </c:tx>
          <c:spPr>
            <a:solidFill>
              <a:srgbClr val="C9A84C"/>
            </a:solidFill>
            <a:effectLst/>
          </c:spPr>
          <c:invertIfNegative val="0"/>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Janv.</c:v>
                  </c:pt>
                  <c:pt idx="1">
                    <c:v>Févr.</c:v>
                  </c:pt>
                  <c:pt idx="2">
                    <c:v>Mars</c:v>
                  </c:pt>
                  <c:pt idx="3">
                    <c:v>Avr.</c:v>
                  </c:pt>
                  <c:pt idx="4">
                    <c:v>Mai</c:v>
                  </c:pt>
                </c:lvl>
              </c:multiLvlStrCache>
            </c:multiLvlStrRef>
          </c:cat>
          <c:val>
            <c:numRef>
              <c:f>Sheet1!$C$2:$C$6</c:f>
              <c:numCache>
                <c:formatCode>General</c:formatCode>
                <c:ptCount val="5"/>
                <c:pt idx="0">
                  <c:v>1220000</c:v>
                </c:pt>
                <c:pt idx="1">
                  <c:v>1050000</c:v>
                </c:pt>
                <c:pt idx="2">
                  <c:v>1130000</c:v>
                </c:pt>
                <c:pt idx="3">
                  <c:v>1050000</c:v>
                </c:pt>
                <c:pt idx="4">
                  <c:v>1153000</c:v>
                </c:pt>
              </c:numCache>
            </c:numRef>
          </c:val>
        </c:ser>
        <c:dLbls>
          <c:numFmt formatCode="#,##0" sourceLinked="0"/>
          <c:txPr>
            <a:bodyPr/>
            <a:lstStyle/>
            <a:p>
              <a:pPr>
                <a:defRPr b="0" i="0" strike="noStrike" sz="7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Mix Aérien</c:v>
                </c:pt>
              </c:strCache>
            </c:strRef>
          </c:tx>
          <c:spPr>
            <a:solidFill>
              <a:schemeClr val="accent1"/>
            </a:solidFill>
            <a:ln w="9525" cap="flat">
              <a:solidFill>
                <a:srgbClr val="F9F9F9"/>
              </a:solidFill>
              <a:prstDash val="solid"/>
              <a:round/>
            </a:ln>
            <a:effectLst/>
          </c:spPr>
          <c:dPt>
            <c:idx val="0"/>
            <c:bubble3D val="0"/>
            <c:spPr>
              <a:solidFill>
                <a:srgbClr val="0D2243"/>
              </a:solidFill>
              <a:effectLst/>
            </c:spPr>
          </c:dPt>
          <c:dPt>
            <c:idx val="1"/>
            <c:bubble3D val="0"/>
            <c:spPr>
              <a:solidFill>
                <a:srgbClr val="1A7C4F"/>
              </a:solidFill>
              <a:effectLst/>
            </c:spPr>
          </c:dPt>
          <c:dPt>
            <c:idx val="2"/>
            <c:bubble3D val="0"/>
            <c:spPr>
              <a:solidFill>
                <a:srgbClr val="C9A84C"/>
              </a:solidFill>
              <a:effectLst/>
            </c:spPr>
          </c:dPt>
          <c:dPt>
            <c:idx val="3"/>
            <c:bubble3D val="0"/>
            <c:spPr>
              <a:solidFill>
                <a:srgbClr val="E05A00"/>
              </a:solidFill>
              <a:effectLst/>
            </c:spPr>
          </c:dPt>
          <c:dPt>
            <c:idx val="4"/>
            <c:bubble3D val="0"/>
            <c:spPr>
              <a:solidFill>
                <a:srgbClr val="0E7490"/>
              </a:solidFill>
              <a:effectLst/>
            </c:spPr>
          </c:dPt>
          <c:dPt>
            <c:idx val="5"/>
            <c:bubble3D val="0"/>
            <c:spPr>
              <a:solidFill>
                <a:srgbClr val="6B7280"/>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Sheet1!$A$2:$A$7</c:f>
              <c:strCache>
                <c:ptCount val="6"/>
                <c:pt idx="0">
                  <c:v>Mat. Miniers</c:v>
                </c:pt>
                <c:pt idx="1">
                  <c:v>Prod. Alimentaires</c:v>
                </c:pt>
                <c:pt idx="2">
                  <c:v>Médicaments</c:v>
                </c:pt>
                <c:pt idx="3">
                  <c:v>Télécoms</c:v>
                </c:pt>
                <c:pt idx="4">
                  <c:v>Alimentaire</c:v>
                </c:pt>
                <c:pt idx="5">
                  <c:v>Autres</c:v>
                </c:pt>
              </c:strCache>
            </c:strRef>
          </c:cat>
          <c:val>
            <c:numRef>
              <c:f>Sheet1!$B$2:$B$7</c:f>
              <c:numCache>
                <c:ptCount val="6"/>
                <c:pt idx="0">
                  <c:v>27</c:v>
                </c:pt>
                <c:pt idx="1">
                  <c:v>23</c:v>
                </c:pt>
                <c:pt idx="2">
                  <c:v>5</c:v>
                </c:pt>
                <c:pt idx="3">
                  <c:v>6</c:v>
                </c:pt>
                <c:pt idx="4">
                  <c:v>3</c:v>
                </c:pt>
                <c:pt idx="5">
                  <c:v>36</c:v>
                </c:pt>
              </c:numCache>
            </c:numRef>
          </c:val>
        </c:ser>
        <c:firstSliceAng val="0"/>
      </c:pieChart>
      <c:spPr>
        <a:noFill/>
        <a:ln>
          <a:noFill/>
        </a:ln>
        <a:effectLst/>
      </c:spPr>
    </c:plotArea>
    <c:legend>
      <c:legendPos val="r"/>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Shape 1"/>
          <p:cNvSpPr/>
          <p:nvPr/>
        </p:nvSpPr>
        <p:spPr>
          <a:xfrm>
            <a:off x="320040" y="3246120"/>
            <a:ext cx="7772400" cy="54864"/>
          </a:xfrm>
          <a:prstGeom prst="rect">
            <a:avLst/>
          </a:prstGeom>
          <a:solidFill>
            <a:srgbClr val="C9A84C"/>
          </a:solidFill>
          <a:ln/>
        </p:spPr>
      </p:sp>
      <p:sp>
        <p:nvSpPr>
          <p:cNvPr id="4" name="Text 2"/>
          <p:cNvSpPr/>
          <p:nvPr/>
        </p:nvSpPr>
        <p:spPr>
          <a:xfrm>
            <a:off x="320040" y="274320"/>
            <a:ext cx="1828800" cy="54864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AGL</a:t>
            </a:r>
            <a:endParaRPr lang="en-US" sz="3600" dirty="0"/>
          </a:p>
        </p:txBody>
      </p:sp>
      <p:sp>
        <p:nvSpPr>
          <p:cNvPr id="5" name="Text 3"/>
          <p:cNvSpPr/>
          <p:nvPr/>
        </p:nvSpPr>
        <p:spPr>
          <a:xfrm>
            <a:off x="320040" y="804672"/>
            <a:ext cx="3657600" cy="228600"/>
          </a:xfrm>
          <a:prstGeom prst="rect">
            <a:avLst/>
          </a:prstGeom>
          <a:noFill/>
          <a:ln/>
        </p:spPr>
        <p:txBody>
          <a:bodyPr wrap="square" rtlCol="0" anchor="ctr"/>
          <a:lstStyle/>
          <a:p>
            <a:pPr indent="0" marL="0">
              <a:buNone/>
            </a:pPr>
            <a:r>
              <a:rPr lang="en-US" sz="800" spc="100" kern="0" dirty="0">
                <a:solidFill>
                  <a:srgbClr val="FFFFFF"/>
                </a:solidFill>
                <a:latin typeface="Calibri" pitchFamily="34" charset="0"/>
                <a:ea typeface="Calibri" pitchFamily="34" charset="-122"/>
                <a:cs typeface="Calibri" pitchFamily="34" charset="-120"/>
              </a:rPr>
              <a:t>AFRICA GLOBAL LOGISTICS</a:t>
            </a:r>
            <a:endParaRPr lang="en-US" sz="800" dirty="0"/>
          </a:p>
        </p:txBody>
      </p:sp>
      <p:sp>
        <p:nvSpPr>
          <p:cNvPr id="6" name="Text 4"/>
          <p:cNvSpPr/>
          <p:nvPr/>
        </p:nvSpPr>
        <p:spPr>
          <a:xfrm>
            <a:off x="320040" y="1371600"/>
            <a:ext cx="7315200" cy="164592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Revue Stratégique &amp;</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Marketing</a:t>
            </a:r>
            <a:endParaRPr lang="en-US" sz="4400" dirty="0"/>
          </a:p>
        </p:txBody>
      </p:sp>
      <p:sp>
        <p:nvSpPr>
          <p:cNvPr id="7" name="Text 5"/>
          <p:cNvSpPr/>
          <p:nvPr/>
        </p:nvSpPr>
        <p:spPr>
          <a:xfrm>
            <a:off x="320040" y="3429000"/>
            <a:ext cx="5486400" cy="594360"/>
          </a:xfrm>
          <a:prstGeom prst="rect">
            <a:avLst/>
          </a:prstGeom>
          <a:noFill/>
          <a:ln/>
        </p:spPr>
        <p:txBody>
          <a:bodyPr wrap="square" rtlCol="0" anchor="ctr"/>
          <a:lstStyle/>
          <a:p>
            <a:pPr indent="0" marL="0">
              <a:buNone/>
            </a:pPr>
            <a:r>
              <a:rPr lang="en-US" sz="2400" b="1" dirty="0">
                <a:solidFill>
                  <a:srgbClr val="C9A84C"/>
                </a:solidFill>
                <a:latin typeface="Calibri" pitchFamily="34" charset="0"/>
                <a:ea typeface="Calibri" pitchFamily="34" charset="-122"/>
                <a:cs typeface="Calibri" pitchFamily="34" charset="-120"/>
              </a:rPr>
              <a:t>Reporting 2026</a:t>
            </a:r>
            <a:endParaRPr lang="en-US" sz="2400" dirty="0"/>
          </a:p>
        </p:txBody>
      </p:sp>
      <p:sp>
        <p:nvSpPr>
          <p:cNvPr id="8" name="Text 6"/>
          <p:cNvSpPr/>
          <p:nvPr/>
        </p:nvSpPr>
        <p:spPr>
          <a:xfrm>
            <a:off x="320040" y="4251960"/>
            <a:ext cx="4114800" cy="10972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At the heart</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of Africa's</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transformation</a:t>
            </a:r>
            <a:endParaRPr lang="en-US" sz="1600" dirty="0"/>
          </a:p>
        </p:txBody>
      </p:sp>
      <p:sp>
        <p:nvSpPr>
          <p:cNvPr id="9" name="Text 7"/>
          <p:cNvSpPr/>
          <p:nvPr/>
        </p:nvSpPr>
        <p:spPr>
          <a:xfrm>
            <a:off x="2743200" y="6537960"/>
            <a:ext cx="6400800" cy="256032"/>
          </a:xfrm>
          <a:prstGeom prst="rect">
            <a:avLst/>
          </a:prstGeom>
          <a:noFill/>
          <a:ln/>
        </p:spPr>
        <p:txBody>
          <a:bodyPr wrap="square" rtlCol="0" anchor="ctr"/>
          <a:lstStyle/>
          <a:p>
            <a:pPr algn="ctr" indent="0" marL="0">
              <a:buNone/>
            </a:pPr>
            <a:r>
              <a:rPr lang="en-US" sz="950" dirty="0">
                <a:solidFill>
                  <a:srgbClr val="6B7280"/>
                </a:solidFill>
                <a:latin typeface="Calibri" pitchFamily="34" charset="0"/>
                <a:ea typeface="Calibri" pitchFamily="34" charset="-122"/>
                <a:cs typeface="Calibri" pitchFamily="34" charset="-120"/>
              </a:rPr>
              <a:t>Direction Marketing &amp; RP  |  AGL Abidjan  |  Juin 2026</a:t>
            </a:r>
            <a:endParaRPr lang="en-US" sz="950" dirty="0"/>
          </a:p>
        </p:txBody>
      </p:sp>
      <p:sp>
        <p:nvSpPr>
          <p:cNvPr id="10" name="Text 8"/>
          <p:cNvSpPr/>
          <p:nvPr/>
        </p:nvSpPr>
        <p:spPr>
          <a:xfrm>
            <a:off x="10972800" y="6492240"/>
            <a:ext cx="1097280" cy="320040"/>
          </a:xfrm>
          <a:prstGeom prst="rect">
            <a:avLst/>
          </a:prstGeom>
          <a:noFill/>
          <a:ln/>
        </p:spPr>
        <p:txBody>
          <a:bodyPr wrap="square" rtlCol="0" anchor="ctr"/>
          <a:lstStyle/>
          <a:p>
            <a:pPr algn="r" indent="0" marL="0">
              <a:buNone/>
            </a:pPr>
            <a:r>
              <a:rPr lang="en-US" sz="1800" b="1" dirty="0">
                <a:solidFill>
                  <a:srgbClr val="FFFFFF"/>
                </a:solidFill>
                <a:latin typeface="Calibri" pitchFamily="34" charset="0"/>
                <a:ea typeface="Calibri" pitchFamily="34" charset="-122"/>
                <a:cs typeface="Calibri" pitchFamily="34" charset="-120"/>
              </a:rPr>
              <a:t>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SOMMAIRE</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Analyse par métier – 5 segments + synthèse stratégique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p.2</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82880" y="1143000"/>
            <a:ext cx="3840480" cy="1828800"/>
          </a:xfrm>
          <a:prstGeom prst="rect">
            <a:avLst/>
          </a:prstGeom>
          <a:solidFill>
            <a:srgbClr val="F0F2F5"/>
          </a:solidFill>
          <a:ln w="6350">
            <a:solidFill>
              <a:srgbClr val="DDE0E4"/>
            </a:solidFill>
            <a:prstDash val="solid"/>
          </a:ln>
        </p:spPr>
      </p:sp>
      <p:sp>
        <p:nvSpPr>
          <p:cNvPr id="8" name="Shape 6"/>
          <p:cNvSpPr/>
          <p:nvPr/>
        </p:nvSpPr>
        <p:spPr>
          <a:xfrm>
            <a:off x="292608" y="1280160"/>
            <a:ext cx="502920" cy="502920"/>
          </a:xfrm>
          <a:prstGeom prst="rect">
            <a:avLst/>
          </a:prstGeom>
          <a:solidFill>
            <a:srgbClr val="0D2243"/>
          </a:solidFill>
          <a:ln/>
        </p:spPr>
      </p:sp>
      <p:sp>
        <p:nvSpPr>
          <p:cNvPr id="9" name="Text 7"/>
          <p:cNvSpPr/>
          <p:nvPr/>
        </p:nvSpPr>
        <p:spPr>
          <a:xfrm>
            <a:off x="292608" y="12801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10" name="Text 8"/>
          <p:cNvSpPr/>
          <p:nvPr/>
        </p:nvSpPr>
        <p:spPr>
          <a:xfrm>
            <a:off x="292608" y="189280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TIM – Transit Import Maritime</a:t>
            </a:r>
            <a:endParaRPr lang="en-US" sz="1200" dirty="0"/>
          </a:p>
        </p:txBody>
      </p:sp>
      <p:sp>
        <p:nvSpPr>
          <p:cNvPr id="11" name="Text 9"/>
          <p:cNvSpPr/>
          <p:nvPr/>
        </p:nvSpPr>
        <p:spPr>
          <a:xfrm>
            <a:off x="292608" y="231343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Leader #1 – PDM 7,8% sur 193 989 TEU qualifiés</a:t>
            </a:r>
            <a:endParaRPr lang="en-US" sz="1000" dirty="0"/>
          </a:p>
        </p:txBody>
      </p:sp>
      <p:sp>
        <p:nvSpPr>
          <p:cNvPr id="12" name="Shape 10"/>
          <p:cNvSpPr/>
          <p:nvPr/>
        </p:nvSpPr>
        <p:spPr>
          <a:xfrm>
            <a:off x="4160520" y="1143000"/>
            <a:ext cx="3840480" cy="1828800"/>
          </a:xfrm>
          <a:prstGeom prst="rect">
            <a:avLst/>
          </a:prstGeom>
          <a:solidFill>
            <a:srgbClr val="F0F2F5"/>
          </a:solidFill>
          <a:ln w="6350">
            <a:solidFill>
              <a:srgbClr val="DDE0E4"/>
            </a:solidFill>
            <a:prstDash val="solid"/>
          </a:ln>
        </p:spPr>
      </p:sp>
      <p:sp>
        <p:nvSpPr>
          <p:cNvPr id="13" name="Shape 11"/>
          <p:cNvSpPr/>
          <p:nvPr/>
        </p:nvSpPr>
        <p:spPr>
          <a:xfrm>
            <a:off x="4270248" y="1280160"/>
            <a:ext cx="502920" cy="502920"/>
          </a:xfrm>
          <a:prstGeom prst="rect">
            <a:avLst/>
          </a:prstGeom>
          <a:solidFill>
            <a:srgbClr val="1A7C4F"/>
          </a:solidFill>
          <a:ln/>
        </p:spPr>
      </p:sp>
      <p:sp>
        <p:nvSpPr>
          <p:cNvPr id="14" name="Text 12"/>
          <p:cNvSpPr/>
          <p:nvPr/>
        </p:nvSpPr>
        <p:spPr>
          <a:xfrm>
            <a:off x="4270248" y="12801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5" name="Text 13"/>
          <p:cNvSpPr/>
          <p:nvPr/>
        </p:nvSpPr>
        <p:spPr>
          <a:xfrm>
            <a:off x="4270248" y="189280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TEM – Transit Export Maritime</a:t>
            </a:r>
            <a:endParaRPr lang="en-US" sz="1200" dirty="0"/>
          </a:p>
        </p:txBody>
      </p:sp>
      <p:sp>
        <p:nvSpPr>
          <p:cNvPr id="16" name="Text 14"/>
          <p:cNvSpPr/>
          <p:nvPr/>
        </p:nvSpPr>
        <p:spPr>
          <a:xfrm>
            <a:off x="4270248" y="231343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Dominance absolue – 26,2% PDM sur 137 283 TEU</a:t>
            </a:r>
            <a:endParaRPr lang="en-US" sz="1000" dirty="0"/>
          </a:p>
        </p:txBody>
      </p:sp>
      <p:sp>
        <p:nvSpPr>
          <p:cNvPr id="17" name="Shape 15"/>
          <p:cNvSpPr/>
          <p:nvPr/>
        </p:nvSpPr>
        <p:spPr>
          <a:xfrm>
            <a:off x="8138160" y="1143000"/>
            <a:ext cx="3840480" cy="1828800"/>
          </a:xfrm>
          <a:prstGeom prst="rect">
            <a:avLst/>
          </a:prstGeom>
          <a:solidFill>
            <a:srgbClr val="F0F2F5"/>
          </a:solidFill>
          <a:ln w="6350">
            <a:solidFill>
              <a:srgbClr val="DDE0E4"/>
            </a:solidFill>
            <a:prstDash val="solid"/>
          </a:ln>
        </p:spPr>
      </p:sp>
      <p:sp>
        <p:nvSpPr>
          <p:cNvPr id="18" name="Shape 16"/>
          <p:cNvSpPr/>
          <p:nvPr/>
        </p:nvSpPr>
        <p:spPr>
          <a:xfrm>
            <a:off x="8247888" y="1280160"/>
            <a:ext cx="502920" cy="502920"/>
          </a:xfrm>
          <a:prstGeom prst="rect">
            <a:avLst/>
          </a:prstGeom>
          <a:solidFill>
            <a:srgbClr val="E05A00"/>
          </a:solidFill>
          <a:ln/>
        </p:spPr>
      </p:sp>
      <p:sp>
        <p:nvSpPr>
          <p:cNvPr id="19" name="Text 17"/>
          <p:cNvSpPr/>
          <p:nvPr/>
        </p:nvSpPr>
        <p:spPr>
          <a:xfrm>
            <a:off x="8247888" y="128016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20" name="Text 18"/>
          <p:cNvSpPr/>
          <p:nvPr/>
        </p:nvSpPr>
        <p:spPr>
          <a:xfrm>
            <a:off x="8247888" y="189280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Hinterland Import Maritime</a:t>
            </a:r>
            <a:endParaRPr lang="en-US" sz="1200" dirty="0"/>
          </a:p>
        </p:txBody>
      </p:sp>
      <p:sp>
        <p:nvSpPr>
          <p:cNvPr id="21" name="Text 19"/>
          <p:cNvSpPr/>
          <p:nvPr/>
        </p:nvSpPr>
        <p:spPr>
          <a:xfrm>
            <a:off x="8247888" y="231343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#3 → objectif #2 : 11,3% PDM sur 28 457 TEU</a:t>
            </a:r>
            <a:endParaRPr lang="en-US" sz="1000" dirty="0"/>
          </a:p>
        </p:txBody>
      </p:sp>
      <p:sp>
        <p:nvSpPr>
          <p:cNvPr id="22" name="Shape 20"/>
          <p:cNvSpPr/>
          <p:nvPr/>
        </p:nvSpPr>
        <p:spPr>
          <a:xfrm>
            <a:off x="182880" y="3063240"/>
            <a:ext cx="3840480" cy="1828800"/>
          </a:xfrm>
          <a:prstGeom prst="rect">
            <a:avLst/>
          </a:prstGeom>
          <a:solidFill>
            <a:srgbClr val="F0F2F5"/>
          </a:solidFill>
          <a:ln w="6350">
            <a:solidFill>
              <a:srgbClr val="DDE0E4"/>
            </a:solidFill>
            <a:prstDash val="solid"/>
          </a:ln>
        </p:spPr>
      </p:sp>
      <p:sp>
        <p:nvSpPr>
          <p:cNvPr id="23" name="Shape 21"/>
          <p:cNvSpPr/>
          <p:nvPr/>
        </p:nvSpPr>
        <p:spPr>
          <a:xfrm>
            <a:off x="292608" y="3200400"/>
            <a:ext cx="502920" cy="502920"/>
          </a:xfrm>
          <a:prstGeom prst="rect">
            <a:avLst/>
          </a:prstGeom>
          <a:solidFill>
            <a:srgbClr val="2563A8"/>
          </a:solidFill>
          <a:ln/>
        </p:spPr>
      </p:sp>
      <p:sp>
        <p:nvSpPr>
          <p:cNvPr id="24" name="Text 22"/>
          <p:cNvSpPr/>
          <p:nvPr/>
        </p:nvSpPr>
        <p:spPr>
          <a:xfrm>
            <a:off x="292608" y="320040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25" name="Text 23"/>
          <p:cNvSpPr/>
          <p:nvPr/>
        </p:nvSpPr>
        <p:spPr>
          <a:xfrm>
            <a:off x="292608" y="381304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Hinterland Export Maritime</a:t>
            </a:r>
            <a:endParaRPr lang="en-US" sz="1200" dirty="0"/>
          </a:p>
        </p:txBody>
      </p:sp>
      <p:sp>
        <p:nvSpPr>
          <p:cNvPr id="26" name="Text 24"/>
          <p:cNvSpPr/>
          <p:nvPr/>
        </p:nvSpPr>
        <p:spPr>
          <a:xfrm>
            <a:off x="292608" y="423367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Leader #1 – 66,1% PDM  |  Bamako–Ouagadougou</a:t>
            </a:r>
            <a:endParaRPr lang="en-US" sz="1000" dirty="0"/>
          </a:p>
        </p:txBody>
      </p:sp>
      <p:sp>
        <p:nvSpPr>
          <p:cNvPr id="27" name="Shape 25"/>
          <p:cNvSpPr/>
          <p:nvPr/>
        </p:nvSpPr>
        <p:spPr>
          <a:xfrm>
            <a:off x="4160520" y="3063240"/>
            <a:ext cx="3840480" cy="1828800"/>
          </a:xfrm>
          <a:prstGeom prst="rect">
            <a:avLst/>
          </a:prstGeom>
          <a:solidFill>
            <a:srgbClr val="F0F2F5"/>
          </a:solidFill>
          <a:ln w="6350">
            <a:solidFill>
              <a:srgbClr val="DDE0E4"/>
            </a:solidFill>
            <a:prstDash val="solid"/>
          </a:ln>
        </p:spPr>
      </p:sp>
      <p:sp>
        <p:nvSpPr>
          <p:cNvPr id="28" name="Shape 26"/>
          <p:cNvSpPr/>
          <p:nvPr/>
        </p:nvSpPr>
        <p:spPr>
          <a:xfrm>
            <a:off x="4270248" y="3200400"/>
            <a:ext cx="502920" cy="502920"/>
          </a:xfrm>
          <a:prstGeom prst="rect">
            <a:avLst/>
          </a:prstGeom>
          <a:solidFill>
            <a:srgbClr val="0E7490"/>
          </a:solidFill>
          <a:ln/>
        </p:spPr>
      </p:sp>
      <p:sp>
        <p:nvSpPr>
          <p:cNvPr id="29" name="Text 27"/>
          <p:cNvSpPr/>
          <p:nvPr/>
        </p:nvSpPr>
        <p:spPr>
          <a:xfrm>
            <a:off x="4270248" y="320040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30" name="Text 28"/>
          <p:cNvSpPr/>
          <p:nvPr/>
        </p:nvSpPr>
        <p:spPr>
          <a:xfrm>
            <a:off x="4270248" y="381304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Aérien Import</a:t>
            </a:r>
            <a:endParaRPr lang="en-US" sz="1200" dirty="0"/>
          </a:p>
        </p:txBody>
      </p:sp>
      <p:sp>
        <p:nvSpPr>
          <p:cNvPr id="31" name="Text 29"/>
          <p:cNvSpPr/>
          <p:nvPr/>
        </p:nvSpPr>
        <p:spPr>
          <a:xfrm>
            <a:off x="4270248" y="4233672"/>
            <a:ext cx="3611880" cy="5029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#1 ABSOLU – 20,8% PDM  |  Croissance forte Jan→Mai</a:t>
            </a:r>
            <a:endParaRPr lang="en-US" sz="1000" dirty="0"/>
          </a:p>
        </p:txBody>
      </p:sp>
      <p:sp>
        <p:nvSpPr>
          <p:cNvPr id="32" name="Shape 30"/>
          <p:cNvSpPr/>
          <p:nvPr/>
        </p:nvSpPr>
        <p:spPr>
          <a:xfrm>
            <a:off x="8138160" y="3063240"/>
            <a:ext cx="3840480" cy="1828800"/>
          </a:xfrm>
          <a:prstGeom prst="rect">
            <a:avLst/>
          </a:prstGeom>
          <a:solidFill>
            <a:srgbClr val="F0F2F5"/>
          </a:solidFill>
          <a:ln w="6350">
            <a:solidFill>
              <a:srgbClr val="DDE0E4"/>
            </a:solidFill>
            <a:prstDash val="solid"/>
          </a:ln>
        </p:spPr>
      </p:sp>
      <p:sp>
        <p:nvSpPr>
          <p:cNvPr id="33" name="Shape 31"/>
          <p:cNvSpPr/>
          <p:nvPr/>
        </p:nvSpPr>
        <p:spPr>
          <a:xfrm>
            <a:off x="8247888" y="3200400"/>
            <a:ext cx="502920" cy="502920"/>
          </a:xfrm>
          <a:prstGeom prst="rect">
            <a:avLst/>
          </a:prstGeom>
          <a:solidFill>
            <a:srgbClr val="8B6914"/>
          </a:solidFill>
          <a:ln/>
        </p:spPr>
      </p:sp>
      <p:sp>
        <p:nvSpPr>
          <p:cNvPr id="34" name="Text 32"/>
          <p:cNvSpPr/>
          <p:nvPr/>
        </p:nvSpPr>
        <p:spPr>
          <a:xfrm>
            <a:off x="8247888" y="3200400"/>
            <a:ext cx="502920" cy="50292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35" name="Text 33"/>
          <p:cNvSpPr/>
          <p:nvPr/>
        </p:nvSpPr>
        <p:spPr>
          <a:xfrm>
            <a:off x="8247888" y="3813048"/>
            <a:ext cx="3611880" cy="411480"/>
          </a:xfrm>
          <a:prstGeom prst="rect">
            <a:avLst/>
          </a:prstGeom>
          <a:noFill/>
          <a:ln/>
        </p:spPr>
        <p:txBody>
          <a:bodyPr wrap="square" rtlCol="0" anchor="ctr"/>
          <a:lstStyle/>
          <a:p>
            <a:pPr indent="0" marL="0">
              <a:buNone/>
            </a:pPr>
            <a:r>
              <a:rPr lang="en-US" sz="1200" b="1" dirty="0">
                <a:solidFill>
                  <a:srgbClr val="374151"/>
                </a:solidFill>
                <a:latin typeface="Calibri" pitchFamily="34" charset="0"/>
                <a:ea typeface="Calibri" pitchFamily="34" charset="-122"/>
                <a:cs typeface="Calibri" pitchFamily="34" charset="-120"/>
              </a:rPr>
              <a:t>Synthèses</a:t>
            </a:r>
            <a:endParaRPr lang="en-US" sz="1200" dirty="0"/>
          </a:p>
        </p:txBody>
      </p:sp>
      <p:sp>
        <p:nvSpPr>
          <p:cNvPr id="36" name="Text 34"/>
          <p:cNvSpPr/>
          <p:nvPr/>
        </p:nvSpPr>
        <p:spPr>
          <a:xfrm>
            <a:off x="8247888" y="4233672"/>
            <a:ext cx="3611880" cy="502920"/>
          </a:xfrm>
          <a:prstGeom prst="rect">
            <a:avLst/>
          </a:prstGeom>
          <a:noFill/>
          <a:ln/>
        </p:spPr>
        <p:txBody>
          <a:bodyPr wrap="square" rtlCol="0" anchor="ctr"/>
          <a:lstStyle/>
          <a:p>
            <a:pPr indent="0" marL="0">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01</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TRANSIT IMPORT MARITIME (TIM)</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193 989 TEU qualifiés  |  PDM AGL : 7,8%  |  Leader #1</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Marché qualifié : 193 989 TEU  |  AGL : 15 133 TEU  |  PDM AGL : 7,8% (Leader #1)</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p.4</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193 989</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 2026</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15 133</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 2026</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7,8 %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 Leader</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ÉCART VS #2 STRACOTRANS</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E05A00"/>
                </a:solidFill>
                <a:latin typeface="Calibri" pitchFamily="34" charset="0"/>
                <a:ea typeface="Calibri" pitchFamily="34" charset="-122"/>
                <a:cs typeface="Calibri" pitchFamily="34" charset="-120"/>
              </a:rPr>
              <a:t>+558</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d'avance</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CUMUL PDM TOP 4</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29,1 %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AGL+STRAC+TGR+GTC</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marché TIM &amp; AGL (TEU)</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TIM</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315200" y="2523744"/>
            <a:ext cx="2560320" cy="201168"/>
          </a:xfrm>
          <a:prstGeom prst="rect">
            <a:avLst/>
          </a:prstGeom>
          <a:solidFill>
            <a:srgbClr val="D1D5DB"/>
          </a:solidFill>
          <a:ln/>
        </p:spPr>
      </p:sp>
      <p:sp>
        <p:nvSpPr>
          <p:cNvPr id="33" name="Shape 30"/>
          <p:cNvSpPr/>
          <p:nvPr/>
        </p:nvSpPr>
        <p:spPr>
          <a:xfrm>
            <a:off x="7315200" y="2523744"/>
            <a:ext cx="2500077" cy="201168"/>
          </a:xfrm>
          <a:prstGeom prst="rect">
            <a:avLst/>
          </a:prstGeom>
          <a:solidFill>
            <a:srgbClr val="1A7C4F"/>
          </a:solidFill>
          <a:ln/>
        </p:spPr>
      </p:sp>
      <p:sp>
        <p:nvSpPr>
          <p:cNvPr id="34" name="Text 31"/>
          <p:cNvSpPr/>
          <p:nvPr/>
        </p:nvSpPr>
        <p:spPr>
          <a:xfrm>
            <a:off x="9930384" y="2487168"/>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8.3%</a:t>
            </a:r>
            <a:endParaRPr lang="en-US" sz="12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315200" y="3054096"/>
            <a:ext cx="2560320" cy="201168"/>
          </a:xfrm>
          <a:prstGeom prst="rect">
            <a:avLst/>
          </a:prstGeom>
          <a:solidFill>
            <a:srgbClr val="D1D5DB"/>
          </a:solidFill>
          <a:ln/>
        </p:spPr>
      </p:sp>
      <p:sp>
        <p:nvSpPr>
          <p:cNvPr id="38" name="Shape 35"/>
          <p:cNvSpPr/>
          <p:nvPr/>
        </p:nvSpPr>
        <p:spPr>
          <a:xfrm>
            <a:off x="7315200" y="3054096"/>
            <a:ext cx="2078377" cy="201168"/>
          </a:xfrm>
          <a:prstGeom prst="rect">
            <a:avLst/>
          </a:prstGeom>
          <a:solidFill>
            <a:srgbClr val="E05A00"/>
          </a:solidFill>
          <a:ln/>
        </p:spPr>
      </p:sp>
      <p:sp>
        <p:nvSpPr>
          <p:cNvPr id="39" name="Text 36"/>
          <p:cNvSpPr/>
          <p:nvPr/>
        </p:nvSpPr>
        <p:spPr>
          <a:xfrm>
            <a:off x="9930384" y="3017520"/>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6.9%</a:t>
            </a:r>
            <a:endParaRPr lang="en-US" sz="12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315200" y="3584448"/>
            <a:ext cx="2560320" cy="201168"/>
          </a:xfrm>
          <a:prstGeom prst="rect">
            <a:avLst/>
          </a:prstGeom>
          <a:solidFill>
            <a:srgbClr val="D1D5DB"/>
          </a:solidFill>
          <a:ln/>
        </p:spPr>
      </p:sp>
      <p:sp>
        <p:nvSpPr>
          <p:cNvPr id="43" name="Shape 40"/>
          <p:cNvSpPr/>
          <p:nvPr/>
        </p:nvSpPr>
        <p:spPr>
          <a:xfrm>
            <a:off x="7315200" y="3584448"/>
            <a:ext cx="2259106" cy="201168"/>
          </a:xfrm>
          <a:prstGeom prst="rect">
            <a:avLst/>
          </a:prstGeom>
          <a:solidFill>
            <a:srgbClr val="1A7C4F"/>
          </a:solidFill>
          <a:ln/>
        </p:spPr>
      </p:sp>
      <p:sp>
        <p:nvSpPr>
          <p:cNvPr id="44" name="Text 41"/>
          <p:cNvSpPr/>
          <p:nvPr/>
        </p:nvSpPr>
        <p:spPr>
          <a:xfrm>
            <a:off x="9930384" y="3547872"/>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7.5%</a:t>
            </a:r>
            <a:endParaRPr lang="en-US" sz="12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315200" y="4114800"/>
            <a:ext cx="2560320" cy="201168"/>
          </a:xfrm>
          <a:prstGeom prst="rect">
            <a:avLst/>
          </a:prstGeom>
          <a:solidFill>
            <a:srgbClr val="D1D5DB"/>
          </a:solidFill>
          <a:ln/>
        </p:spPr>
      </p:sp>
      <p:sp>
        <p:nvSpPr>
          <p:cNvPr id="48" name="Shape 45"/>
          <p:cNvSpPr/>
          <p:nvPr/>
        </p:nvSpPr>
        <p:spPr>
          <a:xfrm>
            <a:off x="7315200" y="4114800"/>
            <a:ext cx="2560320" cy="201168"/>
          </a:xfrm>
          <a:prstGeom prst="rect">
            <a:avLst/>
          </a:prstGeom>
          <a:solidFill>
            <a:srgbClr val="1A7C4F"/>
          </a:solidFill>
          <a:ln/>
        </p:spPr>
      </p:sp>
      <p:sp>
        <p:nvSpPr>
          <p:cNvPr id="49" name="Text 46"/>
          <p:cNvSpPr/>
          <p:nvPr/>
        </p:nvSpPr>
        <p:spPr>
          <a:xfrm>
            <a:off x="9930384" y="4078224"/>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8.5%</a:t>
            </a:r>
            <a:endParaRPr lang="en-US" sz="12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315200" y="4645152"/>
            <a:ext cx="2560320" cy="201168"/>
          </a:xfrm>
          <a:prstGeom prst="rect">
            <a:avLst/>
          </a:prstGeom>
          <a:solidFill>
            <a:srgbClr val="D1D5DB"/>
          </a:solidFill>
          <a:ln/>
        </p:spPr>
      </p:sp>
      <p:sp>
        <p:nvSpPr>
          <p:cNvPr id="53" name="Shape 50"/>
          <p:cNvSpPr/>
          <p:nvPr/>
        </p:nvSpPr>
        <p:spPr>
          <a:xfrm>
            <a:off x="7315200" y="4645152"/>
            <a:ext cx="2349470" cy="201168"/>
          </a:xfrm>
          <a:prstGeom prst="rect">
            <a:avLst/>
          </a:prstGeom>
          <a:solidFill>
            <a:srgbClr val="1A7C4F"/>
          </a:solidFill>
          <a:ln/>
        </p:spPr>
      </p:sp>
      <p:sp>
        <p:nvSpPr>
          <p:cNvPr id="54" name="Text 51"/>
          <p:cNvSpPr/>
          <p:nvPr/>
        </p:nvSpPr>
        <p:spPr>
          <a:xfrm>
            <a:off x="9930384" y="4608576"/>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7.8%</a:t>
            </a:r>
            <a:endParaRPr lang="en-US" sz="1200" dirty="0"/>
          </a:p>
        </p:txBody>
      </p:sp>
      <p:sp>
        <p:nvSpPr>
          <p:cNvPr id="55" name="Shape 52"/>
          <p:cNvSpPr/>
          <p:nvPr/>
        </p:nvSpPr>
        <p:spPr>
          <a:xfrm>
            <a:off x="6492240" y="5212080"/>
            <a:ext cx="5486400" cy="685800"/>
          </a:xfrm>
          <a:prstGeom prst="rect">
            <a:avLst/>
          </a:prstGeom>
          <a:solidFill>
            <a:srgbClr val="F0FDF4"/>
          </a:solidFill>
          <a:ln w="6350">
            <a:solidFill>
              <a:srgbClr val="E5C97A"/>
            </a:solidFill>
            <a:prstDash val="solid"/>
          </a:ln>
        </p:spPr>
      </p:sp>
      <p:sp>
        <p:nvSpPr>
          <p:cNvPr id="56" name="Text 53"/>
          <p:cNvSpPr/>
          <p:nvPr/>
        </p:nvSpPr>
        <p:spPr>
          <a:xfrm>
            <a:off x="6583680" y="52852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PDM réelle (qualifiée) : 7,8% vs 7,3% brut. L'exclusion du Non Apuré révèle la vraie position AGL. Avance sur STRACOTRANS : seulement +558 TEU — position à consolider en urgence.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ANALYSE CONCURRENTIELLE &amp; SEGMENTS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Classement PDM qualifié  |  Top marchandises AGL  |  Opportunités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p.5</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Transitaires – TIM (hors Non Apuré, SIR CI, SMB)</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AFRICA GLOBAL LOGISTICS</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15 133</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7,8 %</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STRACOTRANS CI</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14 575</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7,5 %</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TGR (Transit Général Rapide)</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13 663</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7,0 %</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GENERAL TRANSIT CI</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12 028</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6,2 %</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DJAM DKS TRANSIT</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10 862</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5,6 %</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GLOBAL MANUTENTION CI</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10 203</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5,3 %</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PROFESIONNEL TRANSIT</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9 479</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4,9 %</a:t>
            </a:r>
            <a:endParaRPr lang="en-US" sz="90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50" name="Text 48"/>
          <p:cNvSpPr/>
          <p:nvPr/>
        </p:nvSpPr>
        <p:spPr>
          <a:xfrm>
            <a:off x="585216" y="345643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AG TRANSIT CI</a:t>
            </a:r>
            <a:endParaRPr lang="en-US" sz="900" dirty="0"/>
          </a:p>
        </p:txBody>
      </p:sp>
      <p:sp>
        <p:nvSpPr>
          <p:cNvPr id="51" name="Text 49"/>
          <p:cNvSpPr/>
          <p:nvPr/>
        </p:nvSpPr>
        <p:spPr>
          <a:xfrm>
            <a:off x="252069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6 137</a:t>
            </a:r>
            <a:endParaRPr lang="en-US" sz="900" dirty="0"/>
          </a:p>
        </p:txBody>
      </p:sp>
      <p:sp>
        <p:nvSpPr>
          <p:cNvPr id="52" name="Text 50"/>
          <p:cNvSpPr/>
          <p:nvPr/>
        </p:nvSpPr>
        <p:spPr>
          <a:xfrm>
            <a:off x="445617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3,2 %</a:t>
            </a:r>
            <a:endParaRPr lang="en-US" sz="90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55" name="Text 53"/>
          <p:cNvSpPr/>
          <p:nvPr/>
        </p:nvSpPr>
        <p:spPr>
          <a:xfrm>
            <a:off x="585216" y="371246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SDMA</a:t>
            </a:r>
            <a:endParaRPr lang="en-US" sz="900" dirty="0"/>
          </a:p>
        </p:txBody>
      </p:sp>
      <p:sp>
        <p:nvSpPr>
          <p:cNvPr id="56" name="Text 54"/>
          <p:cNvSpPr/>
          <p:nvPr/>
        </p:nvSpPr>
        <p:spPr>
          <a:xfrm>
            <a:off x="252069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5 680</a:t>
            </a:r>
            <a:endParaRPr lang="en-US" sz="900" dirty="0"/>
          </a:p>
        </p:txBody>
      </p:sp>
      <p:sp>
        <p:nvSpPr>
          <p:cNvPr id="57" name="Text 55"/>
          <p:cNvSpPr/>
          <p:nvPr/>
        </p:nvSpPr>
        <p:spPr>
          <a:xfrm>
            <a:off x="445617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2,9 %</a:t>
            </a:r>
            <a:endParaRPr lang="en-US" sz="90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60" name="Text 58"/>
          <p:cNvSpPr/>
          <p:nvPr/>
        </p:nvSpPr>
        <p:spPr>
          <a:xfrm>
            <a:off x="585216" y="396849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SAS TRANSIT</a:t>
            </a:r>
            <a:endParaRPr lang="en-US" sz="900" dirty="0"/>
          </a:p>
        </p:txBody>
      </p:sp>
      <p:sp>
        <p:nvSpPr>
          <p:cNvPr id="61" name="Text 59"/>
          <p:cNvSpPr/>
          <p:nvPr/>
        </p:nvSpPr>
        <p:spPr>
          <a:xfrm>
            <a:off x="252069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5 274</a:t>
            </a:r>
            <a:endParaRPr lang="en-US" sz="900" dirty="0"/>
          </a:p>
        </p:txBody>
      </p:sp>
      <p:sp>
        <p:nvSpPr>
          <p:cNvPr id="62" name="Text 60"/>
          <p:cNvSpPr/>
          <p:nvPr/>
        </p:nvSpPr>
        <p:spPr>
          <a:xfrm>
            <a:off x="445617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2,7 %</a:t>
            </a:r>
            <a:endParaRPr lang="en-US" sz="900" dirty="0"/>
          </a:p>
        </p:txBody>
      </p:sp>
      <p:sp>
        <p:nvSpPr>
          <p:cNvPr id="63" name="Shape 61"/>
          <p:cNvSpPr/>
          <p:nvPr/>
        </p:nvSpPr>
        <p:spPr>
          <a:xfrm>
            <a:off x="137160" y="4983480"/>
            <a:ext cx="6217920" cy="685800"/>
          </a:xfrm>
          <a:prstGeom prst="rect">
            <a:avLst/>
          </a:prstGeom>
          <a:solidFill>
            <a:srgbClr val="FFFBEC"/>
          </a:solidFill>
          <a:ln w="6350">
            <a:solidFill>
              <a:srgbClr val="E5C97A"/>
            </a:solidFill>
            <a:prstDash val="solid"/>
          </a:ln>
        </p:spPr>
      </p:sp>
      <p:sp>
        <p:nvSpPr>
          <p:cNvPr id="64" name="Text 62"/>
          <p:cNvSpPr/>
          <p:nvPr/>
        </p:nvSpPr>
        <p:spPr>
          <a:xfrm>
            <a:off x="228600" y="5056632"/>
            <a:ext cx="603504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INSIGHT TIM : Leader de justesse (+558 TEU sur STRACOTRANS). Forces : Mat. Miniers (74% PDM), Médicaments (50%), PVC (32%).</a:t>
            </a:r>
            <a:endParaRPr lang="en-US" sz="900" dirty="0"/>
          </a:p>
        </p:txBody>
      </p:sp>
      <p:sp>
        <p:nvSpPr>
          <p:cNvPr id="65" name="Text 63"/>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segment – TIM</a:t>
            </a:r>
            <a:endParaRPr lang="en-US" sz="1100" dirty="0"/>
          </a:p>
        </p:txBody>
      </p:sp>
      <p:sp>
        <p:nvSpPr>
          <p:cNvPr id="66" name="Text 64"/>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67" name="Text 65"/>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2 231 TEU</a:t>
            </a:r>
            <a:endParaRPr lang="en-US" sz="850" dirty="0"/>
          </a:p>
        </p:txBody>
      </p:sp>
      <p:sp>
        <p:nvSpPr>
          <p:cNvPr id="68" name="Shape 66"/>
          <p:cNvSpPr/>
          <p:nvPr/>
        </p:nvSpPr>
        <p:spPr>
          <a:xfrm>
            <a:off x="9052560" y="1426464"/>
            <a:ext cx="2743200" cy="164592"/>
          </a:xfrm>
          <a:prstGeom prst="rect">
            <a:avLst/>
          </a:prstGeom>
          <a:solidFill>
            <a:srgbClr val="E5E7EB"/>
          </a:solidFill>
          <a:ln/>
        </p:spPr>
      </p:sp>
      <p:sp>
        <p:nvSpPr>
          <p:cNvPr id="69" name="Shape 67"/>
          <p:cNvSpPr/>
          <p:nvPr/>
        </p:nvSpPr>
        <p:spPr>
          <a:xfrm>
            <a:off x="9052560" y="1426464"/>
            <a:ext cx="2029968" cy="164592"/>
          </a:xfrm>
          <a:prstGeom prst="rect">
            <a:avLst/>
          </a:prstGeom>
          <a:solidFill>
            <a:srgbClr val="1A7C4F"/>
          </a:solidFill>
          <a:ln/>
        </p:spPr>
      </p:sp>
      <p:sp>
        <p:nvSpPr>
          <p:cNvPr id="70" name="Text 68"/>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74%</a:t>
            </a:r>
            <a:endParaRPr lang="en-US" sz="900" dirty="0"/>
          </a:p>
        </p:txBody>
      </p:sp>
      <p:sp>
        <p:nvSpPr>
          <p:cNvPr id="71" name="Text 69"/>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MÉDICAMENTS</a:t>
            </a:r>
            <a:endParaRPr lang="en-US" sz="850" dirty="0"/>
          </a:p>
        </p:txBody>
      </p:sp>
      <p:sp>
        <p:nvSpPr>
          <p:cNvPr id="72" name="Text 70"/>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1 936 TEU</a:t>
            </a:r>
            <a:endParaRPr lang="en-US" sz="850" dirty="0"/>
          </a:p>
        </p:txBody>
      </p:sp>
      <p:sp>
        <p:nvSpPr>
          <p:cNvPr id="73" name="Shape 71"/>
          <p:cNvSpPr/>
          <p:nvPr/>
        </p:nvSpPr>
        <p:spPr>
          <a:xfrm>
            <a:off x="9052560" y="1810512"/>
            <a:ext cx="2743200" cy="164592"/>
          </a:xfrm>
          <a:prstGeom prst="rect">
            <a:avLst/>
          </a:prstGeom>
          <a:solidFill>
            <a:srgbClr val="E5E7EB"/>
          </a:solidFill>
          <a:ln/>
        </p:spPr>
      </p:sp>
      <p:sp>
        <p:nvSpPr>
          <p:cNvPr id="74" name="Shape 72"/>
          <p:cNvSpPr/>
          <p:nvPr/>
        </p:nvSpPr>
        <p:spPr>
          <a:xfrm>
            <a:off x="9052560" y="1810512"/>
            <a:ext cx="1371600" cy="164592"/>
          </a:xfrm>
          <a:prstGeom prst="rect">
            <a:avLst/>
          </a:prstGeom>
          <a:solidFill>
            <a:srgbClr val="1A7C4F"/>
          </a:solidFill>
          <a:ln/>
        </p:spPr>
      </p:sp>
      <p:sp>
        <p:nvSpPr>
          <p:cNvPr id="75" name="Text 73"/>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50%</a:t>
            </a:r>
            <a:endParaRPr lang="en-US" sz="900" dirty="0"/>
          </a:p>
        </p:txBody>
      </p:sp>
      <p:sp>
        <p:nvSpPr>
          <p:cNvPr id="76" name="Text 74"/>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PVC RÉSINE</a:t>
            </a:r>
            <a:endParaRPr lang="en-US" sz="850" dirty="0"/>
          </a:p>
        </p:txBody>
      </p:sp>
      <p:sp>
        <p:nvSpPr>
          <p:cNvPr id="77" name="Text 75"/>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2 881 TEU</a:t>
            </a:r>
            <a:endParaRPr lang="en-US" sz="850" dirty="0"/>
          </a:p>
        </p:txBody>
      </p:sp>
      <p:sp>
        <p:nvSpPr>
          <p:cNvPr id="78" name="Shape 76"/>
          <p:cNvSpPr/>
          <p:nvPr/>
        </p:nvSpPr>
        <p:spPr>
          <a:xfrm>
            <a:off x="9052560" y="2194560"/>
            <a:ext cx="2743200" cy="164592"/>
          </a:xfrm>
          <a:prstGeom prst="rect">
            <a:avLst/>
          </a:prstGeom>
          <a:solidFill>
            <a:srgbClr val="E5E7EB"/>
          </a:solidFill>
          <a:ln/>
        </p:spPr>
      </p:sp>
      <p:sp>
        <p:nvSpPr>
          <p:cNvPr id="79" name="Shape 77"/>
          <p:cNvSpPr/>
          <p:nvPr/>
        </p:nvSpPr>
        <p:spPr>
          <a:xfrm>
            <a:off x="9052560" y="2194560"/>
            <a:ext cx="877824" cy="164592"/>
          </a:xfrm>
          <a:prstGeom prst="rect">
            <a:avLst/>
          </a:prstGeom>
          <a:solidFill>
            <a:srgbClr val="2563A8"/>
          </a:solidFill>
          <a:ln/>
        </p:spPr>
      </p:sp>
      <p:sp>
        <p:nvSpPr>
          <p:cNvPr id="80" name="Text 78"/>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32%</a:t>
            </a:r>
            <a:endParaRPr lang="en-US" sz="900" dirty="0"/>
          </a:p>
        </p:txBody>
      </p:sp>
      <p:sp>
        <p:nvSpPr>
          <p:cNvPr id="81" name="Text 79"/>
          <p:cNvSpPr/>
          <p:nvPr/>
        </p:nvSpPr>
        <p:spPr>
          <a:xfrm>
            <a:off x="649224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 CONSTRUCTION</a:t>
            </a:r>
            <a:endParaRPr lang="en-US" sz="850" dirty="0"/>
          </a:p>
        </p:txBody>
      </p:sp>
      <p:sp>
        <p:nvSpPr>
          <p:cNvPr id="82" name="Text 80"/>
          <p:cNvSpPr/>
          <p:nvPr/>
        </p:nvSpPr>
        <p:spPr>
          <a:xfrm>
            <a:off x="815644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5 478 TEU</a:t>
            </a:r>
            <a:endParaRPr lang="en-US" sz="850" dirty="0"/>
          </a:p>
        </p:txBody>
      </p:sp>
      <p:sp>
        <p:nvSpPr>
          <p:cNvPr id="83" name="Shape 81"/>
          <p:cNvSpPr/>
          <p:nvPr/>
        </p:nvSpPr>
        <p:spPr>
          <a:xfrm>
            <a:off x="9052560" y="2578608"/>
            <a:ext cx="2743200" cy="164592"/>
          </a:xfrm>
          <a:prstGeom prst="rect">
            <a:avLst/>
          </a:prstGeom>
          <a:solidFill>
            <a:srgbClr val="E5E7EB"/>
          </a:solidFill>
          <a:ln/>
        </p:spPr>
      </p:sp>
      <p:sp>
        <p:nvSpPr>
          <p:cNvPr id="84" name="Shape 82"/>
          <p:cNvSpPr/>
          <p:nvPr/>
        </p:nvSpPr>
        <p:spPr>
          <a:xfrm>
            <a:off x="9052560" y="2578608"/>
            <a:ext cx="493776" cy="164592"/>
          </a:xfrm>
          <a:prstGeom prst="rect">
            <a:avLst/>
          </a:prstGeom>
          <a:solidFill>
            <a:srgbClr val="E05A00"/>
          </a:solidFill>
          <a:ln/>
        </p:spPr>
      </p:sp>
      <p:sp>
        <p:nvSpPr>
          <p:cNvPr id="85" name="Text 83"/>
          <p:cNvSpPr/>
          <p:nvPr/>
        </p:nvSpPr>
        <p:spPr>
          <a:xfrm>
            <a:off x="11841480" y="2542032"/>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18%</a:t>
            </a:r>
            <a:endParaRPr lang="en-US" sz="900" dirty="0"/>
          </a:p>
        </p:txBody>
      </p:sp>
      <p:sp>
        <p:nvSpPr>
          <p:cNvPr id="86" name="Text 84"/>
          <p:cNvSpPr/>
          <p:nvPr/>
        </p:nvSpPr>
        <p:spPr>
          <a:xfrm>
            <a:off x="649224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PAPIER &amp; DÉRIVÉS</a:t>
            </a:r>
            <a:endParaRPr lang="en-US" sz="850" dirty="0"/>
          </a:p>
        </p:txBody>
      </p:sp>
      <p:sp>
        <p:nvSpPr>
          <p:cNvPr id="87" name="Text 85"/>
          <p:cNvSpPr/>
          <p:nvPr/>
        </p:nvSpPr>
        <p:spPr>
          <a:xfrm>
            <a:off x="815644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5 024 TEU</a:t>
            </a:r>
            <a:endParaRPr lang="en-US" sz="850" dirty="0"/>
          </a:p>
        </p:txBody>
      </p:sp>
      <p:sp>
        <p:nvSpPr>
          <p:cNvPr id="88" name="Shape 86"/>
          <p:cNvSpPr/>
          <p:nvPr/>
        </p:nvSpPr>
        <p:spPr>
          <a:xfrm>
            <a:off x="9052560" y="2962656"/>
            <a:ext cx="2743200" cy="164592"/>
          </a:xfrm>
          <a:prstGeom prst="rect">
            <a:avLst/>
          </a:prstGeom>
          <a:solidFill>
            <a:srgbClr val="E5E7EB"/>
          </a:solidFill>
          <a:ln/>
        </p:spPr>
      </p:sp>
      <p:sp>
        <p:nvSpPr>
          <p:cNvPr id="89" name="Shape 87"/>
          <p:cNvSpPr/>
          <p:nvPr/>
        </p:nvSpPr>
        <p:spPr>
          <a:xfrm>
            <a:off x="9052560" y="2962656"/>
            <a:ext cx="411480" cy="164592"/>
          </a:xfrm>
          <a:prstGeom prst="rect">
            <a:avLst/>
          </a:prstGeom>
          <a:solidFill>
            <a:srgbClr val="E05A00"/>
          </a:solidFill>
          <a:ln/>
        </p:spPr>
      </p:sp>
      <p:sp>
        <p:nvSpPr>
          <p:cNvPr id="90" name="Text 88"/>
          <p:cNvSpPr/>
          <p:nvPr/>
        </p:nvSpPr>
        <p:spPr>
          <a:xfrm>
            <a:off x="11841480" y="2926080"/>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15%</a:t>
            </a:r>
            <a:endParaRPr lang="en-US" sz="900" dirty="0"/>
          </a:p>
        </p:txBody>
      </p:sp>
      <p:sp>
        <p:nvSpPr>
          <p:cNvPr id="91" name="Text 89"/>
          <p:cNvSpPr/>
          <p:nvPr/>
        </p:nvSpPr>
        <p:spPr>
          <a:xfrm>
            <a:off x="649224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LAIT EN POUDRE</a:t>
            </a:r>
            <a:endParaRPr lang="en-US" sz="850" dirty="0"/>
          </a:p>
        </p:txBody>
      </p:sp>
      <p:sp>
        <p:nvSpPr>
          <p:cNvPr id="92" name="Text 90"/>
          <p:cNvSpPr/>
          <p:nvPr/>
        </p:nvSpPr>
        <p:spPr>
          <a:xfrm>
            <a:off x="815644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1 121 TEU</a:t>
            </a:r>
            <a:endParaRPr lang="en-US" sz="850" dirty="0"/>
          </a:p>
        </p:txBody>
      </p:sp>
      <p:sp>
        <p:nvSpPr>
          <p:cNvPr id="93" name="Shape 91"/>
          <p:cNvSpPr/>
          <p:nvPr/>
        </p:nvSpPr>
        <p:spPr>
          <a:xfrm>
            <a:off x="9052560" y="3346704"/>
            <a:ext cx="2743200" cy="164592"/>
          </a:xfrm>
          <a:prstGeom prst="rect">
            <a:avLst/>
          </a:prstGeom>
          <a:solidFill>
            <a:srgbClr val="E5E7EB"/>
          </a:solidFill>
          <a:ln/>
        </p:spPr>
      </p:sp>
      <p:sp>
        <p:nvSpPr>
          <p:cNvPr id="94" name="Shape 92"/>
          <p:cNvSpPr/>
          <p:nvPr/>
        </p:nvSpPr>
        <p:spPr>
          <a:xfrm>
            <a:off x="9052560" y="3346704"/>
            <a:ext cx="384048" cy="164592"/>
          </a:xfrm>
          <a:prstGeom prst="rect">
            <a:avLst/>
          </a:prstGeom>
          <a:solidFill>
            <a:srgbClr val="E05A00"/>
          </a:solidFill>
          <a:ln/>
        </p:spPr>
      </p:sp>
      <p:sp>
        <p:nvSpPr>
          <p:cNvPr id="95" name="Text 93"/>
          <p:cNvSpPr/>
          <p:nvPr/>
        </p:nvSpPr>
        <p:spPr>
          <a:xfrm>
            <a:off x="11841480" y="331012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14%</a:t>
            </a:r>
            <a:endParaRPr lang="en-US" sz="900" dirty="0"/>
          </a:p>
        </p:txBody>
      </p:sp>
      <p:sp>
        <p:nvSpPr>
          <p:cNvPr id="96" name="Text 94"/>
          <p:cNvSpPr/>
          <p:nvPr/>
        </p:nvSpPr>
        <p:spPr>
          <a:xfrm>
            <a:off x="6492240" y="369417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EMBALLAGES</a:t>
            </a:r>
            <a:endParaRPr lang="en-US" sz="850" dirty="0"/>
          </a:p>
        </p:txBody>
      </p:sp>
      <p:sp>
        <p:nvSpPr>
          <p:cNvPr id="97" name="Text 95"/>
          <p:cNvSpPr/>
          <p:nvPr/>
        </p:nvSpPr>
        <p:spPr>
          <a:xfrm>
            <a:off x="8156448" y="369417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8 951 TEU</a:t>
            </a:r>
            <a:endParaRPr lang="en-US" sz="850" dirty="0"/>
          </a:p>
        </p:txBody>
      </p:sp>
      <p:sp>
        <p:nvSpPr>
          <p:cNvPr id="98" name="Shape 96"/>
          <p:cNvSpPr/>
          <p:nvPr/>
        </p:nvSpPr>
        <p:spPr>
          <a:xfrm>
            <a:off x="9052560" y="3730752"/>
            <a:ext cx="2743200" cy="164592"/>
          </a:xfrm>
          <a:prstGeom prst="rect">
            <a:avLst/>
          </a:prstGeom>
          <a:solidFill>
            <a:srgbClr val="E5E7EB"/>
          </a:solidFill>
          <a:ln/>
        </p:spPr>
      </p:sp>
      <p:sp>
        <p:nvSpPr>
          <p:cNvPr id="99" name="Shape 97"/>
          <p:cNvSpPr/>
          <p:nvPr/>
        </p:nvSpPr>
        <p:spPr>
          <a:xfrm>
            <a:off x="9052560" y="3730752"/>
            <a:ext cx="329184" cy="164592"/>
          </a:xfrm>
          <a:prstGeom prst="rect">
            <a:avLst/>
          </a:prstGeom>
          <a:solidFill>
            <a:srgbClr val="E05A00"/>
          </a:solidFill>
          <a:ln/>
        </p:spPr>
      </p:sp>
      <p:sp>
        <p:nvSpPr>
          <p:cNvPr id="100" name="Text 98"/>
          <p:cNvSpPr/>
          <p:nvPr/>
        </p:nvSpPr>
        <p:spPr>
          <a:xfrm>
            <a:off x="11841480" y="369417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
        <p:nvSpPr>
          <p:cNvPr id="101" name="Text 99"/>
          <p:cNvSpPr/>
          <p:nvPr/>
        </p:nvSpPr>
        <p:spPr>
          <a:xfrm>
            <a:off x="6492240" y="407822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MACHINES</a:t>
            </a:r>
            <a:endParaRPr lang="en-US" sz="850" dirty="0"/>
          </a:p>
        </p:txBody>
      </p:sp>
      <p:sp>
        <p:nvSpPr>
          <p:cNvPr id="102" name="Text 100"/>
          <p:cNvSpPr/>
          <p:nvPr/>
        </p:nvSpPr>
        <p:spPr>
          <a:xfrm>
            <a:off x="8156448" y="407822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4 781 TEU</a:t>
            </a:r>
            <a:endParaRPr lang="en-US" sz="850" dirty="0"/>
          </a:p>
        </p:txBody>
      </p:sp>
      <p:sp>
        <p:nvSpPr>
          <p:cNvPr id="103" name="Shape 101"/>
          <p:cNvSpPr/>
          <p:nvPr/>
        </p:nvSpPr>
        <p:spPr>
          <a:xfrm>
            <a:off x="9052560" y="4114800"/>
            <a:ext cx="2743200" cy="164592"/>
          </a:xfrm>
          <a:prstGeom prst="rect">
            <a:avLst/>
          </a:prstGeom>
          <a:solidFill>
            <a:srgbClr val="E5E7EB"/>
          </a:solidFill>
          <a:ln/>
        </p:spPr>
      </p:sp>
      <p:sp>
        <p:nvSpPr>
          <p:cNvPr id="104" name="Shape 102"/>
          <p:cNvSpPr/>
          <p:nvPr/>
        </p:nvSpPr>
        <p:spPr>
          <a:xfrm>
            <a:off x="9052560" y="4114800"/>
            <a:ext cx="301752" cy="164592"/>
          </a:xfrm>
          <a:prstGeom prst="rect">
            <a:avLst/>
          </a:prstGeom>
          <a:solidFill>
            <a:srgbClr val="E05A00"/>
          </a:solidFill>
          <a:ln/>
        </p:spPr>
      </p:sp>
      <p:sp>
        <p:nvSpPr>
          <p:cNvPr id="105" name="Text 103"/>
          <p:cNvSpPr/>
          <p:nvPr/>
        </p:nvSpPr>
        <p:spPr>
          <a:xfrm>
            <a:off x="11841480" y="4078224"/>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11%</a:t>
            </a:r>
            <a:endParaRPr lang="en-US" sz="900" dirty="0"/>
          </a:p>
        </p:txBody>
      </p:sp>
      <p:sp>
        <p:nvSpPr>
          <p:cNvPr id="106" name="Text 104"/>
          <p:cNvSpPr/>
          <p:nvPr/>
        </p:nvSpPr>
        <p:spPr>
          <a:xfrm>
            <a:off x="6492240" y="446227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PRODUITS MER CONGELÉ</a:t>
            </a:r>
            <a:endParaRPr lang="en-US" sz="850" dirty="0"/>
          </a:p>
        </p:txBody>
      </p:sp>
      <p:sp>
        <p:nvSpPr>
          <p:cNvPr id="107" name="Text 105"/>
          <p:cNvSpPr/>
          <p:nvPr/>
        </p:nvSpPr>
        <p:spPr>
          <a:xfrm>
            <a:off x="8156448" y="446227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22 915 TEU</a:t>
            </a:r>
            <a:endParaRPr lang="en-US" sz="850" dirty="0"/>
          </a:p>
        </p:txBody>
      </p:sp>
      <p:sp>
        <p:nvSpPr>
          <p:cNvPr id="108" name="Shape 106"/>
          <p:cNvSpPr/>
          <p:nvPr/>
        </p:nvSpPr>
        <p:spPr>
          <a:xfrm>
            <a:off x="9052560" y="4498848"/>
            <a:ext cx="2743200" cy="164592"/>
          </a:xfrm>
          <a:prstGeom prst="rect">
            <a:avLst/>
          </a:prstGeom>
          <a:solidFill>
            <a:srgbClr val="E5E7EB"/>
          </a:solidFill>
          <a:ln/>
        </p:spPr>
      </p:sp>
      <p:sp>
        <p:nvSpPr>
          <p:cNvPr id="109" name="Shape 107"/>
          <p:cNvSpPr/>
          <p:nvPr/>
        </p:nvSpPr>
        <p:spPr>
          <a:xfrm>
            <a:off x="9052560" y="4498848"/>
            <a:ext cx="54864" cy="164592"/>
          </a:xfrm>
          <a:prstGeom prst="rect">
            <a:avLst/>
          </a:prstGeom>
          <a:solidFill>
            <a:srgbClr val="CC2200"/>
          </a:solidFill>
          <a:ln/>
        </p:spPr>
      </p:sp>
      <p:sp>
        <p:nvSpPr>
          <p:cNvPr id="110" name="Text 108"/>
          <p:cNvSpPr/>
          <p:nvPr/>
        </p:nvSpPr>
        <p:spPr>
          <a:xfrm>
            <a:off x="11841480" y="4462272"/>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2%</a:t>
            </a:r>
            <a:endParaRPr lang="en-US" sz="900" dirty="0"/>
          </a:p>
        </p:txBody>
      </p:sp>
      <p:sp>
        <p:nvSpPr>
          <p:cNvPr id="111" name="Text 109"/>
          <p:cNvSpPr/>
          <p:nvPr/>
        </p:nvSpPr>
        <p:spPr>
          <a:xfrm>
            <a:off x="6492240" y="4846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RIZ</a:t>
            </a:r>
            <a:endParaRPr lang="en-US" sz="850" dirty="0"/>
          </a:p>
        </p:txBody>
      </p:sp>
      <p:sp>
        <p:nvSpPr>
          <p:cNvPr id="112" name="Text 110"/>
          <p:cNvSpPr/>
          <p:nvPr/>
        </p:nvSpPr>
        <p:spPr>
          <a:xfrm>
            <a:off x="8156448" y="4846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9 586 TEU</a:t>
            </a:r>
            <a:endParaRPr lang="en-US" sz="850" dirty="0"/>
          </a:p>
        </p:txBody>
      </p:sp>
      <p:sp>
        <p:nvSpPr>
          <p:cNvPr id="113" name="Shape 111"/>
          <p:cNvSpPr/>
          <p:nvPr/>
        </p:nvSpPr>
        <p:spPr>
          <a:xfrm>
            <a:off x="9052560" y="4882896"/>
            <a:ext cx="2743200" cy="164592"/>
          </a:xfrm>
          <a:prstGeom prst="rect">
            <a:avLst/>
          </a:prstGeom>
          <a:solidFill>
            <a:srgbClr val="E5E7EB"/>
          </a:solidFill>
          <a:ln/>
        </p:spPr>
      </p:sp>
      <p:sp>
        <p:nvSpPr>
          <p:cNvPr id="114" name="Shape 112"/>
          <p:cNvSpPr/>
          <p:nvPr/>
        </p:nvSpPr>
        <p:spPr>
          <a:xfrm>
            <a:off x="9052560" y="4882896"/>
            <a:ext cx="54864" cy="164592"/>
          </a:xfrm>
          <a:prstGeom prst="rect">
            <a:avLst/>
          </a:prstGeom>
          <a:solidFill>
            <a:srgbClr val="CC2200"/>
          </a:solidFill>
          <a:ln/>
        </p:spPr>
      </p:sp>
      <p:sp>
        <p:nvSpPr>
          <p:cNvPr id="115" name="Text 113"/>
          <p:cNvSpPr/>
          <p:nvPr/>
        </p:nvSpPr>
        <p:spPr>
          <a:xfrm>
            <a:off x="11841480" y="4846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0%</a:t>
            </a:r>
            <a:endParaRPr lang="en-US" sz="900" dirty="0"/>
          </a:p>
        </p:txBody>
      </p:sp>
      <p:sp>
        <p:nvSpPr>
          <p:cNvPr id="116" name="Text 114"/>
          <p:cNvSpPr/>
          <p:nvPr/>
        </p:nvSpPr>
        <p:spPr>
          <a:xfrm>
            <a:off x="6492240" y="5230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VIANDES CONGELÉES</a:t>
            </a:r>
            <a:endParaRPr lang="en-US" sz="850" dirty="0"/>
          </a:p>
        </p:txBody>
      </p:sp>
      <p:sp>
        <p:nvSpPr>
          <p:cNvPr id="117" name="Text 115"/>
          <p:cNvSpPr/>
          <p:nvPr/>
        </p:nvSpPr>
        <p:spPr>
          <a:xfrm>
            <a:off x="8156448" y="5230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9 470 TEU</a:t>
            </a:r>
            <a:endParaRPr lang="en-US" sz="850" dirty="0"/>
          </a:p>
        </p:txBody>
      </p:sp>
      <p:sp>
        <p:nvSpPr>
          <p:cNvPr id="118" name="Shape 116"/>
          <p:cNvSpPr/>
          <p:nvPr/>
        </p:nvSpPr>
        <p:spPr>
          <a:xfrm>
            <a:off x="9052560" y="5266944"/>
            <a:ext cx="2743200" cy="164592"/>
          </a:xfrm>
          <a:prstGeom prst="rect">
            <a:avLst/>
          </a:prstGeom>
          <a:solidFill>
            <a:srgbClr val="E5E7EB"/>
          </a:solidFill>
          <a:ln/>
        </p:spPr>
      </p:sp>
      <p:sp>
        <p:nvSpPr>
          <p:cNvPr id="119" name="Shape 117"/>
          <p:cNvSpPr/>
          <p:nvPr/>
        </p:nvSpPr>
        <p:spPr>
          <a:xfrm>
            <a:off x="9052560" y="5266944"/>
            <a:ext cx="54864" cy="164592"/>
          </a:xfrm>
          <a:prstGeom prst="rect">
            <a:avLst/>
          </a:prstGeom>
          <a:solidFill>
            <a:srgbClr val="CC2200"/>
          </a:solidFill>
          <a:ln/>
        </p:spPr>
      </p:sp>
      <p:sp>
        <p:nvSpPr>
          <p:cNvPr id="120" name="Text 118"/>
          <p:cNvSpPr/>
          <p:nvPr/>
        </p:nvSpPr>
        <p:spPr>
          <a:xfrm>
            <a:off x="11841480" y="523036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CLIENTÈLE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Top 10 destinataires  |  Mix marchandises  |  Risques concentration</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p.6</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clients AGL – TIM (Destinataires, TEU)</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Client (Destinataire)</a:t>
            </a:r>
            <a:endParaRPr lang="en-US" sz="900" dirty="0"/>
          </a:p>
        </p:txBody>
      </p:sp>
      <p:sp>
        <p:nvSpPr>
          <p:cNvPr id="10" name="Text 8"/>
          <p:cNvSpPr/>
          <p:nvPr/>
        </p:nvSpPr>
        <p:spPr>
          <a:xfrm>
            <a:off x="585216" y="1408176"/>
            <a:ext cx="195072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1" name="Text 9"/>
          <p:cNvSpPr/>
          <p:nvPr/>
        </p:nvSpPr>
        <p:spPr>
          <a:xfrm>
            <a:off x="2581656" y="1408176"/>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Segment</a:t>
            </a:r>
            <a:endParaRPr lang="en-US" sz="900" dirty="0"/>
          </a:p>
        </p:txBody>
      </p:sp>
      <p:sp>
        <p:nvSpPr>
          <p:cNvPr id="12" name="Text 10"/>
          <p:cNvSpPr/>
          <p:nvPr/>
        </p:nvSpPr>
        <p:spPr>
          <a:xfrm>
            <a:off x="4578096" y="1408176"/>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Vol. AGL</a:t>
            </a:r>
            <a:endParaRPr lang="en-US" sz="900" dirty="0"/>
          </a:p>
        </p:txBody>
      </p:sp>
      <p:sp>
        <p:nvSpPr>
          <p:cNvPr id="13" name="Shape 11"/>
          <p:cNvSpPr/>
          <p:nvPr/>
        </p:nvSpPr>
        <p:spPr>
          <a:xfrm>
            <a:off x="137160" y="1627632"/>
            <a:ext cx="640080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K1 MINING SA CI</a:t>
            </a:r>
            <a:endParaRPr lang="en-US" sz="900" dirty="0"/>
          </a:p>
        </p:txBody>
      </p:sp>
      <p:sp>
        <p:nvSpPr>
          <p:cNvPr id="15" name="Text 13"/>
          <p:cNvSpPr/>
          <p:nvPr/>
        </p:nvSpPr>
        <p:spPr>
          <a:xfrm>
            <a:off x="585216" y="1664208"/>
            <a:ext cx="195072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1 531</a:t>
            </a:r>
            <a:endParaRPr lang="en-US" sz="900" dirty="0"/>
          </a:p>
        </p:txBody>
      </p:sp>
      <p:sp>
        <p:nvSpPr>
          <p:cNvPr id="16" name="Text 14"/>
          <p:cNvSpPr/>
          <p:nvPr/>
        </p:nvSpPr>
        <p:spPr>
          <a:xfrm>
            <a:off x="2581656" y="166420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Matériels Miniers</a:t>
            </a:r>
            <a:endParaRPr lang="en-US" sz="900" dirty="0"/>
          </a:p>
        </p:txBody>
      </p:sp>
      <p:sp>
        <p:nvSpPr>
          <p:cNvPr id="17" name="Text 15"/>
          <p:cNvSpPr/>
          <p:nvPr/>
        </p:nvSpPr>
        <p:spPr>
          <a:xfrm>
            <a:off x="4578096" y="1664208"/>
            <a:ext cx="195072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10,1%</a:t>
            </a:r>
            <a:endParaRPr lang="en-US" sz="900" dirty="0"/>
          </a:p>
        </p:txBody>
      </p:sp>
      <p:sp>
        <p:nvSpPr>
          <p:cNvPr id="18" name="Shape 16"/>
          <p:cNvSpPr/>
          <p:nvPr/>
        </p:nvSpPr>
        <p:spPr>
          <a:xfrm>
            <a:off x="137160" y="1883664"/>
            <a:ext cx="640080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SITAB CI</a:t>
            </a:r>
            <a:endParaRPr lang="en-US" sz="900" dirty="0"/>
          </a:p>
        </p:txBody>
      </p:sp>
      <p:sp>
        <p:nvSpPr>
          <p:cNvPr id="20" name="Text 18"/>
          <p:cNvSpPr/>
          <p:nvPr/>
        </p:nvSpPr>
        <p:spPr>
          <a:xfrm>
            <a:off x="585216" y="1920240"/>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876</a:t>
            </a:r>
            <a:endParaRPr lang="en-US" sz="900" dirty="0"/>
          </a:p>
        </p:txBody>
      </p:sp>
      <p:sp>
        <p:nvSpPr>
          <p:cNvPr id="21" name="Text 19"/>
          <p:cNvSpPr/>
          <p:nvPr/>
        </p:nvSpPr>
        <p:spPr>
          <a:xfrm>
            <a:off x="2581656" y="192024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Cigares/Cigarettes</a:t>
            </a:r>
            <a:endParaRPr lang="en-US" sz="900" dirty="0"/>
          </a:p>
        </p:txBody>
      </p:sp>
      <p:sp>
        <p:nvSpPr>
          <p:cNvPr id="22" name="Text 20"/>
          <p:cNvSpPr/>
          <p:nvPr/>
        </p:nvSpPr>
        <p:spPr>
          <a:xfrm>
            <a:off x="4578096" y="192024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5,8%</a:t>
            </a:r>
            <a:endParaRPr lang="en-US" sz="900" dirty="0"/>
          </a:p>
        </p:txBody>
      </p:sp>
      <p:sp>
        <p:nvSpPr>
          <p:cNvPr id="23" name="Shape 21"/>
          <p:cNvSpPr/>
          <p:nvPr/>
        </p:nvSpPr>
        <p:spPr>
          <a:xfrm>
            <a:off x="137160" y="2139696"/>
            <a:ext cx="640080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SCCI (PVC Compoundage CI)</a:t>
            </a:r>
            <a:endParaRPr lang="en-US" sz="900" dirty="0"/>
          </a:p>
        </p:txBody>
      </p:sp>
      <p:sp>
        <p:nvSpPr>
          <p:cNvPr id="25" name="Text 23"/>
          <p:cNvSpPr/>
          <p:nvPr/>
        </p:nvSpPr>
        <p:spPr>
          <a:xfrm>
            <a:off x="585216" y="217627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790</a:t>
            </a:r>
            <a:endParaRPr lang="en-US" sz="900" dirty="0"/>
          </a:p>
        </p:txBody>
      </p:sp>
      <p:sp>
        <p:nvSpPr>
          <p:cNvPr id="26" name="Text 24"/>
          <p:cNvSpPr/>
          <p:nvPr/>
        </p:nvSpPr>
        <p:spPr>
          <a:xfrm>
            <a:off x="2581656" y="217627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PVC Résine</a:t>
            </a:r>
            <a:endParaRPr lang="en-US" sz="900" dirty="0"/>
          </a:p>
        </p:txBody>
      </p:sp>
      <p:sp>
        <p:nvSpPr>
          <p:cNvPr id="27" name="Text 25"/>
          <p:cNvSpPr/>
          <p:nvPr/>
        </p:nvSpPr>
        <p:spPr>
          <a:xfrm>
            <a:off x="4578096" y="217627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5,2%</a:t>
            </a:r>
            <a:endParaRPr lang="en-US" sz="900" dirty="0"/>
          </a:p>
        </p:txBody>
      </p:sp>
      <p:sp>
        <p:nvSpPr>
          <p:cNvPr id="28" name="Shape 26"/>
          <p:cNvSpPr/>
          <p:nvPr/>
        </p:nvSpPr>
        <p:spPr>
          <a:xfrm>
            <a:off x="137160" y="2395728"/>
            <a:ext cx="640080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ALLIAD CI</a:t>
            </a:r>
            <a:endParaRPr lang="en-US" sz="900" dirty="0"/>
          </a:p>
        </p:txBody>
      </p:sp>
      <p:sp>
        <p:nvSpPr>
          <p:cNvPr id="30" name="Text 28"/>
          <p:cNvSpPr/>
          <p:nvPr/>
        </p:nvSpPr>
        <p:spPr>
          <a:xfrm>
            <a:off x="585216" y="243230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687</a:t>
            </a:r>
            <a:endParaRPr lang="en-US" sz="900" dirty="0"/>
          </a:p>
        </p:txBody>
      </p:sp>
      <p:sp>
        <p:nvSpPr>
          <p:cNvPr id="31" name="Text 29"/>
          <p:cNvSpPr/>
          <p:nvPr/>
        </p:nvSpPr>
        <p:spPr>
          <a:xfrm>
            <a:off x="2581656" y="243230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Polyéthylène</a:t>
            </a:r>
            <a:endParaRPr lang="en-US" sz="900" dirty="0"/>
          </a:p>
        </p:txBody>
      </p:sp>
      <p:sp>
        <p:nvSpPr>
          <p:cNvPr id="32" name="Text 30"/>
          <p:cNvSpPr/>
          <p:nvPr/>
        </p:nvSpPr>
        <p:spPr>
          <a:xfrm>
            <a:off x="4578096" y="243230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4,5%</a:t>
            </a:r>
            <a:endParaRPr lang="en-US" sz="900" dirty="0"/>
          </a:p>
        </p:txBody>
      </p:sp>
      <p:sp>
        <p:nvSpPr>
          <p:cNvPr id="33" name="Shape 31"/>
          <p:cNvSpPr/>
          <p:nvPr/>
        </p:nvSpPr>
        <p:spPr>
          <a:xfrm>
            <a:off x="137160" y="2651760"/>
            <a:ext cx="640080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SOCIFAD</a:t>
            </a:r>
            <a:endParaRPr lang="en-US" sz="900" dirty="0"/>
          </a:p>
        </p:txBody>
      </p:sp>
      <p:sp>
        <p:nvSpPr>
          <p:cNvPr id="35" name="Text 33"/>
          <p:cNvSpPr/>
          <p:nvPr/>
        </p:nvSpPr>
        <p:spPr>
          <a:xfrm>
            <a:off x="585216" y="268833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480</a:t>
            </a:r>
            <a:endParaRPr lang="en-US" sz="900" dirty="0"/>
          </a:p>
        </p:txBody>
      </p:sp>
      <p:sp>
        <p:nvSpPr>
          <p:cNvPr id="36" name="Text 34"/>
          <p:cNvSpPr/>
          <p:nvPr/>
        </p:nvSpPr>
        <p:spPr>
          <a:xfrm>
            <a:off x="2581656" y="268833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Articles Divers</a:t>
            </a:r>
            <a:endParaRPr lang="en-US" sz="900" dirty="0"/>
          </a:p>
        </p:txBody>
      </p:sp>
      <p:sp>
        <p:nvSpPr>
          <p:cNvPr id="37" name="Text 35"/>
          <p:cNvSpPr/>
          <p:nvPr/>
        </p:nvSpPr>
        <p:spPr>
          <a:xfrm>
            <a:off x="4578096" y="268833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3,2%</a:t>
            </a:r>
            <a:endParaRPr lang="en-US" sz="900" dirty="0"/>
          </a:p>
        </p:txBody>
      </p:sp>
      <p:sp>
        <p:nvSpPr>
          <p:cNvPr id="38" name="Shape 36"/>
          <p:cNvSpPr/>
          <p:nvPr/>
        </p:nvSpPr>
        <p:spPr>
          <a:xfrm>
            <a:off x="137160" y="2907792"/>
            <a:ext cx="640080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STE PROD ALIM CONGELÉ CI</a:t>
            </a:r>
            <a:endParaRPr lang="en-US" sz="900" dirty="0"/>
          </a:p>
        </p:txBody>
      </p:sp>
      <p:sp>
        <p:nvSpPr>
          <p:cNvPr id="40" name="Text 38"/>
          <p:cNvSpPr/>
          <p:nvPr/>
        </p:nvSpPr>
        <p:spPr>
          <a:xfrm>
            <a:off x="585216" y="2944368"/>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418</a:t>
            </a:r>
            <a:endParaRPr lang="en-US" sz="900" dirty="0"/>
          </a:p>
        </p:txBody>
      </p:sp>
      <p:sp>
        <p:nvSpPr>
          <p:cNvPr id="41" name="Text 39"/>
          <p:cNvSpPr/>
          <p:nvPr/>
        </p:nvSpPr>
        <p:spPr>
          <a:xfrm>
            <a:off x="2581656" y="294436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Prod. Mer Congelé</a:t>
            </a:r>
            <a:endParaRPr lang="en-US" sz="900" dirty="0"/>
          </a:p>
        </p:txBody>
      </p:sp>
      <p:sp>
        <p:nvSpPr>
          <p:cNvPr id="42" name="Text 40"/>
          <p:cNvSpPr/>
          <p:nvPr/>
        </p:nvSpPr>
        <p:spPr>
          <a:xfrm>
            <a:off x="4578096" y="294436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2,8%</a:t>
            </a:r>
            <a:endParaRPr lang="en-US" sz="900" dirty="0"/>
          </a:p>
        </p:txBody>
      </p:sp>
      <p:sp>
        <p:nvSpPr>
          <p:cNvPr id="43" name="Shape 41"/>
          <p:cNvSpPr/>
          <p:nvPr/>
        </p:nvSpPr>
        <p:spPr>
          <a:xfrm>
            <a:off x="137160" y="3163824"/>
            <a:ext cx="640080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SONACO CI</a:t>
            </a:r>
            <a:endParaRPr lang="en-US" sz="900" dirty="0"/>
          </a:p>
        </p:txBody>
      </p:sp>
      <p:sp>
        <p:nvSpPr>
          <p:cNvPr id="45" name="Text 43"/>
          <p:cNvSpPr/>
          <p:nvPr/>
        </p:nvSpPr>
        <p:spPr>
          <a:xfrm>
            <a:off x="585216" y="3200400"/>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417</a:t>
            </a:r>
            <a:endParaRPr lang="en-US" sz="900" dirty="0"/>
          </a:p>
        </p:txBody>
      </p:sp>
      <p:sp>
        <p:nvSpPr>
          <p:cNvPr id="46" name="Text 44"/>
          <p:cNvSpPr/>
          <p:nvPr/>
        </p:nvSpPr>
        <p:spPr>
          <a:xfrm>
            <a:off x="2581656" y="320040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Cigarettes</a:t>
            </a:r>
            <a:endParaRPr lang="en-US" sz="900" dirty="0"/>
          </a:p>
        </p:txBody>
      </p:sp>
      <p:sp>
        <p:nvSpPr>
          <p:cNvPr id="47" name="Text 45"/>
          <p:cNvSpPr/>
          <p:nvPr/>
        </p:nvSpPr>
        <p:spPr>
          <a:xfrm>
            <a:off x="4578096" y="320040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2,8%</a:t>
            </a:r>
            <a:endParaRPr lang="en-US" sz="900" dirty="0"/>
          </a:p>
        </p:txBody>
      </p:sp>
      <p:sp>
        <p:nvSpPr>
          <p:cNvPr id="48" name="Shape 46"/>
          <p:cNvSpPr/>
          <p:nvPr/>
        </p:nvSpPr>
        <p:spPr>
          <a:xfrm>
            <a:off x="137160" y="3419856"/>
            <a:ext cx="640080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UBIPHARM CÔTE D'IVOIRE</a:t>
            </a:r>
            <a:endParaRPr lang="en-US" sz="900" dirty="0"/>
          </a:p>
        </p:txBody>
      </p:sp>
      <p:sp>
        <p:nvSpPr>
          <p:cNvPr id="50" name="Text 48"/>
          <p:cNvSpPr/>
          <p:nvPr/>
        </p:nvSpPr>
        <p:spPr>
          <a:xfrm>
            <a:off x="585216" y="345643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399</a:t>
            </a:r>
            <a:endParaRPr lang="en-US" sz="900" dirty="0"/>
          </a:p>
        </p:txBody>
      </p:sp>
      <p:sp>
        <p:nvSpPr>
          <p:cNvPr id="51" name="Text 49"/>
          <p:cNvSpPr/>
          <p:nvPr/>
        </p:nvSpPr>
        <p:spPr>
          <a:xfrm>
            <a:off x="2581656" y="345643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Médicaments</a:t>
            </a:r>
            <a:endParaRPr lang="en-US" sz="900" dirty="0"/>
          </a:p>
        </p:txBody>
      </p:sp>
      <p:sp>
        <p:nvSpPr>
          <p:cNvPr id="52" name="Text 50"/>
          <p:cNvSpPr/>
          <p:nvPr/>
        </p:nvSpPr>
        <p:spPr>
          <a:xfrm>
            <a:off x="4578096" y="345643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2,6%</a:t>
            </a:r>
            <a:endParaRPr lang="en-US" sz="900" dirty="0"/>
          </a:p>
        </p:txBody>
      </p:sp>
      <p:sp>
        <p:nvSpPr>
          <p:cNvPr id="53" name="Shape 51"/>
          <p:cNvSpPr/>
          <p:nvPr/>
        </p:nvSpPr>
        <p:spPr>
          <a:xfrm>
            <a:off x="137160" y="3675888"/>
            <a:ext cx="640080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SOLIBRA</a:t>
            </a:r>
            <a:endParaRPr lang="en-US" sz="900" dirty="0"/>
          </a:p>
        </p:txBody>
      </p:sp>
      <p:sp>
        <p:nvSpPr>
          <p:cNvPr id="55" name="Text 53"/>
          <p:cNvSpPr/>
          <p:nvPr/>
        </p:nvSpPr>
        <p:spPr>
          <a:xfrm>
            <a:off x="585216" y="371246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373</a:t>
            </a:r>
            <a:endParaRPr lang="en-US" sz="900" dirty="0"/>
          </a:p>
        </p:txBody>
      </p:sp>
      <p:sp>
        <p:nvSpPr>
          <p:cNvPr id="56" name="Text 54"/>
          <p:cNvSpPr/>
          <p:nvPr/>
        </p:nvSpPr>
        <p:spPr>
          <a:xfrm>
            <a:off x="2581656" y="371246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Boissons</a:t>
            </a:r>
            <a:endParaRPr lang="en-US" sz="900" dirty="0"/>
          </a:p>
        </p:txBody>
      </p:sp>
      <p:sp>
        <p:nvSpPr>
          <p:cNvPr id="57" name="Text 55"/>
          <p:cNvSpPr/>
          <p:nvPr/>
        </p:nvSpPr>
        <p:spPr>
          <a:xfrm>
            <a:off x="4578096" y="371246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2,5%</a:t>
            </a:r>
            <a:endParaRPr lang="en-US" sz="900" dirty="0"/>
          </a:p>
        </p:txBody>
      </p:sp>
      <p:sp>
        <p:nvSpPr>
          <p:cNvPr id="58" name="Shape 56"/>
          <p:cNvSpPr/>
          <p:nvPr/>
        </p:nvSpPr>
        <p:spPr>
          <a:xfrm>
            <a:off x="137160" y="3931920"/>
            <a:ext cx="640080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STE TRANSFO INDUS CI</a:t>
            </a:r>
            <a:endParaRPr lang="en-US" sz="900" dirty="0"/>
          </a:p>
        </p:txBody>
      </p:sp>
      <p:sp>
        <p:nvSpPr>
          <p:cNvPr id="60" name="Text 58"/>
          <p:cNvSpPr/>
          <p:nvPr/>
        </p:nvSpPr>
        <p:spPr>
          <a:xfrm>
            <a:off x="585216" y="396849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363</a:t>
            </a:r>
            <a:endParaRPr lang="en-US" sz="900" dirty="0"/>
          </a:p>
        </p:txBody>
      </p:sp>
      <p:sp>
        <p:nvSpPr>
          <p:cNvPr id="61" name="Text 59"/>
          <p:cNvSpPr/>
          <p:nvPr/>
        </p:nvSpPr>
        <p:spPr>
          <a:xfrm>
            <a:off x="2581656" y="396849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Emballages</a:t>
            </a:r>
            <a:endParaRPr lang="en-US" sz="900" dirty="0"/>
          </a:p>
        </p:txBody>
      </p:sp>
      <p:sp>
        <p:nvSpPr>
          <p:cNvPr id="62" name="Text 60"/>
          <p:cNvSpPr/>
          <p:nvPr/>
        </p:nvSpPr>
        <p:spPr>
          <a:xfrm>
            <a:off x="4578096" y="396849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2,4%</a:t>
            </a:r>
            <a:endParaRPr lang="en-US" sz="900" dirty="0"/>
          </a:p>
        </p:txBody>
      </p:sp>
      <p:sp>
        <p:nvSpPr>
          <p:cNvPr id="63" name="Shape 61"/>
          <p:cNvSpPr/>
          <p:nvPr/>
        </p:nvSpPr>
        <p:spPr>
          <a:xfrm>
            <a:off x="137160" y="4892040"/>
            <a:ext cx="6400800" cy="868680"/>
          </a:xfrm>
          <a:prstGeom prst="rect">
            <a:avLst/>
          </a:prstGeom>
          <a:solidFill>
            <a:srgbClr val="FFFBEC"/>
          </a:solidFill>
          <a:ln w="6350">
            <a:solidFill>
              <a:srgbClr val="E5C97A"/>
            </a:solidFill>
            <a:prstDash val="solid"/>
          </a:ln>
        </p:spPr>
      </p:sp>
      <p:sp>
        <p:nvSpPr>
          <p:cNvPr id="64" name="Text 62"/>
          <p:cNvSpPr/>
          <p:nvPr/>
        </p:nvSpPr>
        <p:spPr>
          <a:xfrm>
            <a:off x="228600" y="4965192"/>
            <a:ext cx="621792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Concentration : K1 Mining seul = 10,1% du volume AGL TIM. Risque client unique.</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Opportunités cross-sell : SITAB (TIM+AER), UBIPHARM (TIM+AER+HINT IMP), SOLIBRA = clients multi-métiers à développer.</a:t>
            </a:r>
            <a:endParaRPr lang="en-US" sz="900" dirty="0"/>
          </a:p>
        </p:txBody>
      </p:sp>
      <p:sp>
        <p:nvSpPr>
          <p:cNvPr id="65" name="Text 6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Mix marchandises AGL – TIM</a:t>
            </a:r>
            <a:endParaRPr lang="en-US" sz="1100" dirty="0"/>
          </a:p>
        </p:txBody>
      </p:sp>
      <p:graphicFrame>
        <p:nvGraphicFramePr>
          <p:cNvPr id="66" name="Chart 0" descr=""/>
          <p:cNvGraphicFramePr/>
          <p:nvPr/>
        </p:nvGraphicFramePr>
        <p:xfrm>
          <a:off x="6675120" y="13716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TIM – NOUVEAUX ENTRANTS &amp; NOUVEAUX FLUX</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Transitaires entrants (rangs 11–15)  |  Nouvelles marchandises captées  |  Nouveaux destinataires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p.7</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transitaires TIM (rangs 11–15)</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45161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11" name="Text 9"/>
          <p:cNvSpPr/>
          <p:nvPr/>
        </p:nvSpPr>
        <p:spPr>
          <a:xfrm>
            <a:off x="2082546" y="1408176"/>
            <a:ext cx="145161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2" name="Text 10"/>
          <p:cNvSpPr/>
          <p:nvPr/>
        </p:nvSpPr>
        <p:spPr>
          <a:xfrm>
            <a:off x="3579876" y="1408176"/>
            <a:ext cx="145161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Text 11"/>
          <p:cNvSpPr/>
          <p:nvPr/>
        </p:nvSpPr>
        <p:spPr>
          <a:xfrm>
            <a:off x="5077206" y="1408176"/>
            <a:ext cx="145161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Spécialité</a:t>
            </a:r>
            <a:endParaRPr lang="en-US" sz="900" dirty="0"/>
          </a:p>
        </p:txBody>
      </p:sp>
      <p:sp>
        <p:nvSpPr>
          <p:cNvPr id="14" name="Shape 12"/>
          <p:cNvSpPr/>
          <p:nvPr/>
        </p:nvSpPr>
        <p:spPr>
          <a:xfrm>
            <a:off x="137160" y="1627632"/>
            <a:ext cx="6400800" cy="256032"/>
          </a:xfrm>
          <a:prstGeom prst="rect">
            <a:avLst/>
          </a:prstGeom>
          <a:solidFill>
            <a:srgbClr val="FFFFFF"/>
          </a:solidFill>
          <a:ln w="3810">
            <a:solidFill>
              <a:srgbClr val="E5E7EB"/>
            </a:solidFill>
            <a:prstDash val="solid"/>
          </a:ln>
        </p:spPr>
      </p:sp>
      <p:sp>
        <p:nvSpPr>
          <p:cNvPr id="15" name="Text 13"/>
          <p:cNvSpPr/>
          <p:nvPr/>
        </p:nvSpPr>
        <p:spPr>
          <a:xfrm>
            <a:off x="173736" y="166420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a:t>
            </a:r>
            <a:endParaRPr lang="en-US" sz="900" dirty="0"/>
          </a:p>
        </p:txBody>
      </p:sp>
      <p:sp>
        <p:nvSpPr>
          <p:cNvPr id="16" name="Text 14"/>
          <p:cNvSpPr/>
          <p:nvPr/>
        </p:nvSpPr>
        <p:spPr>
          <a:xfrm>
            <a:off x="585216" y="1664208"/>
            <a:ext cx="1451610" cy="201168"/>
          </a:xfrm>
          <a:prstGeom prst="rect">
            <a:avLst/>
          </a:prstGeom>
          <a:noFill/>
          <a:ln/>
        </p:spPr>
        <p:txBody>
          <a:bodyPr wrap="square" rtlCol="0" anchor="ctr"/>
          <a:lstStyle/>
          <a:p>
            <a:pPr algn="l" indent="0" marL="0">
              <a:buNone/>
            </a:pPr>
            <a:r>
              <a:rPr lang="en-US" sz="900" dirty="0">
                <a:solidFill>
                  <a:srgbClr val="1A7C4F"/>
                </a:solidFill>
                <a:latin typeface="Calibri" pitchFamily="34" charset="0"/>
                <a:ea typeface="Calibri" pitchFamily="34" charset="-122"/>
                <a:cs typeface="Calibri" pitchFamily="34" charset="-120"/>
              </a:rPr>
              <a:t>ATLANTIQUE TRANSIT CI</a:t>
            </a:r>
            <a:endParaRPr lang="en-US" sz="900" dirty="0"/>
          </a:p>
        </p:txBody>
      </p:sp>
      <p:sp>
        <p:nvSpPr>
          <p:cNvPr id="17" name="Text 15"/>
          <p:cNvSpPr/>
          <p:nvPr/>
        </p:nvSpPr>
        <p:spPr>
          <a:xfrm>
            <a:off x="2082546" y="1664208"/>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3 820</a:t>
            </a:r>
            <a:endParaRPr lang="en-US" sz="900" dirty="0"/>
          </a:p>
        </p:txBody>
      </p:sp>
      <p:sp>
        <p:nvSpPr>
          <p:cNvPr id="18" name="Text 16"/>
          <p:cNvSpPr/>
          <p:nvPr/>
        </p:nvSpPr>
        <p:spPr>
          <a:xfrm>
            <a:off x="3579876" y="1664208"/>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2,0 %</a:t>
            </a:r>
            <a:endParaRPr lang="en-US" sz="900" dirty="0"/>
          </a:p>
        </p:txBody>
      </p:sp>
      <p:sp>
        <p:nvSpPr>
          <p:cNvPr id="19" name="Text 17"/>
          <p:cNvSpPr/>
          <p:nvPr/>
        </p:nvSpPr>
        <p:spPr>
          <a:xfrm>
            <a:off x="5077206" y="1664208"/>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Emball. / Plastiques</a:t>
            </a:r>
            <a:endParaRPr lang="en-US" sz="900" dirty="0"/>
          </a:p>
        </p:txBody>
      </p:sp>
      <p:sp>
        <p:nvSpPr>
          <p:cNvPr id="20" name="Shape 18"/>
          <p:cNvSpPr/>
          <p:nvPr/>
        </p:nvSpPr>
        <p:spPr>
          <a:xfrm>
            <a:off x="137160" y="1883664"/>
            <a:ext cx="6400800" cy="256032"/>
          </a:xfrm>
          <a:prstGeom prst="rect">
            <a:avLst/>
          </a:prstGeom>
          <a:solidFill>
            <a:srgbClr val="F8F9FA"/>
          </a:solidFill>
          <a:ln w="3810">
            <a:solidFill>
              <a:srgbClr val="E5E7EB"/>
            </a:solidFill>
            <a:prstDash val="solid"/>
          </a:ln>
        </p:spPr>
      </p:sp>
      <p:sp>
        <p:nvSpPr>
          <p:cNvPr id="21" name="Text 19"/>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#12</a:t>
            </a:r>
            <a:endParaRPr lang="en-US" sz="900" dirty="0"/>
          </a:p>
        </p:txBody>
      </p:sp>
      <p:sp>
        <p:nvSpPr>
          <p:cNvPr id="22" name="Text 20"/>
          <p:cNvSpPr/>
          <p:nvPr/>
        </p:nvSpPr>
        <p:spPr>
          <a:xfrm>
            <a:off x="585216" y="1920240"/>
            <a:ext cx="145161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WESTAFRICA LOG. CI</a:t>
            </a:r>
            <a:endParaRPr lang="en-US" sz="900" dirty="0"/>
          </a:p>
        </p:txBody>
      </p:sp>
      <p:sp>
        <p:nvSpPr>
          <p:cNvPr id="23" name="Text 21"/>
          <p:cNvSpPr/>
          <p:nvPr/>
        </p:nvSpPr>
        <p:spPr>
          <a:xfrm>
            <a:off x="2082546" y="1920240"/>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3 410</a:t>
            </a:r>
            <a:endParaRPr lang="en-US" sz="900" dirty="0"/>
          </a:p>
        </p:txBody>
      </p:sp>
      <p:sp>
        <p:nvSpPr>
          <p:cNvPr id="24" name="Text 22"/>
          <p:cNvSpPr/>
          <p:nvPr/>
        </p:nvSpPr>
        <p:spPr>
          <a:xfrm>
            <a:off x="3579876" y="1920240"/>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1,8 %</a:t>
            </a:r>
            <a:endParaRPr lang="en-US" sz="900" dirty="0"/>
          </a:p>
        </p:txBody>
      </p:sp>
      <p:sp>
        <p:nvSpPr>
          <p:cNvPr id="25" name="Text 23"/>
          <p:cNvSpPr/>
          <p:nvPr/>
        </p:nvSpPr>
        <p:spPr>
          <a:xfrm>
            <a:off x="5077206" y="1920240"/>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Machines</a:t>
            </a:r>
            <a:endParaRPr lang="en-US" sz="900" dirty="0"/>
          </a:p>
        </p:txBody>
      </p:sp>
      <p:sp>
        <p:nvSpPr>
          <p:cNvPr id="26" name="Shape 24"/>
          <p:cNvSpPr/>
          <p:nvPr/>
        </p:nvSpPr>
        <p:spPr>
          <a:xfrm>
            <a:off x="137160" y="2139696"/>
            <a:ext cx="6400800" cy="256032"/>
          </a:xfrm>
          <a:prstGeom prst="rect">
            <a:avLst/>
          </a:prstGeom>
          <a:solidFill>
            <a:srgbClr val="FFFFFF"/>
          </a:solidFill>
          <a:ln w="3810">
            <a:solidFill>
              <a:srgbClr val="E5E7EB"/>
            </a:solidFill>
            <a:prstDash val="solid"/>
          </a:ln>
        </p:spPr>
      </p:sp>
      <p:sp>
        <p:nvSpPr>
          <p:cNvPr id="27" name="Text 25"/>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a:t>
            </a:r>
            <a:endParaRPr lang="en-US" sz="900" dirty="0"/>
          </a:p>
        </p:txBody>
      </p:sp>
      <p:sp>
        <p:nvSpPr>
          <p:cNvPr id="28" name="Text 26"/>
          <p:cNvSpPr/>
          <p:nvPr/>
        </p:nvSpPr>
        <p:spPr>
          <a:xfrm>
            <a:off x="585216" y="2176272"/>
            <a:ext cx="145161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IVOIRE TRANSIT RAPID</a:t>
            </a:r>
            <a:endParaRPr lang="en-US" sz="900" dirty="0"/>
          </a:p>
        </p:txBody>
      </p:sp>
      <p:sp>
        <p:nvSpPr>
          <p:cNvPr id="29" name="Text 27"/>
          <p:cNvSpPr/>
          <p:nvPr/>
        </p:nvSpPr>
        <p:spPr>
          <a:xfrm>
            <a:off x="2082546" y="2176272"/>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3 180</a:t>
            </a:r>
            <a:endParaRPr lang="en-US" sz="900" dirty="0"/>
          </a:p>
        </p:txBody>
      </p:sp>
      <p:sp>
        <p:nvSpPr>
          <p:cNvPr id="30" name="Text 28"/>
          <p:cNvSpPr/>
          <p:nvPr/>
        </p:nvSpPr>
        <p:spPr>
          <a:xfrm>
            <a:off x="3579876" y="2176272"/>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1,6 %</a:t>
            </a:r>
            <a:endParaRPr lang="en-US" sz="900" dirty="0"/>
          </a:p>
        </p:txBody>
      </p:sp>
      <p:sp>
        <p:nvSpPr>
          <p:cNvPr id="31" name="Text 29"/>
          <p:cNvSpPr/>
          <p:nvPr/>
        </p:nvSpPr>
        <p:spPr>
          <a:xfrm>
            <a:off x="5077206" y="2176272"/>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Chimie / Pharma</a:t>
            </a:r>
            <a:endParaRPr lang="en-US" sz="900" dirty="0"/>
          </a:p>
        </p:txBody>
      </p:sp>
      <p:sp>
        <p:nvSpPr>
          <p:cNvPr id="32" name="Shape 30"/>
          <p:cNvSpPr/>
          <p:nvPr/>
        </p:nvSpPr>
        <p:spPr>
          <a:xfrm>
            <a:off x="137160" y="2395728"/>
            <a:ext cx="6400800" cy="256032"/>
          </a:xfrm>
          <a:prstGeom prst="rect">
            <a:avLst/>
          </a:prstGeom>
          <a:solidFill>
            <a:srgbClr val="FFF9EC"/>
          </a:solidFill>
          <a:ln w="3810">
            <a:solidFill>
              <a:srgbClr val="E5E7EB"/>
            </a:solidFill>
            <a:prstDash val="solid"/>
          </a:ln>
        </p:spPr>
      </p:sp>
      <p:sp>
        <p:nvSpPr>
          <p:cNvPr id="33" name="Text 31"/>
          <p:cNvSpPr/>
          <p:nvPr/>
        </p:nvSpPr>
        <p:spPr>
          <a:xfrm>
            <a:off x="173736" y="2432304"/>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#14</a:t>
            </a:r>
            <a:endParaRPr lang="en-US" sz="900" dirty="0"/>
          </a:p>
        </p:txBody>
      </p:sp>
      <p:sp>
        <p:nvSpPr>
          <p:cNvPr id="34" name="Text 32"/>
          <p:cNvSpPr/>
          <p:nvPr/>
        </p:nvSpPr>
        <p:spPr>
          <a:xfrm>
            <a:off x="585216" y="2432304"/>
            <a:ext cx="1451610" cy="201168"/>
          </a:xfrm>
          <a:prstGeom prst="rect">
            <a:avLst/>
          </a:prstGeom>
          <a:noFill/>
          <a:ln/>
        </p:spPr>
        <p:txBody>
          <a:bodyPr wrap="square" rtlCol="0" anchor="ctr"/>
          <a:lstStyle/>
          <a:p>
            <a:pPr algn="l" indent="0" marL="0">
              <a:buNone/>
            </a:pPr>
            <a:r>
              <a:rPr lang="en-US" sz="900" b="1" dirty="0">
                <a:solidFill>
                  <a:srgbClr val="374151"/>
                </a:solidFill>
                <a:latin typeface="Calibri" pitchFamily="34" charset="0"/>
                <a:ea typeface="Calibri" pitchFamily="34" charset="-122"/>
                <a:cs typeface="Calibri" pitchFamily="34" charset="-120"/>
              </a:rPr>
              <a:t>CEVA LOGISTICS CI</a:t>
            </a:r>
            <a:endParaRPr lang="en-US" sz="900" dirty="0"/>
          </a:p>
        </p:txBody>
      </p:sp>
      <p:sp>
        <p:nvSpPr>
          <p:cNvPr id="35" name="Text 33"/>
          <p:cNvSpPr/>
          <p:nvPr/>
        </p:nvSpPr>
        <p:spPr>
          <a:xfrm>
            <a:off x="2082546" y="2432304"/>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2 950</a:t>
            </a:r>
            <a:endParaRPr lang="en-US" sz="900" dirty="0"/>
          </a:p>
        </p:txBody>
      </p:sp>
      <p:sp>
        <p:nvSpPr>
          <p:cNvPr id="36" name="Text 34"/>
          <p:cNvSpPr/>
          <p:nvPr/>
        </p:nvSpPr>
        <p:spPr>
          <a:xfrm>
            <a:off x="3579876" y="2432304"/>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1,5 %</a:t>
            </a:r>
            <a:endParaRPr lang="en-US" sz="900" dirty="0"/>
          </a:p>
        </p:txBody>
      </p:sp>
      <p:sp>
        <p:nvSpPr>
          <p:cNvPr id="37" name="Text 35"/>
          <p:cNvSpPr/>
          <p:nvPr/>
        </p:nvSpPr>
        <p:spPr>
          <a:xfrm>
            <a:off x="5077206" y="2432304"/>
            <a:ext cx="145161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Multi-segments</a:t>
            </a:r>
            <a:endParaRPr lang="en-US" sz="900" dirty="0"/>
          </a:p>
        </p:txBody>
      </p:sp>
      <p:sp>
        <p:nvSpPr>
          <p:cNvPr id="38" name="Shape 36"/>
          <p:cNvSpPr/>
          <p:nvPr/>
        </p:nvSpPr>
        <p:spPr>
          <a:xfrm>
            <a:off x="137160" y="2651760"/>
            <a:ext cx="6400800" cy="256032"/>
          </a:xfrm>
          <a:prstGeom prst="rect">
            <a:avLst/>
          </a:prstGeom>
          <a:solidFill>
            <a:srgbClr val="FFFFFF"/>
          </a:solidFill>
          <a:ln w="3810">
            <a:solidFill>
              <a:srgbClr val="E5E7EB"/>
            </a:solidFill>
            <a:prstDash val="solid"/>
          </a:ln>
        </p:spPr>
      </p:sp>
      <p:sp>
        <p:nvSpPr>
          <p:cNvPr id="39" name="Text 37"/>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#15</a:t>
            </a:r>
            <a:endParaRPr lang="en-US" sz="900" dirty="0"/>
          </a:p>
        </p:txBody>
      </p:sp>
      <p:sp>
        <p:nvSpPr>
          <p:cNvPr id="40" name="Text 38"/>
          <p:cNvSpPr/>
          <p:nvPr/>
        </p:nvSpPr>
        <p:spPr>
          <a:xfrm>
            <a:off x="585216" y="2688336"/>
            <a:ext cx="145161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SOCOPHAR TRANSIT</a:t>
            </a:r>
            <a:endParaRPr lang="en-US" sz="900" dirty="0"/>
          </a:p>
        </p:txBody>
      </p:sp>
      <p:sp>
        <p:nvSpPr>
          <p:cNvPr id="41" name="Text 39"/>
          <p:cNvSpPr/>
          <p:nvPr/>
        </p:nvSpPr>
        <p:spPr>
          <a:xfrm>
            <a:off x="2082546" y="2688336"/>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2 640</a:t>
            </a:r>
            <a:endParaRPr lang="en-US" sz="900" dirty="0"/>
          </a:p>
        </p:txBody>
      </p:sp>
      <p:sp>
        <p:nvSpPr>
          <p:cNvPr id="42" name="Text 40"/>
          <p:cNvSpPr/>
          <p:nvPr/>
        </p:nvSpPr>
        <p:spPr>
          <a:xfrm>
            <a:off x="3579876" y="2688336"/>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1,4 %</a:t>
            </a:r>
            <a:endParaRPr lang="en-US" sz="900" dirty="0"/>
          </a:p>
        </p:txBody>
      </p:sp>
      <p:sp>
        <p:nvSpPr>
          <p:cNvPr id="43" name="Text 41"/>
          <p:cNvSpPr/>
          <p:nvPr/>
        </p:nvSpPr>
        <p:spPr>
          <a:xfrm>
            <a:off x="5077206" y="2688336"/>
            <a:ext cx="145161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Médicaments</a:t>
            </a:r>
            <a:endParaRPr lang="en-US" sz="900" dirty="0"/>
          </a:p>
        </p:txBody>
      </p:sp>
      <p:sp>
        <p:nvSpPr>
          <p:cNvPr id="44" name="Text 42"/>
          <p:cNvSpPr/>
          <p:nvPr/>
        </p:nvSpPr>
        <p:spPr>
          <a:xfrm>
            <a:off x="228600" y="281635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destinataires AGL – TIM (1er flux 2026)</a:t>
            </a:r>
            <a:endParaRPr lang="en-US" sz="1100" dirty="0"/>
          </a:p>
        </p:txBody>
      </p:sp>
      <p:sp>
        <p:nvSpPr>
          <p:cNvPr id="45" name="Shape 43"/>
          <p:cNvSpPr/>
          <p:nvPr/>
        </p:nvSpPr>
        <p:spPr>
          <a:xfrm>
            <a:off x="137160" y="3090672"/>
            <a:ext cx="6400800" cy="256032"/>
          </a:xfrm>
          <a:prstGeom prst="rect">
            <a:avLst/>
          </a:prstGeom>
          <a:solidFill>
            <a:srgbClr val="0D2243"/>
          </a:solidFill>
          <a:ln/>
        </p:spPr>
      </p:sp>
      <p:sp>
        <p:nvSpPr>
          <p:cNvPr id="46" name="Text 44"/>
          <p:cNvSpPr/>
          <p:nvPr/>
        </p:nvSpPr>
        <p:spPr>
          <a:xfrm>
            <a:off x="173736" y="3127248"/>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Destinataire</a:t>
            </a:r>
            <a:endParaRPr lang="en-US" sz="900" dirty="0"/>
          </a:p>
        </p:txBody>
      </p:sp>
      <p:sp>
        <p:nvSpPr>
          <p:cNvPr id="47" name="Text 45"/>
          <p:cNvSpPr/>
          <p:nvPr/>
        </p:nvSpPr>
        <p:spPr>
          <a:xfrm>
            <a:off x="585216" y="3127248"/>
            <a:ext cx="195072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48" name="Text 46"/>
          <p:cNvSpPr/>
          <p:nvPr/>
        </p:nvSpPr>
        <p:spPr>
          <a:xfrm>
            <a:off x="2581656" y="3127248"/>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Secteur</a:t>
            </a:r>
            <a:endParaRPr lang="en-US" sz="900" dirty="0"/>
          </a:p>
        </p:txBody>
      </p:sp>
      <p:sp>
        <p:nvSpPr>
          <p:cNvPr id="49" name="Text 47"/>
          <p:cNvSpPr/>
          <p:nvPr/>
        </p:nvSpPr>
        <p:spPr>
          <a:xfrm>
            <a:off x="4578096" y="3127248"/>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Entrée</a:t>
            </a:r>
            <a:endParaRPr lang="en-US" sz="900" dirty="0"/>
          </a:p>
        </p:txBody>
      </p:sp>
      <p:sp>
        <p:nvSpPr>
          <p:cNvPr id="50" name="Shape 48"/>
          <p:cNvSpPr/>
          <p:nvPr/>
        </p:nvSpPr>
        <p:spPr>
          <a:xfrm>
            <a:off x="137160" y="3346704"/>
            <a:ext cx="6400800" cy="256032"/>
          </a:xfrm>
          <a:prstGeom prst="rect">
            <a:avLst/>
          </a:prstGeom>
          <a:solidFill>
            <a:srgbClr val="FFF9EC"/>
          </a:solidFill>
          <a:ln w="3810">
            <a:solidFill>
              <a:srgbClr val="E5E7EB"/>
            </a:solidFill>
            <a:prstDash val="solid"/>
          </a:ln>
        </p:spPr>
      </p:sp>
      <p:sp>
        <p:nvSpPr>
          <p:cNvPr id="51" name="Text 49"/>
          <p:cNvSpPr/>
          <p:nvPr/>
        </p:nvSpPr>
        <p:spPr>
          <a:xfrm>
            <a:off x="173736" y="3383280"/>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ORANGE CI (équipements)</a:t>
            </a:r>
            <a:endParaRPr lang="en-US" sz="900" dirty="0"/>
          </a:p>
        </p:txBody>
      </p:sp>
      <p:sp>
        <p:nvSpPr>
          <p:cNvPr id="52" name="Text 50"/>
          <p:cNvSpPr/>
          <p:nvPr/>
        </p:nvSpPr>
        <p:spPr>
          <a:xfrm>
            <a:off x="585216" y="3383280"/>
            <a:ext cx="195072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680</a:t>
            </a:r>
            <a:endParaRPr lang="en-US" sz="900" dirty="0"/>
          </a:p>
        </p:txBody>
      </p:sp>
      <p:sp>
        <p:nvSpPr>
          <p:cNvPr id="53" name="Text 51"/>
          <p:cNvSpPr/>
          <p:nvPr/>
        </p:nvSpPr>
        <p:spPr>
          <a:xfrm>
            <a:off x="2581656" y="338328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Télécoms</a:t>
            </a:r>
            <a:endParaRPr lang="en-US" sz="900" dirty="0"/>
          </a:p>
        </p:txBody>
      </p:sp>
      <p:sp>
        <p:nvSpPr>
          <p:cNvPr id="54" name="Text 52"/>
          <p:cNvSpPr/>
          <p:nvPr/>
        </p:nvSpPr>
        <p:spPr>
          <a:xfrm>
            <a:off x="4578096" y="3383280"/>
            <a:ext cx="195072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Q1 2026</a:t>
            </a:r>
            <a:endParaRPr lang="en-US" sz="900" dirty="0"/>
          </a:p>
        </p:txBody>
      </p:sp>
      <p:sp>
        <p:nvSpPr>
          <p:cNvPr id="55" name="Shape 53"/>
          <p:cNvSpPr/>
          <p:nvPr/>
        </p:nvSpPr>
        <p:spPr>
          <a:xfrm>
            <a:off x="137160" y="3602736"/>
            <a:ext cx="6400800" cy="256032"/>
          </a:xfrm>
          <a:prstGeom prst="rect">
            <a:avLst/>
          </a:prstGeom>
          <a:solidFill>
            <a:srgbClr val="F8F9FA"/>
          </a:solidFill>
          <a:ln w="3810">
            <a:solidFill>
              <a:srgbClr val="E5E7EB"/>
            </a:solidFill>
            <a:prstDash val="solid"/>
          </a:ln>
        </p:spPr>
      </p:sp>
      <p:sp>
        <p:nvSpPr>
          <p:cNvPr id="56" name="Text 54"/>
          <p:cNvSpPr/>
          <p:nvPr/>
        </p:nvSpPr>
        <p:spPr>
          <a:xfrm>
            <a:off x="173736" y="363931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NESTLÉ CI</a:t>
            </a:r>
            <a:endParaRPr lang="en-US" sz="900" dirty="0"/>
          </a:p>
        </p:txBody>
      </p:sp>
      <p:sp>
        <p:nvSpPr>
          <p:cNvPr id="57" name="Text 55"/>
          <p:cNvSpPr/>
          <p:nvPr/>
        </p:nvSpPr>
        <p:spPr>
          <a:xfrm>
            <a:off x="585216" y="363931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420</a:t>
            </a:r>
            <a:endParaRPr lang="en-US" sz="900" dirty="0"/>
          </a:p>
        </p:txBody>
      </p:sp>
      <p:sp>
        <p:nvSpPr>
          <p:cNvPr id="58" name="Text 56"/>
          <p:cNvSpPr/>
          <p:nvPr/>
        </p:nvSpPr>
        <p:spPr>
          <a:xfrm>
            <a:off x="2581656" y="363931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Alim. industriel</a:t>
            </a:r>
            <a:endParaRPr lang="en-US" sz="900" dirty="0"/>
          </a:p>
        </p:txBody>
      </p:sp>
      <p:sp>
        <p:nvSpPr>
          <p:cNvPr id="59" name="Text 57"/>
          <p:cNvSpPr/>
          <p:nvPr/>
        </p:nvSpPr>
        <p:spPr>
          <a:xfrm>
            <a:off x="4578096" y="363931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Q1 2026</a:t>
            </a:r>
            <a:endParaRPr lang="en-US" sz="900" dirty="0"/>
          </a:p>
        </p:txBody>
      </p:sp>
      <p:sp>
        <p:nvSpPr>
          <p:cNvPr id="60" name="Shape 58"/>
          <p:cNvSpPr/>
          <p:nvPr/>
        </p:nvSpPr>
        <p:spPr>
          <a:xfrm>
            <a:off x="137160" y="3858768"/>
            <a:ext cx="6400800" cy="256032"/>
          </a:xfrm>
          <a:prstGeom prst="rect">
            <a:avLst/>
          </a:prstGeom>
          <a:solidFill>
            <a:srgbClr val="FFFFFF"/>
          </a:solidFill>
          <a:ln w="3810">
            <a:solidFill>
              <a:srgbClr val="E5E7EB"/>
            </a:solidFill>
            <a:prstDash val="solid"/>
          </a:ln>
        </p:spPr>
      </p:sp>
      <p:sp>
        <p:nvSpPr>
          <p:cNvPr id="61" name="Text 59"/>
          <p:cNvSpPr/>
          <p:nvPr/>
        </p:nvSpPr>
        <p:spPr>
          <a:xfrm>
            <a:off x="173736" y="389534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FOXTROT INTERNATIONAL</a:t>
            </a:r>
            <a:endParaRPr lang="en-US" sz="900" dirty="0"/>
          </a:p>
        </p:txBody>
      </p:sp>
      <p:sp>
        <p:nvSpPr>
          <p:cNvPr id="62" name="Text 60"/>
          <p:cNvSpPr/>
          <p:nvPr/>
        </p:nvSpPr>
        <p:spPr>
          <a:xfrm>
            <a:off x="585216" y="389534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380</a:t>
            </a:r>
            <a:endParaRPr lang="en-US" sz="900" dirty="0"/>
          </a:p>
        </p:txBody>
      </p:sp>
      <p:sp>
        <p:nvSpPr>
          <p:cNvPr id="63" name="Text 61"/>
          <p:cNvSpPr/>
          <p:nvPr/>
        </p:nvSpPr>
        <p:spPr>
          <a:xfrm>
            <a:off x="2581656" y="389534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Pétrole</a:t>
            </a:r>
            <a:endParaRPr lang="en-US" sz="900" dirty="0"/>
          </a:p>
        </p:txBody>
      </p:sp>
      <p:sp>
        <p:nvSpPr>
          <p:cNvPr id="64" name="Text 62"/>
          <p:cNvSpPr/>
          <p:nvPr/>
        </p:nvSpPr>
        <p:spPr>
          <a:xfrm>
            <a:off x="4578096" y="389534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65" name="Shape 63"/>
          <p:cNvSpPr/>
          <p:nvPr/>
        </p:nvSpPr>
        <p:spPr>
          <a:xfrm>
            <a:off x="137160" y="4114800"/>
            <a:ext cx="6400800" cy="256032"/>
          </a:xfrm>
          <a:prstGeom prst="rect">
            <a:avLst/>
          </a:prstGeom>
          <a:solidFill>
            <a:srgbClr val="F8F9FA"/>
          </a:solidFill>
          <a:ln w="3810">
            <a:solidFill>
              <a:srgbClr val="E5E7EB"/>
            </a:solidFill>
            <a:prstDash val="solid"/>
          </a:ln>
        </p:spPr>
      </p:sp>
      <p:sp>
        <p:nvSpPr>
          <p:cNvPr id="66" name="Text 64"/>
          <p:cNvSpPr/>
          <p:nvPr/>
        </p:nvSpPr>
        <p:spPr>
          <a:xfrm>
            <a:off x="173736" y="415137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AFRICA RE</a:t>
            </a:r>
            <a:endParaRPr lang="en-US" sz="900" dirty="0"/>
          </a:p>
        </p:txBody>
      </p:sp>
      <p:sp>
        <p:nvSpPr>
          <p:cNvPr id="67" name="Text 65"/>
          <p:cNvSpPr/>
          <p:nvPr/>
        </p:nvSpPr>
        <p:spPr>
          <a:xfrm>
            <a:off x="585216" y="415137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290</a:t>
            </a:r>
            <a:endParaRPr lang="en-US" sz="900" dirty="0"/>
          </a:p>
        </p:txBody>
      </p:sp>
      <p:sp>
        <p:nvSpPr>
          <p:cNvPr id="68" name="Text 66"/>
          <p:cNvSpPr/>
          <p:nvPr/>
        </p:nvSpPr>
        <p:spPr>
          <a:xfrm>
            <a:off x="2581656" y="415137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Services</a:t>
            </a:r>
            <a:endParaRPr lang="en-US" sz="900" dirty="0"/>
          </a:p>
        </p:txBody>
      </p:sp>
      <p:sp>
        <p:nvSpPr>
          <p:cNvPr id="69" name="Text 67"/>
          <p:cNvSpPr/>
          <p:nvPr/>
        </p:nvSpPr>
        <p:spPr>
          <a:xfrm>
            <a:off x="4578096" y="415137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70" name="Shape 68"/>
          <p:cNvSpPr/>
          <p:nvPr/>
        </p:nvSpPr>
        <p:spPr>
          <a:xfrm>
            <a:off x="137160" y="4370832"/>
            <a:ext cx="6400800" cy="256032"/>
          </a:xfrm>
          <a:prstGeom prst="rect">
            <a:avLst/>
          </a:prstGeom>
          <a:solidFill>
            <a:srgbClr val="FFFFFF"/>
          </a:solidFill>
          <a:ln w="3810">
            <a:solidFill>
              <a:srgbClr val="E5E7EB"/>
            </a:solidFill>
            <a:prstDash val="solid"/>
          </a:ln>
        </p:spPr>
      </p:sp>
      <p:sp>
        <p:nvSpPr>
          <p:cNvPr id="71" name="Text 69"/>
          <p:cNvSpPr/>
          <p:nvPr/>
        </p:nvSpPr>
        <p:spPr>
          <a:xfrm>
            <a:off x="173736" y="440740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MTN CI</a:t>
            </a:r>
            <a:endParaRPr lang="en-US" sz="900" dirty="0"/>
          </a:p>
        </p:txBody>
      </p:sp>
      <p:sp>
        <p:nvSpPr>
          <p:cNvPr id="72" name="Text 70"/>
          <p:cNvSpPr/>
          <p:nvPr/>
        </p:nvSpPr>
        <p:spPr>
          <a:xfrm>
            <a:off x="585216" y="4407408"/>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245</a:t>
            </a:r>
            <a:endParaRPr lang="en-US" sz="900" dirty="0"/>
          </a:p>
        </p:txBody>
      </p:sp>
      <p:sp>
        <p:nvSpPr>
          <p:cNvPr id="73" name="Text 71"/>
          <p:cNvSpPr/>
          <p:nvPr/>
        </p:nvSpPr>
        <p:spPr>
          <a:xfrm>
            <a:off x="2581656" y="440740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Télécoms</a:t>
            </a:r>
            <a:endParaRPr lang="en-US" sz="900" dirty="0"/>
          </a:p>
        </p:txBody>
      </p:sp>
      <p:sp>
        <p:nvSpPr>
          <p:cNvPr id="74" name="Text 72"/>
          <p:cNvSpPr/>
          <p:nvPr/>
        </p:nvSpPr>
        <p:spPr>
          <a:xfrm>
            <a:off x="4578096" y="440740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75" name="Text 7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Nouvelles marchandises captées par AGL – TIM</a:t>
            </a:r>
            <a:endParaRPr lang="en-US" sz="1100" dirty="0"/>
          </a:p>
        </p:txBody>
      </p:sp>
      <p:sp>
        <p:nvSpPr>
          <p:cNvPr id="76" name="Text 74"/>
          <p:cNvSpPr/>
          <p:nvPr/>
        </p:nvSpPr>
        <p:spPr>
          <a:xfrm>
            <a:off x="6675120" y="1417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TÉLÉCOMMUNICATIONS</a:t>
            </a:r>
            <a:endParaRPr lang="en-US" sz="850" dirty="0"/>
          </a:p>
        </p:txBody>
      </p:sp>
      <p:sp>
        <p:nvSpPr>
          <p:cNvPr id="77" name="Text 75"/>
          <p:cNvSpPr/>
          <p:nvPr/>
        </p:nvSpPr>
        <p:spPr>
          <a:xfrm>
            <a:off x="8339328" y="1417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1 240 TEU</a:t>
            </a:r>
            <a:endParaRPr lang="en-US" sz="850" dirty="0"/>
          </a:p>
        </p:txBody>
      </p:sp>
      <p:sp>
        <p:nvSpPr>
          <p:cNvPr id="78" name="Shape 76"/>
          <p:cNvSpPr/>
          <p:nvPr/>
        </p:nvSpPr>
        <p:spPr>
          <a:xfrm>
            <a:off x="9235440" y="1453896"/>
            <a:ext cx="2743200" cy="164592"/>
          </a:xfrm>
          <a:prstGeom prst="rect">
            <a:avLst/>
          </a:prstGeom>
          <a:solidFill>
            <a:srgbClr val="E5E7EB"/>
          </a:solidFill>
          <a:ln/>
        </p:spPr>
      </p:sp>
      <p:sp>
        <p:nvSpPr>
          <p:cNvPr id="79" name="Shape 77"/>
          <p:cNvSpPr/>
          <p:nvPr/>
        </p:nvSpPr>
        <p:spPr>
          <a:xfrm>
            <a:off x="9235440" y="1453896"/>
            <a:ext cx="246888" cy="164592"/>
          </a:xfrm>
          <a:prstGeom prst="rect">
            <a:avLst/>
          </a:prstGeom>
          <a:solidFill>
            <a:srgbClr val="CC2200"/>
          </a:solidFill>
          <a:ln/>
        </p:spPr>
      </p:sp>
      <p:sp>
        <p:nvSpPr>
          <p:cNvPr id="80" name="Text 78"/>
          <p:cNvSpPr/>
          <p:nvPr/>
        </p:nvSpPr>
        <p:spPr>
          <a:xfrm>
            <a:off x="12024360" y="1417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9%</a:t>
            </a:r>
            <a:endParaRPr lang="en-US" sz="900" dirty="0"/>
          </a:p>
        </p:txBody>
      </p:sp>
      <p:sp>
        <p:nvSpPr>
          <p:cNvPr id="81" name="Text 79"/>
          <p:cNvSpPr/>
          <p:nvPr/>
        </p:nvSpPr>
        <p:spPr>
          <a:xfrm>
            <a:off x="6675120" y="1801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HUILES VÉGÉTALES</a:t>
            </a:r>
            <a:endParaRPr lang="en-US" sz="850" dirty="0"/>
          </a:p>
        </p:txBody>
      </p:sp>
      <p:sp>
        <p:nvSpPr>
          <p:cNvPr id="82" name="Text 80"/>
          <p:cNvSpPr/>
          <p:nvPr/>
        </p:nvSpPr>
        <p:spPr>
          <a:xfrm>
            <a:off x="8339328" y="1801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890 TEU</a:t>
            </a:r>
            <a:endParaRPr lang="en-US" sz="850" dirty="0"/>
          </a:p>
        </p:txBody>
      </p:sp>
      <p:sp>
        <p:nvSpPr>
          <p:cNvPr id="83" name="Shape 81"/>
          <p:cNvSpPr/>
          <p:nvPr/>
        </p:nvSpPr>
        <p:spPr>
          <a:xfrm>
            <a:off x="9235440" y="1837944"/>
            <a:ext cx="2743200" cy="164592"/>
          </a:xfrm>
          <a:prstGeom prst="rect">
            <a:avLst/>
          </a:prstGeom>
          <a:solidFill>
            <a:srgbClr val="E5E7EB"/>
          </a:solidFill>
          <a:ln/>
        </p:spPr>
      </p:sp>
      <p:sp>
        <p:nvSpPr>
          <p:cNvPr id="84" name="Shape 82"/>
          <p:cNvSpPr/>
          <p:nvPr/>
        </p:nvSpPr>
        <p:spPr>
          <a:xfrm>
            <a:off x="9235440" y="1837944"/>
            <a:ext cx="164592" cy="164592"/>
          </a:xfrm>
          <a:prstGeom prst="rect">
            <a:avLst/>
          </a:prstGeom>
          <a:solidFill>
            <a:srgbClr val="CC2200"/>
          </a:solidFill>
          <a:ln/>
        </p:spPr>
      </p:sp>
      <p:sp>
        <p:nvSpPr>
          <p:cNvPr id="85" name="Text 83"/>
          <p:cNvSpPr/>
          <p:nvPr/>
        </p:nvSpPr>
        <p:spPr>
          <a:xfrm>
            <a:off x="12024360" y="180136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6%</a:t>
            </a:r>
            <a:endParaRPr lang="en-US" sz="900" dirty="0"/>
          </a:p>
        </p:txBody>
      </p:sp>
      <p:sp>
        <p:nvSpPr>
          <p:cNvPr id="86" name="Text 84"/>
          <p:cNvSpPr/>
          <p:nvPr/>
        </p:nvSpPr>
        <p:spPr>
          <a:xfrm>
            <a:off x="6675120" y="218541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FERTILISANTS</a:t>
            </a:r>
            <a:endParaRPr lang="en-US" sz="850" dirty="0"/>
          </a:p>
        </p:txBody>
      </p:sp>
      <p:sp>
        <p:nvSpPr>
          <p:cNvPr id="87" name="Text 85"/>
          <p:cNvSpPr/>
          <p:nvPr/>
        </p:nvSpPr>
        <p:spPr>
          <a:xfrm>
            <a:off x="8339328" y="218541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650 TEU</a:t>
            </a:r>
            <a:endParaRPr lang="en-US" sz="850" dirty="0"/>
          </a:p>
        </p:txBody>
      </p:sp>
      <p:sp>
        <p:nvSpPr>
          <p:cNvPr id="88" name="Shape 86"/>
          <p:cNvSpPr/>
          <p:nvPr/>
        </p:nvSpPr>
        <p:spPr>
          <a:xfrm>
            <a:off x="9235440" y="2221992"/>
            <a:ext cx="2743200" cy="164592"/>
          </a:xfrm>
          <a:prstGeom prst="rect">
            <a:avLst/>
          </a:prstGeom>
          <a:solidFill>
            <a:srgbClr val="E5E7EB"/>
          </a:solidFill>
          <a:ln/>
        </p:spPr>
      </p:sp>
      <p:sp>
        <p:nvSpPr>
          <p:cNvPr id="89" name="Shape 87"/>
          <p:cNvSpPr/>
          <p:nvPr/>
        </p:nvSpPr>
        <p:spPr>
          <a:xfrm>
            <a:off x="9235440" y="2221992"/>
            <a:ext cx="109728" cy="164592"/>
          </a:xfrm>
          <a:prstGeom prst="rect">
            <a:avLst/>
          </a:prstGeom>
          <a:solidFill>
            <a:srgbClr val="CC2200"/>
          </a:solidFill>
          <a:ln/>
        </p:spPr>
      </p:sp>
      <p:sp>
        <p:nvSpPr>
          <p:cNvPr id="90" name="Text 88"/>
          <p:cNvSpPr/>
          <p:nvPr/>
        </p:nvSpPr>
        <p:spPr>
          <a:xfrm>
            <a:off x="12024360" y="218541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4%</a:t>
            </a:r>
            <a:endParaRPr lang="en-US" sz="900" dirty="0"/>
          </a:p>
        </p:txBody>
      </p:sp>
      <p:sp>
        <p:nvSpPr>
          <p:cNvPr id="91" name="Text 89"/>
          <p:cNvSpPr/>
          <p:nvPr/>
        </p:nvSpPr>
        <p:spPr>
          <a:xfrm>
            <a:off x="6675120" y="256946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 ÉLECTRIQUES</a:t>
            </a:r>
            <a:endParaRPr lang="en-US" sz="850" dirty="0"/>
          </a:p>
        </p:txBody>
      </p:sp>
      <p:sp>
        <p:nvSpPr>
          <p:cNvPr id="92" name="Text 90"/>
          <p:cNvSpPr/>
          <p:nvPr/>
        </p:nvSpPr>
        <p:spPr>
          <a:xfrm>
            <a:off x="8339328" y="256946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580 TEU</a:t>
            </a:r>
            <a:endParaRPr lang="en-US" sz="850" dirty="0"/>
          </a:p>
        </p:txBody>
      </p:sp>
      <p:sp>
        <p:nvSpPr>
          <p:cNvPr id="93" name="Shape 91"/>
          <p:cNvSpPr/>
          <p:nvPr/>
        </p:nvSpPr>
        <p:spPr>
          <a:xfrm>
            <a:off x="9235440" y="2606040"/>
            <a:ext cx="2743200" cy="164592"/>
          </a:xfrm>
          <a:prstGeom prst="rect">
            <a:avLst/>
          </a:prstGeom>
          <a:solidFill>
            <a:srgbClr val="E5E7EB"/>
          </a:solidFill>
          <a:ln/>
        </p:spPr>
      </p:sp>
      <p:sp>
        <p:nvSpPr>
          <p:cNvPr id="94" name="Shape 92"/>
          <p:cNvSpPr/>
          <p:nvPr/>
        </p:nvSpPr>
        <p:spPr>
          <a:xfrm>
            <a:off x="9235440" y="2606040"/>
            <a:ext cx="82296" cy="164592"/>
          </a:xfrm>
          <a:prstGeom prst="rect">
            <a:avLst/>
          </a:prstGeom>
          <a:solidFill>
            <a:srgbClr val="CC2200"/>
          </a:solidFill>
          <a:ln/>
        </p:spPr>
      </p:sp>
      <p:sp>
        <p:nvSpPr>
          <p:cNvPr id="95" name="Text 93"/>
          <p:cNvSpPr/>
          <p:nvPr/>
        </p:nvSpPr>
        <p:spPr>
          <a:xfrm>
            <a:off x="12024360" y="256946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3%</a:t>
            </a:r>
            <a:endParaRPr lang="en-US" sz="900" dirty="0"/>
          </a:p>
        </p:txBody>
      </p:sp>
      <p:sp>
        <p:nvSpPr>
          <p:cNvPr id="96" name="Shape 94"/>
          <p:cNvSpPr/>
          <p:nvPr/>
        </p:nvSpPr>
        <p:spPr>
          <a:xfrm>
            <a:off x="6675120" y="3840480"/>
            <a:ext cx="5303520" cy="914400"/>
          </a:xfrm>
          <a:prstGeom prst="rect">
            <a:avLst/>
          </a:prstGeom>
          <a:solidFill>
            <a:srgbClr val="FEF2F2"/>
          </a:solidFill>
          <a:ln w="6350">
            <a:solidFill>
              <a:srgbClr val="E5C97A"/>
            </a:solidFill>
            <a:prstDash val="solid"/>
          </a:ln>
        </p:spPr>
      </p:sp>
      <p:sp>
        <p:nvSpPr>
          <p:cNvPr id="97" name="Text 95"/>
          <p:cNvSpPr/>
          <p:nvPr/>
        </p:nvSpPr>
        <p:spPr>
          <a:xfrm>
            <a:off x="6766560" y="3913632"/>
            <a:ext cx="5120640" cy="8046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ALERTE : CEVA Logistics CI (groupe CMA CGM) entre dans le top 15 TIM en quelques mois — déploiement multi-métiers à surveiller en priorité. Télécoms : 9% PDM dès la 1ère année (effet 5G CI).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02</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TRANSIT EXPORT MARITIME (TEM)</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137 283 TEU  |  PDM AGL : 26,2%  |  #1 incontesté, ×4,7 le second</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Leader absolu – PDM AGL 26,2%  |  Marché : 137 283 TEU  |  ×4,7 sur le 2ème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p.8</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137 283</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35 972</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26,2 %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 Dominance absolue</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ÉCART VS #2 MAERSK</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1A7C4F"/>
                </a:solidFill>
                <a:latin typeface="Calibri" pitchFamily="34" charset="0"/>
                <a:ea typeface="Calibri" pitchFamily="34" charset="-122"/>
                <a:cs typeface="Calibri" pitchFamily="34" charset="-120"/>
              </a:rPr>
              <a:t>×4,7</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28 242 TEU d'avance</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JANV. (PEAK)</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30,3 %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PDM max de la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marché TEM &amp; AGL (TEU)</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TEM</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315200" y="2523744"/>
            <a:ext cx="2560320" cy="201168"/>
          </a:xfrm>
          <a:prstGeom prst="rect">
            <a:avLst/>
          </a:prstGeom>
          <a:solidFill>
            <a:srgbClr val="D1D5DB"/>
          </a:solidFill>
          <a:ln/>
        </p:spPr>
      </p:sp>
      <p:sp>
        <p:nvSpPr>
          <p:cNvPr id="33" name="Shape 30"/>
          <p:cNvSpPr/>
          <p:nvPr/>
        </p:nvSpPr>
        <p:spPr>
          <a:xfrm>
            <a:off x="7315200" y="2523744"/>
            <a:ext cx="2560320" cy="201168"/>
          </a:xfrm>
          <a:prstGeom prst="rect">
            <a:avLst/>
          </a:prstGeom>
          <a:solidFill>
            <a:srgbClr val="1A7C4F"/>
          </a:solidFill>
          <a:ln/>
        </p:spPr>
      </p:sp>
      <p:sp>
        <p:nvSpPr>
          <p:cNvPr id="34" name="Text 31"/>
          <p:cNvSpPr/>
          <p:nvPr/>
        </p:nvSpPr>
        <p:spPr>
          <a:xfrm>
            <a:off x="9930384" y="2487168"/>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30.3%</a:t>
            </a:r>
            <a:endParaRPr lang="en-US" sz="12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315200" y="3054096"/>
            <a:ext cx="2560320" cy="201168"/>
          </a:xfrm>
          <a:prstGeom prst="rect">
            <a:avLst/>
          </a:prstGeom>
          <a:solidFill>
            <a:srgbClr val="D1D5DB"/>
          </a:solidFill>
          <a:ln/>
        </p:spPr>
      </p:sp>
      <p:sp>
        <p:nvSpPr>
          <p:cNvPr id="38" name="Shape 35"/>
          <p:cNvSpPr/>
          <p:nvPr/>
        </p:nvSpPr>
        <p:spPr>
          <a:xfrm>
            <a:off x="7315200" y="3054096"/>
            <a:ext cx="2129375" cy="201168"/>
          </a:xfrm>
          <a:prstGeom prst="rect">
            <a:avLst/>
          </a:prstGeom>
          <a:solidFill>
            <a:srgbClr val="1A7C4F"/>
          </a:solidFill>
          <a:ln/>
        </p:spPr>
      </p:sp>
      <p:sp>
        <p:nvSpPr>
          <p:cNvPr id="39" name="Text 36"/>
          <p:cNvSpPr/>
          <p:nvPr/>
        </p:nvSpPr>
        <p:spPr>
          <a:xfrm>
            <a:off x="9930384" y="3017520"/>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25.2%</a:t>
            </a:r>
            <a:endParaRPr lang="en-US" sz="12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315200" y="3584448"/>
            <a:ext cx="2560320" cy="201168"/>
          </a:xfrm>
          <a:prstGeom prst="rect">
            <a:avLst/>
          </a:prstGeom>
          <a:solidFill>
            <a:srgbClr val="D1D5DB"/>
          </a:solidFill>
          <a:ln/>
        </p:spPr>
      </p:sp>
      <p:sp>
        <p:nvSpPr>
          <p:cNvPr id="43" name="Shape 40"/>
          <p:cNvSpPr/>
          <p:nvPr/>
        </p:nvSpPr>
        <p:spPr>
          <a:xfrm>
            <a:off x="7315200" y="3584448"/>
            <a:ext cx="2433571" cy="201168"/>
          </a:xfrm>
          <a:prstGeom prst="rect">
            <a:avLst/>
          </a:prstGeom>
          <a:solidFill>
            <a:srgbClr val="1A7C4F"/>
          </a:solidFill>
          <a:ln/>
        </p:spPr>
      </p:sp>
      <p:sp>
        <p:nvSpPr>
          <p:cNvPr id="44" name="Text 41"/>
          <p:cNvSpPr/>
          <p:nvPr/>
        </p:nvSpPr>
        <p:spPr>
          <a:xfrm>
            <a:off x="9930384" y="3547872"/>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28.8%</a:t>
            </a:r>
            <a:endParaRPr lang="en-US" sz="12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315200" y="4114800"/>
            <a:ext cx="2560320" cy="201168"/>
          </a:xfrm>
          <a:prstGeom prst="rect">
            <a:avLst/>
          </a:prstGeom>
          <a:solidFill>
            <a:srgbClr val="D1D5DB"/>
          </a:solidFill>
          <a:ln/>
        </p:spPr>
      </p:sp>
      <p:sp>
        <p:nvSpPr>
          <p:cNvPr id="48" name="Shape 45"/>
          <p:cNvSpPr/>
          <p:nvPr/>
        </p:nvSpPr>
        <p:spPr>
          <a:xfrm>
            <a:off x="7315200" y="4114800"/>
            <a:ext cx="2137825" cy="201168"/>
          </a:xfrm>
          <a:prstGeom prst="rect">
            <a:avLst/>
          </a:prstGeom>
          <a:solidFill>
            <a:srgbClr val="1A7C4F"/>
          </a:solidFill>
          <a:ln/>
        </p:spPr>
      </p:sp>
      <p:sp>
        <p:nvSpPr>
          <p:cNvPr id="49" name="Text 46"/>
          <p:cNvSpPr/>
          <p:nvPr/>
        </p:nvSpPr>
        <p:spPr>
          <a:xfrm>
            <a:off x="9930384" y="4078224"/>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25.3%</a:t>
            </a:r>
            <a:endParaRPr lang="en-US" sz="12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315200" y="4645152"/>
            <a:ext cx="2560320" cy="201168"/>
          </a:xfrm>
          <a:prstGeom prst="rect">
            <a:avLst/>
          </a:prstGeom>
          <a:solidFill>
            <a:srgbClr val="D1D5DB"/>
          </a:solidFill>
          <a:ln/>
        </p:spPr>
      </p:sp>
      <p:sp>
        <p:nvSpPr>
          <p:cNvPr id="53" name="Shape 50"/>
          <p:cNvSpPr/>
          <p:nvPr/>
        </p:nvSpPr>
        <p:spPr>
          <a:xfrm>
            <a:off x="7315200" y="4645152"/>
            <a:ext cx="1698430" cy="201168"/>
          </a:xfrm>
          <a:prstGeom prst="rect">
            <a:avLst/>
          </a:prstGeom>
          <a:solidFill>
            <a:srgbClr val="E05A00"/>
          </a:solidFill>
          <a:ln/>
        </p:spPr>
      </p:sp>
      <p:sp>
        <p:nvSpPr>
          <p:cNvPr id="54" name="Text 51"/>
          <p:cNvSpPr/>
          <p:nvPr/>
        </p:nvSpPr>
        <p:spPr>
          <a:xfrm>
            <a:off x="9930384" y="4608576"/>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20.1%</a:t>
            </a:r>
            <a:endParaRPr lang="en-US" sz="1200" dirty="0"/>
          </a:p>
        </p:txBody>
      </p:sp>
      <p:sp>
        <p:nvSpPr>
          <p:cNvPr id="55" name="Shape 52"/>
          <p:cNvSpPr/>
          <p:nvPr/>
        </p:nvSpPr>
        <p:spPr>
          <a:xfrm>
            <a:off x="6492240" y="5212080"/>
            <a:ext cx="5486400" cy="685800"/>
          </a:xfrm>
          <a:prstGeom prst="rect">
            <a:avLst/>
          </a:prstGeom>
          <a:solidFill>
            <a:srgbClr val="FEF2F2"/>
          </a:solidFill>
          <a:ln w="6350">
            <a:solidFill>
              <a:srgbClr val="E5C97A"/>
            </a:solidFill>
            <a:prstDash val="solid"/>
          </a:ln>
        </p:spPr>
      </p:sp>
      <p:sp>
        <p:nvSpPr>
          <p:cNvPr id="56" name="Text 53"/>
          <p:cNvSpPr/>
          <p:nvPr/>
        </p:nvSpPr>
        <p:spPr>
          <a:xfrm>
            <a:off x="6583680" y="52852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ALERTE MAI : PDM chute à 20,1% (–10,2 pts vs Janvier). Marché en recul de –22% (28 586→22 421 TEU). Causes : fin saison cacao, recul cajou. Plan de relance à activer juin–juillet.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SEGMENTS &amp; CONCURRENTS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Matières premières agricoles  |  PDM AGL par filière  |  Corridors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filière export – TEM</a:t>
            </a:r>
            <a:endParaRPr lang="en-US" sz="1100" dirty="0"/>
          </a:p>
        </p:txBody>
      </p:sp>
      <p:sp>
        <p:nvSpPr>
          <p:cNvPr id="8" name="Text 6"/>
          <p:cNvSpPr/>
          <p:nvPr/>
        </p:nvSpPr>
        <p:spPr>
          <a:xfrm>
            <a:off x="13716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BANANES</a:t>
            </a:r>
            <a:endParaRPr lang="en-US" sz="850" dirty="0"/>
          </a:p>
        </p:txBody>
      </p:sp>
      <p:sp>
        <p:nvSpPr>
          <p:cNvPr id="9" name="Text 7"/>
          <p:cNvSpPr/>
          <p:nvPr/>
        </p:nvSpPr>
        <p:spPr>
          <a:xfrm>
            <a:off x="180136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6 908 TEU</a:t>
            </a:r>
            <a:endParaRPr lang="en-US" sz="850" dirty="0"/>
          </a:p>
        </p:txBody>
      </p:sp>
      <p:sp>
        <p:nvSpPr>
          <p:cNvPr id="10" name="Shape 8"/>
          <p:cNvSpPr/>
          <p:nvPr/>
        </p:nvSpPr>
        <p:spPr>
          <a:xfrm>
            <a:off x="2697480" y="1426464"/>
            <a:ext cx="2743200" cy="164592"/>
          </a:xfrm>
          <a:prstGeom prst="rect">
            <a:avLst/>
          </a:prstGeom>
          <a:solidFill>
            <a:srgbClr val="E5E7EB"/>
          </a:solidFill>
          <a:ln/>
        </p:spPr>
      </p:sp>
      <p:sp>
        <p:nvSpPr>
          <p:cNvPr id="11" name="Shape 9"/>
          <p:cNvSpPr/>
          <p:nvPr/>
        </p:nvSpPr>
        <p:spPr>
          <a:xfrm>
            <a:off x="2697480" y="1426464"/>
            <a:ext cx="2029968" cy="164592"/>
          </a:xfrm>
          <a:prstGeom prst="rect">
            <a:avLst/>
          </a:prstGeom>
          <a:solidFill>
            <a:srgbClr val="1A7C4F"/>
          </a:solidFill>
          <a:ln/>
        </p:spPr>
      </p:sp>
      <p:sp>
        <p:nvSpPr>
          <p:cNvPr id="12" name="Text 10"/>
          <p:cNvSpPr/>
          <p:nvPr/>
        </p:nvSpPr>
        <p:spPr>
          <a:xfrm>
            <a:off x="548640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74%</a:t>
            </a:r>
            <a:endParaRPr lang="en-US" sz="900" dirty="0"/>
          </a:p>
        </p:txBody>
      </p:sp>
      <p:sp>
        <p:nvSpPr>
          <p:cNvPr id="13" name="Text 11"/>
          <p:cNvSpPr/>
          <p:nvPr/>
        </p:nvSpPr>
        <p:spPr>
          <a:xfrm>
            <a:off x="13716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DÉRIVÉS DE CACAO</a:t>
            </a:r>
            <a:endParaRPr lang="en-US" sz="850" dirty="0"/>
          </a:p>
        </p:txBody>
      </p:sp>
      <p:sp>
        <p:nvSpPr>
          <p:cNvPr id="14" name="Text 12"/>
          <p:cNvSpPr/>
          <p:nvPr/>
        </p:nvSpPr>
        <p:spPr>
          <a:xfrm>
            <a:off x="180136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11 411 TEU</a:t>
            </a:r>
            <a:endParaRPr lang="en-US" sz="850" dirty="0"/>
          </a:p>
        </p:txBody>
      </p:sp>
      <p:sp>
        <p:nvSpPr>
          <p:cNvPr id="15" name="Shape 13"/>
          <p:cNvSpPr/>
          <p:nvPr/>
        </p:nvSpPr>
        <p:spPr>
          <a:xfrm>
            <a:off x="2697480" y="1810512"/>
            <a:ext cx="2743200" cy="164592"/>
          </a:xfrm>
          <a:prstGeom prst="rect">
            <a:avLst/>
          </a:prstGeom>
          <a:solidFill>
            <a:srgbClr val="E5E7EB"/>
          </a:solidFill>
          <a:ln/>
        </p:spPr>
      </p:sp>
      <p:sp>
        <p:nvSpPr>
          <p:cNvPr id="16" name="Shape 14"/>
          <p:cNvSpPr/>
          <p:nvPr/>
        </p:nvSpPr>
        <p:spPr>
          <a:xfrm>
            <a:off x="2697480" y="1810512"/>
            <a:ext cx="1344168" cy="164592"/>
          </a:xfrm>
          <a:prstGeom prst="rect">
            <a:avLst/>
          </a:prstGeom>
          <a:solidFill>
            <a:srgbClr val="2563A8"/>
          </a:solidFill>
          <a:ln/>
        </p:spPr>
      </p:sp>
      <p:sp>
        <p:nvSpPr>
          <p:cNvPr id="17" name="Text 15"/>
          <p:cNvSpPr/>
          <p:nvPr/>
        </p:nvSpPr>
        <p:spPr>
          <a:xfrm>
            <a:off x="5486400" y="1773936"/>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49%</a:t>
            </a:r>
            <a:endParaRPr lang="en-US" sz="900" dirty="0"/>
          </a:p>
        </p:txBody>
      </p:sp>
      <p:sp>
        <p:nvSpPr>
          <p:cNvPr id="18" name="Text 16"/>
          <p:cNvSpPr/>
          <p:nvPr/>
        </p:nvSpPr>
        <p:spPr>
          <a:xfrm>
            <a:off x="13716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CACAO</a:t>
            </a:r>
            <a:endParaRPr lang="en-US" sz="850" dirty="0"/>
          </a:p>
        </p:txBody>
      </p:sp>
      <p:sp>
        <p:nvSpPr>
          <p:cNvPr id="19" name="Text 17"/>
          <p:cNvSpPr/>
          <p:nvPr/>
        </p:nvSpPr>
        <p:spPr>
          <a:xfrm>
            <a:off x="180136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46 407 TEU</a:t>
            </a:r>
            <a:endParaRPr lang="en-US" sz="850" dirty="0"/>
          </a:p>
        </p:txBody>
      </p:sp>
      <p:sp>
        <p:nvSpPr>
          <p:cNvPr id="20" name="Shape 18"/>
          <p:cNvSpPr/>
          <p:nvPr/>
        </p:nvSpPr>
        <p:spPr>
          <a:xfrm>
            <a:off x="2697480" y="2194560"/>
            <a:ext cx="2743200" cy="164592"/>
          </a:xfrm>
          <a:prstGeom prst="rect">
            <a:avLst/>
          </a:prstGeom>
          <a:solidFill>
            <a:srgbClr val="E5E7EB"/>
          </a:solidFill>
          <a:ln/>
        </p:spPr>
      </p:sp>
      <p:sp>
        <p:nvSpPr>
          <p:cNvPr id="21" name="Shape 19"/>
          <p:cNvSpPr/>
          <p:nvPr/>
        </p:nvSpPr>
        <p:spPr>
          <a:xfrm>
            <a:off x="2697480" y="2194560"/>
            <a:ext cx="877824" cy="164592"/>
          </a:xfrm>
          <a:prstGeom prst="rect">
            <a:avLst/>
          </a:prstGeom>
          <a:solidFill>
            <a:srgbClr val="2563A8"/>
          </a:solidFill>
          <a:ln/>
        </p:spPr>
      </p:sp>
      <p:sp>
        <p:nvSpPr>
          <p:cNvPr id="22" name="Text 20"/>
          <p:cNvSpPr/>
          <p:nvPr/>
        </p:nvSpPr>
        <p:spPr>
          <a:xfrm>
            <a:off x="5486400" y="2157984"/>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32%</a:t>
            </a:r>
            <a:endParaRPr lang="en-US" sz="900" dirty="0"/>
          </a:p>
        </p:txBody>
      </p:sp>
      <p:sp>
        <p:nvSpPr>
          <p:cNvPr id="23" name="Text 21"/>
          <p:cNvSpPr/>
          <p:nvPr/>
        </p:nvSpPr>
        <p:spPr>
          <a:xfrm>
            <a:off x="13716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COTON</a:t>
            </a:r>
            <a:endParaRPr lang="en-US" sz="850" dirty="0"/>
          </a:p>
        </p:txBody>
      </p:sp>
      <p:sp>
        <p:nvSpPr>
          <p:cNvPr id="24" name="Text 22"/>
          <p:cNvSpPr/>
          <p:nvPr/>
        </p:nvSpPr>
        <p:spPr>
          <a:xfrm>
            <a:off x="180136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4 179 TEU</a:t>
            </a:r>
            <a:endParaRPr lang="en-US" sz="850" dirty="0"/>
          </a:p>
        </p:txBody>
      </p:sp>
      <p:sp>
        <p:nvSpPr>
          <p:cNvPr id="25" name="Shape 23"/>
          <p:cNvSpPr/>
          <p:nvPr/>
        </p:nvSpPr>
        <p:spPr>
          <a:xfrm>
            <a:off x="2697480" y="2578608"/>
            <a:ext cx="2743200" cy="164592"/>
          </a:xfrm>
          <a:prstGeom prst="rect">
            <a:avLst/>
          </a:prstGeom>
          <a:solidFill>
            <a:srgbClr val="E5E7EB"/>
          </a:solidFill>
          <a:ln/>
        </p:spPr>
      </p:sp>
      <p:sp>
        <p:nvSpPr>
          <p:cNvPr id="26" name="Shape 24"/>
          <p:cNvSpPr/>
          <p:nvPr/>
        </p:nvSpPr>
        <p:spPr>
          <a:xfrm>
            <a:off x="2697480" y="2578608"/>
            <a:ext cx="795528" cy="164592"/>
          </a:xfrm>
          <a:prstGeom prst="rect">
            <a:avLst/>
          </a:prstGeom>
          <a:solidFill>
            <a:srgbClr val="2563A8"/>
          </a:solidFill>
          <a:ln/>
        </p:spPr>
      </p:sp>
      <p:sp>
        <p:nvSpPr>
          <p:cNvPr id="27" name="Text 25"/>
          <p:cNvSpPr/>
          <p:nvPr/>
        </p:nvSpPr>
        <p:spPr>
          <a:xfrm>
            <a:off x="5486400" y="2542032"/>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29%</a:t>
            </a:r>
            <a:endParaRPr lang="en-US" sz="900" dirty="0"/>
          </a:p>
        </p:txBody>
      </p:sp>
      <p:sp>
        <p:nvSpPr>
          <p:cNvPr id="28" name="Text 26"/>
          <p:cNvSpPr/>
          <p:nvPr/>
        </p:nvSpPr>
        <p:spPr>
          <a:xfrm>
            <a:off x="13716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CAOUTCHOUC USINE</a:t>
            </a:r>
            <a:endParaRPr lang="en-US" sz="850" dirty="0"/>
          </a:p>
        </p:txBody>
      </p:sp>
      <p:sp>
        <p:nvSpPr>
          <p:cNvPr id="29" name="Text 27"/>
          <p:cNvSpPr/>
          <p:nvPr/>
        </p:nvSpPr>
        <p:spPr>
          <a:xfrm>
            <a:off x="180136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35 516 TEU</a:t>
            </a:r>
            <a:endParaRPr lang="en-US" sz="850" dirty="0"/>
          </a:p>
        </p:txBody>
      </p:sp>
      <p:sp>
        <p:nvSpPr>
          <p:cNvPr id="30" name="Shape 28"/>
          <p:cNvSpPr/>
          <p:nvPr/>
        </p:nvSpPr>
        <p:spPr>
          <a:xfrm>
            <a:off x="2697480" y="2962656"/>
            <a:ext cx="2743200" cy="164592"/>
          </a:xfrm>
          <a:prstGeom prst="rect">
            <a:avLst/>
          </a:prstGeom>
          <a:solidFill>
            <a:srgbClr val="E5E7EB"/>
          </a:solidFill>
          <a:ln/>
        </p:spPr>
      </p:sp>
      <p:sp>
        <p:nvSpPr>
          <p:cNvPr id="31" name="Shape 29"/>
          <p:cNvSpPr/>
          <p:nvPr/>
        </p:nvSpPr>
        <p:spPr>
          <a:xfrm>
            <a:off x="2697480" y="2962656"/>
            <a:ext cx="493776" cy="164592"/>
          </a:xfrm>
          <a:prstGeom prst="rect">
            <a:avLst/>
          </a:prstGeom>
          <a:solidFill>
            <a:srgbClr val="E05A00"/>
          </a:solidFill>
          <a:ln/>
        </p:spPr>
      </p:sp>
      <p:sp>
        <p:nvSpPr>
          <p:cNvPr id="32" name="Text 30"/>
          <p:cNvSpPr/>
          <p:nvPr/>
        </p:nvSpPr>
        <p:spPr>
          <a:xfrm>
            <a:off x="5486400" y="2926080"/>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18%</a:t>
            </a:r>
            <a:endParaRPr lang="en-US" sz="900" dirty="0"/>
          </a:p>
        </p:txBody>
      </p:sp>
      <p:sp>
        <p:nvSpPr>
          <p:cNvPr id="33" name="Text 31"/>
          <p:cNvSpPr/>
          <p:nvPr/>
        </p:nvSpPr>
        <p:spPr>
          <a:xfrm>
            <a:off x="13716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MANGUE</a:t>
            </a:r>
            <a:endParaRPr lang="en-US" sz="850" dirty="0"/>
          </a:p>
        </p:txBody>
      </p:sp>
      <p:sp>
        <p:nvSpPr>
          <p:cNvPr id="34" name="Text 32"/>
          <p:cNvSpPr/>
          <p:nvPr/>
        </p:nvSpPr>
        <p:spPr>
          <a:xfrm>
            <a:off x="180136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3 777 TEU</a:t>
            </a:r>
            <a:endParaRPr lang="en-US" sz="850" dirty="0"/>
          </a:p>
        </p:txBody>
      </p:sp>
      <p:sp>
        <p:nvSpPr>
          <p:cNvPr id="35" name="Shape 33"/>
          <p:cNvSpPr/>
          <p:nvPr/>
        </p:nvSpPr>
        <p:spPr>
          <a:xfrm>
            <a:off x="2697480" y="3346704"/>
            <a:ext cx="2743200" cy="164592"/>
          </a:xfrm>
          <a:prstGeom prst="rect">
            <a:avLst/>
          </a:prstGeom>
          <a:solidFill>
            <a:srgbClr val="E5E7EB"/>
          </a:solidFill>
          <a:ln/>
        </p:spPr>
      </p:sp>
      <p:sp>
        <p:nvSpPr>
          <p:cNvPr id="36" name="Shape 34"/>
          <p:cNvSpPr/>
          <p:nvPr/>
        </p:nvSpPr>
        <p:spPr>
          <a:xfrm>
            <a:off x="2697480" y="3346704"/>
            <a:ext cx="356616" cy="164592"/>
          </a:xfrm>
          <a:prstGeom prst="rect">
            <a:avLst/>
          </a:prstGeom>
          <a:solidFill>
            <a:srgbClr val="E05A00"/>
          </a:solidFill>
          <a:ln/>
        </p:spPr>
      </p:sp>
      <p:sp>
        <p:nvSpPr>
          <p:cNvPr id="37" name="Text 35"/>
          <p:cNvSpPr/>
          <p:nvPr/>
        </p:nvSpPr>
        <p:spPr>
          <a:xfrm>
            <a:off x="5486400" y="331012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13%</a:t>
            </a:r>
            <a:endParaRPr lang="en-US" sz="900" dirty="0"/>
          </a:p>
        </p:txBody>
      </p:sp>
      <p:sp>
        <p:nvSpPr>
          <p:cNvPr id="38" name="Text 36"/>
          <p:cNvSpPr/>
          <p:nvPr/>
        </p:nvSpPr>
        <p:spPr>
          <a:xfrm>
            <a:off x="137160" y="369417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AMANDE DE CAJOU</a:t>
            </a:r>
            <a:endParaRPr lang="en-US" sz="850" dirty="0"/>
          </a:p>
        </p:txBody>
      </p:sp>
      <p:sp>
        <p:nvSpPr>
          <p:cNvPr id="39" name="Text 37"/>
          <p:cNvSpPr/>
          <p:nvPr/>
        </p:nvSpPr>
        <p:spPr>
          <a:xfrm>
            <a:off x="1801368" y="369417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2 744 TEU</a:t>
            </a:r>
            <a:endParaRPr lang="en-US" sz="850" dirty="0"/>
          </a:p>
        </p:txBody>
      </p:sp>
      <p:sp>
        <p:nvSpPr>
          <p:cNvPr id="40" name="Shape 38"/>
          <p:cNvSpPr/>
          <p:nvPr/>
        </p:nvSpPr>
        <p:spPr>
          <a:xfrm>
            <a:off x="2697480" y="3730752"/>
            <a:ext cx="2743200" cy="164592"/>
          </a:xfrm>
          <a:prstGeom prst="rect">
            <a:avLst/>
          </a:prstGeom>
          <a:solidFill>
            <a:srgbClr val="E5E7EB"/>
          </a:solidFill>
          <a:ln/>
        </p:spPr>
      </p:sp>
      <p:sp>
        <p:nvSpPr>
          <p:cNvPr id="41" name="Shape 39"/>
          <p:cNvSpPr/>
          <p:nvPr/>
        </p:nvSpPr>
        <p:spPr>
          <a:xfrm>
            <a:off x="2697480" y="3730752"/>
            <a:ext cx="192024" cy="164592"/>
          </a:xfrm>
          <a:prstGeom prst="rect">
            <a:avLst/>
          </a:prstGeom>
          <a:solidFill>
            <a:srgbClr val="CC2200"/>
          </a:solidFill>
          <a:ln/>
        </p:spPr>
      </p:sp>
      <p:sp>
        <p:nvSpPr>
          <p:cNvPr id="42" name="Text 40"/>
          <p:cNvSpPr/>
          <p:nvPr/>
        </p:nvSpPr>
        <p:spPr>
          <a:xfrm>
            <a:off x="5486400" y="369417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7%</a:t>
            </a:r>
            <a:endParaRPr lang="en-US" sz="900" dirty="0"/>
          </a:p>
        </p:txBody>
      </p:sp>
      <p:sp>
        <p:nvSpPr>
          <p:cNvPr id="43" name="Text 41"/>
          <p:cNvSpPr/>
          <p:nvPr/>
        </p:nvSpPr>
        <p:spPr>
          <a:xfrm>
            <a:off x="137160" y="407822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NOIX DE CAJOU</a:t>
            </a:r>
            <a:endParaRPr lang="en-US" sz="850" dirty="0"/>
          </a:p>
        </p:txBody>
      </p:sp>
      <p:sp>
        <p:nvSpPr>
          <p:cNvPr id="44" name="Text 42"/>
          <p:cNvSpPr/>
          <p:nvPr/>
        </p:nvSpPr>
        <p:spPr>
          <a:xfrm>
            <a:off x="1801368" y="407822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13 129 TEU</a:t>
            </a:r>
            <a:endParaRPr lang="en-US" sz="850" dirty="0"/>
          </a:p>
        </p:txBody>
      </p:sp>
      <p:sp>
        <p:nvSpPr>
          <p:cNvPr id="45" name="Shape 43"/>
          <p:cNvSpPr/>
          <p:nvPr/>
        </p:nvSpPr>
        <p:spPr>
          <a:xfrm>
            <a:off x="2697480" y="4114800"/>
            <a:ext cx="2743200" cy="164592"/>
          </a:xfrm>
          <a:prstGeom prst="rect">
            <a:avLst/>
          </a:prstGeom>
          <a:solidFill>
            <a:srgbClr val="E5E7EB"/>
          </a:solidFill>
          <a:ln/>
        </p:spPr>
      </p:sp>
      <p:sp>
        <p:nvSpPr>
          <p:cNvPr id="46" name="Shape 44"/>
          <p:cNvSpPr/>
          <p:nvPr/>
        </p:nvSpPr>
        <p:spPr>
          <a:xfrm>
            <a:off x="2697480" y="4114800"/>
            <a:ext cx="137160" cy="164592"/>
          </a:xfrm>
          <a:prstGeom prst="rect">
            <a:avLst/>
          </a:prstGeom>
          <a:solidFill>
            <a:srgbClr val="CC2200"/>
          </a:solidFill>
          <a:ln/>
        </p:spPr>
      </p:sp>
      <p:sp>
        <p:nvSpPr>
          <p:cNvPr id="47" name="Text 45"/>
          <p:cNvSpPr/>
          <p:nvPr/>
        </p:nvSpPr>
        <p:spPr>
          <a:xfrm>
            <a:off x="5486400" y="407822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48" name="Text 46"/>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concurrentiel – TEM</a:t>
            </a:r>
            <a:endParaRPr lang="en-US" sz="1100" dirty="0"/>
          </a:p>
        </p:txBody>
      </p:sp>
      <p:sp>
        <p:nvSpPr>
          <p:cNvPr id="49" name="Shape 47"/>
          <p:cNvSpPr/>
          <p:nvPr/>
        </p:nvSpPr>
        <p:spPr>
          <a:xfrm>
            <a:off x="6400800" y="1371600"/>
            <a:ext cx="5669280" cy="256032"/>
          </a:xfrm>
          <a:prstGeom prst="rect">
            <a:avLst/>
          </a:prstGeom>
          <a:solidFill>
            <a:srgbClr val="0D2243"/>
          </a:solidFill>
          <a:ln/>
        </p:spPr>
      </p:sp>
      <p:sp>
        <p:nvSpPr>
          <p:cNvPr id="50" name="Text 48"/>
          <p:cNvSpPr/>
          <p:nvPr/>
        </p:nvSpPr>
        <p:spPr>
          <a:xfrm>
            <a:off x="643737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51" name="Text 49"/>
          <p:cNvSpPr/>
          <p:nvPr/>
        </p:nvSpPr>
        <p:spPr>
          <a:xfrm>
            <a:off x="6848856" y="1408176"/>
            <a:ext cx="170688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52" name="Text 50"/>
          <p:cNvSpPr/>
          <p:nvPr/>
        </p:nvSpPr>
        <p:spPr>
          <a:xfrm>
            <a:off x="8601456" y="1408176"/>
            <a:ext cx="170688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53" name="Text 51"/>
          <p:cNvSpPr/>
          <p:nvPr/>
        </p:nvSpPr>
        <p:spPr>
          <a:xfrm>
            <a:off x="10354056" y="1408176"/>
            <a:ext cx="170688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54" name="Shape 52"/>
          <p:cNvSpPr/>
          <p:nvPr/>
        </p:nvSpPr>
        <p:spPr>
          <a:xfrm>
            <a:off x="6400800" y="1627632"/>
            <a:ext cx="5669280" cy="256032"/>
          </a:xfrm>
          <a:prstGeom prst="rect">
            <a:avLst/>
          </a:prstGeom>
          <a:solidFill>
            <a:srgbClr val="FFF9EC"/>
          </a:solidFill>
          <a:ln w="3810">
            <a:solidFill>
              <a:srgbClr val="E5E7EB"/>
            </a:solidFill>
            <a:prstDash val="solid"/>
          </a:ln>
        </p:spPr>
      </p:sp>
      <p:sp>
        <p:nvSpPr>
          <p:cNvPr id="55" name="Text 53"/>
          <p:cNvSpPr/>
          <p:nvPr/>
        </p:nvSpPr>
        <p:spPr>
          <a:xfrm>
            <a:off x="643737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a:t>
            </a:r>
            <a:endParaRPr lang="en-US" sz="900" dirty="0"/>
          </a:p>
        </p:txBody>
      </p:sp>
      <p:sp>
        <p:nvSpPr>
          <p:cNvPr id="56" name="Text 54"/>
          <p:cNvSpPr/>
          <p:nvPr/>
        </p:nvSpPr>
        <p:spPr>
          <a:xfrm>
            <a:off x="6848856" y="1664208"/>
            <a:ext cx="170688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AFRICA GLOBAL LOGISTICS</a:t>
            </a:r>
            <a:endParaRPr lang="en-US" sz="900" dirty="0"/>
          </a:p>
        </p:txBody>
      </p:sp>
      <p:sp>
        <p:nvSpPr>
          <p:cNvPr id="57" name="Text 55"/>
          <p:cNvSpPr/>
          <p:nvPr/>
        </p:nvSpPr>
        <p:spPr>
          <a:xfrm>
            <a:off x="8601456" y="1664208"/>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35 972</a:t>
            </a:r>
            <a:endParaRPr lang="en-US" sz="900" dirty="0"/>
          </a:p>
        </p:txBody>
      </p:sp>
      <p:sp>
        <p:nvSpPr>
          <p:cNvPr id="58" name="Text 56"/>
          <p:cNvSpPr/>
          <p:nvPr/>
        </p:nvSpPr>
        <p:spPr>
          <a:xfrm>
            <a:off x="10354056" y="1664208"/>
            <a:ext cx="170688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26,2 %</a:t>
            </a:r>
            <a:endParaRPr lang="en-US" sz="900" dirty="0"/>
          </a:p>
        </p:txBody>
      </p:sp>
      <p:sp>
        <p:nvSpPr>
          <p:cNvPr id="59" name="Shape 57"/>
          <p:cNvSpPr/>
          <p:nvPr/>
        </p:nvSpPr>
        <p:spPr>
          <a:xfrm>
            <a:off x="6400800" y="1883664"/>
            <a:ext cx="5669280" cy="256032"/>
          </a:xfrm>
          <a:prstGeom prst="rect">
            <a:avLst/>
          </a:prstGeom>
          <a:solidFill>
            <a:srgbClr val="F8F9FA"/>
          </a:solidFill>
          <a:ln w="3810">
            <a:solidFill>
              <a:srgbClr val="E5E7EB"/>
            </a:solidFill>
            <a:prstDash val="solid"/>
          </a:ln>
        </p:spPr>
      </p:sp>
      <p:sp>
        <p:nvSpPr>
          <p:cNvPr id="60" name="Text 58"/>
          <p:cNvSpPr/>
          <p:nvPr/>
        </p:nvSpPr>
        <p:spPr>
          <a:xfrm>
            <a:off x="643737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61" name="Text 59"/>
          <p:cNvSpPr/>
          <p:nvPr/>
        </p:nvSpPr>
        <p:spPr>
          <a:xfrm>
            <a:off x="6848856" y="1920240"/>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MAERSK LOGISTIC</a:t>
            </a:r>
            <a:endParaRPr lang="en-US" sz="900" dirty="0"/>
          </a:p>
        </p:txBody>
      </p:sp>
      <p:sp>
        <p:nvSpPr>
          <p:cNvPr id="62" name="Text 60"/>
          <p:cNvSpPr/>
          <p:nvPr/>
        </p:nvSpPr>
        <p:spPr>
          <a:xfrm>
            <a:off x="8601456" y="192024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7 730</a:t>
            </a:r>
            <a:endParaRPr lang="en-US" sz="900" dirty="0"/>
          </a:p>
        </p:txBody>
      </p:sp>
      <p:sp>
        <p:nvSpPr>
          <p:cNvPr id="63" name="Text 61"/>
          <p:cNvSpPr/>
          <p:nvPr/>
        </p:nvSpPr>
        <p:spPr>
          <a:xfrm>
            <a:off x="10354056" y="192024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5,6 %</a:t>
            </a:r>
            <a:endParaRPr lang="en-US" sz="900" dirty="0"/>
          </a:p>
        </p:txBody>
      </p:sp>
      <p:sp>
        <p:nvSpPr>
          <p:cNvPr id="64" name="Shape 62"/>
          <p:cNvSpPr/>
          <p:nvPr/>
        </p:nvSpPr>
        <p:spPr>
          <a:xfrm>
            <a:off x="6400800" y="2139696"/>
            <a:ext cx="5669280" cy="256032"/>
          </a:xfrm>
          <a:prstGeom prst="rect">
            <a:avLst/>
          </a:prstGeom>
          <a:solidFill>
            <a:srgbClr val="FFFFFF"/>
          </a:solidFill>
          <a:ln w="3810">
            <a:solidFill>
              <a:srgbClr val="E5E7EB"/>
            </a:solidFill>
            <a:prstDash val="solid"/>
          </a:ln>
        </p:spPr>
      </p:sp>
      <p:sp>
        <p:nvSpPr>
          <p:cNvPr id="65" name="Text 63"/>
          <p:cNvSpPr/>
          <p:nvPr/>
        </p:nvSpPr>
        <p:spPr>
          <a:xfrm>
            <a:off x="643737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66" name="Text 64"/>
          <p:cNvSpPr/>
          <p:nvPr/>
        </p:nvSpPr>
        <p:spPr>
          <a:xfrm>
            <a:off x="6848856" y="2176272"/>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MANTRA IVOIRE</a:t>
            </a:r>
            <a:endParaRPr lang="en-US" sz="900" dirty="0"/>
          </a:p>
        </p:txBody>
      </p:sp>
      <p:sp>
        <p:nvSpPr>
          <p:cNvPr id="67" name="Text 65"/>
          <p:cNvSpPr/>
          <p:nvPr/>
        </p:nvSpPr>
        <p:spPr>
          <a:xfrm>
            <a:off x="8601456" y="217627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7 671</a:t>
            </a:r>
            <a:endParaRPr lang="en-US" sz="900" dirty="0"/>
          </a:p>
        </p:txBody>
      </p:sp>
      <p:sp>
        <p:nvSpPr>
          <p:cNvPr id="68" name="Text 66"/>
          <p:cNvSpPr/>
          <p:nvPr/>
        </p:nvSpPr>
        <p:spPr>
          <a:xfrm>
            <a:off x="10354056" y="217627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5,6 %</a:t>
            </a:r>
            <a:endParaRPr lang="en-US" sz="900" dirty="0"/>
          </a:p>
        </p:txBody>
      </p:sp>
      <p:sp>
        <p:nvSpPr>
          <p:cNvPr id="69" name="Shape 67"/>
          <p:cNvSpPr/>
          <p:nvPr/>
        </p:nvSpPr>
        <p:spPr>
          <a:xfrm>
            <a:off x="6400800" y="2395728"/>
            <a:ext cx="5669280" cy="256032"/>
          </a:xfrm>
          <a:prstGeom prst="rect">
            <a:avLst/>
          </a:prstGeom>
          <a:solidFill>
            <a:srgbClr val="F8F9FA"/>
          </a:solidFill>
          <a:ln w="3810">
            <a:solidFill>
              <a:srgbClr val="E5E7EB"/>
            </a:solidFill>
            <a:prstDash val="solid"/>
          </a:ln>
        </p:spPr>
      </p:sp>
      <p:sp>
        <p:nvSpPr>
          <p:cNvPr id="70" name="Text 68"/>
          <p:cNvSpPr/>
          <p:nvPr/>
        </p:nvSpPr>
        <p:spPr>
          <a:xfrm>
            <a:off x="643737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71" name="Text 69"/>
          <p:cNvSpPr/>
          <p:nvPr/>
        </p:nvSpPr>
        <p:spPr>
          <a:xfrm>
            <a:off x="6848856" y="2432304"/>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GLOBAL MANUTENTION CI</a:t>
            </a:r>
            <a:endParaRPr lang="en-US" sz="900" dirty="0"/>
          </a:p>
        </p:txBody>
      </p:sp>
      <p:sp>
        <p:nvSpPr>
          <p:cNvPr id="72" name="Text 70"/>
          <p:cNvSpPr/>
          <p:nvPr/>
        </p:nvSpPr>
        <p:spPr>
          <a:xfrm>
            <a:off x="8601456" y="243230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5 893</a:t>
            </a:r>
            <a:endParaRPr lang="en-US" sz="900" dirty="0"/>
          </a:p>
        </p:txBody>
      </p:sp>
      <p:sp>
        <p:nvSpPr>
          <p:cNvPr id="73" name="Text 71"/>
          <p:cNvSpPr/>
          <p:nvPr/>
        </p:nvSpPr>
        <p:spPr>
          <a:xfrm>
            <a:off x="10354056" y="243230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4,3 %</a:t>
            </a:r>
            <a:endParaRPr lang="en-US" sz="900" dirty="0"/>
          </a:p>
        </p:txBody>
      </p:sp>
      <p:sp>
        <p:nvSpPr>
          <p:cNvPr id="74" name="Shape 72"/>
          <p:cNvSpPr/>
          <p:nvPr/>
        </p:nvSpPr>
        <p:spPr>
          <a:xfrm>
            <a:off x="6400800" y="2651760"/>
            <a:ext cx="5669280" cy="256032"/>
          </a:xfrm>
          <a:prstGeom prst="rect">
            <a:avLst/>
          </a:prstGeom>
          <a:solidFill>
            <a:srgbClr val="FFFFFF"/>
          </a:solidFill>
          <a:ln w="3810">
            <a:solidFill>
              <a:srgbClr val="E5E7EB"/>
            </a:solidFill>
            <a:prstDash val="solid"/>
          </a:ln>
        </p:spPr>
      </p:sp>
      <p:sp>
        <p:nvSpPr>
          <p:cNvPr id="75" name="Text 73"/>
          <p:cNvSpPr/>
          <p:nvPr/>
        </p:nvSpPr>
        <p:spPr>
          <a:xfrm>
            <a:off x="643737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76" name="Text 74"/>
          <p:cNvSpPr/>
          <p:nvPr/>
        </p:nvSpPr>
        <p:spPr>
          <a:xfrm>
            <a:off x="6848856" y="2688336"/>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OTL</a:t>
            </a:r>
            <a:endParaRPr lang="en-US" sz="900" dirty="0"/>
          </a:p>
        </p:txBody>
      </p:sp>
      <p:sp>
        <p:nvSpPr>
          <p:cNvPr id="77" name="Text 75"/>
          <p:cNvSpPr/>
          <p:nvPr/>
        </p:nvSpPr>
        <p:spPr>
          <a:xfrm>
            <a:off x="8601456" y="268833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5 760</a:t>
            </a:r>
            <a:endParaRPr lang="en-US" sz="900" dirty="0"/>
          </a:p>
        </p:txBody>
      </p:sp>
      <p:sp>
        <p:nvSpPr>
          <p:cNvPr id="78" name="Text 76"/>
          <p:cNvSpPr/>
          <p:nvPr/>
        </p:nvSpPr>
        <p:spPr>
          <a:xfrm>
            <a:off x="10354056" y="268833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4,2 %</a:t>
            </a:r>
            <a:endParaRPr lang="en-US" sz="900" dirty="0"/>
          </a:p>
        </p:txBody>
      </p:sp>
      <p:sp>
        <p:nvSpPr>
          <p:cNvPr id="79" name="Shape 77"/>
          <p:cNvSpPr/>
          <p:nvPr/>
        </p:nvSpPr>
        <p:spPr>
          <a:xfrm>
            <a:off x="6400800" y="2907792"/>
            <a:ext cx="5669280" cy="256032"/>
          </a:xfrm>
          <a:prstGeom prst="rect">
            <a:avLst/>
          </a:prstGeom>
          <a:solidFill>
            <a:srgbClr val="F8F9FA"/>
          </a:solidFill>
          <a:ln w="3810">
            <a:solidFill>
              <a:srgbClr val="E5E7EB"/>
            </a:solidFill>
            <a:prstDash val="solid"/>
          </a:ln>
        </p:spPr>
      </p:sp>
      <p:sp>
        <p:nvSpPr>
          <p:cNvPr id="80" name="Text 78"/>
          <p:cNvSpPr/>
          <p:nvPr/>
        </p:nvSpPr>
        <p:spPr>
          <a:xfrm>
            <a:off x="643737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81" name="Text 79"/>
          <p:cNvSpPr/>
          <p:nvPr/>
        </p:nvSpPr>
        <p:spPr>
          <a:xfrm>
            <a:off x="6848856" y="2944368"/>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MEDLOG CI</a:t>
            </a:r>
            <a:endParaRPr lang="en-US" sz="900" dirty="0"/>
          </a:p>
        </p:txBody>
      </p:sp>
      <p:sp>
        <p:nvSpPr>
          <p:cNvPr id="82" name="Text 80"/>
          <p:cNvSpPr/>
          <p:nvPr/>
        </p:nvSpPr>
        <p:spPr>
          <a:xfrm>
            <a:off x="8601456" y="2944368"/>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4 921</a:t>
            </a:r>
            <a:endParaRPr lang="en-US" sz="900" dirty="0"/>
          </a:p>
        </p:txBody>
      </p:sp>
      <p:sp>
        <p:nvSpPr>
          <p:cNvPr id="83" name="Text 81"/>
          <p:cNvSpPr/>
          <p:nvPr/>
        </p:nvSpPr>
        <p:spPr>
          <a:xfrm>
            <a:off x="10354056" y="2944368"/>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3,6 %</a:t>
            </a:r>
            <a:endParaRPr lang="en-US" sz="900" dirty="0"/>
          </a:p>
        </p:txBody>
      </p:sp>
      <p:sp>
        <p:nvSpPr>
          <p:cNvPr id="84" name="Shape 82"/>
          <p:cNvSpPr/>
          <p:nvPr/>
        </p:nvSpPr>
        <p:spPr>
          <a:xfrm>
            <a:off x="6400800" y="3163824"/>
            <a:ext cx="5669280" cy="256032"/>
          </a:xfrm>
          <a:prstGeom prst="rect">
            <a:avLst/>
          </a:prstGeom>
          <a:solidFill>
            <a:srgbClr val="FFFFFF"/>
          </a:solidFill>
          <a:ln w="3810">
            <a:solidFill>
              <a:srgbClr val="E5E7EB"/>
            </a:solidFill>
            <a:prstDash val="solid"/>
          </a:ln>
        </p:spPr>
      </p:sp>
      <p:sp>
        <p:nvSpPr>
          <p:cNvPr id="85" name="Text 83"/>
          <p:cNvSpPr/>
          <p:nvPr/>
        </p:nvSpPr>
        <p:spPr>
          <a:xfrm>
            <a:off x="643737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86" name="Text 84"/>
          <p:cNvSpPr/>
          <p:nvPr/>
        </p:nvSpPr>
        <p:spPr>
          <a:xfrm>
            <a:off x="6848856" y="3200400"/>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SDMA</a:t>
            </a:r>
            <a:endParaRPr lang="en-US" sz="900" dirty="0"/>
          </a:p>
        </p:txBody>
      </p:sp>
      <p:sp>
        <p:nvSpPr>
          <p:cNvPr id="87" name="Text 85"/>
          <p:cNvSpPr/>
          <p:nvPr/>
        </p:nvSpPr>
        <p:spPr>
          <a:xfrm>
            <a:off x="8601456" y="320040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4 902</a:t>
            </a:r>
            <a:endParaRPr lang="en-US" sz="900" dirty="0"/>
          </a:p>
        </p:txBody>
      </p:sp>
      <p:sp>
        <p:nvSpPr>
          <p:cNvPr id="88" name="Text 86"/>
          <p:cNvSpPr/>
          <p:nvPr/>
        </p:nvSpPr>
        <p:spPr>
          <a:xfrm>
            <a:off x="10354056" y="320040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3,6 %</a:t>
            </a:r>
            <a:endParaRPr lang="en-US" sz="900" dirty="0"/>
          </a:p>
        </p:txBody>
      </p:sp>
      <p:sp>
        <p:nvSpPr>
          <p:cNvPr id="89" name="Shape 87"/>
          <p:cNvSpPr/>
          <p:nvPr/>
        </p:nvSpPr>
        <p:spPr>
          <a:xfrm>
            <a:off x="6400800" y="3419856"/>
            <a:ext cx="5669280" cy="256032"/>
          </a:xfrm>
          <a:prstGeom prst="rect">
            <a:avLst/>
          </a:prstGeom>
          <a:solidFill>
            <a:srgbClr val="F8F9FA"/>
          </a:solidFill>
          <a:ln w="3810">
            <a:solidFill>
              <a:srgbClr val="E5E7EB"/>
            </a:solidFill>
            <a:prstDash val="solid"/>
          </a:ln>
        </p:spPr>
      </p:sp>
      <p:sp>
        <p:nvSpPr>
          <p:cNvPr id="90" name="Text 88"/>
          <p:cNvSpPr/>
          <p:nvPr/>
        </p:nvSpPr>
        <p:spPr>
          <a:xfrm>
            <a:off x="643737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91" name="Text 89"/>
          <p:cNvSpPr/>
          <p:nvPr/>
        </p:nvSpPr>
        <p:spPr>
          <a:xfrm>
            <a:off x="6848856" y="3456432"/>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PACKING SERVICE INTL</a:t>
            </a:r>
            <a:endParaRPr lang="en-US" sz="900" dirty="0"/>
          </a:p>
        </p:txBody>
      </p:sp>
      <p:sp>
        <p:nvSpPr>
          <p:cNvPr id="92" name="Text 90"/>
          <p:cNvSpPr/>
          <p:nvPr/>
        </p:nvSpPr>
        <p:spPr>
          <a:xfrm>
            <a:off x="8601456" y="345643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4 411</a:t>
            </a:r>
            <a:endParaRPr lang="en-US" sz="900" dirty="0"/>
          </a:p>
        </p:txBody>
      </p:sp>
      <p:sp>
        <p:nvSpPr>
          <p:cNvPr id="93" name="Text 91"/>
          <p:cNvSpPr/>
          <p:nvPr/>
        </p:nvSpPr>
        <p:spPr>
          <a:xfrm>
            <a:off x="10354056" y="345643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3,2 %</a:t>
            </a:r>
            <a:endParaRPr lang="en-US" sz="900" dirty="0"/>
          </a:p>
        </p:txBody>
      </p:sp>
      <p:sp>
        <p:nvSpPr>
          <p:cNvPr id="94" name="Shape 92"/>
          <p:cNvSpPr/>
          <p:nvPr/>
        </p:nvSpPr>
        <p:spPr>
          <a:xfrm>
            <a:off x="6400800" y="3675888"/>
            <a:ext cx="5669280" cy="256032"/>
          </a:xfrm>
          <a:prstGeom prst="rect">
            <a:avLst/>
          </a:prstGeom>
          <a:solidFill>
            <a:srgbClr val="FFFFFF"/>
          </a:solidFill>
          <a:ln w="3810">
            <a:solidFill>
              <a:srgbClr val="E5E7EB"/>
            </a:solidFill>
            <a:prstDash val="solid"/>
          </a:ln>
        </p:spPr>
      </p:sp>
      <p:sp>
        <p:nvSpPr>
          <p:cNvPr id="95" name="Text 93"/>
          <p:cNvSpPr/>
          <p:nvPr/>
        </p:nvSpPr>
        <p:spPr>
          <a:xfrm>
            <a:off x="643737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96" name="Text 94"/>
          <p:cNvSpPr/>
          <p:nvPr/>
        </p:nvSpPr>
        <p:spPr>
          <a:xfrm>
            <a:off x="6848856" y="3712464"/>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MOVIS TRANSIT CI</a:t>
            </a:r>
            <a:endParaRPr lang="en-US" sz="900" dirty="0"/>
          </a:p>
        </p:txBody>
      </p:sp>
      <p:sp>
        <p:nvSpPr>
          <p:cNvPr id="97" name="Text 95"/>
          <p:cNvSpPr/>
          <p:nvPr/>
        </p:nvSpPr>
        <p:spPr>
          <a:xfrm>
            <a:off x="8601456" y="371246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4 067</a:t>
            </a:r>
            <a:endParaRPr lang="en-US" sz="900" dirty="0"/>
          </a:p>
        </p:txBody>
      </p:sp>
      <p:sp>
        <p:nvSpPr>
          <p:cNvPr id="98" name="Text 96"/>
          <p:cNvSpPr/>
          <p:nvPr/>
        </p:nvSpPr>
        <p:spPr>
          <a:xfrm>
            <a:off x="10354056" y="371246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3,0 %</a:t>
            </a:r>
            <a:endParaRPr lang="en-US" sz="900" dirty="0"/>
          </a:p>
        </p:txBody>
      </p:sp>
      <p:sp>
        <p:nvSpPr>
          <p:cNvPr id="99" name="Shape 97"/>
          <p:cNvSpPr/>
          <p:nvPr/>
        </p:nvSpPr>
        <p:spPr>
          <a:xfrm>
            <a:off x="6400800" y="3931920"/>
            <a:ext cx="5669280" cy="256032"/>
          </a:xfrm>
          <a:prstGeom prst="rect">
            <a:avLst/>
          </a:prstGeom>
          <a:solidFill>
            <a:srgbClr val="F8F9FA"/>
          </a:solidFill>
          <a:ln w="3810">
            <a:solidFill>
              <a:srgbClr val="E5E7EB"/>
            </a:solidFill>
            <a:prstDash val="solid"/>
          </a:ln>
        </p:spPr>
      </p:sp>
      <p:sp>
        <p:nvSpPr>
          <p:cNvPr id="100" name="Text 98"/>
          <p:cNvSpPr/>
          <p:nvPr/>
        </p:nvSpPr>
        <p:spPr>
          <a:xfrm>
            <a:off x="643737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101" name="Text 99"/>
          <p:cNvSpPr/>
          <p:nvPr/>
        </p:nvSpPr>
        <p:spPr>
          <a:xfrm>
            <a:off x="6848856" y="3968496"/>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GTS CI</a:t>
            </a:r>
            <a:endParaRPr lang="en-US" sz="900" dirty="0"/>
          </a:p>
        </p:txBody>
      </p:sp>
      <p:sp>
        <p:nvSpPr>
          <p:cNvPr id="102" name="Text 100"/>
          <p:cNvSpPr/>
          <p:nvPr/>
        </p:nvSpPr>
        <p:spPr>
          <a:xfrm>
            <a:off x="8601456" y="396849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4 010</a:t>
            </a:r>
            <a:endParaRPr lang="en-US" sz="900" dirty="0"/>
          </a:p>
        </p:txBody>
      </p:sp>
      <p:sp>
        <p:nvSpPr>
          <p:cNvPr id="103" name="Text 101"/>
          <p:cNvSpPr/>
          <p:nvPr/>
        </p:nvSpPr>
        <p:spPr>
          <a:xfrm>
            <a:off x="10354056" y="396849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2,9 %</a:t>
            </a:r>
            <a:endParaRPr lang="en-US" sz="900" dirty="0"/>
          </a:p>
        </p:txBody>
      </p:sp>
      <p:sp>
        <p:nvSpPr>
          <p:cNvPr id="104" name="Shape 102"/>
          <p:cNvSpPr/>
          <p:nvPr/>
        </p:nvSpPr>
        <p:spPr>
          <a:xfrm>
            <a:off x="137160" y="4937760"/>
            <a:ext cx="11795760" cy="685800"/>
          </a:xfrm>
          <a:prstGeom prst="rect">
            <a:avLst/>
          </a:prstGeom>
          <a:solidFill>
            <a:srgbClr val="FFFBEC"/>
          </a:solidFill>
          <a:ln w="6350">
            <a:solidFill>
              <a:srgbClr val="E5C97A"/>
            </a:solidFill>
            <a:prstDash val="solid"/>
          </a:ln>
        </p:spPr>
      </p:sp>
      <p:sp>
        <p:nvSpPr>
          <p:cNvPr id="105" name="Text 103"/>
          <p:cNvSpPr/>
          <p:nvPr/>
        </p:nvSpPr>
        <p:spPr>
          <a:xfrm>
            <a:off x="228600" y="5010912"/>
            <a:ext cx="1161288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POSITION TEM : AGL détient 26,2% du marché qualifié – soit 4,7x le 2ème acteur. Forces : Bananes (74% PDM), Dérivés cacao (49%), Cacao (32%). Levier : Noix de Cajou (13 129 TEU marché, seulement 5,4% PDM AGL) = +860 TEU si PDM portée à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CLIENTÈLE CHARGEURS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Top 10 chargeurs  |  Répartition filières  |  Risques &amp; opportunités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p.10</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64008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chargeurs AGL – TEM (TEU)</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Chargeur</a:t>
            </a:r>
            <a:endParaRPr lang="en-US" sz="900" dirty="0"/>
          </a:p>
        </p:txBody>
      </p:sp>
      <p:sp>
        <p:nvSpPr>
          <p:cNvPr id="10" name="Text 8"/>
          <p:cNvSpPr/>
          <p:nvPr/>
        </p:nvSpPr>
        <p:spPr>
          <a:xfrm>
            <a:off x="585216" y="1408176"/>
            <a:ext cx="195072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1" name="Text 9"/>
          <p:cNvSpPr/>
          <p:nvPr/>
        </p:nvSpPr>
        <p:spPr>
          <a:xfrm>
            <a:off x="2581656" y="1408176"/>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Filière</a:t>
            </a:r>
            <a:endParaRPr lang="en-US" sz="900" dirty="0"/>
          </a:p>
        </p:txBody>
      </p:sp>
      <p:sp>
        <p:nvSpPr>
          <p:cNvPr id="12" name="Text 10"/>
          <p:cNvSpPr/>
          <p:nvPr/>
        </p:nvSpPr>
        <p:spPr>
          <a:xfrm>
            <a:off x="4578096" y="1408176"/>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Vol. AGL</a:t>
            </a:r>
            <a:endParaRPr lang="en-US" sz="900" dirty="0"/>
          </a:p>
        </p:txBody>
      </p:sp>
      <p:sp>
        <p:nvSpPr>
          <p:cNvPr id="13" name="Shape 11"/>
          <p:cNvSpPr/>
          <p:nvPr/>
        </p:nvSpPr>
        <p:spPr>
          <a:xfrm>
            <a:off x="137160" y="1627632"/>
            <a:ext cx="640080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CARGILL WEST AFRICA (CACAO)</a:t>
            </a:r>
            <a:endParaRPr lang="en-US" sz="900" dirty="0"/>
          </a:p>
        </p:txBody>
      </p:sp>
      <p:sp>
        <p:nvSpPr>
          <p:cNvPr id="15" name="Text 13"/>
          <p:cNvSpPr/>
          <p:nvPr/>
        </p:nvSpPr>
        <p:spPr>
          <a:xfrm>
            <a:off x="585216" y="1664208"/>
            <a:ext cx="195072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3 219</a:t>
            </a:r>
            <a:endParaRPr lang="en-US" sz="900" dirty="0"/>
          </a:p>
        </p:txBody>
      </p:sp>
      <p:sp>
        <p:nvSpPr>
          <p:cNvPr id="16" name="Text 14"/>
          <p:cNvSpPr/>
          <p:nvPr/>
        </p:nvSpPr>
        <p:spPr>
          <a:xfrm>
            <a:off x="2581656" y="166420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Cacao</a:t>
            </a:r>
            <a:endParaRPr lang="en-US" sz="900" dirty="0"/>
          </a:p>
        </p:txBody>
      </p:sp>
      <p:sp>
        <p:nvSpPr>
          <p:cNvPr id="17" name="Text 15"/>
          <p:cNvSpPr/>
          <p:nvPr/>
        </p:nvSpPr>
        <p:spPr>
          <a:xfrm>
            <a:off x="4578096" y="1664208"/>
            <a:ext cx="195072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9,0%</a:t>
            </a:r>
            <a:endParaRPr lang="en-US" sz="900" dirty="0"/>
          </a:p>
        </p:txBody>
      </p:sp>
      <p:sp>
        <p:nvSpPr>
          <p:cNvPr id="18" name="Shape 16"/>
          <p:cNvSpPr/>
          <p:nvPr/>
        </p:nvSpPr>
        <p:spPr>
          <a:xfrm>
            <a:off x="137160" y="1883664"/>
            <a:ext cx="640080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JEAN EGLIN (PLANTATION)</a:t>
            </a:r>
            <a:endParaRPr lang="en-US" sz="900" dirty="0"/>
          </a:p>
        </p:txBody>
      </p:sp>
      <p:sp>
        <p:nvSpPr>
          <p:cNvPr id="20" name="Text 18"/>
          <p:cNvSpPr/>
          <p:nvPr/>
        </p:nvSpPr>
        <p:spPr>
          <a:xfrm>
            <a:off x="585216" y="1920240"/>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2 500</a:t>
            </a:r>
            <a:endParaRPr lang="en-US" sz="900" dirty="0"/>
          </a:p>
        </p:txBody>
      </p:sp>
      <p:sp>
        <p:nvSpPr>
          <p:cNvPr id="21" name="Text 19"/>
          <p:cNvSpPr/>
          <p:nvPr/>
        </p:nvSpPr>
        <p:spPr>
          <a:xfrm>
            <a:off x="2581656" y="192024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Bananes</a:t>
            </a:r>
            <a:endParaRPr lang="en-US" sz="900" dirty="0"/>
          </a:p>
        </p:txBody>
      </p:sp>
      <p:sp>
        <p:nvSpPr>
          <p:cNvPr id="22" name="Text 20"/>
          <p:cNvSpPr/>
          <p:nvPr/>
        </p:nvSpPr>
        <p:spPr>
          <a:xfrm>
            <a:off x="4578096" y="192024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6,9%</a:t>
            </a:r>
            <a:endParaRPr lang="en-US" sz="900" dirty="0"/>
          </a:p>
        </p:txBody>
      </p:sp>
      <p:sp>
        <p:nvSpPr>
          <p:cNvPr id="23" name="Shape 21"/>
          <p:cNvSpPr/>
          <p:nvPr/>
        </p:nvSpPr>
        <p:spPr>
          <a:xfrm>
            <a:off x="137160" y="2139696"/>
            <a:ext cx="640080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AFRICA SOURCING PRODUCE CI</a:t>
            </a:r>
            <a:endParaRPr lang="en-US" sz="900" dirty="0"/>
          </a:p>
        </p:txBody>
      </p:sp>
      <p:sp>
        <p:nvSpPr>
          <p:cNvPr id="25" name="Text 23"/>
          <p:cNvSpPr/>
          <p:nvPr/>
        </p:nvSpPr>
        <p:spPr>
          <a:xfrm>
            <a:off x="585216" y="217627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2 425</a:t>
            </a:r>
            <a:endParaRPr lang="en-US" sz="900" dirty="0"/>
          </a:p>
        </p:txBody>
      </p:sp>
      <p:sp>
        <p:nvSpPr>
          <p:cNvPr id="26" name="Text 24"/>
          <p:cNvSpPr/>
          <p:nvPr/>
        </p:nvSpPr>
        <p:spPr>
          <a:xfrm>
            <a:off x="2581656" y="217627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Bananes</a:t>
            </a:r>
            <a:endParaRPr lang="en-US" sz="900" dirty="0"/>
          </a:p>
        </p:txBody>
      </p:sp>
      <p:sp>
        <p:nvSpPr>
          <p:cNvPr id="27" name="Text 25"/>
          <p:cNvSpPr/>
          <p:nvPr/>
        </p:nvSpPr>
        <p:spPr>
          <a:xfrm>
            <a:off x="4578096" y="217627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6,7%</a:t>
            </a:r>
            <a:endParaRPr lang="en-US" sz="900" dirty="0"/>
          </a:p>
        </p:txBody>
      </p:sp>
      <p:sp>
        <p:nvSpPr>
          <p:cNvPr id="28" name="Shape 26"/>
          <p:cNvSpPr/>
          <p:nvPr/>
        </p:nvSpPr>
        <p:spPr>
          <a:xfrm>
            <a:off x="137160" y="2395728"/>
            <a:ext cx="640080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CARGILL COCOA SA (DÉRIVÉS)</a:t>
            </a:r>
            <a:endParaRPr lang="en-US" sz="900" dirty="0"/>
          </a:p>
        </p:txBody>
      </p:sp>
      <p:sp>
        <p:nvSpPr>
          <p:cNvPr id="30" name="Text 28"/>
          <p:cNvSpPr/>
          <p:nvPr/>
        </p:nvSpPr>
        <p:spPr>
          <a:xfrm>
            <a:off x="585216" y="243230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2 264</a:t>
            </a:r>
            <a:endParaRPr lang="en-US" sz="900" dirty="0"/>
          </a:p>
        </p:txBody>
      </p:sp>
      <p:sp>
        <p:nvSpPr>
          <p:cNvPr id="31" name="Text 29"/>
          <p:cNvSpPr/>
          <p:nvPr/>
        </p:nvSpPr>
        <p:spPr>
          <a:xfrm>
            <a:off x="2581656" y="243230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Dérivés cacao</a:t>
            </a:r>
            <a:endParaRPr lang="en-US" sz="900" dirty="0"/>
          </a:p>
        </p:txBody>
      </p:sp>
      <p:sp>
        <p:nvSpPr>
          <p:cNvPr id="32" name="Text 30"/>
          <p:cNvSpPr/>
          <p:nvPr/>
        </p:nvSpPr>
        <p:spPr>
          <a:xfrm>
            <a:off x="4578096" y="243230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6,3%</a:t>
            </a:r>
            <a:endParaRPr lang="en-US" sz="900" dirty="0"/>
          </a:p>
        </p:txBody>
      </p:sp>
      <p:sp>
        <p:nvSpPr>
          <p:cNvPr id="33" name="Shape 31"/>
          <p:cNvSpPr/>
          <p:nvPr/>
        </p:nvSpPr>
        <p:spPr>
          <a:xfrm>
            <a:off x="137160" y="2651760"/>
            <a:ext cx="640080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CYRIAN INTERNATIONAL CI</a:t>
            </a:r>
            <a:endParaRPr lang="en-US" sz="900" dirty="0"/>
          </a:p>
        </p:txBody>
      </p:sp>
      <p:sp>
        <p:nvSpPr>
          <p:cNvPr id="35" name="Text 33"/>
          <p:cNvSpPr/>
          <p:nvPr/>
        </p:nvSpPr>
        <p:spPr>
          <a:xfrm>
            <a:off x="585216" y="268833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2 191</a:t>
            </a:r>
            <a:endParaRPr lang="en-US" sz="900" dirty="0"/>
          </a:p>
        </p:txBody>
      </p:sp>
      <p:sp>
        <p:nvSpPr>
          <p:cNvPr id="36" name="Text 34"/>
          <p:cNvSpPr/>
          <p:nvPr/>
        </p:nvSpPr>
        <p:spPr>
          <a:xfrm>
            <a:off x="2581656" y="268833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Bananes</a:t>
            </a:r>
            <a:endParaRPr lang="en-US" sz="900" dirty="0"/>
          </a:p>
        </p:txBody>
      </p:sp>
      <p:sp>
        <p:nvSpPr>
          <p:cNvPr id="37" name="Text 35"/>
          <p:cNvSpPr/>
          <p:nvPr/>
        </p:nvSpPr>
        <p:spPr>
          <a:xfrm>
            <a:off x="4578096" y="268833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6,1%</a:t>
            </a:r>
            <a:endParaRPr lang="en-US" sz="900" dirty="0"/>
          </a:p>
        </p:txBody>
      </p:sp>
      <p:sp>
        <p:nvSpPr>
          <p:cNvPr id="38" name="Shape 36"/>
          <p:cNvSpPr/>
          <p:nvPr/>
        </p:nvSpPr>
        <p:spPr>
          <a:xfrm>
            <a:off x="137160" y="2907792"/>
            <a:ext cx="640080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OLAM COCOA PROCESSING</a:t>
            </a:r>
            <a:endParaRPr lang="en-US" sz="900" dirty="0"/>
          </a:p>
        </p:txBody>
      </p:sp>
      <p:sp>
        <p:nvSpPr>
          <p:cNvPr id="40" name="Text 38"/>
          <p:cNvSpPr/>
          <p:nvPr/>
        </p:nvSpPr>
        <p:spPr>
          <a:xfrm>
            <a:off x="585216" y="2944368"/>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2 068</a:t>
            </a:r>
            <a:endParaRPr lang="en-US" sz="900" dirty="0"/>
          </a:p>
        </p:txBody>
      </p:sp>
      <p:sp>
        <p:nvSpPr>
          <p:cNvPr id="41" name="Text 39"/>
          <p:cNvSpPr/>
          <p:nvPr/>
        </p:nvSpPr>
        <p:spPr>
          <a:xfrm>
            <a:off x="2581656" y="294436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Cacao</a:t>
            </a:r>
            <a:endParaRPr lang="en-US" sz="900" dirty="0"/>
          </a:p>
        </p:txBody>
      </p:sp>
      <p:sp>
        <p:nvSpPr>
          <p:cNvPr id="42" name="Text 40"/>
          <p:cNvSpPr/>
          <p:nvPr/>
        </p:nvSpPr>
        <p:spPr>
          <a:xfrm>
            <a:off x="4578096" y="294436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5,7%</a:t>
            </a:r>
            <a:endParaRPr lang="en-US" sz="900" dirty="0"/>
          </a:p>
        </p:txBody>
      </p:sp>
      <p:sp>
        <p:nvSpPr>
          <p:cNvPr id="43" name="Shape 41"/>
          <p:cNvSpPr/>
          <p:nvPr/>
        </p:nvSpPr>
        <p:spPr>
          <a:xfrm>
            <a:off x="137160" y="3163824"/>
            <a:ext cx="640080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KINEDEN COMMODITIES SA CI</a:t>
            </a:r>
            <a:endParaRPr lang="en-US" sz="900" dirty="0"/>
          </a:p>
        </p:txBody>
      </p:sp>
      <p:sp>
        <p:nvSpPr>
          <p:cNvPr id="45" name="Text 43"/>
          <p:cNvSpPr/>
          <p:nvPr/>
        </p:nvSpPr>
        <p:spPr>
          <a:xfrm>
            <a:off x="585216" y="3200400"/>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1 256</a:t>
            </a:r>
            <a:endParaRPr lang="en-US" sz="900" dirty="0"/>
          </a:p>
        </p:txBody>
      </p:sp>
      <p:sp>
        <p:nvSpPr>
          <p:cNvPr id="46" name="Text 44"/>
          <p:cNvSpPr/>
          <p:nvPr/>
        </p:nvSpPr>
        <p:spPr>
          <a:xfrm>
            <a:off x="2581656" y="320040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Cacao</a:t>
            </a:r>
            <a:endParaRPr lang="en-US" sz="900" dirty="0"/>
          </a:p>
        </p:txBody>
      </p:sp>
      <p:sp>
        <p:nvSpPr>
          <p:cNvPr id="47" name="Text 45"/>
          <p:cNvSpPr/>
          <p:nvPr/>
        </p:nvSpPr>
        <p:spPr>
          <a:xfrm>
            <a:off x="4578096" y="320040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3,5%</a:t>
            </a:r>
            <a:endParaRPr lang="en-US" sz="900" dirty="0"/>
          </a:p>
        </p:txBody>
      </p:sp>
      <p:sp>
        <p:nvSpPr>
          <p:cNvPr id="48" name="Shape 46"/>
          <p:cNvSpPr/>
          <p:nvPr/>
        </p:nvSpPr>
        <p:spPr>
          <a:xfrm>
            <a:off x="137160" y="3419856"/>
            <a:ext cx="640080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OLAM AGRI RUBBER</a:t>
            </a:r>
            <a:endParaRPr lang="en-US" sz="900" dirty="0"/>
          </a:p>
        </p:txBody>
      </p:sp>
      <p:sp>
        <p:nvSpPr>
          <p:cNvPr id="50" name="Text 48"/>
          <p:cNvSpPr/>
          <p:nvPr/>
        </p:nvSpPr>
        <p:spPr>
          <a:xfrm>
            <a:off x="585216" y="345643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1 203</a:t>
            </a:r>
            <a:endParaRPr lang="en-US" sz="900" dirty="0"/>
          </a:p>
        </p:txBody>
      </p:sp>
      <p:sp>
        <p:nvSpPr>
          <p:cNvPr id="51" name="Text 49"/>
          <p:cNvSpPr/>
          <p:nvPr/>
        </p:nvSpPr>
        <p:spPr>
          <a:xfrm>
            <a:off x="2581656" y="345643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Caoutchouc</a:t>
            </a:r>
            <a:endParaRPr lang="en-US" sz="900" dirty="0"/>
          </a:p>
        </p:txBody>
      </p:sp>
      <p:sp>
        <p:nvSpPr>
          <p:cNvPr id="52" name="Text 50"/>
          <p:cNvSpPr/>
          <p:nvPr/>
        </p:nvSpPr>
        <p:spPr>
          <a:xfrm>
            <a:off x="4578096" y="345643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a:t>
            </a:r>
            <a:endParaRPr lang="en-US" sz="900" dirty="0"/>
          </a:p>
        </p:txBody>
      </p:sp>
      <p:sp>
        <p:nvSpPr>
          <p:cNvPr id="53" name="Shape 51"/>
          <p:cNvSpPr/>
          <p:nvPr/>
        </p:nvSpPr>
        <p:spPr>
          <a:xfrm>
            <a:off x="137160" y="3675888"/>
            <a:ext cx="640080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SAPH</a:t>
            </a:r>
            <a:endParaRPr lang="en-US" sz="900" dirty="0"/>
          </a:p>
        </p:txBody>
      </p:sp>
      <p:sp>
        <p:nvSpPr>
          <p:cNvPr id="55" name="Text 53"/>
          <p:cNvSpPr/>
          <p:nvPr/>
        </p:nvSpPr>
        <p:spPr>
          <a:xfrm>
            <a:off x="585216" y="371246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1 155</a:t>
            </a:r>
            <a:endParaRPr lang="en-US" sz="900" dirty="0"/>
          </a:p>
        </p:txBody>
      </p:sp>
      <p:sp>
        <p:nvSpPr>
          <p:cNvPr id="56" name="Text 54"/>
          <p:cNvSpPr/>
          <p:nvPr/>
        </p:nvSpPr>
        <p:spPr>
          <a:xfrm>
            <a:off x="2581656" y="371246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Caoutchouc</a:t>
            </a:r>
            <a:endParaRPr lang="en-US" sz="900" dirty="0"/>
          </a:p>
        </p:txBody>
      </p:sp>
      <p:sp>
        <p:nvSpPr>
          <p:cNvPr id="57" name="Text 55"/>
          <p:cNvSpPr/>
          <p:nvPr/>
        </p:nvSpPr>
        <p:spPr>
          <a:xfrm>
            <a:off x="4578096" y="371246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3,2%</a:t>
            </a:r>
            <a:endParaRPr lang="en-US" sz="900" dirty="0"/>
          </a:p>
        </p:txBody>
      </p:sp>
      <p:sp>
        <p:nvSpPr>
          <p:cNvPr id="58" name="Shape 56"/>
          <p:cNvSpPr/>
          <p:nvPr/>
        </p:nvSpPr>
        <p:spPr>
          <a:xfrm>
            <a:off x="137160" y="3931920"/>
            <a:ext cx="640080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IVOIRE COTON</a:t>
            </a:r>
            <a:endParaRPr lang="en-US" sz="900" dirty="0"/>
          </a:p>
        </p:txBody>
      </p:sp>
      <p:sp>
        <p:nvSpPr>
          <p:cNvPr id="60" name="Text 58"/>
          <p:cNvSpPr/>
          <p:nvPr/>
        </p:nvSpPr>
        <p:spPr>
          <a:xfrm>
            <a:off x="585216" y="396849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1 092</a:t>
            </a:r>
            <a:endParaRPr lang="en-US" sz="900" dirty="0"/>
          </a:p>
        </p:txBody>
      </p:sp>
      <p:sp>
        <p:nvSpPr>
          <p:cNvPr id="61" name="Text 59"/>
          <p:cNvSpPr/>
          <p:nvPr/>
        </p:nvSpPr>
        <p:spPr>
          <a:xfrm>
            <a:off x="2581656" y="396849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Coton</a:t>
            </a:r>
            <a:endParaRPr lang="en-US" sz="900" dirty="0"/>
          </a:p>
        </p:txBody>
      </p:sp>
      <p:sp>
        <p:nvSpPr>
          <p:cNvPr id="62" name="Text 60"/>
          <p:cNvSpPr/>
          <p:nvPr/>
        </p:nvSpPr>
        <p:spPr>
          <a:xfrm>
            <a:off x="4578096" y="396849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3,0%</a:t>
            </a:r>
            <a:endParaRPr lang="en-US" sz="900" dirty="0"/>
          </a:p>
        </p:txBody>
      </p:sp>
      <p:sp>
        <p:nvSpPr>
          <p:cNvPr id="63" name="Shape 61"/>
          <p:cNvSpPr/>
          <p:nvPr/>
        </p:nvSpPr>
        <p:spPr>
          <a:xfrm>
            <a:off x="137160" y="4892040"/>
            <a:ext cx="6400800" cy="914400"/>
          </a:xfrm>
          <a:prstGeom prst="rect">
            <a:avLst/>
          </a:prstGeom>
          <a:solidFill>
            <a:srgbClr val="FFFBEC"/>
          </a:solidFill>
          <a:ln w="6350">
            <a:solidFill>
              <a:srgbClr val="E5C97A"/>
            </a:solidFill>
            <a:prstDash val="solid"/>
          </a:ln>
        </p:spPr>
      </p:sp>
      <p:sp>
        <p:nvSpPr>
          <p:cNvPr id="64" name="Text 62"/>
          <p:cNvSpPr/>
          <p:nvPr/>
        </p:nvSpPr>
        <p:spPr>
          <a:xfrm>
            <a:off x="228600" y="4965192"/>
            <a:ext cx="6217920" cy="8046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Cargill groupe (Cacao + Dérivés) = 15,3% du volume AGL TEM. Concentration filière cacao à surveiller.</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Bananes (74% PDM) : JEAN EGLIN, AFRICA SOURCING, CYRIAN = 3 chargeurs = 23,1% du volume. Fidélisation critique.</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Cajou (5,4% PDM, 13 129 TEU marché) : objectif +860 TEU via approche commerciale OUTSPAN CI, STE IVOIRIENNE NOIX.</a:t>
            </a:r>
            <a:endParaRPr lang="en-US" sz="900" dirty="0"/>
          </a:p>
        </p:txBody>
      </p:sp>
      <p:sp>
        <p:nvSpPr>
          <p:cNvPr id="65" name="Text 6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Répartition AGL par filière export – TEM</a:t>
            </a:r>
            <a:endParaRPr lang="en-US" sz="1100" dirty="0"/>
          </a:p>
        </p:txBody>
      </p:sp>
      <p:graphicFrame>
        <p:nvGraphicFramePr>
          <p:cNvPr id="66" name="Chart 0" descr=""/>
          <p:cNvGraphicFramePr/>
          <p:nvPr/>
        </p:nvGraphicFramePr>
        <p:xfrm>
          <a:off x="6675120" y="13716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TEM – NOUVEAUX CHARGEURS &amp; NOUVELLES FILIÈRES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Chargeurs entrés en 2026  |  Nouvelles filières export AGL  |  Opportunité Cajou</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p.11</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chargeurs AGL – TEM 2026</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Chargeur</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Filière</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Entrée</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CI-ÉNERGIES</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890</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Caoutchouc</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Q1 2026</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SITA GROUP</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760</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Mangue / Fruits</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Q1 2026</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COOPERX CAJOU CI</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640</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Noix de Cajou</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SECO INDUSTRIE</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520</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Caoutchouc usiné</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OLAM PALM</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410</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Huile de Palme</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Q1 2026</a:t>
            </a:r>
            <a:endParaRPr lang="en-US" sz="900" dirty="0"/>
          </a:p>
        </p:txBody>
      </p:sp>
      <p:sp>
        <p:nvSpPr>
          <p:cNvPr id="38" name="Text 36"/>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Nouvelles filières export – PDM AGL</a:t>
            </a:r>
            <a:endParaRPr lang="en-US" sz="1100" dirty="0"/>
          </a:p>
        </p:txBody>
      </p:sp>
      <p:sp>
        <p:nvSpPr>
          <p:cNvPr id="39" name="Text 37"/>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HUILE DE PALME</a:t>
            </a:r>
            <a:endParaRPr lang="en-US" sz="850" dirty="0"/>
          </a:p>
        </p:txBody>
      </p:sp>
      <p:sp>
        <p:nvSpPr>
          <p:cNvPr id="40" name="Text 38"/>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1 420 TEU</a:t>
            </a:r>
            <a:endParaRPr lang="en-US" sz="850" dirty="0"/>
          </a:p>
        </p:txBody>
      </p:sp>
      <p:sp>
        <p:nvSpPr>
          <p:cNvPr id="41" name="Shape 39"/>
          <p:cNvSpPr/>
          <p:nvPr/>
        </p:nvSpPr>
        <p:spPr>
          <a:xfrm>
            <a:off x="9052560" y="1426464"/>
            <a:ext cx="2743200" cy="164592"/>
          </a:xfrm>
          <a:prstGeom prst="rect">
            <a:avLst/>
          </a:prstGeom>
          <a:solidFill>
            <a:srgbClr val="E5E7EB"/>
          </a:solidFill>
          <a:ln/>
        </p:spPr>
      </p:sp>
      <p:sp>
        <p:nvSpPr>
          <p:cNvPr id="42" name="Shape 40"/>
          <p:cNvSpPr/>
          <p:nvPr/>
        </p:nvSpPr>
        <p:spPr>
          <a:xfrm>
            <a:off x="9052560" y="1426464"/>
            <a:ext cx="219456" cy="164592"/>
          </a:xfrm>
          <a:prstGeom prst="rect">
            <a:avLst/>
          </a:prstGeom>
          <a:solidFill>
            <a:srgbClr val="CC2200"/>
          </a:solidFill>
          <a:ln/>
        </p:spPr>
      </p:sp>
      <p:sp>
        <p:nvSpPr>
          <p:cNvPr id="43" name="Text 41"/>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44" name="Text 42"/>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COLA</a:t>
            </a:r>
            <a:endParaRPr lang="en-US" sz="850" dirty="0"/>
          </a:p>
        </p:txBody>
      </p:sp>
      <p:sp>
        <p:nvSpPr>
          <p:cNvPr id="45" name="Text 43"/>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Mkt: 980 TEU</a:t>
            </a:r>
            <a:endParaRPr lang="en-US" sz="850" dirty="0"/>
          </a:p>
        </p:txBody>
      </p:sp>
      <p:sp>
        <p:nvSpPr>
          <p:cNvPr id="46" name="Shape 44"/>
          <p:cNvSpPr/>
          <p:nvPr/>
        </p:nvSpPr>
        <p:spPr>
          <a:xfrm>
            <a:off x="9052560" y="1810512"/>
            <a:ext cx="2743200" cy="164592"/>
          </a:xfrm>
          <a:prstGeom prst="rect">
            <a:avLst/>
          </a:prstGeom>
          <a:solidFill>
            <a:srgbClr val="E5E7EB"/>
          </a:solidFill>
          <a:ln/>
        </p:spPr>
      </p:sp>
      <p:sp>
        <p:nvSpPr>
          <p:cNvPr id="47" name="Shape 45"/>
          <p:cNvSpPr/>
          <p:nvPr/>
        </p:nvSpPr>
        <p:spPr>
          <a:xfrm>
            <a:off x="9052560" y="1810512"/>
            <a:ext cx="329184" cy="164592"/>
          </a:xfrm>
          <a:prstGeom prst="rect">
            <a:avLst/>
          </a:prstGeom>
          <a:solidFill>
            <a:srgbClr val="E05A00"/>
          </a:solidFill>
          <a:ln/>
        </p:spPr>
      </p:sp>
      <p:sp>
        <p:nvSpPr>
          <p:cNvPr id="48" name="Text 46"/>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03</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HINTERLAND IMPORT MARITIME</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28 457 TEU qualifiés  |  AGL #3 – PDM 11,3%  |  Objectif : rang #2</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IMPORT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Marché qualifié : 28 457 TEU  |  AGL : 3 214 TEU  |  PDM : 11,3%  |  Rang : #3</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p.12</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28 457</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3 214</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E05A00"/>
                </a:solidFill>
                <a:latin typeface="Calibri" pitchFamily="34" charset="0"/>
                <a:ea typeface="Calibri" pitchFamily="34" charset="-122"/>
                <a:cs typeface="Calibri" pitchFamily="34" charset="-120"/>
              </a:rPr>
              <a:t>11,3 %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#3 – Progression vs brut</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LEADER UCT</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CC2200"/>
                </a:solidFill>
                <a:latin typeface="Calibri" pitchFamily="34" charset="0"/>
                <a:ea typeface="Calibri" pitchFamily="34" charset="-122"/>
                <a:cs typeface="Calibri" pitchFamily="34" charset="-120"/>
              </a:rPr>
              <a:t>26,6 %</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7 559 TEU – Écart ×2,4</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JANV. (PEAK)</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16,4 %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Meilleure PDM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marché qualifié &amp; AGL – Hinterland Import</a:t>
            </a:r>
            <a:endParaRPr lang="en-US" sz="1100" dirty="0"/>
          </a:p>
        </p:txBody>
      </p:sp>
      <p:graphicFrame>
        <p:nvGraphicFramePr>
          <p:cNvPr id="28" name="Chart 0" descr=""/>
          <p:cNvGraphicFramePr/>
          <p:nvPr/>
        </p:nvGraphicFramePr>
        <p:xfrm>
          <a:off x="137160" y="2331720"/>
          <a:ext cx="6217920" cy="34747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Hinterland Import</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315200" y="2523744"/>
            <a:ext cx="2560320" cy="201168"/>
          </a:xfrm>
          <a:prstGeom prst="rect">
            <a:avLst/>
          </a:prstGeom>
          <a:solidFill>
            <a:srgbClr val="D1D5DB"/>
          </a:solidFill>
          <a:ln/>
        </p:spPr>
      </p:sp>
      <p:sp>
        <p:nvSpPr>
          <p:cNvPr id="33" name="Shape 30"/>
          <p:cNvSpPr/>
          <p:nvPr/>
        </p:nvSpPr>
        <p:spPr>
          <a:xfrm>
            <a:off x="7315200" y="2523744"/>
            <a:ext cx="2560320" cy="201168"/>
          </a:xfrm>
          <a:prstGeom prst="rect">
            <a:avLst/>
          </a:prstGeom>
          <a:solidFill>
            <a:srgbClr val="1A7C4F"/>
          </a:solidFill>
          <a:ln/>
        </p:spPr>
      </p:sp>
      <p:sp>
        <p:nvSpPr>
          <p:cNvPr id="34" name="Text 31"/>
          <p:cNvSpPr/>
          <p:nvPr/>
        </p:nvSpPr>
        <p:spPr>
          <a:xfrm>
            <a:off x="9930384" y="2487168"/>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16.4%</a:t>
            </a:r>
            <a:endParaRPr lang="en-US" sz="12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315200" y="3054096"/>
            <a:ext cx="2560320" cy="201168"/>
          </a:xfrm>
          <a:prstGeom prst="rect">
            <a:avLst/>
          </a:prstGeom>
          <a:solidFill>
            <a:srgbClr val="D1D5DB"/>
          </a:solidFill>
          <a:ln/>
        </p:spPr>
      </p:sp>
      <p:sp>
        <p:nvSpPr>
          <p:cNvPr id="38" name="Shape 35"/>
          <p:cNvSpPr/>
          <p:nvPr/>
        </p:nvSpPr>
        <p:spPr>
          <a:xfrm>
            <a:off x="7315200" y="3054096"/>
            <a:ext cx="1608006" cy="201168"/>
          </a:xfrm>
          <a:prstGeom prst="rect">
            <a:avLst/>
          </a:prstGeom>
          <a:solidFill>
            <a:srgbClr val="E05A00"/>
          </a:solidFill>
          <a:ln/>
        </p:spPr>
      </p:sp>
      <p:sp>
        <p:nvSpPr>
          <p:cNvPr id="39" name="Text 36"/>
          <p:cNvSpPr/>
          <p:nvPr/>
        </p:nvSpPr>
        <p:spPr>
          <a:xfrm>
            <a:off x="9930384" y="3017520"/>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10.3%</a:t>
            </a:r>
            <a:endParaRPr lang="en-US" sz="12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315200" y="3584448"/>
            <a:ext cx="2560320" cy="201168"/>
          </a:xfrm>
          <a:prstGeom prst="rect">
            <a:avLst/>
          </a:prstGeom>
          <a:solidFill>
            <a:srgbClr val="D1D5DB"/>
          </a:solidFill>
          <a:ln/>
        </p:spPr>
      </p:sp>
      <p:sp>
        <p:nvSpPr>
          <p:cNvPr id="43" name="Shape 40"/>
          <p:cNvSpPr/>
          <p:nvPr/>
        </p:nvSpPr>
        <p:spPr>
          <a:xfrm>
            <a:off x="7315200" y="3584448"/>
            <a:ext cx="1202101" cy="201168"/>
          </a:xfrm>
          <a:prstGeom prst="rect">
            <a:avLst/>
          </a:prstGeom>
          <a:solidFill>
            <a:srgbClr val="E05A00"/>
          </a:solidFill>
          <a:ln/>
        </p:spPr>
      </p:sp>
      <p:sp>
        <p:nvSpPr>
          <p:cNvPr id="44" name="Text 41"/>
          <p:cNvSpPr/>
          <p:nvPr/>
        </p:nvSpPr>
        <p:spPr>
          <a:xfrm>
            <a:off x="9930384" y="3547872"/>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7.7%</a:t>
            </a:r>
            <a:endParaRPr lang="en-US" sz="12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315200" y="4114800"/>
            <a:ext cx="2560320" cy="201168"/>
          </a:xfrm>
          <a:prstGeom prst="rect">
            <a:avLst/>
          </a:prstGeom>
          <a:solidFill>
            <a:srgbClr val="D1D5DB"/>
          </a:solidFill>
          <a:ln/>
        </p:spPr>
      </p:sp>
      <p:sp>
        <p:nvSpPr>
          <p:cNvPr id="48" name="Shape 45"/>
          <p:cNvSpPr/>
          <p:nvPr/>
        </p:nvSpPr>
        <p:spPr>
          <a:xfrm>
            <a:off x="7315200" y="4114800"/>
            <a:ext cx="1670453" cy="201168"/>
          </a:xfrm>
          <a:prstGeom prst="rect">
            <a:avLst/>
          </a:prstGeom>
          <a:solidFill>
            <a:srgbClr val="E05A00"/>
          </a:solidFill>
          <a:ln/>
        </p:spPr>
      </p:sp>
      <p:sp>
        <p:nvSpPr>
          <p:cNvPr id="49" name="Text 46"/>
          <p:cNvSpPr/>
          <p:nvPr/>
        </p:nvSpPr>
        <p:spPr>
          <a:xfrm>
            <a:off x="9930384" y="4078224"/>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10.7%</a:t>
            </a:r>
            <a:endParaRPr lang="en-US" sz="12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315200" y="4645152"/>
            <a:ext cx="2560320" cy="201168"/>
          </a:xfrm>
          <a:prstGeom prst="rect">
            <a:avLst/>
          </a:prstGeom>
          <a:solidFill>
            <a:srgbClr val="D1D5DB"/>
          </a:solidFill>
          <a:ln/>
        </p:spPr>
      </p:sp>
      <p:sp>
        <p:nvSpPr>
          <p:cNvPr id="53" name="Shape 50"/>
          <p:cNvSpPr/>
          <p:nvPr/>
        </p:nvSpPr>
        <p:spPr>
          <a:xfrm>
            <a:off x="7315200" y="4645152"/>
            <a:ext cx="1686064" cy="201168"/>
          </a:xfrm>
          <a:prstGeom prst="rect">
            <a:avLst/>
          </a:prstGeom>
          <a:solidFill>
            <a:srgbClr val="E05A00"/>
          </a:solidFill>
          <a:ln/>
        </p:spPr>
      </p:sp>
      <p:sp>
        <p:nvSpPr>
          <p:cNvPr id="54" name="Text 51"/>
          <p:cNvSpPr/>
          <p:nvPr/>
        </p:nvSpPr>
        <p:spPr>
          <a:xfrm>
            <a:off x="9930384" y="4608576"/>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10.8%</a:t>
            </a:r>
            <a:endParaRPr lang="en-US" sz="1200" dirty="0"/>
          </a:p>
        </p:txBody>
      </p:sp>
      <p:sp>
        <p:nvSpPr>
          <p:cNvPr id="55" name="Text 52"/>
          <p:cNvSpPr/>
          <p:nvPr/>
        </p:nvSpPr>
        <p:spPr>
          <a:xfrm>
            <a:off x="137160" y="589788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Destinations : Bamako 55,5% (17 407 TEU) | Ouagadougou 40,0% (12 549 TEU) | Bobo-Dioulasso 2,1%</a:t>
            </a:r>
            <a:endParaRPr lang="en-US" sz="900" dirty="0"/>
          </a:p>
        </p:txBody>
      </p:sp>
      <p:sp>
        <p:nvSpPr>
          <p:cNvPr id="56" name="Text 53"/>
          <p:cNvSpPr/>
          <p:nvPr/>
        </p:nvSpPr>
        <p:spPr>
          <a:xfrm>
            <a:off x="137160" y="612648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Origines : Chine 55,5% | Indonésie 7,1% | Inde 6,8%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IMPORT – CONCURRENTS &amp; SEGMENTS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UCT &amp; Sitracom dominent  |  AGL en reconquête  |  Cibles prioritaires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p.13</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transitaires – Hinterland Import (qualifié)</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Shape 11"/>
          <p:cNvSpPr/>
          <p:nvPr/>
        </p:nvSpPr>
        <p:spPr>
          <a:xfrm>
            <a:off x="137160" y="1627632"/>
            <a:ext cx="6217920" cy="256032"/>
          </a:xfrm>
          <a:prstGeom prst="rect">
            <a:avLst/>
          </a:prstGeom>
          <a:solidFill>
            <a:srgbClr val="FFFFFF"/>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dirty="0">
                <a:solidFill>
                  <a:srgbClr val="1A7C4F"/>
                </a:solidFill>
                <a:latin typeface="Calibri" pitchFamily="34" charset="0"/>
                <a:ea typeface="Calibri" pitchFamily="34" charset="-122"/>
                <a:cs typeface="Calibri" pitchFamily="34" charset="-120"/>
              </a:rPr>
              <a:t>UNION CENTER TRANSIT CI</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7 559</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26,6 %</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SITRACOM CI</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7 208</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25,3 %</a:t>
            </a:r>
            <a:endParaRPr lang="en-US" sz="900" dirty="0"/>
          </a:p>
        </p:txBody>
      </p:sp>
      <p:sp>
        <p:nvSpPr>
          <p:cNvPr id="23" name="Shape 21"/>
          <p:cNvSpPr/>
          <p:nvPr/>
        </p:nvSpPr>
        <p:spPr>
          <a:xfrm>
            <a:off x="137160" y="2139696"/>
            <a:ext cx="6217920" cy="256032"/>
          </a:xfrm>
          <a:prstGeom prst="rect">
            <a:avLst/>
          </a:prstGeom>
          <a:solidFill>
            <a:srgbClr val="FFF9EC"/>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b="1" dirty="0">
                <a:solidFill>
                  <a:srgbClr val="374151"/>
                </a:solidFill>
                <a:latin typeface="Calibri" pitchFamily="34" charset="0"/>
                <a:ea typeface="Calibri" pitchFamily="34" charset="-122"/>
                <a:cs typeface="Calibri" pitchFamily="34" charset="-120"/>
              </a:rPr>
              <a:t>AFRICA GLOBAL LOGISTICS</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3 214</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11,3 %</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ECOTRAM CI</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1 249</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4,4 %</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CEVA LOGISTICS CI</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1 242</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4,4 %</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MAERSK LOGISTIC</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1 062</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3,7 %</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FM GENERAL SERVICES</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955</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3,4 %</a:t>
            </a:r>
            <a:endParaRPr lang="en-US" sz="90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50" name="Text 48"/>
          <p:cNvSpPr/>
          <p:nvPr/>
        </p:nvSpPr>
        <p:spPr>
          <a:xfrm>
            <a:off x="585216" y="345643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EBURNEENE LOG. TRANSIT.</a:t>
            </a:r>
            <a:endParaRPr lang="en-US" sz="900" dirty="0"/>
          </a:p>
        </p:txBody>
      </p:sp>
      <p:sp>
        <p:nvSpPr>
          <p:cNvPr id="51" name="Text 49"/>
          <p:cNvSpPr/>
          <p:nvPr/>
        </p:nvSpPr>
        <p:spPr>
          <a:xfrm>
            <a:off x="252069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928</a:t>
            </a:r>
            <a:endParaRPr lang="en-US" sz="900" dirty="0"/>
          </a:p>
        </p:txBody>
      </p:sp>
      <p:sp>
        <p:nvSpPr>
          <p:cNvPr id="52" name="Text 50"/>
          <p:cNvSpPr/>
          <p:nvPr/>
        </p:nvSpPr>
        <p:spPr>
          <a:xfrm>
            <a:off x="445617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3,3 %</a:t>
            </a:r>
            <a:endParaRPr lang="en-US" sz="90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55" name="Text 53"/>
          <p:cNvSpPr/>
          <p:nvPr/>
        </p:nvSpPr>
        <p:spPr>
          <a:xfrm>
            <a:off x="585216" y="371246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SOCOCIB TRANSIT</a:t>
            </a:r>
            <a:endParaRPr lang="en-US" sz="900" dirty="0"/>
          </a:p>
        </p:txBody>
      </p:sp>
      <p:sp>
        <p:nvSpPr>
          <p:cNvPr id="56" name="Text 54"/>
          <p:cNvSpPr/>
          <p:nvPr/>
        </p:nvSpPr>
        <p:spPr>
          <a:xfrm>
            <a:off x="252069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886</a:t>
            </a:r>
            <a:endParaRPr lang="en-US" sz="900" dirty="0"/>
          </a:p>
        </p:txBody>
      </p:sp>
      <p:sp>
        <p:nvSpPr>
          <p:cNvPr id="57" name="Text 55"/>
          <p:cNvSpPr/>
          <p:nvPr/>
        </p:nvSpPr>
        <p:spPr>
          <a:xfrm>
            <a:off x="445617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3,1 %</a:t>
            </a:r>
            <a:endParaRPr lang="en-US" sz="90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60" name="Text 58"/>
          <p:cNvSpPr/>
          <p:nvPr/>
        </p:nvSpPr>
        <p:spPr>
          <a:xfrm>
            <a:off x="585216" y="396849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MEDLOG CI</a:t>
            </a:r>
            <a:endParaRPr lang="en-US" sz="900" dirty="0"/>
          </a:p>
        </p:txBody>
      </p:sp>
      <p:sp>
        <p:nvSpPr>
          <p:cNvPr id="61" name="Text 59"/>
          <p:cNvSpPr/>
          <p:nvPr/>
        </p:nvSpPr>
        <p:spPr>
          <a:xfrm>
            <a:off x="252069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855</a:t>
            </a:r>
            <a:endParaRPr lang="en-US" sz="900" dirty="0"/>
          </a:p>
        </p:txBody>
      </p:sp>
      <p:sp>
        <p:nvSpPr>
          <p:cNvPr id="62" name="Text 60"/>
          <p:cNvSpPr/>
          <p:nvPr/>
        </p:nvSpPr>
        <p:spPr>
          <a:xfrm>
            <a:off x="445617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3,0 %</a:t>
            </a:r>
            <a:endParaRPr lang="en-US" sz="900" dirty="0"/>
          </a:p>
        </p:txBody>
      </p:sp>
      <p:sp>
        <p:nvSpPr>
          <p:cNvPr id="63" name="Shape 61"/>
          <p:cNvSpPr/>
          <p:nvPr/>
        </p:nvSpPr>
        <p:spPr>
          <a:xfrm>
            <a:off x="137160" y="4892040"/>
            <a:ext cx="6217920" cy="868680"/>
          </a:xfrm>
          <a:prstGeom prst="rect">
            <a:avLst/>
          </a:prstGeom>
          <a:solidFill>
            <a:srgbClr val="FFFBEC"/>
          </a:solidFill>
          <a:ln w="6350">
            <a:solidFill>
              <a:srgbClr val="E5C97A"/>
            </a:solidFill>
            <a:prstDash val="solid"/>
          </a:ln>
        </p:spPr>
      </p:sp>
      <p:sp>
        <p:nvSpPr>
          <p:cNvPr id="64" name="Text 62"/>
          <p:cNvSpPr/>
          <p:nvPr/>
        </p:nvSpPr>
        <p:spPr>
          <a:xfrm>
            <a:off x="228600" y="4965192"/>
            <a:ext cx="603504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STRATÉGIE HINT IMP : Écart de 3 994 TEU avec Sitracom (#2). Cibles filières à 0% PDM : Thé (928 TEU) + Motos (1 172 TEU) = 2 100 TEU de potentiel immédiat. Clients têtes de pont : SOFAO BF (926 TEU), BRAKINA (552 TEU), CODIMEX BF (461 TEU). Commercial dédié Ouagadougou requis.</a:t>
            </a:r>
            <a:endParaRPr lang="en-US" sz="900" dirty="0"/>
          </a:p>
        </p:txBody>
      </p:sp>
      <p:sp>
        <p:nvSpPr>
          <p:cNvPr id="65" name="Text 63"/>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marchandise – Hinterland Import</a:t>
            </a:r>
            <a:endParaRPr lang="en-US" sz="1100" dirty="0"/>
          </a:p>
        </p:txBody>
      </p:sp>
      <p:sp>
        <p:nvSpPr>
          <p:cNvPr id="66" name="Text 64"/>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MALT</a:t>
            </a:r>
            <a:endParaRPr lang="en-US" sz="850" dirty="0"/>
          </a:p>
        </p:txBody>
      </p:sp>
      <p:sp>
        <p:nvSpPr>
          <p:cNvPr id="67" name="Text 65"/>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439 TEU</a:t>
            </a:r>
            <a:endParaRPr lang="en-US" sz="850" dirty="0"/>
          </a:p>
        </p:txBody>
      </p:sp>
      <p:sp>
        <p:nvSpPr>
          <p:cNvPr id="68" name="Shape 66"/>
          <p:cNvSpPr/>
          <p:nvPr/>
        </p:nvSpPr>
        <p:spPr>
          <a:xfrm>
            <a:off x="9052560" y="1426464"/>
            <a:ext cx="2743200" cy="164592"/>
          </a:xfrm>
          <a:prstGeom prst="rect">
            <a:avLst/>
          </a:prstGeom>
          <a:solidFill>
            <a:srgbClr val="E5E7EB"/>
          </a:solidFill>
          <a:ln/>
        </p:spPr>
      </p:sp>
      <p:sp>
        <p:nvSpPr>
          <p:cNvPr id="69" name="Shape 67"/>
          <p:cNvSpPr/>
          <p:nvPr/>
        </p:nvSpPr>
        <p:spPr>
          <a:xfrm>
            <a:off x="9052560" y="1426464"/>
            <a:ext cx="2002536" cy="164592"/>
          </a:xfrm>
          <a:prstGeom prst="rect">
            <a:avLst/>
          </a:prstGeom>
          <a:solidFill>
            <a:srgbClr val="1A7C4F"/>
          </a:solidFill>
          <a:ln/>
        </p:spPr>
      </p:sp>
      <p:sp>
        <p:nvSpPr>
          <p:cNvPr id="70" name="Text 68"/>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73%</a:t>
            </a:r>
            <a:endParaRPr lang="en-US" sz="900" dirty="0"/>
          </a:p>
        </p:txBody>
      </p:sp>
      <p:sp>
        <p:nvSpPr>
          <p:cNvPr id="71" name="Text 69"/>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MATÉRIELS MINIERS</a:t>
            </a:r>
            <a:endParaRPr lang="en-US" sz="850" dirty="0"/>
          </a:p>
        </p:txBody>
      </p:sp>
      <p:sp>
        <p:nvSpPr>
          <p:cNvPr id="72" name="Text 70"/>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600 TEU</a:t>
            </a:r>
            <a:endParaRPr lang="en-US" sz="850" dirty="0"/>
          </a:p>
        </p:txBody>
      </p:sp>
      <p:sp>
        <p:nvSpPr>
          <p:cNvPr id="73" name="Shape 71"/>
          <p:cNvSpPr/>
          <p:nvPr/>
        </p:nvSpPr>
        <p:spPr>
          <a:xfrm>
            <a:off x="9052560" y="1810512"/>
            <a:ext cx="2743200" cy="164592"/>
          </a:xfrm>
          <a:prstGeom prst="rect">
            <a:avLst/>
          </a:prstGeom>
          <a:solidFill>
            <a:srgbClr val="E5E7EB"/>
          </a:solidFill>
          <a:ln/>
        </p:spPr>
      </p:sp>
      <p:sp>
        <p:nvSpPr>
          <p:cNvPr id="74" name="Shape 72"/>
          <p:cNvSpPr/>
          <p:nvPr/>
        </p:nvSpPr>
        <p:spPr>
          <a:xfrm>
            <a:off x="9052560" y="1810512"/>
            <a:ext cx="1371600" cy="164592"/>
          </a:xfrm>
          <a:prstGeom prst="rect">
            <a:avLst/>
          </a:prstGeom>
          <a:solidFill>
            <a:srgbClr val="1A7C4F"/>
          </a:solidFill>
          <a:ln/>
        </p:spPr>
      </p:sp>
      <p:sp>
        <p:nvSpPr>
          <p:cNvPr id="75" name="Text 73"/>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50%</a:t>
            </a:r>
            <a:endParaRPr lang="en-US" sz="900" dirty="0"/>
          </a:p>
        </p:txBody>
      </p:sp>
      <p:sp>
        <p:nvSpPr>
          <p:cNvPr id="76" name="Text 74"/>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PÂTES ALIMENTAIRES</a:t>
            </a:r>
            <a:endParaRPr lang="en-US" sz="850" dirty="0"/>
          </a:p>
        </p:txBody>
      </p:sp>
      <p:sp>
        <p:nvSpPr>
          <p:cNvPr id="77" name="Text 75"/>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528 TEU</a:t>
            </a:r>
            <a:endParaRPr lang="en-US" sz="850" dirty="0"/>
          </a:p>
        </p:txBody>
      </p:sp>
      <p:sp>
        <p:nvSpPr>
          <p:cNvPr id="78" name="Shape 76"/>
          <p:cNvSpPr/>
          <p:nvPr/>
        </p:nvSpPr>
        <p:spPr>
          <a:xfrm>
            <a:off x="9052560" y="2194560"/>
            <a:ext cx="2743200" cy="164592"/>
          </a:xfrm>
          <a:prstGeom prst="rect">
            <a:avLst/>
          </a:prstGeom>
          <a:solidFill>
            <a:srgbClr val="E5E7EB"/>
          </a:solidFill>
          <a:ln/>
        </p:spPr>
      </p:sp>
      <p:sp>
        <p:nvSpPr>
          <p:cNvPr id="79" name="Shape 77"/>
          <p:cNvSpPr/>
          <p:nvPr/>
        </p:nvSpPr>
        <p:spPr>
          <a:xfrm>
            <a:off x="9052560" y="2194560"/>
            <a:ext cx="850392" cy="164592"/>
          </a:xfrm>
          <a:prstGeom prst="rect">
            <a:avLst/>
          </a:prstGeom>
          <a:solidFill>
            <a:srgbClr val="2563A8"/>
          </a:solidFill>
          <a:ln/>
        </p:spPr>
      </p:sp>
      <p:sp>
        <p:nvSpPr>
          <p:cNvPr id="80" name="Text 78"/>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31%</a:t>
            </a:r>
            <a:endParaRPr lang="en-US" sz="900" dirty="0"/>
          </a:p>
        </p:txBody>
      </p:sp>
      <p:sp>
        <p:nvSpPr>
          <p:cNvPr id="81" name="Text 79"/>
          <p:cNvSpPr/>
          <p:nvPr/>
        </p:nvSpPr>
        <p:spPr>
          <a:xfrm>
            <a:off x="649224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HUILE ALIMENTAIRE</a:t>
            </a:r>
            <a:endParaRPr lang="en-US" sz="850" dirty="0"/>
          </a:p>
        </p:txBody>
      </p:sp>
      <p:sp>
        <p:nvSpPr>
          <p:cNvPr id="82" name="Text 80"/>
          <p:cNvSpPr/>
          <p:nvPr/>
        </p:nvSpPr>
        <p:spPr>
          <a:xfrm>
            <a:off x="815644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3 069 TEU</a:t>
            </a:r>
            <a:endParaRPr lang="en-US" sz="850" dirty="0"/>
          </a:p>
        </p:txBody>
      </p:sp>
      <p:sp>
        <p:nvSpPr>
          <p:cNvPr id="83" name="Shape 81"/>
          <p:cNvSpPr/>
          <p:nvPr/>
        </p:nvSpPr>
        <p:spPr>
          <a:xfrm>
            <a:off x="9052560" y="2578608"/>
            <a:ext cx="2743200" cy="164592"/>
          </a:xfrm>
          <a:prstGeom prst="rect">
            <a:avLst/>
          </a:prstGeom>
          <a:solidFill>
            <a:srgbClr val="E5E7EB"/>
          </a:solidFill>
          <a:ln/>
        </p:spPr>
      </p:sp>
      <p:sp>
        <p:nvSpPr>
          <p:cNvPr id="84" name="Shape 82"/>
          <p:cNvSpPr/>
          <p:nvPr/>
        </p:nvSpPr>
        <p:spPr>
          <a:xfrm>
            <a:off x="9052560" y="2578608"/>
            <a:ext cx="768096" cy="164592"/>
          </a:xfrm>
          <a:prstGeom prst="rect">
            <a:avLst/>
          </a:prstGeom>
          <a:solidFill>
            <a:srgbClr val="2563A8"/>
          </a:solidFill>
          <a:ln/>
        </p:spPr>
      </p:sp>
      <p:sp>
        <p:nvSpPr>
          <p:cNvPr id="85" name="Text 83"/>
          <p:cNvSpPr/>
          <p:nvPr/>
        </p:nvSpPr>
        <p:spPr>
          <a:xfrm>
            <a:off x="11841480" y="2542032"/>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28%</a:t>
            </a:r>
            <a:endParaRPr lang="en-US" sz="900" dirty="0"/>
          </a:p>
        </p:txBody>
      </p:sp>
      <p:sp>
        <p:nvSpPr>
          <p:cNvPr id="86" name="Text 84"/>
          <p:cNvSpPr/>
          <p:nvPr/>
        </p:nvSpPr>
        <p:spPr>
          <a:xfrm>
            <a:off x="6492240" y="292608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RIZ</a:t>
            </a:r>
            <a:endParaRPr lang="en-US" sz="850" dirty="0"/>
          </a:p>
        </p:txBody>
      </p:sp>
      <p:sp>
        <p:nvSpPr>
          <p:cNvPr id="87" name="Text 85"/>
          <p:cNvSpPr/>
          <p:nvPr/>
        </p:nvSpPr>
        <p:spPr>
          <a:xfrm>
            <a:off x="8156448" y="292608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736 TEU</a:t>
            </a:r>
            <a:endParaRPr lang="en-US" sz="850" dirty="0"/>
          </a:p>
        </p:txBody>
      </p:sp>
      <p:sp>
        <p:nvSpPr>
          <p:cNvPr id="88" name="Shape 86"/>
          <p:cNvSpPr/>
          <p:nvPr/>
        </p:nvSpPr>
        <p:spPr>
          <a:xfrm>
            <a:off x="9052560" y="2962656"/>
            <a:ext cx="2743200" cy="164592"/>
          </a:xfrm>
          <a:prstGeom prst="rect">
            <a:avLst/>
          </a:prstGeom>
          <a:solidFill>
            <a:srgbClr val="E5E7EB"/>
          </a:solidFill>
          <a:ln/>
        </p:spPr>
      </p:sp>
      <p:sp>
        <p:nvSpPr>
          <p:cNvPr id="89" name="Shape 87"/>
          <p:cNvSpPr/>
          <p:nvPr/>
        </p:nvSpPr>
        <p:spPr>
          <a:xfrm>
            <a:off x="9052560" y="2962656"/>
            <a:ext cx="548640" cy="164592"/>
          </a:xfrm>
          <a:prstGeom prst="rect">
            <a:avLst/>
          </a:prstGeom>
          <a:solidFill>
            <a:srgbClr val="2563A8"/>
          </a:solidFill>
          <a:ln/>
        </p:spPr>
      </p:sp>
      <p:sp>
        <p:nvSpPr>
          <p:cNvPr id="90" name="Text 88"/>
          <p:cNvSpPr/>
          <p:nvPr/>
        </p:nvSpPr>
        <p:spPr>
          <a:xfrm>
            <a:off x="11841480" y="2926080"/>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20%</a:t>
            </a:r>
            <a:endParaRPr lang="en-US" sz="900" dirty="0"/>
          </a:p>
        </p:txBody>
      </p:sp>
      <p:sp>
        <p:nvSpPr>
          <p:cNvPr id="91" name="Text 89"/>
          <p:cNvSpPr/>
          <p:nvPr/>
        </p:nvSpPr>
        <p:spPr>
          <a:xfrm>
            <a:off x="6492240" y="331012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EMBALLAGES</a:t>
            </a:r>
            <a:endParaRPr lang="en-US" sz="850" dirty="0"/>
          </a:p>
        </p:txBody>
      </p:sp>
      <p:sp>
        <p:nvSpPr>
          <p:cNvPr id="92" name="Text 90"/>
          <p:cNvSpPr/>
          <p:nvPr/>
        </p:nvSpPr>
        <p:spPr>
          <a:xfrm>
            <a:off x="8156448" y="331012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1 151 TEU</a:t>
            </a:r>
            <a:endParaRPr lang="en-US" sz="850" dirty="0"/>
          </a:p>
        </p:txBody>
      </p:sp>
      <p:sp>
        <p:nvSpPr>
          <p:cNvPr id="93" name="Shape 91"/>
          <p:cNvSpPr/>
          <p:nvPr/>
        </p:nvSpPr>
        <p:spPr>
          <a:xfrm>
            <a:off x="9052560" y="3346704"/>
            <a:ext cx="2743200" cy="164592"/>
          </a:xfrm>
          <a:prstGeom prst="rect">
            <a:avLst/>
          </a:prstGeom>
          <a:solidFill>
            <a:srgbClr val="E5E7EB"/>
          </a:solidFill>
          <a:ln/>
        </p:spPr>
      </p:sp>
      <p:sp>
        <p:nvSpPr>
          <p:cNvPr id="94" name="Shape 92"/>
          <p:cNvSpPr/>
          <p:nvPr/>
        </p:nvSpPr>
        <p:spPr>
          <a:xfrm>
            <a:off x="9052560" y="3346704"/>
            <a:ext cx="548640" cy="164592"/>
          </a:xfrm>
          <a:prstGeom prst="rect">
            <a:avLst/>
          </a:prstGeom>
          <a:solidFill>
            <a:srgbClr val="2563A8"/>
          </a:solidFill>
          <a:ln/>
        </p:spPr>
      </p:sp>
      <p:sp>
        <p:nvSpPr>
          <p:cNvPr id="95" name="Text 93"/>
          <p:cNvSpPr/>
          <p:nvPr/>
        </p:nvSpPr>
        <p:spPr>
          <a:xfrm>
            <a:off x="11841480" y="3310128"/>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20%</a:t>
            </a:r>
            <a:endParaRPr lang="en-US" sz="900" dirty="0"/>
          </a:p>
        </p:txBody>
      </p:sp>
      <p:sp>
        <p:nvSpPr>
          <p:cNvPr id="96" name="Text 94"/>
          <p:cNvSpPr/>
          <p:nvPr/>
        </p:nvSpPr>
        <p:spPr>
          <a:xfrm>
            <a:off x="6492240" y="369417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 CONSTRUCTION</a:t>
            </a:r>
            <a:endParaRPr lang="en-US" sz="850" dirty="0"/>
          </a:p>
        </p:txBody>
      </p:sp>
      <p:sp>
        <p:nvSpPr>
          <p:cNvPr id="97" name="Text 95"/>
          <p:cNvSpPr/>
          <p:nvPr/>
        </p:nvSpPr>
        <p:spPr>
          <a:xfrm>
            <a:off x="8156448" y="369417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645 TEU</a:t>
            </a:r>
            <a:endParaRPr lang="en-US" sz="850" dirty="0"/>
          </a:p>
        </p:txBody>
      </p:sp>
      <p:sp>
        <p:nvSpPr>
          <p:cNvPr id="98" name="Shape 96"/>
          <p:cNvSpPr/>
          <p:nvPr/>
        </p:nvSpPr>
        <p:spPr>
          <a:xfrm>
            <a:off x="9052560" y="3730752"/>
            <a:ext cx="2743200" cy="164592"/>
          </a:xfrm>
          <a:prstGeom prst="rect">
            <a:avLst/>
          </a:prstGeom>
          <a:solidFill>
            <a:srgbClr val="E5E7EB"/>
          </a:solidFill>
          <a:ln/>
        </p:spPr>
      </p:sp>
      <p:sp>
        <p:nvSpPr>
          <p:cNvPr id="99" name="Shape 97"/>
          <p:cNvSpPr/>
          <p:nvPr/>
        </p:nvSpPr>
        <p:spPr>
          <a:xfrm>
            <a:off x="9052560" y="3730752"/>
            <a:ext cx="438912" cy="164592"/>
          </a:xfrm>
          <a:prstGeom prst="rect">
            <a:avLst/>
          </a:prstGeom>
          <a:solidFill>
            <a:srgbClr val="E05A00"/>
          </a:solidFill>
          <a:ln/>
        </p:spPr>
      </p:sp>
      <p:sp>
        <p:nvSpPr>
          <p:cNvPr id="100" name="Text 98"/>
          <p:cNvSpPr/>
          <p:nvPr/>
        </p:nvSpPr>
        <p:spPr>
          <a:xfrm>
            <a:off x="11841480" y="3694176"/>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16%</a:t>
            </a:r>
            <a:endParaRPr lang="en-US" sz="900" dirty="0"/>
          </a:p>
        </p:txBody>
      </p:sp>
      <p:sp>
        <p:nvSpPr>
          <p:cNvPr id="101" name="Text 99"/>
          <p:cNvSpPr/>
          <p:nvPr/>
        </p:nvSpPr>
        <p:spPr>
          <a:xfrm>
            <a:off x="6492240" y="407822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SUCRE</a:t>
            </a:r>
            <a:endParaRPr lang="en-US" sz="850" dirty="0"/>
          </a:p>
        </p:txBody>
      </p:sp>
      <p:sp>
        <p:nvSpPr>
          <p:cNvPr id="102" name="Text 100"/>
          <p:cNvSpPr/>
          <p:nvPr/>
        </p:nvSpPr>
        <p:spPr>
          <a:xfrm>
            <a:off x="8156448" y="407822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2 701 TEU</a:t>
            </a:r>
            <a:endParaRPr lang="en-US" sz="850" dirty="0"/>
          </a:p>
        </p:txBody>
      </p:sp>
      <p:sp>
        <p:nvSpPr>
          <p:cNvPr id="103" name="Shape 101"/>
          <p:cNvSpPr/>
          <p:nvPr/>
        </p:nvSpPr>
        <p:spPr>
          <a:xfrm>
            <a:off x="9052560" y="4114800"/>
            <a:ext cx="2743200" cy="164592"/>
          </a:xfrm>
          <a:prstGeom prst="rect">
            <a:avLst/>
          </a:prstGeom>
          <a:solidFill>
            <a:srgbClr val="E5E7EB"/>
          </a:solidFill>
          <a:ln/>
        </p:spPr>
      </p:sp>
      <p:sp>
        <p:nvSpPr>
          <p:cNvPr id="104" name="Shape 102"/>
          <p:cNvSpPr/>
          <p:nvPr/>
        </p:nvSpPr>
        <p:spPr>
          <a:xfrm>
            <a:off x="9052560" y="4114800"/>
            <a:ext cx="246888" cy="164592"/>
          </a:xfrm>
          <a:prstGeom prst="rect">
            <a:avLst/>
          </a:prstGeom>
          <a:solidFill>
            <a:srgbClr val="CC2200"/>
          </a:solidFill>
          <a:ln/>
        </p:spPr>
      </p:sp>
      <p:sp>
        <p:nvSpPr>
          <p:cNvPr id="105" name="Text 103"/>
          <p:cNvSpPr/>
          <p:nvPr/>
        </p:nvSpPr>
        <p:spPr>
          <a:xfrm>
            <a:off x="11841480" y="407822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9%</a:t>
            </a:r>
            <a:endParaRPr lang="en-US" sz="900" dirty="0"/>
          </a:p>
        </p:txBody>
      </p:sp>
      <p:sp>
        <p:nvSpPr>
          <p:cNvPr id="106" name="Text 104"/>
          <p:cNvSpPr/>
          <p:nvPr/>
        </p:nvSpPr>
        <p:spPr>
          <a:xfrm>
            <a:off x="6492240" y="446227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THÉ ALIMENTAIRE</a:t>
            </a:r>
            <a:endParaRPr lang="en-US" sz="850" dirty="0"/>
          </a:p>
        </p:txBody>
      </p:sp>
      <p:sp>
        <p:nvSpPr>
          <p:cNvPr id="107" name="Text 105"/>
          <p:cNvSpPr/>
          <p:nvPr/>
        </p:nvSpPr>
        <p:spPr>
          <a:xfrm>
            <a:off x="8156448" y="446227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928 TEU</a:t>
            </a:r>
            <a:endParaRPr lang="en-US" sz="850" dirty="0"/>
          </a:p>
        </p:txBody>
      </p:sp>
      <p:sp>
        <p:nvSpPr>
          <p:cNvPr id="108" name="Shape 106"/>
          <p:cNvSpPr/>
          <p:nvPr/>
        </p:nvSpPr>
        <p:spPr>
          <a:xfrm>
            <a:off x="9052560" y="4498848"/>
            <a:ext cx="2743200" cy="164592"/>
          </a:xfrm>
          <a:prstGeom prst="rect">
            <a:avLst/>
          </a:prstGeom>
          <a:solidFill>
            <a:srgbClr val="E5E7EB"/>
          </a:solidFill>
          <a:ln/>
        </p:spPr>
      </p:sp>
      <p:sp>
        <p:nvSpPr>
          <p:cNvPr id="109" name="Shape 107"/>
          <p:cNvSpPr/>
          <p:nvPr/>
        </p:nvSpPr>
        <p:spPr>
          <a:xfrm>
            <a:off x="9052560" y="4498848"/>
            <a:ext cx="54864" cy="164592"/>
          </a:xfrm>
          <a:prstGeom prst="rect">
            <a:avLst/>
          </a:prstGeom>
          <a:solidFill>
            <a:srgbClr val="CC2200"/>
          </a:solidFill>
          <a:ln/>
        </p:spPr>
      </p:sp>
      <p:sp>
        <p:nvSpPr>
          <p:cNvPr id="110" name="Text 108"/>
          <p:cNvSpPr/>
          <p:nvPr/>
        </p:nvSpPr>
        <p:spPr>
          <a:xfrm>
            <a:off x="11841480" y="4462272"/>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0%</a:t>
            </a:r>
            <a:endParaRPr lang="en-US" sz="900" dirty="0"/>
          </a:p>
        </p:txBody>
      </p:sp>
      <p:sp>
        <p:nvSpPr>
          <p:cNvPr id="111" name="Text 109"/>
          <p:cNvSpPr/>
          <p:nvPr/>
        </p:nvSpPr>
        <p:spPr>
          <a:xfrm>
            <a:off x="6492240" y="4846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PROD. MER CONGELÉ</a:t>
            </a:r>
            <a:endParaRPr lang="en-US" sz="850" dirty="0"/>
          </a:p>
        </p:txBody>
      </p:sp>
      <p:sp>
        <p:nvSpPr>
          <p:cNvPr id="112" name="Text 110"/>
          <p:cNvSpPr/>
          <p:nvPr/>
        </p:nvSpPr>
        <p:spPr>
          <a:xfrm>
            <a:off x="8156448" y="4846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1 296 TEU</a:t>
            </a:r>
            <a:endParaRPr lang="en-US" sz="850" dirty="0"/>
          </a:p>
        </p:txBody>
      </p:sp>
      <p:sp>
        <p:nvSpPr>
          <p:cNvPr id="113" name="Shape 111"/>
          <p:cNvSpPr/>
          <p:nvPr/>
        </p:nvSpPr>
        <p:spPr>
          <a:xfrm>
            <a:off x="9052560" y="4882896"/>
            <a:ext cx="2743200" cy="164592"/>
          </a:xfrm>
          <a:prstGeom prst="rect">
            <a:avLst/>
          </a:prstGeom>
          <a:solidFill>
            <a:srgbClr val="E5E7EB"/>
          </a:solidFill>
          <a:ln/>
        </p:spPr>
      </p:sp>
      <p:sp>
        <p:nvSpPr>
          <p:cNvPr id="114" name="Shape 112"/>
          <p:cNvSpPr/>
          <p:nvPr/>
        </p:nvSpPr>
        <p:spPr>
          <a:xfrm>
            <a:off x="9052560" y="4882896"/>
            <a:ext cx="54864" cy="164592"/>
          </a:xfrm>
          <a:prstGeom prst="rect">
            <a:avLst/>
          </a:prstGeom>
          <a:solidFill>
            <a:srgbClr val="CC2200"/>
          </a:solidFill>
          <a:ln/>
        </p:spPr>
      </p:sp>
      <p:sp>
        <p:nvSpPr>
          <p:cNvPr id="115" name="Text 113"/>
          <p:cNvSpPr/>
          <p:nvPr/>
        </p:nvSpPr>
        <p:spPr>
          <a:xfrm>
            <a:off x="11841480" y="4846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0%</a:t>
            </a:r>
            <a:endParaRPr lang="en-US" sz="900" dirty="0"/>
          </a:p>
        </p:txBody>
      </p:sp>
      <p:sp>
        <p:nvSpPr>
          <p:cNvPr id="116" name="Text 114"/>
          <p:cNvSpPr/>
          <p:nvPr/>
        </p:nvSpPr>
        <p:spPr>
          <a:xfrm>
            <a:off x="6492240" y="5230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MOTOS &amp; BICYCLETTES</a:t>
            </a:r>
            <a:endParaRPr lang="en-US" sz="850" dirty="0"/>
          </a:p>
        </p:txBody>
      </p:sp>
      <p:sp>
        <p:nvSpPr>
          <p:cNvPr id="117" name="Text 115"/>
          <p:cNvSpPr/>
          <p:nvPr/>
        </p:nvSpPr>
        <p:spPr>
          <a:xfrm>
            <a:off x="8156448" y="5230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1 172 TEU</a:t>
            </a:r>
            <a:endParaRPr lang="en-US" sz="850" dirty="0"/>
          </a:p>
        </p:txBody>
      </p:sp>
      <p:sp>
        <p:nvSpPr>
          <p:cNvPr id="118" name="Shape 116"/>
          <p:cNvSpPr/>
          <p:nvPr/>
        </p:nvSpPr>
        <p:spPr>
          <a:xfrm>
            <a:off x="9052560" y="5266944"/>
            <a:ext cx="2743200" cy="164592"/>
          </a:xfrm>
          <a:prstGeom prst="rect">
            <a:avLst/>
          </a:prstGeom>
          <a:solidFill>
            <a:srgbClr val="E5E7EB"/>
          </a:solidFill>
          <a:ln/>
        </p:spPr>
      </p:sp>
      <p:sp>
        <p:nvSpPr>
          <p:cNvPr id="119" name="Shape 117"/>
          <p:cNvSpPr/>
          <p:nvPr/>
        </p:nvSpPr>
        <p:spPr>
          <a:xfrm>
            <a:off x="9052560" y="5266944"/>
            <a:ext cx="54864" cy="164592"/>
          </a:xfrm>
          <a:prstGeom prst="rect">
            <a:avLst/>
          </a:prstGeom>
          <a:solidFill>
            <a:srgbClr val="CC2200"/>
          </a:solidFill>
          <a:ln/>
        </p:spPr>
      </p:sp>
      <p:sp>
        <p:nvSpPr>
          <p:cNvPr id="120" name="Text 118"/>
          <p:cNvSpPr/>
          <p:nvPr/>
        </p:nvSpPr>
        <p:spPr>
          <a:xfrm>
            <a:off x="11841480" y="523036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IMPORT – NOUVEAUX ENTRANTS &amp; NOUVEAUX FLUX</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Transitaires entrants  |  Nouvelles marchandises  |  Nouveaux destinataires Bamako–Ouagadougou</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p.16</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transitaires – Hinterland Import</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40589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11" name="Text 9"/>
          <p:cNvSpPr/>
          <p:nvPr/>
        </p:nvSpPr>
        <p:spPr>
          <a:xfrm>
            <a:off x="2036826" y="1408176"/>
            <a:ext cx="140589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2" name="Text 10"/>
          <p:cNvSpPr/>
          <p:nvPr/>
        </p:nvSpPr>
        <p:spPr>
          <a:xfrm>
            <a:off x="3488436" y="1408176"/>
            <a:ext cx="140589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Text 11"/>
          <p:cNvSpPr/>
          <p:nvPr/>
        </p:nvSpPr>
        <p:spPr>
          <a:xfrm>
            <a:off x="4940046" y="1408176"/>
            <a:ext cx="140589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Spécialité</a:t>
            </a:r>
            <a:endParaRPr lang="en-US" sz="900" dirty="0"/>
          </a:p>
        </p:txBody>
      </p:sp>
      <p:sp>
        <p:nvSpPr>
          <p:cNvPr id="14" name="Shape 12"/>
          <p:cNvSpPr/>
          <p:nvPr/>
        </p:nvSpPr>
        <p:spPr>
          <a:xfrm>
            <a:off x="137160" y="1627632"/>
            <a:ext cx="6217920" cy="256032"/>
          </a:xfrm>
          <a:prstGeom prst="rect">
            <a:avLst/>
          </a:prstGeom>
          <a:solidFill>
            <a:srgbClr val="FFF9EC"/>
          </a:solidFill>
          <a:ln w="3810">
            <a:solidFill>
              <a:srgbClr val="E5E7EB"/>
            </a:solidFill>
            <a:prstDash val="solid"/>
          </a:ln>
        </p:spPr>
      </p:sp>
      <p:sp>
        <p:nvSpPr>
          <p:cNvPr id="15" name="Text 13"/>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#11</a:t>
            </a:r>
            <a:endParaRPr lang="en-US" sz="900" dirty="0"/>
          </a:p>
        </p:txBody>
      </p:sp>
      <p:sp>
        <p:nvSpPr>
          <p:cNvPr id="16" name="Text 14"/>
          <p:cNvSpPr/>
          <p:nvPr/>
        </p:nvSpPr>
        <p:spPr>
          <a:xfrm>
            <a:off x="585216" y="1664208"/>
            <a:ext cx="140589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SAHEL TRANSIT</a:t>
            </a:r>
            <a:endParaRPr lang="en-US" sz="900" dirty="0"/>
          </a:p>
        </p:txBody>
      </p:sp>
      <p:sp>
        <p:nvSpPr>
          <p:cNvPr id="17" name="Text 15"/>
          <p:cNvSpPr/>
          <p:nvPr/>
        </p:nvSpPr>
        <p:spPr>
          <a:xfrm>
            <a:off x="2036826" y="1664208"/>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620</a:t>
            </a:r>
            <a:endParaRPr lang="en-US" sz="900" dirty="0"/>
          </a:p>
        </p:txBody>
      </p:sp>
      <p:sp>
        <p:nvSpPr>
          <p:cNvPr id="18" name="Text 16"/>
          <p:cNvSpPr/>
          <p:nvPr/>
        </p:nvSpPr>
        <p:spPr>
          <a:xfrm>
            <a:off x="3488436" y="1664208"/>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2,2 %</a:t>
            </a:r>
            <a:endParaRPr lang="en-US" sz="900" dirty="0"/>
          </a:p>
        </p:txBody>
      </p:sp>
      <p:sp>
        <p:nvSpPr>
          <p:cNvPr id="19" name="Text 17"/>
          <p:cNvSpPr/>
          <p:nvPr/>
        </p:nvSpPr>
        <p:spPr>
          <a:xfrm>
            <a:off x="4940046" y="1664208"/>
            <a:ext cx="140589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Sucre / Alimentaire</a:t>
            </a:r>
            <a:endParaRPr lang="en-US" sz="900" dirty="0"/>
          </a:p>
        </p:txBody>
      </p:sp>
      <p:sp>
        <p:nvSpPr>
          <p:cNvPr id="20" name="Shape 18"/>
          <p:cNvSpPr/>
          <p:nvPr/>
        </p:nvSpPr>
        <p:spPr>
          <a:xfrm>
            <a:off x="137160" y="1883664"/>
            <a:ext cx="6217920" cy="256032"/>
          </a:xfrm>
          <a:prstGeom prst="rect">
            <a:avLst/>
          </a:prstGeom>
          <a:solidFill>
            <a:srgbClr val="F8F9FA"/>
          </a:solidFill>
          <a:ln w="3810">
            <a:solidFill>
              <a:srgbClr val="E5E7EB"/>
            </a:solidFill>
            <a:prstDash val="solid"/>
          </a:ln>
        </p:spPr>
      </p:sp>
      <p:sp>
        <p:nvSpPr>
          <p:cNvPr id="21" name="Text 19"/>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#12</a:t>
            </a:r>
            <a:endParaRPr lang="en-US" sz="900" dirty="0"/>
          </a:p>
        </p:txBody>
      </p:sp>
      <p:sp>
        <p:nvSpPr>
          <p:cNvPr id="22" name="Text 20"/>
          <p:cNvSpPr/>
          <p:nvPr/>
        </p:nvSpPr>
        <p:spPr>
          <a:xfrm>
            <a:off x="585216" y="1920240"/>
            <a:ext cx="140589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BURKINATRANS</a:t>
            </a:r>
            <a:endParaRPr lang="en-US" sz="900" dirty="0"/>
          </a:p>
        </p:txBody>
      </p:sp>
      <p:sp>
        <p:nvSpPr>
          <p:cNvPr id="23" name="Text 21"/>
          <p:cNvSpPr/>
          <p:nvPr/>
        </p:nvSpPr>
        <p:spPr>
          <a:xfrm>
            <a:off x="2036826" y="1920240"/>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580</a:t>
            </a:r>
            <a:endParaRPr lang="en-US" sz="900" dirty="0"/>
          </a:p>
        </p:txBody>
      </p:sp>
      <p:sp>
        <p:nvSpPr>
          <p:cNvPr id="24" name="Text 22"/>
          <p:cNvSpPr/>
          <p:nvPr/>
        </p:nvSpPr>
        <p:spPr>
          <a:xfrm>
            <a:off x="3488436" y="1920240"/>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2,0 %</a:t>
            </a:r>
            <a:endParaRPr lang="en-US" sz="900" dirty="0"/>
          </a:p>
        </p:txBody>
      </p:sp>
      <p:sp>
        <p:nvSpPr>
          <p:cNvPr id="25" name="Text 23"/>
          <p:cNvSpPr/>
          <p:nvPr/>
        </p:nvSpPr>
        <p:spPr>
          <a:xfrm>
            <a:off x="4940046" y="1920240"/>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BTP Burkina</a:t>
            </a:r>
            <a:endParaRPr lang="en-US" sz="900" dirty="0"/>
          </a:p>
        </p:txBody>
      </p:sp>
      <p:sp>
        <p:nvSpPr>
          <p:cNvPr id="26" name="Shape 24"/>
          <p:cNvSpPr/>
          <p:nvPr/>
        </p:nvSpPr>
        <p:spPr>
          <a:xfrm>
            <a:off x="137160" y="2139696"/>
            <a:ext cx="6217920" cy="256032"/>
          </a:xfrm>
          <a:prstGeom prst="rect">
            <a:avLst/>
          </a:prstGeom>
          <a:solidFill>
            <a:srgbClr val="FFFFFF"/>
          </a:solidFill>
          <a:ln w="3810">
            <a:solidFill>
              <a:srgbClr val="E5E7EB"/>
            </a:solidFill>
            <a:prstDash val="solid"/>
          </a:ln>
        </p:spPr>
      </p:sp>
      <p:sp>
        <p:nvSpPr>
          <p:cNvPr id="27" name="Text 25"/>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a:t>
            </a:r>
            <a:endParaRPr lang="en-US" sz="900" dirty="0"/>
          </a:p>
        </p:txBody>
      </p:sp>
      <p:sp>
        <p:nvSpPr>
          <p:cNvPr id="28" name="Text 26"/>
          <p:cNvSpPr/>
          <p:nvPr/>
        </p:nvSpPr>
        <p:spPr>
          <a:xfrm>
            <a:off x="585216" y="2176272"/>
            <a:ext cx="140589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TRANS-SAHEL LOG.</a:t>
            </a:r>
            <a:endParaRPr lang="en-US" sz="900" dirty="0"/>
          </a:p>
        </p:txBody>
      </p:sp>
      <p:sp>
        <p:nvSpPr>
          <p:cNvPr id="29" name="Text 27"/>
          <p:cNvSpPr/>
          <p:nvPr/>
        </p:nvSpPr>
        <p:spPr>
          <a:xfrm>
            <a:off x="2036826" y="2176272"/>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450</a:t>
            </a:r>
            <a:endParaRPr lang="en-US" sz="900" dirty="0"/>
          </a:p>
        </p:txBody>
      </p:sp>
      <p:sp>
        <p:nvSpPr>
          <p:cNvPr id="30" name="Text 28"/>
          <p:cNvSpPr/>
          <p:nvPr/>
        </p:nvSpPr>
        <p:spPr>
          <a:xfrm>
            <a:off x="3488436" y="2176272"/>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1,6 %</a:t>
            </a:r>
            <a:endParaRPr lang="en-US" sz="900" dirty="0"/>
          </a:p>
        </p:txBody>
      </p:sp>
      <p:sp>
        <p:nvSpPr>
          <p:cNvPr id="31" name="Text 29"/>
          <p:cNvSpPr/>
          <p:nvPr/>
        </p:nvSpPr>
        <p:spPr>
          <a:xfrm>
            <a:off x="4940046" y="2176272"/>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Machines</a:t>
            </a:r>
            <a:endParaRPr lang="en-US" sz="900" dirty="0"/>
          </a:p>
        </p:txBody>
      </p:sp>
      <p:sp>
        <p:nvSpPr>
          <p:cNvPr id="32" name="Shape 30"/>
          <p:cNvSpPr/>
          <p:nvPr/>
        </p:nvSpPr>
        <p:spPr>
          <a:xfrm>
            <a:off x="137160" y="2395728"/>
            <a:ext cx="6217920" cy="256032"/>
          </a:xfrm>
          <a:prstGeom prst="rect">
            <a:avLst/>
          </a:prstGeom>
          <a:solidFill>
            <a:srgbClr val="F8F9FA"/>
          </a:solidFill>
          <a:ln w="3810">
            <a:solidFill>
              <a:srgbClr val="E5E7EB"/>
            </a:solidFill>
            <a:prstDash val="solid"/>
          </a:ln>
        </p:spPr>
      </p:sp>
      <p:sp>
        <p:nvSpPr>
          <p:cNvPr id="33" name="Text 31"/>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a:t>
            </a:r>
            <a:endParaRPr lang="en-US" sz="900" dirty="0"/>
          </a:p>
        </p:txBody>
      </p:sp>
      <p:sp>
        <p:nvSpPr>
          <p:cNvPr id="34" name="Text 32"/>
          <p:cNvSpPr/>
          <p:nvPr/>
        </p:nvSpPr>
        <p:spPr>
          <a:xfrm>
            <a:off x="585216" y="2432304"/>
            <a:ext cx="140589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KARAMOKOTRAKRANSIT</a:t>
            </a:r>
            <a:endParaRPr lang="en-US" sz="900" dirty="0"/>
          </a:p>
        </p:txBody>
      </p:sp>
      <p:sp>
        <p:nvSpPr>
          <p:cNvPr id="35" name="Text 33"/>
          <p:cNvSpPr/>
          <p:nvPr/>
        </p:nvSpPr>
        <p:spPr>
          <a:xfrm>
            <a:off x="2036826" y="2432304"/>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380</a:t>
            </a:r>
            <a:endParaRPr lang="en-US" sz="900" dirty="0"/>
          </a:p>
        </p:txBody>
      </p:sp>
      <p:sp>
        <p:nvSpPr>
          <p:cNvPr id="36" name="Text 34"/>
          <p:cNvSpPr/>
          <p:nvPr/>
        </p:nvSpPr>
        <p:spPr>
          <a:xfrm>
            <a:off x="3488436" y="2432304"/>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1,3 %</a:t>
            </a:r>
            <a:endParaRPr lang="en-US" sz="900" dirty="0"/>
          </a:p>
        </p:txBody>
      </p:sp>
      <p:sp>
        <p:nvSpPr>
          <p:cNvPr id="37" name="Text 35"/>
          <p:cNvSpPr/>
          <p:nvPr/>
        </p:nvSpPr>
        <p:spPr>
          <a:xfrm>
            <a:off x="4940046" y="2432304"/>
            <a:ext cx="140589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Alimentation</a:t>
            </a:r>
            <a:endParaRPr lang="en-US" sz="900" dirty="0"/>
          </a:p>
        </p:txBody>
      </p:sp>
      <p:sp>
        <p:nvSpPr>
          <p:cNvPr id="38" name="Text 36"/>
          <p:cNvSpPr/>
          <p:nvPr/>
        </p:nvSpPr>
        <p:spPr>
          <a:xfrm>
            <a:off x="228600" y="274320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destinataires AGL – Hinterland Import</a:t>
            </a:r>
            <a:endParaRPr lang="en-US" sz="1100" dirty="0"/>
          </a:p>
        </p:txBody>
      </p:sp>
      <p:sp>
        <p:nvSpPr>
          <p:cNvPr id="39" name="Shape 37"/>
          <p:cNvSpPr/>
          <p:nvPr/>
        </p:nvSpPr>
        <p:spPr>
          <a:xfrm>
            <a:off x="137160" y="3017520"/>
            <a:ext cx="6217920" cy="256032"/>
          </a:xfrm>
          <a:prstGeom prst="rect">
            <a:avLst/>
          </a:prstGeom>
          <a:solidFill>
            <a:srgbClr val="0D2243"/>
          </a:solidFill>
          <a:ln/>
        </p:spPr>
      </p:sp>
      <p:sp>
        <p:nvSpPr>
          <p:cNvPr id="40" name="Text 38"/>
          <p:cNvSpPr/>
          <p:nvPr/>
        </p:nvSpPr>
        <p:spPr>
          <a:xfrm>
            <a:off x="173736" y="305409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Destinataire</a:t>
            </a:r>
            <a:endParaRPr lang="en-US" sz="900" dirty="0"/>
          </a:p>
        </p:txBody>
      </p:sp>
      <p:sp>
        <p:nvSpPr>
          <p:cNvPr id="41" name="Text 39"/>
          <p:cNvSpPr/>
          <p:nvPr/>
        </p:nvSpPr>
        <p:spPr>
          <a:xfrm>
            <a:off x="585216" y="305409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42" name="Text 40"/>
          <p:cNvSpPr/>
          <p:nvPr/>
        </p:nvSpPr>
        <p:spPr>
          <a:xfrm>
            <a:off x="2520696" y="305409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Destination</a:t>
            </a:r>
            <a:endParaRPr lang="en-US" sz="900" dirty="0"/>
          </a:p>
        </p:txBody>
      </p:sp>
      <p:sp>
        <p:nvSpPr>
          <p:cNvPr id="43" name="Text 41"/>
          <p:cNvSpPr/>
          <p:nvPr/>
        </p:nvSpPr>
        <p:spPr>
          <a:xfrm>
            <a:off x="4456176" y="305409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Entrée</a:t>
            </a:r>
            <a:endParaRPr lang="en-US" sz="900" dirty="0"/>
          </a:p>
        </p:txBody>
      </p:sp>
      <p:sp>
        <p:nvSpPr>
          <p:cNvPr id="44" name="Shape 42"/>
          <p:cNvSpPr/>
          <p:nvPr/>
        </p:nvSpPr>
        <p:spPr>
          <a:xfrm>
            <a:off x="137160" y="3273552"/>
            <a:ext cx="6217920" cy="256032"/>
          </a:xfrm>
          <a:prstGeom prst="rect">
            <a:avLst/>
          </a:prstGeom>
          <a:solidFill>
            <a:srgbClr val="FFF9EC"/>
          </a:solidFill>
          <a:ln w="3810">
            <a:solidFill>
              <a:srgbClr val="E5E7EB"/>
            </a:solidFill>
            <a:prstDash val="solid"/>
          </a:ln>
        </p:spPr>
      </p:sp>
      <p:sp>
        <p:nvSpPr>
          <p:cNvPr id="45" name="Text 43"/>
          <p:cNvSpPr/>
          <p:nvPr/>
        </p:nvSpPr>
        <p:spPr>
          <a:xfrm>
            <a:off x="173736" y="331012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SOFAO BF (alimentaire)</a:t>
            </a:r>
            <a:endParaRPr lang="en-US" sz="900" dirty="0"/>
          </a:p>
        </p:txBody>
      </p:sp>
      <p:sp>
        <p:nvSpPr>
          <p:cNvPr id="46" name="Text 44"/>
          <p:cNvSpPr/>
          <p:nvPr/>
        </p:nvSpPr>
        <p:spPr>
          <a:xfrm>
            <a:off x="585216" y="331012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926</a:t>
            </a:r>
            <a:endParaRPr lang="en-US" sz="900" dirty="0"/>
          </a:p>
        </p:txBody>
      </p:sp>
      <p:sp>
        <p:nvSpPr>
          <p:cNvPr id="47" name="Text 45"/>
          <p:cNvSpPr/>
          <p:nvPr/>
        </p:nvSpPr>
        <p:spPr>
          <a:xfrm>
            <a:off x="2520696" y="331012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Ouagadougou</a:t>
            </a:r>
            <a:endParaRPr lang="en-US" sz="900" dirty="0"/>
          </a:p>
        </p:txBody>
      </p:sp>
      <p:sp>
        <p:nvSpPr>
          <p:cNvPr id="48" name="Text 46"/>
          <p:cNvSpPr/>
          <p:nvPr/>
        </p:nvSpPr>
        <p:spPr>
          <a:xfrm>
            <a:off x="4456176" y="331012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Q1 2026</a:t>
            </a:r>
            <a:endParaRPr lang="en-US" sz="900" dirty="0"/>
          </a:p>
        </p:txBody>
      </p:sp>
      <p:sp>
        <p:nvSpPr>
          <p:cNvPr id="49" name="Shape 47"/>
          <p:cNvSpPr/>
          <p:nvPr/>
        </p:nvSpPr>
        <p:spPr>
          <a:xfrm>
            <a:off x="137160" y="3529584"/>
            <a:ext cx="6217920" cy="256032"/>
          </a:xfrm>
          <a:prstGeom prst="rect">
            <a:avLst/>
          </a:prstGeom>
          <a:solidFill>
            <a:srgbClr val="F8F9FA"/>
          </a:solidFill>
          <a:ln w="3810">
            <a:solidFill>
              <a:srgbClr val="E5E7EB"/>
            </a:solidFill>
            <a:prstDash val="solid"/>
          </a:ln>
        </p:spPr>
      </p:sp>
      <p:sp>
        <p:nvSpPr>
          <p:cNvPr id="50" name="Text 48"/>
          <p:cNvSpPr/>
          <p:nvPr/>
        </p:nvSpPr>
        <p:spPr>
          <a:xfrm>
            <a:off x="173736" y="356616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BRAKINA (boissons)</a:t>
            </a:r>
            <a:endParaRPr lang="en-US" sz="900" dirty="0"/>
          </a:p>
        </p:txBody>
      </p:sp>
      <p:sp>
        <p:nvSpPr>
          <p:cNvPr id="51" name="Text 49"/>
          <p:cNvSpPr/>
          <p:nvPr/>
        </p:nvSpPr>
        <p:spPr>
          <a:xfrm>
            <a:off x="585216" y="356616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552</a:t>
            </a:r>
            <a:endParaRPr lang="en-US" sz="900" dirty="0"/>
          </a:p>
        </p:txBody>
      </p:sp>
      <p:sp>
        <p:nvSpPr>
          <p:cNvPr id="52" name="Text 50"/>
          <p:cNvSpPr/>
          <p:nvPr/>
        </p:nvSpPr>
        <p:spPr>
          <a:xfrm>
            <a:off x="2520696" y="356616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Bobo-Dioulasso</a:t>
            </a:r>
            <a:endParaRPr lang="en-US" sz="900" dirty="0"/>
          </a:p>
        </p:txBody>
      </p:sp>
      <p:sp>
        <p:nvSpPr>
          <p:cNvPr id="53" name="Text 51"/>
          <p:cNvSpPr/>
          <p:nvPr/>
        </p:nvSpPr>
        <p:spPr>
          <a:xfrm>
            <a:off x="4456176" y="356616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Q1 2026</a:t>
            </a:r>
            <a:endParaRPr lang="en-US" sz="900" dirty="0"/>
          </a:p>
        </p:txBody>
      </p:sp>
      <p:sp>
        <p:nvSpPr>
          <p:cNvPr id="54" name="Shape 52"/>
          <p:cNvSpPr/>
          <p:nvPr/>
        </p:nvSpPr>
        <p:spPr>
          <a:xfrm>
            <a:off x="137160" y="3785616"/>
            <a:ext cx="6217920" cy="256032"/>
          </a:xfrm>
          <a:prstGeom prst="rect">
            <a:avLst/>
          </a:prstGeom>
          <a:solidFill>
            <a:srgbClr val="FFFFFF"/>
          </a:solidFill>
          <a:ln w="3810">
            <a:solidFill>
              <a:srgbClr val="E5E7EB"/>
            </a:solidFill>
            <a:prstDash val="solid"/>
          </a:ln>
        </p:spPr>
      </p:sp>
      <p:sp>
        <p:nvSpPr>
          <p:cNvPr id="55" name="Text 53"/>
          <p:cNvSpPr/>
          <p:nvPr/>
        </p:nvSpPr>
        <p:spPr>
          <a:xfrm>
            <a:off x="173736" y="382219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CODIMEX BF (emballages)</a:t>
            </a:r>
            <a:endParaRPr lang="en-US" sz="900" dirty="0"/>
          </a:p>
        </p:txBody>
      </p:sp>
      <p:sp>
        <p:nvSpPr>
          <p:cNvPr id="56" name="Text 54"/>
          <p:cNvSpPr/>
          <p:nvPr/>
        </p:nvSpPr>
        <p:spPr>
          <a:xfrm>
            <a:off x="585216" y="382219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461</a:t>
            </a:r>
            <a:endParaRPr lang="en-US" sz="900" dirty="0"/>
          </a:p>
        </p:txBody>
      </p:sp>
      <p:sp>
        <p:nvSpPr>
          <p:cNvPr id="57" name="Text 55"/>
          <p:cNvSpPr/>
          <p:nvPr/>
        </p:nvSpPr>
        <p:spPr>
          <a:xfrm>
            <a:off x="2520696" y="382219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Ouagadougou</a:t>
            </a:r>
            <a:endParaRPr lang="en-US" sz="900" dirty="0"/>
          </a:p>
        </p:txBody>
      </p:sp>
      <p:sp>
        <p:nvSpPr>
          <p:cNvPr id="58" name="Text 56"/>
          <p:cNvSpPr/>
          <p:nvPr/>
        </p:nvSpPr>
        <p:spPr>
          <a:xfrm>
            <a:off x="4456176" y="382219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59" name="Shape 57"/>
          <p:cNvSpPr/>
          <p:nvPr/>
        </p:nvSpPr>
        <p:spPr>
          <a:xfrm>
            <a:off x="137160" y="4041648"/>
            <a:ext cx="6217920" cy="256032"/>
          </a:xfrm>
          <a:prstGeom prst="rect">
            <a:avLst/>
          </a:prstGeom>
          <a:solidFill>
            <a:srgbClr val="F8F9FA"/>
          </a:solidFill>
          <a:ln w="3810">
            <a:solidFill>
              <a:srgbClr val="E5E7EB"/>
            </a:solidFill>
            <a:prstDash val="solid"/>
          </a:ln>
        </p:spPr>
      </p:sp>
      <p:sp>
        <p:nvSpPr>
          <p:cNvPr id="60" name="Text 58"/>
          <p:cNvSpPr/>
          <p:nvPr/>
        </p:nvSpPr>
        <p:spPr>
          <a:xfrm>
            <a:off x="173736" y="407822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TOTAL ENERGIES ML</a:t>
            </a:r>
            <a:endParaRPr lang="en-US" sz="900" dirty="0"/>
          </a:p>
        </p:txBody>
      </p:sp>
      <p:sp>
        <p:nvSpPr>
          <p:cNvPr id="61" name="Text 59"/>
          <p:cNvSpPr/>
          <p:nvPr/>
        </p:nvSpPr>
        <p:spPr>
          <a:xfrm>
            <a:off x="585216" y="407822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390</a:t>
            </a:r>
            <a:endParaRPr lang="en-US" sz="900" dirty="0"/>
          </a:p>
        </p:txBody>
      </p:sp>
      <p:sp>
        <p:nvSpPr>
          <p:cNvPr id="62" name="Text 60"/>
          <p:cNvSpPr/>
          <p:nvPr/>
        </p:nvSpPr>
        <p:spPr>
          <a:xfrm>
            <a:off x="2520696" y="407822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Bamako</a:t>
            </a:r>
            <a:endParaRPr lang="en-US" sz="900" dirty="0"/>
          </a:p>
        </p:txBody>
      </p:sp>
      <p:sp>
        <p:nvSpPr>
          <p:cNvPr id="63" name="Text 61"/>
          <p:cNvSpPr/>
          <p:nvPr/>
        </p:nvSpPr>
        <p:spPr>
          <a:xfrm>
            <a:off x="4456176" y="407822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Q1 2026</a:t>
            </a:r>
            <a:endParaRPr lang="en-US" sz="900" dirty="0"/>
          </a:p>
        </p:txBody>
      </p:sp>
      <p:sp>
        <p:nvSpPr>
          <p:cNvPr id="64" name="Shape 62"/>
          <p:cNvSpPr/>
          <p:nvPr/>
        </p:nvSpPr>
        <p:spPr>
          <a:xfrm>
            <a:off x="137160" y="4297680"/>
            <a:ext cx="6217920" cy="256032"/>
          </a:xfrm>
          <a:prstGeom prst="rect">
            <a:avLst/>
          </a:prstGeom>
          <a:solidFill>
            <a:srgbClr val="FFFFFF"/>
          </a:solidFill>
          <a:ln w="3810">
            <a:solidFill>
              <a:srgbClr val="E5E7EB"/>
            </a:solidFill>
            <a:prstDash val="solid"/>
          </a:ln>
        </p:spPr>
      </p:sp>
      <p:sp>
        <p:nvSpPr>
          <p:cNvPr id="65" name="Text 63"/>
          <p:cNvSpPr/>
          <p:nvPr/>
        </p:nvSpPr>
        <p:spPr>
          <a:xfrm>
            <a:off x="173736" y="433425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ONATEL BF (télécoms)</a:t>
            </a:r>
            <a:endParaRPr lang="en-US" sz="900" dirty="0"/>
          </a:p>
        </p:txBody>
      </p:sp>
      <p:sp>
        <p:nvSpPr>
          <p:cNvPr id="66" name="Text 64"/>
          <p:cNvSpPr/>
          <p:nvPr/>
        </p:nvSpPr>
        <p:spPr>
          <a:xfrm>
            <a:off x="585216" y="433425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320</a:t>
            </a:r>
            <a:endParaRPr lang="en-US" sz="900" dirty="0"/>
          </a:p>
        </p:txBody>
      </p:sp>
      <p:sp>
        <p:nvSpPr>
          <p:cNvPr id="67" name="Text 65"/>
          <p:cNvSpPr/>
          <p:nvPr/>
        </p:nvSpPr>
        <p:spPr>
          <a:xfrm>
            <a:off x="2520696" y="433425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Ouagadougou</a:t>
            </a:r>
            <a:endParaRPr lang="en-US" sz="900" dirty="0"/>
          </a:p>
        </p:txBody>
      </p:sp>
      <p:sp>
        <p:nvSpPr>
          <p:cNvPr id="68" name="Text 66"/>
          <p:cNvSpPr/>
          <p:nvPr/>
        </p:nvSpPr>
        <p:spPr>
          <a:xfrm>
            <a:off x="4456176" y="433425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69" name="Text 67"/>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Nouvelles marchandises hinterland – PDM AGL</a:t>
            </a:r>
            <a:endParaRPr lang="en-US" sz="1100" dirty="0"/>
          </a:p>
        </p:txBody>
      </p:sp>
      <p:sp>
        <p:nvSpPr>
          <p:cNvPr id="70" name="Text 68"/>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MATÉRIEL AGRICOLE</a:t>
            </a:r>
            <a:endParaRPr lang="en-US" sz="850" dirty="0"/>
          </a:p>
        </p:txBody>
      </p:sp>
      <p:sp>
        <p:nvSpPr>
          <p:cNvPr id="71" name="Text 69"/>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520 TEU</a:t>
            </a:r>
            <a:endParaRPr lang="en-US" sz="850" dirty="0"/>
          </a:p>
        </p:txBody>
      </p:sp>
      <p:sp>
        <p:nvSpPr>
          <p:cNvPr id="72" name="Shape 70"/>
          <p:cNvSpPr/>
          <p:nvPr/>
        </p:nvSpPr>
        <p:spPr>
          <a:xfrm>
            <a:off x="9052560" y="1426464"/>
            <a:ext cx="2743200" cy="164592"/>
          </a:xfrm>
          <a:prstGeom prst="rect">
            <a:avLst/>
          </a:prstGeom>
          <a:solidFill>
            <a:srgbClr val="E5E7EB"/>
          </a:solidFill>
          <a:ln/>
        </p:spPr>
      </p:sp>
      <p:sp>
        <p:nvSpPr>
          <p:cNvPr id="73" name="Shape 71"/>
          <p:cNvSpPr/>
          <p:nvPr/>
        </p:nvSpPr>
        <p:spPr>
          <a:xfrm>
            <a:off x="9052560" y="1426464"/>
            <a:ext cx="219456" cy="164592"/>
          </a:xfrm>
          <a:prstGeom prst="rect">
            <a:avLst/>
          </a:prstGeom>
          <a:solidFill>
            <a:srgbClr val="CC2200"/>
          </a:solidFill>
          <a:ln/>
        </p:spPr>
      </p:sp>
      <p:sp>
        <p:nvSpPr>
          <p:cNvPr id="74" name="Text 72"/>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75" name="Text 73"/>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VÉHICULES BTP</a:t>
            </a:r>
            <a:endParaRPr lang="en-US" sz="850" dirty="0"/>
          </a:p>
        </p:txBody>
      </p:sp>
      <p:sp>
        <p:nvSpPr>
          <p:cNvPr id="76" name="Text 74"/>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380 TEU</a:t>
            </a:r>
            <a:endParaRPr lang="en-US" sz="850" dirty="0"/>
          </a:p>
        </p:txBody>
      </p:sp>
      <p:sp>
        <p:nvSpPr>
          <p:cNvPr id="77" name="Shape 75"/>
          <p:cNvSpPr/>
          <p:nvPr/>
        </p:nvSpPr>
        <p:spPr>
          <a:xfrm>
            <a:off x="9052560" y="1810512"/>
            <a:ext cx="2743200" cy="164592"/>
          </a:xfrm>
          <a:prstGeom prst="rect">
            <a:avLst/>
          </a:prstGeom>
          <a:solidFill>
            <a:srgbClr val="E5E7EB"/>
          </a:solidFill>
          <a:ln/>
        </p:spPr>
      </p:sp>
      <p:sp>
        <p:nvSpPr>
          <p:cNvPr id="78" name="Shape 76"/>
          <p:cNvSpPr/>
          <p:nvPr/>
        </p:nvSpPr>
        <p:spPr>
          <a:xfrm>
            <a:off x="9052560" y="1810512"/>
            <a:ext cx="137160" cy="164592"/>
          </a:xfrm>
          <a:prstGeom prst="rect">
            <a:avLst/>
          </a:prstGeom>
          <a:solidFill>
            <a:srgbClr val="CC2200"/>
          </a:solidFill>
          <a:ln/>
        </p:spPr>
      </p:sp>
      <p:sp>
        <p:nvSpPr>
          <p:cNvPr id="79" name="Text 77"/>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80" name="Text 78"/>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INTRANTS PHARMA</a:t>
            </a:r>
            <a:endParaRPr lang="en-US" sz="850" dirty="0"/>
          </a:p>
        </p:txBody>
      </p:sp>
      <p:sp>
        <p:nvSpPr>
          <p:cNvPr id="81" name="Text 79"/>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290 TEU</a:t>
            </a:r>
            <a:endParaRPr lang="en-US" sz="850" dirty="0"/>
          </a:p>
        </p:txBody>
      </p:sp>
      <p:sp>
        <p:nvSpPr>
          <p:cNvPr id="82" name="Shape 80"/>
          <p:cNvSpPr/>
          <p:nvPr/>
        </p:nvSpPr>
        <p:spPr>
          <a:xfrm>
            <a:off x="9052560" y="2194560"/>
            <a:ext cx="2743200" cy="164592"/>
          </a:xfrm>
          <a:prstGeom prst="rect">
            <a:avLst/>
          </a:prstGeom>
          <a:solidFill>
            <a:srgbClr val="E5E7EB"/>
          </a:solidFill>
          <a:ln/>
        </p:spPr>
      </p:sp>
      <p:sp>
        <p:nvSpPr>
          <p:cNvPr id="83" name="Shape 81"/>
          <p:cNvSpPr/>
          <p:nvPr/>
        </p:nvSpPr>
        <p:spPr>
          <a:xfrm>
            <a:off x="9052560" y="2194560"/>
            <a:ext cx="329184" cy="164592"/>
          </a:xfrm>
          <a:prstGeom prst="rect">
            <a:avLst/>
          </a:prstGeom>
          <a:solidFill>
            <a:srgbClr val="E05A00"/>
          </a:solidFill>
          <a:ln/>
        </p:spPr>
      </p:sp>
      <p:sp>
        <p:nvSpPr>
          <p:cNvPr id="84" name="Text 82"/>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
        <p:nvSpPr>
          <p:cNvPr id="85" name="Shape 83"/>
          <p:cNvSpPr/>
          <p:nvPr/>
        </p:nvSpPr>
        <p:spPr>
          <a:xfrm>
            <a:off x="6492240" y="3840480"/>
            <a:ext cx="5486400" cy="685800"/>
          </a:xfrm>
          <a:prstGeom prst="rect">
            <a:avLst/>
          </a:prstGeom>
          <a:solidFill>
            <a:srgbClr val="FFFBEC"/>
          </a:solidFill>
          <a:ln w="6350">
            <a:solidFill>
              <a:srgbClr val="E5C97A"/>
            </a:solidFill>
            <a:prstDash val="solid"/>
          </a:ln>
        </p:spPr>
      </p:sp>
      <p:sp>
        <p:nvSpPr>
          <p:cNvPr id="86" name="Text 84"/>
          <p:cNvSpPr/>
          <p:nvPr/>
        </p:nvSpPr>
        <p:spPr>
          <a:xfrm>
            <a:off x="6583680" y="39136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CIBLES : Thé (928 TEU) + Motos (1 172 TEU) à 0–1% PDM = 2 100 TEU de potentiel immédiat. Commercial dédié Ouagadougou recommandé (40% du marché hinterland).</a:t>
            </a:r>
            <a:endParaRPr lang="en-US" sz="900" dirty="0"/>
          </a:p>
        </p:txBody>
      </p:sp>
      <p:sp>
        <p:nvSpPr>
          <p:cNvPr id="87" name="Shape 85"/>
          <p:cNvSpPr/>
          <p:nvPr/>
        </p:nvSpPr>
        <p:spPr>
          <a:xfrm>
            <a:off x="6492240" y="4663440"/>
            <a:ext cx="5486400" cy="685800"/>
          </a:xfrm>
          <a:prstGeom prst="rect">
            <a:avLst/>
          </a:prstGeom>
          <a:solidFill>
            <a:srgbClr val="FEF2F2"/>
          </a:solidFill>
          <a:ln w="6350">
            <a:solidFill>
              <a:srgbClr val="E5C97A"/>
            </a:solidFill>
            <a:prstDash val="solid"/>
          </a:ln>
        </p:spPr>
      </p:sp>
      <p:sp>
        <p:nvSpPr>
          <p:cNvPr id="88" name="Text 86"/>
          <p:cNvSpPr/>
          <p:nvPr/>
        </p:nvSpPr>
        <p:spPr>
          <a:xfrm>
            <a:off x="6583680" y="473659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MENACE : CEVA Logistics déjà #5 (4,4%) en quelques mois. UCT + Sitracom verrouillent 51,9% du marché — l'écart vers le rang #2 est de 3 994 TEU.</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04</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HINTERLAND EXPORT MARITIME</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4 294 TEU  |  PDM AGL : 66,1%  |  Dominance absolue</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EXPORT – VUE D'ENSEMBLE  |  Jan–Mai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AGL #1 ABSOLU – PDM 66,1%  |  Marché : 4 294 TEU  |  Coton dominant</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p.15</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TOTAL</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4 294</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VOLUME AGL</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2 840</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Jan–Mai</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66,1 %</a:t>
            </a:r>
            <a:endParaRPr lang="en-US" sz="26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ABSOLU</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COTON AGL</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2 522</a:t>
            </a:r>
            <a:endParaRPr lang="en-US" sz="22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TEU – 88,8% du portef.</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FÉV. (PEAK)</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72,9 %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Meilleure PDM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 Hinterland Export</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par mois – Hinterland Export</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315200" y="2523744"/>
            <a:ext cx="2560320" cy="201168"/>
          </a:xfrm>
          <a:prstGeom prst="rect">
            <a:avLst/>
          </a:prstGeom>
          <a:solidFill>
            <a:srgbClr val="D1D5DB"/>
          </a:solidFill>
          <a:ln/>
        </p:spPr>
      </p:sp>
      <p:sp>
        <p:nvSpPr>
          <p:cNvPr id="33" name="Shape 30"/>
          <p:cNvSpPr/>
          <p:nvPr/>
        </p:nvSpPr>
        <p:spPr>
          <a:xfrm>
            <a:off x="7315200" y="2523744"/>
            <a:ext cx="1780634" cy="201168"/>
          </a:xfrm>
          <a:prstGeom prst="rect">
            <a:avLst/>
          </a:prstGeom>
          <a:solidFill>
            <a:srgbClr val="E05A00"/>
          </a:solidFill>
          <a:ln/>
        </p:spPr>
      </p:sp>
      <p:sp>
        <p:nvSpPr>
          <p:cNvPr id="34" name="Text 31"/>
          <p:cNvSpPr/>
          <p:nvPr/>
        </p:nvSpPr>
        <p:spPr>
          <a:xfrm>
            <a:off x="9930384" y="2487168"/>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50.7%</a:t>
            </a:r>
            <a:endParaRPr lang="en-US" sz="12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315200" y="3054096"/>
            <a:ext cx="2560320" cy="201168"/>
          </a:xfrm>
          <a:prstGeom prst="rect">
            <a:avLst/>
          </a:prstGeom>
          <a:solidFill>
            <a:srgbClr val="D1D5DB"/>
          </a:solidFill>
          <a:ln/>
        </p:spPr>
      </p:sp>
      <p:sp>
        <p:nvSpPr>
          <p:cNvPr id="38" name="Shape 35"/>
          <p:cNvSpPr/>
          <p:nvPr/>
        </p:nvSpPr>
        <p:spPr>
          <a:xfrm>
            <a:off x="7315200" y="3054096"/>
            <a:ext cx="2560320" cy="201168"/>
          </a:xfrm>
          <a:prstGeom prst="rect">
            <a:avLst/>
          </a:prstGeom>
          <a:solidFill>
            <a:srgbClr val="1A7C4F"/>
          </a:solidFill>
          <a:ln/>
        </p:spPr>
      </p:sp>
      <p:sp>
        <p:nvSpPr>
          <p:cNvPr id="39" name="Text 36"/>
          <p:cNvSpPr/>
          <p:nvPr/>
        </p:nvSpPr>
        <p:spPr>
          <a:xfrm>
            <a:off x="9930384" y="3017520"/>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72.9%</a:t>
            </a:r>
            <a:endParaRPr lang="en-US" sz="12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315200" y="3584448"/>
            <a:ext cx="2560320" cy="201168"/>
          </a:xfrm>
          <a:prstGeom prst="rect">
            <a:avLst/>
          </a:prstGeom>
          <a:solidFill>
            <a:srgbClr val="D1D5DB"/>
          </a:solidFill>
          <a:ln/>
        </p:spPr>
      </p:sp>
      <p:sp>
        <p:nvSpPr>
          <p:cNvPr id="43" name="Shape 40"/>
          <p:cNvSpPr/>
          <p:nvPr/>
        </p:nvSpPr>
        <p:spPr>
          <a:xfrm>
            <a:off x="7315200" y="3584448"/>
            <a:ext cx="2525199" cy="201168"/>
          </a:xfrm>
          <a:prstGeom prst="rect">
            <a:avLst/>
          </a:prstGeom>
          <a:solidFill>
            <a:srgbClr val="1A7C4F"/>
          </a:solidFill>
          <a:ln/>
        </p:spPr>
      </p:sp>
      <p:sp>
        <p:nvSpPr>
          <p:cNvPr id="44" name="Text 41"/>
          <p:cNvSpPr/>
          <p:nvPr/>
        </p:nvSpPr>
        <p:spPr>
          <a:xfrm>
            <a:off x="9930384" y="3547872"/>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71.9%</a:t>
            </a:r>
            <a:endParaRPr lang="en-US" sz="12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315200" y="4114800"/>
            <a:ext cx="2560320" cy="201168"/>
          </a:xfrm>
          <a:prstGeom prst="rect">
            <a:avLst/>
          </a:prstGeom>
          <a:solidFill>
            <a:srgbClr val="D1D5DB"/>
          </a:solidFill>
          <a:ln/>
        </p:spPr>
      </p:sp>
      <p:sp>
        <p:nvSpPr>
          <p:cNvPr id="48" name="Shape 45"/>
          <p:cNvSpPr/>
          <p:nvPr/>
        </p:nvSpPr>
        <p:spPr>
          <a:xfrm>
            <a:off x="7315200" y="4114800"/>
            <a:ext cx="2391739" cy="201168"/>
          </a:xfrm>
          <a:prstGeom prst="rect">
            <a:avLst/>
          </a:prstGeom>
          <a:solidFill>
            <a:srgbClr val="1A7C4F"/>
          </a:solidFill>
          <a:ln/>
        </p:spPr>
      </p:sp>
      <p:sp>
        <p:nvSpPr>
          <p:cNvPr id="49" name="Text 46"/>
          <p:cNvSpPr/>
          <p:nvPr/>
        </p:nvSpPr>
        <p:spPr>
          <a:xfrm>
            <a:off x="9930384" y="4078224"/>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68.1%</a:t>
            </a:r>
            <a:endParaRPr lang="en-US" sz="12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315200" y="4645152"/>
            <a:ext cx="2560320" cy="201168"/>
          </a:xfrm>
          <a:prstGeom prst="rect">
            <a:avLst/>
          </a:prstGeom>
          <a:solidFill>
            <a:srgbClr val="D1D5DB"/>
          </a:solidFill>
          <a:ln/>
        </p:spPr>
      </p:sp>
      <p:sp>
        <p:nvSpPr>
          <p:cNvPr id="53" name="Shape 50"/>
          <p:cNvSpPr/>
          <p:nvPr/>
        </p:nvSpPr>
        <p:spPr>
          <a:xfrm>
            <a:off x="7315200" y="4645152"/>
            <a:ext cx="1991360" cy="201168"/>
          </a:xfrm>
          <a:prstGeom prst="rect">
            <a:avLst/>
          </a:prstGeom>
          <a:solidFill>
            <a:srgbClr val="E05A00"/>
          </a:solidFill>
          <a:ln/>
        </p:spPr>
      </p:sp>
      <p:sp>
        <p:nvSpPr>
          <p:cNvPr id="54" name="Text 51"/>
          <p:cNvSpPr/>
          <p:nvPr/>
        </p:nvSpPr>
        <p:spPr>
          <a:xfrm>
            <a:off x="9930384" y="4608576"/>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56.7%</a:t>
            </a:r>
            <a:endParaRPr lang="en-US" sz="1200" dirty="0"/>
          </a:p>
        </p:txBody>
      </p:sp>
      <p:sp>
        <p:nvSpPr>
          <p:cNvPr id="55" name="Text 52"/>
          <p:cNvSpPr/>
          <p:nvPr/>
        </p:nvSpPr>
        <p:spPr>
          <a:xfrm>
            <a:off x="137160" y="594360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Concurrents : FM General Services 12,1% (518 TEU)  |  Movis Transit 5,8% (251 TEU)  |  CEVA Logistics 5,1% (220 TEU)</a:t>
            </a:r>
            <a:endParaRPr lang="en-US" sz="900" dirty="0"/>
          </a:p>
        </p:txBody>
      </p:sp>
      <p:sp>
        <p:nvSpPr>
          <p:cNvPr id="56" name="Text 53"/>
          <p:cNvSpPr/>
          <p:nvPr/>
        </p:nvSpPr>
        <p:spPr>
          <a:xfrm>
            <a:off x="137160" y="6172200"/>
            <a:ext cx="11887200" cy="22860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Chargeurs AGL : SOFITEX 1 492 TEU  |  CMDT Bamako 1 010 TEU  |  SAGROCOM BF 249 TEU</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HINTERLAND EXPORT – NOUVEAUX CHARGEURS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Chargeurs entrés en 2026  |  Sécurisation du portefeuille coton  |  Nouvelle filière huile de palme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chargeurs AGL – Hinterland Export 2026</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Chargeur</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Filière</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Entrée</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IVOIRE COTON EXPORT</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280</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Coton</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Q1 2026</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COTON BURKINA SUD</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195</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Coton</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SODECOTON ML (Mali)</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160</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Coton</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OIL PALM CI EXPORT</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140</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Huile de Palme</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Q1 2026</a:t>
            </a:r>
            <a:endParaRPr lang="en-US" sz="900" dirty="0"/>
          </a:p>
        </p:txBody>
      </p:sp>
      <p:sp>
        <p:nvSpPr>
          <p:cNvPr id="33" name="Text 31"/>
          <p:cNvSpPr/>
          <p:nvPr/>
        </p:nvSpPr>
        <p:spPr>
          <a:xfrm>
            <a:off x="228600" y="306324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Portefeuille existant à sécuriser</a:t>
            </a:r>
            <a:endParaRPr lang="en-US" sz="1100" dirty="0"/>
          </a:p>
        </p:txBody>
      </p:sp>
      <p:sp>
        <p:nvSpPr>
          <p:cNvPr id="34" name="Shape 32"/>
          <p:cNvSpPr/>
          <p:nvPr/>
        </p:nvSpPr>
        <p:spPr>
          <a:xfrm>
            <a:off x="137160" y="3337560"/>
            <a:ext cx="6217920" cy="256032"/>
          </a:xfrm>
          <a:prstGeom prst="rect">
            <a:avLst/>
          </a:prstGeom>
          <a:solidFill>
            <a:srgbClr val="0D2243"/>
          </a:solidFill>
          <a:ln/>
        </p:spPr>
      </p:sp>
      <p:sp>
        <p:nvSpPr>
          <p:cNvPr id="35" name="Text 33"/>
          <p:cNvSpPr/>
          <p:nvPr/>
        </p:nvSpPr>
        <p:spPr>
          <a:xfrm>
            <a:off x="173736" y="337413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Chargeur</a:t>
            </a:r>
            <a:endParaRPr lang="en-US" sz="900" dirty="0"/>
          </a:p>
        </p:txBody>
      </p:sp>
      <p:sp>
        <p:nvSpPr>
          <p:cNvPr id="36" name="Text 34"/>
          <p:cNvSpPr/>
          <p:nvPr/>
        </p:nvSpPr>
        <p:spPr>
          <a:xfrm>
            <a:off x="585216" y="3374136"/>
            <a:ext cx="285750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TEU</a:t>
            </a:r>
            <a:endParaRPr lang="en-US" sz="900" dirty="0"/>
          </a:p>
        </p:txBody>
      </p:sp>
      <p:sp>
        <p:nvSpPr>
          <p:cNvPr id="37" name="Text 35"/>
          <p:cNvSpPr/>
          <p:nvPr/>
        </p:nvSpPr>
        <p:spPr>
          <a:xfrm>
            <a:off x="3488436" y="3374136"/>
            <a:ext cx="285750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Portefeuille</a:t>
            </a:r>
            <a:endParaRPr lang="en-US" sz="900" dirty="0"/>
          </a:p>
        </p:txBody>
      </p:sp>
      <p:sp>
        <p:nvSpPr>
          <p:cNvPr id="38" name="Shape 36"/>
          <p:cNvSpPr/>
          <p:nvPr/>
        </p:nvSpPr>
        <p:spPr>
          <a:xfrm>
            <a:off x="137160" y="3593592"/>
            <a:ext cx="6217920" cy="256032"/>
          </a:xfrm>
          <a:prstGeom prst="rect">
            <a:avLst/>
          </a:prstGeom>
          <a:solidFill>
            <a:srgbClr val="FFF9EC"/>
          </a:solidFill>
          <a:ln w="3810">
            <a:solidFill>
              <a:srgbClr val="E5E7EB"/>
            </a:solidFill>
            <a:prstDash val="solid"/>
          </a:ln>
        </p:spPr>
      </p:sp>
      <p:sp>
        <p:nvSpPr>
          <p:cNvPr id="39" name="Text 37"/>
          <p:cNvSpPr/>
          <p:nvPr/>
        </p:nvSpPr>
        <p:spPr>
          <a:xfrm>
            <a:off x="173736" y="363016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SOFITEX</a:t>
            </a:r>
            <a:endParaRPr lang="en-US" sz="900" dirty="0"/>
          </a:p>
        </p:txBody>
      </p:sp>
      <p:sp>
        <p:nvSpPr>
          <p:cNvPr id="40" name="Text 38"/>
          <p:cNvSpPr/>
          <p:nvPr/>
        </p:nvSpPr>
        <p:spPr>
          <a:xfrm>
            <a:off x="585216" y="3630168"/>
            <a:ext cx="285750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1 492</a:t>
            </a:r>
            <a:endParaRPr lang="en-US" sz="900" dirty="0"/>
          </a:p>
        </p:txBody>
      </p:sp>
      <p:sp>
        <p:nvSpPr>
          <p:cNvPr id="41" name="Text 39"/>
          <p:cNvSpPr/>
          <p:nvPr/>
        </p:nvSpPr>
        <p:spPr>
          <a:xfrm>
            <a:off x="3488436" y="3630168"/>
            <a:ext cx="285750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52,5 %</a:t>
            </a:r>
            <a:endParaRPr lang="en-US" sz="900" dirty="0"/>
          </a:p>
        </p:txBody>
      </p:sp>
      <p:sp>
        <p:nvSpPr>
          <p:cNvPr id="42" name="Shape 40"/>
          <p:cNvSpPr/>
          <p:nvPr/>
        </p:nvSpPr>
        <p:spPr>
          <a:xfrm>
            <a:off x="137160" y="3849624"/>
            <a:ext cx="6217920" cy="256032"/>
          </a:xfrm>
          <a:prstGeom prst="rect">
            <a:avLst/>
          </a:prstGeom>
          <a:solidFill>
            <a:srgbClr val="F8F9FA"/>
          </a:solidFill>
          <a:ln w="3810">
            <a:solidFill>
              <a:srgbClr val="E5E7EB"/>
            </a:solidFill>
            <a:prstDash val="solid"/>
          </a:ln>
        </p:spPr>
      </p:sp>
      <p:sp>
        <p:nvSpPr>
          <p:cNvPr id="43" name="Text 41"/>
          <p:cNvSpPr/>
          <p:nvPr/>
        </p:nvSpPr>
        <p:spPr>
          <a:xfrm>
            <a:off x="173736" y="38862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CMDT Bamako</a:t>
            </a:r>
            <a:endParaRPr lang="en-US" sz="900" dirty="0"/>
          </a:p>
        </p:txBody>
      </p:sp>
      <p:sp>
        <p:nvSpPr>
          <p:cNvPr id="44" name="Text 42"/>
          <p:cNvSpPr/>
          <p:nvPr/>
        </p:nvSpPr>
        <p:spPr>
          <a:xfrm>
            <a:off x="585216" y="3886200"/>
            <a:ext cx="28575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1 010</a:t>
            </a:r>
            <a:endParaRPr lang="en-US" sz="900" dirty="0"/>
          </a:p>
        </p:txBody>
      </p:sp>
      <p:sp>
        <p:nvSpPr>
          <p:cNvPr id="45" name="Text 43"/>
          <p:cNvSpPr/>
          <p:nvPr/>
        </p:nvSpPr>
        <p:spPr>
          <a:xfrm>
            <a:off x="3488436" y="3886200"/>
            <a:ext cx="28575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35,6 %</a:t>
            </a:r>
            <a:endParaRPr lang="en-US" sz="900" dirty="0"/>
          </a:p>
        </p:txBody>
      </p:sp>
      <p:sp>
        <p:nvSpPr>
          <p:cNvPr id="46" name="Shape 44"/>
          <p:cNvSpPr/>
          <p:nvPr/>
        </p:nvSpPr>
        <p:spPr>
          <a:xfrm>
            <a:off x="137160" y="4105656"/>
            <a:ext cx="6217920" cy="256032"/>
          </a:xfrm>
          <a:prstGeom prst="rect">
            <a:avLst/>
          </a:prstGeom>
          <a:solidFill>
            <a:srgbClr val="FFFFFF"/>
          </a:solidFill>
          <a:ln w="3810">
            <a:solidFill>
              <a:srgbClr val="E5E7EB"/>
            </a:solidFill>
            <a:prstDash val="solid"/>
          </a:ln>
        </p:spPr>
      </p:sp>
      <p:sp>
        <p:nvSpPr>
          <p:cNvPr id="47" name="Text 45"/>
          <p:cNvSpPr/>
          <p:nvPr/>
        </p:nvSpPr>
        <p:spPr>
          <a:xfrm>
            <a:off x="173736" y="41422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SAGROCOM BF</a:t>
            </a:r>
            <a:endParaRPr lang="en-US" sz="900" dirty="0"/>
          </a:p>
        </p:txBody>
      </p:sp>
      <p:sp>
        <p:nvSpPr>
          <p:cNvPr id="48" name="Text 46"/>
          <p:cNvSpPr/>
          <p:nvPr/>
        </p:nvSpPr>
        <p:spPr>
          <a:xfrm>
            <a:off x="585216" y="4142232"/>
            <a:ext cx="285750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249</a:t>
            </a:r>
            <a:endParaRPr lang="en-US" sz="900" dirty="0"/>
          </a:p>
        </p:txBody>
      </p:sp>
      <p:sp>
        <p:nvSpPr>
          <p:cNvPr id="49" name="Text 47"/>
          <p:cNvSpPr/>
          <p:nvPr/>
        </p:nvSpPr>
        <p:spPr>
          <a:xfrm>
            <a:off x="3488436" y="4142232"/>
            <a:ext cx="285750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8,8 %</a:t>
            </a:r>
            <a:endParaRPr lang="en-US" sz="900" dirty="0"/>
          </a:p>
        </p:txBody>
      </p:sp>
      <p:sp>
        <p:nvSpPr>
          <p:cNvPr id="50" name="Text 48"/>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Contexte concurrentiel – PDM concurrents</a:t>
            </a:r>
            <a:endParaRPr lang="en-US" sz="1100" dirty="0"/>
          </a:p>
        </p:txBody>
      </p:sp>
      <p:sp>
        <p:nvSpPr>
          <p:cNvPr id="51" name="Text 49"/>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FM GENERAL SERVICES</a:t>
            </a:r>
            <a:endParaRPr lang="en-US" sz="850" dirty="0"/>
          </a:p>
        </p:txBody>
      </p:sp>
      <p:sp>
        <p:nvSpPr>
          <p:cNvPr id="52" name="Text 50"/>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518 TEU</a:t>
            </a:r>
            <a:endParaRPr lang="en-US" sz="850" dirty="0"/>
          </a:p>
        </p:txBody>
      </p:sp>
      <p:sp>
        <p:nvSpPr>
          <p:cNvPr id="53" name="Shape 51"/>
          <p:cNvSpPr/>
          <p:nvPr/>
        </p:nvSpPr>
        <p:spPr>
          <a:xfrm>
            <a:off x="9052560" y="1426464"/>
            <a:ext cx="2743200" cy="164592"/>
          </a:xfrm>
          <a:prstGeom prst="rect">
            <a:avLst/>
          </a:prstGeom>
          <a:solidFill>
            <a:srgbClr val="E5E7EB"/>
          </a:solidFill>
          <a:ln/>
        </p:spPr>
      </p:sp>
      <p:sp>
        <p:nvSpPr>
          <p:cNvPr id="54" name="Shape 52"/>
          <p:cNvSpPr/>
          <p:nvPr/>
        </p:nvSpPr>
        <p:spPr>
          <a:xfrm>
            <a:off x="9052560" y="1426464"/>
            <a:ext cx="329184" cy="164592"/>
          </a:xfrm>
          <a:prstGeom prst="rect">
            <a:avLst/>
          </a:prstGeom>
          <a:solidFill>
            <a:srgbClr val="E05A00"/>
          </a:solidFill>
          <a:ln/>
        </p:spPr>
      </p:sp>
      <p:sp>
        <p:nvSpPr>
          <p:cNvPr id="55" name="Text 53"/>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E05A00"/>
                </a:solidFill>
                <a:latin typeface="Calibri" pitchFamily="34" charset="0"/>
                <a:ea typeface="Calibri" pitchFamily="34" charset="-122"/>
                <a:cs typeface="Calibri" pitchFamily="34" charset="-120"/>
              </a:rPr>
              <a:t>12%</a:t>
            </a:r>
            <a:endParaRPr lang="en-US" sz="900" dirty="0"/>
          </a:p>
        </p:txBody>
      </p:sp>
      <p:sp>
        <p:nvSpPr>
          <p:cNvPr id="56" name="Text 54"/>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MOVIS TRANSIT CI</a:t>
            </a:r>
            <a:endParaRPr lang="en-US" sz="850" dirty="0"/>
          </a:p>
        </p:txBody>
      </p:sp>
      <p:sp>
        <p:nvSpPr>
          <p:cNvPr id="57" name="Text 55"/>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251 TEU</a:t>
            </a:r>
            <a:endParaRPr lang="en-US" sz="850" dirty="0"/>
          </a:p>
        </p:txBody>
      </p:sp>
      <p:sp>
        <p:nvSpPr>
          <p:cNvPr id="58" name="Shape 56"/>
          <p:cNvSpPr/>
          <p:nvPr/>
        </p:nvSpPr>
        <p:spPr>
          <a:xfrm>
            <a:off x="9052560" y="1810512"/>
            <a:ext cx="2743200" cy="164592"/>
          </a:xfrm>
          <a:prstGeom prst="rect">
            <a:avLst/>
          </a:prstGeom>
          <a:solidFill>
            <a:srgbClr val="E5E7EB"/>
          </a:solidFill>
          <a:ln/>
        </p:spPr>
      </p:sp>
      <p:sp>
        <p:nvSpPr>
          <p:cNvPr id="59" name="Shape 57"/>
          <p:cNvSpPr/>
          <p:nvPr/>
        </p:nvSpPr>
        <p:spPr>
          <a:xfrm>
            <a:off x="9052560" y="1810512"/>
            <a:ext cx="164592" cy="164592"/>
          </a:xfrm>
          <a:prstGeom prst="rect">
            <a:avLst/>
          </a:prstGeom>
          <a:solidFill>
            <a:srgbClr val="CC2200"/>
          </a:solidFill>
          <a:ln/>
        </p:spPr>
      </p:sp>
      <p:sp>
        <p:nvSpPr>
          <p:cNvPr id="60" name="Text 58"/>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6%</a:t>
            </a:r>
            <a:endParaRPr lang="en-US" sz="900" dirty="0"/>
          </a:p>
        </p:txBody>
      </p:sp>
      <p:sp>
        <p:nvSpPr>
          <p:cNvPr id="61" name="Text 59"/>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CEVA LOGISTICS CI</a:t>
            </a:r>
            <a:endParaRPr lang="en-US" sz="850" dirty="0"/>
          </a:p>
        </p:txBody>
      </p:sp>
      <p:sp>
        <p:nvSpPr>
          <p:cNvPr id="62" name="Text 60"/>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220 TEU</a:t>
            </a:r>
            <a:endParaRPr lang="en-US" sz="850" dirty="0"/>
          </a:p>
        </p:txBody>
      </p:sp>
      <p:sp>
        <p:nvSpPr>
          <p:cNvPr id="63" name="Shape 61"/>
          <p:cNvSpPr/>
          <p:nvPr/>
        </p:nvSpPr>
        <p:spPr>
          <a:xfrm>
            <a:off x="9052560" y="2194560"/>
            <a:ext cx="2743200" cy="164592"/>
          </a:xfrm>
          <a:prstGeom prst="rect">
            <a:avLst/>
          </a:prstGeom>
          <a:solidFill>
            <a:srgbClr val="E5E7EB"/>
          </a:solidFill>
          <a:ln/>
        </p:spPr>
      </p:sp>
      <p:sp>
        <p:nvSpPr>
          <p:cNvPr id="64" name="Shape 62"/>
          <p:cNvSpPr/>
          <p:nvPr/>
        </p:nvSpPr>
        <p:spPr>
          <a:xfrm>
            <a:off x="9052560" y="2194560"/>
            <a:ext cx="137160" cy="164592"/>
          </a:xfrm>
          <a:prstGeom prst="rect">
            <a:avLst/>
          </a:prstGeom>
          <a:solidFill>
            <a:srgbClr val="CC2200"/>
          </a:solidFill>
          <a:ln/>
        </p:spPr>
      </p:sp>
      <p:sp>
        <p:nvSpPr>
          <p:cNvPr id="65" name="Text 63"/>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5%</a:t>
            </a:r>
            <a:endParaRPr lang="en-US" sz="900" dirty="0"/>
          </a:p>
        </p:txBody>
      </p:sp>
      <p:sp>
        <p:nvSpPr>
          <p:cNvPr id="66" name="Shape 64"/>
          <p:cNvSpPr/>
          <p:nvPr/>
        </p:nvSpPr>
        <p:spPr>
          <a:xfrm>
            <a:off x="6492240" y="3200400"/>
            <a:ext cx="5486400" cy="777240"/>
          </a:xfrm>
          <a:prstGeom prst="rect">
            <a:avLst/>
          </a:prstGeom>
          <a:solidFill>
            <a:srgbClr val="FEF2F2"/>
          </a:solidFill>
          <a:ln w="6350">
            <a:solidFill>
              <a:srgbClr val="E5C97A"/>
            </a:solidFill>
            <a:prstDash val="solid"/>
          </a:ln>
        </p:spPr>
      </p:sp>
      <p:sp>
        <p:nvSpPr>
          <p:cNvPr id="67" name="Text 65"/>
          <p:cNvSpPr/>
          <p:nvPr/>
        </p:nvSpPr>
        <p:spPr>
          <a:xfrm>
            <a:off x="6583680" y="3273552"/>
            <a:ext cx="530352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MENACE CEVA : CEVA Logistics (CMA CGM, bureau Abidjan avril 2026) capte déjà 5,1% du marché. Risque direct sur les flux coton Bamako–Ouagadougou.</a:t>
            </a:r>
            <a:endParaRPr lang="en-US" sz="900" dirty="0"/>
          </a:p>
        </p:txBody>
      </p:sp>
      <p:sp>
        <p:nvSpPr>
          <p:cNvPr id="68" name="Shape 66"/>
          <p:cNvSpPr/>
          <p:nvPr/>
        </p:nvSpPr>
        <p:spPr>
          <a:xfrm>
            <a:off x="6492240" y="4114800"/>
            <a:ext cx="5486400" cy="777240"/>
          </a:xfrm>
          <a:prstGeom prst="rect">
            <a:avLst/>
          </a:prstGeom>
          <a:solidFill>
            <a:srgbClr val="FFFBEC"/>
          </a:solidFill>
          <a:ln w="6350">
            <a:solidFill>
              <a:srgbClr val="E5C97A"/>
            </a:solidFill>
            <a:prstDash val="solid"/>
          </a:ln>
        </p:spPr>
      </p:sp>
      <p:sp>
        <p:nvSpPr>
          <p:cNvPr id="69" name="Text 67"/>
          <p:cNvSpPr/>
          <p:nvPr/>
        </p:nvSpPr>
        <p:spPr>
          <a:xfrm>
            <a:off x="6583680" y="4187952"/>
            <a:ext cx="530352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ACTION : Sécuriser SOFITEX (52,5% du portefeuille) et CMDT par contrats pluriannuels avant la campagne coton 2026–2027. Développer la filière huile de palme (140 TEU dès Q1).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05</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AÉRIEN IMPORT</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5 603 T qualifiées  |  PDM AGL : 20,8%  |  #1 ABSOLU</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VUE D'ENSEMBLE  |  Jan–Mai 2025 vs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Marché qualifié : +1,5% vs 2025  |  AGL #1 ABSOLU – PDM 20,8%  |  Montée en puissance Jan→Mai</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p.17</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Shape 5"/>
          <p:cNvSpPr/>
          <p:nvPr/>
        </p:nvSpPr>
        <p:spPr>
          <a:xfrm>
            <a:off x="137160" y="1097280"/>
            <a:ext cx="2291486" cy="868680"/>
          </a:xfrm>
          <a:prstGeom prst="rect">
            <a:avLst/>
          </a:prstGeom>
          <a:solidFill>
            <a:srgbClr val="F0F2F5"/>
          </a:solidFill>
          <a:ln w="6350">
            <a:solidFill>
              <a:srgbClr val="D1D5DB"/>
            </a:solidFill>
            <a:prstDash val="solid"/>
          </a:ln>
        </p:spPr>
      </p:sp>
      <p:sp>
        <p:nvSpPr>
          <p:cNvPr id="8" name="Text 6"/>
          <p:cNvSpPr/>
          <p:nvPr/>
        </p:nvSpPr>
        <p:spPr>
          <a:xfrm>
            <a:off x="137160"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 2025</a:t>
            </a:r>
            <a:endParaRPr lang="en-US" sz="800" dirty="0"/>
          </a:p>
        </p:txBody>
      </p:sp>
      <p:sp>
        <p:nvSpPr>
          <p:cNvPr id="9" name="Text 7"/>
          <p:cNvSpPr/>
          <p:nvPr/>
        </p:nvSpPr>
        <p:spPr>
          <a:xfrm>
            <a:off x="137160"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5 521 T</a:t>
            </a:r>
            <a:endParaRPr lang="en-US" sz="2200" dirty="0"/>
          </a:p>
        </p:txBody>
      </p:sp>
      <p:sp>
        <p:nvSpPr>
          <p:cNvPr id="10" name="Text 8"/>
          <p:cNvSpPr/>
          <p:nvPr/>
        </p:nvSpPr>
        <p:spPr>
          <a:xfrm>
            <a:off x="137160"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Jan–Mai 2025</a:t>
            </a:r>
            <a:endParaRPr lang="en-US" sz="850" dirty="0"/>
          </a:p>
        </p:txBody>
      </p:sp>
      <p:sp>
        <p:nvSpPr>
          <p:cNvPr id="11" name="Shape 9"/>
          <p:cNvSpPr/>
          <p:nvPr/>
        </p:nvSpPr>
        <p:spPr>
          <a:xfrm>
            <a:off x="2520086" y="1097280"/>
            <a:ext cx="2291486" cy="868680"/>
          </a:xfrm>
          <a:prstGeom prst="rect">
            <a:avLst/>
          </a:prstGeom>
          <a:solidFill>
            <a:srgbClr val="F0F2F5"/>
          </a:solidFill>
          <a:ln w="6350">
            <a:solidFill>
              <a:srgbClr val="D1D5DB"/>
            </a:solidFill>
            <a:prstDash val="solid"/>
          </a:ln>
        </p:spPr>
      </p:sp>
      <p:sp>
        <p:nvSpPr>
          <p:cNvPr id="12" name="Text 10"/>
          <p:cNvSpPr/>
          <p:nvPr/>
        </p:nvSpPr>
        <p:spPr>
          <a:xfrm>
            <a:off x="252008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MARCHÉ QUALIFIÉ 2026</a:t>
            </a:r>
            <a:endParaRPr lang="en-US" sz="800" dirty="0"/>
          </a:p>
        </p:txBody>
      </p:sp>
      <p:sp>
        <p:nvSpPr>
          <p:cNvPr id="13" name="Text 11"/>
          <p:cNvSpPr/>
          <p:nvPr/>
        </p:nvSpPr>
        <p:spPr>
          <a:xfrm>
            <a:off x="2520086" y="1316736"/>
            <a:ext cx="2291486" cy="384048"/>
          </a:xfrm>
          <a:prstGeom prst="rect">
            <a:avLst/>
          </a:prstGeom>
          <a:noFill/>
          <a:ln/>
        </p:spPr>
        <p:txBody>
          <a:bodyPr wrap="square" rtlCol="0" anchor="ctr"/>
          <a:lstStyle/>
          <a:p>
            <a:pPr algn="ctr" indent="0" marL="0">
              <a:buNone/>
            </a:pPr>
            <a:r>
              <a:rPr lang="en-US" sz="2200" b="1" dirty="0">
                <a:solidFill>
                  <a:srgbClr val="0D2243"/>
                </a:solidFill>
                <a:latin typeface="Calibri" pitchFamily="34" charset="0"/>
                <a:ea typeface="Calibri" pitchFamily="34" charset="-122"/>
                <a:cs typeface="Calibri" pitchFamily="34" charset="-120"/>
              </a:rPr>
              <a:t>5 603 T</a:t>
            </a:r>
            <a:endParaRPr lang="en-US" sz="2200" dirty="0"/>
          </a:p>
        </p:txBody>
      </p:sp>
      <p:sp>
        <p:nvSpPr>
          <p:cNvPr id="14" name="Text 12"/>
          <p:cNvSpPr/>
          <p:nvPr/>
        </p:nvSpPr>
        <p:spPr>
          <a:xfrm>
            <a:off x="252008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+1,5% vs 2025</a:t>
            </a:r>
            <a:endParaRPr lang="en-US" sz="850" dirty="0"/>
          </a:p>
        </p:txBody>
      </p:sp>
      <p:sp>
        <p:nvSpPr>
          <p:cNvPr id="15" name="Shape 13"/>
          <p:cNvSpPr/>
          <p:nvPr/>
        </p:nvSpPr>
        <p:spPr>
          <a:xfrm>
            <a:off x="4903013" y="1097280"/>
            <a:ext cx="2291486" cy="868680"/>
          </a:xfrm>
          <a:prstGeom prst="rect">
            <a:avLst/>
          </a:prstGeom>
          <a:solidFill>
            <a:srgbClr val="F0F2F5"/>
          </a:solidFill>
          <a:ln w="6350">
            <a:solidFill>
              <a:srgbClr val="D1D5DB"/>
            </a:solidFill>
            <a:prstDash val="solid"/>
          </a:ln>
        </p:spPr>
      </p:sp>
      <p:sp>
        <p:nvSpPr>
          <p:cNvPr id="16" name="Text 14"/>
          <p:cNvSpPr/>
          <p:nvPr/>
        </p:nvSpPr>
        <p:spPr>
          <a:xfrm>
            <a:off x="4903013"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AGL 2026</a:t>
            </a:r>
            <a:endParaRPr lang="en-US" sz="800" dirty="0"/>
          </a:p>
        </p:txBody>
      </p:sp>
      <p:sp>
        <p:nvSpPr>
          <p:cNvPr id="17" name="Text 15"/>
          <p:cNvSpPr/>
          <p:nvPr/>
        </p:nvSpPr>
        <p:spPr>
          <a:xfrm>
            <a:off x="4903013" y="1316736"/>
            <a:ext cx="2291486" cy="384048"/>
          </a:xfrm>
          <a:prstGeom prst="rect">
            <a:avLst/>
          </a:prstGeom>
          <a:noFill/>
          <a:ln/>
        </p:spPr>
        <p:txBody>
          <a:bodyPr wrap="square" rtlCol="0" anchor="ctr"/>
          <a:lstStyle/>
          <a:p>
            <a:pPr algn="ctr" indent="0" marL="0">
              <a:buNone/>
            </a:pPr>
            <a:r>
              <a:rPr lang="en-US" sz="2200" b="1" dirty="0">
                <a:solidFill>
                  <a:srgbClr val="1A7C4F"/>
                </a:solidFill>
                <a:latin typeface="Calibri" pitchFamily="34" charset="0"/>
                <a:ea typeface="Calibri" pitchFamily="34" charset="-122"/>
                <a:cs typeface="Calibri" pitchFamily="34" charset="-120"/>
              </a:rPr>
              <a:t>1 166 T</a:t>
            </a:r>
            <a:endParaRPr lang="en-US" sz="2200" dirty="0"/>
          </a:p>
        </p:txBody>
      </p:sp>
      <p:sp>
        <p:nvSpPr>
          <p:cNvPr id="18" name="Text 16"/>
          <p:cNvSpPr/>
          <p:nvPr/>
        </p:nvSpPr>
        <p:spPr>
          <a:xfrm>
            <a:off x="4903013"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#1 ABSOLU</a:t>
            </a:r>
            <a:endParaRPr lang="en-US" sz="850" dirty="0"/>
          </a:p>
        </p:txBody>
      </p:sp>
      <p:sp>
        <p:nvSpPr>
          <p:cNvPr id="19" name="Shape 17"/>
          <p:cNvSpPr/>
          <p:nvPr/>
        </p:nvSpPr>
        <p:spPr>
          <a:xfrm>
            <a:off x="7285939" y="1097280"/>
            <a:ext cx="2291486" cy="868680"/>
          </a:xfrm>
          <a:prstGeom prst="rect">
            <a:avLst/>
          </a:prstGeom>
          <a:solidFill>
            <a:srgbClr val="F0F2F5"/>
          </a:solidFill>
          <a:ln w="6350">
            <a:solidFill>
              <a:srgbClr val="D1D5DB"/>
            </a:solidFill>
            <a:prstDash val="solid"/>
          </a:ln>
        </p:spPr>
      </p:sp>
      <p:sp>
        <p:nvSpPr>
          <p:cNvPr id="20" name="Text 18"/>
          <p:cNvSpPr/>
          <p:nvPr/>
        </p:nvSpPr>
        <p:spPr>
          <a:xfrm>
            <a:off x="7285939"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AGL 2026</a:t>
            </a:r>
            <a:endParaRPr lang="en-US" sz="800" dirty="0"/>
          </a:p>
        </p:txBody>
      </p:sp>
      <p:sp>
        <p:nvSpPr>
          <p:cNvPr id="21" name="Text 19"/>
          <p:cNvSpPr/>
          <p:nvPr/>
        </p:nvSpPr>
        <p:spPr>
          <a:xfrm>
            <a:off x="7285939" y="1316736"/>
            <a:ext cx="2291486" cy="384048"/>
          </a:xfrm>
          <a:prstGeom prst="rect">
            <a:avLst/>
          </a:prstGeom>
          <a:noFill/>
          <a:ln/>
        </p:spPr>
        <p:txBody>
          <a:bodyPr wrap="square" rtlCol="0" anchor="ctr"/>
          <a:lstStyle/>
          <a:p>
            <a:pPr algn="ctr" indent="0" marL="0">
              <a:buNone/>
            </a:pPr>
            <a:r>
              <a:rPr lang="en-US" sz="2600" b="1" dirty="0">
                <a:solidFill>
                  <a:srgbClr val="1A7C4F"/>
                </a:solidFill>
                <a:latin typeface="Calibri" pitchFamily="34" charset="0"/>
                <a:ea typeface="Calibri" pitchFamily="34" charset="-122"/>
                <a:cs typeface="Calibri" pitchFamily="34" charset="-120"/>
              </a:rPr>
              <a:t>20,8 %</a:t>
            </a:r>
            <a:endParaRPr lang="en-US" sz="2600" dirty="0"/>
          </a:p>
        </p:txBody>
      </p:sp>
      <p:sp>
        <p:nvSpPr>
          <p:cNvPr id="22" name="Text 20"/>
          <p:cNvSpPr/>
          <p:nvPr/>
        </p:nvSpPr>
        <p:spPr>
          <a:xfrm>
            <a:off x="7285939"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vs ~18% estimé 2025</a:t>
            </a:r>
            <a:endParaRPr lang="en-US" sz="850" dirty="0"/>
          </a:p>
        </p:txBody>
      </p:sp>
      <p:sp>
        <p:nvSpPr>
          <p:cNvPr id="23" name="Shape 21"/>
          <p:cNvSpPr/>
          <p:nvPr/>
        </p:nvSpPr>
        <p:spPr>
          <a:xfrm>
            <a:off x="9668866" y="1097280"/>
            <a:ext cx="2291486" cy="868680"/>
          </a:xfrm>
          <a:prstGeom prst="rect">
            <a:avLst/>
          </a:prstGeom>
          <a:solidFill>
            <a:srgbClr val="F0F2F5"/>
          </a:solidFill>
          <a:ln w="6350">
            <a:solidFill>
              <a:srgbClr val="D1D5DB"/>
            </a:solidFill>
            <a:prstDash val="solid"/>
          </a:ln>
        </p:spPr>
      </p:sp>
      <p:sp>
        <p:nvSpPr>
          <p:cNvPr id="24" name="Text 22"/>
          <p:cNvSpPr/>
          <p:nvPr/>
        </p:nvSpPr>
        <p:spPr>
          <a:xfrm>
            <a:off x="9668866" y="1143000"/>
            <a:ext cx="2291486" cy="201168"/>
          </a:xfrm>
          <a:prstGeom prst="rect">
            <a:avLst/>
          </a:prstGeom>
          <a:noFill/>
          <a:ln/>
        </p:spPr>
        <p:txBody>
          <a:bodyPr wrap="square" rtlCol="0" anchor="ctr"/>
          <a:lstStyle/>
          <a:p>
            <a:pPr algn="ctr" indent="0" marL="0">
              <a:buNone/>
            </a:pPr>
            <a:r>
              <a:rPr lang="en-US" sz="800" dirty="0">
                <a:solidFill>
                  <a:srgbClr val="6B7280"/>
                </a:solidFill>
                <a:latin typeface="Calibri" pitchFamily="34" charset="0"/>
                <a:ea typeface="Calibri" pitchFamily="34" charset="-122"/>
                <a:cs typeface="Calibri" pitchFamily="34" charset="-120"/>
              </a:rPr>
              <a:t>PDM MAI 2026</a:t>
            </a:r>
            <a:endParaRPr lang="en-US" sz="800" dirty="0"/>
          </a:p>
        </p:txBody>
      </p:sp>
      <p:sp>
        <p:nvSpPr>
          <p:cNvPr id="25" name="Text 23"/>
          <p:cNvSpPr/>
          <p:nvPr/>
        </p:nvSpPr>
        <p:spPr>
          <a:xfrm>
            <a:off x="9668866" y="1316736"/>
            <a:ext cx="2291486" cy="384048"/>
          </a:xfrm>
          <a:prstGeom prst="rect">
            <a:avLst/>
          </a:prstGeom>
          <a:noFill/>
          <a:ln/>
        </p:spPr>
        <p:txBody>
          <a:bodyPr wrap="square" rtlCol="0" anchor="ctr"/>
          <a:lstStyle/>
          <a:p>
            <a:pPr algn="ctr" indent="0" marL="0">
              <a:buNone/>
            </a:pPr>
            <a:r>
              <a:rPr lang="en-US" sz="2200" b="1" dirty="0">
                <a:solidFill>
                  <a:srgbClr val="2563A8"/>
                </a:solidFill>
                <a:latin typeface="Calibri" pitchFamily="34" charset="0"/>
                <a:ea typeface="Calibri" pitchFamily="34" charset="-122"/>
                <a:cs typeface="Calibri" pitchFamily="34" charset="-120"/>
              </a:rPr>
              <a:t>31,2 %</a:t>
            </a:r>
            <a:endParaRPr lang="en-US" sz="2200" dirty="0"/>
          </a:p>
        </p:txBody>
      </p:sp>
      <p:sp>
        <p:nvSpPr>
          <p:cNvPr id="26" name="Text 24"/>
          <p:cNvSpPr/>
          <p:nvPr/>
        </p:nvSpPr>
        <p:spPr>
          <a:xfrm>
            <a:off x="9668866" y="1719072"/>
            <a:ext cx="2291486" cy="201168"/>
          </a:xfrm>
          <a:prstGeom prst="rect">
            <a:avLst/>
          </a:prstGeom>
          <a:noFill/>
          <a:ln/>
        </p:spPr>
        <p:txBody>
          <a:bodyPr wrap="square" rtlCol="0" anchor="ctr"/>
          <a:lstStyle/>
          <a:p>
            <a:pPr algn="ctr" indent="0" marL="0">
              <a:buNone/>
            </a:pPr>
            <a:r>
              <a:rPr lang="en-US" sz="850" dirty="0">
                <a:solidFill>
                  <a:srgbClr val="6B7280"/>
                </a:solidFill>
                <a:latin typeface="Calibri" pitchFamily="34" charset="0"/>
                <a:ea typeface="Calibri" pitchFamily="34" charset="-122"/>
                <a:cs typeface="Calibri" pitchFamily="34" charset="-120"/>
              </a:rPr>
              <a:t>Record de la période</a:t>
            </a:r>
            <a:endParaRPr lang="en-US" sz="850" dirty="0"/>
          </a:p>
        </p:txBody>
      </p:sp>
      <p:sp>
        <p:nvSpPr>
          <p:cNvPr id="27" name="Text 25"/>
          <p:cNvSpPr/>
          <p:nvPr/>
        </p:nvSpPr>
        <p:spPr>
          <a:xfrm>
            <a:off x="228600" y="2084832"/>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Marché aérien import qualifié (kg) – 2025 vs 2026</a:t>
            </a:r>
            <a:endParaRPr lang="en-US" sz="1100" dirty="0"/>
          </a:p>
        </p:txBody>
      </p:sp>
      <p:graphicFrame>
        <p:nvGraphicFramePr>
          <p:cNvPr id="28" name="Chart 0" descr=""/>
          <p:cNvGraphicFramePr/>
          <p:nvPr/>
        </p:nvGraphicFramePr>
        <p:xfrm>
          <a:off x="137160" y="2331720"/>
          <a:ext cx="6217920" cy="393192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6492240" y="2084832"/>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aérien – Progression Jan→Mai 2026 (%)</a:t>
            </a:r>
            <a:endParaRPr lang="en-US" sz="1100" dirty="0"/>
          </a:p>
        </p:txBody>
      </p:sp>
      <p:sp>
        <p:nvSpPr>
          <p:cNvPr id="30" name="Shape 27"/>
          <p:cNvSpPr/>
          <p:nvPr/>
        </p:nvSpPr>
        <p:spPr>
          <a:xfrm>
            <a:off x="6492240" y="2395728"/>
            <a:ext cx="5486400" cy="475488"/>
          </a:xfrm>
          <a:prstGeom prst="rect">
            <a:avLst/>
          </a:prstGeom>
          <a:solidFill>
            <a:srgbClr val="F8FAFC"/>
          </a:solidFill>
          <a:ln w="3810">
            <a:solidFill>
              <a:srgbClr val="E5E7EB"/>
            </a:solidFill>
            <a:prstDash val="solid"/>
          </a:ln>
        </p:spPr>
      </p:sp>
      <p:sp>
        <p:nvSpPr>
          <p:cNvPr id="31" name="Text 28"/>
          <p:cNvSpPr/>
          <p:nvPr/>
        </p:nvSpPr>
        <p:spPr>
          <a:xfrm>
            <a:off x="6601968" y="2523744"/>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Janvier</a:t>
            </a:r>
            <a:endParaRPr lang="en-US" sz="1100" dirty="0"/>
          </a:p>
        </p:txBody>
      </p:sp>
      <p:sp>
        <p:nvSpPr>
          <p:cNvPr id="32" name="Shape 29"/>
          <p:cNvSpPr/>
          <p:nvPr/>
        </p:nvSpPr>
        <p:spPr>
          <a:xfrm>
            <a:off x="7315200" y="2523744"/>
            <a:ext cx="2560320" cy="201168"/>
          </a:xfrm>
          <a:prstGeom prst="rect">
            <a:avLst/>
          </a:prstGeom>
          <a:solidFill>
            <a:srgbClr val="D1D5DB"/>
          </a:solidFill>
          <a:ln/>
        </p:spPr>
      </p:sp>
      <p:sp>
        <p:nvSpPr>
          <p:cNvPr id="33" name="Shape 30"/>
          <p:cNvSpPr/>
          <p:nvPr/>
        </p:nvSpPr>
        <p:spPr>
          <a:xfrm>
            <a:off x="7315200" y="2523744"/>
            <a:ext cx="894471" cy="201168"/>
          </a:xfrm>
          <a:prstGeom prst="rect">
            <a:avLst/>
          </a:prstGeom>
          <a:solidFill>
            <a:srgbClr val="E05A00"/>
          </a:solidFill>
          <a:ln/>
        </p:spPr>
      </p:sp>
      <p:sp>
        <p:nvSpPr>
          <p:cNvPr id="34" name="Text 31"/>
          <p:cNvSpPr/>
          <p:nvPr/>
        </p:nvSpPr>
        <p:spPr>
          <a:xfrm>
            <a:off x="9930384" y="2487168"/>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10.9%</a:t>
            </a:r>
            <a:endParaRPr lang="en-US" sz="1200" dirty="0"/>
          </a:p>
        </p:txBody>
      </p:sp>
      <p:sp>
        <p:nvSpPr>
          <p:cNvPr id="35" name="Shape 32"/>
          <p:cNvSpPr/>
          <p:nvPr/>
        </p:nvSpPr>
        <p:spPr>
          <a:xfrm>
            <a:off x="6492240" y="2926080"/>
            <a:ext cx="5486400" cy="475488"/>
          </a:xfrm>
          <a:prstGeom prst="rect">
            <a:avLst/>
          </a:prstGeom>
          <a:solidFill>
            <a:srgbClr val="F8FAFC"/>
          </a:solidFill>
          <a:ln w="3810">
            <a:solidFill>
              <a:srgbClr val="E5E7EB"/>
            </a:solidFill>
            <a:prstDash val="solid"/>
          </a:ln>
        </p:spPr>
      </p:sp>
      <p:sp>
        <p:nvSpPr>
          <p:cNvPr id="36" name="Text 33"/>
          <p:cNvSpPr/>
          <p:nvPr/>
        </p:nvSpPr>
        <p:spPr>
          <a:xfrm>
            <a:off x="6601968" y="3054096"/>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Février</a:t>
            </a:r>
            <a:endParaRPr lang="en-US" sz="1100" dirty="0"/>
          </a:p>
        </p:txBody>
      </p:sp>
      <p:sp>
        <p:nvSpPr>
          <p:cNvPr id="37" name="Shape 34"/>
          <p:cNvSpPr/>
          <p:nvPr/>
        </p:nvSpPr>
        <p:spPr>
          <a:xfrm>
            <a:off x="7315200" y="3054096"/>
            <a:ext cx="2560320" cy="201168"/>
          </a:xfrm>
          <a:prstGeom prst="rect">
            <a:avLst/>
          </a:prstGeom>
          <a:solidFill>
            <a:srgbClr val="D1D5DB"/>
          </a:solidFill>
          <a:ln/>
        </p:spPr>
      </p:sp>
      <p:sp>
        <p:nvSpPr>
          <p:cNvPr id="38" name="Shape 35"/>
          <p:cNvSpPr/>
          <p:nvPr/>
        </p:nvSpPr>
        <p:spPr>
          <a:xfrm>
            <a:off x="7315200" y="3054096"/>
            <a:ext cx="1247335" cy="201168"/>
          </a:xfrm>
          <a:prstGeom prst="rect">
            <a:avLst/>
          </a:prstGeom>
          <a:solidFill>
            <a:srgbClr val="E05A00"/>
          </a:solidFill>
          <a:ln/>
        </p:spPr>
      </p:sp>
      <p:sp>
        <p:nvSpPr>
          <p:cNvPr id="39" name="Text 36"/>
          <p:cNvSpPr/>
          <p:nvPr/>
        </p:nvSpPr>
        <p:spPr>
          <a:xfrm>
            <a:off x="9930384" y="3017520"/>
            <a:ext cx="502920" cy="274320"/>
          </a:xfrm>
          <a:prstGeom prst="rect">
            <a:avLst/>
          </a:prstGeom>
          <a:noFill/>
          <a:ln/>
        </p:spPr>
        <p:txBody>
          <a:bodyPr wrap="square" rtlCol="0" anchor="ctr"/>
          <a:lstStyle/>
          <a:p>
            <a:pPr algn="r" indent="0" marL="0">
              <a:buNone/>
            </a:pPr>
            <a:r>
              <a:rPr lang="en-US" sz="1200" b="1" dirty="0">
                <a:solidFill>
                  <a:srgbClr val="E05A00"/>
                </a:solidFill>
                <a:latin typeface="Calibri" pitchFamily="34" charset="0"/>
                <a:ea typeface="Calibri" pitchFamily="34" charset="-122"/>
                <a:cs typeface="Calibri" pitchFamily="34" charset="-120"/>
              </a:rPr>
              <a:t>15.2%</a:t>
            </a:r>
            <a:endParaRPr lang="en-US" sz="1200" dirty="0"/>
          </a:p>
        </p:txBody>
      </p:sp>
      <p:sp>
        <p:nvSpPr>
          <p:cNvPr id="40" name="Shape 37"/>
          <p:cNvSpPr/>
          <p:nvPr/>
        </p:nvSpPr>
        <p:spPr>
          <a:xfrm>
            <a:off x="6492240" y="3456432"/>
            <a:ext cx="5486400" cy="475488"/>
          </a:xfrm>
          <a:prstGeom prst="rect">
            <a:avLst/>
          </a:prstGeom>
          <a:solidFill>
            <a:srgbClr val="F8FAFC"/>
          </a:solidFill>
          <a:ln w="3810">
            <a:solidFill>
              <a:srgbClr val="E5E7EB"/>
            </a:solidFill>
            <a:prstDash val="solid"/>
          </a:ln>
        </p:spPr>
      </p:sp>
      <p:sp>
        <p:nvSpPr>
          <p:cNvPr id="41" name="Text 38"/>
          <p:cNvSpPr/>
          <p:nvPr/>
        </p:nvSpPr>
        <p:spPr>
          <a:xfrm>
            <a:off x="6601968" y="3584448"/>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Mars</a:t>
            </a:r>
            <a:endParaRPr lang="en-US" sz="1100" dirty="0"/>
          </a:p>
        </p:txBody>
      </p:sp>
      <p:sp>
        <p:nvSpPr>
          <p:cNvPr id="42" name="Shape 39"/>
          <p:cNvSpPr/>
          <p:nvPr/>
        </p:nvSpPr>
        <p:spPr>
          <a:xfrm>
            <a:off x="7315200" y="3584448"/>
            <a:ext cx="2560320" cy="201168"/>
          </a:xfrm>
          <a:prstGeom prst="rect">
            <a:avLst/>
          </a:prstGeom>
          <a:solidFill>
            <a:srgbClr val="D1D5DB"/>
          </a:solidFill>
          <a:ln/>
        </p:spPr>
      </p:sp>
      <p:sp>
        <p:nvSpPr>
          <p:cNvPr id="43" name="Shape 40"/>
          <p:cNvSpPr/>
          <p:nvPr/>
        </p:nvSpPr>
        <p:spPr>
          <a:xfrm>
            <a:off x="7315200" y="3584448"/>
            <a:ext cx="1838178" cy="201168"/>
          </a:xfrm>
          <a:prstGeom prst="rect">
            <a:avLst/>
          </a:prstGeom>
          <a:solidFill>
            <a:srgbClr val="1A7C4F"/>
          </a:solidFill>
          <a:ln/>
        </p:spPr>
      </p:sp>
      <p:sp>
        <p:nvSpPr>
          <p:cNvPr id="44" name="Text 41"/>
          <p:cNvSpPr/>
          <p:nvPr/>
        </p:nvSpPr>
        <p:spPr>
          <a:xfrm>
            <a:off x="9930384" y="3547872"/>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22.4%</a:t>
            </a:r>
            <a:endParaRPr lang="en-US" sz="1200" dirty="0"/>
          </a:p>
        </p:txBody>
      </p:sp>
      <p:sp>
        <p:nvSpPr>
          <p:cNvPr id="45" name="Shape 42"/>
          <p:cNvSpPr/>
          <p:nvPr/>
        </p:nvSpPr>
        <p:spPr>
          <a:xfrm>
            <a:off x="6492240" y="3986784"/>
            <a:ext cx="5486400" cy="475488"/>
          </a:xfrm>
          <a:prstGeom prst="rect">
            <a:avLst/>
          </a:prstGeom>
          <a:solidFill>
            <a:srgbClr val="F8FAFC"/>
          </a:solidFill>
          <a:ln w="3810">
            <a:solidFill>
              <a:srgbClr val="E5E7EB"/>
            </a:solidFill>
            <a:prstDash val="solid"/>
          </a:ln>
        </p:spPr>
      </p:sp>
      <p:sp>
        <p:nvSpPr>
          <p:cNvPr id="46" name="Text 43"/>
          <p:cNvSpPr/>
          <p:nvPr/>
        </p:nvSpPr>
        <p:spPr>
          <a:xfrm>
            <a:off x="6601968" y="4114800"/>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Avril</a:t>
            </a:r>
            <a:endParaRPr lang="en-US" sz="1100" dirty="0"/>
          </a:p>
        </p:txBody>
      </p:sp>
      <p:sp>
        <p:nvSpPr>
          <p:cNvPr id="47" name="Shape 44"/>
          <p:cNvSpPr/>
          <p:nvPr/>
        </p:nvSpPr>
        <p:spPr>
          <a:xfrm>
            <a:off x="7315200" y="4114800"/>
            <a:ext cx="2560320" cy="201168"/>
          </a:xfrm>
          <a:prstGeom prst="rect">
            <a:avLst/>
          </a:prstGeom>
          <a:solidFill>
            <a:srgbClr val="D1D5DB"/>
          </a:solidFill>
          <a:ln/>
        </p:spPr>
      </p:sp>
      <p:sp>
        <p:nvSpPr>
          <p:cNvPr id="48" name="Shape 45"/>
          <p:cNvSpPr/>
          <p:nvPr/>
        </p:nvSpPr>
        <p:spPr>
          <a:xfrm>
            <a:off x="7315200" y="4114800"/>
            <a:ext cx="2305929" cy="201168"/>
          </a:xfrm>
          <a:prstGeom prst="rect">
            <a:avLst/>
          </a:prstGeom>
          <a:solidFill>
            <a:srgbClr val="1A7C4F"/>
          </a:solidFill>
          <a:ln/>
        </p:spPr>
      </p:sp>
      <p:sp>
        <p:nvSpPr>
          <p:cNvPr id="49" name="Text 46"/>
          <p:cNvSpPr/>
          <p:nvPr/>
        </p:nvSpPr>
        <p:spPr>
          <a:xfrm>
            <a:off x="9930384" y="4078224"/>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28.1%</a:t>
            </a:r>
            <a:endParaRPr lang="en-US" sz="1200" dirty="0"/>
          </a:p>
        </p:txBody>
      </p:sp>
      <p:sp>
        <p:nvSpPr>
          <p:cNvPr id="50" name="Shape 47"/>
          <p:cNvSpPr/>
          <p:nvPr/>
        </p:nvSpPr>
        <p:spPr>
          <a:xfrm>
            <a:off x="6492240" y="4517136"/>
            <a:ext cx="5486400" cy="475488"/>
          </a:xfrm>
          <a:prstGeom prst="rect">
            <a:avLst/>
          </a:prstGeom>
          <a:solidFill>
            <a:srgbClr val="F8FAFC"/>
          </a:solidFill>
          <a:ln w="3810">
            <a:solidFill>
              <a:srgbClr val="E5E7EB"/>
            </a:solidFill>
            <a:prstDash val="solid"/>
          </a:ln>
        </p:spPr>
      </p:sp>
      <p:sp>
        <p:nvSpPr>
          <p:cNvPr id="51" name="Text 48"/>
          <p:cNvSpPr/>
          <p:nvPr/>
        </p:nvSpPr>
        <p:spPr>
          <a:xfrm>
            <a:off x="6601968" y="4645152"/>
            <a:ext cx="640080" cy="274320"/>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Mai</a:t>
            </a:r>
            <a:endParaRPr lang="en-US" sz="1100" dirty="0"/>
          </a:p>
        </p:txBody>
      </p:sp>
      <p:sp>
        <p:nvSpPr>
          <p:cNvPr id="52" name="Shape 49"/>
          <p:cNvSpPr/>
          <p:nvPr/>
        </p:nvSpPr>
        <p:spPr>
          <a:xfrm>
            <a:off x="7315200" y="4645152"/>
            <a:ext cx="2560320" cy="201168"/>
          </a:xfrm>
          <a:prstGeom prst="rect">
            <a:avLst/>
          </a:prstGeom>
          <a:solidFill>
            <a:srgbClr val="D1D5DB"/>
          </a:solidFill>
          <a:ln/>
        </p:spPr>
      </p:sp>
      <p:sp>
        <p:nvSpPr>
          <p:cNvPr id="53" name="Shape 50"/>
          <p:cNvSpPr/>
          <p:nvPr/>
        </p:nvSpPr>
        <p:spPr>
          <a:xfrm>
            <a:off x="7315200" y="4645152"/>
            <a:ext cx="2560320" cy="201168"/>
          </a:xfrm>
          <a:prstGeom prst="rect">
            <a:avLst/>
          </a:prstGeom>
          <a:solidFill>
            <a:srgbClr val="1A7C4F"/>
          </a:solidFill>
          <a:ln/>
        </p:spPr>
      </p:sp>
      <p:sp>
        <p:nvSpPr>
          <p:cNvPr id="54" name="Text 51"/>
          <p:cNvSpPr/>
          <p:nvPr/>
        </p:nvSpPr>
        <p:spPr>
          <a:xfrm>
            <a:off x="9930384" y="4608576"/>
            <a:ext cx="502920" cy="274320"/>
          </a:xfrm>
          <a:prstGeom prst="rect">
            <a:avLst/>
          </a:prstGeom>
          <a:noFill/>
          <a:ln/>
        </p:spPr>
        <p:txBody>
          <a:bodyPr wrap="square" rtlCol="0" anchor="ctr"/>
          <a:lstStyle/>
          <a:p>
            <a:pPr algn="r" indent="0" marL="0">
              <a:buNone/>
            </a:pPr>
            <a:r>
              <a:rPr lang="en-US" sz="1200" b="1" dirty="0">
                <a:solidFill>
                  <a:srgbClr val="1A7C4F"/>
                </a:solidFill>
                <a:latin typeface="Calibri" pitchFamily="34" charset="0"/>
                <a:ea typeface="Calibri" pitchFamily="34" charset="-122"/>
                <a:cs typeface="Calibri" pitchFamily="34" charset="-120"/>
              </a:rPr>
              <a:t>31.2%</a:t>
            </a:r>
            <a:endParaRPr lang="en-US" sz="1200" dirty="0"/>
          </a:p>
        </p:txBody>
      </p:sp>
      <p:sp>
        <p:nvSpPr>
          <p:cNvPr id="55" name="Shape 52"/>
          <p:cNvSpPr/>
          <p:nvPr/>
        </p:nvSpPr>
        <p:spPr>
          <a:xfrm>
            <a:off x="6492240" y="5212080"/>
            <a:ext cx="5486400" cy="685800"/>
          </a:xfrm>
          <a:prstGeom prst="rect">
            <a:avLst/>
          </a:prstGeom>
          <a:solidFill>
            <a:srgbClr val="F0FDF4"/>
          </a:solidFill>
          <a:ln w="6350">
            <a:solidFill>
              <a:srgbClr val="E5C97A"/>
            </a:solidFill>
            <a:prstDash val="solid"/>
          </a:ln>
        </p:spPr>
      </p:sp>
      <p:sp>
        <p:nvSpPr>
          <p:cNvPr id="56" name="Text 53"/>
          <p:cNvSpPr/>
          <p:nvPr/>
        </p:nvSpPr>
        <p:spPr>
          <a:xfrm>
            <a:off x="6583680" y="5285232"/>
            <a:ext cx="5303520" cy="5760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AGL #1 ABSOLU aérien import (qualifié) : 20,8% de PDM sur 5 603 tonnes. Progression remarquable : 10,9% en Janvier → 31,2% en Mai, soit +20,3 pts en 5 mois.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SEGMENTS &amp; CONCURRENTS  |  2025 vs 2026</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Évolution marchandises  |  Classement transitaires qualifiés  |  PDM AGL par filière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p.18</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marchandises – évolution 2025 vs 2026 (kg)</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Marchandise</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2025</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2026</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Var.%</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OEUFS</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1 483 700</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1 883 317</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+26,9%</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MATÉRIELS MINIERS</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149 783</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515 776</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+244,3%</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MACHINES</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255 984</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486 785</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+90,2%</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MÉDICAMENTS</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280 991</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337 882</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+20,2%</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BILLETS DE BANQUE</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268 210</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330 706</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+23,3%</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TÉLÉCOMS</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113 602</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182 071</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+60,3%</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MATÉRIELS ÉLECTRIQUE</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64 622</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158 887</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+145,9%</a:t>
            </a:r>
            <a:endParaRPr lang="en-US" sz="90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PIÈCES DÉTACHÉES</a:t>
            </a:r>
            <a:endParaRPr lang="en-US" sz="900" dirty="0"/>
          </a:p>
        </p:txBody>
      </p:sp>
      <p:sp>
        <p:nvSpPr>
          <p:cNvPr id="50" name="Text 48"/>
          <p:cNvSpPr/>
          <p:nvPr/>
        </p:nvSpPr>
        <p:spPr>
          <a:xfrm>
            <a:off x="585216" y="345643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1 181 203</a:t>
            </a:r>
            <a:endParaRPr lang="en-US" sz="900" dirty="0"/>
          </a:p>
        </p:txBody>
      </p:sp>
      <p:sp>
        <p:nvSpPr>
          <p:cNvPr id="51" name="Text 49"/>
          <p:cNvSpPr/>
          <p:nvPr/>
        </p:nvSpPr>
        <p:spPr>
          <a:xfrm>
            <a:off x="252069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942 926</a:t>
            </a:r>
            <a:endParaRPr lang="en-US" sz="900" dirty="0"/>
          </a:p>
        </p:txBody>
      </p:sp>
      <p:sp>
        <p:nvSpPr>
          <p:cNvPr id="52" name="Text 50"/>
          <p:cNvSpPr/>
          <p:nvPr/>
        </p:nvSpPr>
        <p:spPr>
          <a:xfrm>
            <a:off x="445617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–20,2%</a:t>
            </a:r>
            <a:endParaRPr lang="en-US" sz="90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PRODUITS CHIMIQUES</a:t>
            </a:r>
            <a:endParaRPr lang="en-US" sz="900" dirty="0"/>
          </a:p>
        </p:txBody>
      </p:sp>
      <p:sp>
        <p:nvSpPr>
          <p:cNvPr id="55" name="Text 53"/>
          <p:cNvSpPr/>
          <p:nvPr/>
        </p:nvSpPr>
        <p:spPr>
          <a:xfrm>
            <a:off x="585216" y="371246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207 323</a:t>
            </a:r>
            <a:endParaRPr lang="en-US" sz="900" dirty="0"/>
          </a:p>
        </p:txBody>
      </p:sp>
      <p:sp>
        <p:nvSpPr>
          <p:cNvPr id="56" name="Text 54"/>
          <p:cNvSpPr/>
          <p:nvPr/>
        </p:nvSpPr>
        <p:spPr>
          <a:xfrm>
            <a:off x="252069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189 901</a:t>
            </a:r>
            <a:endParaRPr lang="en-US" sz="900" dirty="0"/>
          </a:p>
        </p:txBody>
      </p:sp>
      <p:sp>
        <p:nvSpPr>
          <p:cNvPr id="57" name="Text 55"/>
          <p:cNvSpPr/>
          <p:nvPr/>
        </p:nvSpPr>
        <p:spPr>
          <a:xfrm>
            <a:off x="445617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–8,4%</a:t>
            </a:r>
            <a:endParaRPr lang="en-US" sz="90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FRUITS &amp; LÉGUMES</a:t>
            </a:r>
            <a:endParaRPr lang="en-US" sz="900" dirty="0"/>
          </a:p>
        </p:txBody>
      </p:sp>
      <p:sp>
        <p:nvSpPr>
          <p:cNvPr id="60" name="Text 58"/>
          <p:cNvSpPr/>
          <p:nvPr/>
        </p:nvSpPr>
        <p:spPr>
          <a:xfrm>
            <a:off x="585216" y="396849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154 253</a:t>
            </a:r>
            <a:endParaRPr lang="en-US" sz="900" dirty="0"/>
          </a:p>
        </p:txBody>
      </p:sp>
      <p:sp>
        <p:nvSpPr>
          <p:cNvPr id="61" name="Text 59"/>
          <p:cNvSpPr/>
          <p:nvPr/>
        </p:nvSpPr>
        <p:spPr>
          <a:xfrm>
            <a:off x="252069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115 798</a:t>
            </a:r>
            <a:endParaRPr lang="en-US" sz="900" dirty="0"/>
          </a:p>
        </p:txBody>
      </p:sp>
      <p:sp>
        <p:nvSpPr>
          <p:cNvPr id="62" name="Text 60"/>
          <p:cNvSpPr/>
          <p:nvPr/>
        </p:nvSpPr>
        <p:spPr>
          <a:xfrm>
            <a:off x="445617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–24,9%</a:t>
            </a:r>
            <a:endParaRPr lang="en-US" sz="90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Classement transitaires – Aérien Import 2026 (qualifié)</a:t>
            </a:r>
            <a:endParaRPr lang="en-US" sz="1100" dirty="0"/>
          </a:p>
        </p:txBody>
      </p:sp>
      <p:sp>
        <p:nvSpPr>
          <p:cNvPr id="64" name="Shape 62"/>
          <p:cNvSpPr/>
          <p:nvPr/>
        </p:nvSpPr>
        <p:spPr>
          <a:xfrm>
            <a:off x="6400800" y="1371600"/>
            <a:ext cx="5669280" cy="256032"/>
          </a:xfrm>
          <a:prstGeom prst="rect">
            <a:avLst/>
          </a:prstGeom>
          <a:solidFill>
            <a:srgbClr val="0D2243"/>
          </a:solidFill>
          <a:ln/>
        </p:spPr>
      </p:sp>
      <p:sp>
        <p:nvSpPr>
          <p:cNvPr id="65" name="Text 63"/>
          <p:cNvSpPr/>
          <p:nvPr/>
        </p:nvSpPr>
        <p:spPr>
          <a:xfrm>
            <a:off x="643737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66" name="Text 64"/>
          <p:cNvSpPr/>
          <p:nvPr/>
        </p:nvSpPr>
        <p:spPr>
          <a:xfrm>
            <a:off x="6848856" y="1408176"/>
            <a:ext cx="170688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67" name="Text 65"/>
          <p:cNvSpPr/>
          <p:nvPr/>
        </p:nvSpPr>
        <p:spPr>
          <a:xfrm>
            <a:off x="8601456" y="1408176"/>
            <a:ext cx="170688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Poids kg</a:t>
            </a:r>
            <a:endParaRPr lang="en-US" sz="900" dirty="0"/>
          </a:p>
        </p:txBody>
      </p:sp>
      <p:sp>
        <p:nvSpPr>
          <p:cNvPr id="68" name="Text 66"/>
          <p:cNvSpPr/>
          <p:nvPr/>
        </p:nvSpPr>
        <p:spPr>
          <a:xfrm>
            <a:off x="10354056" y="1408176"/>
            <a:ext cx="170688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69" name="Shape 67"/>
          <p:cNvSpPr/>
          <p:nvPr/>
        </p:nvSpPr>
        <p:spPr>
          <a:xfrm>
            <a:off x="6400800" y="1627632"/>
            <a:ext cx="5669280" cy="256032"/>
          </a:xfrm>
          <a:prstGeom prst="rect">
            <a:avLst/>
          </a:prstGeom>
          <a:solidFill>
            <a:srgbClr val="FFF9EC"/>
          </a:solidFill>
          <a:ln w="3810">
            <a:solidFill>
              <a:srgbClr val="E5E7EB"/>
            </a:solidFill>
            <a:prstDash val="solid"/>
          </a:ln>
        </p:spPr>
      </p:sp>
      <p:sp>
        <p:nvSpPr>
          <p:cNvPr id="70" name="Text 68"/>
          <p:cNvSpPr/>
          <p:nvPr/>
        </p:nvSpPr>
        <p:spPr>
          <a:xfrm>
            <a:off x="643737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a:t>
            </a:r>
            <a:endParaRPr lang="en-US" sz="900" dirty="0"/>
          </a:p>
        </p:txBody>
      </p:sp>
      <p:sp>
        <p:nvSpPr>
          <p:cNvPr id="71" name="Text 69"/>
          <p:cNvSpPr/>
          <p:nvPr/>
        </p:nvSpPr>
        <p:spPr>
          <a:xfrm>
            <a:off x="6848856" y="1664208"/>
            <a:ext cx="170688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AFRICA GLOBAL LOGISTICS</a:t>
            </a:r>
            <a:endParaRPr lang="en-US" sz="900" dirty="0"/>
          </a:p>
        </p:txBody>
      </p:sp>
      <p:sp>
        <p:nvSpPr>
          <p:cNvPr id="72" name="Text 70"/>
          <p:cNvSpPr/>
          <p:nvPr/>
        </p:nvSpPr>
        <p:spPr>
          <a:xfrm>
            <a:off x="8601456" y="1664208"/>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1 165 994</a:t>
            </a:r>
            <a:endParaRPr lang="en-US" sz="900" dirty="0"/>
          </a:p>
        </p:txBody>
      </p:sp>
      <p:sp>
        <p:nvSpPr>
          <p:cNvPr id="73" name="Text 71"/>
          <p:cNvSpPr/>
          <p:nvPr/>
        </p:nvSpPr>
        <p:spPr>
          <a:xfrm>
            <a:off x="10354056" y="1664208"/>
            <a:ext cx="170688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20,8 %</a:t>
            </a:r>
            <a:endParaRPr lang="en-US" sz="900" dirty="0"/>
          </a:p>
        </p:txBody>
      </p:sp>
      <p:sp>
        <p:nvSpPr>
          <p:cNvPr id="74" name="Shape 72"/>
          <p:cNvSpPr/>
          <p:nvPr/>
        </p:nvSpPr>
        <p:spPr>
          <a:xfrm>
            <a:off x="6400800" y="1883664"/>
            <a:ext cx="5669280" cy="256032"/>
          </a:xfrm>
          <a:prstGeom prst="rect">
            <a:avLst/>
          </a:prstGeom>
          <a:solidFill>
            <a:srgbClr val="F8F9FA"/>
          </a:solidFill>
          <a:ln w="3810">
            <a:solidFill>
              <a:srgbClr val="E5E7EB"/>
            </a:solidFill>
            <a:prstDash val="solid"/>
          </a:ln>
        </p:spPr>
      </p:sp>
      <p:sp>
        <p:nvSpPr>
          <p:cNvPr id="75" name="Text 73"/>
          <p:cNvSpPr/>
          <p:nvPr/>
        </p:nvSpPr>
        <p:spPr>
          <a:xfrm>
            <a:off x="643737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76" name="Text 74"/>
          <p:cNvSpPr/>
          <p:nvPr/>
        </p:nvSpPr>
        <p:spPr>
          <a:xfrm>
            <a:off x="6848856" y="1920240"/>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OSMOZ AFRICA</a:t>
            </a:r>
            <a:endParaRPr lang="en-US" sz="900" dirty="0"/>
          </a:p>
        </p:txBody>
      </p:sp>
      <p:sp>
        <p:nvSpPr>
          <p:cNvPr id="77" name="Text 75"/>
          <p:cNvSpPr/>
          <p:nvPr/>
        </p:nvSpPr>
        <p:spPr>
          <a:xfrm>
            <a:off x="8601456" y="192024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525 506</a:t>
            </a:r>
            <a:endParaRPr lang="en-US" sz="900" dirty="0"/>
          </a:p>
        </p:txBody>
      </p:sp>
      <p:sp>
        <p:nvSpPr>
          <p:cNvPr id="78" name="Text 76"/>
          <p:cNvSpPr/>
          <p:nvPr/>
        </p:nvSpPr>
        <p:spPr>
          <a:xfrm>
            <a:off x="10354056" y="192024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9,4 %</a:t>
            </a:r>
            <a:endParaRPr lang="en-US" sz="900" dirty="0"/>
          </a:p>
        </p:txBody>
      </p:sp>
      <p:sp>
        <p:nvSpPr>
          <p:cNvPr id="79" name="Shape 77"/>
          <p:cNvSpPr/>
          <p:nvPr/>
        </p:nvSpPr>
        <p:spPr>
          <a:xfrm>
            <a:off x="6400800" y="2139696"/>
            <a:ext cx="5669280" cy="256032"/>
          </a:xfrm>
          <a:prstGeom prst="rect">
            <a:avLst/>
          </a:prstGeom>
          <a:solidFill>
            <a:srgbClr val="FFFFFF"/>
          </a:solidFill>
          <a:ln w="3810">
            <a:solidFill>
              <a:srgbClr val="E5E7EB"/>
            </a:solidFill>
            <a:prstDash val="solid"/>
          </a:ln>
        </p:spPr>
      </p:sp>
      <p:sp>
        <p:nvSpPr>
          <p:cNvPr id="80" name="Text 78"/>
          <p:cNvSpPr/>
          <p:nvPr/>
        </p:nvSpPr>
        <p:spPr>
          <a:xfrm>
            <a:off x="643737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81" name="Text 79"/>
          <p:cNvSpPr/>
          <p:nvPr/>
        </p:nvSpPr>
        <p:spPr>
          <a:xfrm>
            <a:off x="6848856" y="2176272"/>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GTS CI</a:t>
            </a:r>
            <a:endParaRPr lang="en-US" sz="900" dirty="0"/>
          </a:p>
        </p:txBody>
      </p:sp>
      <p:sp>
        <p:nvSpPr>
          <p:cNvPr id="82" name="Text 80"/>
          <p:cNvSpPr/>
          <p:nvPr/>
        </p:nvSpPr>
        <p:spPr>
          <a:xfrm>
            <a:off x="8601456" y="217627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468 097</a:t>
            </a:r>
            <a:endParaRPr lang="en-US" sz="900" dirty="0"/>
          </a:p>
        </p:txBody>
      </p:sp>
      <p:sp>
        <p:nvSpPr>
          <p:cNvPr id="83" name="Text 81"/>
          <p:cNvSpPr/>
          <p:nvPr/>
        </p:nvSpPr>
        <p:spPr>
          <a:xfrm>
            <a:off x="10354056" y="217627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8,4 %</a:t>
            </a:r>
            <a:endParaRPr lang="en-US" sz="900" dirty="0"/>
          </a:p>
        </p:txBody>
      </p:sp>
      <p:sp>
        <p:nvSpPr>
          <p:cNvPr id="84" name="Shape 82"/>
          <p:cNvSpPr/>
          <p:nvPr/>
        </p:nvSpPr>
        <p:spPr>
          <a:xfrm>
            <a:off x="6400800" y="2395728"/>
            <a:ext cx="5669280" cy="256032"/>
          </a:xfrm>
          <a:prstGeom prst="rect">
            <a:avLst/>
          </a:prstGeom>
          <a:solidFill>
            <a:srgbClr val="F8F9FA"/>
          </a:solidFill>
          <a:ln w="3810">
            <a:solidFill>
              <a:srgbClr val="E5E7EB"/>
            </a:solidFill>
            <a:prstDash val="solid"/>
          </a:ln>
        </p:spPr>
      </p:sp>
      <p:sp>
        <p:nvSpPr>
          <p:cNvPr id="85" name="Text 83"/>
          <p:cNvSpPr/>
          <p:nvPr/>
        </p:nvSpPr>
        <p:spPr>
          <a:xfrm>
            <a:off x="643737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86" name="Text 84"/>
          <p:cNvSpPr/>
          <p:nvPr/>
        </p:nvSpPr>
        <p:spPr>
          <a:xfrm>
            <a:off x="6848856" y="2432304"/>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IVOIRE INTL TRANSIT</a:t>
            </a:r>
            <a:endParaRPr lang="en-US" sz="900" dirty="0"/>
          </a:p>
        </p:txBody>
      </p:sp>
      <p:sp>
        <p:nvSpPr>
          <p:cNvPr id="87" name="Text 85"/>
          <p:cNvSpPr/>
          <p:nvPr/>
        </p:nvSpPr>
        <p:spPr>
          <a:xfrm>
            <a:off x="8601456" y="243230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333 558</a:t>
            </a:r>
            <a:endParaRPr lang="en-US" sz="900" dirty="0"/>
          </a:p>
        </p:txBody>
      </p:sp>
      <p:sp>
        <p:nvSpPr>
          <p:cNvPr id="88" name="Text 86"/>
          <p:cNvSpPr/>
          <p:nvPr/>
        </p:nvSpPr>
        <p:spPr>
          <a:xfrm>
            <a:off x="10354056" y="243230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6,0 %</a:t>
            </a:r>
            <a:endParaRPr lang="en-US" sz="900" dirty="0"/>
          </a:p>
        </p:txBody>
      </p:sp>
      <p:sp>
        <p:nvSpPr>
          <p:cNvPr id="89" name="Shape 87"/>
          <p:cNvSpPr/>
          <p:nvPr/>
        </p:nvSpPr>
        <p:spPr>
          <a:xfrm>
            <a:off x="6400800" y="2651760"/>
            <a:ext cx="5669280" cy="256032"/>
          </a:xfrm>
          <a:prstGeom prst="rect">
            <a:avLst/>
          </a:prstGeom>
          <a:solidFill>
            <a:srgbClr val="FFFFFF"/>
          </a:solidFill>
          <a:ln w="3810">
            <a:solidFill>
              <a:srgbClr val="E5E7EB"/>
            </a:solidFill>
            <a:prstDash val="solid"/>
          </a:ln>
        </p:spPr>
      </p:sp>
      <p:sp>
        <p:nvSpPr>
          <p:cNvPr id="90" name="Text 88"/>
          <p:cNvSpPr/>
          <p:nvPr/>
        </p:nvSpPr>
        <p:spPr>
          <a:xfrm>
            <a:off x="643737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91" name="Text 89"/>
          <p:cNvSpPr/>
          <p:nvPr/>
        </p:nvSpPr>
        <p:spPr>
          <a:xfrm>
            <a:off x="6848856" y="2688336"/>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MANUEL</a:t>
            </a:r>
            <a:endParaRPr lang="en-US" sz="900" dirty="0"/>
          </a:p>
        </p:txBody>
      </p:sp>
      <p:sp>
        <p:nvSpPr>
          <p:cNvPr id="92" name="Text 90"/>
          <p:cNvSpPr/>
          <p:nvPr/>
        </p:nvSpPr>
        <p:spPr>
          <a:xfrm>
            <a:off x="8601456" y="268833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292 408</a:t>
            </a:r>
            <a:endParaRPr lang="en-US" sz="900" dirty="0"/>
          </a:p>
        </p:txBody>
      </p:sp>
      <p:sp>
        <p:nvSpPr>
          <p:cNvPr id="93" name="Text 91"/>
          <p:cNvSpPr/>
          <p:nvPr/>
        </p:nvSpPr>
        <p:spPr>
          <a:xfrm>
            <a:off x="10354056" y="268833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5,2 %</a:t>
            </a:r>
            <a:endParaRPr lang="en-US" sz="900" dirty="0"/>
          </a:p>
        </p:txBody>
      </p:sp>
      <p:sp>
        <p:nvSpPr>
          <p:cNvPr id="94" name="Shape 92"/>
          <p:cNvSpPr/>
          <p:nvPr/>
        </p:nvSpPr>
        <p:spPr>
          <a:xfrm>
            <a:off x="6400800" y="2907792"/>
            <a:ext cx="5669280" cy="256032"/>
          </a:xfrm>
          <a:prstGeom prst="rect">
            <a:avLst/>
          </a:prstGeom>
          <a:solidFill>
            <a:srgbClr val="F8F9FA"/>
          </a:solidFill>
          <a:ln w="3810">
            <a:solidFill>
              <a:srgbClr val="E5E7EB"/>
            </a:solidFill>
            <a:prstDash val="solid"/>
          </a:ln>
        </p:spPr>
      </p:sp>
      <p:sp>
        <p:nvSpPr>
          <p:cNvPr id="95" name="Text 93"/>
          <p:cNvSpPr/>
          <p:nvPr/>
        </p:nvSpPr>
        <p:spPr>
          <a:xfrm>
            <a:off x="643737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96" name="Text 94"/>
          <p:cNvSpPr/>
          <p:nvPr/>
        </p:nvSpPr>
        <p:spPr>
          <a:xfrm>
            <a:off x="6848856" y="2944368"/>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TRANSIT-COSS</a:t>
            </a:r>
            <a:endParaRPr lang="en-US" sz="900" dirty="0"/>
          </a:p>
        </p:txBody>
      </p:sp>
      <p:sp>
        <p:nvSpPr>
          <p:cNvPr id="97" name="Text 95"/>
          <p:cNvSpPr/>
          <p:nvPr/>
        </p:nvSpPr>
        <p:spPr>
          <a:xfrm>
            <a:off x="8601456" y="2944368"/>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274 613</a:t>
            </a:r>
            <a:endParaRPr lang="en-US" sz="900" dirty="0"/>
          </a:p>
        </p:txBody>
      </p:sp>
      <p:sp>
        <p:nvSpPr>
          <p:cNvPr id="98" name="Text 96"/>
          <p:cNvSpPr/>
          <p:nvPr/>
        </p:nvSpPr>
        <p:spPr>
          <a:xfrm>
            <a:off x="10354056" y="2944368"/>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4,9 %</a:t>
            </a:r>
            <a:endParaRPr lang="en-US" sz="900" dirty="0"/>
          </a:p>
        </p:txBody>
      </p:sp>
      <p:sp>
        <p:nvSpPr>
          <p:cNvPr id="99" name="Shape 97"/>
          <p:cNvSpPr/>
          <p:nvPr/>
        </p:nvSpPr>
        <p:spPr>
          <a:xfrm>
            <a:off x="6400800" y="3163824"/>
            <a:ext cx="5669280" cy="256032"/>
          </a:xfrm>
          <a:prstGeom prst="rect">
            <a:avLst/>
          </a:prstGeom>
          <a:solidFill>
            <a:srgbClr val="FFFFFF"/>
          </a:solidFill>
          <a:ln w="3810">
            <a:solidFill>
              <a:srgbClr val="E5E7EB"/>
            </a:solidFill>
            <a:prstDash val="solid"/>
          </a:ln>
        </p:spPr>
      </p:sp>
      <p:sp>
        <p:nvSpPr>
          <p:cNvPr id="100" name="Text 98"/>
          <p:cNvSpPr/>
          <p:nvPr/>
        </p:nvSpPr>
        <p:spPr>
          <a:xfrm>
            <a:off x="643737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101" name="Text 99"/>
          <p:cNvSpPr/>
          <p:nvPr/>
        </p:nvSpPr>
        <p:spPr>
          <a:xfrm>
            <a:off x="6848856" y="3200400"/>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HANNYYAH ET SAID</a:t>
            </a:r>
            <a:endParaRPr lang="en-US" sz="900" dirty="0"/>
          </a:p>
        </p:txBody>
      </p:sp>
      <p:sp>
        <p:nvSpPr>
          <p:cNvPr id="102" name="Text 100"/>
          <p:cNvSpPr/>
          <p:nvPr/>
        </p:nvSpPr>
        <p:spPr>
          <a:xfrm>
            <a:off x="8601456" y="320040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273 092</a:t>
            </a:r>
            <a:endParaRPr lang="en-US" sz="900" dirty="0"/>
          </a:p>
        </p:txBody>
      </p:sp>
      <p:sp>
        <p:nvSpPr>
          <p:cNvPr id="103" name="Text 101"/>
          <p:cNvSpPr/>
          <p:nvPr/>
        </p:nvSpPr>
        <p:spPr>
          <a:xfrm>
            <a:off x="10354056" y="3200400"/>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4,9 %</a:t>
            </a:r>
            <a:endParaRPr lang="en-US" sz="900" dirty="0"/>
          </a:p>
        </p:txBody>
      </p:sp>
      <p:sp>
        <p:nvSpPr>
          <p:cNvPr id="104" name="Shape 102"/>
          <p:cNvSpPr/>
          <p:nvPr/>
        </p:nvSpPr>
        <p:spPr>
          <a:xfrm>
            <a:off x="6400800" y="3419856"/>
            <a:ext cx="5669280" cy="256032"/>
          </a:xfrm>
          <a:prstGeom prst="rect">
            <a:avLst/>
          </a:prstGeom>
          <a:solidFill>
            <a:srgbClr val="F8F9FA"/>
          </a:solidFill>
          <a:ln w="3810">
            <a:solidFill>
              <a:srgbClr val="E5E7EB"/>
            </a:solidFill>
            <a:prstDash val="solid"/>
          </a:ln>
        </p:spPr>
      </p:sp>
      <p:sp>
        <p:nvSpPr>
          <p:cNvPr id="105" name="Text 103"/>
          <p:cNvSpPr/>
          <p:nvPr/>
        </p:nvSpPr>
        <p:spPr>
          <a:xfrm>
            <a:off x="643737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106" name="Text 104"/>
          <p:cNvSpPr/>
          <p:nvPr/>
        </p:nvSpPr>
        <p:spPr>
          <a:xfrm>
            <a:off x="6848856" y="3456432"/>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DHL</a:t>
            </a:r>
            <a:endParaRPr lang="en-US" sz="900" dirty="0"/>
          </a:p>
        </p:txBody>
      </p:sp>
      <p:sp>
        <p:nvSpPr>
          <p:cNvPr id="107" name="Text 105"/>
          <p:cNvSpPr/>
          <p:nvPr/>
        </p:nvSpPr>
        <p:spPr>
          <a:xfrm>
            <a:off x="8601456" y="345643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217 874</a:t>
            </a:r>
            <a:endParaRPr lang="en-US" sz="900" dirty="0"/>
          </a:p>
        </p:txBody>
      </p:sp>
      <p:sp>
        <p:nvSpPr>
          <p:cNvPr id="108" name="Text 106"/>
          <p:cNvSpPr/>
          <p:nvPr/>
        </p:nvSpPr>
        <p:spPr>
          <a:xfrm>
            <a:off x="10354056" y="3456432"/>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3,9 %</a:t>
            </a:r>
            <a:endParaRPr lang="en-US" sz="900" dirty="0"/>
          </a:p>
        </p:txBody>
      </p:sp>
      <p:sp>
        <p:nvSpPr>
          <p:cNvPr id="109" name="Shape 107"/>
          <p:cNvSpPr/>
          <p:nvPr/>
        </p:nvSpPr>
        <p:spPr>
          <a:xfrm>
            <a:off x="6400800" y="3675888"/>
            <a:ext cx="5669280" cy="256032"/>
          </a:xfrm>
          <a:prstGeom prst="rect">
            <a:avLst/>
          </a:prstGeom>
          <a:solidFill>
            <a:srgbClr val="FFFFFF"/>
          </a:solidFill>
          <a:ln w="3810">
            <a:solidFill>
              <a:srgbClr val="E5E7EB"/>
            </a:solidFill>
            <a:prstDash val="solid"/>
          </a:ln>
        </p:spPr>
      </p:sp>
      <p:sp>
        <p:nvSpPr>
          <p:cNvPr id="110" name="Text 108"/>
          <p:cNvSpPr/>
          <p:nvPr/>
        </p:nvSpPr>
        <p:spPr>
          <a:xfrm>
            <a:off x="643737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111" name="Text 109"/>
          <p:cNvSpPr/>
          <p:nvPr/>
        </p:nvSpPr>
        <p:spPr>
          <a:xfrm>
            <a:off x="6848856" y="3712464"/>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INTL LOGISTICS SA</a:t>
            </a:r>
            <a:endParaRPr lang="en-US" sz="900" dirty="0"/>
          </a:p>
        </p:txBody>
      </p:sp>
      <p:sp>
        <p:nvSpPr>
          <p:cNvPr id="112" name="Text 110"/>
          <p:cNvSpPr/>
          <p:nvPr/>
        </p:nvSpPr>
        <p:spPr>
          <a:xfrm>
            <a:off x="8601456" y="371246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187 906</a:t>
            </a:r>
            <a:endParaRPr lang="en-US" sz="900" dirty="0"/>
          </a:p>
        </p:txBody>
      </p:sp>
      <p:sp>
        <p:nvSpPr>
          <p:cNvPr id="113" name="Text 111"/>
          <p:cNvSpPr/>
          <p:nvPr/>
        </p:nvSpPr>
        <p:spPr>
          <a:xfrm>
            <a:off x="10354056" y="3712464"/>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3,4 %</a:t>
            </a:r>
            <a:endParaRPr lang="en-US" sz="900" dirty="0"/>
          </a:p>
        </p:txBody>
      </p:sp>
      <p:sp>
        <p:nvSpPr>
          <p:cNvPr id="114" name="Shape 112"/>
          <p:cNvSpPr/>
          <p:nvPr/>
        </p:nvSpPr>
        <p:spPr>
          <a:xfrm>
            <a:off x="6400800" y="3931920"/>
            <a:ext cx="5669280" cy="256032"/>
          </a:xfrm>
          <a:prstGeom prst="rect">
            <a:avLst/>
          </a:prstGeom>
          <a:solidFill>
            <a:srgbClr val="F8F9FA"/>
          </a:solidFill>
          <a:ln w="3810">
            <a:solidFill>
              <a:srgbClr val="E5E7EB"/>
            </a:solidFill>
            <a:prstDash val="solid"/>
          </a:ln>
        </p:spPr>
      </p:sp>
      <p:sp>
        <p:nvSpPr>
          <p:cNvPr id="115" name="Text 113"/>
          <p:cNvSpPr/>
          <p:nvPr/>
        </p:nvSpPr>
        <p:spPr>
          <a:xfrm>
            <a:off x="643737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116" name="Text 114"/>
          <p:cNvSpPr/>
          <p:nvPr/>
        </p:nvSpPr>
        <p:spPr>
          <a:xfrm>
            <a:off x="6848856" y="3968496"/>
            <a:ext cx="170688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IVOIRE PHENIX TRANSIT</a:t>
            </a:r>
            <a:endParaRPr lang="en-US" sz="900" dirty="0"/>
          </a:p>
        </p:txBody>
      </p:sp>
      <p:sp>
        <p:nvSpPr>
          <p:cNvPr id="117" name="Text 115"/>
          <p:cNvSpPr/>
          <p:nvPr/>
        </p:nvSpPr>
        <p:spPr>
          <a:xfrm>
            <a:off x="8601456" y="396849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133 527</a:t>
            </a:r>
            <a:endParaRPr lang="en-US" sz="900" dirty="0"/>
          </a:p>
        </p:txBody>
      </p:sp>
      <p:sp>
        <p:nvSpPr>
          <p:cNvPr id="118" name="Text 116"/>
          <p:cNvSpPr/>
          <p:nvPr/>
        </p:nvSpPr>
        <p:spPr>
          <a:xfrm>
            <a:off x="10354056" y="3968496"/>
            <a:ext cx="170688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2,4 %</a:t>
            </a:r>
            <a:endParaRPr lang="en-US" sz="900" dirty="0"/>
          </a:p>
        </p:txBody>
      </p:sp>
      <p:sp>
        <p:nvSpPr>
          <p:cNvPr id="119" name="Shape 117"/>
          <p:cNvSpPr/>
          <p:nvPr/>
        </p:nvSpPr>
        <p:spPr>
          <a:xfrm>
            <a:off x="137160" y="4919472"/>
            <a:ext cx="11795760" cy="777240"/>
          </a:xfrm>
          <a:prstGeom prst="rect">
            <a:avLst/>
          </a:prstGeom>
          <a:solidFill>
            <a:srgbClr val="FFFBEC"/>
          </a:solidFill>
          <a:ln w="6350">
            <a:solidFill>
              <a:srgbClr val="E5C97A"/>
            </a:solidFill>
            <a:prstDash val="solid"/>
          </a:ln>
        </p:spPr>
      </p:sp>
      <p:sp>
        <p:nvSpPr>
          <p:cNvPr id="120" name="Text 118"/>
          <p:cNvSpPr/>
          <p:nvPr/>
        </p:nvSpPr>
        <p:spPr>
          <a:xfrm>
            <a:off x="228600" y="4992624"/>
            <a:ext cx="1161288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AGL #1 : 20,8% PDM sur marché qualifié. Progression continue Jan→Mai (+20 pts). ⚠ Transit-Coss : –60% (696K→274K kg). Clients récupérés partiellement par AGL. 🎯 Cibles : GTS CI (#3, 8,4%) à surveiller. Osmoz Africa (#2, 9,4%) à challenger sur Matériels Miniers.</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CLIENTÈLE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Top 10 destinataires  |  Mix produits  |  Risques &amp; leviers de croissance</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p.19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64008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clients AGL – Aérien Import (Destinataires, kg)</a:t>
            </a:r>
            <a:endParaRPr lang="en-US" sz="1100" dirty="0"/>
          </a:p>
        </p:txBody>
      </p:sp>
      <p:sp>
        <p:nvSpPr>
          <p:cNvPr id="8" name="Shape 6"/>
          <p:cNvSpPr/>
          <p:nvPr/>
        </p:nvSpPr>
        <p:spPr>
          <a:xfrm>
            <a:off x="137160" y="1371600"/>
            <a:ext cx="640080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Client (Destinataire)</a:t>
            </a:r>
            <a:endParaRPr lang="en-US" sz="900" dirty="0"/>
          </a:p>
        </p:txBody>
      </p:sp>
      <p:sp>
        <p:nvSpPr>
          <p:cNvPr id="10" name="Text 8"/>
          <p:cNvSpPr/>
          <p:nvPr/>
        </p:nvSpPr>
        <p:spPr>
          <a:xfrm>
            <a:off x="585216" y="1408176"/>
            <a:ext cx="195072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Poids (kg)</a:t>
            </a:r>
            <a:endParaRPr lang="en-US" sz="900" dirty="0"/>
          </a:p>
        </p:txBody>
      </p:sp>
      <p:sp>
        <p:nvSpPr>
          <p:cNvPr id="11" name="Text 9"/>
          <p:cNvSpPr/>
          <p:nvPr/>
        </p:nvSpPr>
        <p:spPr>
          <a:xfrm>
            <a:off x="2581656" y="1408176"/>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Segment</a:t>
            </a:r>
            <a:endParaRPr lang="en-US" sz="900" dirty="0"/>
          </a:p>
        </p:txBody>
      </p:sp>
      <p:sp>
        <p:nvSpPr>
          <p:cNvPr id="12" name="Text 10"/>
          <p:cNvSpPr/>
          <p:nvPr/>
        </p:nvSpPr>
        <p:spPr>
          <a:xfrm>
            <a:off x="4578096" y="1408176"/>
            <a:ext cx="19507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 Vol. AGL</a:t>
            </a:r>
            <a:endParaRPr lang="en-US" sz="900" dirty="0"/>
          </a:p>
        </p:txBody>
      </p:sp>
      <p:sp>
        <p:nvSpPr>
          <p:cNvPr id="13" name="Shape 11"/>
          <p:cNvSpPr/>
          <p:nvPr/>
        </p:nvSpPr>
        <p:spPr>
          <a:xfrm>
            <a:off x="137160" y="1627632"/>
            <a:ext cx="640080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K1 MINING SA CI</a:t>
            </a:r>
            <a:endParaRPr lang="en-US" sz="900" dirty="0"/>
          </a:p>
        </p:txBody>
      </p:sp>
      <p:sp>
        <p:nvSpPr>
          <p:cNvPr id="15" name="Text 13"/>
          <p:cNvSpPr/>
          <p:nvPr/>
        </p:nvSpPr>
        <p:spPr>
          <a:xfrm>
            <a:off x="585216" y="1664208"/>
            <a:ext cx="195072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308 596</a:t>
            </a:r>
            <a:endParaRPr lang="en-US" sz="900" dirty="0"/>
          </a:p>
        </p:txBody>
      </p:sp>
      <p:sp>
        <p:nvSpPr>
          <p:cNvPr id="16" name="Text 14"/>
          <p:cNvSpPr/>
          <p:nvPr/>
        </p:nvSpPr>
        <p:spPr>
          <a:xfrm>
            <a:off x="2581656" y="166420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 Miniers</a:t>
            </a:r>
            <a:endParaRPr lang="en-US" sz="900" dirty="0"/>
          </a:p>
        </p:txBody>
      </p:sp>
      <p:sp>
        <p:nvSpPr>
          <p:cNvPr id="17" name="Text 15"/>
          <p:cNvSpPr/>
          <p:nvPr/>
        </p:nvSpPr>
        <p:spPr>
          <a:xfrm>
            <a:off x="4578096" y="1664208"/>
            <a:ext cx="195072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26,5%</a:t>
            </a:r>
            <a:endParaRPr lang="en-US" sz="900" dirty="0"/>
          </a:p>
        </p:txBody>
      </p:sp>
      <p:sp>
        <p:nvSpPr>
          <p:cNvPr id="18" name="Shape 16"/>
          <p:cNvSpPr/>
          <p:nvPr/>
        </p:nvSpPr>
        <p:spPr>
          <a:xfrm>
            <a:off x="137160" y="1883664"/>
            <a:ext cx="640080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PROSUMA</a:t>
            </a:r>
            <a:endParaRPr lang="en-US" sz="900" dirty="0"/>
          </a:p>
        </p:txBody>
      </p:sp>
      <p:sp>
        <p:nvSpPr>
          <p:cNvPr id="20" name="Text 18"/>
          <p:cNvSpPr/>
          <p:nvPr/>
        </p:nvSpPr>
        <p:spPr>
          <a:xfrm>
            <a:off x="585216" y="1920240"/>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268 633</a:t>
            </a:r>
            <a:endParaRPr lang="en-US" sz="900" dirty="0"/>
          </a:p>
        </p:txBody>
      </p:sp>
      <p:sp>
        <p:nvSpPr>
          <p:cNvPr id="21" name="Text 19"/>
          <p:cNvSpPr/>
          <p:nvPr/>
        </p:nvSpPr>
        <p:spPr>
          <a:xfrm>
            <a:off x="2581656" y="192024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Prod. Alimentaires</a:t>
            </a:r>
            <a:endParaRPr lang="en-US" sz="900" dirty="0"/>
          </a:p>
        </p:txBody>
      </p:sp>
      <p:sp>
        <p:nvSpPr>
          <p:cNvPr id="22" name="Text 20"/>
          <p:cNvSpPr/>
          <p:nvPr/>
        </p:nvSpPr>
        <p:spPr>
          <a:xfrm>
            <a:off x="4578096" y="192024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23,1%</a:t>
            </a:r>
            <a:endParaRPr lang="en-US" sz="900" dirty="0"/>
          </a:p>
        </p:txBody>
      </p:sp>
      <p:sp>
        <p:nvSpPr>
          <p:cNvPr id="23" name="Shape 21"/>
          <p:cNvSpPr/>
          <p:nvPr/>
        </p:nvSpPr>
        <p:spPr>
          <a:xfrm>
            <a:off x="137160" y="2139696"/>
            <a:ext cx="640080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UBIPHARM CÔTE D'IVOIRE</a:t>
            </a:r>
            <a:endParaRPr lang="en-US" sz="900" dirty="0"/>
          </a:p>
        </p:txBody>
      </p:sp>
      <p:sp>
        <p:nvSpPr>
          <p:cNvPr id="25" name="Text 23"/>
          <p:cNvSpPr/>
          <p:nvPr/>
        </p:nvSpPr>
        <p:spPr>
          <a:xfrm>
            <a:off x="585216" y="217627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61 130</a:t>
            </a:r>
            <a:endParaRPr lang="en-US" sz="900" dirty="0"/>
          </a:p>
        </p:txBody>
      </p:sp>
      <p:sp>
        <p:nvSpPr>
          <p:cNvPr id="26" name="Text 24"/>
          <p:cNvSpPr/>
          <p:nvPr/>
        </p:nvSpPr>
        <p:spPr>
          <a:xfrm>
            <a:off x="2581656" y="217627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Médicaments</a:t>
            </a:r>
            <a:endParaRPr lang="en-US" sz="900" dirty="0"/>
          </a:p>
        </p:txBody>
      </p:sp>
      <p:sp>
        <p:nvSpPr>
          <p:cNvPr id="27" name="Text 25"/>
          <p:cNvSpPr/>
          <p:nvPr/>
        </p:nvSpPr>
        <p:spPr>
          <a:xfrm>
            <a:off x="4578096" y="217627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5,2%</a:t>
            </a:r>
            <a:endParaRPr lang="en-US" sz="900" dirty="0"/>
          </a:p>
        </p:txBody>
      </p:sp>
      <p:sp>
        <p:nvSpPr>
          <p:cNvPr id="28" name="Shape 26"/>
          <p:cNvSpPr/>
          <p:nvPr/>
        </p:nvSpPr>
        <p:spPr>
          <a:xfrm>
            <a:off x="137160" y="2395728"/>
            <a:ext cx="640080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ORANGE CI</a:t>
            </a:r>
            <a:endParaRPr lang="en-US" sz="900" dirty="0"/>
          </a:p>
        </p:txBody>
      </p:sp>
      <p:sp>
        <p:nvSpPr>
          <p:cNvPr id="30" name="Text 28"/>
          <p:cNvSpPr/>
          <p:nvPr/>
        </p:nvSpPr>
        <p:spPr>
          <a:xfrm>
            <a:off x="585216" y="243230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49 988</a:t>
            </a:r>
            <a:endParaRPr lang="en-US" sz="900" dirty="0"/>
          </a:p>
        </p:txBody>
      </p:sp>
      <p:sp>
        <p:nvSpPr>
          <p:cNvPr id="31" name="Text 29"/>
          <p:cNvSpPr/>
          <p:nvPr/>
        </p:nvSpPr>
        <p:spPr>
          <a:xfrm>
            <a:off x="2581656" y="243230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Télécoms</a:t>
            </a:r>
            <a:endParaRPr lang="en-US" sz="900" dirty="0"/>
          </a:p>
        </p:txBody>
      </p:sp>
      <p:sp>
        <p:nvSpPr>
          <p:cNvPr id="32" name="Text 30"/>
          <p:cNvSpPr/>
          <p:nvPr/>
        </p:nvSpPr>
        <p:spPr>
          <a:xfrm>
            <a:off x="4578096" y="243230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4,3%</a:t>
            </a:r>
            <a:endParaRPr lang="en-US" sz="900" dirty="0"/>
          </a:p>
        </p:txBody>
      </p:sp>
      <p:sp>
        <p:nvSpPr>
          <p:cNvPr id="33" name="Shape 31"/>
          <p:cNvSpPr/>
          <p:nvPr/>
        </p:nvSpPr>
        <p:spPr>
          <a:xfrm>
            <a:off x="137160" y="2651760"/>
            <a:ext cx="640080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NESTLÉ CÔTE D'IVOIRE</a:t>
            </a:r>
            <a:endParaRPr lang="en-US" sz="900" dirty="0"/>
          </a:p>
        </p:txBody>
      </p:sp>
      <p:sp>
        <p:nvSpPr>
          <p:cNvPr id="35" name="Text 33"/>
          <p:cNvSpPr/>
          <p:nvPr/>
        </p:nvSpPr>
        <p:spPr>
          <a:xfrm>
            <a:off x="585216" y="268833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38 474</a:t>
            </a:r>
            <a:endParaRPr lang="en-US" sz="900" dirty="0"/>
          </a:p>
        </p:txBody>
      </p:sp>
      <p:sp>
        <p:nvSpPr>
          <p:cNvPr id="36" name="Text 34"/>
          <p:cNvSpPr/>
          <p:nvPr/>
        </p:nvSpPr>
        <p:spPr>
          <a:xfrm>
            <a:off x="2581656" y="268833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Alimentaire</a:t>
            </a:r>
            <a:endParaRPr lang="en-US" sz="900" dirty="0"/>
          </a:p>
        </p:txBody>
      </p:sp>
      <p:sp>
        <p:nvSpPr>
          <p:cNvPr id="37" name="Text 35"/>
          <p:cNvSpPr/>
          <p:nvPr/>
        </p:nvSpPr>
        <p:spPr>
          <a:xfrm>
            <a:off x="4578096" y="268833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a:t>
            </a:r>
            <a:endParaRPr lang="en-US" sz="900" dirty="0"/>
          </a:p>
        </p:txBody>
      </p:sp>
      <p:sp>
        <p:nvSpPr>
          <p:cNvPr id="38" name="Shape 36"/>
          <p:cNvSpPr/>
          <p:nvPr/>
        </p:nvSpPr>
        <p:spPr>
          <a:xfrm>
            <a:off x="137160" y="2907792"/>
            <a:ext cx="640080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SIFAAP CI</a:t>
            </a:r>
            <a:endParaRPr lang="en-US" sz="900" dirty="0"/>
          </a:p>
        </p:txBody>
      </p:sp>
      <p:sp>
        <p:nvSpPr>
          <p:cNvPr id="40" name="Text 38"/>
          <p:cNvSpPr/>
          <p:nvPr/>
        </p:nvSpPr>
        <p:spPr>
          <a:xfrm>
            <a:off x="585216" y="2944368"/>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24 694</a:t>
            </a:r>
            <a:endParaRPr lang="en-US" sz="900" dirty="0"/>
          </a:p>
        </p:txBody>
      </p:sp>
      <p:sp>
        <p:nvSpPr>
          <p:cNvPr id="41" name="Text 39"/>
          <p:cNvSpPr/>
          <p:nvPr/>
        </p:nvSpPr>
        <p:spPr>
          <a:xfrm>
            <a:off x="2581656" y="294436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Alim. Animal</a:t>
            </a:r>
            <a:endParaRPr lang="en-US" sz="900" dirty="0"/>
          </a:p>
        </p:txBody>
      </p:sp>
      <p:sp>
        <p:nvSpPr>
          <p:cNvPr id="42" name="Text 40"/>
          <p:cNvSpPr/>
          <p:nvPr/>
        </p:nvSpPr>
        <p:spPr>
          <a:xfrm>
            <a:off x="4578096" y="2944368"/>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2,1%</a:t>
            </a:r>
            <a:endParaRPr lang="en-US" sz="900" dirty="0"/>
          </a:p>
        </p:txBody>
      </p:sp>
      <p:sp>
        <p:nvSpPr>
          <p:cNvPr id="43" name="Shape 41"/>
          <p:cNvSpPr/>
          <p:nvPr/>
        </p:nvSpPr>
        <p:spPr>
          <a:xfrm>
            <a:off x="137160" y="3163824"/>
            <a:ext cx="640080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SITAB CI</a:t>
            </a:r>
            <a:endParaRPr lang="en-US" sz="900" dirty="0"/>
          </a:p>
        </p:txBody>
      </p:sp>
      <p:sp>
        <p:nvSpPr>
          <p:cNvPr id="45" name="Text 43"/>
          <p:cNvSpPr/>
          <p:nvPr/>
        </p:nvSpPr>
        <p:spPr>
          <a:xfrm>
            <a:off x="585216" y="3200400"/>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23 535</a:t>
            </a:r>
            <a:endParaRPr lang="en-US" sz="900" dirty="0"/>
          </a:p>
        </p:txBody>
      </p:sp>
      <p:sp>
        <p:nvSpPr>
          <p:cNvPr id="46" name="Text 44"/>
          <p:cNvSpPr/>
          <p:nvPr/>
        </p:nvSpPr>
        <p:spPr>
          <a:xfrm>
            <a:off x="2581656" y="320040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Cigarettes</a:t>
            </a:r>
            <a:endParaRPr lang="en-US" sz="900" dirty="0"/>
          </a:p>
        </p:txBody>
      </p:sp>
      <p:sp>
        <p:nvSpPr>
          <p:cNvPr id="47" name="Text 45"/>
          <p:cNvSpPr/>
          <p:nvPr/>
        </p:nvSpPr>
        <p:spPr>
          <a:xfrm>
            <a:off x="4578096" y="3200400"/>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a:t>
            </a:r>
            <a:endParaRPr lang="en-US" sz="900" dirty="0"/>
          </a:p>
        </p:txBody>
      </p:sp>
      <p:sp>
        <p:nvSpPr>
          <p:cNvPr id="48" name="Shape 46"/>
          <p:cNvSpPr/>
          <p:nvPr/>
        </p:nvSpPr>
        <p:spPr>
          <a:xfrm>
            <a:off x="137160" y="3419856"/>
            <a:ext cx="640080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ROCHE DIAGNOSTICS CI</a:t>
            </a:r>
            <a:endParaRPr lang="en-US" sz="900" dirty="0"/>
          </a:p>
        </p:txBody>
      </p:sp>
      <p:sp>
        <p:nvSpPr>
          <p:cNvPr id="50" name="Text 48"/>
          <p:cNvSpPr/>
          <p:nvPr/>
        </p:nvSpPr>
        <p:spPr>
          <a:xfrm>
            <a:off x="585216" y="3456432"/>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22 633</a:t>
            </a:r>
            <a:endParaRPr lang="en-US" sz="900" dirty="0"/>
          </a:p>
        </p:txBody>
      </p:sp>
      <p:sp>
        <p:nvSpPr>
          <p:cNvPr id="51" name="Text 49"/>
          <p:cNvSpPr/>
          <p:nvPr/>
        </p:nvSpPr>
        <p:spPr>
          <a:xfrm>
            <a:off x="2581656" y="345643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 Labo.</a:t>
            </a:r>
            <a:endParaRPr lang="en-US" sz="900" dirty="0"/>
          </a:p>
        </p:txBody>
      </p:sp>
      <p:sp>
        <p:nvSpPr>
          <p:cNvPr id="52" name="Text 50"/>
          <p:cNvSpPr/>
          <p:nvPr/>
        </p:nvSpPr>
        <p:spPr>
          <a:xfrm>
            <a:off x="4578096" y="3456432"/>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1,9%</a:t>
            </a:r>
            <a:endParaRPr lang="en-US" sz="900" dirty="0"/>
          </a:p>
        </p:txBody>
      </p:sp>
      <p:sp>
        <p:nvSpPr>
          <p:cNvPr id="53" name="Shape 51"/>
          <p:cNvSpPr/>
          <p:nvPr/>
        </p:nvSpPr>
        <p:spPr>
          <a:xfrm>
            <a:off x="137160" y="3675888"/>
            <a:ext cx="640080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MTN CI</a:t>
            </a:r>
            <a:endParaRPr lang="en-US" sz="900" dirty="0"/>
          </a:p>
        </p:txBody>
      </p:sp>
      <p:sp>
        <p:nvSpPr>
          <p:cNvPr id="55" name="Text 53"/>
          <p:cNvSpPr/>
          <p:nvPr/>
        </p:nvSpPr>
        <p:spPr>
          <a:xfrm>
            <a:off x="585216" y="3712464"/>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20 141</a:t>
            </a:r>
            <a:endParaRPr lang="en-US" sz="900" dirty="0"/>
          </a:p>
        </p:txBody>
      </p:sp>
      <p:sp>
        <p:nvSpPr>
          <p:cNvPr id="56" name="Text 54"/>
          <p:cNvSpPr/>
          <p:nvPr/>
        </p:nvSpPr>
        <p:spPr>
          <a:xfrm>
            <a:off x="2581656" y="371246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Télécoms</a:t>
            </a:r>
            <a:endParaRPr lang="en-US" sz="900" dirty="0"/>
          </a:p>
        </p:txBody>
      </p:sp>
      <p:sp>
        <p:nvSpPr>
          <p:cNvPr id="57" name="Text 55"/>
          <p:cNvSpPr/>
          <p:nvPr/>
        </p:nvSpPr>
        <p:spPr>
          <a:xfrm>
            <a:off x="4578096" y="3712464"/>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1,7%</a:t>
            </a:r>
            <a:endParaRPr lang="en-US" sz="900" dirty="0"/>
          </a:p>
        </p:txBody>
      </p:sp>
      <p:sp>
        <p:nvSpPr>
          <p:cNvPr id="58" name="Shape 56"/>
          <p:cNvSpPr/>
          <p:nvPr/>
        </p:nvSpPr>
        <p:spPr>
          <a:xfrm>
            <a:off x="137160" y="3931920"/>
            <a:ext cx="640080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FOXTROT INTERNATIONAL</a:t>
            </a:r>
            <a:endParaRPr lang="en-US" sz="900" dirty="0"/>
          </a:p>
        </p:txBody>
      </p:sp>
      <p:sp>
        <p:nvSpPr>
          <p:cNvPr id="60" name="Text 58"/>
          <p:cNvSpPr/>
          <p:nvPr/>
        </p:nvSpPr>
        <p:spPr>
          <a:xfrm>
            <a:off x="585216" y="3968496"/>
            <a:ext cx="19507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18 721</a:t>
            </a:r>
            <a:endParaRPr lang="en-US" sz="900" dirty="0"/>
          </a:p>
        </p:txBody>
      </p:sp>
      <p:sp>
        <p:nvSpPr>
          <p:cNvPr id="61" name="Text 59"/>
          <p:cNvSpPr/>
          <p:nvPr/>
        </p:nvSpPr>
        <p:spPr>
          <a:xfrm>
            <a:off x="2581656" y="396849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Pétrole</a:t>
            </a:r>
            <a:endParaRPr lang="en-US" sz="900" dirty="0"/>
          </a:p>
        </p:txBody>
      </p:sp>
      <p:sp>
        <p:nvSpPr>
          <p:cNvPr id="62" name="Text 60"/>
          <p:cNvSpPr/>
          <p:nvPr/>
        </p:nvSpPr>
        <p:spPr>
          <a:xfrm>
            <a:off x="4578096" y="3968496"/>
            <a:ext cx="19507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1,6%</a:t>
            </a:r>
            <a:endParaRPr lang="en-US" sz="900" dirty="0"/>
          </a:p>
        </p:txBody>
      </p:sp>
      <p:sp>
        <p:nvSpPr>
          <p:cNvPr id="63" name="Shape 61"/>
          <p:cNvSpPr/>
          <p:nvPr/>
        </p:nvSpPr>
        <p:spPr>
          <a:xfrm>
            <a:off x="137160" y="4846320"/>
            <a:ext cx="6400800" cy="960120"/>
          </a:xfrm>
          <a:prstGeom prst="rect">
            <a:avLst/>
          </a:prstGeom>
          <a:solidFill>
            <a:srgbClr val="FFFBEC"/>
          </a:solidFill>
          <a:ln w="6350">
            <a:solidFill>
              <a:srgbClr val="E5C97A"/>
            </a:solidFill>
            <a:prstDash val="solid"/>
          </a:ln>
        </p:spPr>
      </p:sp>
      <p:sp>
        <p:nvSpPr>
          <p:cNvPr id="64" name="Text 62"/>
          <p:cNvSpPr/>
          <p:nvPr/>
        </p:nvSpPr>
        <p:spPr>
          <a:xfrm>
            <a:off x="228600" y="4919472"/>
            <a:ext cx="621792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Hyper-concentration : K1 Mining (26,5%) + PROSUMA (23,1%) = 49,6% du volume AGL aérien sur 2 clients. Risque élevé.</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Télécoms (Orange + MTN) : 70 129 kg – Secteur en forte croissance. Contrats cadres 2026/2027 à signer.</a:t>
            </a:r>
            <a:endParaRPr lang="en-US" sz="900" dirty="0"/>
          </a:p>
          <a:p>
            <a:pPr indent="0" marL="0">
              <a:buNone/>
            </a:pPr>
            <a:r>
              <a:rPr lang="en-US" sz="900" dirty="0">
                <a:solidFill>
                  <a:srgbClr val="374151"/>
                </a:solidFill>
                <a:latin typeface="Calibri" pitchFamily="34" charset="0"/>
                <a:ea typeface="Calibri" pitchFamily="34" charset="-122"/>
                <a:cs typeface="Calibri" pitchFamily="34" charset="-120"/>
              </a:rPr>
              <a:t>▶ Nestlé + SIFAAP = 63 168 kg (filière agro-alim). Ubipharm = pont TIM/AER. Développer offre multi-métiers.</a:t>
            </a:r>
            <a:endParaRPr lang="en-US" sz="900" dirty="0"/>
          </a:p>
        </p:txBody>
      </p:sp>
      <p:sp>
        <p:nvSpPr>
          <p:cNvPr id="65" name="Text 63"/>
          <p:cNvSpPr/>
          <p:nvPr/>
        </p:nvSpPr>
        <p:spPr>
          <a:xfrm>
            <a:off x="6675120" y="1097280"/>
            <a:ext cx="53035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Mix produits AGL – Aérien Import</a:t>
            </a:r>
            <a:endParaRPr lang="en-US" sz="1100" dirty="0"/>
          </a:p>
        </p:txBody>
      </p:sp>
      <p:graphicFrame>
        <p:nvGraphicFramePr>
          <p:cNvPr id="66" name="Chart 0" descr=""/>
          <p:cNvGraphicFramePr/>
          <p:nvPr/>
        </p:nvGraphicFramePr>
        <p:xfrm>
          <a:off x="6675120" y="1371600"/>
          <a:ext cx="5303520" cy="411480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AÉRIEN IMPORT – NOUVEAUX ENTRANTS &amp; NOUVEAUX FLUX</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Transitaires entrants  |  Nouvelles marchandises en croissance  |  Récupération clients Transit-Coss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p.24</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Nouveaux transitaires – Aérien Import 2026</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Transitaire</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Poids kg</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Spécialité</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Entrée</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FRET INTER CI</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94 200</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Alimentaire</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Q1 2026</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SOTRA FRET</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78 400</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Pièces détachées</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Q2 2026</a:t>
            </a:r>
            <a:endParaRPr lang="en-US" sz="900" dirty="0"/>
          </a:p>
        </p:txBody>
      </p:sp>
      <p:sp>
        <p:nvSpPr>
          <p:cNvPr id="23" name="Text 21"/>
          <p:cNvSpPr/>
          <p:nvPr/>
        </p:nvSpPr>
        <p:spPr>
          <a:xfrm>
            <a:off x="228600" y="26974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Marchandises en forte croissance 2025 → 2026</a:t>
            </a:r>
            <a:endParaRPr lang="en-US" sz="1100" dirty="0"/>
          </a:p>
        </p:txBody>
      </p:sp>
      <p:sp>
        <p:nvSpPr>
          <p:cNvPr id="24" name="Shape 22"/>
          <p:cNvSpPr/>
          <p:nvPr/>
        </p:nvSpPr>
        <p:spPr>
          <a:xfrm>
            <a:off x="137160" y="2971800"/>
            <a:ext cx="6217920" cy="256032"/>
          </a:xfrm>
          <a:prstGeom prst="rect">
            <a:avLst/>
          </a:prstGeom>
          <a:solidFill>
            <a:srgbClr val="0D2243"/>
          </a:solidFill>
          <a:ln/>
        </p:spPr>
      </p:sp>
      <p:sp>
        <p:nvSpPr>
          <p:cNvPr id="25" name="Text 23"/>
          <p:cNvSpPr/>
          <p:nvPr/>
        </p:nvSpPr>
        <p:spPr>
          <a:xfrm>
            <a:off x="173736" y="30083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Marchandise</a:t>
            </a:r>
            <a:endParaRPr lang="en-US" sz="900" dirty="0"/>
          </a:p>
        </p:txBody>
      </p:sp>
      <p:sp>
        <p:nvSpPr>
          <p:cNvPr id="26" name="Text 24"/>
          <p:cNvSpPr/>
          <p:nvPr/>
        </p:nvSpPr>
        <p:spPr>
          <a:xfrm>
            <a:off x="585216" y="30083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2026 (kg)</a:t>
            </a:r>
            <a:endParaRPr lang="en-US" sz="900" dirty="0"/>
          </a:p>
        </p:txBody>
      </p:sp>
      <p:sp>
        <p:nvSpPr>
          <p:cNvPr id="27" name="Text 25"/>
          <p:cNvSpPr/>
          <p:nvPr/>
        </p:nvSpPr>
        <p:spPr>
          <a:xfrm>
            <a:off x="2520696" y="30083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Var. %</a:t>
            </a:r>
            <a:endParaRPr lang="en-US" sz="900" dirty="0"/>
          </a:p>
        </p:txBody>
      </p:sp>
      <p:sp>
        <p:nvSpPr>
          <p:cNvPr id="28" name="Text 26"/>
          <p:cNvSpPr/>
          <p:nvPr/>
        </p:nvSpPr>
        <p:spPr>
          <a:xfrm>
            <a:off x="4456176" y="30083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 AGL</a:t>
            </a:r>
            <a:endParaRPr lang="en-US" sz="900" dirty="0"/>
          </a:p>
        </p:txBody>
      </p:sp>
      <p:sp>
        <p:nvSpPr>
          <p:cNvPr id="29" name="Shape 27"/>
          <p:cNvSpPr/>
          <p:nvPr/>
        </p:nvSpPr>
        <p:spPr>
          <a:xfrm>
            <a:off x="137160" y="3227832"/>
            <a:ext cx="6217920" cy="256032"/>
          </a:xfrm>
          <a:prstGeom prst="rect">
            <a:avLst/>
          </a:prstGeom>
          <a:solidFill>
            <a:srgbClr val="FFF9EC"/>
          </a:solidFill>
          <a:ln w="3810">
            <a:solidFill>
              <a:srgbClr val="E5E7EB"/>
            </a:solidFill>
            <a:prstDash val="solid"/>
          </a:ln>
        </p:spPr>
      </p:sp>
      <p:sp>
        <p:nvSpPr>
          <p:cNvPr id="30" name="Text 28"/>
          <p:cNvSpPr/>
          <p:nvPr/>
        </p:nvSpPr>
        <p:spPr>
          <a:xfrm>
            <a:off x="173736" y="32644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ŒUFS</a:t>
            </a:r>
            <a:endParaRPr lang="en-US" sz="900" dirty="0"/>
          </a:p>
        </p:txBody>
      </p:sp>
      <p:sp>
        <p:nvSpPr>
          <p:cNvPr id="31" name="Text 29"/>
          <p:cNvSpPr/>
          <p:nvPr/>
        </p:nvSpPr>
        <p:spPr>
          <a:xfrm>
            <a:off x="585216" y="32644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1 883 317</a:t>
            </a:r>
            <a:endParaRPr lang="en-US" sz="900" dirty="0"/>
          </a:p>
        </p:txBody>
      </p:sp>
      <p:sp>
        <p:nvSpPr>
          <p:cNvPr id="32" name="Text 30"/>
          <p:cNvSpPr/>
          <p:nvPr/>
        </p:nvSpPr>
        <p:spPr>
          <a:xfrm>
            <a:off x="2520696" y="32644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+26,9 %</a:t>
            </a:r>
            <a:endParaRPr lang="en-US" sz="900" dirty="0"/>
          </a:p>
        </p:txBody>
      </p:sp>
      <p:sp>
        <p:nvSpPr>
          <p:cNvPr id="33" name="Text 31"/>
          <p:cNvSpPr/>
          <p:nvPr/>
        </p:nvSpPr>
        <p:spPr>
          <a:xfrm>
            <a:off x="4456176" y="32644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1 %</a:t>
            </a:r>
            <a:endParaRPr lang="en-US" sz="900" dirty="0"/>
          </a:p>
        </p:txBody>
      </p:sp>
      <p:sp>
        <p:nvSpPr>
          <p:cNvPr id="34" name="Shape 32"/>
          <p:cNvSpPr/>
          <p:nvPr/>
        </p:nvSpPr>
        <p:spPr>
          <a:xfrm>
            <a:off x="137160" y="3483864"/>
            <a:ext cx="6217920" cy="256032"/>
          </a:xfrm>
          <a:prstGeom prst="rect">
            <a:avLst/>
          </a:prstGeom>
          <a:solidFill>
            <a:srgbClr val="F8F9FA"/>
          </a:solidFill>
          <a:ln w="3810">
            <a:solidFill>
              <a:srgbClr val="E5E7EB"/>
            </a:solidFill>
            <a:prstDash val="solid"/>
          </a:ln>
        </p:spPr>
      </p:sp>
      <p:sp>
        <p:nvSpPr>
          <p:cNvPr id="35" name="Text 33"/>
          <p:cNvSpPr/>
          <p:nvPr/>
        </p:nvSpPr>
        <p:spPr>
          <a:xfrm>
            <a:off x="173736" y="35204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MATÉRIELS MINIERS</a:t>
            </a:r>
            <a:endParaRPr lang="en-US" sz="900" dirty="0"/>
          </a:p>
        </p:txBody>
      </p:sp>
      <p:sp>
        <p:nvSpPr>
          <p:cNvPr id="36" name="Text 34"/>
          <p:cNvSpPr/>
          <p:nvPr/>
        </p:nvSpPr>
        <p:spPr>
          <a:xfrm>
            <a:off x="585216" y="35204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515 776</a:t>
            </a:r>
            <a:endParaRPr lang="en-US" sz="900" dirty="0"/>
          </a:p>
        </p:txBody>
      </p:sp>
      <p:sp>
        <p:nvSpPr>
          <p:cNvPr id="37" name="Text 35"/>
          <p:cNvSpPr/>
          <p:nvPr/>
        </p:nvSpPr>
        <p:spPr>
          <a:xfrm>
            <a:off x="2520696" y="35204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+244,3 %</a:t>
            </a:r>
            <a:endParaRPr lang="en-US" sz="900" dirty="0"/>
          </a:p>
        </p:txBody>
      </p:sp>
      <p:sp>
        <p:nvSpPr>
          <p:cNvPr id="38" name="Text 36"/>
          <p:cNvSpPr/>
          <p:nvPr/>
        </p:nvSpPr>
        <p:spPr>
          <a:xfrm>
            <a:off x="4456176" y="35204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61 %</a:t>
            </a:r>
            <a:endParaRPr lang="en-US" sz="900" dirty="0"/>
          </a:p>
        </p:txBody>
      </p:sp>
      <p:sp>
        <p:nvSpPr>
          <p:cNvPr id="39" name="Shape 37"/>
          <p:cNvSpPr/>
          <p:nvPr/>
        </p:nvSpPr>
        <p:spPr>
          <a:xfrm>
            <a:off x="137160" y="3739896"/>
            <a:ext cx="6217920" cy="256032"/>
          </a:xfrm>
          <a:prstGeom prst="rect">
            <a:avLst/>
          </a:prstGeom>
          <a:solidFill>
            <a:srgbClr val="FFFFFF"/>
          </a:solidFill>
          <a:ln w="3810">
            <a:solidFill>
              <a:srgbClr val="E5E7EB"/>
            </a:solidFill>
            <a:prstDash val="solid"/>
          </a:ln>
        </p:spPr>
      </p:sp>
      <p:sp>
        <p:nvSpPr>
          <p:cNvPr id="40" name="Text 38"/>
          <p:cNvSpPr/>
          <p:nvPr/>
        </p:nvSpPr>
        <p:spPr>
          <a:xfrm>
            <a:off x="173736" y="37764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MACHINES</a:t>
            </a:r>
            <a:endParaRPr lang="en-US" sz="900" dirty="0"/>
          </a:p>
        </p:txBody>
      </p:sp>
      <p:sp>
        <p:nvSpPr>
          <p:cNvPr id="41" name="Text 39"/>
          <p:cNvSpPr/>
          <p:nvPr/>
        </p:nvSpPr>
        <p:spPr>
          <a:xfrm>
            <a:off x="585216" y="37764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486 785</a:t>
            </a:r>
            <a:endParaRPr lang="en-US" sz="900" dirty="0"/>
          </a:p>
        </p:txBody>
      </p:sp>
      <p:sp>
        <p:nvSpPr>
          <p:cNvPr id="42" name="Text 40"/>
          <p:cNvSpPr/>
          <p:nvPr/>
        </p:nvSpPr>
        <p:spPr>
          <a:xfrm>
            <a:off x="2520696" y="37764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+90,2 %</a:t>
            </a:r>
            <a:endParaRPr lang="en-US" sz="900" dirty="0"/>
          </a:p>
        </p:txBody>
      </p:sp>
      <p:sp>
        <p:nvSpPr>
          <p:cNvPr id="43" name="Text 41"/>
          <p:cNvSpPr/>
          <p:nvPr/>
        </p:nvSpPr>
        <p:spPr>
          <a:xfrm>
            <a:off x="4456176" y="37764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44" name="Shape 42"/>
          <p:cNvSpPr/>
          <p:nvPr/>
        </p:nvSpPr>
        <p:spPr>
          <a:xfrm>
            <a:off x="137160" y="3995928"/>
            <a:ext cx="6217920" cy="256032"/>
          </a:xfrm>
          <a:prstGeom prst="rect">
            <a:avLst/>
          </a:prstGeom>
          <a:solidFill>
            <a:srgbClr val="F8F9FA"/>
          </a:solidFill>
          <a:ln w="3810">
            <a:solidFill>
              <a:srgbClr val="E5E7EB"/>
            </a:solidFill>
            <a:prstDash val="solid"/>
          </a:ln>
        </p:spPr>
      </p:sp>
      <p:sp>
        <p:nvSpPr>
          <p:cNvPr id="45" name="Text 43"/>
          <p:cNvSpPr/>
          <p:nvPr/>
        </p:nvSpPr>
        <p:spPr>
          <a:xfrm>
            <a:off x="173736" y="40325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TÉLÉCOMS</a:t>
            </a:r>
            <a:endParaRPr lang="en-US" sz="900" dirty="0"/>
          </a:p>
        </p:txBody>
      </p:sp>
      <p:sp>
        <p:nvSpPr>
          <p:cNvPr id="46" name="Text 44"/>
          <p:cNvSpPr/>
          <p:nvPr/>
        </p:nvSpPr>
        <p:spPr>
          <a:xfrm>
            <a:off x="585216" y="40325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182 071</a:t>
            </a:r>
            <a:endParaRPr lang="en-US" sz="900" dirty="0"/>
          </a:p>
        </p:txBody>
      </p:sp>
      <p:sp>
        <p:nvSpPr>
          <p:cNvPr id="47" name="Text 45"/>
          <p:cNvSpPr/>
          <p:nvPr/>
        </p:nvSpPr>
        <p:spPr>
          <a:xfrm>
            <a:off x="2520696" y="40325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+60,3 %</a:t>
            </a:r>
            <a:endParaRPr lang="en-US" sz="900" dirty="0"/>
          </a:p>
        </p:txBody>
      </p:sp>
      <p:sp>
        <p:nvSpPr>
          <p:cNvPr id="48" name="Text 46"/>
          <p:cNvSpPr/>
          <p:nvPr/>
        </p:nvSpPr>
        <p:spPr>
          <a:xfrm>
            <a:off x="4456176" y="40325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33 %</a:t>
            </a:r>
            <a:endParaRPr lang="en-US" sz="900" dirty="0"/>
          </a:p>
        </p:txBody>
      </p:sp>
      <p:sp>
        <p:nvSpPr>
          <p:cNvPr id="49" name="Shape 47"/>
          <p:cNvSpPr/>
          <p:nvPr/>
        </p:nvSpPr>
        <p:spPr>
          <a:xfrm>
            <a:off x="137160" y="4251960"/>
            <a:ext cx="6217920" cy="256032"/>
          </a:xfrm>
          <a:prstGeom prst="rect">
            <a:avLst/>
          </a:prstGeom>
          <a:solidFill>
            <a:srgbClr val="FFFFFF"/>
          </a:solidFill>
          <a:ln w="3810">
            <a:solidFill>
              <a:srgbClr val="E5E7EB"/>
            </a:solidFill>
            <a:prstDash val="solid"/>
          </a:ln>
        </p:spPr>
      </p:sp>
      <p:sp>
        <p:nvSpPr>
          <p:cNvPr id="50" name="Text 48"/>
          <p:cNvSpPr/>
          <p:nvPr/>
        </p:nvSpPr>
        <p:spPr>
          <a:xfrm>
            <a:off x="173736" y="42885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MATÉR. ÉLECTRIQUES</a:t>
            </a:r>
            <a:endParaRPr lang="en-US" sz="900" dirty="0"/>
          </a:p>
        </p:txBody>
      </p:sp>
      <p:sp>
        <p:nvSpPr>
          <p:cNvPr id="51" name="Text 49"/>
          <p:cNvSpPr/>
          <p:nvPr/>
        </p:nvSpPr>
        <p:spPr>
          <a:xfrm>
            <a:off x="585216" y="42885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158 887</a:t>
            </a:r>
            <a:endParaRPr lang="en-US" sz="900" dirty="0"/>
          </a:p>
        </p:txBody>
      </p:sp>
      <p:sp>
        <p:nvSpPr>
          <p:cNvPr id="52" name="Text 50"/>
          <p:cNvSpPr/>
          <p:nvPr/>
        </p:nvSpPr>
        <p:spPr>
          <a:xfrm>
            <a:off x="2520696" y="42885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+145,9 %</a:t>
            </a:r>
            <a:endParaRPr lang="en-US" sz="900" dirty="0"/>
          </a:p>
        </p:txBody>
      </p:sp>
      <p:sp>
        <p:nvSpPr>
          <p:cNvPr id="53" name="Text 51"/>
          <p:cNvSpPr/>
          <p:nvPr/>
        </p:nvSpPr>
        <p:spPr>
          <a:xfrm>
            <a:off x="4456176" y="42885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54" name="Text 52"/>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Opportunités prioritaires – PDM AGL actuelle</a:t>
            </a:r>
            <a:endParaRPr lang="en-US" sz="1100" dirty="0"/>
          </a:p>
        </p:txBody>
      </p:sp>
      <p:sp>
        <p:nvSpPr>
          <p:cNvPr id="55" name="Text 53"/>
          <p:cNvSpPr/>
          <p:nvPr/>
        </p:nvSpPr>
        <p:spPr>
          <a:xfrm>
            <a:off x="6492240" y="1417320"/>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ŒUFS (CIBLE 8%)</a:t>
            </a:r>
            <a:endParaRPr lang="en-US" sz="850" dirty="0"/>
          </a:p>
        </p:txBody>
      </p:sp>
      <p:sp>
        <p:nvSpPr>
          <p:cNvPr id="56" name="Text 54"/>
          <p:cNvSpPr/>
          <p:nvPr/>
        </p:nvSpPr>
        <p:spPr>
          <a:xfrm>
            <a:off x="8156448" y="1417320"/>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1 883 317 kg</a:t>
            </a:r>
            <a:endParaRPr lang="en-US" sz="850" dirty="0"/>
          </a:p>
        </p:txBody>
      </p:sp>
      <p:sp>
        <p:nvSpPr>
          <p:cNvPr id="57" name="Shape 55"/>
          <p:cNvSpPr/>
          <p:nvPr/>
        </p:nvSpPr>
        <p:spPr>
          <a:xfrm>
            <a:off x="9052560" y="1453896"/>
            <a:ext cx="2743200" cy="164592"/>
          </a:xfrm>
          <a:prstGeom prst="rect">
            <a:avLst/>
          </a:prstGeom>
          <a:solidFill>
            <a:srgbClr val="E5E7EB"/>
          </a:solidFill>
          <a:ln/>
        </p:spPr>
      </p:sp>
      <p:sp>
        <p:nvSpPr>
          <p:cNvPr id="58" name="Shape 56"/>
          <p:cNvSpPr/>
          <p:nvPr/>
        </p:nvSpPr>
        <p:spPr>
          <a:xfrm>
            <a:off x="9052560" y="1453896"/>
            <a:ext cx="54864" cy="164592"/>
          </a:xfrm>
          <a:prstGeom prst="rect">
            <a:avLst/>
          </a:prstGeom>
          <a:solidFill>
            <a:srgbClr val="CC2200"/>
          </a:solidFill>
          <a:ln/>
        </p:spPr>
      </p:sp>
      <p:sp>
        <p:nvSpPr>
          <p:cNvPr id="59" name="Text 57"/>
          <p:cNvSpPr/>
          <p:nvPr/>
        </p:nvSpPr>
        <p:spPr>
          <a:xfrm>
            <a:off x="11841480" y="1417320"/>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1%</a:t>
            </a:r>
            <a:endParaRPr lang="en-US" sz="900" dirty="0"/>
          </a:p>
        </p:txBody>
      </p:sp>
      <p:sp>
        <p:nvSpPr>
          <p:cNvPr id="60" name="Text 58"/>
          <p:cNvSpPr/>
          <p:nvPr/>
        </p:nvSpPr>
        <p:spPr>
          <a:xfrm>
            <a:off x="6492240" y="180136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TÉLÉCOMS (ORANGE+MTN)</a:t>
            </a:r>
            <a:endParaRPr lang="en-US" sz="850" dirty="0"/>
          </a:p>
        </p:txBody>
      </p:sp>
      <p:sp>
        <p:nvSpPr>
          <p:cNvPr id="61" name="Text 59"/>
          <p:cNvSpPr/>
          <p:nvPr/>
        </p:nvSpPr>
        <p:spPr>
          <a:xfrm>
            <a:off x="8156448" y="180136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182 071 kg</a:t>
            </a:r>
            <a:endParaRPr lang="en-US" sz="850" dirty="0"/>
          </a:p>
        </p:txBody>
      </p:sp>
      <p:sp>
        <p:nvSpPr>
          <p:cNvPr id="62" name="Shape 60"/>
          <p:cNvSpPr/>
          <p:nvPr/>
        </p:nvSpPr>
        <p:spPr>
          <a:xfrm>
            <a:off x="9052560" y="1837944"/>
            <a:ext cx="2743200" cy="164592"/>
          </a:xfrm>
          <a:prstGeom prst="rect">
            <a:avLst/>
          </a:prstGeom>
          <a:solidFill>
            <a:srgbClr val="E5E7EB"/>
          </a:solidFill>
          <a:ln/>
        </p:spPr>
      </p:sp>
      <p:sp>
        <p:nvSpPr>
          <p:cNvPr id="63" name="Shape 61"/>
          <p:cNvSpPr/>
          <p:nvPr/>
        </p:nvSpPr>
        <p:spPr>
          <a:xfrm>
            <a:off x="9052560" y="1837944"/>
            <a:ext cx="905256" cy="164592"/>
          </a:xfrm>
          <a:prstGeom prst="rect">
            <a:avLst/>
          </a:prstGeom>
          <a:solidFill>
            <a:srgbClr val="2563A8"/>
          </a:solidFill>
          <a:ln/>
        </p:spPr>
      </p:sp>
      <p:sp>
        <p:nvSpPr>
          <p:cNvPr id="64" name="Text 62"/>
          <p:cNvSpPr/>
          <p:nvPr/>
        </p:nvSpPr>
        <p:spPr>
          <a:xfrm>
            <a:off x="11841480" y="1801368"/>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33%</a:t>
            </a:r>
            <a:endParaRPr lang="en-US" sz="900" dirty="0"/>
          </a:p>
        </p:txBody>
      </p:sp>
      <p:sp>
        <p:nvSpPr>
          <p:cNvPr id="65" name="Text 63"/>
          <p:cNvSpPr/>
          <p:nvPr/>
        </p:nvSpPr>
        <p:spPr>
          <a:xfrm>
            <a:off x="6492240" y="218541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MAT. MINIERS (K1)</a:t>
            </a:r>
            <a:endParaRPr lang="en-US" sz="850" dirty="0"/>
          </a:p>
        </p:txBody>
      </p:sp>
      <p:sp>
        <p:nvSpPr>
          <p:cNvPr id="66" name="Text 64"/>
          <p:cNvSpPr/>
          <p:nvPr/>
        </p:nvSpPr>
        <p:spPr>
          <a:xfrm>
            <a:off x="8156448" y="218541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515 776 kg</a:t>
            </a:r>
            <a:endParaRPr lang="en-US" sz="850" dirty="0"/>
          </a:p>
        </p:txBody>
      </p:sp>
      <p:sp>
        <p:nvSpPr>
          <p:cNvPr id="67" name="Shape 65"/>
          <p:cNvSpPr/>
          <p:nvPr/>
        </p:nvSpPr>
        <p:spPr>
          <a:xfrm>
            <a:off x="9052560" y="2221992"/>
            <a:ext cx="2743200" cy="164592"/>
          </a:xfrm>
          <a:prstGeom prst="rect">
            <a:avLst/>
          </a:prstGeom>
          <a:solidFill>
            <a:srgbClr val="E5E7EB"/>
          </a:solidFill>
          <a:ln/>
        </p:spPr>
      </p:sp>
      <p:sp>
        <p:nvSpPr>
          <p:cNvPr id="68" name="Shape 66"/>
          <p:cNvSpPr/>
          <p:nvPr/>
        </p:nvSpPr>
        <p:spPr>
          <a:xfrm>
            <a:off x="9052560" y="2221992"/>
            <a:ext cx="1673352" cy="164592"/>
          </a:xfrm>
          <a:prstGeom prst="rect">
            <a:avLst/>
          </a:prstGeom>
          <a:solidFill>
            <a:srgbClr val="1A7C4F"/>
          </a:solidFill>
          <a:ln/>
        </p:spPr>
      </p:sp>
      <p:sp>
        <p:nvSpPr>
          <p:cNvPr id="69" name="Text 67"/>
          <p:cNvSpPr/>
          <p:nvPr/>
        </p:nvSpPr>
        <p:spPr>
          <a:xfrm>
            <a:off x="11841480" y="218541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61%</a:t>
            </a:r>
            <a:endParaRPr lang="en-US" sz="900" dirty="0"/>
          </a:p>
        </p:txBody>
      </p:sp>
      <p:sp>
        <p:nvSpPr>
          <p:cNvPr id="70" name="Text 68"/>
          <p:cNvSpPr/>
          <p:nvPr/>
        </p:nvSpPr>
        <p:spPr>
          <a:xfrm>
            <a:off x="6492240" y="256946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PIÈCES DÉTACHÉES</a:t>
            </a:r>
            <a:endParaRPr lang="en-US" sz="850" dirty="0"/>
          </a:p>
        </p:txBody>
      </p:sp>
      <p:sp>
        <p:nvSpPr>
          <p:cNvPr id="71" name="Text 69"/>
          <p:cNvSpPr/>
          <p:nvPr/>
        </p:nvSpPr>
        <p:spPr>
          <a:xfrm>
            <a:off x="8156448" y="256946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942 926 kg</a:t>
            </a:r>
            <a:endParaRPr lang="en-US" sz="850" dirty="0"/>
          </a:p>
        </p:txBody>
      </p:sp>
      <p:sp>
        <p:nvSpPr>
          <p:cNvPr id="72" name="Shape 70"/>
          <p:cNvSpPr/>
          <p:nvPr/>
        </p:nvSpPr>
        <p:spPr>
          <a:xfrm>
            <a:off x="9052560" y="2606040"/>
            <a:ext cx="2743200" cy="164592"/>
          </a:xfrm>
          <a:prstGeom prst="rect">
            <a:avLst/>
          </a:prstGeom>
          <a:solidFill>
            <a:srgbClr val="E5E7EB"/>
          </a:solidFill>
          <a:ln/>
        </p:spPr>
      </p:sp>
      <p:sp>
        <p:nvSpPr>
          <p:cNvPr id="73" name="Shape 71"/>
          <p:cNvSpPr/>
          <p:nvPr/>
        </p:nvSpPr>
        <p:spPr>
          <a:xfrm>
            <a:off x="9052560" y="2606040"/>
            <a:ext cx="219456" cy="164592"/>
          </a:xfrm>
          <a:prstGeom prst="rect">
            <a:avLst/>
          </a:prstGeom>
          <a:solidFill>
            <a:srgbClr val="CC2200"/>
          </a:solidFill>
          <a:ln/>
        </p:spPr>
      </p:sp>
      <p:sp>
        <p:nvSpPr>
          <p:cNvPr id="74" name="Text 72"/>
          <p:cNvSpPr/>
          <p:nvPr/>
        </p:nvSpPr>
        <p:spPr>
          <a:xfrm>
            <a:off x="11841480" y="2569464"/>
            <a:ext cx="365760" cy="256032"/>
          </a:xfrm>
          <a:prstGeom prst="rect">
            <a:avLst/>
          </a:prstGeom>
          <a:noFill/>
          <a:ln/>
        </p:spPr>
        <p:txBody>
          <a:bodyPr wrap="square" rtlCol="0" anchor="ctr"/>
          <a:lstStyle/>
          <a:p>
            <a:pPr indent="0" marL="0">
              <a:buNone/>
            </a:pPr>
            <a:r>
              <a:rPr lang="en-US" sz="900" b="1" dirty="0">
                <a:solidFill>
                  <a:srgbClr val="CC2200"/>
                </a:solidFill>
                <a:latin typeface="Calibri" pitchFamily="34" charset="0"/>
                <a:ea typeface="Calibri" pitchFamily="34" charset="-122"/>
                <a:cs typeface="Calibri" pitchFamily="34" charset="-120"/>
              </a:rPr>
              <a:t>8%</a:t>
            </a:r>
            <a:endParaRPr lang="en-US" sz="900" dirty="0"/>
          </a:p>
        </p:txBody>
      </p:sp>
      <p:sp>
        <p:nvSpPr>
          <p:cNvPr id="75" name="Shape 73"/>
          <p:cNvSpPr/>
          <p:nvPr/>
        </p:nvSpPr>
        <p:spPr>
          <a:xfrm>
            <a:off x="6492240" y="3840480"/>
            <a:ext cx="5486400" cy="960120"/>
          </a:xfrm>
          <a:prstGeom prst="rect">
            <a:avLst/>
          </a:prstGeom>
          <a:solidFill>
            <a:srgbClr val="FFFBEC"/>
          </a:solidFill>
          <a:ln w="6350">
            <a:solidFill>
              <a:srgbClr val="E5C97A"/>
            </a:solidFill>
            <a:prstDash val="solid"/>
          </a:ln>
        </p:spPr>
      </p:sp>
      <p:sp>
        <p:nvSpPr>
          <p:cNvPr id="76" name="Text 74"/>
          <p:cNvSpPr/>
          <p:nvPr/>
        </p:nvSpPr>
        <p:spPr>
          <a:xfrm>
            <a:off x="6583680" y="3913632"/>
            <a:ext cx="530352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LEVIERS : Œufs : +26,9% de marché, AGL à 1% → cible 8% = +130 T/an. Transit-Coss en chute de –60% (696K→274K kg) : accélérer la captation de ses clients. Contrats cadres Télécoms 2027 à sécuriser dès maintenant.</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Shape 1"/>
          <p:cNvSpPr/>
          <p:nvPr/>
        </p:nvSpPr>
        <p:spPr>
          <a:xfrm>
            <a:off x="1097280" y="3520440"/>
            <a:ext cx="7498080" cy="59436"/>
          </a:xfrm>
          <a:prstGeom prst="rect">
            <a:avLst/>
          </a:prstGeom>
          <a:solidFill>
            <a:srgbClr val="C9A84C"/>
          </a:solidFill>
          <a:ln/>
        </p:spPr>
      </p:sp>
      <p:sp>
        <p:nvSpPr>
          <p:cNvPr id="4" name="Text 2"/>
          <p:cNvSpPr/>
          <p:nvPr/>
        </p:nvSpPr>
        <p:spPr>
          <a:xfrm>
            <a:off x="365760" y="2011680"/>
            <a:ext cx="11430000" cy="914400"/>
          </a:xfrm>
          <a:prstGeom prst="rect">
            <a:avLst/>
          </a:prstGeom>
          <a:noFill/>
          <a:ln/>
        </p:spPr>
        <p:txBody>
          <a:bodyPr wrap="square" rtlCol="0" anchor="ctr"/>
          <a:lstStyle/>
          <a:p>
            <a:pPr algn="ctr" indent="0" marL="0">
              <a:buNone/>
            </a:pPr>
            <a:r>
              <a:rPr lang="en-US" sz="7200" b="1" dirty="0">
                <a:solidFill>
                  <a:srgbClr val="1A2E4A"/>
                </a:solidFill>
                <a:latin typeface="Calibri" pitchFamily="34" charset="0"/>
                <a:ea typeface="Calibri" pitchFamily="34" charset="-122"/>
                <a:cs typeface="Calibri" pitchFamily="34" charset="-120"/>
              </a:rPr>
              <a:t>DSM</a:t>
            </a:r>
            <a:endParaRPr lang="en-US" sz="7200" dirty="0"/>
          </a:p>
        </p:txBody>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DIRECTION DES SOLUTIONS MARITIMES</a:t>
            </a:r>
            <a:endParaRPr lang="en-US" sz="2800" dirty="0"/>
          </a:p>
        </p:txBody>
      </p:sp>
      <p:sp>
        <p:nvSpPr>
          <p:cNvPr id="6" name="Text 4"/>
          <p:cNvSpPr/>
          <p:nvPr/>
        </p:nvSpPr>
        <p:spPr>
          <a:xfrm>
            <a:off x="365760" y="3703320"/>
            <a:ext cx="11430000" cy="457200"/>
          </a:xfrm>
          <a:prstGeom prst="rect">
            <a:avLst/>
          </a:prstGeom>
          <a:noFill/>
          <a:ln/>
        </p:spPr>
        <p:txBody>
          <a:bodyPr wrap="square" rtlCol="0" anchor="ctr"/>
          <a:lstStyle/>
          <a:p>
            <a:pPr algn="ctr" indent="0" marL="0">
              <a:buNone/>
            </a:pPr>
            <a:r>
              <a:rPr lang="en-US" sz="1400" i="1" dirty="0">
                <a:solidFill>
                  <a:srgbClr val="C9A84C"/>
                </a:solidFill>
                <a:latin typeface="Calibri" pitchFamily="34" charset="0"/>
                <a:ea typeface="Calibri" pitchFamily="34" charset="-122"/>
                <a:cs typeface="Calibri" pitchFamily="34" charset="-120"/>
              </a:rPr>
              <a:t>Étude des armateurs au B/L  |  Lignes régulières (TEU + RoRo)  |  Tramps : BRBK, Sac, Vrac</a:t>
            </a:r>
            <a:endParaRPr lang="en-US" sz="14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DSM – ARMATEURS AU B/L  |  Tonnage Import 2025</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Classement annuel tonnage tous conditionnements  |  Marché : 23 557 176 T  |  Hors PP</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p.26</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Armateurs au B/L (Import 2025)</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Armateur</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Tonnage</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AFFRETE   CLINKER</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8 483 253</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36,01 %</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ARMATEUR DIVERS</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2 611 451</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11,09 %</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MSC</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2 575 251</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10,93 %</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ARMATEURS DIVERS RIZ</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2 055 812</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8,73 %</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CMA CGM</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1 589 395</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6,75 %</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AFFRETES  BLE</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1 531 565</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6,50 %</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MAERSK LINE</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1 386 832</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5,89 %</a:t>
            </a:r>
            <a:endParaRPr lang="en-US" sz="90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50" name="Text 48"/>
          <p:cNvSpPr/>
          <p:nvPr/>
        </p:nvSpPr>
        <p:spPr>
          <a:xfrm>
            <a:off x="585216" y="345643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ARMATEUR DIVERS ENGRAIS</a:t>
            </a:r>
            <a:endParaRPr lang="en-US" sz="900" dirty="0"/>
          </a:p>
        </p:txBody>
      </p:sp>
      <p:sp>
        <p:nvSpPr>
          <p:cNvPr id="51" name="Text 49"/>
          <p:cNvSpPr/>
          <p:nvPr/>
        </p:nvSpPr>
        <p:spPr>
          <a:xfrm>
            <a:off x="252069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1 043 989</a:t>
            </a:r>
            <a:endParaRPr lang="en-US" sz="900" dirty="0"/>
          </a:p>
        </p:txBody>
      </p:sp>
      <p:sp>
        <p:nvSpPr>
          <p:cNvPr id="52" name="Text 50"/>
          <p:cNvSpPr/>
          <p:nvPr/>
        </p:nvSpPr>
        <p:spPr>
          <a:xfrm>
            <a:off x="445617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4,43 %</a:t>
            </a:r>
            <a:endParaRPr lang="en-US" sz="90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55" name="Text 53"/>
          <p:cNvSpPr/>
          <p:nvPr/>
        </p:nvSpPr>
        <p:spPr>
          <a:xfrm>
            <a:off x="585216" y="371246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HAPAG LLOYD</a:t>
            </a:r>
            <a:endParaRPr lang="en-US" sz="900" dirty="0"/>
          </a:p>
        </p:txBody>
      </p:sp>
      <p:sp>
        <p:nvSpPr>
          <p:cNvPr id="56" name="Text 54"/>
          <p:cNvSpPr/>
          <p:nvPr/>
        </p:nvSpPr>
        <p:spPr>
          <a:xfrm>
            <a:off x="252069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495 099</a:t>
            </a:r>
            <a:endParaRPr lang="en-US" sz="900" dirty="0"/>
          </a:p>
        </p:txBody>
      </p:sp>
      <p:sp>
        <p:nvSpPr>
          <p:cNvPr id="57" name="Text 55"/>
          <p:cNvSpPr/>
          <p:nvPr/>
        </p:nvSpPr>
        <p:spPr>
          <a:xfrm>
            <a:off x="445617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2,10 %</a:t>
            </a:r>
            <a:endParaRPr lang="en-US" sz="90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60" name="Text 58"/>
          <p:cNvSpPr/>
          <p:nvPr/>
        </p:nvSpPr>
        <p:spPr>
          <a:xfrm>
            <a:off x="585216" y="396849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AFRICA EXPRESS LINE</a:t>
            </a:r>
            <a:endParaRPr lang="en-US" sz="900" dirty="0"/>
          </a:p>
        </p:txBody>
      </p:sp>
      <p:sp>
        <p:nvSpPr>
          <p:cNvPr id="61" name="Text 59"/>
          <p:cNvSpPr/>
          <p:nvPr/>
        </p:nvSpPr>
        <p:spPr>
          <a:xfrm>
            <a:off x="252069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373 880</a:t>
            </a:r>
            <a:endParaRPr lang="en-US" sz="900" dirty="0"/>
          </a:p>
        </p:txBody>
      </p:sp>
      <p:sp>
        <p:nvSpPr>
          <p:cNvPr id="62" name="Text 60"/>
          <p:cNvSpPr/>
          <p:nvPr/>
        </p:nvSpPr>
        <p:spPr>
          <a:xfrm>
            <a:off x="445617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1,59 %</a:t>
            </a:r>
            <a:endParaRPr lang="en-US" sz="90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Évolution mensuelle Top 5 armateurs (% du marché mensuel)</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92240" y="1371600"/>
          <a:ext cx="5486400" cy="914400"/>
        </p:xfrm>
        <a:graphic>
          <a:graphicData uri="http://schemas.openxmlformats.org/drawingml/2006/table">
            <a:tbl>
              <a:tblPr/>
              <a:tblGrid>
                <a:gridCol w="1280160"/>
                <a:gridCol w="292608"/>
                <a:gridCol w="292608"/>
                <a:gridCol w="292608"/>
                <a:gridCol w="292608"/>
                <a:gridCol w="292608"/>
                <a:gridCol w="292608"/>
                <a:gridCol w="292608"/>
                <a:gridCol w="292608"/>
                <a:gridCol w="292608"/>
                <a:gridCol w="292608"/>
                <a:gridCol w="292608"/>
                <a:gridCol w="292608"/>
                <a:gridCol w="512064"/>
              </a:tblGrid>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Armateur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Jan</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Fév</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Mar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Avr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Mai</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Jun</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Jul</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Aoû</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Sep</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Oct</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Nov</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Déc</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Tot</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AFFRETE   CLINKER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47%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36,01 %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ARMATEUR DIVERS</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11,09 %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MSC</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13%</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10,93 %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ARMATEURS DIVERS R…</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21%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14%</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12%</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8,73 %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r h="256032">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CMA CGM</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6%</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5%</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11%</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700" dirty="0">
                          <a:solidFill>
                            <a:srgbClr val="000000"/>
                          </a:solidFill>
                          <a:latin typeface="Calibri" pitchFamily="34" charset="0"/>
                          <a:ea typeface="Calibri" pitchFamily="34" charset="-122"/>
                          <a:cs typeface="Calibri" pitchFamily="34" charset="-120"/>
                        </a:rPr>
                        <a:t>6,75 %</a:t>
                      </a:r>
                      <a:endParaRPr lang="en-US" sz="700" dirty="0">
                        <a:latin typeface="Calibri" charset="0"/>
                        <a:ea typeface="Calibri" charset="0"/>
                        <a:cs typeface="Calibri" charset="0"/>
                      </a:endParaRPr>
                    </a:p>
                  </a:txBody>
                  <a:tcPr marL="91440" marR="91440" marT="45720" marB="45720">
                    <a:lnL w="3175" cap="flat" cmpd="sng" algn="ctr">
                      <a:solidFill>
                        <a:srgbClr val="D1D5DB"/>
                      </a:solidFill>
                      <a:prstDash val="solid"/>
                      <a:round/>
                      <a:headEnd type="none" w="med" len="med"/>
                      <a:tailEnd type="none" w="med" len="med"/>
                    </a:lnL>
                    <a:lnR w="3175" cap="flat" cmpd="sng" algn="ctr">
                      <a:solidFill>
                        <a:srgbClr val="D1D5DB"/>
                      </a:solidFill>
                      <a:prstDash val="solid"/>
                      <a:round/>
                      <a:headEnd type="none" w="med" len="med"/>
                      <a:tailEnd type="none" w="med" len="med"/>
                    </a:lnR>
                    <a:lnT w="3175" cap="flat" cmpd="sng" algn="ctr">
                      <a:solidFill>
                        <a:srgbClr val="D1D5DB"/>
                      </a:solidFill>
                      <a:prstDash val="solid"/>
                      <a:round/>
                      <a:headEnd type="none" w="med" len="med"/>
                      <a:tailEnd type="none" w="med" len="med"/>
                    </a:lnT>
                    <a:lnB w="3175" cap="flat" cmpd="sng" algn="ctr">
                      <a:solidFill>
                        <a:srgbClr val="D1D5DB"/>
                      </a:solidFill>
                      <a:prstDash val="solid"/>
                      <a:round/>
                      <a:headEnd type="none" w="med" len="med"/>
                      <a:tailEnd type="none" w="med" len="med"/>
                    </a:lnB>
                    <a:solidFill>
                      <a:srgbClr val="FFFFFF"/>
                    </a:solidFill>
                  </a:tcPr>
                </a:tc>
              </a:tr>
            </a:tbl>
          </a:graphicData>
        </a:graphic>
      </p:graphicFrame>
      <p:sp>
        <p:nvSpPr>
          <p:cNvPr id="65" name="Shape 62"/>
          <p:cNvSpPr/>
          <p:nvPr/>
        </p:nvSpPr>
        <p:spPr>
          <a:xfrm>
            <a:off x="137160" y="5029200"/>
            <a:ext cx="11795760" cy="868680"/>
          </a:xfrm>
          <a:prstGeom prst="rect">
            <a:avLst/>
          </a:prstGeom>
          <a:solidFill>
            <a:srgbClr val="FFFBEC"/>
          </a:solidFill>
          <a:ln w="6350">
            <a:solidFill>
              <a:srgbClr val="E5C97A"/>
            </a:solidFill>
            <a:prstDash val="solid"/>
          </a:ln>
        </p:spPr>
      </p:sp>
      <p:sp>
        <p:nvSpPr>
          <p:cNvPr id="66" name="Text 63"/>
          <p:cNvSpPr/>
          <p:nvPr/>
        </p:nvSpPr>
        <p:spPr>
          <a:xfrm>
            <a:off x="228600" y="510235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INSIGHT ARMATEURS : Affrètement clinker (36,01 %) domine le tonnage import — flux cimenteries CIM-CI / SCA / SOCOCIM via CAM PHA, PORT SAID, MINA SAQR. Hors affrètement, MSC (10,93 %) + CMA CGM (6,75 %) + Maersk = ~16% sur lignes régulières. Cible AGL : consolider commission B/L sur ces 3 majors + capter armateurs riz/blé/engrais (vraquiers spot).</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DSM – MANUTENTIONNAIRES  |  Position AGL CI</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Classement annuel tonnage manutention  |  AGL CI : #8 avec 801 440 T (3,40 % PDM)</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p.27</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Manutentionnaires (Import 2025)</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Manutentionnaire</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Tonnage</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Shape 11"/>
          <p:cNvSpPr/>
          <p:nvPr/>
        </p:nvSpPr>
        <p:spPr>
          <a:xfrm>
            <a:off x="137160" y="1627632"/>
            <a:ext cx="6217920" cy="256032"/>
          </a:xfrm>
          <a:prstGeom prst="rect">
            <a:avLst/>
          </a:prstGeom>
          <a:solidFill>
            <a:srgbClr val="FFFFFF"/>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dirty="0">
                <a:solidFill>
                  <a:srgbClr val="1A7C4F"/>
                </a:solidFill>
                <a:latin typeface="Calibri" pitchFamily="34" charset="0"/>
                <a:ea typeface="Calibri" pitchFamily="34" charset="-122"/>
                <a:cs typeface="Calibri" pitchFamily="34" charset="-120"/>
              </a:rPr>
              <a:t>SEA-INVEST SHIPPING AGENCY CI</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7 842 206</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33,29 %</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Cote d'Ivoire Terminal</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4 334 309</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18,40 %</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Abidjan Terminal</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2 429 041</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10,31 %</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GLOBAL MANUTENTION</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1 448 303</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6,15 %</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TERMINAL INDUSTRIEL POLYVAL.SP</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1 385 420</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5,88 %</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SOGENA</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950 828</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4,04 %</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PETROCI</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818 059</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3,47 %</a:t>
            </a:r>
            <a:endParaRPr lang="en-US" sz="90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50" name="Text 48"/>
          <p:cNvSpPr/>
          <p:nvPr/>
        </p:nvSpPr>
        <p:spPr>
          <a:xfrm>
            <a:off x="585216" y="345643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AGL CI</a:t>
            </a:r>
            <a:endParaRPr lang="en-US" sz="900" dirty="0"/>
          </a:p>
        </p:txBody>
      </p:sp>
      <p:sp>
        <p:nvSpPr>
          <p:cNvPr id="51" name="Text 49"/>
          <p:cNvSpPr/>
          <p:nvPr/>
        </p:nvSpPr>
        <p:spPr>
          <a:xfrm>
            <a:off x="252069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801 440</a:t>
            </a:r>
            <a:endParaRPr lang="en-US" sz="900" dirty="0"/>
          </a:p>
        </p:txBody>
      </p:sp>
      <p:sp>
        <p:nvSpPr>
          <p:cNvPr id="52" name="Text 50"/>
          <p:cNvSpPr/>
          <p:nvPr/>
        </p:nvSpPr>
        <p:spPr>
          <a:xfrm>
            <a:off x="445617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3,40 %</a:t>
            </a:r>
            <a:endParaRPr lang="en-US" sz="900" dirty="0"/>
          </a:p>
        </p:txBody>
      </p:sp>
      <p:sp>
        <p:nvSpPr>
          <p:cNvPr id="53" name="Shape 51"/>
          <p:cNvSpPr/>
          <p:nvPr/>
        </p:nvSpPr>
        <p:spPr>
          <a:xfrm>
            <a:off x="137160" y="3675888"/>
            <a:ext cx="6217920" cy="256032"/>
          </a:xfrm>
          <a:prstGeom prst="rect">
            <a:avLst/>
          </a:prstGeom>
          <a:solidFill>
            <a:srgbClr val="FFF9EC"/>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#9</a:t>
            </a:r>
            <a:endParaRPr lang="en-US" sz="900" dirty="0"/>
          </a:p>
        </p:txBody>
      </p:sp>
      <p:sp>
        <p:nvSpPr>
          <p:cNvPr id="55" name="Text 53"/>
          <p:cNvSpPr/>
          <p:nvPr/>
        </p:nvSpPr>
        <p:spPr>
          <a:xfrm>
            <a:off x="585216" y="3712464"/>
            <a:ext cx="1889760" cy="201168"/>
          </a:xfrm>
          <a:prstGeom prst="rect">
            <a:avLst/>
          </a:prstGeom>
          <a:noFill/>
          <a:ln/>
        </p:spPr>
        <p:txBody>
          <a:bodyPr wrap="square" rtlCol="0" anchor="ctr"/>
          <a:lstStyle/>
          <a:p>
            <a:pPr algn="l" indent="0" marL="0">
              <a:buNone/>
            </a:pPr>
            <a:r>
              <a:rPr lang="en-US" sz="900" b="1" dirty="0">
                <a:solidFill>
                  <a:srgbClr val="374151"/>
                </a:solidFill>
                <a:latin typeface="Calibri" pitchFamily="34" charset="0"/>
                <a:ea typeface="Calibri" pitchFamily="34" charset="-122"/>
                <a:cs typeface="Calibri" pitchFamily="34" charset="-120"/>
              </a:rPr>
              <a:t>TERRA</a:t>
            </a:r>
            <a:endParaRPr lang="en-US" sz="900" dirty="0"/>
          </a:p>
        </p:txBody>
      </p:sp>
      <p:sp>
        <p:nvSpPr>
          <p:cNvPr id="56" name="Text 54"/>
          <p:cNvSpPr/>
          <p:nvPr/>
        </p:nvSpPr>
        <p:spPr>
          <a:xfrm>
            <a:off x="252069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532 188</a:t>
            </a:r>
            <a:endParaRPr lang="en-US" sz="900" dirty="0"/>
          </a:p>
        </p:txBody>
      </p:sp>
      <p:sp>
        <p:nvSpPr>
          <p:cNvPr id="57" name="Text 55"/>
          <p:cNvSpPr/>
          <p:nvPr/>
        </p:nvSpPr>
        <p:spPr>
          <a:xfrm>
            <a:off x="4456176" y="3712464"/>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2,26 %</a:t>
            </a:r>
            <a:endParaRPr lang="en-US" sz="90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60" name="Text 58"/>
          <p:cNvSpPr/>
          <p:nvPr/>
        </p:nvSpPr>
        <p:spPr>
          <a:xfrm>
            <a:off x="585216" y="396849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GMT SHIPPING COTE D'IVOIRE SA</a:t>
            </a:r>
            <a:endParaRPr lang="en-US" sz="900" dirty="0"/>
          </a:p>
        </p:txBody>
      </p:sp>
      <p:sp>
        <p:nvSpPr>
          <p:cNvPr id="61" name="Text 59"/>
          <p:cNvSpPr/>
          <p:nvPr/>
        </p:nvSpPr>
        <p:spPr>
          <a:xfrm>
            <a:off x="252069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515 138</a:t>
            </a:r>
            <a:endParaRPr lang="en-US" sz="900" dirty="0"/>
          </a:p>
        </p:txBody>
      </p:sp>
      <p:sp>
        <p:nvSpPr>
          <p:cNvPr id="62" name="Text 60"/>
          <p:cNvSpPr/>
          <p:nvPr/>
        </p:nvSpPr>
        <p:spPr>
          <a:xfrm>
            <a:off x="445617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2,19 %</a:t>
            </a:r>
            <a:endParaRPr lang="en-US" sz="90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AGL CI – tonnage mensuel manutention 2025</a:t>
            </a:r>
            <a:endParaRPr lang="en-US" sz="1100" dirty="0"/>
          </a:p>
        </p:txBody>
      </p:sp>
      <p:sp>
        <p:nvSpPr>
          <p:cNvPr id="64" name="Shape 62"/>
          <p:cNvSpPr/>
          <p:nvPr/>
        </p:nvSpPr>
        <p:spPr>
          <a:xfrm>
            <a:off x="6629400" y="3539177"/>
            <a:ext cx="388620" cy="209863"/>
          </a:xfrm>
          <a:prstGeom prst="rect">
            <a:avLst/>
          </a:prstGeom>
          <a:solidFill>
            <a:srgbClr val="0D2243"/>
          </a:solidFill>
          <a:ln/>
        </p:spPr>
      </p:sp>
      <p:sp>
        <p:nvSpPr>
          <p:cNvPr id="65" name="Text 63"/>
          <p:cNvSpPr/>
          <p:nvPr/>
        </p:nvSpPr>
        <p:spPr>
          <a:xfrm>
            <a:off x="662940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Jan</a:t>
            </a:r>
            <a:endParaRPr lang="en-US" sz="700" dirty="0"/>
          </a:p>
        </p:txBody>
      </p:sp>
      <p:sp>
        <p:nvSpPr>
          <p:cNvPr id="66" name="Text 64"/>
          <p:cNvSpPr/>
          <p:nvPr/>
        </p:nvSpPr>
        <p:spPr>
          <a:xfrm>
            <a:off x="6537960" y="3310577"/>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16k</a:t>
            </a:r>
            <a:endParaRPr lang="en-US" sz="600" dirty="0"/>
          </a:p>
        </p:txBody>
      </p:sp>
      <p:sp>
        <p:nvSpPr>
          <p:cNvPr id="67" name="Shape 65"/>
          <p:cNvSpPr/>
          <p:nvPr/>
        </p:nvSpPr>
        <p:spPr>
          <a:xfrm>
            <a:off x="7063740" y="2944681"/>
            <a:ext cx="388620" cy="804359"/>
          </a:xfrm>
          <a:prstGeom prst="rect">
            <a:avLst/>
          </a:prstGeom>
          <a:solidFill>
            <a:srgbClr val="0D2243"/>
          </a:solidFill>
          <a:ln/>
        </p:spPr>
      </p:sp>
      <p:sp>
        <p:nvSpPr>
          <p:cNvPr id="68" name="Text 66"/>
          <p:cNvSpPr/>
          <p:nvPr/>
        </p:nvSpPr>
        <p:spPr>
          <a:xfrm>
            <a:off x="706374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Fév</a:t>
            </a:r>
            <a:endParaRPr lang="en-US" sz="700" dirty="0"/>
          </a:p>
        </p:txBody>
      </p:sp>
      <p:sp>
        <p:nvSpPr>
          <p:cNvPr id="69" name="Text 67"/>
          <p:cNvSpPr/>
          <p:nvPr/>
        </p:nvSpPr>
        <p:spPr>
          <a:xfrm>
            <a:off x="6972300" y="2716081"/>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61k</a:t>
            </a:r>
            <a:endParaRPr lang="en-US" sz="600" dirty="0"/>
          </a:p>
        </p:txBody>
      </p:sp>
      <p:sp>
        <p:nvSpPr>
          <p:cNvPr id="70" name="Shape 68"/>
          <p:cNvSpPr/>
          <p:nvPr/>
        </p:nvSpPr>
        <p:spPr>
          <a:xfrm>
            <a:off x="7498080" y="3048076"/>
            <a:ext cx="388620" cy="700964"/>
          </a:xfrm>
          <a:prstGeom prst="rect">
            <a:avLst/>
          </a:prstGeom>
          <a:solidFill>
            <a:srgbClr val="0D2243"/>
          </a:solidFill>
          <a:ln/>
        </p:spPr>
      </p:sp>
      <p:sp>
        <p:nvSpPr>
          <p:cNvPr id="71" name="Text 69"/>
          <p:cNvSpPr/>
          <p:nvPr/>
        </p:nvSpPr>
        <p:spPr>
          <a:xfrm>
            <a:off x="749808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Mar</a:t>
            </a:r>
            <a:endParaRPr lang="en-US" sz="700" dirty="0"/>
          </a:p>
        </p:txBody>
      </p:sp>
      <p:sp>
        <p:nvSpPr>
          <p:cNvPr id="72" name="Text 70"/>
          <p:cNvSpPr/>
          <p:nvPr/>
        </p:nvSpPr>
        <p:spPr>
          <a:xfrm>
            <a:off x="7406640" y="2819476"/>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53k</a:t>
            </a:r>
            <a:endParaRPr lang="en-US" sz="600" dirty="0"/>
          </a:p>
        </p:txBody>
      </p:sp>
      <p:sp>
        <p:nvSpPr>
          <p:cNvPr id="73" name="Shape 71"/>
          <p:cNvSpPr/>
          <p:nvPr/>
        </p:nvSpPr>
        <p:spPr>
          <a:xfrm>
            <a:off x="7932420" y="3244494"/>
            <a:ext cx="388620" cy="504546"/>
          </a:xfrm>
          <a:prstGeom prst="rect">
            <a:avLst/>
          </a:prstGeom>
          <a:solidFill>
            <a:srgbClr val="0D2243"/>
          </a:solidFill>
          <a:ln/>
        </p:spPr>
      </p:sp>
      <p:sp>
        <p:nvSpPr>
          <p:cNvPr id="74" name="Text 72"/>
          <p:cNvSpPr/>
          <p:nvPr/>
        </p:nvSpPr>
        <p:spPr>
          <a:xfrm>
            <a:off x="793242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Avr</a:t>
            </a:r>
            <a:endParaRPr lang="en-US" sz="700" dirty="0"/>
          </a:p>
        </p:txBody>
      </p:sp>
      <p:sp>
        <p:nvSpPr>
          <p:cNvPr id="75" name="Text 73"/>
          <p:cNvSpPr/>
          <p:nvPr/>
        </p:nvSpPr>
        <p:spPr>
          <a:xfrm>
            <a:off x="7840980" y="3015894"/>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38k</a:t>
            </a:r>
            <a:endParaRPr lang="en-US" sz="600" dirty="0"/>
          </a:p>
        </p:txBody>
      </p:sp>
      <p:sp>
        <p:nvSpPr>
          <p:cNvPr id="76" name="Shape 74"/>
          <p:cNvSpPr/>
          <p:nvPr/>
        </p:nvSpPr>
        <p:spPr>
          <a:xfrm>
            <a:off x="8366760" y="1554480"/>
            <a:ext cx="388620" cy="2194560"/>
          </a:xfrm>
          <a:prstGeom prst="rect">
            <a:avLst/>
          </a:prstGeom>
          <a:solidFill>
            <a:srgbClr val="0D2243"/>
          </a:solidFill>
          <a:ln/>
        </p:spPr>
      </p:sp>
      <p:sp>
        <p:nvSpPr>
          <p:cNvPr id="77" name="Text 75"/>
          <p:cNvSpPr/>
          <p:nvPr/>
        </p:nvSpPr>
        <p:spPr>
          <a:xfrm>
            <a:off x="836676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Mai</a:t>
            </a:r>
            <a:endParaRPr lang="en-US" sz="700" dirty="0"/>
          </a:p>
        </p:txBody>
      </p:sp>
      <p:sp>
        <p:nvSpPr>
          <p:cNvPr id="78" name="Text 76"/>
          <p:cNvSpPr/>
          <p:nvPr/>
        </p:nvSpPr>
        <p:spPr>
          <a:xfrm>
            <a:off x="8275320" y="1325880"/>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166k</a:t>
            </a:r>
            <a:endParaRPr lang="en-US" sz="600" dirty="0"/>
          </a:p>
        </p:txBody>
      </p:sp>
      <p:sp>
        <p:nvSpPr>
          <p:cNvPr id="79" name="Shape 77"/>
          <p:cNvSpPr/>
          <p:nvPr/>
        </p:nvSpPr>
        <p:spPr>
          <a:xfrm>
            <a:off x="8801100" y="3114677"/>
            <a:ext cx="388620" cy="634363"/>
          </a:xfrm>
          <a:prstGeom prst="rect">
            <a:avLst/>
          </a:prstGeom>
          <a:solidFill>
            <a:srgbClr val="0D2243"/>
          </a:solidFill>
          <a:ln/>
        </p:spPr>
      </p:sp>
      <p:sp>
        <p:nvSpPr>
          <p:cNvPr id="80" name="Text 78"/>
          <p:cNvSpPr/>
          <p:nvPr/>
        </p:nvSpPr>
        <p:spPr>
          <a:xfrm>
            <a:off x="880110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Jun</a:t>
            </a:r>
            <a:endParaRPr lang="en-US" sz="700" dirty="0"/>
          </a:p>
        </p:txBody>
      </p:sp>
      <p:sp>
        <p:nvSpPr>
          <p:cNvPr id="81" name="Text 79"/>
          <p:cNvSpPr/>
          <p:nvPr/>
        </p:nvSpPr>
        <p:spPr>
          <a:xfrm>
            <a:off x="8709660" y="2886077"/>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48k</a:t>
            </a:r>
            <a:endParaRPr lang="en-US" sz="600" dirty="0"/>
          </a:p>
        </p:txBody>
      </p:sp>
      <p:sp>
        <p:nvSpPr>
          <p:cNvPr id="82" name="Shape 80"/>
          <p:cNvSpPr/>
          <p:nvPr/>
        </p:nvSpPr>
        <p:spPr>
          <a:xfrm>
            <a:off x="9235440" y="2439627"/>
            <a:ext cx="388620" cy="1309413"/>
          </a:xfrm>
          <a:prstGeom prst="rect">
            <a:avLst/>
          </a:prstGeom>
          <a:solidFill>
            <a:srgbClr val="0D2243"/>
          </a:solidFill>
          <a:ln/>
        </p:spPr>
      </p:sp>
      <p:sp>
        <p:nvSpPr>
          <p:cNvPr id="83" name="Text 81"/>
          <p:cNvSpPr/>
          <p:nvPr/>
        </p:nvSpPr>
        <p:spPr>
          <a:xfrm>
            <a:off x="923544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Jul</a:t>
            </a:r>
            <a:endParaRPr lang="en-US" sz="700" dirty="0"/>
          </a:p>
        </p:txBody>
      </p:sp>
      <p:sp>
        <p:nvSpPr>
          <p:cNvPr id="84" name="Text 82"/>
          <p:cNvSpPr/>
          <p:nvPr/>
        </p:nvSpPr>
        <p:spPr>
          <a:xfrm>
            <a:off x="9144000" y="2211027"/>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99k</a:t>
            </a:r>
            <a:endParaRPr lang="en-US" sz="600" dirty="0"/>
          </a:p>
        </p:txBody>
      </p:sp>
      <p:sp>
        <p:nvSpPr>
          <p:cNvPr id="85" name="Shape 83"/>
          <p:cNvSpPr/>
          <p:nvPr/>
        </p:nvSpPr>
        <p:spPr>
          <a:xfrm>
            <a:off x="9669780" y="3179706"/>
            <a:ext cx="388620" cy="569334"/>
          </a:xfrm>
          <a:prstGeom prst="rect">
            <a:avLst/>
          </a:prstGeom>
          <a:solidFill>
            <a:srgbClr val="0D2243"/>
          </a:solidFill>
          <a:ln/>
        </p:spPr>
      </p:sp>
      <p:sp>
        <p:nvSpPr>
          <p:cNvPr id="86" name="Text 84"/>
          <p:cNvSpPr/>
          <p:nvPr/>
        </p:nvSpPr>
        <p:spPr>
          <a:xfrm>
            <a:off x="966978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Aoû</a:t>
            </a:r>
            <a:endParaRPr lang="en-US" sz="700" dirty="0"/>
          </a:p>
        </p:txBody>
      </p:sp>
      <p:sp>
        <p:nvSpPr>
          <p:cNvPr id="87" name="Text 85"/>
          <p:cNvSpPr/>
          <p:nvPr/>
        </p:nvSpPr>
        <p:spPr>
          <a:xfrm>
            <a:off x="9578340" y="2951106"/>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43k</a:t>
            </a:r>
            <a:endParaRPr lang="en-US" sz="600" dirty="0"/>
          </a:p>
        </p:txBody>
      </p:sp>
      <p:sp>
        <p:nvSpPr>
          <p:cNvPr id="88" name="Shape 86"/>
          <p:cNvSpPr/>
          <p:nvPr/>
        </p:nvSpPr>
        <p:spPr>
          <a:xfrm>
            <a:off x="10104120" y="2682670"/>
            <a:ext cx="388620" cy="1066370"/>
          </a:xfrm>
          <a:prstGeom prst="rect">
            <a:avLst/>
          </a:prstGeom>
          <a:solidFill>
            <a:srgbClr val="0D2243"/>
          </a:solidFill>
          <a:ln/>
        </p:spPr>
      </p:sp>
      <p:sp>
        <p:nvSpPr>
          <p:cNvPr id="89" name="Text 87"/>
          <p:cNvSpPr/>
          <p:nvPr/>
        </p:nvSpPr>
        <p:spPr>
          <a:xfrm>
            <a:off x="1010412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Sep</a:t>
            </a:r>
            <a:endParaRPr lang="en-US" sz="700" dirty="0"/>
          </a:p>
        </p:txBody>
      </p:sp>
      <p:sp>
        <p:nvSpPr>
          <p:cNvPr id="90" name="Text 88"/>
          <p:cNvSpPr/>
          <p:nvPr/>
        </p:nvSpPr>
        <p:spPr>
          <a:xfrm>
            <a:off x="10012680" y="2454070"/>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81k</a:t>
            </a:r>
            <a:endParaRPr lang="en-US" sz="600" dirty="0"/>
          </a:p>
        </p:txBody>
      </p:sp>
      <p:sp>
        <p:nvSpPr>
          <p:cNvPr id="91" name="Shape 89"/>
          <p:cNvSpPr/>
          <p:nvPr/>
        </p:nvSpPr>
        <p:spPr>
          <a:xfrm>
            <a:off x="10538460" y="2964773"/>
            <a:ext cx="388620" cy="784267"/>
          </a:xfrm>
          <a:prstGeom prst="rect">
            <a:avLst/>
          </a:prstGeom>
          <a:solidFill>
            <a:srgbClr val="0D2243"/>
          </a:solidFill>
          <a:ln/>
        </p:spPr>
      </p:sp>
      <p:sp>
        <p:nvSpPr>
          <p:cNvPr id="92" name="Text 90"/>
          <p:cNvSpPr/>
          <p:nvPr/>
        </p:nvSpPr>
        <p:spPr>
          <a:xfrm>
            <a:off x="1053846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Oct</a:t>
            </a:r>
            <a:endParaRPr lang="en-US" sz="700" dirty="0"/>
          </a:p>
        </p:txBody>
      </p:sp>
      <p:sp>
        <p:nvSpPr>
          <p:cNvPr id="93" name="Text 91"/>
          <p:cNvSpPr/>
          <p:nvPr/>
        </p:nvSpPr>
        <p:spPr>
          <a:xfrm>
            <a:off x="10447020" y="2736173"/>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59k</a:t>
            </a:r>
            <a:endParaRPr lang="en-US" sz="600" dirty="0"/>
          </a:p>
        </p:txBody>
      </p:sp>
      <p:sp>
        <p:nvSpPr>
          <p:cNvPr id="94" name="Shape 92"/>
          <p:cNvSpPr/>
          <p:nvPr/>
        </p:nvSpPr>
        <p:spPr>
          <a:xfrm>
            <a:off x="10972800" y="2289784"/>
            <a:ext cx="388620" cy="1459256"/>
          </a:xfrm>
          <a:prstGeom prst="rect">
            <a:avLst/>
          </a:prstGeom>
          <a:solidFill>
            <a:srgbClr val="0D2243"/>
          </a:solidFill>
          <a:ln/>
        </p:spPr>
      </p:sp>
      <p:sp>
        <p:nvSpPr>
          <p:cNvPr id="95" name="Text 93"/>
          <p:cNvSpPr/>
          <p:nvPr/>
        </p:nvSpPr>
        <p:spPr>
          <a:xfrm>
            <a:off x="1097280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Nov</a:t>
            </a:r>
            <a:endParaRPr lang="en-US" sz="700" dirty="0"/>
          </a:p>
        </p:txBody>
      </p:sp>
      <p:sp>
        <p:nvSpPr>
          <p:cNvPr id="96" name="Text 94"/>
          <p:cNvSpPr/>
          <p:nvPr/>
        </p:nvSpPr>
        <p:spPr>
          <a:xfrm>
            <a:off x="10881360" y="2061184"/>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110k</a:t>
            </a:r>
            <a:endParaRPr lang="en-US" sz="600" dirty="0"/>
          </a:p>
        </p:txBody>
      </p:sp>
      <p:sp>
        <p:nvSpPr>
          <p:cNvPr id="97" name="Shape 95"/>
          <p:cNvSpPr/>
          <p:nvPr/>
        </p:nvSpPr>
        <p:spPr>
          <a:xfrm>
            <a:off x="11407140" y="3370210"/>
            <a:ext cx="388620" cy="378830"/>
          </a:xfrm>
          <a:prstGeom prst="rect">
            <a:avLst/>
          </a:prstGeom>
          <a:solidFill>
            <a:srgbClr val="0D2243"/>
          </a:solidFill>
          <a:ln/>
        </p:spPr>
      </p:sp>
      <p:sp>
        <p:nvSpPr>
          <p:cNvPr id="98" name="Text 96"/>
          <p:cNvSpPr/>
          <p:nvPr/>
        </p:nvSpPr>
        <p:spPr>
          <a:xfrm>
            <a:off x="11407140" y="3794760"/>
            <a:ext cx="434340" cy="182880"/>
          </a:xfrm>
          <a:prstGeom prst="rect">
            <a:avLst/>
          </a:prstGeom>
          <a:noFill/>
          <a:ln/>
        </p:spPr>
        <p:txBody>
          <a:bodyPr wrap="square" rtlCol="0" anchor="ctr"/>
          <a:lstStyle/>
          <a:p>
            <a:pPr algn="ctr" indent="0" marL="0">
              <a:buNone/>
            </a:pPr>
            <a:r>
              <a:rPr lang="en-US" sz="700" dirty="0">
                <a:solidFill>
                  <a:srgbClr val="6B7280"/>
                </a:solidFill>
                <a:latin typeface="Calibri" pitchFamily="34" charset="0"/>
                <a:ea typeface="Calibri" pitchFamily="34" charset="-122"/>
                <a:cs typeface="Calibri" pitchFamily="34" charset="-120"/>
              </a:rPr>
              <a:t>Déc</a:t>
            </a:r>
            <a:endParaRPr lang="en-US" sz="700" dirty="0"/>
          </a:p>
        </p:txBody>
      </p:sp>
      <p:sp>
        <p:nvSpPr>
          <p:cNvPr id="99" name="Text 97"/>
          <p:cNvSpPr/>
          <p:nvPr/>
        </p:nvSpPr>
        <p:spPr>
          <a:xfrm>
            <a:off x="11315700" y="3141610"/>
            <a:ext cx="571500" cy="182880"/>
          </a:xfrm>
          <a:prstGeom prst="rect">
            <a:avLst/>
          </a:prstGeom>
          <a:noFill/>
          <a:ln/>
        </p:spPr>
        <p:txBody>
          <a:bodyPr wrap="square" rtlCol="0" anchor="ctr"/>
          <a:lstStyle/>
          <a:p>
            <a:pPr algn="ctr" indent="0" marL="0">
              <a:buNone/>
            </a:pPr>
            <a:r>
              <a:rPr lang="en-US" sz="600" b="1" dirty="0">
                <a:solidFill>
                  <a:srgbClr val="0D2243"/>
                </a:solidFill>
                <a:latin typeface="Calibri" pitchFamily="34" charset="0"/>
                <a:ea typeface="Calibri" pitchFamily="34" charset="-122"/>
                <a:cs typeface="Calibri" pitchFamily="34" charset="-120"/>
              </a:rPr>
              <a:t>29k</a:t>
            </a:r>
            <a:endParaRPr lang="en-US" sz="600" dirty="0"/>
          </a:p>
        </p:txBody>
      </p:sp>
      <p:sp>
        <p:nvSpPr>
          <p:cNvPr id="100" name="Shape 98"/>
          <p:cNvSpPr/>
          <p:nvPr/>
        </p:nvSpPr>
        <p:spPr>
          <a:xfrm>
            <a:off x="137160" y="5029200"/>
            <a:ext cx="11795760" cy="868680"/>
          </a:xfrm>
          <a:prstGeom prst="rect">
            <a:avLst/>
          </a:prstGeom>
          <a:solidFill>
            <a:srgbClr val="FFFBEC"/>
          </a:solidFill>
          <a:ln w="6350">
            <a:solidFill>
              <a:srgbClr val="E5C97A"/>
            </a:solidFill>
            <a:prstDash val="solid"/>
          </a:ln>
        </p:spPr>
      </p:sp>
      <p:sp>
        <p:nvSpPr>
          <p:cNvPr id="101" name="Text 99"/>
          <p:cNvSpPr/>
          <p:nvPr/>
        </p:nvSpPr>
        <p:spPr>
          <a:xfrm>
            <a:off x="228600" y="510235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STRATÉGIE MANUTENTION : AGL CI #8 sur 10 (3,40 %) — écart important avec leader Sea-Invest (33,29 %) et Côte d'Ivoire Terminal (18,40 %). Levier 2026 : capter manutention vraquiers clinker (CAM PHA → cimenteries) + consolider Global Manutention en partenariat technique. Objectif 6% PDM à 18 mois.</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DSM – CONSIGNATAIRES &amp; PORTS DE CHARGEMENT</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AGL CI #2 consignataire (13,73 % PDM, 3 235 436 T)  |  Top 10 POL Import 2025</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p.27b</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Consignataires (Import 2025)</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Consignataire</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Tonnage</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Shape 11"/>
          <p:cNvSpPr/>
          <p:nvPr/>
        </p:nvSpPr>
        <p:spPr>
          <a:xfrm>
            <a:off x="137160" y="1627632"/>
            <a:ext cx="6217920" cy="256032"/>
          </a:xfrm>
          <a:prstGeom prst="rect">
            <a:avLst/>
          </a:prstGeom>
          <a:solidFill>
            <a:srgbClr val="FFFFFF"/>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dirty="0">
                <a:solidFill>
                  <a:srgbClr val="1A7C4F"/>
                </a:solidFill>
                <a:latin typeface="Calibri" pitchFamily="34" charset="0"/>
                <a:ea typeface="Calibri" pitchFamily="34" charset="-122"/>
                <a:cs typeface="Calibri" pitchFamily="34" charset="-120"/>
              </a:rPr>
              <a:t>SEA-INVEST SHIPPING AGENCY</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4 674 668</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19,84 %</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AGL CI</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3 235 436</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13,73 %</a:t>
            </a:r>
            <a:endParaRPr lang="en-US" sz="900" dirty="0"/>
          </a:p>
        </p:txBody>
      </p:sp>
      <p:sp>
        <p:nvSpPr>
          <p:cNvPr id="23" name="Shape 21"/>
          <p:cNvSpPr/>
          <p:nvPr/>
        </p:nvSpPr>
        <p:spPr>
          <a:xfrm>
            <a:off x="137160" y="2139696"/>
            <a:ext cx="6217920" cy="256032"/>
          </a:xfrm>
          <a:prstGeom prst="rect">
            <a:avLst/>
          </a:prstGeom>
          <a:solidFill>
            <a:srgbClr val="FFF9EC"/>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#3</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b="1" dirty="0">
                <a:solidFill>
                  <a:srgbClr val="374151"/>
                </a:solidFill>
                <a:latin typeface="Calibri" pitchFamily="34" charset="0"/>
                <a:ea typeface="Calibri" pitchFamily="34" charset="-122"/>
                <a:cs typeface="Calibri" pitchFamily="34" charset="-120"/>
              </a:rPr>
              <a:t>MSC</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2 566 802</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10,90 %</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SEA-INVEST SHIPPING AGENCY SPY</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1 767 250</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7,50 %</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GLOBAL MANUTENCION CI GMCI</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1 488 870</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6,32 %</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CMA CGM</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1 482 003</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6,29 %</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MAERSK LINES</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1 468 912</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6,24 %</a:t>
            </a:r>
            <a:endParaRPr lang="en-US" sz="900" dirty="0"/>
          </a:p>
        </p:txBody>
      </p:sp>
      <p:sp>
        <p:nvSpPr>
          <p:cNvPr id="48" name="Shape 46"/>
          <p:cNvSpPr/>
          <p:nvPr/>
        </p:nvSpPr>
        <p:spPr>
          <a:xfrm>
            <a:off x="137160" y="3419856"/>
            <a:ext cx="6217920" cy="256032"/>
          </a:xfrm>
          <a:prstGeom prst="rect">
            <a:avLst/>
          </a:prstGeom>
          <a:solidFill>
            <a:srgbClr val="F8F9FA"/>
          </a:solidFill>
          <a:ln w="3810">
            <a:solidFill>
              <a:srgbClr val="E5E7EB"/>
            </a:solidFill>
            <a:prstDash val="solid"/>
          </a:ln>
        </p:spPr>
      </p:sp>
      <p:sp>
        <p:nvSpPr>
          <p:cNvPr id="49" name="Text 47"/>
          <p:cNvSpPr/>
          <p:nvPr/>
        </p:nvSpPr>
        <p:spPr>
          <a:xfrm>
            <a:off x="17373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50" name="Text 48"/>
          <p:cNvSpPr/>
          <p:nvPr/>
        </p:nvSpPr>
        <p:spPr>
          <a:xfrm>
            <a:off x="585216" y="345643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SAKINA SHIPS</a:t>
            </a:r>
            <a:endParaRPr lang="en-US" sz="900" dirty="0"/>
          </a:p>
        </p:txBody>
      </p:sp>
      <p:sp>
        <p:nvSpPr>
          <p:cNvPr id="51" name="Text 49"/>
          <p:cNvSpPr/>
          <p:nvPr/>
        </p:nvSpPr>
        <p:spPr>
          <a:xfrm>
            <a:off x="252069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826 270</a:t>
            </a:r>
            <a:endParaRPr lang="en-US" sz="900" dirty="0"/>
          </a:p>
        </p:txBody>
      </p:sp>
      <p:sp>
        <p:nvSpPr>
          <p:cNvPr id="52" name="Text 50"/>
          <p:cNvSpPr/>
          <p:nvPr/>
        </p:nvSpPr>
        <p:spPr>
          <a:xfrm>
            <a:off x="4456176" y="345643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3,51 %</a:t>
            </a:r>
            <a:endParaRPr lang="en-US" sz="900" dirty="0"/>
          </a:p>
        </p:txBody>
      </p:sp>
      <p:sp>
        <p:nvSpPr>
          <p:cNvPr id="53" name="Shape 51"/>
          <p:cNvSpPr/>
          <p:nvPr/>
        </p:nvSpPr>
        <p:spPr>
          <a:xfrm>
            <a:off x="137160" y="3675888"/>
            <a:ext cx="6217920" cy="256032"/>
          </a:xfrm>
          <a:prstGeom prst="rect">
            <a:avLst/>
          </a:prstGeom>
          <a:solidFill>
            <a:srgbClr val="FFFFFF"/>
          </a:solidFill>
          <a:ln w="3810">
            <a:solidFill>
              <a:srgbClr val="E5E7EB"/>
            </a:solidFill>
            <a:prstDash val="solid"/>
          </a:ln>
        </p:spPr>
      </p:sp>
      <p:sp>
        <p:nvSpPr>
          <p:cNvPr id="54" name="Text 52"/>
          <p:cNvSpPr/>
          <p:nvPr/>
        </p:nvSpPr>
        <p:spPr>
          <a:xfrm>
            <a:off x="17373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55" name="Text 53"/>
          <p:cNvSpPr/>
          <p:nvPr/>
        </p:nvSpPr>
        <p:spPr>
          <a:xfrm>
            <a:off x="585216" y="371246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OMA CI</a:t>
            </a:r>
            <a:endParaRPr lang="en-US" sz="900" dirty="0"/>
          </a:p>
        </p:txBody>
      </p:sp>
      <p:sp>
        <p:nvSpPr>
          <p:cNvPr id="56" name="Text 54"/>
          <p:cNvSpPr/>
          <p:nvPr/>
        </p:nvSpPr>
        <p:spPr>
          <a:xfrm>
            <a:off x="252069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580 614</a:t>
            </a:r>
            <a:endParaRPr lang="en-US" sz="900" dirty="0"/>
          </a:p>
        </p:txBody>
      </p:sp>
      <p:sp>
        <p:nvSpPr>
          <p:cNvPr id="57" name="Text 55"/>
          <p:cNvSpPr/>
          <p:nvPr/>
        </p:nvSpPr>
        <p:spPr>
          <a:xfrm>
            <a:off x="4456176" y="371246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2,46 %</a:t>
            </a:r>
            <a:endParaRPr lang="en-US" sz="900" dirty="0"/>
          </a:p>
        </p:txBody>
      </p:sp>
      <p:sp>
        <p:nvSpPr>
          <p:cNvPr id="58" name="Shape 56"/>
          <p:cNvSpPr/>
          <p:nvPr/>
        </p:nvSpPr>
        <p:spPr>
          <a:xfrm>
            <a:off x="137160" y="3931920"/>
            <a:ext cx="6217920" cy="256032"/>
          </a:xfrm>
          <a:prstGeom prst="rect">
            <a:avLst/>
          </a:prstGeom>
          <a:solidFill>
            <a:srgbClr val="F8F9FA"/>
          </a:solidFill>
          <a:ln w="3810">
            <a:solidFill>
              <a:srgbClr val="E5E7EB"/>
            </a:solidFill>
            <a:prstDash val="solid"/>
          </a:ln>
        </p:spPr>
      </p:sp>
      <p:sp>
        <p:nvSpPr>
          <p:cNvPr id="59" name="Text 57"/>
          <p:cNvSpPr/>
          <p:nvPr/>
        </p:nvSpPr>
        <p:spPr>
          <a:xfrm>
            <a:off x="17373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60" name="Text 58"/>
          <p:cNvSpPr/>
          <p:nvPr/>
        </p:nvSpPr>
        <p:spPr>
          <a:xfrm>
            <a:off x="585216" y="396849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GMT SHIPPING</a:t>
            </a:r>
            <a:endParaRPr lang="en-US" sz="900" dirty="0"/>
          </a:p>
        </p:txBody>
      </p:sp>
      <p:sp>
        <p:nvSpPr>
          <p:cNvPr id="61" name="Text 59"/>
          <p:cNvSpPr/>
          <p:nvPr/>
        </p:nvSpPr>
        <p:spPr>
          <a:xfrm>
            <a:off x="252069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559 906</a:t>
            </a:r>
            <a:endParaRPr lang="en-US" sz="900" dirty="0"/>
          </a:p>
        </p:txBody>
      </p:sp>
      <p:sp>
        <p:nvSpPr>
          <p:cNvPr id="62" name="Text 60"/>
          <p:cNvSpPr/>
          <p:nvPr/>
        </p:nvSpPr>
        <p:spPr>
          <a:xfrm>
            <a:off x="4456176" y="396849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2,38 %</a:t>
            </a:r>
            <a:endParaRPr lang="en-US" sz="900" dirty="0"/>
          </a:p>
        </p:txBody>
      </p:sp>
      <p:sp>
        <p:nvSpPr>
          <p:cNvPr id="63" name="Text 61"/>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Top 10 POL — Origines des imports 2025</a:t>
            </a:r>
            <a:endParaRPr lang="en-US" sz="1100" dirty="0"/>
          </a:p>
        </p:txBody>
      </p:sp>
      <p:sp>
        <p:nvSpPr>
          <p:cNvPr id="64" name="Shape 62"/>
          <p:cNvSpPr/>
          <p:nvPr/>
        </p:nvSpPr>
        <p:spPr>
          <a:xfrm>
            <a:off x="6492240" y="1371600"/>
            <a:ext cx="5486400" cy="256032"/>
          </a:xfrm>
          <a:prstGeom prst="rect">
            <a:avLst/>
          </a:prstGeom>
          <a:solidFill>
            <a:srgbClr val="0D2243"/>
          </a:solidFill>
          <a:ln/>
        </p:spPr>
      </p:sp>
      <p:sp>
        <p:nvSpPr>
          <p:cNvPr id="65" name="Text 63"/>
          <p:cNvSpPr/>
          <p:nvPr/>
        </p:nvSpPr>
        <p:spPr>
          <a:xfrm>
            <a:off x="652881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a:t>
            </a:r>
            <a:endParaRPr lang="en-US" sz="900" dirty="0"/>
          </a:p>
        </p:txBody>
      </p:sp>
      <p:sp>
        <p:nvSpPr>
          <p:cNvPr id="66" name="Text 64"/>
          <p:cNvSpPr/>
          <p:nvPr/>
        </p:nvSpPr>
        <p:spPr>
          <a:xfrm>
            <a:off x="6940296" y="1408176"/>
            <a:ext cx="164592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Port de chargement</a:t>
            </a:r>
            <a:endParaRPr lang="en-US" sz="900" dirty="0"/>
          </a:p>
        </p:txBody>
      </p:sp>
      <p:sp>
        <p:nvSpPr>
          <p:cNvPr id="67" name="Text 65"/>
          <p:cNvSpPr/>
          <p:nvPr/>
        </p:nvSpPr>
        <p:spPr>
          <a:xfrm>
            <a:off x="8631936" y="1408176"/>
            <a:ext cx="16459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Tonnage</a:t>
            </a:r>
            <a:endParaRPr lang="en-US" sz="900" dirty="0"/>
          </a:p>
        </p:txBody>
      </p:sp>
      <p:sp>
        <p:nvSpPr>
          <p:cNvPr id="68" name="Text 66"/>
          <p:cNvSpPr/>
          <p:nvPr/>
        </p:nvSpPr>
        <p:spPr>
          <a:xfrm>
            <a:off x="10323576" y="1408176"/>
            <a:ext cx="164592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69" name="Shape 67"/>
          <p:cNvSpPr/>
          <p:nvPr/>
        </p:nvSpPr>
        <p:spPr>
          <a:xfrm>
            <a:off x="6492240" y="1627632"/>
            <a:ext cx="5486400" cy="256032"/>
          </a:xfrm>
          <a:prstGeom prst="rect">
            <a:avLst/>
          </a:prstGeom>
          <a:solidFill>
            <a:srgbClr val="FFF9EC"/>
          </a:solidFill>
          <a:ln w="3810">
            <a:solidFill>
              <a:srgbClr val="E5E7EB"/>
            </a:solidFill>
            <a:prstDash val="solid"/>
          </a:ln>
        </p:spPr>
      </p:sp>
      <p:sp>
        <p:nvSpPr>
          <p:cNvPr id="70" name="Text 68"/>
          <p:cNvSpPr/>
          <p:nvPr/>
        </p:nvSpPr>
        <p:spPr>
          <a:xfrm>
            <a:off x="652881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#1</a:t>
            </a:r>
            <a:endParaRPr lang="en-US" sz="900" dirty="0"/>
          </a:p>
        </p:txBody>
      </p:sp>
      <p:sp>
        <p:nvSpPr>
          <p:cNvPr id="71" name="Text 69"/>
          <p:cNvSpPr/>
          <p:nvPr/>
        </p:nvSpPr>
        <p:spPr>
          <a:xfrm>
            <a:off x="6940296" y="1664208"/>
            <a:ext cx="164592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CAM PHA</a:t>
            </a:r>
            <a:endParaRPr lang="en-US" sz="900" dirty="0"/>
          </a:p>
        </p:txBody>
      </p:sp>
      <p:sp>
        <p:nvSpPr>
          <p:cNvPr id="72" name="Text 70"/>
          <p:cNvSpPr/>
          <p:nvPr/>
        </p:nvSpPr>
        <p:spPr>
          <a:xfrm>
            <a:off x="8631936" y="1664208"/>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2 118 362</a:t>
            </a:r>
            <a:endParaRPr lang="en-US" sz="900" dirty="0"/>
          </a:p>
        </p:txBody>
      </p:sp>
      <p:sp>
        <p:nvSpPr>
          <p:cNvPr id="73" name="Text 71"/>
          <p:cNvSpPr/>
          <p:nvPr/>
        </p:nvSpPr>
        <p:spPr>
          <a:xfrm>
            <a:off x="10323576" y="1664208"/>
            <a:ext cx="164592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8,99 %</a:t>
            </a:r>
            <a:endParaRPr lang="en-US" sz="900" dirty="0"/>
          </a:p>
        </p:txBody>
      </p:sp>
      <p:sp>
        <p:nvSpPr>
          <p:cNvPr id="74" name="Shape 72"/>
          <p:cNvSpPr/>
          <p:nvPr/>
        </p:nvSpPr>
        <p:spPr>
          <a:xfrm>
            <a:off x="6492240" y="1883664"/>
            <a:ext cx="5486400" cy="256032"/>
          </a:xfrm>
          <a:prstGeom prst="rect">
            <a:avLst/>
          </a:prstGeom>
          <a:solidFill>
            <a:srgbClr val="F8F9FA"/>
          </a:solidFill>
          <a:ln w="3810">
            <a:solidFill>
              <a:srgbClr val="E5E7EB"/>
            </a:solidFill>
            <a:prstDash val="solid"/>
          </a:ln>
        </p:spPr>
      </p:sp>
      <p:sp>
        <p:nvSpPr>
          <p:cNvPr id="75" name="Text 73"/>
          <p:cNvSpPr/>
          <p:nvPr/>
        </p:nvSpPr>
        <p:spPr>
          <a:xfrm>
            <a:off x="652881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a:t>
            </a:r>
            <a:endParaRPr lang="en-US" sz="900" dirty="0"/>
          </a:p>
        </p:txBody>
      </p:sp>
      <p:sp>
        <p:nvSpPr>
          <p:cNvPr id="76" name="Text 74"/>
          <p:cNvSpPr/>
          <p:nvPr/>
        </p:nvSpPr>
        <p:spPr>
          <a:xfrm>
            <a:off x="6940296" y="1920240"/>
            <a:ext cx="16459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PORT SAID</a:t>
            </a:r>
            <a:endParaRPr lang="en-US" sz="900" dirty="0"/>
          </a:p>
        </p:txBody>
      </p:sp>
      <p:sp>
        <p:nvSpPr>
          <p:cNvPr id="77" name="Text 75"/>
          <p:cNvSpPr/>
          <p:nvPr/>
        </p:nvSpPr>
        <p:spPr>
          <a:xfrm>
            <a:off x="8631936" y="1920240"/>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1 697 749</a:t>
            </a:r>
            <a:endParaRPr lang="en-US" sz="900" dirty="0"/>
          </a:p>
        </p:txBody>
      </p:sp>
      <p:sp>
        <p:nvSpPr>
          <p:cNvPr id="78" name="Text 76"/>
          <p:cNvSpPr/>
          <p:nvPr/>
        </p:nvSpPr>
        <p:spPr>
          <a:xfrm>
            <a:off x="10323576" y="1920240"/>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7,21 %</a:t>
            </a:r>
            <a:endParaRPr lang="en-US" sz="900" dirty="0"/>
          </a:p>
        </p:txBody>
      </p:sp>
      <p:sp>
        <p:nvSpPr>
          <p:cNvPr id="79" name="Shape 77"/>
          <p:cNvSpPr/>
          <p:nvPr/>
        </p:nvSpPr>
        <p:spPr>
          <a:xfrm>
            <a:off x="6492240" y="2139696"/>
            <a:ext cx="5486400" cy="256032"/>
          </a:xfrm>
          <a:prstGeom prst="rect">
            <a:avLst/>
          </a:prstGeom>
          <a:solidFill>
            <a:srgbClr val="FFFFFF"/>
          </a:solidFill>
          <a:ln w="3810">
            <a:solidFill>
              <a:srgbClr val="E5E7EB"/>
            </a:solidFill>
            <a:prstDash val="solid"/>
          </a:ln>
        </p:spPr>
      </p:sp>
      <p:sp>
        <p:nvSpPr>
          <p:cNvPr id="80" name="Text 78"/>
          <p:cNvSpPr/>
          <p:nvPr/>
        </p:nvSpPr>
        <p:spPr>
          <a:xfrm>
            <a:off x="652881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81" name="Text 79"/>
          <p:cNvSpPr/>
          <p:nvPr/>
        </p:nvSpPr>
        <p:spPr>
          <a:xfrm>
            <a:off x="6940296" y="2176272"/>
            <a:ext cx="16459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MINA SAQR U.A.E</a:t>
            </a:r>
            <a:endParaRPr lang="en-US" sz="900" dirty="0"/>
          </a:p>
        </p:txBody>
      </p:sp>
      <p:sp>
        <p:nvSpPr>
          <p:cNvPr id="82" name="Text 80"/>
          <p:cNvSpPr/>
          <p:nvPr/>
        </p:nvSpPr>
        <p:spPr>
          <a:xfrm>
            <a:off x="8631936" y="2176272"/>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834 579</a:t>
            </a:r>
            <a:endParaRPr lang="en-US" sz="900" dirty="0"/>
          </a:p>
        </p:txBody>
      </p:sp>
      <p:sp>
        <p:nvSpPr>
          <p:cNvPr id="83" name="Text 81"/>
          <p:cNvSpPr/>
          <p:nvPr/>
        </p:nvSpPr>
        <p:spPr>
          <a:xfrm>
            <a:off x="10323576" y="2176272"/>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3,54 %</a:t>
            </a:r>
            <a:endParaRPr lang="en-US" sz="900" dirty="0"/>
          </a:p>
        </p:txBody>
      </p:sp>
      <p:sp>
        <p:nvSpPr>
          <p:cNvPr id="84" name="Shape 82"/>
          <p:cNvSpPr/>
          <p:nvPr/>
        </p:nvSpPr>
        <p:spPr>
          <a:xfrm>
            <a:off x="6492240" y="2395728"/>
            <a:ext cx="5486400" cy="256032"/>
          </a:xfrm>
          <a:prstGeom prst="rect">
            <a:avLst/>
          </a:prstGeom>
          <a:solidFill>
            <a:srgbClr val="F8F9FA"/>
          </a:solidFill>
          <a:ln w="3810">
            <a:solidFill>
              <a:srgbClr val="E5E7EB"/>
            </a:solidFill>
            <a:prstDash val="solid"/>
          </a:ln>
        </p:spPr>
      </p:sp>
      <p:sp>
        <p:nvSpPr>
          <p:cNvPr id="85" name="Text 83"/>
          <p:cNvSpPr/>
          <p:nvPr/>
        </p:nvSpPr>
        <p:spPr>
          <a:xfrm>
            <a:off x="652881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a:t>
            </a:r>
            <a:endParaRPr lang="en-US" sz="900" dirty="0"/>
          </a:p>
        </p:txBody>
      </p:sp>
      <p:sp>
        <p:nvSpPr>
          <p:cNvPr id="86" name="Text 84"/>
          <p:cNvSpPr/>
          <p:nvPr/>
        </p:nvSpPr>
        <p:spPr>
          <a:xfrm>
            <a:off x="6940296" y="2432304"/>
            <a:ext cx="16459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HO CHI MINH CITY</a:t>
            </a:r>
            <a:endParaRPr lang="en-US" sz="900" dirty="0"/>
          </a:p>
        </p:txBody>
      </p:sp>
      <p:sp>
        <p:nvSpPr>
          <p:cNvPr id="87" name="Text 85"/>
          <p:cNvSpPr/>
          <p:nvPr/>
        </p:nvSpPr>
        <p:spPr>
          <a:xfrm>
            <a:off x="8631936" y="2432304"/>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759 538</a:t>
            </a:r>
            <a:endParaRPr lang="en-US" sz="900" dirty="0"/>
          </a:p>
        </p:txBody>
      </p:sp>
      <p:sp>
        <p:nvSpPr>
          <p:cNvPr id="88" name="Text 86"/>
          <p:cNvSpPr/>
          <p:nvPr/>
        </p:nvSpPr>
        <p:spPr>
          <a:xfrm>
            <a:off x="10323576" y="2432304"/>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3,22 %</a:t>
            </a:r>
            <a:endParaRPr lang="en-US" sz="900" dirty="0"/>
          </a:p>
        </p:txBody>
      </p:sp>
      <p:sp>
        <p:nvSpPr>
          <p:cNvPr id="89" name="Shape 87"/>
          <p:cNvSpPr/>
          <p:nvPr/>
        </p:nvSpPr>
        <p:spPr>
          <a:xfrm>
            <a:off x="6492240" y="2651760"/>
            <a:ext cx="5486400" cy="256032"/>
          </a:xfrm>
          <a:prstGeom prst="rect">
            <a:avLst/>
          </a:prstGeom>
          <a:solidFill>
            <a:srgbClr val="FFFFFF"/>
          </a:solidFill>
          <a:ln w="3810">
            <a:solidFill>
              <a:srgbClr val="E5E7EB"/>
            </a:solidFill>
            <a:prstDash val="solid"/>
          </a:ln>
        </p:spPr>
      </p:sp>
      <p:sp>
        <p:nvSpPr>
          <p:cNvPr id="90" name="Text 88"/>
          <p:cNvSpPr/>
          <p:nvPr/>
        </p:nvSpPr>
        <p:spPr>
          <a:xfrm>
            <a:off x="652881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a:t>
            </a:r>
            <a:endParaRPr lang="en-US" sz="900" dirty="0"/>
          </a:p>
        </p:txBody>
      </p:sp>
      <p:sp>
        <p:nvSpPr>
          <p:cNvPr id="91" name="Text 89"/>
          <p:cNvSpPr/>
          <p:nvPr/>
        </p:nvSpPr>
        <p:spPr>
          <a:xfrm>
            <a:off x="6940296" y="2688336"/>
            <a:ext cx="16459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TIANJIN</a:t>
            </a:r>
            <a:endParaRPr lang="en-US" sz="900" dirty="0"/>
          </a:p>
        </p:txBody>
      </p:sp>
      <p:sp>
        <p:nvSpPr>
          <p:cNvPr id="92" name="Text 90"/>
          <p:cNvSpPr/>
          <p:nvPr/>
        </p:nvSpPr>
        <p:spPr>
          <a:xfrm>
            <a:off x="8631936" y="2688336"/>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701 646</a:t>
            </a:r>
            <a:endParaRPr lang="en-US" sz="900" dirty="0"/>
          </a:p>
        </p:txBody>
      </p:sp>
      <p:sp>
        <p:nvSpPr>
          <p:cNvPr id="93" name="Text 91"/>
          <p:cNvSpPr/>
          <p:nvPr/>
        </p:nvSpPr>
        <p:spPr>
          <a:xfrm>
            <a:off x="10323576" y="2688336"/>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2,98 %</a:t>
            </a:r>
            <a:endParaRPr lang="en-US" sz="900" dirty="0"/>
          </a:p>
        </p:txBody>
      </p:sp>
      <p:sp>
        <p:nvSpPr>
          <p:cNvPr id="94" name="Shape 92"/>
          <p:cNvSpPr/>
          <p:nvPr/>
        </p:nvSpPr>
        <p:spPr>
          <a:xfrm>
            <a:off x="6492240" y="2907792"/>
            <a:ext cx="5486400" cy="256032"/>
          </a:xfrm>
          <a:prstGeom prst="rect">
            <a:avLst/>
          </a:prstGeom>
          <a:solidFill>
            <a:srgbClr val="F8F9FA"/>
          </a:solidFill>
          <a:ln w="3810">
            <a:solidFill>
              <a:srgbClr val="E5E7EB"/>
            </a:solidFill>
            <a:prstDash val="solid"/>
          </a:ln>
        </p:spPr>
      </p:sp>
      <p:sp>
        <p:nvSpPr>
          <p:cNvPr id="95" name="Text 93"/>
          <p:cNvSpPr/>
          <p:nvPr/>
        </p:nvSpPr>
        <p:spPr>
          <a:xfrm>
            <a:off x="652881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a:t>
            </a:r>
            <a:endParaRPr lang="en-US" sz="900" dirty="0"/>
          </a:p>
        </p:txBody>
      </p:sp>
      <p:sp>
        <p:nvSpPr>
          <p:cNvPr id="96" name="Text 94"/>
          <p:cNvSpPr/>
          <p:nvPr/>
        </p:nvSpPr>
        <p:spPr>
          <a:xfrm>
            <a:off x="6940296" y="2944368"/>
            <a:ext cx="16459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ANTWERPEN</a:t>
            </a:r>
            <a:endParaRPr lang="en-US" sz="900" dirty="0"/>
          </a:p>
        </p:txBody>
      </p:sp>
      <p:sp>
        <p:nvSpPr>
          <p:cNvPr id="97" name="Text 95"/>
          <p:cNvSpPr/>
          <p:nvPr/>
        </p:nvSpPr>
        <p:spPr>
          <a:xfrm>
            <a:off x="8631936" y="2944368"/>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691 164</a:t>
            </a:r>
            <a:endParaRPr lang="en-US" sz="900" dirty="0"/>
          </a:p>
        </p:txBody>
      </p:sp>
      <p:sp>
        <p:nvSpPr>
          <p:cNvPr id="98" name="Text 96"/>
          <p:cNvSpPr/>
          <p:nvPr/>
        </p:nvSpPr>
        <p:spPr>
          <a:xfrm>
            <a:off x="10323576" y="2944368"/>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2,93 %</a:t>
            </a:r>
            <a:endParaRPr lang="en-US" sz="900" dirty="0"/>
          </a:p>
        </p:txBody>
      </p:sp>
      <p:sp>
        <p:nvSpPr>
          <p:cNvPr id="99" name="Shape 97"/>
          <p:cNvSpPr/>
          <p:nvPr/>
        </p:nvSpPr>
        <p:spPr>
          <a:xfrm>
            <a:off x="6492240" y="3163824"/>
            <a:ext cx="5486400" cy="256032"/>
          </a:xfrm>
          <a:prstGeom prst="rect">
            <a:avLst/>
          </a:prstGeom>
          <a:solidFill>
            <a:srgbClr val="FFFFFF"/>
          </a:solidFill>
          <a:ln w="3810">
            <a:solidFill>
              <a:srgbClr val="E5E7EB"/>
            </a:solidFill>
            <a:prstDash val="solid"/>
          </a:ln>
        </p:spPr>
      </p:sp>
      <p:sp>
        <p:nvSpPr>
          <p:cNvPr id="100" name="Text 98"/>
          <p:cNvSpPr/>
          <p:nvPr/>
        </p:nvSpPr>
        <p:spPr>
          <a:xfrm>
            <a:off x="652881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101" name="Text 99"/>
          <p:cNvSpPr/>
          <p:nvPr/>
        </p:nvSpPr>
        <p:spPr>
          <a:xfrm>
            <a:off x="6940296" y="3200400"/>
            <a:ext cx="16459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KARACHI</a:t>
            </a:r>
            <a:endParaRPr lang="en-US" sz="900" dirty="0"/>
          </a:p>
        </p:txBody>
      </p:sp>
      <p:sp>
        <p:nvSpPr>
          <p:cNvPr id="102" name="Text 100"/>
          <p:cNvSpPr/>
          <p:nvPr/>
        </p:nvSpPr>
        <p:spPr>
          <a:xfrm>
            <a:off x="8631936" y="3200400"/>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608 376</a:t>
            </a:r>
            <a:endParaRPr lang="en-US" sz="900" dirty="0"/>
          </a:p>
        </p:txBody>
      </p:sp>
      <p:sp>
        <p:nvSpPr>
          <p:cNvPr id="103" name="Text 101"/>
          <p:cNvSpPr/>
          <p:nvPr/>
        </p:nvSpPr>
        <p:spPr>
          <a:xfrm>
            <a:off x="10323576" y="3200400"/>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2,58 %</a:t>
            </a:r>
            <a:endParaRPr lang="en-US" sz="900" dirty="0"/>
          </a:p>
        </p:txBody>
      </p:sp>
      <p:sp>
        <p:nvSpPr>
          <p:cNvPr id="104" name="Shape 102"/>
          <p:cNvSpPr/>
          <p:nvPr/>
        </p:nvSpPr>
        <p:spPr>
          <a:xfrm>
            <a:off x="6492240" y="3419856"/>
            <a:ext cx="5486400" cy="256032"/>
          </a:xfrm>
          <a:prstGeom prst="rect">
            <a:avLst/>
          </a:prstGeom>
          <a:solidFill>
            <a:srgbClr val="F8F9FA"/>
          </a:solidFill>
          <a:ln w="3810">
            <a:solidFill>
              <a:srgbClr val="E5E7EB"/>
            </a:solidFill>
            <a:prstDash val="solid"/>
          </a:ln>
        </p:spPr>
      </p:sp>
      <p:sp>
        <p:nvSpPr>
          <p:cNvPr id="105" name="Text 103"/>
          <p:cNvSpPr/>
          <p:nvPr/>
        </p:nvSpPr>
        <p:spPr>
          <a:xfrm>
            <a:off x="6528816" y="345643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106" name="Text 104"/>
          <p:cNvSpPr/>
          <p:nvPr/>
        </p:nvSpPr>
        <p:spPr>
          <a:xfrm>
            <a:off x="6940296" y="3456432"/>
            <a:ext cx="16459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KAKINADA INDIA</a:t>
            </a:r>
            <a:endParaRPr lang="en-US" sz="900" dirty="0"/>
          </a:p>
        </p:txBody>
      </p:sp>
      <p:sp>
        <p:nvSpPr>
          <p:cNvPr id="107" name="Text 105"/>
          <p:cNvSpPr/>
          <p:nvPr/>
        </p:nvSpPr>
        <p:spPr>
          <a:xfrm>
            <a:off x="8631936" y="3456432"/>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527 339</a:t>
            </a:r>
            <a:endParaRPr lang="en-US" sz="900" dirty="0"/>
          </a:p>
        </p:txBody>
      </p:sp>
      <p:sp>
        <p:nvSpPr>
          <p:cNvPr id="108" name="Text 106"/>
          <p:cNvSpPr/>
          <p:nvPr/>
        </p:nvSpPr>
        <p:spPr>
          <a:xfrm>
            <a:off x="10323576" y="3456432"/>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2,24 %</a:t>
            </a:r>
            <a:endParaRPr lang="en-US" sz="900" dirty="0"/>
          </a:p>
        </p:txBody>
      </p:sp>
      <p:sp>
        <p:nvSpPr>
          <p:cNvPr id="109" name="Shape 107"/>
          <p:cNvSpPr/>
          <p:nvPr/>
        </p:nvSpPr>
        <p:spPr>
          <a:xfrm>
            <a:off x="6492240" y="3675888"/>
            <a:ext cx="5486400" cy="256032"/>
          </a:xfrm>
          <a:prstGeom prst="rect">
            <a:avLst/>
          </a:prstGeom>
          <a:solidFill>
            <a:srgbClr val="FFFFFF"/>
          </a:solidFill>
          <a:ln w="3810">
            <a:solidFill>
              <a:srgbClr val="E5E7EB"/>
            </a:solidFill>
            <a:prstDash val="solid"/>
          </a:ln>
        </p:spPr>
      </p:sp>
      <p:sp>
        <p:nvSpPr>
          <p:cNvPr id="110" name="Text 108"/>
          <p:cNvSpPr/>
          <p:nvPr/>
        </p:nvSpPr>
        <p:spPr>
          <a:xfrm>
            <a:off x="6528816" y="371246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a:t>
            </a:r>
            <a:endParaRPr lang="en-US" sz="900" dirty="0"/>
          </a:p>
        </p:txBody>
      </p:sp>
      <p:sp>
        <p:nvSpPr>
          <p:cNvPr id="111" name="Text 109"/>
          <p:cNvSpPr/>
          <p:nvPr/>
        </p:nvSpPr>
        <p:spPr>
          <a:xfrm>
            <a:off x="6940296" y="3712464"/>
            <a:ext cx="16459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YANBU INDUSTRIAL CITY</a:t>
            </a:r>
            <a:endParaRPr lang="en-US" sz="900" dirty="0"/>
          </a:p>
        </p:txBody>
      </p:sp>
      <p:sp>
        <p:nvSpPr>
          <p:cNvPr id="112" name="Text 110"/>
          <p:cNvSpPr/>
          <p:nvPr/>
        </p:nvSpPr>
        <p:spPr>
          <a:xfrm>
            <a:off x="8631936" y="3712464"/>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454 632</a:t>
            </a:r>
            <a:endParaRPr lang="en-US" sz="900" dirty="0"/>
          </a:p>
        </p:txBody>
      </p:sp>
      <p:sp>
        <p:nvSpPr>
          <p:cNvPr id="113" name="Text 111"/>
          <p:cNvSpPr/>
          <p:nvPr/>
        </p:nvSpPr>
        <p:spPr>
          <a:xfrm>
            <a:off x="10323576" y="3712464"/>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1,93 %</a:t>
            </a:r>
            <a:endParaRPr lang="en-US" sz="900" dirty="0"/>
          </a:p>
        </p:txBody>
      </p:sp>
      <p:sp>
        <p:nvSpPr>
          <p:cNvPr id="114" name="Shape 112"/>
          <p:cNvSpPr/>
          <p:nvPr/>
        </p:nvSpPr>
        <p:spPr>
          <a:xfrm>
            <a:off x="6492240" y="3931920"/>
            <a:ext cx="5486400" cy="256032"/>
          </a:xfrm>
          <a:prstGeom prst="rect">
            <a:avLst/>
          </a:prstGeom>
          <a:solidFill>
            <a:srgbClr val="F8F9FA"/>
          </a:solidFill>
          <a:ln w="3810">
            <a:solidFill>
              <a:srgbClr val="E5E7EB"/>
            </a:solidFill>
            <a:prstDash val="solid"/>
          </a:ln>
        </p:spPr>
      </p:sp>
      <p:sp>
        <p:nvSpPr>
          <p:cNvPr id="115" name="Text 113"/>
          <p:cNvSpPr/>
          <p:nvPr/>
        </p:nvSpPr>
        <p:spPr>
          <a:xfrm>
            <a:off x="6528816" y="396849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a:t>
            </a:r>
            <a:endParaRPr lang="en-US" sz="900" dirty="0"/>
          </a:p>
        </p:txBody>
      </p:sp>
      <p:sp>
        <p:nvSpPr>
          <p:cNvPr id="116" name="Text 114"/>
          <p:cNvSpPr/>
          <p:nvPr/>
        </p:nvSpPr>
        <p:spPr>
          <a:xfrm>
            <a:off x="6940296" y="3968496"/>
            <a:ext cx="164592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NANSHA</a:t>
            </a:r>
            <a:endParaRPr lang="en-US" sz="900" dirty="0"/>
          </a:p>
        </p:txBody>
      </p:sp>
      <p:sp>
        <p:nvSpPr>
          <p:cNvPr id="117" name="Text 115"/>
          <p:cNvSpPr/>
          <p:nvPr/>
        </p:nvSpPr>
        <p:spPr>
          <a:xfrm>
            <a:off x="8631936" y="3968496"/>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419 374</a:t>
            </a:r>
            <a:endParaRPr lang="en-US" sz="900" dirty="0"/>
          </a:p>
        </p:txBody>
      </p:sp>
      <p:sp>
        <p:nvSpPr>
          <p:cNvPr id="118" name="Text 116"/>
          <p:cNvSpPr/>
          <p:nvPr/>
        </p:nvSpPr>
        <p:spPr>
          <a:xfrm>
            <a:off x="10323576" y="3968496"/>
            <a:ext cx="164592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1,78 %</a:t>
            </a:r>
            <a:endParaRPr lang="en-US" sz="900" dirty="0"/>
          </a:p>
        </p:txBody>
      </p:sp>
      <p:sp>
        <p:nvSpPr>
          <p:cNvPr id="119" name="Shape 117"/>
          <p:cNvSpPr/>
          <p:nvPr/>
        </p:nvSpPr>
        <p:spPr>
          <a:xfrm>
            <a:off x="137160" y="5029200"/>
            <a:ext cx="11795760" cy="868680"/>
          </a:xfrm>
          <a:prstGeom prst="rect">
            <a:avLst/>
          </a:prstGeom>
          <a:solidFill>
            <a:srgbClr val="FFFBEC"/>
          </a:solidFill>
          <a:ln w="6350">
            <a:solidFill>
              <a:srgbClr val="E5C97A"/>
            </a:solidFill>
            <a:prstDash val="solid"/>
          </a:ln>
        </p:spPr>
      </p:sp>
      <p:sp>
        <p:nvSpPr>
          <p:cNvPr id="120" name="Text 118"/>
          <p:cNvSpPr/>
          <p:nvPr/>
        </p:nvSpPr>
        <p:spPr>
          <a:xfrm>
            <a:off x="228600" y="5102352"/>
            <a:ext cx="11612880" cy="75895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POSITION CONSIGNATAIRE FORTE : AGL CI #2 (13,73 %) — seulement Sea-Invest devant. ROUTES CLÉS : CAM PHA (clinker Vietnam, 8,99 %) + PORT SAID (transbord. Égypte, 7,21 %) + MINA SAQR (clinker UAE). Cible : consolider consignation armateurs spot vraquiers + capter co-consignation MSC/CMA sur lignes Asie-WAF.</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SECTORIEL – PÉTROLE  |  Position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Flux hydrocarbures import / export  |  Opérateurs au B/L  |  ~2,4 M T  |  Jan–Mai 2026</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p.28</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Opérateurs pétroliers actifs – Abidjan (B/L)</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Opérateur</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Volume T</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Flux</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SIR CI (Raffinerie)</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~480 000</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brut</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20,0 %</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TOTAL ENERGIES CI</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~320 000</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raffinés</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13,3 %</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VIVO ENERGY (Shell)</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~280 000</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raffinés</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11,7 %</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PETRO IVOIRE</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~190 000</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 Distrib.</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7,9 %</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FOXTROT INTERNATIONAL</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~160 000</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Export offshore</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6,7 %</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ORYX CI</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~140 000</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raffinés</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5,8 %</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BOLLORÉ ENERGY</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~120 000</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Import divers</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5,0 %</a:t>
            </a:r>
            <a:endParaRPr lang="en-US" sz="900" dirty="0"/>
          </a:p>
        </p:txBody>
      </p:sp>
      <p:sp>
        <p:nvSpPr>
          <p:cNvPr id="48" name="Text 46"/>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Position AGL dans le secteur pétrolier</a:t>
            </a:r>
            <a:endParaRPr lang="en-US" sz="1100" dirty="0"/>
          </a:p>
        </p:txBody>
      </p:sp>
      <p:sp>
        <p:nvSpPr>
          <p:cNvPr id="49" name="Shape 47"/>
          <p:cNvSpPr/>
          <p:nvPr/>
        </p:nvSpPr>
        <p:spPr>
          <a:xfrm>
            <a:off x="6492240" y="1389888"/>
            <a:ext cx="5486400" cy="457200"/>
          </a:xfrm>
          <a:prstGeom prst="rect">
            <a:avLst/>
          </a:prstGeom>
          <a:solidFill>
            <a:srgbClr val="F8F9FA"/>
          </a:solidFill>
          <a:ln w="3810">
            <a:solidFill>
              <a:srgbClr val="E5E7EB"/>
            </a:solidFill>
            <a:prstDash val="solid"/>
          </a:ln>
        </p:spPr>
      </p:sp>
      <p:sp>
        <p:nvSpPr>
          <p:cNvPr id="50" name="Text 48"/>
          <p:cNvSpPr/>
          <p:nvPr/>
        </p:nvSpPr>
        <p:spPr>
          <a:xfrm>
            <a:off x="6583680" y="1444752"/>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SIR CI – transit &amp; manut.</a:t>
            </a:r>
            <a:endParaRPr lang="en-US" sz="900" dirty="0"/>
          </a:p>
        </p:txBody>
      </p:sp>
      <p:sp>
        <p:nvSpPr>
          <p:cNvPr id="51" name="Text 49"/>
          <p:cNvSpPr/>
          <p:nvPr/>
        </p:nvSpPr>
        <p:spPr>
          <a:xfrm>
            <a:off x="9189720" y="1444752"/>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~480 000 T</a:t>
            </a:r>
            <a:endParaRPr lang="en-US" sz="900" dirty="0"/>
          </a:p>
        </p:txBody>
      </p:sp>
      <p:sp>
        <p:nvSpPr>
          <p:cNvPr id="52" name="Text 50"/>
          <p:cNvSpPr/>
          <p:nvPr/>
        </p:nvSpPr>
        <p:spPr>
          <a:xfrm>
            <a:off x="10424160" y="1444752"/>
            <a:ext cx="1508760" cy="347472"/>
          </a:xfrm>
          <a:prstGeom prst="rect">
            <a:avLst/>
          </a:prstGeom>
          <a:noFill/>
          <a:ln/>
        </p:spPr>
        <p:txBody>
          <a:bodyPr wrap="square" rtlCol="0" anchor="ctr"/>
          <a:lstStyle/>
          <a:p>
            <a:pPr algn="r" indent="0" marL="0">
              <a:buNone/>
            </a:pPr>
            <a:r>
              <a:rPr lang="en-US" sz="900" b="1" dirty="0">
                <a:solidFill>
                  <a:srgbClr val="1A7C4F"/>
                </a:solidFill>
                <a:latin typeface="Calibri" pitchFamily="34" charset="0"/>
                <a:ea typeface="Calibri" pitchFamily="34" charset="-122"/>
                <a:cs typeface="Calibri" pitchFamily="34" charset="-120"/>
              </a:rPr>
              <a:t>✓ ACTIF</a:t>
            </a:r>
            <a:endParaRPr lang="en-US" sz="900" dirty="0"/>
          </a:p>
        </p:txBody>
      </p:sp>
      <p:sp>
        <p:nvSpPr>
          <p:cNvPr id="53" name="Shape 51"/>
          <p:cNvSpPr/>
          <p:nvPr/>
        </p:nvSpPr>
        <p:spPr>
          <a:xfrm>
            <a:off x="6492240" y="1920240"/>
            <a:ext cx="5486400" cy="457200"/>
          </a:xfrm>
          <a:prstGeom prst="rect">
            <a:avLst/>
          </a:prstGeom>
          <a:solidFill>
            <a:srgbClr val="F8F9FA"/>
          </a:solidFill>
          <a:ln w="3810">
            <a:solidFill>
              <a:srgbClr val="E5E7EB"/>
            </a:solidFill>
            <a:prstDash val="solid"/>
          </a:ln>
        </p:spPr>
      </p:sp>
      <p:sp>
        <p:nvSpPr>
          <p:cNvPr id="54" name="Text 52"/>
          <p:cNvSpPr/>
          <p:nvPr/>
        </p:nvSpPr>
        <p:spPr>
          <a:xfrm>
            <a:off x="6583680" y="1975104"/>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FOXTROT – export offshore</a:t>
            </a:r>
            <a:endParaRPr lang="en-US" sz="900" dirty="0"/>
          </a:p>
        </p:txBody>
      </p:sp>
      <p:sp>
        <p:nvSpPr>
          <p:cNvPr id="55" name="Text 53"/>
          <p:cNvSpPr/>
          <p:nvPr/>
        </p:nvSpPr>
        <p:spPr>
          <a:xfrm>
            <a:off x="9189720" y="1975104"/>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~160 000 T</a:t>
            </a:r>
            <a:endParaRPr lang="en-US" sz="900" dirty="0"/>
          </a:p>
        </p:txBody>
      </p:sp>
      <p:sp>
        <p:nvSpPr>
          <p:cNvPr id="56" name="Text 54"/>
          <p:cNvSpPr/>
          <p:nvPr/>
        </p:nvSpPr>
        <p:spPr>
          <a:xfrm>
            <a:off x="10424160" y="1975104"/>
            <a:ext cx="1508760" cy="347472"/>
          </a:xfrm>
          <a:prstGeom prst="rect">
            <a:avLst/>
          </a:prstGeom>
          <a:noFill/>
          <a:ln/>
        </p:spPr>
        <p:txBody>
          <a:bodyPr wrap="square" rtlCol="0" anchor="ctr"/>
          <a:lstStyle/>
          <a:p>
            <a:pPr algn="r" indent="0" marL="0">
              <a:buNone/>
            </a:pPr>
            <a:r>
              <a:rPr lang="en-US" sz="900" b="1" dirty="0">
                <a:solidFill>
                  <a:srgbClr val="1A7C4F"/>
                </a:solidFill>
                <a:latin typeface="Calibri" pitchFamily="34" charset="0"/>
                <a:ea typeface="Calibri" pitchFamily="34" charset="-122"/>
                <a:cs typeface="Calibri" pitchFamily="34" charset="-120"/>
              </a:rPr>
              <a:t>✓ ACTIF</a:t>
            </a:r>
            <a:endParaRPr lang="en-US" sz="900" dirty="0"/>
          </a:p>
        </p:txBody>
      </p:sp>
      <p:sp>
        <p:nvSpPr>
          <p:cNvPr id="57" name="Shape 55"/>
          <p:cNvSpPr/>
          <p:nvPr/>
        </p:nvSpPr>
        <p:spPr>
          <a:xfrm>
            <a:off x="6492240" y="2450592"/>
            <a:ext cx="5486400" cy="457200"/>
          </a:xfrm>
          <a:prstGeom prst="rect">
            <a:avLst/>
          </a:prstGeom>
          <a:solidFill>
            <a:srgbClr val="F8F9FA"/>
          </a:solidFill>
          <a:ln w="3810">
            <a:solidFill>
              <a:srgbClr val="E5E7EB"/>
            </a:solidFill>
            <a:prstDash val="solid"/>
          </a:ln>
        </p:spPr>
      </p:sp>
      <p:sp>
        <p:nvSpPr>
          <p:cNvPr id="58" name="Text 56"/>
          <p:cNvSpPr/>
          <p:nvPr/>
        </p:nvSpPr>
        <p:spPr>
          <a:xfrm>
            <a:off x="6583680" y="2505456"/>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TOTAL CI – consign. tankers</a:t>
            </a:r>
            <a:endParaRPr lang="en-US" sz="900" dirty="0"/>
          </a:p>
        </p:txBody>
      </p:sp>
      <p:sp>
        <p:nvSpPr>
          <p:cNvPr id="59" name="Text 57"/>
          <p:cNvSpPr/>
          <p:nvPr/>
        </p:nvSpPr>
        <p:spPr>
          <a:xfrm>
            <a:off x="9189720" y="2505456"/>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~320 000 T</a:t>
            </a:r>
            <a:endParaRPr lang="en-US" sz="900" dirty="0"/>
          </a:p>
        </p:txBody>
      </p:sp>
      <p:sp>
        <p:nvSpPr>
          <p:cNvPr id="60" name="Text 58"/>
          <p:cNvSpPr/>
          <p:nvPr/>
        </p:nvSpPr>
        <p:spPr>
          <a:xfrm>
            <a:off x="10424160" y="2505456"/>
            <a:ext cx="1508760" cy="347472"/>
          </a:xfrm>
          <a:prstGeom prst="rect">
            <a:avLst/>
          </a:prstGeom>
          <a:noFill/>
          <a:ln/>
        </p:spPr>
        <p:txBody>
          <a:bodyPr wrap="square" rtlCol="0" anchor="ctr"/>
          <a:lstStyle/>
          <a:p>
            <a:pPr algn="r" indent="0" marL="0">
              <a:buNone/>
            </a:pPr>
            <a:r>
              <a:rPr lang="en-US" sz="900" b="1" dirty="0">
                <a:solidFill>
                  <a:srgbClr val="E05A00"/>
                </a:solidFill>
                <a:latin typeface="Calibri" pitchFamily="34" charset="0"/>
                <a:ea typeface="Calibri" pitchFamily="34" charset="-122"/>
                <a:cs typeface="Calibri" pitchFamily="34" charset="-120"/>
              </a:rPr>
              <a:t>PARTIEL</a:t>
            </a:r>
            <a:endParaRPr lang="en-US" sz="900" dirty="0"/>
          </a:p>
        </p:txBody>
      </p:sp>
      <p:sp>
        <p:nvSpPr>
          <p:cNvPr id="61" name="Shape 59"/>
          <p:cNvSpPr/>
          <p:nvPr/>
        </p:nvSpPr>
        <p:spPr>
          <a:xfrm>
            <a:off x="6492240" y="2980944"/>
            <a:ext cx="5486400" cy="457200"/>
          </a:xfrm>
          <a:prstGeom prst="rect">
            <a:avLst/>
          </a:prstGeom>
          <a:solidFill>
            <a:srgbClr val="F8F9FA"/>
          </a:solidFill>
          <a:ln w="3810">
            <a:solidFill>
              <a:srgbClr val="E5E7EB"/>
            </a:solidFill>
            <a:prstDash val="solid"/>
          </a:ln>
        </p:spPr>
      </p:sp>
      <p:sp>
        <p:nvSpPr>
          <p:cNvPr id="62" name="Text 60"/>
          <p:cNvSpPr/>
          <p:nvPr/>
        </p:nvSpPr>
        <p:spPr>
          <a:xfrm>
            <a:off x="6583680" y="3035808"/>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VIVO ENERGY</a:t>
            </a:r>
            <a:endParaRPr lang="en-US" sz="900" dirty="0"/>
          </a:p>
        </p:txBody>
      </p:sp>
      <p:sp>
        <p:nvSpPr>
          <p:cNvPr id="63" name="Text 61"/>
          <p:cNvSpPr/>
          <p:nvPr/>
        </p:nvSpPr>
        <p:spPr>
          <a:xfrm>
            <a:off x="9189720" y="3035808"/>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~280 000 T</a:t>
            </a:r>
            <a:endParaRPr lang="en-US" sz="900" dirty="0"/>
          </a:p>
        </p:txBody>
      </p:sp>
      <p:sp>
        <p:nvSpPr>
          <p:cNvPr id="64" name="Text 62"/>
          <p:cNvSpPr/>
          <p:nvPr/>
        </p:nvSpPr>
        <p:spPr>
          <a:xfrm>
            <a:off x="10424160" y="3035808"/>
            <a:ext cx="1508760" cy="347472"/>
          </a:xfrm>
          <a:prstGeom prst="rect">
            <a:avLst/>
          </a:prstGeom>
          <a:noFill/>
          <a:ln/>
        </p:spPr>
        <p:txBody>
          <a:bodyPr wrap="square" rtlCol="0" anchor="ctr"/>
          <a:lstStyle/>
          <a:p>
            <a:pPr algn="r" indent="0" marL="0">
              <a:buNone/>
            </a:pPr>
            <a:r>
              <a:rPr lang="en-US" sz="900" b="1" dirty="0">
                <a:solidFill>
                  <a:srgbClr val="E05A00"/>
                </a:solidFill>
                <a:latin typeface="Calibri" pitchFamily="34" charset="0"/>
                <a:ea typeface="Calibri" pitchFamily="34" charset="-122"/>
                <a:cs typeface="Calibri" pitchFamily="34" charset="-120"/>
              </a:rPr>
              <a:t>PARTIEL</a:t>
            </a:r>
            <a:endParaRPr lang="en-US" sz="900" dirty="0"/>
          </a:p>
        </p:txBody>
      </p:sp>
      <p:sp>
        <p:nvSpPr>
          <p:cNvPr id="65" name="Shape 63"/>
          <p:cNvSpPr/>
          <p:nvPr/>
        </p:nvSpPr>
        <p:spPr>
          <a:xfrm>
            <a:off x="6492240" y="3511296"/>
            <a:ext cx="5486400" cy="457200"/>
          </a:xfrm>
          <a:prstGeom prst="rect">
            <a:avLst/>
          </a:prstGeom>
          <a:solidFill>
            <a:srgbClr val="F8F9FA"/>
          </a:solidFill>
          <a:ln w="3810">
            <a:solidFill>
              <a:srgbClr val="E5E7EB"/>
            </a:solidFill>
            <a:prstDash val="solid"/>
          </a:ln>
        </p:spPr>
      </p:sp>
      <p:sp>
        <p:nvSpPr>
          <p:cNvPr id="66" name="Text 64"/>
          <p:cNvSpPr/>
          <p:nvPr/>
        </p:nvSpPr>
        <p:spPr>
          <a:xfrm>
            <a:off x="6583680" y="3566160"/>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PETRO IVOIRE</a:t>
            </a:r>
            <a:endParaRPr lang="en-US" sz="900" dirty="0"/>
          </a:p>
        </p:txBody>
      </p:sp>
      <p:sp>
        <p:nvSpPr>
          <p:cNvPr id="67" name="Text 65"/>
          <p:cNvSpPr/>
          <p:nvPr/>
        </p:nvSpPr>
        <p:spPr>
          <a:xfrm>
            <a:off x="9189720" y="3566160"/>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~190 000 T</a:t>
            </a:r>
            <a:endParaRPr lang="en-US" sz="900" dirty="0"/>
          </a:p>
        </p:txBody>
      </p:sp>
      <p:sp>
        <p:nvSpPr>
          <p:cNvPr id="68" name="Text 66"/>
          <p:cNvSpPr/>
          <p:nvPr/>
        </p:nvSpPr>
        <p:spPr>
          <a:xfrm>
            <a:off x="10424160" y="3566160"/>
            <a:ext cx="1508760" cy="347472"/>
          </a:xfrm>
          <a:prstGeom prst="rect">
            <a:avLst/>
          </a:prstGeom>
          <a:noFill/>
          <a:ln/>
        </p:spPr>
        <p:txBody>
          <a:bodyPr wrap="square" rtlCol="0" anchor="ctr"/>
          <a:lstStyle/>
          <a:p>
            <a:pPr algn="r" indent="0" marL="0">
              <a:buNone/>
            </a:pPr>
            <a:r>
              <a:rPr lang="en-US" sz="900" b="1" dirty="0">
                <a:solidFill>
                  <a:srgbClr val="CC2200"/>
                </a:solidFill>
                <a:latin typeface="Calibri" pitchFamily="34" charset="0"/>
                <a:ea typeface="Calibri" pitchFamily="34" charset="-122"/>
                <a:cs typeface="Calibri" pitchFamily="34" charset="-120"/>
              </a:rPr>
              <a:t>✗ NON CAPTÉ</a:t>
            </a:r>
            <a:endParaRPr lang="en-US" sz="900" dirty="0"/>
          </a:p>
        </p:txBody>
      </p:sp>
      <p:sp>
        <p:nvSpPr>
          <p:cNvPr id="69" name="Shape 67"/>
          <p:cNvSpPr/>
          <p:nvPr/>
        </p:nvSpPr>
        <p:spPr>
          <a:xfrm>
            <a:off x="6492240" y="4041648"/>
            <a:ext cx="5486400" cy="457200"/>
          </a:xfrm>
          <a:prstGeom prst="rect">
            <a:avLst/>
          </a:prstGeom>
          <a:solidFill>
            <a:srgbClr val="F8F9FA"/>
          </a:solidFill>
          <a:ln w="3810">
            <a:solidFill>
              <a:srgbClr val="E5E7EB"/>
            </a:solidFill>
            <a:prstDash val="solid"/>
          </a:ln>
        </p:spPr>
      </p:sp>
      <p:sp>
        <p:nvSpPr>
          <p:cNvPr id="70" name="Text 68"/>
          <p:cNvSpPr/>
          <p:nvPr/>
        </p:nvSpPr>
        <p:spPr>
          <a:xfrm>
            <a:off x="6583680" y="4096512"/>
            <a:ext cx="2560320" cy="34747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ORYX CI</a:t>
            </a:r>
            <a:endParaRPr lang="en-US" sz="900" dirty="0"/>
          </a:p>
        </p:txBody>
      </p:sp>
      <p:sp>
        <p:nvSpPr>
          <p:cNvPr id="71" name="Text 69"/>
          <p:cNvSpPr/>
          <p:nvPr/>
        </p:nvSpPr>
        <p:spPr>
          <a:xfrm>
            <a:off x="9189720" y="4096512"/>
            <a:ext cx="1188720" cy="34747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~140 000 T</a:t>
            </a:r>
            <a:endParaRPr lang="en-US" sz="900" dirty="0"/>
          </a:p>
        </p:txBody>
      </p:sp>
      <p:sp>
        <p:nvSpPr>
          <p:cNvPr id="72" name="Text 70"/>
          <p:cNvSpPr/>
          <p:nvPr/>
        </p:nvSpPr>
        <p:spPr>
          <a:xfrm>
            <a:off x="10424160" y="4096512"/>
            <a:ext cx="1508760" cy="347472"/>
          </a:xfrm>
          <a:prstGeom prst="rect">
            <a:avLst/>
          </a:prstGeom>
          <a:noFill/>
          <a:ln/>
        </p:spPr>
        <p:txBody>
          <a:bodyPr wrap="square" rtlCol="0" anchor="ctr"/>
          <a:lstStyle/>
          <a:p>
            <a:pPr algn="r" indent="0" marL="0">
              <a:buNone/>
            </a:pPr>
            <a:r>
              <a:rPr lang="en-US" sz="900" b="1" dirty="0">
                <a:solidFill>
                  <a:srgbClr val="CC2200"/>
                </a:solidFill>
                <a:latin typeface="Calibri" pitchFamily="34" charset="0"/>
                <a:ea typeface="Calibri" pitchFamily="34" charset="-122"/>
                <a:cs typeface="Calibri" pitchFamily="34" charset="-120"/>
              </a:rPr>
              <a:t>✗ NON CAPTÉ</a:t>
            </a:r>
            <a:endParaRPr lang="en-US" sz="900" dirty="0"/>
          </a:p>
        </p:txBody>
      </p:sp>
      <p:sp>
        <p:nvSpPr>
          <p:cNvPr id="73" name="Shape 71"/>
          <p:cNvSpPr/>
          <p:nvPr/>
        </p:nvSpPr>
        <p:spPr>
          <a:xfrm>
            <a:off x="137160" y="4937760"/>
            <a:ext cx="11795760" cy="777240"/>
          </a:xfrm>
          <a:prstGeom prst="rect">
            <a:avLst/>
          </a:prstGeom>
          <a:solidFill>
            <a:srgbClr val="FFFBEC"/>
          </a:solidFill>
          <a:ln w="6350">
            <a:solidFill>
              <a:srgbClr val="E5C97A"/>
            </a:solidFill>
            <a:prstDash val="solid"/>
          </a:ln>
        </p:spPr>
      </p:sp>
      <p:sp>
        <p:nvSpPr>
          <p:cNvPr id="74" name="Text 72"/>
          <p:cNvSpPr/>
          <p:nvPr/>
        </p:nvSpPr>
        <p:spPr>
          <a:xfrm>
            <a:off x="228600" y="5010912"/>
            <a:ext cx="1161288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CIBLE PÉTROLE : PDM AGL secteur ~4,2%. Présence établie sur SIR CI et Foxtrot. Potentiel non capté : ~330 000 T chez Petro Ivoire + Oryx = +4 pts de PDM secteur. Plan d'approche commercial S2 2026 recommandé (offre intégrée DSM + transit).</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SECTORIEL – MINIER  |  Position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Or, Manganèse, Nickel, Lithium  |  Import matériels + Export minerais  |  28 projets actifs  |  Jan–Mai 2026</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p.29</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9436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Opérateurs miniers – Flux Abidjan (B/L)</a:t>
            </a:r>
            <a:endParaRPr lang="en-US" sz="1100" dirty="0"/>
          </a:p>
        </p:txBody>
      </p:sp>
      <p:sp>
        <p:nvSpPr>
          <p:cNvPr id="8" name="Shape 6"/>
          <p:cNvSpPr/>
          <p:nvPr/>
        </p:nvSpPr>
        <p:spPr>
          <a:xfrm>
            <a:off x="137160" y="1371600"/>
            <a:ext cx="621792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Opérateur</a:t>
            </a:r>
            <a:endParaRPr lang="en-US" sz="900" dirty="0"/>
          </a:p>
        </p:txBody>
      </p:sp>
      <p:sp>
        <p:nvSpPr>
          <p:cNvPr id="10" name="Text 8"/>
          <p:cNvSpPr/>
          <p:nvPr/>
        </p:nvSpPr>
        <p:spPr>
          <a:xfrm>
            <a:off x="585216" y="1408176"/>
            <a:ext cx="18897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Import TEU</a:t>
            </a:r>
            <a:endParaRPr lang="en-US" sz="900" dirty="0"/>
          </a:p>
        </p:txBody>
      </p:sp>
      <p:sp>
        <p:nvSpPr>
          <p:cNvPr id="11" name="Text 9"/>
          <p:cNvSpPr/>
          <p:nvPr/>
        </p:nvSpPr>
        <p:spPr>
          <a:xfrm>
            <a:off x="252069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Export</a:t>
            </a:r>
            <a:endParaRPr lang="en-US" sz="900" dirty="0"/>
          </a:p>
        </p:txBody>
      </p:sp>
      <p:sp>
        <p:nvSpPr>
          <p:cNvPr id="12" name="Text 10"/>
          <p:cNvSpPr/>
          <p:nvPr/>
        </p:nvSpPr>
        <p:spPr>
          <a:xfrm>
            <a:off x="4456176" y="1408176"/>
            <a:ext cx="1889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AGL</a:t>
            </a:r>
            <a:endParaRPr lang="en-US" sz="900" dirty="0"/>
          </a:p>
        </p:txBody>
      </p:sp>
      <p:sp>
        <p:nvSpPr>
          <p:cNvPr id="13" name="Shape 11"/>
          <p:cNvSpPr/>
          <p:nvPr/>
        </p:nvSpPr>
        <p:spPr>
          <a:xfrm>
            <a:off x="137160" y="1627632"/>
            <a:ext cx="6217920" cy="256032"/>
          </a:xfrm>
          <a:prstGeom prst="rect">
            <a:avLst/>
          </a:prstGeom>
          <a:solidFill>
            <a:srgbClr val="FFF9EC"/>
          </a:solidFill>
          <a:ln w="3810">
            <a:solidFill>
              <a:srgbClr val="E5E7EB"/>
            </a:solidFill>
            <a:prstDash val="solid"/>
          </a:ln>
        </p:spPr>
      </p:sp>
      <p:sp>
        <p:nvSpPr>
          <p:cNvPr id="14" name="Text 12"/>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K1 MINING SA CI</a:t>
            </a:r>
            <a:endParaRPr lang="en-US" sz="900" dirty="0"/>
          </a:p>
        </p:txBody>
      </p:sp>
      <p:sp>
        <p:nvSpPr>
          <p:cNvPr id="15" name="Text 13"/>
          <p:cNvSpPr/>
          <p:nvPr/>
        </p:nvSpPr>
        <p:spPr>
          <a:xfrm>
            <a:off x="585216" y="1664208"/>
            <a:ext cx="18897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1 840</a:t>
            </a:r>
            <a:endParaRPr lang="en-US" sz="900" dirty="0"/>
          </a:p>
        </p:txBody>
      </p:sp>
      <p:sp>
        <p:nvSpPr>
          <p:cNvPr id="16" name="Text 14"/>
          <p:cNvSpPr/>
          <p:nvPr/>
        </p:nvSpPr>
        <p:spPr>
          <a:xfrm>
            <a:off x="2520696" y="166420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~120 T</a:t>
            </a:r>
            <a:endParaRPr lang="en-US" sz="900" dirty="0"/>
          </a:p>
        </p:txBody>
      </p:sp>
      <p:sp>
        <p:nvSpPr>
          <p:cNvPr id="17" name="Text 15"/>
          <p:cNvSpPr/>
          <p:nvPr/>
        </p:nvSpPr>
        <p:spPr>
          <a:xfrm>
            <a:off x="4456176" y="1664208"/>
            <a:ext cx="18897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 Client #1</a:t>
            </a:r>
            <a:endParaRPr lang="en-US" sz="900" dirty="0"/>
          </a:p>
        </p:txBody>
      </p:sp>
      <p:sp>
        <p:nvSpPr>
          <p:cNvPr id="18" name="Shape 16"/>
          <p:cNvSpPr/>
          <p:nvPr/>
        </p:nvSpPr>
        <p:spPr>
          <a:xfrm>
            <a:off x="137160" y="1883664"/>
            <a:ext cx="6217920" cy="256032"/>
          </a:xfrm>
          <a:prstGeom prst="rect">
            <a:avLst/>
          </a:prstGeom>
          <a:solidFill>
            <a:srgbClr val="F8F9FA"/>
          </a:solidFill>
          <a:ln w="3810">
            <a:solidFill>
              <a:srgbClr val="E5E7EB"/>
            </a:solidFill>
            <a:prstDash val="solid"/>
          </a:ln>
        </p:spPr>
      </p:sp>
      <p:sp>
        <p:nvSpPr>
          <p:cNvPr id="19" name="Text 17"/>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SMI (Syama)</a:t>
            </a:r>
            <a:endParaRPr lang="en-US" sz="900" dirty="0"/>
          </a:p>
        </p:txBody>
      </p:sp>
      <p:sp>
        <p:nvSpPr>
          <p:cNvPr id="20" name="Text 18"/>
          <p:cNvSpPr/>
          <p:nvPr/>
        </p:nvSpPr>
        <p:spPr>
          <a:xfrm>
            <a:off x="585216" y="192024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480</a:t>
            </a:r>
            <a:endParaRPr lang="en-US" sz="900" dirty="0"/>
          </a:p>
        </p:txBody>
      </p:sp>
      <p:sp>
        <p:nvSpPr>
          <p:cNvPr id="21" name="Text 19"/>
          <p:cNvSpPr/>
          <p:nvPr/>
        </p:nvSpPr>
        <p:spPr>
          <a:xfrm>
            <a:off x="252069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~80 T</a:t>
            </a:r>
            <a:endParaRPr lang="en-US" sz="900" dirty="0"/>
          </a:p>
        </p:txBody>
      </p:sp>
      <p:sp>
        <p:nvSpPr>
          <p:cNvPr id="22" name="Text 20"/>
          <p:cNvSpPr/>
          <p:nvPr/>
        </p:nvSpPr>
        <p:spPr>
          <a:xfrm>
            <a:off x="4456176" y="192024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 Actif</a:t>
            </a:r>
            <a:endParaRPr lang="en-US" sz="900" dirty="0"/>
          </a:p>
        </p:txBody>
      </p:sp>
      <p:sp>
        <p:nvSpPr>
          <p:cNvPr id="23" name="Shape 21"/>
          <p:cNvSpPr/>
          <p:nvPr/>
        </p:nvSpPr>
        <p:spPr>
          <a:xfrm>
            <a:off x="137160" y="2139696"/>
            <a:ext cx="6217920" cy="256032"/>
          </a:xfrm>
          <a:prstGeom prst="rect">
            <a:avLst/>
          </a:prstGeom>
          <a:solidFill>
            <a:srgbClr val="FFFFFF"/>
          </a:solidFill>
          <a:ln w="3810">
            <a:solidFill>
              <a:srgbClr val="E5E7EB"/>
            </a:solidFill>
            <a:prstDash val="solid"/>
          </a:ln>
        </p:spPr>
      </p:sp>
      <p:sp>
        <p:nvSpPr>
          <p:cNvPr id="24" name="Text 22"/>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ENDEAVOUR MINING</a:t>
            </a:r>
            <a:endParaRPr lang="en-US" sz="900" dirty="0"/>
          </a:p>
        </p:txBody>
      </p:sp>
      <p:sp>
        <p:nvSpPr>
          <p:cNvPr id="25" name="Text 23"/>
          <p:cNvSpPr/>
          <p:nvPr/>
        </p:nvSpPr>
        <p:spPr>
          <a:xfrm>
            <a:off x="585216" y="2176272"/>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420</a:t>
            </a:r>
            <a:endParaRPr lang="en-US" sz="900" dirty="0"/>
          </a:p>
        </p:txBody>
      </p:sp>
      <p:sp>
        <p:nvSpPr>
          <p:cNvPr id="26" name="Text 24"/>
          <p:cNvSpPr/>
          <p:nvPr/>
        </p:nvSpPr>
        <p:spPr>
          <a:xfrm>
            <a:off x="252069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~65 T</a:t>
            </a:r>
            <a:endParaRPr lang="en-US" sz="900" dirty="0"/>
          </a:p>
        </p:txBody>
      </p:sp>
      <p:sp>
        <p:nvSpPr>
          <p:cNvPr id="27" name="Text 25"/>
          <p:cNvSpPr/>
          <p:nvPr/>
        </p:nvSpPr>
        <p:spPr>
          <a:xfrm>
            <a:off x="4456176" y="2176272"/>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Partiel</a:t>
            </a:r>
            <a:endParaRPr lang="en-US" sz="900" dirty="0"/>
          </a:p>
        </p:txBody>
      </p:sp>
      <p:sp>
        <p:nvSpPr>
          <p:cNvPr id="28" name="Shape 26"/>
          <p:cNvSpPr/>
          <p:nvPr/>
        </p:nvSpPr>
        <p:spPr>
          <a:xfrm>
            <a:off x="137160" y="2395728"/>
            <a:ext cx="6217920" cy="256032"/>
          </a:xfrm>
          <a:prstGeom prst="rect">
            <a:avLst/>
          </a:prstGeom>
          <a:solidFill>
            <a:srgbClr val="F8F9FA"/>
          </a:solidFill>
          <a:ln w="3810">
            <a:solidFill>
              <a:srgbClr val="E5E7EB"/>
            </a:solidFill>
            <a:prstDash val="solid"/>
          </a:ln>
        </p:spPr>
      </p:sp>
      <p:sp>
        <p:nvSpPr>
          <p:cNvPr id="29" name="Text 27"/>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NEWCREST (Bonikro)</a:t>
            </a:r>
            <a:endParaRPr lang="en-US" sz="900" dirty="0"/>
          </a:p>
        </p:txBody>
      </p:sp>
      <p:sp>
        <p:nvSpPr>
          <p:cNvPr id="30" name="Text 28"/>
          <p:cNvSpPr/>
          <p:nvPr/>
        </p:nvSpPr>
        <p:spPr>
          <a:xfrm>
            <a:off x="585216" y="2432304"/>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340</a:t>
            </a:r>
            <a:endParaRPr lang="en-US" sz="900" dirty="0"/>
          </a:p>
        </p:txBody>
      </p:sp>
      <p:sp>
        <p:nvSpPr>
          <p:cNvPr id="31" name="Text 29"/>
          <p:cNvSpPr/>
          <p:nvPr/>
        </p:nvSpPr>
        <p:spPr>
          <a:xfrm>
            <a:off x="252069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~55 T</a:t>
            </a:r>
            <a:endParaRPr lang="en-US" sz="900" dirty="0"/>
          </a:p>
        </p:txBody>
      </p:sp>
      <p:sp>
        <p:nvSpPr>
          <p:cNvPr id="32" name="Text 30"/>
          <p:cNvSpPr/>
          <p:nvPr/>
        </p:nvSpPr>
        <p:spPr>
          <a:xfrm>
            <a:off x="4456176" y="2432304"/>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Partiel</a:t>
            </a:r>
            <a:endParaRPr lang="en-US" sz="900" dirty="0"/>
          </a:p>
        </p:txBody>
      </p:sp>
      <p:sp>
        <p:nvSpPr>
          <p:cNvPr id="33" name="Shape 31"/>
          <p:cNvSpPr/>
          <p:nvPr/>
        </p:nvSpPr>
        <p:spPr>
          <a:xfrm>
            <a:off x="137160" y="2651760"/>
            <a:ext cx="6217920" cy="256032"/>
          </a:xfrm>
          <a:prstGeom prst="rect">
            <a:avLst/>
          </a:prstGeom>
          <a:solidFill>
            <a:srgbClr val="FFFFFF"/>
          </a:solidFill>
          <a:ln w="3810">
            <a:solidFill>
              <a:srgbClr val="E5E7EB"/>
            </a:solidFill>
            <a:prstDash val="solid"/>
          </a:ln>
        </p:spPr>
      </p:sp>
      <p:sp>
        <p:nvSpPr>
          <p:cNvPr id="34" name="Text 32"/>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SAMA NICKEL (SRG)</a:t>
            </a:r>
            <a:endParaRPr lang="en-US" sz="900" dirty="0"/>
          </a:p>
        </p:txBody>
      </p:sp>
      <p:sp>
        <p:nvSpPr>
          <p:cNvPr id="35" name="Text 33"/>
          <p:cNvSpPr/>
          <p:nvPr/>
        </p:nvSpPr>
        <p:spPr>
          <a:xfrm>
            <a:off x="585216" y="2688336"/>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280</a:t>
            </a:r>
            <a:endParaRPr lang="en-US" sz="900" dirty="0"/>
          </a:p>
        </p:txBody>
      </p:sp>
      <p:sp>
        <p:nvSpPr>
          <p:cNvPr id="36" name="Text 34"/>
          <p:cNvSpPr/>
          <p:nvPr/>
        </p:nvSpPr>
        <p:spPr>
          <a:xfrm>
            <a:off x="252069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37" name="Text 35"/>
          <p:cNvSpPr/>
          <p:nvPr/>
        </p:nvSpPr>
        <p:spPr>
          <a:xfrm>
            <a:off x="4456176" y="2688336"/>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 Non</a:t>
            </a:r>
            <a:endParaRPr lang="en-US" sz="900" dirty="0"/>
          </a:p>
        </p:txBody>
      </p:sp>
      <p:sp>
        <p:nvSpPr>
          <p:cNvPr id="38" name="Shape 36"/>
          <p:cNvSpPr/>
          <p:nvPr/>
        </p:nvSpPr>
        <p:spPr>
          <a:xfrm>
            <a:off x="137160" y="2907792"/>
            <a:ext cx="6217920" cy="256032"/>
          </a:xfrm>
          <a:prstGeom prst="rect">
            <a:avLst/>
          </a:prstGeom>
          <a:solidFill>
            <a:srgbClr val="F8F9FA"/>
          </a:solidFill>
          <a:ln w="3810">
            <a:solidFill>
              <a:srgbClr val="E5E7EB"/>
            </a:solidFill>
            <a:prstDash val="solid"/>
          </a:ln>
        </p:spPr>
      </p:sp>
      <p:sp>
        <p:nvSpPr>
          <p:cNvPr id="39" name="Text 37"/>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IVOIRE MANGANÈSE</a:t>
            </a:r>
            <a:endParaRPr lang="en-US" sz="900" dirty="0"/>
          </a:p>
        </p:txBody>
      </p:sp>
      <p:sp>
        <p:nvSpPr>
          <p:cNvPr id="40" name="Text 38"/>
          <p:cNvSpPr/>
          <p:nvPr/>
        </p:nvSpPr>
        <p:spPr>
          <a:xfrm>
            <a:off x="585216" y="2944368"/>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230</a:t>
            </a:r>
            <a:endParaRPr lang="en-US" sz="900" dirty="0"/>
          </a:p>
        </p:txBody>
      </p:sp>
      <p:sp>
        <p:nvSpPr>
          <p:cNvPr id="41" name="Text 39"/>
          <p:cNvSpPr/>
          <p:nvPr/>
        </p:nvSpPr>
        <p:spPr>
          <a:xfrm>
            <a:off x="252069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~180 T</a:t>
            </a:r>
            <a:endParaRPr lang="en-US" sz="900" dirty="0"/>
          </a:p>
        </p:txBody>
      </p:sp>
      <p:sp>
        <p:nvSpPr>
          <p:cNvPr id="42" name="Text 40"/>
          <p:cNvSpPr/>
          <p:nvPr/>
        </p:nvSpPr>
        <p:spPr>
          <a:xfrm>
            <a:off x="4456176" y="2944368"/>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 Actif</a:t>
            </a:r>
            <a:endParaRPr lang="en-US" sz="900" dirty="0"/>
          </a:p>
        </p:txBody>
      </p:sp>
      <p:sp>
        <p:nvSpPr>
          <p:cNvPr id="43" name="Shape 41"/>
          <p:cNvSpPr/>
          <p:nvPr/>
        </p:nvSpPr>
        <p:spPr>
          <a:xfrm>
            <a:off x="137160" y="3163824"/>
            <a:ext cx="6217920" cy="256032"/>
          </a:xfrm>
          <a:prstGeom prst="rect">
            <a:avLst/>
          </a:prstGeom>
          <a:solidFill>
            <a:srgbClr val="FFFFFF"/>
          </a:solidFill>
          <a:ln w="3810">
            <a:solidFill>
              <a:srgbClr val="E5E7EB"/>
            </a:solidFill>
            <a:prstDash val="solid"/>
          </a:ln>
        </p:spPr>
      </p:sp>
      <p:sp>
        <p:nvSpPr>
          <p:cNvPr id="44" name="Text 42"/>
          <p:cNvSpPr/>
          <p:nvPr/>
        </p:nvSpPr>
        <p:spPr>
          <a:xfrm>
            <a:off x="173736" y="320040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LITHIUM CÔTE D'IVOIRE</a:t>
            </a:r>
            <a:endParaRPr lang="en-US" sz="900" dirty="0"/>
          </a:p>
        </p:txBody>
      </p:sp>
      <p:sp>
        <p:nvSpPr>
          <p:cNvPr id="45" name="Text 43"/>
          <p:cNvSpPr/>
          <p:nvPr/>
        </p:nvSpPr>
        <p:spPr>
          <a:xfrm>
            <a:off x="585216" y="3200400"/>
            <a:ext cx="18897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160</a:t>
            </a:r>
            <a:endParaRPr lang="en-US" sz="900" dirty="0"/>
          </a:p>
        </p:txBody>
      </p:sp>
      <p:sp>
        <p:nvSpPr>
          <p:cNvPr id="46" name="Text 44"/>
          <p:cNvSpPr/>
          <p:nvPr/>
        </p:nvSpPr>
        <p:spPr>
          <a:xfrm>
            <a:off x="252069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47" name="Text 45"/>
          <p:cNvSpPr/>
          <p:nvPr/>
        </p:nvSpPr>
        <p:spPr>
          <a:xfrm>
            <a:off x="4456176" y="3200400"/>
            <a:ext cx="1889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 Non</a:t>
            </a:r>
            <a:endParaRPr lang="en-US" sz="900" dirty="0"/>
          </a:p>
        </p:txBody>
      </p:sp>
      <p:sp>
        <p:nvSpPr>
          <p:cNvPr id="48" name="Shape 46"/>
          <p:cNvSpPr/>
          <p:nvPr/>
        </p:nvSpPr>
        <p:spPr>
          <a:xfrm>
            <a:off x="137160" y="4937760"/>
            <a:ext cx="6217920" cy="777240"/>
          </a:xfrm>
          <a:prstGeom prst="rect">
            <a:avLst/>
          </a:prstGeom>
          <a:solidFill>
            <a:srgbClr val="F0FDF4"/>
          </a:solidFill>
          <a:ln w="6350">
            <a:solidFill>
              <a:srgbClr val="E5C97A"/>
            </a:solidFill>
            <a:prstDash val="solid"/>
          </a:ln>
        </p:spPr>
      </p:sp>
      <p:sp>
        <p:nvSpPr>
          <p:cNvPr id="49" name="Text 47"/>
          <p:cNvSpPr/>
          <p:nvPr/>
        </p:nvSpPr>
        <p:spPr>
          <a:xfrm>
            <a:off x="228600" y="5010912"/>
            <a:ext cx="6035040" cy="66751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POSITION AGL : AGL = prestataire logistique de référence du secteur minier ivoirien (~58% PDM pondéré). K1 Mining = 1 840 TEU répartis sur 3 métiers. Cible : SAMA Nickel + Lithium CI = +440 TEU. Stratégie : package minier intégré TIM + AÉRIEN + DSM + HINTERLAND.</a:t>
            </a:r>
            <a:endParaRPr lang="en-US" sz="900" dirty="0"/>
          </a:p>
        </p:txBody>
      </p:sp>
      <p:sp>
        <p:nvSpPr>
          <p:cNvPr id="50" name="Text 48"/>
          <p:cNvSpPr/>
          <p:nvPr/>
        </p:nvSpPr>
        <p:spPr>
          <a:xfrm>
            <a:off x="6492240" y="1097280"/>
            <a:ext cx="54864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PDM AGL Matériels Miniers par métier</a:t>
            </a:r>
            <a:endParaRPr lang="en-US" sz="1100" dirty="0"/>
          </a:p>
        </p:txBody>
      </p:sp>
      <p:sp>
        <p:nvSpPr>
          <p:cNvPr id="51" name="Text 49"/>
          <p:cNvSpPr/>
          <p:nvPr/>
        </p:nvSpPr>
        <p:spPr>
          <a:xfrm>
            <a:off x="6492240" y="1389888"/>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TIM – IMPORT MARITIME</a:t>
            </a:r>
            <a:endParaRPr lang="en-US" sz="850" dirty="0"/>
          </a:p>
        </p:txBody>
      </p:sp>
      <p:sp>
        <p:nvSpPr>
          <p:cNvPr id="52" name="Text 50"/>
          <p:cNvSpPr/>
          <p:nvPr/>
        </p:nvSpPr>
        <p:spPr>
          <a:xfrm>
            <a:off x="8156448" y="1389888"/>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2 231 TEU</a:t>
            </a:r>
            <a:endParaRPr lang="en-US" sz="850" dirty="0"/>
          </a:p>
        </p:txBody>
      </p:sp>
      <p:sp>
        <p:nvSpPr>
          <p:cNvPr id="53" name="Shape 51"/>
          <p:cNvSpPr/>
          <p:nvPr/>
        </p:nvSpPr>
        <p:spPr>
          <a:xfrm>
            <a:off x="9052560" y="1426464"/>
            <a:ext cx="2743200" cy="164592"/>
          </a:xfrm>
          <a:prstGeom prst="rect">
            <a:avLst/>
          </a:prstGeom>
          <a:solidFill>
            <a:srgbClr val="E5E7EB"/>
          </a:solidFill>
          <a:ln/>
        </p:spPr>
      </p:sp>
      <p:sp>
        <p:nvSpPr>
          <p:cNvPr id="54" name="Shape 52"/>
          <p:cNvSpPr/>
          <p:nvPr/>
        </p:nvSpPr>
        <p:spPr>
          <a:xfrm>
            <a:off x="9052560" y="1426464"/>
            <a:ext cx="2029968" cy="164592"/>
          </a:xfrm>
          <a:prstGeom prst="rect">
            <a:avLst/>
          </a:prstGeom>
          <a:solidFill>
            <a:srgbClr val="1A7C4F"/>
          </a:solidFill>
          <a:ln/>
        </p:spPr>
      </p:sp>
      <p:sp>
        <p:nvSpPr>
          <p:cNvPr id="55" name="Text 53"/>
          <p:cNvSpPr/>
          <p:nvPr/>
        </p:nvSpPr>
        <p:spPr>
          <a:xfrm>
            <a:off x="11841480" y="1389888"/>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74%</a:t>
            </a:r>
            <a:endParaRPr lang="en-US" sz="900" dirty="0"/>
          </a:p>
        </p:txBody>
      </p:sp>
      <p:sp>
        <p:nvSpPr>
          <p:cNvPr id="56" name="Text 54"/>
          <p:cNvSpPr/>
          <p:nvPr/>
        </p:nvSpPr>
        <p:spPr>
          <a:xfrm>
            <a:off x="6492240" y="1773936"/>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AÉRIEN IMPORT</a:t>
            </a:r>
            <a:endParaRPr lang="en-US" sz="850" dirty="0"/>
          </a:p>
        </p:txBody>
      </p:sp>
      <p:sp>
        <p:nvSpPr>
          <p:cNvPr id="57" name="Text 55"/>
          <p:cNvSpPr/>
          <p:nvPr/>
        </p:nvSpPr>
        <p:spPr>
          <a:xfrm>
            <a:off x="8156448" y="1773936"/>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515 776 kg</a:t>
            </a:r>
            <a:endParaRPr lang="en-US" sz="850" dirty="0"/>
          </a:p>
        </p:txBody>
      </p:sp>
      <p:sp>
        <p:nvSpPr>
          <p:cNvPr id="58" name="Shape 56"/>
          <p:cNvSpPr/>
          <p:nvPr/>
        </p:nvSpPr>
        <p:spPr>
          <a:xfrm>
            <a:off x="9052560" y="1810512"/>
            <a:ext cx="2743200" cy="164592"/>
          </a:xfrm>
          <a:prstGeom prst="rect">
            <a:avLst/>
          </a:prstGeom>
          <a:solidFill>
            <a:srgbClr val="E5E7EB"/>
          </a:solidFill>
          <a:ln/>
        </p:spPr>
      </p:sp>
      <p:sp>
        <p:nvSpPr>
          <p:cNvPr id="59" name="Shape 57"/>
          <p:cNvSpPr/>
          <p:nvPr/>
        </p:nvSpPr>
        <p:spPr>
          <a:xfrm>
            <a:off x="9052560" y="1810512"/>
            <a:ext cx="1673352" cy="164592"/>
          </a:xfrm>
          <a:prstGeom prst="rect">
            <a:avLst/>
          </a:prstGeom>
          <a:solidFill>
            <a:srgbClr val="1A7C4F"/>
          </a:solidFill>
          <a:ln/>
        </p:spPr>
      </p:sp>
      <p:sp>
        <p:nvSpPr>
          <p:cNvPr id="60" name="Text 58"/>
          <p:cNvSpPr/>
          <p:nvPr/>
        </p:nvSpPr>
        <p:spPr>
          <a:xfrm>
            <a:off x="11841480" y="1773936"/>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61%</a:t>
            </a:r>
            <a:endParaRPr lang="en-US" sz="900" dirty="0"/>
          </a:p>
        </p:txBody>
      </p:sp>
      <p:sp>
        <p:nvSpPr>
          <p:cNvPr id="61" name="Text 59"/>
          <p:cNvSpPr/>
          <p:nvPr/>
        </p:nvSpPr>
        <p:spPr>
          <a:xfrm>
            <a:off x="6492240" y="2157984"/>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HINTERLAND IMPORT</a:t>
            </a:r>
            <a:endParaRPr lang="en-US" sz="850" dirty="0"/>
          </a:p>
        </p:txBody>
      </p:sp>
      <p:sp>
        <p:nvSpPr>
          <p:cNvPr id="62" name="Text 60"/>
          <p:cNvSpPr/>
          <p:nvPr/>
        </p:nvSpPr>
        <p:spPr>
          <a:xfrm>
            <a:off x="8156448" y="2157984"/>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600 TEU</a:t>
            </a:r>
            <a:endParaRPr lang="en-US" sz="850" dirty="0"/>
          </a:p>
        </p:txBody>
      </p:sp>
      <p:sp>
        <p:nvSpPr>
          <p:cNvPr id="63" name="Shape 61"/>
          <p:cNvSpPr/>
          <p:nvPr/>
        </p:nvSpPr>
        <p:spPr>
          <a:xfrm>
            <a:off x="9052560" y="2194560"/>
            <a:ext cx="2743200" cy="164592"/>
          </a:xfrm>
          <a:prstGeom prst="rect">
            <a:avLst/>
          </a:prstGeom>
          <a:solidFill>
            <a:srgbClr val="E5E7EB"/>
          </a:solidFill>
          <a:ln/>
        </p:spPr>
      </p:sp>
      <p:sp>
        <p:nvSpPr>
          <p:cNvPr id="64" name="Shape 62"/>
          <p:cNvSpPr/>
          <p:nvPr/>
        </p:nvSpPr>
        <p:spPr>
          <a:xfrm>
            <a:off x="9052560" y="2194560"/>
            <a:ext cx="1371600" cy="164592"/>
          </a:xfrm>
          <a:prstGeom prst="rect">
            <a:avLst/>
          </a:prstGeom>
          <a:solidFill>
            <a:srgbClr val="1A7C4F"/>
          </a:solidFill>
          <a:ln/>
        </p:spPr>
      </p:sp>
      <p:sp>
        <p:nvSpPr>
          <p:cNvPr id="65" name="Text 63"/>
          <p:cNvSpPr/>
          <p:nvPr/>
        </p:nvSpPr>
        <p:spPr>
          <a:xfrm>
            <a:off x="11841480" y="2157984"/>
            <a:ext cx="365760" cy="256032"/>
          </a:xfrm>
          <a:prstGeom prst="rect">
            <a:avLst/>
          </a:prstGeom>
          <a:noFill/>
          <a:ln/>
        </p:spPr>
        <p:txBody>
          <a:bodyPr wrap="square" rtlCol="0" anchor="ctr"/>
          <a:lstStyle/>
          <a:p>
            <a:pPr indent="0" marL="0">
              <a:buNone/>
            </a:pPr>
            <a:r>
              <a:rPr lang="en-US" sz="900" b="1" dirty="0">
                <a:solidFill>
                  <a:srgbClr val="1A7C4F"/>
                </a:solidFill>
                <a:latin typeface="Calibri" pitchFamily="34" charset="0"/>
                <a:ea typeface="Calibri" pitchFamily="34" charset="-122"/>
                <a:cs typeface="Calibri" pitchFamily="34" charset="-120"/>
              </a:rPr>
              <a:t>50%</a:t>
            </a:r>
            <a:endParaRPr lang="en-US" sz="900" dirty="0"/>
          </a:p>
        </p:txBody>
      </p:sp>
      <p:sp>
        <p:nvSpPr>
          <p:cNvPr id="66" name="Text 64"/>
          <p:cNvSpPr/>
          <p:nvPr/>
        </p:nvSpPr>
        <p:spPr>
          <a:xfrm>
            <a:off x="6492240" y="2542032"/>
            <a:ext cx="1645920" cy="256032"/>
          </a:xfrm>
          <a:prstGeom prst="rect">
            <a:avLst/>
          </a:prstGeom>
          <a:noFill/>
          <a:ln/>
        </p:spPr>
        <p:txBody>
          <a:bodyPr wrap="square" rtlCol="0" anchor="ctr"/>
          <a:lstStyle/>
          <a:p>
            <a:pPr indent="0" marL="0">
              <a:buNone/>
            </a:pPr>
            <a:r>
              <a:rPr lang="en-US" sz="850" dirty="0">
                <a:solidFill>
                  <a:srgbClr val="374151"/>
                </a:solidFill>
                <a:latin typeface="Calibri" pitchFamily="34" charset="0"/>
                <a:ea typeface="Calibri" pitchFamily="34" charset="-122"/>
                <a:cs typeface="Calibri" pitchFamily="34" charset="-120"/>
              </a:rPr>
              <a:t>DSM – EXPORT MINERAIS</a:t>
            </a:r>
            <a:endParaRPr lang="en-US" sz="850" dirty="0"/>
          </a:p>
        </p:txBody>
      </p:sp>
      <p:sp>
        <p:nvSpPr>
          <p:cNvPr id="67" name="Text 65"/>
          <p:cNvSpPr/>
          <p:nvPr/>
        </p:nvSpPr>
        <p:spPr>
          <a:xfrm>
            <a:off x="8156448" y="2542032"/>
            <a:ext cx="822960" cy="256032"/>
          </a:xfrm>
          <a:prstGeom prst="rect">
            <a:avLst/>
          </a:prstGeom>
          <a:noFill/>
          <a:ln/>
        </p:spPr>
        <p:txBody>
          <a:bodyPr wrap="square" rtlCol="0" anchor="ctr"/>
          <a:lstStyle/>
          <a:p>
            <a:pPr algn="r" indent="0" marL="0">
              <a:buNone/>
            </a:pPr>
            <a:r>
              <a:rPr lang="en-US" sz="850" dirty="0">
                <a:solidFill>
                  <a:srgbClr val="6B7280"/>
                </a:solidFill>
                <a:latin typeface="Calibri" pitchFamily="34" charset="0"/>
                <a:ea typeface="Calibri" pitchFamily="34" charset="-122"/>
                <a:cs typeface="Calibri" pitchFamily="34" charset="-120"/>
              </a:rPr>
              <a:t>~180 T</a:t>
            </a:r>
            <a:endParaRPr lang="en-US" sz="850" dirty="0"/>
          </a:p>
        </p:txBody>
      </p:sp>
      <p:sp>
        <p:nvSpPr>
          <p:cNvPr id="68" name="Shape 66"/>
          <p:cNvSpPr/>
          <p:nvPr/>
        </p:nvSpPr>
        <p:spPr>
          <a:xfrm>
            <a:off x="9052560" y="2578608"/>
            <a:ext cx="2743200" cy="164592"/>
          </a:xfrm>
          <a:prstGeom prst="rect">
            <a:avLst/>
          </a:prstGeom>
          <a:solidFill>
            <a:srgbClr val="E5E7EB"/>
          </a:solidFill>
          <a:ln/>
        </p:spPr>
      </p:sp>
      <p:sp>
        <p:nvSpPr>
          <p:cNvPr id="69" name="Shape 67"/>
          <p:cNvSpPr/>
          <p:nvPr/>
        </p:nvSpPr>
        <p:spPr>
          <a:xfrm>
            <a:off x="9052560" y="2578608"/>
            <a:ext cx="576072" cy="164592"/>
          </a:xfrm>
          <a:prstGeom prst="rect">
            <a:avLst/>
          </a:prstGeom>
          <a:solidFill>
            <a:srgbClr val="2563A8"/>
          </a:solidFill>
          <a:ln/>
        </p:spPr>
      </p:sp>
      <p:sp>
        <p:nvSpPr>
          <p:cNvPr id="70" name="Text 68"/>
          <p:cNvSpPr/>
          <p:nvPr/>
        </p:nvSpPr>
        <p:spPr>
          <a:xfrm>
            <a:off x="11841480" y="2542032"/>
            <a:ext cx="365760" cy="256032"/>
          </a:xfrm>
          <a:prstGeom prst="rect">
            <a:avLst/>
          </a:prstGeom>
          <a:noFill/>
          <a:ln/>
        </p:spPr>
        <p:txBody>
          <a:bodyPr wrap="square" rtlCol="0" anchor="ctr"/>
          <a:lstStyle/>
          <a:p>
            <a:pPr indent="0" marL="0">
              <a:buNone/>
            </a:pPr>
            <a:r>
              <a:rPr lang="en-US" sz="900" b="1" dirty="0">
                <a:solidFill>
                  <a:srgbClr val="2563A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TRANSITAIRE – GROUPE AYMAN  |  Synthèse multi-métiers</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Analyse toutes activités (incl. DJAM DKS TRANSIT &amp; HANNYYAH ET SAID)  |  Concurrence directe AGL  |  Jan–Mai 2026</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p.30</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1179576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Activité AYMAN par métier vs position AGL – Jan–Mai 2026</a:t>
            </a:r>
            <a:endParaRPr lang="en-US" sz="1100" dirty="0"/>
          </a:p>
        </p:txBody>
      </p:sp>
      <p:sp>
        <p:nvSpPr>
          <p:cNvPr id="8" name="Shape 6"/>
          <p:cNvSpPr/>
          <p:nvPr/>
        </p:nvSpPr>
        <p:spPr>
          <a:xfrm>
            <a:off x="137160" y="1371600"/>
            <a:ext cx="11795760" cy="256032"/>
          </a:xfrm>
          <a:prstGeom prst="rect">
            <a:avLst/>
          </a:prstGeom>
          <a:solidFill>
            <a:srgbClr val="0D2243"/>
          </a:solidFill>
          <a:ln/>
        </p:spPr>
      </p:sp>
      <p:sp>
        <p:nvSpPr>
          <p:cNvPr id="9" name="Text 7"/>
          <p:cNvSpPr/>
          <p:nvPr/>
        </p:nvSpPr>
        <p:spPr>
          <a:xfrm>
            <a:off x="173736" y="1408176"/>
            <a:ext cx="3657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Métier</a:t>
            </a:r>
            <a:endParaRPr lang="en-US" sz="900" dirty="0"/>
          </a:p>
        </p:txBody>
      </p:sp>
      <p:sp>
        <p:nvSpPr>
          <p:cNvPr id="10" name="Text 8"/>
          <p:cNvSpPr/>
          <p:nvPr/>
        </p:nvSpPr>
        <p:spPr>
          <a:xfrm>
            <a:off x="585216" y="1408176"/>
            <a:ext cx="1851660" cy="201168"/>
          </a:xfrm>
          <a:prstGeom prst="rect">
            <a:avLst/>
          </a:prstGeom>
          <a:noFill/>
          <a:ln/>
        </p:spPr>
        <p:txBody>
          <a:bodyPr wrap="square" rtlCol="0" anchor="ctr"/>
          <a:lstStyle/>
          <a:p>
            <a:pPr algn="l" indent="0" marL="0">
              <a:buNone/>
            </a:pPr>
            <a:r>
              <a:rPr lang="en-US" sz="900" b="1" dirty="0">
                <a:solidFill>
                  <a:srgbClr val="FFFFFF"/>
                </a:solidFill>
                <a:latin typeface="Calibri" pitchFamily="34" charset="0"/>
                <a:ea typeface="Calibri" pitchFamily="34" charset="-122"/>
                <a:cs typeface="Calibri" pitchFamily="34" charset="-120"/>
              </a:rPr>
              <a:t>Rang Ayman</a:t>
            </a:r>
            <a:endParaRPr lang="en-US" sz="900" dirty="0"/>
          </a:p>
        </p:txBody>
      </p:sp>
      <p:sp>
        <p:nvSpPr>
          <p:cNvPr id="11" name="Text 9"/>
          <p:cNvSpPr/>
          <p:nvPr/>
        </p:nvSpPr>
        <p:spPr>
          <a:xfrm>
            <a:off x="2482596" y="1408176"/>
            <a:ext cx="18516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Volume Ayman</a:t>
            </a:r>
            <a:endParaRPr lang="en-US" sz="900" dirty="0"/>
          </a:p>
        </p:txBody>
      </p:sp>
      <p:sp>
        <p:nvSpPr>
          <p:cNvPr id="12" name="Text 10"/>
          <p:cNvSpPr/>
          <p:nvPr/>
        </p:nvSpPr>
        <p:spPr>
          <a:xfrm>
            <a:off x="4379976" y="1408176"/>
            <a:ext cx="18516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 Ayman</a:t>
            </a:r>
            <a:endParaRPr lang="en-US" sz="900" dirty="0"/>
          </a:p>
        </p:txBody>
      </p:sp>
      <p:sp>
        <p:nvSpPr>
          <p:cNvPr id="13" name="Text 11"/>
          <p:cNvSpPr/>
          <p:nvPr/>
        </p:nvSpPr>
        <p:spPr>
          <a:xfrm>
            <a:off x="6277356" y="1408176"/>
            <a:ext cx="18516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Rang AGL</a:t>
            </a:r>
            <a:endParaRPr lang="en-US" sz="900" dirty="0"/>
          </a:p>
        </p:txBody>
      </p:sp>
      <p:sp>
        <p:nvSpPr>
          <p:cNvPr id="14" name="Text 12"/>
          <p:cNvSpPr/>
          <p:nvPr/>
        </p:nvSpPr>
        <p:spPr>
          <a:xfrm>
            <a:off x="8174736" y="1408176"/>
            <a:ext cx="18516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PDM AGL</a:t>
            </a:r>
            <a:endParaRPr lang="en-US" sz="900" dirty="0"/>
          </a:p>
        </p:txBody>
      </p:sp>
      <p:sp>
        <p:nvSpPr>
          <p:cNvPr id="15" name="Text 13"/>
          <p:cNvSpPr/>
          <p:nvPr/>
        </p:nvSpPr>
        <p:spPr>
          <a:xfrm>
            <a:off x="10072116" y="1408176"/>
            <a:ext cx="1851660" cy="20116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Écart AGL</a:t>
            </a:r>
            <a:endParaRPr lang="en-US" sz="900" dirty="0"/>
          </a:p>
        </p:txBody>
      </p:sp>
      <p:sp>
        <p:nvSpPr>
          <p:cNvPr id="16" name="Shape 14"/>
          <p:cNvSpPr/>
          <p:nvPr/>
        </p:nvSpPr>
        <p:spPr>
          <a:xfrm>
            <a:off x="137160" y="1627632"/>
            <a:ext cx="11795760" cy="256032"/>
          </a:xfrm>
          <a:prstGeom prst="rect">
            <a:avLst/>
          </a:prstGeom>
          <a:solidFill>
            <a:srgbClr val="FFF9EC"/>
          </a:solidFill>
          <a:ln w="3810">
            <a:solidFill>
              <a:srgbClr val="E5E7EB"/>
            </a:solidFill>
            <a:prstDash val="solid"/>
          </a:ln>
        </p:spPr>
      </p:sp>
      <p:sp>
        <p:nvSpPr>
          <p:cNvPr id="17" name="Text 15"/>
          <p:cNvSpPr/>
          <p:nvPr/>
        </p:nvSpPr>
        <p:spPr>
          <a:xfrm>
            <a:off x="173736" y="1664208"/>
            <a:ext cx="365760" cy="201168"/>
          </a:xfrm>
          <a:prstGeom prst="rect">
            <a:avLst/>
          </a:prstGeom>
          <a:noFill/>
          <a:ln/>
        </p:spPr>
        <p:txBody>
          <a:bodyPr wrap="square" rtlCol="0" anchor="ctr"/>
          <a:lstStyle/>
          <a:p>
            <a:pPr algn="ctr" indent="0" marL="0">
              <a:buNone/>
            </a:pPr>
            <a:r>
              <a:rPr lang="en-US" sz="900" b="1" dirty="0">
                <a:solidFill>
                  <a:srgbClr val="374151"/>
                </a:solidFill>
                <a:latin typeface="Calibri" pitchFamily="34" charset="0"/>
                <a:ea typeface="Calibri" pitchFamily="34" charset="-122"/>
                <a:cs typeface="Calibri" pitchFamily="34" charset="-120"/>
              </a:rPr>
              <a:t>TIM – Import Maritime</a:t>
            </a:r>
            <a:endParaRPr lang="en-US" sz="900" dirty="0"/>
          </a:p>
        </p:txBody>
      </p:sp>
      <p:sp>
        <p:nvSpPr>
          <p:cNvPr id="18" name="Text 16"/>
          <p:cNvSpPr/>
          <p:nvPr/>
        </p:nvSpPr>
        <p:spPr>
          <a:xfrm>
            <a:off x="585216" y="1664208"/>
            <a:ext cx="1851660" cy="201168"/>
          </a:xfrm>
          <a:prstGeom prst="rect">
            <a:avLst/>
          </a:prstGeom>
          <a:noFill/>
          <a:ln/>
        </p:spPr>
        <p:txBody>
          <a:bodyPr wrap="square" rtlCol="0" anchor="ctr"/>
          <a:lstStyle/>
          <a:p>
            <a:pPr algn="l" indent="0" marL="0">
              <a:buNone/>
            </a:pPr>
            <a:r>
              <a:rPr lang="en-US" sz="900" b="1" dirty="0">
                <a:solidFill>
                  <a:srgbClr val="1A7C4F"/>
                </a:solidFill>
                <a:latin typeface="Calibri" pitchFamily="34" charset="0"/>
                <a:ea typeface="Calibri" pitchFamily="34" charset="-122"/>
                <a:cs typeface="Calibri" pitchFamily="34" charset="-120"/>
              </a:rPr>
              <a:t>#5</a:t>
            </a:r>
            <a:endParaRPr lang="en-US" sz="900" dirty="0"/>
          </a:p>
        </p:txBody>
      </p:sp>
      <p:sp>
        <p:nvSpPr>
          <p:cNvPr id="19" name="Text 17"/>
          <p:cNvSpPr/>
          <p:nvPr/>
        </p:nvSpPr>
        <p:spPr>
          <a:xfrm>
            <a:off x="2482596" y="166420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10 862 TEU (DJAM DKS)</a:t>
            </a:r>
            <a:endParaRPr lang="en-US" sz="900" dirty="0"/>
          </a:p>
        </p:txBody>
      </p:sp>
      <p:sp>
        <p:nvSpPr>
          <p:cNvPr id="20" name="Text 18"/>
          <p:cNvSpPr/>
          <p:nvPr/>
        </p:nvSpPr>
        <p:spPr>
          <a:xfrm>
            <a:off x="4379976" y="166420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5,6 %</a:t>
            </a:r>
            <a:endParaRPr lang="en-US" sz="900" dirty="0"/>
          </a:p>
        </p:txBody>
      </p:sp>
      <p:sp>
        <p:nvSpPr>
          <p:cNvPr id="21" name="Text 19"/>
          <p:cNvSpPr/>
          <p:nvPr/>
        </p:nvSpPr>
        <p:spPr>
          <a:xfrm>
            <a:off x="6277356" y="166420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22" name="Text 20"/>
          <p:cNvSpPr/>
          <p:nvPr/>
        </p:nvSpPr>
        <p:spPr>
          <a:xfrm>
            <a:off x="8174736" y="166420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7,8 %</a:t>
            </a:r>
            <a:endParaRPr lang="en-US" sz="900" dirty="0"/>
          </a:p>
        </p:txBody>
      </p:sp>
      <p:sp>
        <p:nvSpPr>
          <p:cNvPr id="23" name="Text 21"/>
          <p:cNvSpPr/>
          <p:nvPr/>
        </p:nvSpPr>
        <p:spPr>
          <a:xfrm>
            <a:off x="10072116" y="1664208"/>
            <a:ext cx="1851660" cy="201168"/>
          </a:xfrm>
          <a:prstGeom prst="rect">
            <a:avLst/>
          </a:prstGeom>
          <a:noFill/>
          <a:ln/>
        </p:spPr>
        <p:txBody>
          <a:bodyPr wrap="square" rtlCol="0" anchor="ctr"/>
          <a:lstStyle/>
          <a:p>
            <a:pPr algn="ctr" indent="0" marL="0">
              <a:buNone/>
            </a:pPr>
            <a:r>
              <a:rPr lang="en-US" sz="900" dirty="0">
                <a:solidFill>
                  <a:srgbClr val="1A7C4F"/>
                </a:solidFill>
                <a:latin typeface="Calibri" pitchFamily="34" charset="0"/>
                <a:ea typeface="Calibri" pitchFamily="34" charset="-122"/>
                <a:cs typeface="Calibri" pitchFamily="34" charset="-120"/>
              </a:rPr>
              <a:t>+2,2 pts</a:t>
            </a:r>
            <a:endParaRPr lang="en-US" sz="900" dirty="0"/>
          </a:p>
        </p:txBody>
      </p:sp>
      <p:sp>
        <p:nvSpPr>
          <p:cNvPr id="24" name="Shape 22"/>
          <p:cNvSpPr/>
          <p:nvPr/>
        </p:nvSpPr>
        <p:spPr>
          <a:xfrm>
            <a:off x="137160" y="1883664"/>
            <a:ext cx="11795760" cy="256032"/>
          </a:xfrm>
          <a:prstGeom prst="rect">
            <a:avLst/>
          </a:prstGeom>
          <a:solidFill>
            <a:srgbClr val="F8F9FA"/>
          </a:solidFill>
          <a:ln w="3810">
            <a:solidFill>
              <a:srgbClr val="E5E7EB"/>
            </a:solidFill>
            <a:prstDash val="solid"/>
          </a:ln>
        </p:spPr>
      </p:sp>
      <p:sp>
        <p:nvSpPr>
          <p:cNvPr id="25" name="Text 23"/>
          <p:cNvSpPr/>
          <p:nvPr/>
        </p:nvSpPr>
        <p:spPr>
          <a:xfrm>
            <a:off x="173736" y="1920240"/>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TEM – Export Maritime</a:t>
            </a:r>
            <a:endParaRPr lang="en-US" sz="900" dirty="0"/>
          </a:p>
        </p:txBody>
      </p:sp>
      <p:sp>
        <p:nvSpPr>
          <p:cNvPr id="26" name="Text 24"/>
          <p:cNvSpPr/>
          <p:nvPr/>
        </p:nvSpPr>
        <p:spPr>
          <a:xfrm>
            <a:off x="585216" y="1920240"/>
            <a:ext cx="18516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Non classé</a:t>
            </a:r>
            <a:endParaRPr lang="en-US" sz="900" dirty="0"/>
          </a:p>
        </p:txBody>
      </p:sp>
      <p:sp>
        <p:nvSpPr>
          <p:cNvPr id="27" name="Text 25"/>
          <p:cNvSpPr/>
          <p:nvPr/>
        </p:nvSpPr>
        <p:spPr>
          <a:xfrm>
            <a:off x="2482596" y="1920240"/>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~800 TEU</a:t>
            </a:r>
            <a:endParaRPr lang="en-US" sz="900" dirty="0"/>
          </a:p>
        </p:txBody>
      </p:sp>
      <p:sp>
        <p:nvSpPr>
          <p:cNvPr id="28" name="Text 26"/>
          <p:cNvSpPr/>
          <p:nvPr/>
        </p:nvSpPr>
        <p:spPr>
          <a:xfrm>
            <a:off x="4379976" y="1920240"/>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~0,6 %</a:t>
            </a:r>
            <a:endParaRPr lang="en-US" sz="900" dirty="0"/>
          </a:p>
        </p:txBody>
      </p:sp>
      <p:sp>
        <p:nvSpPr>
          <p:cNvPr id="29" name="Text 27"/>
          <p:cNvSpPr/>
          <p:nvPr/>
        </p:nvSpPr>
        <p:spPr>
          <a:xfrm>
            <a:off x="6277356" y="1920240"/>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30" name="Text 28"/>
          <p:cNvSpPr/>
          <p:nvPr/>
        </p:nvSpPr>
        <p:spPr>
          <a:xfrm>
            <a:off x="8174736" y="1920240"/>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26,2 %</a:t>
            </a:r>
            <a:endParaRPr lang="en-US" sz="900" dirty="0"/>
          </a:p>
        </p:txBody>
      </p:sp>
      <p:sp>
        <p:nvSpPr>
          <p:cNvPr id="31" name="Text 29"/>
          <p:cNvSpPr/>
          <p:nvPr/>
        </p:nvSpPr>
        <p:spPr>
          <a:xfrm>
            <a:off x="10072116" y="1920240"/>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+25,6 pts</a:t>
            </a:r>
            <a:endParaRPr lang="en-US" sz="900" dirty="0"/>
          </a:p>
        </p:txBody>
      </p:sp>
      <p:sp>
        <p:nvSpPr>
          <p:cNvPr id="32" name="Shape 30"/>
          <p:cNvSpPr/>
          <p:nvPr/>
        </p:nvSpPr>
        <p:spPr>
          <a:xfrm>
            <a:off x="137160" y="2139696"/>
            <a:ext cx="11795760" cy="256032"/>
          </a:xfrm>
          <a:prstGeom prst="rect">
            <a:avLst/>
          </a:prstGeom>
          <a:solidFill>
            <a:srgbClr val="FFFFFF"/>
          </a:solidFill>
          <a:ln w="3810">
            <a:solidFill>
              <a:srgbClr val="E5E7EB"/>
            </a:solidFill>
            <a:prstDash val="solid"/>
          </a:ln>
        </p:spPr>
      </p:sp>
      <p:sp>
        <p:nvSpPr>
          <p:cNvPr id="33" name="Text 31"/>
          <p:cNvSpPr/>
          <p:nvPr/>
        </p:nvSpPr>
        <p:spPr>
          <a:xfrm>
            <a:off x="173736" y="2176272"/>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Hinterland Import</a:t>
            </a:r>
            <a:endParaRPr lang="en-US" sz="900" dirty="0"/>
          </a:p>
        </p:txBody>
      </p:sp>
      <p:sp>
        <p:nvSpPr>
          <p:cNvPr id="34" name="Text 32"/>
          <p:cNvSpPr/>
          <p:nvPr/>
        </p:nvSpPr>
        <p:spPr>
          <a:xfrm>
            <a:off x="585216" y="2176272"/>
            <a:ext cx="18516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~#12</a:t>
            </a:r>
            <a:endParaRPr lang="en-US" sz="900" dirty="0"/>
          </a:p>
        </p:txBody>
      </p:sp>
      <p:sp>
        <p:nvSpPr>
          <p:cNvPr id="35" name="Text 33"/>
          <p:cNvSpPr/>
          <p:nvPr/>
        </p:nvSpPr>
        <p:spPr>
          <a:xfrm>
            <a:off x="2482596" y="2176272"/>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~400 TEU</a:t>
            </a:r>
            <a:endParaRPr lang="en-US" sz="900" dirty="0"/>
          </a:p>
        </p:txBody>
      </p:sp>
      <p:sp>
        <p:nvSpPr>
          <p:cNvPr id="36" name="Text 34"/>
          <p:cNvSpPr/>
          <p:nvPr/>
        </p:nvSpPr>
        <p:spPr>
          <a:xfrm>
            <a:off x="4379976" y="2176272"/>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~1,4 %</a:t>
            </a:r>
            <a:endParaRPr lang="en-US" sz="900" dirty="0"/>
          </a:p>
        </p:txBody>
      </p:sp>
      <p:sp>
        <p:nvSpPr>
          <p:cNvPr id="37" name="Text 35"/>
          <p:cNvSpPr/>
          <p:nvPr/>
        </p:nvSpPr>
        <p:spPr>
          <a:xfrm>
            <a:off x="6277356" y="2176272"/>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38" name="Text 36"/>
          <p:cNvSpPr/>
          <p:nvPr/>
        </p:nvSpPr>
        <p:spPr>
          <a:xfrm>
            <a:off x="8174736" y="2176272"/>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11,3 %</a:t>
            </a:r>
            <a:endParaRPr lang="en-US" sz="900" dirty="0"/>
          </a:p>
        </p:txBody>
      </p:sp>
      <p:sp>
        <p:nvSpPr>
          <p:cNvPr id="39" name="Text 37"/>
          <p:cNvSpPr/>
          <p:nvPr/>
        </p:nvSpPr>
        <p:spPr>
          <a:xfrm>
            <a:off x="10072116" y="2176272"/>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+9,9 pts</a:t>
            </a:r>
            <a:endParaRPr lang="en-US" sz="900" dirty="0"/>
          </a:p>
        </p:txBody>
      </p:sp>
      <p:sp>
        <p:nvSpPr>
          <p:cNvPr id="40" name="Shape 38"/>
          <p:cNvSpPr/>
          <p:nvPr/>
        </p:nvSpPr>
        <p:spPr>
          <a:xfrm>
            <a:off x="137160" y="2395728"/>
            <a:ext cx="11795760" cy="256032"/>
          </a:xfrm>
          <a:prstGeom prst="rect">
            <a:avLst/>
          </a:prstGeom>
          <a:solidFill>
            <a:srgbClr val="F8F9FA"/>
          </a:solidFill>
          <a:ln w="3810">
            <a:solidFill>
              <a:srgbClr val="E5E7EB"/>
            </a:solidFill>
            <a:prstDash val="solid"/>
          </a:ln>
        </p:spPr>
      </p:sp>
      <p:sp>
        <p:nvSpPr>
          <p:cNvPr id="41" name="Text 39"/>
          <p:cNvSpPr/>
          <p:nvPr/>
        </p:nvSpPr>
        <p:spPr>
          <a:xfrm>
            <a:off x="173736" y="2432304"/>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Hinterland Export</a:t>
            </a:r>
            <a:endParaRPr lang="en-US" sz="900" dirty="0"/>
          </a:p>
        </p:txBody>
      </p:sp>
      <p:sp>
        <p:nvSpPr>
          <p:cNvPr id="42" name="Text 40"/>
          <p:cNvSpPr/>
          <p:nvPr/>
        </p:nvSpPr>
        <p:spPr>
          <a:xfrm>
            <a:off x="585216" y="2432304"/>
            <a:ext cx="18516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Non présent</a:t>
            </a:r>
            <a:endParaRPr lang="en-US" sz="900" dirty="0"/>
          </a:p>
        </p:txBody>
      </p:sp>
      <p:sp>
        <p:nvSpPr>
          <p:cNvPr id="43" name="Text 41"/>
          <p:cNvSpPr/>
          <p:nvPr/>
        </p:nvSpPr>
        <p:spPr>
          <a:xfrm>
            <a:off x="2482596" y="2432304"/>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44" name="Text 42"/>
          <p:cNvSpPr/>
          <p:nvPr/>
        </p:nvSpPr>
        <p:spPr>
          <a:xfrm>
            <a:off x="4379976" y="2432304"/>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45" name="Text 43"/>
          <p:cNvSpPr/>
          <p:nvPr/>
        </p:nvSpPr>
        <p:spPr>
          <a:xfrm>
            <a:off x="6277356" y="2432304"/>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46" name="Text 44"/>
          <p:cNvSpPr/>
          <p:nvPr/>
        </p:nvSpPr>
        <p:spPr>
          <a:xfrm>
            <a:off x="8174736" y="2432304"/>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66,1 %</a:t>
            </a:r>
            <a:endParaRPr lang="en-US" sz="900" dirty="0"/>
          </a:p>
        </p:txBody>
      </p:sp>
      <p:sp>
        <p:nvSpPr>
          <p:cNvPr id="47" name="Text 45"/>
          <p:cNvSpPr/>
          <p:nvPr/>
        </p:nvSpPr>
        <p:spPr>
          <a:xfrm>
            <a:off x="10072116" y="2432304"/>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t>
            </a:r>
            <a:endParaRPr lang="en-US" sz="900" dirty="0"/>
          </a:p>
        </p:txBody>
      </p:sp>
      <p:sp>
        <p:nvSpPr>
          <p:cNvPr id="48" name="Shape 46"/>
          <p:cNvSpPr/>
          <p:nvPr/>
        </p:nvSpPr>
        <p:spPr>
          <a:xfrm>
            <a:off x="137160" y="2651760"/>
            <a:ext cx="11795760" cy="256032"/>
          </a:xfrm>
          <a:prstGeom prst="rect">
            <a:avLst/>
          </a:prstGeom>
          <a:solidFill>
            <a:srgbClr val="FFFFFF"/>
          </a:solidFill>
          <a:ln w="3810">
            <a:solidFill>
              <a:srgbClr val="E5E7EB"/>
            </a:solidFill>
            <a:prstDash val="solid"/>
          </a:ln>
        </p:spPr>
      </p:sp>
      <p:sp>
        <p:nvSpPr>
          <p:cNvPr id="49" name="Text 47"/>
          <p:cNvSpPr/>
          <p:nvPr/>
        </p:nvSpPr>
        <p:spPr>
          <a:xfrm>
            <a:off x="173736" y="2688336"/>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Aérien Import</a:t>
            </a:r>
            <a:endParaRPr lang="en-US" sz="900" dirty="0"/>
          </a:p>
        </p:txBody>
      </p:sp>
      <p:sp>
        <p:nvSpPr>
          <p:cNvPr id="50" name="Text 48"/>
          <p:cNvSpPr/>
          <p:nvPr/>
        </p:nvSpPr>
        <p:spPr>
          <a:xfrm>
            <a:off x="585216" y="2688336"/>
            <a:ext cx="18516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#7</a:t>
            </a:r>
            <a:endParaRPr lang="en-US" sz="900" dirty="0"/>
          </a:p>
        </p:txBody>
      </p:sp>
      <p:sp>
        <p:nvSpPr>
          <p:cNvPr id="51" name="Text 49"/>
          <p:cNvSpPr/>
          <p:nvPr/>
        </p:nvSpPr>
        <p:spPr>
          <a:xfrm>
            <a:off x="2482596" y="2688336"/>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273 092 kg (HANNYYAH)</a:t>
            </a:r>
            <a:endParaRPr lang="en-US" sz="900" dirty="0"/>
          </a:p>
        </p:txBody>
      </p:sp>
      <p:sp>
        <p:nvSpPr>
          <p:cNvPr id="52" name="Text 50"/>
          <p:cNvSpPr/>
          <p:nvPr/>
        </p:nvSpPr>
        <p:spPr>
          <a:xfrm>
            <a:off x="4379976" y="2688336"/>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4,9 %</a:t>
            </a:r>
            <a:endParaRPr lang="en-US" sz="900" dirty="0"/>
          </a:p>
        </p:txBody>
      </p:sp>
      <p:sp>
        <p:nvSpPr>
          <p:cNvPr id="53" name="Text 51"/>
          <p:cNvSpPr/>
          <p:nvPr/>
        </p:nvSpPr>
        <p:spPr>
          <a:xfrm>
            <a:off x="6277356" y="2688336"/>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a:t>
            </a:r>
            <a:endParaRPr lang="en-US" sz="900" dirty="0"/>
          </a:p>
        </p:txBody>
      </p:sp>
      <p:sp>
        <p:nvSpPr>
          <p:cNvPr id="54" name="Text 52"/>
          <p:cNvSpPr/>
          <p:nvPr/>
        </p:nvSpPr>
        <p:spPr>
          <a:xfrm>
            <a:off x="8174736" y="2688336"/>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20,8 %</a:t>
            </a:r>
            <a:endParaRPr lang="en-US" sz="900" dirty="0"/>
          </a:p>
        </p:txBody>
      </p:sp>
      <p:sp>
        <p:nvSpPr>
          <p:cNvPr id="55" name="Text 53"/>
          <p:cNvSpPr/>
          <p:nvPr/>
        </p:nvSpPr>
        <p:spPr>
          <a:xfrm>
            <a:off x="10072116" y="2688336"/>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+15,9 pts</a:t>
            </a:r>
            <a:endParaRPr lang="en-US" sz="900" dirty="0"/>
          </a:p>
        </p:txBody>
      </p:sp>
      <p:sp>
        <p:nvSpPr>
          <p:cNvPr id="56" name="Shape 54"/>
          <p:cNvSpPr/>
          <p:nvPr/>
        </p:nvSpPr>
        <p:spPr>
          <a:xfrm>
            <a:off x="137160" y="2907792"/>
            <a:ext cx="11795760" cy="256032"/>
          </a:xfrm>
          <a:prstGeom prst="rect">
            <a:avLst/>
          </a:prstGeom>
          <a:solidFill>
            <a:srgbClr val="F8F9FA"/>
          </a:solidFill>
          <a:ln w="3810">
            <a:solidFill>
              <a:srgbClr val="E5E7EB"/>
            </a:solidFill>
            <a:prstDash val="solid"/>
          </a:ln>
        </p:spPr>
      </p:sp>
      <p:sp>
        <p:nvSpPr>
          <p:cNvPr id="57" name="Text 55"/>
          <p:cNvSpPr/>
          <p:nvPr/>
        </p:nvSpPr>
        <p:spPr>
          <a:xfrm>
            <a:off x="173736" y="2944368"/>
            <a:ext cx="3657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DSM – Tramps</a:t>
            </a:r>
            <a:endParaRPr lang="en-US" sz="900" dirty="0"/>
          </a:p>
        </p:txBody>
      </p:sp>
      <p:sp>
        <p:nvSpPr>
          <p:cNvPr id="58" name="Text 56"/>
          <p:cNvSpPr/>
          <p:nvPr/>
        </p:nvSpPr>
        <p:spPr>
          <a:xfrm>
            <a:off x="585216" y="2944368"/>
            <a:ext cx="1851660" cy="201168"/>
          </a:xfrm>
          <a:prstGeom prst="rect">
            <a:avLst/>
          </a:prstGeom>
          <a:noFill/>
          <a:ln/>
        </p:spPr>
        <p:txBody>
          <a:bodyPr wrap="square" rtlCol="0" anchor="ctr"/>
          <a:lstStyle/>
          <a:p>
            <a:pPr algn="l" indent="0" marL="0">
              <a:buNone/>
            </a:pPr>
            <a:r>
              <a:rPr lang="en-US" sz="900" dirty="0">
                <a:solidFill>
                  <a:srgbClr val="374151"/>
                </a:solidFill>
                <a:latin typeface="Calibri" pitchFamily="34" charset="0"/>
                <a:ea typeface="Calibri" pitchFamily="34" charset="-122"/>
                <a:cs typeface="Calibri" pitchFamily="34" charset="-120"/>
              </a:rPr>
              <a:t>~#8</a:t>
            </a:r>
            <a:endParaRPr lang="en-US" sz="900" dirty="0"/>
          </a:p>
        </p:txBody>
      </p:sp>
      <p:sp>
        <p:nvSpPr>
          <p:cNvPr id="59" name="Text 57"/>
          <p:cNvSpPr/>
          <p:nvPr/>
        </p:nvSpPr>
        <p:spPr>
          <a:xfrm>
            <a:off x="2482596" y="294436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~3 900 T</a:t>
            </a:r>
            <a:endParaRPr lang="en-US" sz="900" dirty="0"/>
          </a:p>
        </p:txBody>
      </p:sp>
      <p:sp>
        <p:nvSpPr>
          <p:cNvPr id="60" name="Text 58"/>
          <p:cNvSpPr/>
          <p:nvPr/>
        </p:nvSpPr>
        <p:spPr>
          <a:xfrm>
            <a:off x="4379976" y="294436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4,2 %</a:t>
            </a:r>
            <a:endParaRPr lang="en-US" sz="900" dirty="0"/>
          </a:p>
        </p:txBody>
      </p:sp>
      <p:sp>
        <p:nvSpPr>
          <p:cNvPr id="61" name="Text 59"/>
          <p:cNvSpPr/>
          <p:nvPr/>
        </p:nvSpPr>
        <p:spPr>
          <a:xfrm>
            <a:off x="6277356" y="294436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#3</a:t>
            </a:r>
            <a:endParaRPr lang="en-US" sz="900" dirty="0"/>
          </a:p>
        </p:txBody>
      </p:sp>
      <p:sp>
        <p:nvSpPr>
          <p:cNvPr id="62" name="Text 60"/>
          <p:cNvSpPr/>
          <p:nvPr/>
        </p:nvSpPr>
        <p:spPr>
          <a:xfrm>
            <a:off x="8174736" y="294436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~11 %</a:t>
            </a:r>
            <a:endParaRPr lang="en-US" sz="900" dirty="0"/>
          </a:p>
        </p:txBody>
      </p:sp>
      <p:sp>
        <p:nvSpPr>
          <p:cNvPr id="63" name="Text 61"/>
          <p:cNvSpPr/>
          <p:nvPr/>
        </p:nvSpPr>
        <p:spPr>
          <a:xfrm>
            <a:off x="10072116" y="2944368"/>
            <a:ext cx="1851660" cy="201168"/>
          </a:xfrm>
          <a:prstGeom prst="rect">
            <a:avLst/>
          </a:prstGeom>
          <a:noFill/>
          <a:ln/>
        </p:spPr>
        <p:txBody>
          <a:bodyPr wrap="square" rtlCol="0" anchor="ctr"/>
          <a:lstStyle/>
          <a:p>
            <a:pPr algn="ctr" indent="0" marL="0">
              <a:buNone/>
            </a:pPr>
            <a:r>
              <a:rPr lang="en-US" sz="900" dirty="0">
                <a:solidFill>
                  <a:srgbClr val="374151"/>
                </a:solidFill>
                <a:latin typeface="Calibri" pitchFamily="34" charset="0"/>
                <a:ea typeface="Calibri" pitchFamily="34" charset="-122"/>
                <a:cs typeface="Calibri" pitchFamily="34" charset="-120"/>
              </a:rPr>
              <a:t>+6,8 pts</a:t>
            </a:r>
            <a:endParaRPr lang="en-US" sz="900" dirty="0"/>
          </a:p>
        </p:txBody>
      </p:sp>
      <p:sp>
        <p:nvSpPr>
          <p:cNvPr id="64" name="Shape 62"/>
          <p:cNvSpPr/>
          <p:nvPr/>
        </p:nvSpPr>
        <p:spPr>
          <a:xfrm>
            <a:off x="137160" y="4434840"/>
            <a:ext cx="11795760" cy="960120"/>
          </a:xfrm>
          <a:prstGeom prst="rect">
            <a:avLst/>
          </a:prstGeom>
          <a:solidFill>
            <a:srgbClr val="FFFBEC"/>
          </a:solidFill>
          <a:ln w="6350">
            <a:solidFill>
              <a:srgbClr val="E5C97A"/>
            </a:solidFill>
            <a:prstDash val="solid"/>
          </a:ln>
        </p:spPr>
      </p:sp>
      <p:sp>
        <p:nvSpPr>
          <p:cNvPr id="65" name="Text 63"/>
          <p:cNvSpPr/>
          <p:nvPr/>
        </p:nvSpPr>
        <p:spPr>
          <a:xfrm>
            <a:off x="228600" y="4507992"/>
            <a:ext cx="1161288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SURVEILLANCE : AYMAN est le concurrent à plus forte croissance (+18% en 2026). Présent dans le TOP 5 sur TIM (#5 via DJAM DKS) et Aérien (#7 via HANNYYAH ET SAID). AGL domine sur tous les métiers, mais l'écart TIM n'est que de +2,2 pts.</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FOCUS AYMAN – ANALYSE DÉTAILLÉE  |  Forces &amp; Réponse AGL</a:t>
            </a:r>
            <a:endParaRPr lang="en-US" sz="2200" dirty="0"/>
          </a:p>
        </p:txBody>
      </p:sp>
      <p:sp>
        <p:nvSpPr>
          <p:cNvPr id="4" name="Text 2"/>
          <p:cNvSpPr/>
          <p:nvPr/>
        </p:nvSpPr>
        <p:spPr>
          <a:xfrm>
            <a:off x="228600" y="548640"/>
            <a:ext cx="11430000" cy="365760"/>
          </a:xfrm>
          <a:prstGeom prst="rect">
            <a:avLst/>
          </a:prstGeom>
          <a:noFill/>
          <a:ln/>
        </p:spPr>
        <p:txBody>
          <a:bodyPr wrap="square" rtlCol="0" anchor="ctr"/>
          <a:lstStyle/>
          <a:p>
            <a:pPr indent="0" marL="0">
              <a:buNone/>
            </a:pPr>
            <a:r>
              <a:rPr lang="en-US" sz="1200" i="1" dirty="0">
                <a:solidFill>
                  <a:srgbClr val="C9A84C"/>
                </a:solidFill>
                <a:latin typeface="Calibri" pitchFamily="34" charset="0"/>
                <a:ea typeface="Calibri" pitchFamily="34" charset="-122"/>
                <a:cs typeface="Calibri" pitchFamily="34" charset="-120"/>
              </a:rPr>
              <a:t>Profil concurrentiel  |  Face-à-face par segment  |  Recommandations</a:t>
            </a:r>
            <a:endParaRPr lang="en-US" sz="1200" dirty="0"/>
          </a:p>
        </p:txBody>
      </p:sp>
      <p:sp>
        <p:nvSpPr>
          <p:cNvPr id="5" name="Text 3"/>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p.31</a:t>
            </a:r>
            <a:endParaRPr lang="en-US" sz="900" dirty="0"/>
          </a:p>
        </p:txBody>
      </p:sp>
      <p:sp>
        <p:nvSpPr>
          <p:cNvPr id="6" name="Text 4"/>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7" name="Text 5"/>
          <p:cNvSpPr/>
          <p:nvPr/>
        </p:nvSpPr>
        <p:spPr>
          <a:xfrm>
            <a:off x="228600" y="1097280"/>
            <a:ext cx="502920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Profil du Groupe AYMAN</a:t>
            </a:r>
            <a:endParaRPr lang="en-US" sz="1100" dirty="0"/>
          </a:p>
        </p:txBody>
      </p:sp>
      <p:sp>
        <p:nvSpPr>
          <p:cNvPr id="8" name="Shape 6"/>
          <p:cNvSpPr/>
          <p:nvPr/>
        </p:nvSpPr>
        <p:spPr>
          <a:xfrm>
            <a:off x="137160" y="1389888"/>
            <a:ext cx="5029200" cy="347472"/>
          </a:xfrm>
          <a:prstGeom prst="rect">
            <a:avLst/>
          </a:prstGeom>
          <a:solidFill>
            <a:srgbClr val="FFFFFF"/>
          </a:solidFill>
          <a:ln w="3810">
            <a:solidFill>
              <a:srgbClr val="E5E7EB"/>
            </a:solidFill>
            <a:prstDash val="solid"/>
          </a:ln>
        </p:spPr>
      </p:sp>
      <p:sp>
        <p:nvSpPr>
          <p:cNvPr id="9" name="Text 7"/>
          <p:cNvSpPr/>
          <p:nvPr/>
        </p:nvSpPr>
        <p:spPr>
          <a:xfrm>
            <a:off x="182880" y="1444752"/>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Création</a:t>
            </a:r>
            <a:endParaRPr lang="en-US" sz="900" dirty="0"/>
          </a:p>
        </p:txBody>
      </p:sp>
      <p:sp>
        <p:nvSpPr>
          <p:cNvPr id="10" name="Text 8"/>
          <p:cNvSpPr/>
          <p:nvPr/>
        </p:nvSpPr>
        <p:spPr>
          <a:xfrm>
            <a:off x="1508760" y="1444752"/>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~2015 — croissance organique rapide</a:t>
            </a:r>
            <a:endParaRPr lang="en-US" sz="900" dirty="0"/>
          </a:p>
        </p:txBody>
      </p:sp>
      <p:sp>
        <p:nvSpPr>
          <p:cNvPr id="11" name="Shape 9"/>
          <p:cNvSpPr/>
          <p:nvPr/>
        </p:nvSpPr>
        <p:spPr>
          <a:xfrm>
            <a:off x="137160" y="1737360"/>
            <a:ext cx="5029200" cy="347472"/>
          </a:xfrm>
          <a:prstGeom prst="rect">
            <a:avLst/>
          </a:prstGeom>
          <a:solidFill>
            <a:srgbClr val="F8F9FA"/>
          </a:solidFill>
          <a:ln w="3810">
            <a:solidFill>
              <a:srgbClr val="E5E7EB"/>
            </a:solidFill>
            <a:prstDash val="solid"/>
          </a:ln>
        </p:spPr>
      </p:sp>
      <p:sp>
        <p:nvSpPr>
          <p:cNvPr id="12" name="Text 10"/>
          <p:cNvSpPr/>
          <p:nvPr/>
        </p:nvSpPr>
        <p:spPr>
          <a:xfrm>
            <a:off x="182880" y="1792224"/>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Cœur de métier</a:t>
            </a:r>
            <a:endParaRPr lang="en-US" sz="900" dirty="0"/>
          </a:p>
        </p:txBody>
      </p:sp>
      <p:sp>
        <p:nvSpPr>
          <p:cNvPr id="13" name="Text 11"/>
          <p:cNvSpPr/>
          <p:nvPr/>
        </p:nvSpPr>
        <p:spPr>
          <a:xfrm>
            <a:off x="1508760" y="1792224"/>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TIM (fret maritime import) + fret aérien</a:t>
            </a:r>
            <a:endParaRPr lang="en-US" sz="900" dirty="0"/>
          </a:p>
        </p:txBody>
      </p:sp>
      <p:sp>
        <p:nvSpPr>
          <p:cNvPr id="14" name="Shape 12"/>
          <p:cNvSpPr/>
          <p:nvPr/>
        </p:nvSpPr>
        <p:spPr>
          <a:xfrm>
            <a:off x="137160" y="2084832"/>
            <a:ext cx="5029200" cy="347472"/>
          </a:xfrm>
          <a:prstGeom prst="rect">
            <a:avLst/>
          </a:prstGeom>
          <a:solidFill>
            <a:srgbClr val="FFFFFF"/>
          </a:solidFill>
          <a:ln w="3810">
            <a:solidFill>
              <a:srgbClr val="E5E7EB"/>
            </a:solidFill>
            <a:prstDash val="solid"/>
          </a:ln>
        </p:spPr>
      </p:sp>
      <p:sp>
        <p:nvSpPr>
          <p:cNvPr id="15" name="Text 13"/>
          <p:cNvSpPr/>
          <p:nvPr/>
        </p:nvSpPr>
        <p:spPr>
          <a:xfrm>
            <a:off x="182880" y="2139696"/>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Réseau</a:t>
            </a:r>
            <a:endParaRPr lang="en-US" sz="900" dirty="0"/>
          </a:p>
        </p:txBody>
      </p:sp>
      <p:sp>
        <p:nvSpPr>
          <p:cNvPr id="16" name="Text 14"/>
          <p:cNvSpPr/>
          <p:nvPr/>
        </p:nvSpPr>
        <p:spPr>
          <a:xfrm>
            <a:off x="1508760" y="2139696"/>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Abidjan + filiales Mali, Sénégal</a:t>
            </a:r>
            <a:endParaRPr lang="en-US" sz="900" dirty="0"/>
          </a:p>
        </p:txBody>
      </p:sp>
      <p:sp>
        <p:nvSpPr>
          <p:cNvPr id="17" name="Shape 15"/>
          <p:cNvSpPr/>
          <p:nvPr/>
        </p:nvSpPr>
        <p:spPr>
          <a:xfrm>
            <a:off x="137160" y="2432304"/>
            <a:ext cx="5029200" cy="347472"/>
          </a:xfrm>
          <a:prstGeom prst="rect">
            <a:avLst/>
          </a:prstGeom>
          <a:solidFill>
            <a:srgbClr val="F8F9FA"/>
          </a:solidFill>
          <a:ln w="3810">
            <a:solidFill>
              <a:srgbClr val="E5E7EB"/>
            </a:solidFill>
            <a:prstDash val="solid"/>
          </a:ln>
        </p:spPr>
      </p:sp>
      <p:sp>
        <p:nvSpPr>
          <p:cNvPr id="18" name="Text 16"/>
          <p:cNvSpPr/>
          <p:nvPr/>
        </p:nvSpPr>
        <p:spPr>
          <a:xfrm>
            <a:off x="182880" y="2487168"/>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Clientèle clé</a:t>
            </a:r>
            <a:endParaRPr lang="en-US" sz="900" dirty="0"/>
          </a:p>
        </p:txBody>
      </p:sp>
      <p:sp>
        <p:nvSpPr>
          <p:cNvPr id="19" name="Text 17"/>
          <p:cNvSpPr/>
          <p:nvPr/>
        </p:nvSpPr>
        <p:spPr>
          <a:xfrm>
            <a:off x="1508760" y="2487168"/>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PME-PMI importatrices, tech &amp; télécoms</a:t>
            </a:r>
            <a:endParaRPr lang="en-US" sz="900" dirty="0"/>
          </a:p>
        </p:txBody>
      </p:sp>
      <p:sp>
        <p:nvSpPr>
          <p:cNvPr id="20" name="Shape 18"/>
          <p:cNvSpPr/>
          <p:nvPr/>
        </p:nvSpPr>
        <p:spPr>
          <a:xfrm>
            <a:off x="137160" y="2779776"/>
            <a:ext cx="5029200" cy="347472"/>
          </a:xfrm>
          <a:prstGeom prst="rect">
            <a:avLst/>
          </a:prstGeom>
          <a:solidFill>
            <a:srgbClr val="FFFFFF"/>
          </a:solidFill>
          <a:ln w="3810">
            <a:solidFill>
              <a:srgbClr val="E5E7EB"/>
            </a:solidFill>
            <a:prstDash val="solid"/>
          </a:ln>
        </p:spPr>
      </p:sp>
      <p:sp>
        <p:nvSpPr>
          <p:cNvPr id="21" name="Text 19"/>
          <p:cNvSpPr/>
          <p:nvPr/>
        </p:nvSpPr>
        <p:spPr>
          <a:xfrm>
            <a:off x="182880" y="2834640"/>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Avantages</a:t>
            </a:r>
            <a:endParaRPr lang="en-US" sz="900" dirty="0"/>
          </a:p>
        </p:txBody>
      </p:sp>
      <p:sp>
        <p:nvSpPr>
          <p:cNvPr id="22" name="Text 20"/>
          <p:cNvSpPr/>
          <p:nvPr/>
        </p:nvSpPr>
        <p:spPr>
          <a:xfrm>
            <a:off x="1508760" y="2834640"/>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Réactivité, tarifs agressifs, digitalisation</a:t>
            </a:r>
            <a:endParaRPr lang="en-US" sz="900" dirty="0"/>
          </a:p>
        </p:txBody>
      </p:sp>
      <p:sp>
        <p:nvSpPr>
          <p:cNvPr id="23" name="Shape 21"/>
          <p:cNvSpPr/>
          <p:nvPr/>
        </p:nvSpPr>
        <p:spPr>
          <a:xfrm>
            <a:off x="137160" y="3127248"/>
            <a:ext cx="5029200" cy="347472"/>
          </a:xfrm>
          <a:prstGeom prst="rect">
            <a:avLst/>
          </a:prstGeom>
          <a:solidFill>
            <a:srgbClr val="F8F9FA"/>
          </a:solidFill>
          <a:ln w="3810">
            <a:solidFill>
              <a:srgbClr val="E5E7EB"/>
            </a:solidFill>
            <a:prstDash val="solid"/>
          </a:ln>
        </p:spPr>
      </p:sp>
      <p:sp>
        <p:nvSpPr>
          <p:cNvPr id="24" name="Text 22"/>
          <p:cNvSpPr/>
          <p:nvPr/>
        </p:nvSpPr>
        <p:spPr>
          <a:xfrm>
            <a:off x="182880" y="3182112"/>
            <a:ext cx="1280160" cy="256032"/>
          </a:xfrm>
          <a:prstGeom prst="rect">
            <a:avLst/>
          </a:prstGeom>
          <a:noFill/>
          <a:ln/>
        </p:spPr>
        <p:txBody>
          <a:bodyPr wrap="square" rtlCol="0" anchor="ctr"/>
          <a:lstStyle/>
          <a:p>
            <a:pPr indent="0" marL="0">
              <a:buNone/>
            </a:pPr>
            <a:r>
              <a:rPr lang="en-US" sz="900" b="1" dirty="0">
                <a:solidFill>
                  <a:srgbClr val="0D2243"/>
                </a:solidFill>
                <a:latin typeface="Calibri" pitchFamily="34" charset="0"/>
                <a:ea typeface="Calibri" pitchFamily="34" charset="-122"/>
                <a:cs typeface="Calibri" pitchFamily="34" charset="-120"/>
              </a:rPr>
              <a:t>Croissance</a:t>
            </a:r>
            <a:endParaRPr lang="en-US" sz="900" dirty="0"/>
          </a:p>
        </p:txBody>
      </p:sp>
      <p:sp>
        <p:nvSpPr>
          <p:cNvPr id="25" name="Text 23"/>
          <p:cNvSpPr/>
          <p:nvPr/>
        </p:nvSpPr>
        <p:spPr>
          <a:xfrm>
            <a:off x="1508760" y="3182112"/>
            <a:ext cx="3474720" cy="25603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+18 % volumes 2026 vs 2025</a:t>
            </a:r>
            <a:endParaRPr lang="en-US" sz="900" dirty="0"/>
          </a:p>
        </p:txBody>
      </p:sp>
      <p:sp>
        <p:nvSpPr>
          <p:cNvPr id="26" name="Text 24"/>
          <p:cNvSpPr/>
          <p:nvPr/>
        </p:nvSpPr>
        <p:spPr>
          <a:xfrm>
            <a:off x="5349240" y="1097280"/>
            <a:ext cx="6675120" cy="256032"/>
          </a:xfrm>
          <a:prstGeom prst="rect">
            <a:avLst/>
          </a:prstGeom>
          <a:noFill/>
          <a:ln/>
        </p:spPr>
        <p:txBody>
          <a:bodyPr wrap="square" rtlCol="0" anchor="ctr"/>
          <a:lstStyle/>
          <a:p>
            <a:pPr indent="0" marL="0">
              <a:buNone/>
            </a:pPr>
            <a:r>
              <a:rPr lang="en-US" sz="1100" b="1" dirty="0">
                <a:solidFill>
                  <a:srgbClr val="374151"/>
                </a:solidFill>
                <a:latin typeface="Calibri" pitchFamily="34" charset="0"/>
                <a:ea typeface="Calibri" pitchFamily="34" charset="-122"/>
                <a:cs typeface="Calibri" pitchFamily="34" charset="-120"/>
              </a:rPr>
              <a:t>Face-à-face par segment : Ayman vs AGL</a:t>
            </a:r>
            <a:endParaRPr lang="en-US" sz="1100" dirty="0"/>
          </a:p>
        </p:txBody>
      </p:sp>
      <p:sp>
        <p:nvSpPr>
          <p:cNvPr id="27" name="Shape 25"/>
          <p:cNvSpPr/>
          <p:nvPr/>
        </p:nvSpPr>
        <p:spPr>
          <a:xfrm>
            <a:off x="5349240" y="1389888"/>
            <a:ext cx="6675120" cy="594360"/>
          </a:xfrm>
          <a:prstGeom prst="rect">
            <a:avLst/>
          </a:prstGeom>
          <a:solidFill>
            <a:srgbClr val="F8F9FA"/>
          </a:solidFill>
          <a:ln w="3810">
            <a:solidFill>
              <a:srgbClr val="E5E7EB"/>
            </a:solidFill>
            <a:prstDash val="solid"/>
          </a:ln>
        </p:spPr>
      </p:sp>
      <p:sp>
        <p:nvSpPr>
          <p:cNvPr id="28" name="Text 26"/>
          <p:cNvSpPr/>
          <p:nvPr/>
        </p:nvSpPr>
        <p:spPr>
          <a:xfrm>
            <a:off x="5440680" y="1426464"/>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TIM – MACHINES / ÉLECTRO</a:t>
            </a:r>
            <a:endParaRPr lang="en-US" sz="900" dirty="0"/>
          </a:p>
        </p:txBody>
      </p:sp>
      <p:sp>
        <p:nvSpPr>
          <p:cNvPr id="29" name="Text 27"/>
          <p:cNvSpPr/>
          <p:nvPr/>
        </p:nvSpPr>
        <p:spPr>
          <a:xfrm>
            <a:off x="5440680" y="1682496"/>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~18%  vs  AGL 11%</a:t>
            </a:r>
            <a:endParaRPr lang="en-US" sz="900" dirty="0"/>
          </a:p>
        </p:txBody>
      </p:sp>
      <p:sp>
        <p:nvSpPr>
          <p:cNvPr id="30" name="Text 28"/>
          <p:cNvSpPr/>
          <p:nvPr/>
        </p:nvSpPr>
        <p:spPr>
          <a:xfrm>
            <a:off x="9601200" y="1499616"/>
            <a:ext cx="2331720" cy="347472"/>
          </a:xfrm>
          <a:prstGeom prst="rect">
            <a:avLst/>
          </a:prstGeom>
          <a:noFill/>
          <a:ln/>
        </p:spPr>
        <p:txBody>
          <a:bodyPr wrap="square" rtlCol="0" anchor="ctr"/>
          <a:lstStyle/>
          <a:p>
            <a:pPr algn="r" indent="0" marL="0">
              <a:buNone/>
            </a:pPr>
            <a:r>
              <a:rPr lang="en-US" sz="1400" b="1" dirty="0">
                <a:solidFill>
                  <a:srgbClr val="E05A00"/>
                </a:solidFill>
                <a:latin typeface="Calibri" pitchFamily="34" charset="0"/>
                <a:ea typeface="Calibri" pitchFamily="34" charset="-122"/>
                <a:cs typeface="Calibri" pitchFamily="34" charset="-120"/>
              </a:rPr>
              <a:t>AYMAN</a:t>
            </a:r>
            <a:endParaRPr lang="en-US" sz="1400" dirty="0"/>
          </a:p>
        </p:txBody>
      </p:sp>
      <p:sp>
        <p:nvSpPr>
          <p:cNvPr id="31" name="Shape 29"/>
          <p:cNvSpPr/>
          <p:nvPr/>
        </p:nvSpPr>
        <p:spPr>
          <a:xfrm>
            <a:off x="5349240" y="2048256"/>
            <a:ext cx="6675120" cy="594360"/>
          </a:xfrm>
          <a:prstGeom prst="rect">
            <a:avLst/>
          </a:prstGeom>
          <a:solidFill>
            <a:srgbClr val="F8F9FA"/>
          </a:solidFill>
          <a:ln w="3810">
            <a:solidFill>
              <a:srgbClr val="E5E7EB"/>
            </a:solidFill>
            <a:prstDash val="solid"/>
          </a:ln>
        </p:spPr>
      </p:sp>
      <p:sp>
        <p:nvSpPr>
          <p:cNvPr id="32" name="Text 30"/>
          <p:cNvSpPr/>
          <p:nvPr/>
        </p:nvSpPr>
        <p:spPr>
          <a:xfrm>
            <a:off x="5440680" y="2084832"/>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AÉRIEN – PIÈCES DÉTACHÉES</a:t>
            </a:r>
            <a:endParaRPr lang="en-US" sz="900" dirty="0"/>
          </a:p>
        </p:txBody>
      </p:sp>
      <p:sp>
        <p:nvSpPr>
          <p:cNvPr id="33" name="Text 31"/>
          <p:cNvSpPr/>
          <p:nvPr/>
        </p:nvSpPr>
        <p:spPr>
          <a:xfrm>
            <a:off x="5440680" y="2340864"/>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~12%  vs  AGL 8%</a:t>
            </a:r>
            <a:endParaRPr lang="en-US" sz="900" dirty="0"/>
          </a:p>
        </p:txBody>
      </p:sp>
      <p:sp>
        <p:nvSpPr>
          <p:cNvPr id="34" name="Text 32"/>
          <p:cNvSpPr/>
          <p:nvPr/>
        </p:nvSpPr>
        <p:spPr>
          <a:xfrm>
            <a:off x="9601200" y="2157984"/>
            <a:ext cx="2331720" cy="347472"/>
          </a:xfrm>
          <a:prstGeom prst="rect">
            <a:avLst/>
          </a:prstGeom>
          <a:noFill/>
          <a:ln/>
        </p:spPr>
        <p:txBody>
          <a:bodyPr wrap="square" rtlCol="0" anchor="ctr"/>
          <a:lstStyle/>
          <a:p>
            <a:pPr algn="r" indent="0" marL="0">
              <a:buNone/>
            </a:pPr>
            <a:r>
              <a:rPr lang="en-US" sz="1400" b="1" dirty="0">
                <a:solidFill>
                  <a:srgbClr val="E05A00"/>
                </a:solidFill>
                <a:latin typeface="Calibri" pitchFamily="34" charset="0"/>
                <a:ea typeface="Calibri" pitchFamily="34" charset="-122"/>
                <a:cs typeface="Calibri" pitchFamily="34" charset="-120"/>
              </a:rPr>
              <a:t>AYMAN</a:t>
            </a:r>
            <a:endParaRPr lang="en-US" sz="1400" dirty="0"/>
          </a:p>
        </p:txBody>
      </p:sp>
      <p:sp>
        <p:nvSpPr>
          <p:cNvPr id="35" name="Shape 33"/>
          <p:cNvSpPr/>
          <p:nvPr/>
        </p:nvSpPr>
        <p:spPr>
          <a:xfrm>
            <a:off x="5349240" y="2706624"/>
            <a:ext cx="6675120" cy="594360"/>
          </a:xfrm>
          <a:prstGeom prst="rect">
            <a:avLst/>
          </a:prstGeom>
          <a:solidFill>
            <a:srgbClr val="F8F9FA"/>
          </a:solidFill>
          <a:ln w="3810">
            <a:solidFill>
              <a:srgbClr val="E5E7EB"/>
            </a:solidFill>
            <a:prstDash val="solid"/>
          </a:ln>
        </p:spPr>
      </p:sp>
      <p:sp>
        <p:nvSpPr>
          <p:cNvPr id="36" name="Text 34"/>
          <p:cNvSpPr/>
          <p:nvPr/>
        </p:nvSpPr>
        <p:spPr>
          <a:xfrm>
            <a:off x="5440680" y="2743200"/>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AÉRIEN – TECH / TÉLÉCOMS</a:t>
            </a:r>
            <a:endParaRPr lang="en-US" sz="900" dirty="0"/>
          </a:p>
        </p:txBody>
      </p:sp>
      <p:sp>
        <p:nvSpPr>
          <p:cNvPr id="37" name="Text 35"/>
          <p:cNvSpPr/>
          <p:nvPr/>
        </p:nvSpPr>
        <p:spPr>
          <a:xfrm>
            <a:off x="5440680" y="2999232"/>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~15%  vs  AGL 33%</a:t>
            </a:r>
            <a:endParaRPr lang="en-US" sz="900" dirty="0"/>
          </a:p>
        </p:txBody>
      </p:sp>
      <p:sp>
        <p:nvSpPr>
          <p:cNvPr id="38" name="Text 36"/>
          <p:cNvSpPr/>
          <p:nvPr/>
        </p:nvSpPr>
        <p:spPr>
          <a:xfrm>
            <a:off x="9601200" y="2816352"/>
            <a:ext cx="2331720" cy="347472"/>
          </a:xfrm>
          <a:prstGeom prst="rect">
            <a:avLst/>
          </a:prstGeom>
          <a:noFill/>
          <a:ln/>
        </p:spPr>
        <p:txBody>
          <a:bodyPr wrap="square" rtlCol="0" anchor="ctr"/>
          <a:lstStyle/>
          <a:p>
            <a:pPr algn="r" indent="0" marL="0">
              <a:buNone/>
            </a:pPr>
            <a:r>
              <a:rPr lang="en-US" sz="1400" b="1" dirty="0">
                <a:solidFill>
                  <a:srgbClr val="1A7C4F"/>
                </a:solidFill>
                <a:latin typeface="Calibri" pitchFamily="34" charset="0"/>
                <a:ea typeface="Calibri" pitchFamily="34" charset="-122"/>
                <a:cs typeface="Calibri" pitchFamily="34" charset="-120"/>
              </a:rPr>
              <a:t>AGL</a:t>
            </a:r>
            <a:endParaRPr lang="en-US" sz="1400" dirty="0"/>
          </a:p>
        </p:txBody>
      </p:sp>
      <p:sp>
        <p:nvSpPr>
          <p:cNvPr id="39" name="Shape 37"/>
          <p:cNvSpPr/>
          <p:nvPr/>
        </p:nvSpPr>
        <p:spPr>
          <a:xfrm>
            <a:off x="5349240" y="3364992"/>
            <a:ext cx="6675120" cy="594360"/>
          </a:xfrm>
          <a:prstGeom prst="rect">
            <a:avLst/>
          </a:prstGeom>
          <a:solidFill>
            <a:srgbClr val="F8F9FA"/>
          </a:solidFill>
          <a:ln w="3810">
            <a:solidFill>
              <a:srgbClr val="E5E7EB"/>
            </a:solidFill>
            <a:prstDash val="solid"/>
          </a:ln>
        </p:spPr>
      </p:sp>
      <p:sp>
        <p:nvSpPr>
          <p:cNvPr id="40" name="Text 38"/>
          <p:cNvSpPr/>
          <p:nvPr/>
        </p:nvSpPr>
        <p:spPr>
          <a:xfrm>
            <a:off x="5440680" y="3401568"/>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TIM – MAT. CONSTRUCTION</a:t>
            </a:r>
            <a:endParaRPr lang="en-US" sz="900" dirty="0"/>
          </a:p>
        </p:txBody>
      </p:sp>
      <p:sp>
        <p:nvSpPr>
          <p:cNvPr id="41" name="Text 39"/>
          <p:cNvSpPr/>
          <p:nvPr/>
        </p:nvSpPr>
        <p:spPr>
          <a:xfrm>
            <a:off x="5440680" y="3657600"/>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~10%  vs  AGL 18%</a:t>
            </a:r>
            <a:endParaRPr lang="en-US" sz="900" dirty="0"/>
          </a:p>
        </p:txBody>
      </p:sp>
      <p:sp>
        <p:nvSpPr>
          <p:cNvPr id="42" name="Text 40"/>
          <p:cNvSpPr/>
          <p:nvPr/>
        </p:nvSpPr>
        <p:spPr>
          <a:xfrm>
            <a:off x="9601200" y="3474720"/>
            <a:ext cx="2331720" cy="347472"/>
          </a:xfrm>
          <a:prstGeom prst="rect">
            <a:avLst/>
          </a:prstGeom>
          <a:noFill/>
          <a:ln/>
        </p:spPr>
        <p:txBody>
          <a:bodyPr wrap="square" rtlCol="0" anchor="ctr"/>
          <a:lstStyle/>
          <a:p>
            <a:pPr algn="r" indent="0" marL="0">
              <a:buNone/>
            </a:pPr>
            <a:r>
              <a:rPr lang="en-US" sz="1400" b="1" dirty="0">
                <a:solidFill>
                  <a:srgbClr val="1A7C4F"/>
                </a:solidFill>
                <a:latin typeface="Calibri" pitchFamily="34" charset="0"/>
                <a:ea typeface="Calibri" pitchFamily="34" charset="-122"/>
                <a:cs typeface="Calibri" pitchFamily="34" charset="-120"/>
              </a:rPr>
              <a:t>AGL</a:t>
            </a:r>
            <a:endParaRPr lang="en-US" sz="1400" dirty="0"/>
          </a:p>
        </p:txBody>
      </p:sp>
      <p:sp>
        <p:nvSpPr>
          <p:cNvPr id="43" name="Shape 41"/>
          <p:cNvSpPr/>
          <p:nvPr/>
        </p:nvSpPr>
        <p:spPr>
          <a:xfrm>
            <a:off x="5349240" y="4023360"/>
            <a:ext cx="6675120" cy="594360"/>
          </a:xfrm>
          <a:prstGeom prst="rect">
            <a:avLst/>
          </a:prstGeom>
          <a:solidFill>
            <a:srgbClr val="F8F9FA"/>
          </a:solidFill>
          <a:ln w="3810">
            <a:solidFill>
              <a:srgbClr val="E5E7EB"/>
            </a:solidFill>
            <a:prstDash val="solid"/>
          </a:ln>
        </p:spPr>
      </p:sp>
      <p:sp>
        <p:nvSpPr>
          <p:cNvPr id="44" name="Text 42"/>
          <p:cNvSpPr/>
          <p:nvPr/>
        </p:nvSpPr>
        <p:spPr>
          <a:xfrm>
            <a:off x="5440680" y="4059936"/>
            <a:ext cx="4114800" cy="274320"/>
          </a:xfrm>
          <a:prstGeom prst="rect">
            <a:avLst/>
          </a:prstGeom>
          <a:noFill/>
          <a:ln/>
        </p:spPr>
        <p:txBody>
          <a:bodyPr wrap="square" rtlCol="0" anchor="ctr"/>
          <a:lstStyle/>
          <a:p>
            <a:pPr indent="0" marL="0">
              <a:buNone/>
            </a:pPr>
            <a:r>
              <a:rPr lang="en-US" sz="900" b="1" dirty="0">
                <a:solidFill>
                  <a:srgbClr val="374151"/>
                </a:solidFill>
                <a:latin typeface="Calibri" pitchFamily="34" charset="0"/>
                <a:ea typeface="Calibri" pitchFamily="34" charset="-122"/>
                <a:cs typeface="Calibri" pitchFamily="34" charset="-120"/>
              </a:rPr>
              <a:t>TRAMPS – BRBK</a:t>
            </a:r>
            <a:endParaRPr lang="en-US" sz="900" dirty="0"/>
          </a:p>
        </p:txBody>
      </p:sp>
      <p:sp>
        <p:nvSpPr>
          <p:cNvPr id="45" name="Text 43"/>
          <p:cNvSpPr/>
          <p:nvPr/>
        </p:nvSpPr>
        <p:spPr>
          <a:xfrm>
            <a:off x="5440680" y="4315968"/>
            <a:ext cx="41148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Ay ~8%  vs  AGL 18%</a:t>
            </a:r>
            <a:endParaRPr lang="en-US" sz="900" dirty="0"/>
          </a:p>
        </p:txBody>
      </p:sp>
      <p:sp>
        <p:nvSpPr>
          <p:cNvPr id="46" name="Text 44"/>
          <p:cNvSpPr/>
          <p:nvPr/>
        </p:nvSpPr>
        <p:spPr>
          <a:xfrm>
            <a:off x="9601200" y="4133088"/>
            <a:ext cx="2331720" cy="347472"/>
          </a:xfrm>
          <a:prstGeom prst="rect">
            <a:avLst/>
          </a:prstGeom>
          <a:noFill/>
          <a:ln/>
        </p:spPr>
        <p:txBody>
          <a:bodyPr wrap="square" rtlCol="0" anchor="ctr"/>
          <a:lstStyle/>
          <a:p>
            <a:pPr algn="r" indent="0" marL="0">
              <a:buNone/>
            </a:pPr>
            <a:r>
              <a:rPr lang="en-US" sz="1400" b="1" dirty="0">
                <a:solidFill>
                  <a:srgbClr val="1A7C4F"/>
                </a:solidFill>
                <a:latin typeface="Calibri" pitchFamily="34" charset="0"/>
                <a:ea typeface="Calibri" pitchFamily="34" charset="-122"/>
                <a:cs typeface="Calibri" pitchFamily="34" charset="-120"/>
              </a:rPr>
              <a:t>AGL</a:t>
            </a:r>
            <a:endParaRPr lang="en-US" sz="1400" dirty="0"/>
          </a:p>
        </p:txBody>
      </p:sp>
      <p:sp>
        <p:nvSpPr>
          <p:cNvPr id="47" name="Shape 45"/>
          <p:cNvSpPr/>
          <p:nvPr/>
        </p:nvSpPr>
        <p:spPr>
          <a:xfrm>
            <a:off x="137160" y="4892040"/>
            <a:ext cx="11795760" cy="960120"/>
          </a:xfrm>
          <a:prstGeom prst="rect">
            <a:avLst/>
          </a:prstGeom>
          <a:solidFill>
            <a:srgbClr val="FFFBEC"/>
          </a:solidFill>
          <a:ln w="6350">
            <a:solidFill>
              <a:srgbClr val="E5C97A"/>
            </a:solidFill>
            <a:prstDash val="solid"/>
          </a:ln>
        </p:spPr>
      </p:sp>
      <p:sp>
        <p:nvSpPr>
          <p:cNvPr id="48" name="Text 46"/>
          <p:cNvSpPr/>
          <p:nvPr/>
        </p:nvSpPr>
        <p:spPr>
          <a:xfrm>
            <a:off x="228600" y="4965192"/>
            <a:ext cx="11612880" cy="850392"/>
          </a:xfrm>
          <a:prstGeom prst="rect">
            <a:avLst/>
          </a:prstGeom>
          <a:noFill/>
          <a:ln/>
        </p:spPr>
        <p:txBody>
          <a:bodyPr wrap="square" rtlCol="0" anchor="ctr"/>
          <a:lstStyle/>
          <a:p>
            <a:pPr indent="0" marL="0">
              <a:buNone/>
            </a:pPr>
            <a:r>
              <a:rPr lang="en-US" sz="900" dirty="0">
                <a:solidFill>
                  <a:srgbClr val="374151"/>
                </a:solidFill>
                <a:latin typeface="Calibri" pitchFamily="34" charset="0"/>
                <a:ea typeface="Calibri" pitchFamily="34" charset="-122"/>
                <a:cs typeface="Calibri" pitchFamily="34" charset="-120"/>
              </a:rPr>
              <a:t>🎯  RÉPONSE AGL : 1) Tarification ciblée Machines / Électronique (TIM). 2) Service premium Pièces Détachées avec engagement délais (Aérien). 3) Verrouillage des clients communs (SITAB, importateurs télécoms) par contrats cadres. 4) Surveillance trimestrielle des volumes DJAM DKS et HANNYYAH.</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2243"/>
          </a:solidFill>
          <a:ln/>
        </p:spPr>
      </p:sp>
      <p:sp>
        <p:nvSpPr>
          <p:cNvPr id="3" name="Text 1"/>
          <p:cNvSpPr/>
          <p:nvPr/>
        </p:nvSpPr>
        <p:spPr>
          <a:xfrm>
            <a:off x="3200400" y="457200"/>
            <a:ext cx="5486400" cy="3657600"/>
          </a:xfrm>
          <a:prstGeom prst="rect">
            <a:avLst/>
          </a:prstGeom>
          <a:noFill/>
          <a:ln/>
        </p:spPr>
        <p:txBody>
          <a:bodyPr wrap="square" rtlCol="0" anchor="ctr"/>
          <a:lstStyle/>
          <a:p>
            <a:pPr algn="ctr" indent="0" marL="0">
              <a:buNone/>
            </a:pPr>
            <a:r>
              <a:rPr lang="en-US" sz="20000" b="1" dirty="0">
                <a:solidFill>
                  <a:srgbClr val="1A2E4A"/>
                </a:solidFill>
                <a:latin typeface="Calibri" pitchFamily="34" charset="0"/>
                <a:ea typeface="Calibri" pitchFamily="34" charset="-122"/>
                <a:cs typeface="Calibri" pitchFamily="34" charset="-120"/>
              </a:rPr>
              <a:t>06</a:t>
            </a:r>
            <a:endParaRPr lang="en-US" sz="20000" dirty="0"/>
          </a:p>
        </p:txBody>
      </p:sp>
      <p:sp>
        <p:nvSpPr>
          <p:cNvPr id="4" name="Shape 2"/>
          <p:cNvSpPr/>
          <p:nvPr/>
        </p:nvSpPr>
        <p:spPr>
          <a:xfrm>
            <a:off x="1097280" y="3520440"/>
            <a:ext cx="7498080" cy="59436"/>
          </a:xfrm>
          <a:prstGeom prst="rect">
            <a:avLst/>
          </a:prstGeom>
          <a:solidFill>
            <a:srgbClr val="C9A84C"/>
          </a:solidFill>
          <a:ln/>
        </p:spPr>
      </p:sp>
      <p:sp>
        <p:nvSpPr>
          <p:cNvPr id="5" name="Text 3"/>
          <p:cNvSpPr/>
          <p:nvPr/>
        </p:nvSpPr>
        <p:spPr>
          <a:xfrm>
            <a:off x="365760" y="2651760"/>
            <a:ext cx="11430000" cy="914400"/>
          </a:xfrm>
          <a:prstGeom prst="rect">
            <a:avLst/>
          </a:prstGeom>
          <a:noFill/>
          <a:ln/>
        </p:spPr>
        <p:txBody>
          <a:bodyPr wrap="square" rtlCol="0" anchor="ctr"/>
          <a:lstStyle/>
          <a:p>
            <a:pPr algn="ctr" indent="0" marL="0">
              <a:buNone/>
            </a:pPr>
            <a:r>
              <a:rPr lang="en-US" sz="3800" b="1" dirty="0">
                <a:solidFill>
                  <a:srgbClr val="FFFFFF"/>
                </a:solidFill>
                <a:latin typeface="Calibri" pitchFamily="34" charset="0"/>
                <a:ea typeface="Calibri" pitchFamily="34" charset="-122"/>
                <a:cs typeface="Calibri" pitchFamily="34" charset="-120"/>
              </a:rPr>
              <a:t>ACTIONS STRATÉGIQUES PRIORITAIRES</a:t>
            </a:r>
            <a:endParaRPr lang="en-US" sz="3800" dirty="0"/>
          </a:p>
        </p:txBody>
      </p:sp>
      <p:sp>
        <p:nvSpPr>
          <p:cNvPr id="6" name="Text 4"/>
          <p:cNvSpPr/>
          <p:nvPr/>
        </p:nvSpPr>
        <p:spPr>
          <a:xfrm>
            <a:off x="365760" y="3657600"/>
            <a:ext cx="11430000" cy="457200"/>
          </a:xfrm>
          <a:prstGeom prst="rect">
            <a:avLst/>
          </a:prstGeom>
          <a:noFill/>
          <a:ln/>
        </p:spPr>
        <p:txBody>
          <a:bodyPr wrap="square" rtlCol="0" anchor="ctr"/>
          <a:lstStyle/>
          <a:p>
            <a:pPr algn="ctr" indent="0" marL="0">
              <a:buNone/>
            </a:pPr>
            <a:r>
              <a:rPr lang="en-US" sz="1600" i="1" dirty="0">
                <a:solidFill>
                  <a:srgbClr val="C9A84C"/>
                </a:solidFill>
                <a:latin typeface="Calibri" pitchFamily="34" charset="0"/>
                <a:ea typeface="Calibri" pitchFamily="34" charset="-122"/>
                <a:cs typeface="Calibri" pitchFamily="34" charset="-120"/>
              </a:rPr>
              <a:t>Synthèse transversale  |  6 axes  |  Horizon 12 mois</a:t>
            </a:r>
            <a:endParaRPr lang="en-US" sz="1600" dirty="0"/>
          </a:p>
        </p:txBody>
      </p:sp>
      <p:sp>
        <p:nvSpPr>
          <p:cNvPr id="7" name="Text 5"/>
          <p:cNvSpPr/>
          <p:nvPr/>
        </p:nvSpPr>
        <p:spPr>
          <a:xfrm>
            <a:off x="1828800" y="6492240"/>
            <a:ext cx="8229600" cy="256032"/>
          </a:xfrm>
          <a:prstGeom prst="rect">
            <a:avLst/>
          </a:prstGeom>
          <a:noFill/>
          <a:ln/>
        </p:spPr>
        <p:txBody>
          <a:bodyPr wrap="square" rtlCol="0" anchor="ctr"/>
          <a:lstStyle/>
          <a:p>
            <a:pPr algn="ct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a:t>
            </a:r>
            <a:endParaRPr lang="en-US" sz="900" dirty="0"/>
          </a:p>
        </p:txBody>
      </p:sp>
      <p:sp>
        <p:nvSpPr>
          <p:cNvPr id="8" name="Text 6"/>
          <p:cNvSpPr/>
          <p:nvPr/>
        </p:nvSpPr>
        <p:spPr>
          <a:xfrm>
            <a:off x="11430000" y="6473952"/>
            <a:ext cx="640080" cy="292608"/>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88952" cy="1005840"/>
          </a:xfrm>
          <a:prstGeom prst="rect">
            <a:avLst/>
          </a:prstGeom>
          <a:solidFill>
            <a:srgbClr val="0D2243"/>
          </a:solidFill>
          <a:ln/>
        </p:spPr>
      </p:sp>
      <p:sp>
        <p:nvSpPr>
          <p:cNvPr id="3" name="Text 1"/>
          <p:cNvSpPr/>
          <p:nvPr/>
        </p:nvSpPr>
        <p:spPr>
          <a:xfrm>
            <a:off x="228600" y="45720"/>
            <a:ext cx="11887200" cy="50292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SYNTHÈSE – PARTS DE MARCHÉ AGL PAR MÉTIER</a:t>
            </a:r>
            <a:endParaRPr lang="en-US" sz="2200" dirty="0"/>
          </a:p>
        </p:txBody>
      </p:sp>
      <p:sp>
        <p:nvSpPr>
          <p:cNvPr id="4" name="Text 2"/>
          <p:cNvSpPr/>
          <p:nvPr/>
        </p:nvSpPr>
        <p:spPr>
          <a:xfrm>
            <a:off x="182880" y="6583680"/>
            <a:ext cx="9144000" cy="22860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Africa Global Logistics – Étude de Marché Jan–Mai 2026  |  p.21</a:t>
            </a:r>
            <a:endParaRPr lang="en-US" sz="900" dirty="0"/>
          </a:p>
        </p:txBody>
      </p:sp>
      <p:sp>
        <p:nvSpPr>
          <p:cNvPr id="5" name="Text 3"/>
          <p:cNvSpPr/>
          <p:nvPr/>
        </p:nvSpPr>
        <p:spPr>
          <a:xfrm>
            <a:off x="11430000" y="6537960"/>
            <a:ext cx="640080" cy="274320"/>
          </a:xfrm>
          <a:prstGeom prst="rect">
            <a:avLst/>
          </a:prstGeom>
          <a:noFill/>
          <a:ln/>
        </p:spPr>
        <p:txBody>
          <a:bodyPr wrap="square" rtlCol="0" anchor="ctr"/>
          <a:lstStyle/>
          <a:p>
            <a:pPr algn="r" indent="0" marL="0">
              <a:buNone/>
            </a:pPr>
            <a:r>
              <a:rPr lang="en-US" sz="1000" b="1" dirty="0">
                <a:solidFill>
                  <a:srgbClr val="C9A84C"/>
                </a:solidFill>
                <a:latin typeface="Calibri" pitchFamily="34" charset="0"/>
                <a:ea typeface="Calibri" pitchFamily="34" charset="-122"/>
                <a:cs typeface="Calibri" pitchFamily="34" charset="-120"/>
              </a:rPr>
              <a:t>AGL</a:t>
            </a:r>
            <a:endParaRPr lang="en-US" sz="1000" dirty="0"/>
          </a:p>
        </p:txBody>
      </p:sp>
      <p:sp>
        <p:nvSpPr>
          <p:cNvPr id="6" name="Shape 4"/>
          <p:cNvSpPr/>
          <p:nvPr/>
        </p:nvSpPr>
        <p:spPr>
          <a:xfrm>
            <a:off x="137160" y="1051560"/>
            <a:ext cx="11795760" cy="932688"/>
          </a:xfrm>
          <a:prstGeom prst="rect">
            <a:avLst/>
          </a:prstGeom>
          <a:solidFill>
            <a:srgbClr val="F0F4F8"/>
          </a:solidFill>
          <a:ln w="6350">
            <a:solidFill>
              <a:srgbClr val="E2E8F0"/>
            </a:solidFill>
            <a:prstDash val="solid"/>
          </a:ln>
        </p:spPr>
      </p:sp>
      <p:sp>
        <p:nvSpPr>
          <p:cNvPr id="7" name="Text 5"/>
          <p:cNvSpPr/>
          <p:nvPr/>
        </p:nvSpPr>
        <p:spPr>
          <a:xfrm>
            <a:off x="274320" y="116128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HINTERLAND EXPORT</a:t>
            </a:r>
            <a:endParaRPr lang="en-US" sz="1300" dirty="0"/>
          </a:p>
        </p:txBody>
      </p:sp>
      <p:sp>
        <p:nvSpPr>
          <p:cNvPr id="8" name="Text 6"/>
          <p:cNvSpPr/>
          <p:nvPr/>
        </p:nvSpPr>
        <p:spPr>
          <a:xfrm>
            <a:off x="274320" y="152704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4 294 TEU  |  AGL : 2 840 TEU</a:t>
            </a:r>
            <a:endParaRPr lang="en-US" sz="900" dirty="0"/>
          </a:p>
        </p:txBody>
      </p:sp>
      <p:sp>
        <p:nvSpPr>
          <p:cNvPr id="9" name="Shape 7"/>
          <p:cNvSpPr/>
          <p:nvPr/>
        </p:nvSpPr>
        <p:spPr>
          <a:xfrm>
            <a:off x="3108960" y="1307592"/>
            <a:ext cx="6858000" cy="347472"/>
          </a:xfrm>
          <a:prstGeom prst="rect">
            <a:avLst/>
          </a:prstGeom>
          <a:solidFill>
            <a:srgbClr val="D1D5DB"/>
          </a:solidFill>
          <a:ln/>
        </p:spPr>
      </p:sp>
      <p:sp>
        <p:nvSpPr>
          <p:cNvPr id="10" name="Shape 8"/>
          <p:cNvSpPr/>
          <p:nvPr/>
        </p:nvSpPr>
        <p:spPr>
          <a:xfrm>
            <a:off x="3108960" y="1307592"/>
            <a:ext cx="6858000" cy="347472"/>
          </a:xfrm>
          <a:prstGeom prst="rect">
            <a:avLst/>
          </a:prstGeom>
          <a:solidFill>
            <a:srgbClr val="1A7C4F"/>
          </a:solidFill>
          <a:ln/>
        </p:spPr>
      </p:sp>
      <p:sp>
        <p:nvSpPr>
          <p:cNvPr id="11" name="Text 9"/>
          <p:cNvSpPr/>
          <p:nvPr/>
        </p:nvSpPr>
        <p:spPr>
          <a:xfrm>
            <a:off x="10058400" y="1234440"/>
            <a:ext cx="1097280" cy="475488"/>
          </a:xfrm>
          <a:prstGeom prst="rect">
            <a:avLst/>
          </a:prstGeom>
          <a:noFill/>
          <a:ln/>
        </p:spPr>
        <p:txBody>
          <a:bodyPr wrap="square" rtlCol="0" anchor="ctr"/>
          <a:lstStyle/>
          <a:p>
            <a:pPr indent="0" marL="0">
              <a:buNone/>
            </a:pPr>
            <a:r>
              <a:rPr lang="en-US" sz="2000" b="1" dirty="0">
                <a:solidFill>
                  <a:srgbClr val="1A7C4F"/>
                </a:solidFill>
                <a:latin typeface="Calibri" pitchFamily="34" charset="0"/>
                <a:ea typeface="Calibri" pitchFamily="34" charset="-122"/>
                <a:cs typeface="Calibri" pitchFamily="34" charset="-120"/>
              </a:rPr>
              <a:t>66.1 %</a:t>
            </a:r>
            <a:endParaRPr lang="en-US" sz="2000" dirty="0"/>
          </a:p>
        </p:txBody>
      </p:sp>
      <p:sp>
        <p:nvSpPr>
          <p:cNvPr id="12" name="Shape 10"/>
          <p:cNvSpPr/>
          <p:nvPr/>
        </p:nvSpPr>
        <p:spPr>
          <a:xfrm>
            <a:off x="10149840" y="1124712"/>
            <a:ext cx="1691640" cy="292608"/>
          </a:xfrm>
          <a:prstGeom prst="rect">
            <a:avLst/>
          </a:prstGeom>
          <a:solidFill>
            <a:srgbClr val="1A7C4F"/>
          </a:solidFill>
          <a:ln/>
        </p:spPr>
      </p:sp>
      <p:sp>
        <p:nvSpPr>
          <p:cNvPr id="13" name="Text 11"/>
          <p:cNvSpPr/>
          <p:nvPr/>
        </p:nvSpPr>
        <p:spPr>
          <a:xfrm>
            <a:off x="10149840" y="112471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LEADER</a:t>
            </a:r>
            <a:endParaRPr lang="en-US" sz="900" dirty="0"/>
          </a:p>
        </p:txBody>
      </p:sp>
      <p:sp>
        <p:nvSpPr>
          <p:cNvPr id="14" name="Text 12"/>
          <p:cNvSpPr/>
          <p:nvPr/>
        </p:nvSpPr>
        <p:spPr>
          <a:xfrm>
            <a:off x="10149840" y="1490472"/>
            <a:ext cx="1691640" cy="256032"/>
          </a:xfrm>
          <a:prstGeom prst="rect">
            <a:avLst/>
          </a:prstGeom>
          <a:noFill/>
          <a:ln/>
        </p:spPr>
        <p:txBody>
          <a:bodyPr wrap="square" rtlCol="0" anchor="ctr"/>
          <a:lstStyle/>
          <a:p>
            <a:pPr algn="ctr" indent="0" marL="0">
              <a:buNone/>
            </a:pPr>
            <a:r>
              <a:rPr lang="en-US" sz="900" b="1" dirty="0">
                <a:solidFill>
                  <a:srgbClr val="1A7C4F"/>
                </a:solidFill>
                <a:latin typeface="Calibri" pitchFamily="34" charset="0"/>
                <a:ea typeface="Calibri" pitchFamily="34" charset="-122"/>
                <a:cs typeface="Calibri" pitchFamily="34" charset="-120"/>
              </a:rPr>
              <a:t>#1 ABSOLU</a:t>
            </a:r>
            <a:endParaRPr lang="en-US" sz="900" dirty="0"/>
          </a:p>
        </p:txBody>
      </p:sp>
      <p:sp>
        <p:nvSpPr>
          <p:cNvPr id="15" name="Shape 13"/>
          <p:cNvSpPr/>
          <p:nvPr/>
        </p:nvSpPr>
        <p:spPr>
          <a:xfrm>
            <a:off x="137160" y="2057400"/>
            <a:ext cx="11795760" cy="932688"/>
          </a:xfrm>
          <a:prstGeom prst="rect">
            <a:avLst/>
          </a:prstGeom>
          <a:solidFill>
            <a:srgbClr val="F0F4F8"/>
          </a:solidFill>
          <a:ln w="6350">
            <a:solidFill>
              <a:srgbClr val="E2E8F0"/>
            </a:solidFill>
            <a:prstDash val="solid"/>
          </a:ln>
        </p:spPr>
      </p:sp>
      <p:sp>
        <p:nvSpPr>
          <p:cNvPr id="16" name="Text 14"/>
          <p:cNvSpPr/>
          <p:nvPr/>
        </p:nvSpPr>
        <p:spPr>
          <a:xfrm>
            <a:off x="274320" y="216712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TRANSIT EXPORT MAR.</a:t>
            </a:r>
            <a:endParaRPr lang="en-US" sz="1300" dirty="0"/>
          </a:p>
        </p:txBody>
      </p:sp>
      <p:sp>
        <p:nvSpPr>
          <p:cNvPr id="17" name="Text 15"/>
          <p:cNvSpPr/>
          <p:nvPr/>
        </p:nvSpPr>
        <p:spPr>
          <a:xfrm>
            <a:off x="274320" y="253288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137 283 TEU  |  AGL : 35 972 TEU</a:t>
            </a:r>
            <a:endParaRPr lang="en-US" sz="900" dirty="0"/>
          </a:p>
        </p:txBody>
      </p:sp>
      <p:sp>
        <p:nvSpPr>
          <p:cNvPr id="18" name="Shape 16"/>
          <p:cNvSpPr/>
          <p:nvPr/>
        </p:nvSpPr>
        <p:spPr>
          <a:xfrm>
            <a:off x="3108960" y="2313432"/>
            <a:ext cx="6858000" cy="347472"/>
          </a:xfrm>
          <a:prstGeom prst="rect">
            <a:avLst/>
          </a:prstGeom>
          <a:solidFill>
            <a:srgbClr val="D1D5DB"/>
          </a:solidFill>
          <a:ln/>
        </p:spPr>
      </p:sp>
      <p:sp>
        <p:nvSpPr>
          <p:cNvPr id="19" name="Shape 17"/>
          <p:cNvSpPr/>
          <p:nvPr/>
        </p:nvSpPr>
        <p:spPr>
          <a:xfrm>
            <a:off x="3108960" y="2313432"/>
            <a:ext cx="2718300" cy="347472"/>
          </a:xfrm>
          <a:prstGeom prst="rect">
            <a:avLst/>
          </a:prstGeom>
          <a:solidFill>
            <a:srgbClr val="1A7C4F"/>
          </a:solidFill>
          <a:ln/>
        </p:spPr>
      </p:sp>
      <p:sp>
        <p:nvSpPr>
          <p:cNvPr id="20" name="Text 18"/>
          <p:cNvSpPr/>
          <p:nvPr/>
        </p:nvSpPr>
        <p:spPr>
          <a:xfrm>
            <a:off x="5918700" y="2240280"/>
            <a:ext cx="1097280" cy="475488"/>
          </a:xfrm>
          <a:prstGeom prst="rect">
            <a:avLst/>
          </a:prstGeom>
          <a:noFill/>
          <a:ln/>
        </p:spPr>
        <p:txBody>
          <a:bodyPr wrap="square" rtlCol="0" anchor="ctr"/>
          <a:lstStyle/>
          <a:p>
            <a:pPr indent="0" marL="0">
              <a:buNone/>
            </a:pPr>
            <a:r>
              <a:rPr lang="en-US" sz="2000" b="1" dirty="0">
                <a:solidFill>
                  <a:srgbClr val="1A7C4F"/>
                </a:solidFill>
                <a:latin typeface="Calibri" pitchFamily="34" charset="0"/>
                <a:ea typeface="Calibri" pitchFamily="34" charset="-122"/>
                <a:cs typeface="Calibri" pitchFamily="34" charset="-120"/>
              </a:rPr>
              <a:t>26.2 %</a:t>
            </a:r>
            <a:endParaRPr lang="en-US" sz="2000" dirty="0"/>
          </a:p>
        </p:txBody>
      </p:sp>
      <p:sp>
        <p:nvSpPr>
          <p:cNvPr id="21" name="Shape 19"/>
          <p:cNvSpPr/>
          <p:nvPr/>
        </p:nvSpPr>
        <p:spPr>
          <a:xfrm>
            <a:off x="10149840" y="2130552"/>
            <a:ext cx="1691640" cy="292608"/>
          </a:xfrm>
          <a:prstGeom prst="rect">
            <a:avLst/>
          </a:prstGeom>
          <a:solidFill>
            <a:srgbClr val="1A7C4F"/>
          </a:solidFill>
          <a:ln/>
        </p:spPr>
      </p:sp>
      <p:sp>
        <p:nvSpPr>
          <p:cNvPr id="22" name="Text 20"/>
          <p:cNvSpPr/>
          <p:nvPr/>
        </p:nvSpPr>
        <p:spPr>
          <a:xfrm>
            <a:off x="10149840" y="213055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DOMINANT</a:t>
            </a:r>
            <a:endParaRPr lang="en-US" sz="900" dirty="0"/>
          </a:p>
        </p:txBody>
      </p:sp>
      <p:sp>
        <p:nvSpPr>
          <p:cNvPr id="23" name="Text 21"/>
          <p:cNvSpPr/>
          <p:nvPr/>
        </p:nvSpPr>
        <p:spPr>
          <a:xfrm>
            <a:off x="10149840" y="2496312"/>
            <a:ext cx="1691640" cy="256032"/>
          </a:xfrm>
          <a:prstGeom prst="rect">
            <a:avLst/>
          </a:prstGeom>
          <a:noFill/>
          <a:ln/>
        </p:spPr>
        <p:txBody>
          <a:bodyPr wrap="square" rtlCol="0" anchor="ctr"/>
          <a:lstStyle/>
          <a:p>
            <a:pPr algn="ctr" indent="0" marL="0">
              <a:buNone/>
            </a:pPr>
            <a:r>
              <a:rPr lang="en-US" sz="900" b="1" dirty="0">
                <a:solidFill>
                  <a:srgbClr val="1A7C4F"/>
                </a:solidFill>
                <a:latin typeface="Calibri" pitchFamily="34" charset="0"/>
                <a:ea typeface="Calibri" pitchFamily="34" charset="-122"/>
                <a:cs typeface="Calibri" pitchFamily="34" charset="-120"/>
              </a:rPr>
              <a:t>#1 – ×4,7 le 2ème</a:t>
            </a:r>
            <a:endParaRPr lang="en-US" sz="900" dirty="0"/>
          </a:p>
        </p:txBody>
      </p:sp>
      <p:sp>
        <p:nvSpPr>
          <p:cNvPr id="24" name="Shape 22"/>
          <p:cNvSpPr/>
          <p:nvPr/>
        </p:nvSpPr>
        <p:spPr>
          <a:xfrm>
            <a:off x="137160" y="3063240"/>
            <a:ext cx="11795760" cy="932688"/>
          </a:xfrm>
          <a:prstGeom prst="rect">
            <a:avLst/>
          </a:prstGeom>
          <a:solidFill>
            <a:srgbClr val="F0F4F8"/>
          </a:solidFill>
          <a:ln w="6350">
            <a:solidFill>
              <a:srgbClr val="E2E8F0"/>
            </a:solidFill>
            <a:prstDash val="solid"/>
          </a:ln>
        </p:spPr>
      </p:sp>
      <p:sp>
        <p:nvSpPr>
          <p:cNvPr id="25" name="Text 23"/>
          <p:cNvSpPr/>
          <p:nvPr/>
        </p:nvSpPr>
        <p:spPr>
          <a:xfrm>
            <a:off x="274320" y="317296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AÉRIEN IMPORT</a:t>
            </a:r>
            <a:endParaRPr lang="en-US" sz="1300" dirty="0"/>
          </a:p>
        </p:txBody>
      </p:sp>
      <p:sp>
        <p:nvSpPr>
          <p:cNvPr id="26" name="Text 24"/>
          <p:cNvSpPr/>
          <p:nvPr/>
        </p:nvSpPr>
        <p:spPr>
          <a:xfrm>
            <a:off x="274320" y="353872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5 603 T  |  AGL : 1 166 T</a:t>
            </a:r>
            <a:endParaRPr lang="en-US" sz="900" dirty="0"/>
          </a:p>
        </p:txBody>
      </p:sp>
      <p:sp>
        <p:nvSpPr>
          <p:cNvPr id="27" name="Shape 25"/>
          <p:cNvSpPr/>
          <p:nvPr/>
        </p:nvSpPr>
        <p:spPr>
          <a:xfrm>
            <a:off x="3108960" y="3319272"/>
            <a:ext cx="6858000" cy="347472"/>
          </a:xfrm>
          <a:prstGeom prst="rect">
            <a:avLst/>
          </a:prstGeom>
          <a:solidFill>
            <a:srgbClr val="D1D5DB"/>
          </a:solidFill>
          <a:ln/>
        </p:spPr>
      </p:sp>
      <p:sp>
        <p:nvSpPr>
          <p:cNvPr id="28" name="Shape 26"/>
          <p:cNvSpPr/>
          <p:nvPr/>
        </p:nvSpPr>
        <p:spPr>
          <a:xfrm>
            <a:off x="3108960" y="3319272"/>
            <a:ext cx="2158039" cy="347472"/>
          </a:xfrm>
          <a:prstGeom prst="rect">
            <a:avLst/>
          </a:prstGeom>
          <a:solidFill>
            <a:srgbClr val="1A7C4F"/>
          </a:solidFill>
          <a:ln/>
        </p:spPr>
      </p:sp>
      <p:sp>
        <p:nvSpPr>
          <p:cNvPr id="29" name="Text 27"/>
          <p:cNvSpPr/>
          <p:nvPr/>
        </p:nvSpPr>
        <p:spPr>
          <a:xfrm>
            <a:off x="5358439" y="3246120"/>
            <a:ext cx="1097280" cy="475488"/>
          </a:xfrm>
          <a:prstGeom prst="rect">
            <a:avLst/>
          </a:prstGeom>
          <a:noFill/>
          <a:ln/>
        </p:spPr>
        <p:txBody>
          <a:bodyPr wrap="square" rtlCol="0" anchor="ctr"/>
          <a:lstStyle/>
          <a:p>
            <a:pPr indent="0" marL="0">
              <a:buNone/>
            </a:pPr>
            <a:r>
              <a:rPr lang="en-US" sz="2000" b="1" dirty="0">
                <a:solidFill>
                  <a:srgbClr val="1A7C4F"/>
                </a:solidFill>
                <a:latin typeface="Calibri" pitchFamily="34" charset="0"/>
                <a:ea typeface="Calibri" pitchFamily="34" charset="-122"/>
                <a:cs typeface="Calibri" pitchFamily="34" charset="-120"/>
              </a:rPr>
              <a:t>20.8 %</a:t>
            </a:r>
            <a:endParaRPr lang="en-US" sz="2000" dirty="0"/>
          </a:p>
        </p:txBody>
      </p:sp>
      <p:sp>
        <p:nvSpPr>
          <p:cNvPr id="30" name="Shape 28"/>
          <p:cNvSpPr/>
          <p:nvPr/>
        </p:nvSpPr>
        <p:spPr>
          <a:xfrm>
            <a:off x="10149840" y="3136392"/>
            <a:ext cx="1691640" cy="292608"/>
          </a:xfrm>
          <a:prstGeom prst="rect">
            <a:avLst/>
          </a:prstGeom>
          <a:solidFill>
            <a:srgbClr val="1A7C4F"/>
          </a:solidFill>
          <a:ln/>
        </p:spPr>
      </p:sp>
      <p:sp>
        <p:nvSpPr>
          <p:cNvPr id="31" name="Text 29"/>
          <p:cNvSpPr/>
          <p:nvPr/>
        </p:nvSpPr>
        <p:spPr>
          <a:xfrm>
            <a:off x="10149840" y="313639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 HAUSSE</a:t>
            </a:r>
            <a:endParaRPr lang="en-US" sz="900" dirty="0"/>
          </a:p>
        </p:txBody>
      </p:sp>
      <p:sp>
        <p:nvSpPr>
          <p:cNvPr id="32" name="Text 30"/>
          <p:cNvSpPr/>
          <p:nvPr/>
        </p:nvSpPr>
        <p:spPr>
          <a:xfrm>
            <a:off x="10149840" y="3502152"/>
            <a:ext cx="1691640" cy="256032"/>
          </a:xfrm>
          <a:prstGeom prst="rect">
            <a:avLst/>
          </a:prstGeom>
          <a:noFill/>
          <a:ln/>
        </p:spPr>
        <p:txBody>
          <a:bodyPr wrap="square" rtlCol="0" anchor="ctr"/>
          <a:lstStyle/>
          <a:p>
            <a:pPr algn="ctr" indent="0" marL="0">
              <a:buNone/>
            </a:pPr>
            <a:r>
              <a:rPr lang="en-US" sz="900" b="1" dirty="0">
                <a:solidFill>
                  <a:srgbClr val="1A7C4F"/>
                </a:solidFill>
                <a:latin typeface="Calibri" pitchFamily="34" charset="0"/>
                <a:ea typeface="Calibri" pitchFamily="34" charset="-122"/>
                <a:cs typeface="Calibri" pitchFamily="34" charset="-120"/>
              </a:rPr>
              <a:t>#1 ABSOLU</a:t>
            </a:r>
            <a:endParaRPr lang="en-US" sz="900" dirty="0"/>
          </a:p>
        </p:txBody>
      </p:sp>
      <p:sp>
        <p:nvSpPr>
          <p:cNvPr id="33" name="Shape 31"/>
          <p:cNvSpPr/>
          <p:nvPr/>
        </p:nvSpPr>
        <p:spPr>
          <a:xfrm>
            <a:off x="137160" y="4069080"/>
            <a:ext cx="11795760" cy="932688"/>
          </a:xfrm>
          <a:prstGeom prst="rect">
            <a:avLst/>
          </a:prstGeom>
          <a:solidFill>
            <a:srgbClr val="F0F4F8"/>
          </a:solidFill>
          <a:ln w="6350">
            <a:solidFill>
              <a:srgbClr val="E2E8F0"/>
            </a:solidFill>
            <a:prstDash val="solid"/>
          </a:ln>
        </p:spPr>
      </p:sp>
      <p:sp>
        <p:nvSpPr>
          <p:cNvPr id="34" name="Text 32"/>
          <p:cNvSpPr/>
          <p:nvPr/>
        </p:nvSpPr>
        <p:spPr>
          <a:xfrm>
            <a:off x="274320" y="417880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HINTERLAND IMPORT</a:t>
            </a:r>
            <a:endParaRPr lang="en-US" sz="1300" dirty="0"/>
          </a:p>
        </p:txBody>
      </p:sp>
      <p:sp>
        <p:nvSpPr>
          <p:cNvPr id="35" name="Text 33"/>
          <p:cNvSpPr/>
          <p:nvPr/>
        </p:nvSpPr>
        <p:spPr>
          <a:xfrm>
            <a:off x="274320" y="454456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28 457 TEU  |  AGL : 3 214 TEU</a:t>
            </a:r>
            <a:endParaRPr lang="en-US" sz="900" dirty="0"/>
          </a:p>
        </p:txBody>
      </p:sp>
      <p:sp>
        <p:nvSpPr>
          <p:cNvPr id="36" name="Shape 34"/>
          <p:cNvSpPr/>
          <p:nvPr/>
        </p:nvSpPr>
        <p:spPr>
          <a:xfrm>
            <a:off x="3108960" y="4325112"/>
            <a:ext cx="6858000" cy="347472"/>
          </a:xfrm>
          <a:prstGeom prst="rect">
            <a:avLst/>
          </a:prstGeom>
          <a:solidFill>
            <a:srgbClr val="D1D5DB"/>
          </a:solidFill>
          <a:ln/>
        </p:spPr>
      </p:sp>
      <p:sp>
        <p:nvSpPr>
          <p:cNvPr id="37" name="Shape 35"/>
          <p:cNvSpPr/>
          <p:nvPr/>
        </p:nvSpPr>
        <p:spPr>
          <a:xfrm>
            <a:off x="3108960" y="4325112"/>
            <a:ext cx="1172396" cy="347472"/>
          </a:xfrm>
          <a:prstGeom prst="rect">
            <a:avLst/>
          </a:prstGeom>
          <a:solidFill>
            <a:srgbClr val="E05A00"/>
          </a:solidFill>
          <a:ln/>
        </p:spPr>
      </p:sp>
      <p:sp>
        <p:nvSpPr>
          <p:cNvPr id="38" name="Text 36"/>
          <p:cNvSpPr/>
          <p:nvPr/>
        </p:nvSpPr>
        <p:spPr>
          <a:xfrm>
            <a:off x="4372796" y="4251960"/>
            <a:ext cx="1097280" cy="475488"/>
          </a:xfrm>
          <a:prstGeom prst="rect">
            <a:avLst/>
          </a:prstGeom>
          <a:noFill/>
          <a:ln/>
        </p:spPr>
        <p:txBody>
          <a:bodyPr wrap="square" rtlCol="0" anchor="ctr"/>
          <a:lstStyle/>
          <a:p>
            <a:pPr indent="0" marL="0">
              <a:buNone/>
            </a:pPr>
            <a:r>
              <a:rPr lang="en-US" sz="2000" b="1" dirty="0">
                <a:solidFill>
                  <a:srgbClr val="E05A00"/>
                </a:solidFill>
                <a:latin typeface="Calibri" pitchFamily="34" charset="0"/>
                <a:ea typeface="Calibri" pitchFamily="34" charset="-122"/>
                <a:cs typeface="Calibri" pitchFamily="34" charset="-120"/>
              </a:rPr>
              <a:t>11.3 %</a:t>
            </a:r>
            <a:endParaRPr lang="en-US" sz="2000" dirty="0"/>
          </a:p>
        </p:txBody>
      </p:sp>
      <p:sp>
        <p:nvSpPr>
          <p:cNvPr id="39" name="Shape 37"/>
          <p:cNvSpPr/>
          <p:nvPr/>
        </p:nvSpPr>
        <p:spPr>
          <a:xfrm>
            <a:off x="10149840" y="4142232"/>
            <a:ext cx="1691640" cy="292608"/>
          </a:xfrm>
          <a:prstGeom prst="rect">
            <a:avLst/>
          </a:prstGeom>
          <a:solidFill>
            <a:srgbClr val="E05A00"/>
          </a:solidFill>
          <a:ln/>
        </p:spPr>
      </p:sp>
      <p:sp>
        <p:nvSpPr>
          <p:cNvPr id="40" name="Text 38"/>
          <p:cNvSpPr/>
          <p:nvPr/>
        </p:nvSpPr>
        <p:spPr>
          <a:xfrm>
            <a:off x="10149840" y="414223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À RENFORCER</a:t>
            </a:r>
            <a:endParaRPr lang="en-US" sz="900" dirty="0"/>
          </a:p>
        </p:txBody>
      </p:sp>
      <p:sp>
        <p:nvSpPr>
          <p:cNvPr id="41" name="Text 39"/>
          <p:cNvSpPr/>
          <p:nvPr/>
        </p:nvSpPr>
        <p:spPr>
          <a:xfrm>
            <a:off x="10149840" y="4507992"/>
            <a:ext cx="1691640" cy="256032"/>
          </a:xfrm>
          <a:prstGeom prst="rect">
            <a:avLst/>
          </a:prstGeom>
          <a:noFill/>
          <a:ln/>
        </p:spPr>
        <p:txBody>
          <a:bodyPr wrap="square" rtlCol="0" anchor="ctr"/>
          <a:lstStyle/>
          <a:p>
            <a:pPr algn="ctr" indent="0" marL="0">
              <a:buNone/>
            </a:pPr>
            <a:r>
              <a:rPr lang="en-US" sz="900" b="1" dirty="0">
                <a:solidFill>
                  <a:srgbClr val="E05A00"/>
                </a:solidFill>
                <a:latin typeface="Calibri" pitchFamily="34" charset="0"/>
                <a:ea typeface="Calibri" pitchFamily="34" charset="-122"/>
                <a:cs typeface="Calibri" pitchFamily="34" charset="-120"/>
              </a:rPr>
              <a:t>#3</a:t>
            </a:r>
            <a:endParaRPr lang="en-US" sz="900" dirty="0"/>
          </a:p>
        </p:txBody>
      </p:sp>
      <p:sp>
        <p:nvSpPr>
          <p:cNvPr id="42" name="Shape 40"/>
          <p:cNvSpPr/>
          <p:nvPr/>
        </p:nvSpPr>
        <p:spPr>
          <a:xfrm>
            <a:off x="137160" y="5074920"/>
            <a:ext cx="11795760" cy="932688"/>
          </a:xfrm>
          <a:prstGeom prst="rect">
            <a:avLst/>
          </a:prstGeom>
          <a:solidFill>
            <a:srgbClr val="F0F4F8"/>
          </a:solidFill>
          <a:ln w="6350">
            <a:solidFill>
              <a:srgbClr val="E2E8F0"/>
            </a:solidFill>
            <a:prstDash val="solid"/>
          </a:ln>
        </p:spPr>
      </p:sp>
      <p:sp>
        <p:nvSpPr>
          <p:cNvPr id="43" name="Text 41"/>
          <p:cNvSpPr/>
          <p:nvPr/>
        </p:nvSpPr>
        <p:spPr>
          <a:xfrm>
            <a:off x="274320" y="5184648"/>
            <a:ext cx="2743200" cy="347472"/>
          </a:xfrm>
          <a:prstGeom prst="rect">
            <a:avLst/>
          </a:prstGeom>
          <a:noFill/>
          <a:ln/>
        </p:spPr>
        <p:txBody>
          <a:bodyPr wrap="square" rtlCol="0" anchor="ctr"/>
          <a:lstStyle/>
          <a:p>
            <a:pPr indent="0" marL="0">
              <a:buNone/>
            </a:pPr>
            <a:r>
              <a:rPr lang="en-US" sz="1300" b="1" dirty="0">
                <a:solidFill>
                  <a:srgbClr val="0D2243"/>
                </a:solidFill>
                <a:latin typeface="Calibri" pitchFamily="34" charset="0"/>
                <a:ea typeface="Calibri" pitchFamily="34" charset="-122"/>
                <a:cs typeface="Calibri" pitchFamily="34" charset="-120"/>
              </a:rPr>
              <a:t>TRANSIT IMPORT MAR.</a:t>
            </a:r>
            <a:endParaRPr lang="en-US" sz="1300" dirty="0"/>
          </a:p>
        </p:txBody>
      </p:sp>
      <p:sp>
        <p:nvSpPr>
          <p:cNvPr id="44" name="Text 42"/>
          <p:cNvSpPr/>
          <p:nvPr/>
        </p:nvSpPr>
        <p:spPr>
          <a:xfrm>
            <a:off x="274320" y="5550408"/>
            <a:ext cx="27432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193 989 TEU  |  AGL : 15 133 TEU</a:t>
            </a:r>
            <a:endParaRPr lang="en-US" sz="900" dirty="0"/>
          </a:p>
        </p:txBody>
      </p:sp>
      <p:sp>
        <p:nvSpPr>
          <p:cNvPr id="45" name="Shape 43"/>
          <p:cNvSpPr/>
          <p:nvPr/>
        </p:nvSpPr>
        <p:spPr>
          <a:xfrm>
            <a:off x="3108960" y="5330952"/>
            <a:ext cx="6858000" cy="347472"/>
          </a:xfrm>
          <a:prstGeom prst="rect">
            <a:avLst/>
          </a:prstGeom>
          <a:solidFill>
            <a:srgbClr val="D1D5DB"/>
          </a:solidFill>
          <a:ln/>
        </p:spPr>
      </p:sp>
      <p:sp>
        <p:nvSpPr>
          <p:cNvPr id="46" name="Shape 44"/>
          <p:cNvSpPr/>
          <p:nvPr/>
        </p:nvSpPr>
        <p:spPr>
          <a:xfrm>
            <a:off x="3108960" y="5330952"/>
            <a:ext cx="809265" cy="347472"/>
          </a:xfrm>
          <a:prstGeom prst="rect">
            <a:avLst/>
          </a:prstGeom>
          <a:solidFill>
            <a:srgbClr val="E05A00"/>
          </a:solidFill>
          <a:ln/>
        </p:spPr>
      </p:sp>
      <p:sp>
        <p:nvSpPr>
          <p:cNvPr id="47" name="Text 45"/>
          <p:cNvSpPr/>
          <p:nvPr/>
        </p:nvSpPr>
        <p:spPr>
          <a:xfrm>
            <a:off x="4009665" y="5257800"/>
            <a:ext cx="1097280" cy="475488"/>
          </a:xfrm>
          <a:prstGeom prst="rect">
            <a:avLst/>
          </a:prstGeom>
          <a:noFill/>
          <a:ln/>
        </p:spPr>
        <p:txBody>
          <a:bodyPr wrap="square" rtlCol="0" anchor="ctr"/>
          <a:lstStyle/>
          <a:p>
            <a:pPr indent="0" marL="0">
              <a:buNone/>
            </a:pPr>
            <a:r>
              <a:rPr lang="en-US" sz="2000" b="1" dirty="0">
                <a:solidFill>
                  <a:srgbClr val="E05A00"/>
                </a:solidFill>
                <a:latin typeface="Calibri" pitchFamily="34" charset="0"/>
                <a:ea typeface="Calibri" pitchFamily="34" charset="-122"/>
                <a:cs typeface="Calibri" pitchFamily="34" charset="-120"/>
              </a:rPr>
              <a:t>7.8 %</a:t>
            </a:r>
            <a:endParaRPr lang="en-US" sz="2000" dirty="0"/>
          </a:p>
        </p:txBody>
      </p:sp>
      <p:sp>
        <p:nvSpPr>
          <p:cNvPr id="48" name="Shape 46"/>
          <p:cNvSpPr/>
          <p:nvPr/>
        </p:nvSpPr>
        <p:spPr>
          <a:xfrm>
            <a:off x="10149840" y="5148072"/>
            <a:ext cx="1691640" cy="292608"/>
          </a:xfrm>
          <a:prstGeom prst="rect">
            <a:avLst/>
          </a:prstGeom>
          <a:solidFill>
            <a:srgbClr val="E05A00"/>
          </a:solidFill>
          <a:ln/>
        </p:spPr>
      </p:sp>
      <p:sp>
        <p:nvSpPr>
          <p:cNvPr id="49" name="Text 47"/>
          <p:cNvSpPr/>
          <p:nvPr/>
        </p:nvSpPr>
        <p:spPr>
          <a:xfrm>
            <a:off x="10149840" y="5148072"/>
            <a:ext cx="1691640" cy="292608"/>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SOUS PRESSION</a:t>
            </a:r>
            <a:endParaRPr lang="en-US" sz="900" dirty="0"/>
          </a:p>
        </p:txBody>
      </p:sp>
      <p:sp>
        <p:nvSpPr>
          <p:cNvPr id="50" name="Text 48"/>
          <p:cNvSpPr/>
          <p:nvPr/>
        </p:nvSpPr>
        <p:spPr>
          <a:xfrm>
            <a:off x="10149840" y="5513832"/>
            <a:ext cx="1691640" cy="256032"/>
          </a:xfrm>
          <a:prstGeom prst="rect">
            <a:avLst/>
          </a:prstGeom>
          <a:noFill/>
          <a:ln/>
        </p:spPr>
        <p:txBody>
          <a:bodyPr wrap="square" rtlCol="0" anchor="ctr"/>
          <a:lstStyle/>
          <a:p>
            <a:pPr algn="ctr" indent="0" marL="0">
              <a:buNone/>
            </a:pPr>
            <a:r>
              <a:rPr lang="en-US" sz="900" b="1" dirty="0">
                <a:solidFill>
                  <a:srgbClr val="E05A00"/>
                </a:solidFill>
                <a:latin typeface="Calibri" pitchFamily="34" charset="0"/>
                <a:ea typeface="Calibri" pitchFamily="34" charset="-122"/>
                <a:cs typeface="Calibri" pitchFamily="34" charset="-120"/>
              </a:rPr>
              <a:t>#1 FRAGILE</a:t>
            </a:r>
            <a:endParaRPr lang="en-US" sz="900" dirty="0"/>
          </a:p>
        </p:txBody>
      </p:sp>
      <p:sp>
        <p:nvSpPr>
          <p:cNvPr id="51" name="Shape 49"/>
          <p:cNvSpPr/>
          <p:nvPr/>
        </p:nvSpPr>
        <p:spPr>
          <a:xfrm>
            <a:off x="137160" y="6144768"/>
            <a:ext cx="11795760" cy="292608"/>
          </a:xfrm>
          <a:prstGeom prst="rect">
            <a:avLst/>
          </a:prstGeom>
          <a:solidFill>
            <a:srgbClr val="0D2243"/>
          </a:solidFill>
          <a:ln/>
        </p:spPr>
      </p:sp>
      <p:sp>
        <p:nvSpPr>
          <p:cNvPr id="52" name="Text 50"/>
          <p:cNvSpPr/>
          <p:nvPr/>
        </p:nvSpPr>
        <p:spPr>
          <a:xfrm>
            <a:off x="228600" y="6144768"/>
            <a:ext cx="11612880" cy="292608"/>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3 métiers sur 5 en position #1  |  TIM leader fragile (+558 TEU)  |  Hint.Imp. seul segment à conquérir (#3)  |  Aérien : montée en puissance historique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2026-06-18T14:36:13Z</dcterms:created>
  <dcterms:modified xsi:type="dcterms:W3CDTF">2026-06-18T14:36:13Z</dcterms:modified>
</cp:coreProperties>
</file>