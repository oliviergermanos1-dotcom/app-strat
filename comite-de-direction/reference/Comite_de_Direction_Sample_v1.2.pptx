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41800</c:v>
                </c:pt>
                <c:pt idx="1">
                  <c:v>36800</c:v>
                </c:pt>
                <c:pt idx="2">
                  <c:v>43600</c:v>
                </c:pt>
                <c:pt idx="3">
                  <c:v>38500</c:v>
                </c:pt>
                <c:pt idx="4">
                  <c:v>33200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3470</c:v>
                </c:pt>
                <c:pt idx="1">
                  <c:v>2544</c:v>
                </c:pt>
                <c:pt idx="2">
                  <c:v>3270</c:v>
                </c:pt>
                <c:pt idx="3">
                  <c:v>3278</c:v>
                </c:pt>
                <c:pt idx="4">
                  <c:v>2571</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C9A84C"/>
              </a:solidFill>
              <a:effectLst/>
            </c:spPr>
          </c:dPt>
          <c:dPt>
            <c:idx val="2"/>
            <c:bubble3D val="0"/>
            <c:spPr>
              <a:solidFill>
                <a:srgbClr val="2563A8"/>
              </a:solidFill>
              <a:effectLst/>
            </c:spPr>
          </c:dPt>
          <c:dPt>
            <c:idx val="3"/>
            <c:bubble3D val="0"/>
            <c:spPr>
              <a:solidFill>
                <a:srgbClr val="1A7C4F"/>
              </a:solidFill>
              <a:effectLst/>
            </c:spPr>
          </c:dPt>
          <c:dPt>
            <c:idx val="4"/>
            <c:bubble3D val="0"/>
            <c:spPr>
              <a:solidFill>
                <a:srgbClr val="E05A00"/>
              </a:solidFill>
              <a:effectLst/>
            </c:spPr>
          </c:dPt>
          <c:dPt>
            <c:idx val="5"/>
            <c:bubble3D val="0"/>
            <c:spPr>
              <a:solidFill>
                <a:srgbClr val="0E7490"/>
              </a:solidFill>
              <a:effectLst/>
            </c:spPr>
          </c:dPt>
          <c:dPt>
            <c:idx val="6"/>
            <c:bubble3D val="0"/>
            <c:spPr>
              <a:solidFill>
                <a:srgbClr val="CC2200"/>
              </a:solidFill>
              <a:effectLst/>
            </c:spPr>
          </c:dPt>
          <c:dPt>
            <c:idx val="7"/>
            <c:bubble3D val="0"/>
            <c:spPr>
              <a:solidFill>
                <a:srgbClr val="9CA3AF"/>
              </a:solidFill>
              <a:effectLst/>
            </c:spPr>
          </c:dPt>
          <c:dPt>
            <c:idx val="8"/>
            <c:bubble3D val="0"/>
            <c:spPr>
              <a:solidFill>
                <a:srgbClr val="D1D5D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8"/>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ptCount val="9"/>
                <c:pt idx="0">
                  <c:v>16</c:v>
                </c:pt>
                <c:pt idx="1">
                  <c:v>10</c:v>
                </c:pt>
                <c:pt idx="2">
                  <c:v>10</c:v>
                </c:pt>
                <c:pt idx="3">
                  <c:v>10</c:v>
                </c:pt>
                <c:pt idx="4">
                  <c:v>9</c:v>
                </c:pt>
                <c:pt idx="5">
                  <c:v>8</c:v>
                </c:pt>
                <c:pt idx="6">
                  <c:v>7</c:v>
                </c:pt>
                <c:pt idx="7">
                  <c:v>6</c:v>
                </c:pt>
                <c:pt idx="8">
                  <c:v>24</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28900</c:v>
                </c:pt>
                <c:pt idx="1">
                  <c:v>26900</c:v>
                </c:pt>
                <c:pt idx="2">
                  <c:v>28100</c:v>
                </c:pt>
                <c:pt idx="3">
                  <c:v>31200</c:v>
                </c:pt>
                <c:pt idx="4">
                  <c:v>22400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8766</c:v>
                </c:pt>
                <c:pt idx="1">
                  <c:v>6778</c:v>
                </c:pt>
                <c:pt idx="2">
                  <c:v>8093</c:v>
                </c:pt>
                <c:pt idx="3">
                  <c:v>7895</c:v>
                </c:pt>
                <c:pt idx="4">
                  <c:v>4518</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Filières TEM</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2563A8"/>
              </a:solidFill>
              <a:effectLst/>
            </c:spPr>
          </c:dPt>
          <c:dPt>
            <c:idx val="5"/>
            <c:bubble3D val="0"/>
            <c:spPr>
              <a:solidFill>
                <a:srgbClr val="0E7490"/>
              </a:solidFill>
              <a:effectLst/>
            </c:spPr>
          </c:dPt>
          <c:dPt>
            <c:idx val="6"/>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Cacao</c:v>
                </c:pt>
                <c:pt idx="1">
                  <c:v>Bananes</c:v>
                </c:pt>
                <c:pt idx="2">
                  <c:v>Caoutchouc</c:v>
                </c:pt>
                <c:pt idx="3">
                  <c:v>Dérivés cacao</c:v>
                </c:pt>
                <c:pt idx="4">
                  <c:v>Coton</c:v>
                </c:pt>
                <c:pt idx="5">
                  <c:v>Cajou</c:v>
                </c:pt>
                <c:pt idx="6">
                  <c:v>Autres</c:v>
                </c:pt>
              </c:strCache>
            </c:strRef>
          </c:cat>
          <c:val>
            <c:numRef>
              <c:f>Sheet1!$B$2:$B$8</c:f>
              <c:numCache>
                <c:ptCount val="7"/>
                <c:pt idx="0">
                  <c:v>36</c:v>
                </c:pt>
                <c:pt idx="1">
                  <c:v>20</c:v>
                </c:pt>
                <c:pt idx="2">
                  <c:v>18</c:v>
                </c:pt>
                <c:pt idx="3">
                  <c:v>13</c:v>
                </c:pt>
                <c:pt idx="4">
                  <c:v>8</c:v>
                </c:pt>
                <c:pt idx="5">
                  <c:v>3</c:v>
                </c:pt>
                <c:pt idx="6">
                  <c:v>2</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5400</c:v>
                </c:pt>
                <c:pt idx="1">
                  <c:v>5800</c:v>
                </c:pt>
                <c:pt idx="2">
                  <c:v>5600</c:v>
                </c:pt>
                <c:pt idx="3">
                  <c:v>6100</c:v>
                </c:pt>
                <c:pt idx="4">
                  <c:v>5550</c:v>
                </c:pt>
              </c:numCache>
            </c:numRef>
          </c:val>
        </c:ser>
        <c:ser>
          <c:idx val="1"/>
          <c:order val="1"/>
          <c:tx>
            <c:strRef>
              <c:f>Sheet1!$C$1</c:f>
              <c:strCache>
                <c:ptCount val="1"/>
                <c:pt idx="0">
                  <c:v>AGL</c:v>
                </c:pt>
              </c:strCache>
            </c:strRef>
          </c:tx>
          <c:spPr>
            <a:solidFill>
              <a:srgbClr val="E05A00"/>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886</c:v>
                </c:pt>
                <c:pt idx="1">
                  <c:v>598</c:v>
                </c:pt>
                <c:pt idx="2">
                  <c:v>431</c:v>
                </c:pt>
                <c:pt idx="3">
                  <c:v>652</c:v>
                </c:pt>
                <c:pt idx="4">
                  <c:v>647</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total</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870</c:v>
                </c:pt>
                <c:pt idx="1">
                  <c:v>950</c:v>
                </c:pt>
                <c:pt idx="2">
                  <c:v>900</c:v>
                </c:pt>
                <c:pt idx="3">
                  <c:v>820</c:v>
                </c:pt>
                <c:pt idx="4">
                  <c:v>754</c:v>
                </c:pt>
              </c:numCache>
            </c:numRef>
          </c:val>
        </c:ser>
        <c:ser>
          <c:idx val="1"/>
          <c:order val="1"/>
          <c:tx>
            <c:strRef>
              <c:f>Sheet1!$C$1</c:f>
              <c:strCache>
                <c:ptCount val="1"/>
                <c:pt idx="0">
                  <c:v>AGL</c:v>
                </c:pt>
              </c:strCache>
            </c:strRef>
          </c:tx>
          <c:spPr>
            <a:solidFill>
              <a:srgbClr val="1A7C4F"/>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441</c:v>
                </c:pt>
                <c:pt idx="1">
                  <c:v>693</c:v>
                </c:pt>
                <c:pt idx="2">
                  <c:v>647</c:v>
                </c:pt>
                <c:pt idx="3">
                  <c:v>559</c:v>
                </c:pt>
                <c:pt idx="4">
                  <c:v>500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2025 (kg)</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1180000</c:v>
                </c:pt>
                <c:pt idx="1">
                  <c:v>1020000</c:v>
                </c:pt>
                <c:pt idx="2">
                  <c:v>1100000</c:v>
                </c:pt>
                <c:pt idx="3">
                  <c:v>1150000</c:v>
                </c:pt>
                <c:pt idx="4">
                  <c:v>1071000</c:v>
                </c:pt>
              </c:numCache>
            </c:numRef>
          </c:val>
        </c:ser>
        <c:ser>
          <c:idx val="1"/>
          <c:order val="1"/>
          <c:tx>
            <c:strRef>
              <c:f>Sheet1!$C$1</c:f>
              <c:strCache>
                <c:ptCount val="1"/>
                <c:pt idx="0">
                  <c:v>Marché 2026 (kg)</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1220000</c:v>
                </c:pt>
                <c:pt idx="1">
                  <c:v>1050000</c:v>
                </c:pt>
                <c:pt idx="2">
                  <c:v>1130000</c:v>
                </c:pt>
                <c:pt idx="3">
                  <c:v>1050000</c:v>
                </c:pt>
                <c:pt idx="4">
                  <c:v>1153000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 Aérien</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0E7490"/>
              </a:solidFill>
              <a:effectLst/>
            </c:spPr>
          </c:dPt>
          <c:dPt>
            <c:idx val="5"/>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Mat. Miniers</c:v>
                </c:pt>
                <c:pt idx="1">
                  <c:v>Prod. Alimentaires</c:v>
                </c:pt>
                <c:pt idx="2">
                  <c:v>Médicaments</c:v>
                </c:pt>
                <c:pt idx="3">
                  <c:v>Télécoms</c:v>
                </c:pt>
                <c:pt idx="4">
                  <c:v>Alimentaire</c:v>
                </c:pt>
                <c:pt idx="5">
                  <c:v>Autres</c:v>
                </c:pt>
              </c:strCache>
            </c:strRef>
          </c:cat>
          <c:val>
            <c:numRef>
              <c:f>Sheet1!$B$2:$B$7</c:f>
              <c:numCache>
                <c:ptCount val="6"/>
                <c:pt idx="0">
                  <c:v>27</c:v>
                </c:pt>
                <c:pt idx="1">
                  <c:v>23</c:v>
                </c:pt>
                <c:pt idx="2">
                  <c:v>5</c:v>
                </c:pt>
                <c:pt idx="3">
                  <c:v>6</c:v>
                </c:pt>
                <c:pt idx="4">
                  <c:v>3</c:v>
                </c:pt>
                <c:pt idx="5">
                  <c:v>36</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320040" y="3246120"/>
            <a:ext cx="7772400" cy="54864"/>
          </a:xfrm>
          <a:prstGeom prst="rect">
            <a:avLst/>
          </a:prstGeom>
          <a:solidFill>
            <a:srgbClr val="C9A84C"/>
          </a:solidFill>
          <a:ln/>
        </p:spPr>
      </p:sp>
      <p:sp>
        <p:nvSpPr>
          <p:cNvPr id="4" name="Text 2"/>
          <p:cNvSpPr/>
          <p:nvPr/>
        </p:nvSpPr>
        <p:spPr>
          <a:xfrm>
            <a:off x="320040" y="274320"/>
            <a:ext cx="1828800" cy="5486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AGL</a:t>
            </a:r>
            <a:endParaRPr lang="en-US" sz="3600" dirty="0"/>
          </a:p>
        </p:txBody>
      </p:sp>
      <p:sp>
        <p:nvSpPr>
          <p:cNvPr id="5" name="Text 3"/>
          <p:cNvSpPr/>
          <p:nvPr/>
        </p:nvSpPr>
        <p:spPr>
          <a:xfrm>
            <a:off x="320040" y="804672"/>
            <a:ext cx="3657600" cy="228600"/>
          </a:xfrm>
          <a:prstGeom prst="rect">
            <a:avLst/>
          </a:prstGeom>
          <a:noFill/>
          <a:ln/>
        </p:spPr>
        <p:txBody>
          <a:bodyPr wrap="square" rtlCol="0" anchor="ctr"/>
          <a:lstStyle/>
          <a:p>
            <a:pPr indent="0" marL="0">
              <a:buNone/>
            </a:pPr>
            <a:r>
              <a:rPr lang="en-US" sz="800" spc="100" kern="0" dirty="0">
                <a:solidFill>
                  <a:srgbClr val="FFFFFF"/>
                </a:solidFill>
                <a:latin typeface="Calibri" pitchFamily="34" charset="0"/>
                <a:ea typeface="Calibri" pitchFamily="34" charset="-122"/>
                <a:cs typeface="Calibri" pitchFamily="34" charset="-120"/>
              </a:rPr>
              <a:t>AFRICA GLOBAL LOGISTICS</a:t>
            </a:r>
            <a:endParaRPr lang="en-US" sz="800" dirty="0"/>
          </a:p>
        </p:txBody>
      </p:sp>
      <p:sp>
        <p:nvSpPr>
          <p:cNvPr id="6" name="Text 4"/>
          <p:cNvSpPr/>
          <p:nvPr/>
        </p:nvSpPr>
        <p:spPr>
          <a:xfrm>
            <a:off x="320040" y="1371600"/>
            <a:ext cx="73152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Revue Stratégique &amp;</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Marketing</a:t>
            </a:r>
            <a:endParaRPr lang="en-US" sz="4400" dirty="0"/>
          </a:p>
        </p:txBody>
      </p:sp>
      <p:sp>
        <p:nvSpPr>
          <p:cNvPr id="7" name="Text 5"/>
          <p:cNvSpPr/>
          <p:nvPr/>
        </p:nvSpPr>
        <p:spPr>
          <a:xfrm>
            <a:off x="320040" y="3429000"/>
            <a:ext cx="5486400" cy="594360"/>
          </a:xfrm>
          <a:prstGeom prst="rect">
            <a:avLst/>
          </a:prstGeom>
          <a:noFill/>
          <a:ln/>
        </p:spPr>
        <p:txBody>
          <a:bodyPr wrap="square"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Reporting 2026</a:t>
            </a:r>
            <a:endParaRPr lang="en-US" sz="2400" dirty="0"/>
          </a:p>
        </p:txBody>
      </p:sp>
      <p:sp>
        <p:nvSpPr>
          <p:cNvPr id="8" name="Text 6"/>
          <p:cNvSpPr/>
          <p:nvPr/>
        </p:nvSpPr>
        <p:spPr>
          <a:xfrm>
            <a:off x="320040" y="4251960"/>
            <a:ext cx="41148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the heart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of Africa's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transformation</a:t>
            </a:r>
            <a:endParaRPr lang="en-US" sz="1600" dirty="0"/>
          </a:p>
        </p:txBody>
      </p:sp>
      <p:sp>
        <p:nvSpPr>
          <p:cNvPr id="9" name="Text 7"/>
          <p:cNvSpPr/>
          <p:nvPr/>
        </p:nvSpPr>
        <p:spPr>
          <a:xfrm>
            <a:off x="2743200" y="6537960"/>
            <a:ext cx="6400800" cy="256032"/>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Direction Marketing &amp; RP  |  AGL Abidjan  |  Juin 2026</a:t>
            </a:r>
            <a:endParaRPr lang="en-US" sz="950" dirty="0"/>
          </a:p>
        </p:txBody>
      </p:sp>
      <p:sp>
        <p:nvSpPr>
          <p:cNvPr id="10" name="Text 8"/>
          <p:cNvSpPr/>
          <p:nvPr/>
        </p:nvSpPr>
        <p:spPr>
          <a:xfrm>
            <a:off x="10972800" y="6492240"/>
            <a:ext cx="1097280" cy="320040"/>
          </a:xfrm>
          <a:prstGeom prst="rect">
            <a:avLst/>
          </a:prstGeom>
          <a:noFill/>
          <a:ln/>
        </p:spPr>
        <p:txBody>
          <a:bodyPr wrap="square"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p.2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82880" y="1143000"/>
            <a:ext cx="3840480" cy="1828800"/>
          </a:xfrm>
          <a:prstGeom prst="rect">
            <a:avLst/>
          </a:prstGeom>
          <a:solidFill>
            <a:srgbClr val="F0F2F5"/>
          </a:solidFill>
          <a:ln w="6350">
            <a:solidFill>
              <a:srgbClr val="DDE0E4"/>
            </a:solidFill>
            <a:prstDash val="solid"/>
          </a:ln>
        </p:spPr>
      </p:sp>
      <p:sp>
        <p:nvSpPr>
          <p:cNvPr id="8" name="Shape 6"/>
          <p:cNvSpPr/>
          <p:nvPr/>
        </p:nvSpPr>
        <p:spPr>
          <a:xfrm>
            <a:off x="292608" y="1280160"/>
            <a:ext cx="502920" cy="502920"/>
          </a:xfrm>
          <a:prstGeom prst="rect">
            <a:avLst/>
          </a:prstGeom>
          <a:solidFill>
            <a:srgbClr val="0D2243"/>
          </a:solidFill>
          <a:ln/>
        </p:spPr>
      </p:sp>
      <p:sp>
        <p:nvSpPr>
          <p:cNvPr id="9" name="Text 7"/>
          <p:cNvSpPr/>
          <p:nvPr/>
        </p:nvSpPr>
        <p:spPr>
          <a:xfrm>
            <a:off x="29260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29260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TIM – Transit Import Maritime</a:t>
            </a:r>
            <a:endParaRPr lang="en-US" sz="1200" dirty="0"/>
          </a:p>
        </p:txBody>
      </p:sp>
      <p:sp>
        <p:nvSpPr>
          <p:cNvPr id="11" name="Text 9"/>
          <p:cNvSpPr/>
          <p:nvPr/>
        </p:nvSpPr>
        <p:spPr>
          <a:xfrm>
            <a:off x="29260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PDM 7,8% sur 193 989 TEU qualifiés</a:t>
            </a:r>
            <a:endParaRPr lang="en-US" sz="1000" dirty="0"/>
          </a:p>
        </p:txBody>
      </p:sp>
      <p:sp>
        <p:nvSpPr>
          <p:cNvPr id="12" name="Shape 10"/>
          <p:cNvSpPr/>
          <p:nvPr/>
        </p:nvSpPr>
        <p:spPr>
          <a:xfrm>
            <a:off x="4160520" y="1143000"/>
            <a:ext cx="3840480" cy="1828800"/>
          </a:xfrm>
          <a:prstGeom prst="rect">
            <a:avLst/>
          </a:prstGeom>
          <a:solidFill>
            <a:srgbClr val="F0F2F5"/>
          </a:solidFill>
          <a:ln w="6350">
            <a:solidFill>
              <a:srgbClr val="DDE0E4"/>
            </a:solidFill>
            <a:prstDash val="solid"/>
          </a:ln>
        </p:spPr>
      </p:sp>
      <p:sp>
        <p:nvSpPr>
          <p:cNvPr id="13" name="Shape 11"/>
          <p:cNvSpPr/>
          <p:nvPr/>
        </p:nvSpPr>
        <p:spPr>
          <a:xfrm>
            <a:off x="4270248" y="1280160"/>
            <a:ext cx="502920" cy="502920"/>
          </a:xfrm>
          <a:prstGeom prst="rect">
            <a:avLst/>
          </a:prstGeom>
          <a:solidFill>
            <a:srgbClr val="1A7C4F"/>
          </a:solidFill>
          <a:ln/>
        </p:spPr>
      </p:sp>
      <p:sp>
        <p:nvSpPr>
          <p:cNvPr id="14" name="Text 12"/>
          <p:cNvSpPr/>
          <p:nvPr/>
        </p:nvSpPr>
        <p:spPr>
          <a:xfrm>
            <a:off x="427024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427024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TEM – Transit Export Maritime</a:t>
            </a:r>
            <a:endParaRPr lang="en-US" sz="1200" dirty="0"/>
          </a:p>
        </p:txBody>
      </p:sp>
      <p:sp>
        <p:nvSpPr>
          <p:cNvPr id="16" name="Text 14"/>
          <p:cNvSpPr/>
          <p:nvPr/>
        </p:nvSpPr>
        <p:spPr>
          <a:xfrm>
            <a:off x="427024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Dominance absolue – 26,2% PDM sur 137 283 TEU</a:t>
            </a:r>
            <a:endParaRPr lang="en-US" sz="1000" dirty="0"/>
          </a:p>
        </p:txBody>
      </p:sp>
      <p:sp>
        <p:nvSpPr>
          <p:cNvPr id="17" name="Shape 15"/>
          <p:cNvSpPr/>
          <p:nvPr/>
        </p:nvSpPr>
        <p:spPr>
          <a:xfrm>
            <a:off x="8138160" y="1143000"/>
            <a:ext cx="3840480" cy="1828800"/>
          </a:xfrm>
          <a:prstGeom prst="rect">
            <a:avLst/>
          </a:prstGeom>
          <a:solidFill>
            <a:srgbClr val="F0F2F5"/>
          </a:solidFill>
          <a:ln w="6350">
            <a:solidFill>
              <a:srgbClr val="DDE0E4"/>
            </a:solidFill>
            <a:prstDash val="solid"/>
          </a:ln>
        </p:spPr>
      </p:sp>
      <p:sp>
        <p:nvSpPr>
          <p:cNvPr id="18" name="Shape 16"/>
          <p:cNvSpPr/>
          <p:nvPr/>
        </p:nvSpPr>
        <p:spPr>
          <a:xfrm>
            <a:off x="8247888" y="1280160"/>
            <a:ext cx="502920" cy="502920"/>
          </a:xfrm>
          <a:prstGeom prst="rect">
            <a:avLst/>
          </a:prstGeom>
          <a:solidFill>
            <a:srgbClr val="E05A00"/>
          </a:solidFill>
          <a:ln/>
        </p:spPr>
      </p:sp>
      <p:sp>
        <p:nvSpPr>
          <p:cNvPr id="19" name="Text 17"/>
          <p:cNvSpPr/>
          <p:nvPr/>
        </p:nvSpPr>
        <p:spPr>
          <a:xfrm>
            <a:off x="824788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824788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Import Maritime</a:t>
            </a:r>
            <a:endParaRPr lang="en-US" sz="1200" dirty="0"/>
          </a:p>
        </p:txBody>
      </p:sp>
      <p:sp>
        <p:nvSpPr>
          <p:cNvPr id="21" name="Text 19"/>
          <p:cNvSpPr/>
          <p:nvPr/>
        </p:nvSpPr>
        <p:spPr>
          <a:xfrm>
            <a:off x="824788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 → objectif #2 : 11,3% PDM sur 28 457 TEU</a:t>
            </a:r>
            <a:endParaRPr lang="en-US" sz="1000" dirty="0"/>
          </a:p>
        </p:txBody>
      </p:sp>
      <p:sp>
        <p:nvSpPr>
          <p:cNvPr id="22" name="Shape 20"/>
          <p:cNvSpPr/>
          <p:nvPr/>
        </p:nvSpPr>
        <p:spPr>
          <a:xfrm>
            <a:off x="182880" y="3063240"/>
            <a:ext cx="3840480" cy="1828800"/>
          </a:xfrm>
          <a:prstGeom prst="rect">
            <a:avLst/>
          </a:prstGeom>
          <a:solidFill>
            <a:srgbClr val="F0F2F5"/>
          </a:solidFill>
          <a:ln w="6350">
            <a:solidFill>
              <a:srgbClr val="DDE0E4"/>
            </a:solidFill>
            <a:prstDash val="solid"/>
          </a:ln>
        </p:spPr>
      </p:sp>
      <p:sp>
        <p:nvSpPr>
          <p:cNvPr id="23" name="Shape 21"/>
          <p:cNvSpPr/>
          <p:nvPr/>
        </p:nvSpPr>
        <p:spPr>
          <a:xfrm>
            <a:off x="292608" y="3200400"/>
            <a:ext cx="502920" cy="502920"/>
          </a:xfrm>
          <a:prstGeom prst="rect">
            <a:avLst/>
          </a:prstGeom>
          <a:solidFill>
            <a:srgbClr val="2563A8"/>
          </a:solidFill>
          <a:ln/>
        </p:spPr>
      </p:sp>
      <p:sp>
        <p:nvSpPr>
          <p:cNvPr id="24" name="Text 22"/>
          <p:cNvSpPr/>
          <p:nvPr/>
        </p:nvSpPr>
        <p:spPr>
          <a:xfrm>
            <a:off x="29260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29260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Export Maritime</a:t>
            </a:r>
            <a:endParaRPr lang="en-US" sz="1200" dirty="0"/>
          </a:p>
        </p:txBody>
      </p:sp>
      <p:sp>
        <p:nvSpPr>
          <p:cNvPr id="26" name="Text 24"/>
          <p:cNvSpPr/>
          <p:nvPr/>
        </p:nvSpPr>
        <p:spPr>
          <a:xfrm>
            <a:off x="29260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66,1% PDM  |  Bamako–Ouagadougou</a:t>
            </a:r>
            <a:endParaRPr lang="en-US" sz="1000" dirty="0"/>
          </a:p>
        </p:txBody>
      </p:sp>
      <p:sp>
        <p:nvSpPr>
          <p:cNvPr id="27" name="Shape 25"/>
          <p:cNvSpPr/>
          <p:nvPr/>
        </p:nvSpPr>
        <p:spPr>
          <a:xfrm>
            <a:off x="4160520" y="3063240"/>
            <a:ext cx="3840480" cy="1828800"/>
          </a:xfrm>
          <a:prstGeom prst="rect">
            <a:avLst/>
          </a:prstGeom>
          <a:solidFill>
            <a:srgbClr val="F0F2F5"/>
          </a:solidFill>
          <a:ln w="6350">
            <a:solidFill>
              <a:srgbClr val="DDE0E4"/>
            </a:solidFill>
            <a:prstDash val="solid"/>
          </a:ln>
        </p:spPr>
      </p:sp>
      <p:sp>
        <p:nvSpPr>
          <p:cNvPr id="28" name="Shape 26"/>
          <p:cNvSpPr/>
          <p:nvPr/>
        </p:nvSpPr>
        <p:spPr>
          <a:xfrm>
            <a:off x="4270248" y="3200400"/>
            <a:ext cx="502920" cy="502920"/>
          </a:xfrm>
          <a:prstGeom prst="rect">
            <a:avLst/>
          </a:prstGeom>
          <a:solidFill>
            <a:srgbClr val="0E7490"/>
          </a:solidFill>
          <a:ln/>
        </p:spPr>
      </p:sp>
      <p:sp>
        <p:nvSpPr>
          <p:cNvPr id="29" name="Text 27"/>
          <p:cNvSpPr/>
          <p:nvPr/>
        </p:nvSpPr>
        <p:spPr>
          <a:xfrm>
            <a:off x="427024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0" name="Text 28"/>
          <p:cNvSpPr/>
          <p:nvPr/>
        </p:nvSpPr>
        <p:spPr>
          <a:xfrm>
            <a:off x="427024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Aérien Import</a:t>
            </a:r>
            <a:endParaRPr lang="en-US" sz="1200" dirty="0"/>
          </a:p>
        </p:txBody>
      </p:sp>
      <p:sp>
        <p:nvSpPr>
          <p:cNvPr id="31" name="Text 29"/>
          <p:cNvSpPr/>
          <p:nvPr/>
        </p:nvSpPr>
        <p:spPr>
          <a:xfrm>
            <a:off x="427024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 ABSOLU – 20,8% PDM  |  Croissance forte Jan→Mai</a:t>
            </a:r>
            <a:endParaRPr lang="en-US" sz="1000" dirty="0"/>
          </a:p>
        </p:txBody>
      </p:sp>
      <p:sp>
        <p:nvSpPr>
          <p:cNvPr id="32" name="Shape 30"/>
          <p:cNvSpPr/>
          <p:nvPr/>
        </p:nvSpPr>
        <p:spPr>
          <a:xfrm>
            <a:off x="8138160" y="3063240"/>
            <a:ext cx="3840480" cy="1828800"/>
          </a:xfrm>
          <a:prstGeom prst="rect">
            <a:avLst/>
          </a:prstGeom>
          <a:solidFill>
            <a:srgbClr val="F0F2F5"/>
          </a:solidFill>
          <a:ln w="6350">
            <a:solidFill>
              <a:srgbClr val="DDE0E4"/>
            </a:solidFill>
            <a:prstDash val="solid"/>
          </a:ln>
        </p:spPr>
      </p:sp>
      <p:sp>
        <p:nvSpPr>
          <p:cNvPr id="33" name="Shape 31"/>
          <p:cNvSpPr/>
          <p:nvPr/>
        </p:nvSpPr>
        <p:spPr>
          <a:xfrm>
            <a:off x="8247888" y="3200400"/>
            <a:ext cx="502920" cy="502920"/>
          </a:xfrm>
          <a:prstGeom prst="rect">
            <a:avLst/>
          </a:prstGeom>
          <a:solidFill>
            <a:srgbClr val="8B6914"/>
          </a:solidFill>
          <a:ln/>
        </p:spPr>
      </p:sp>
      <p:sp>
        <p:nvSpPr>
          <p:cNvPr id="34" name="Text 32"/>
          <p:cNvSpPr/>
          <p:nvPr/>
        </p:nvSpPr>
        <p:spPr>
          <a:xfrm>
            <a:off x="824788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5" name="Text 33"/>
          <p:cNvSpPr/>
          <p:nvPr/>
        </p:nvSpPr>
        <p:spPr>
          <a:xfrm>
            <a:off x="824788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Synthèses</a:t>
            </a:r>
            <a:endParaRPr lang="en-US" sz="1200" dirty="0"/>
          </a:p>
        </p:txBody>
      </p:sp>
      <p:sp>
        <p:nvSpPr>
          <p:cNvPr id="36" name="Text 34"/>
          <p:cNvSpPr/>
          <p:nvPr/>
        </p:nvSpPr>
        <p:spPr>
          <a:xfrm>
            <a:off x="8247888" y="4233672"/>
            <a:ext cx="3611880" cy="502920"/>
          </a:xfrm>
          <a:prstGeom prst="rect">
            <a:avLst/>
          </a:prstGeom>
          <a:noFill/>
          <a:ln/>
        </p:spPr>
        <p:txBody>
          <a:bodyPr wrap="square"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01</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IMPORT MARITIME (TIM)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193 989 TEU qualifiés  |  PDM AGL : 7,8%  |  Leader #1</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193 989</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15 133</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7,8 %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Leader</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STRACOTRANS</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E05A00"/>
                </a:solidFill>
                <a:latin typeface="Calibri" pitchFamily="34" charset="0"/>
                <a:ea typeface="Calibri" pitchFamily="34" charset="-122"/>
                <a:cs typeface="Calibri" pitchFamily="34" charset="-120"/>
              </a:rPr>
              <a:t>+558</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CUMUL PDM TOP 4</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29,1 %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AGL+STRAC+TGR+GTC</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TIM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TIM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00077"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8.3%</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078377"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6.9%</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259106"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7.5%</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560320"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8.5%</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2349470" cy="201168"/>
          </a:xfrm>
          <a:prstGeom prst="rect">
            <a:avLst/>
          </a:prstGeom>
          <a:solidFill>
            <a:srgbClr val="1A7C4F"/>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7.8%</a:t>
            </a:r>
            <a:endParaRPr lang="en-US" sz="12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PDM réelle (qualifiée) : 7,8% vs 7,3% brut. L'exclusion du Non Apuré révèle la vraie position AGL. Avance sur STRACOTRANS : seulement +558 TEU — position à consolider en urgence.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ANALYSE CONCURRENTIELLE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TIM (hors Non Apuré, SIR CI, SMB)</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15 133</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7,8 %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STRACOTRANS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14 575</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TGR (Transit Général Rapide)</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13 663</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7,0 %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GENERAL TRANSIT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12 028</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DJAM DKS TRANSIT</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10 862</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 CI</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10 203</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5,3 %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PROFESIONNEL TRANSIT</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9 479</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 TRANSIT CI</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6 137</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SDMA</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5 680</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SAS TRANSIT</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5 274</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2,7 %</a:t>
            </a:r>
            <a:endParaRPr lang="en-US" sz="900" dirty="0"/>
          </a:p>
        </p:txBody>
      </p:sp>
      <p:sp>
        <p:nvSpPr>
          <p:cNvPr id="63" name="Shape 61"/>
          <p:cNvSpPr/>
          <p:nvPr/>
        </p:nvSpPr>
        <p:spPr>
          <a:xfrm>
            <a:off x="137160" y="4983480"/>
            <a:ext cx="6217920" cy="685800"/>
          </a:xfrm>
          <a:prstGeom prst="rect">
            <a:avLst/>
          </a:prstGeom>
          <a:solidFill>
            <a:srgbClr val="FFFBEC"/>
          </a:solidFill>
          <a:ln w="6350">
            <a:solidFill>
              <a:srgbClr val="E5C97A"/>
            </a:solidFill>
            <a:prstDash val="solid"/>
          </a:ln>
        </p:spPr>
      </p:sp>
      <p:sp>
        <p:nvSpPr>
          <p:cNvPr id="64" name="Text 62"/>
          <p:cNvSpPr/>
          <p:nvPr/>
        </p:nvSpPr>
        <p:spPr>
          <a:xfrm>
            <a:off x="228600" y="5056632"/>
            <a:ext cx="603504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TIM : Leader de justesse (+558 TEU sur STRACOTRANS). Forces : Mat. Miniers (74% PDM), Médicaments (50%), PVC (32%).</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segment – TIM</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29968"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1 936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2 881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77824"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5 478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493776" cy="164592"/>
          </a:xfrm>
          <a:prstGeom prst="rect">
            <a:avLst/>
          </a:prstGeom>
          <a:solidFill>
            <a:srgbClr val="E05A00"/>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PAPIER &amp; DÉRIVÉS</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5 024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411480" cy="164592"/>
          </a:xfrm>
          <a:prstGeom prst="rect">
            <a:avLst/>
          </a:prstGeom>
          <a:solidFill>
            <a:srgbClr val="E05A00"/>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15%</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LAIT EN POUDRE</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1 121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384048" cy="164592"/>
          </a:xfrm>
          <a:prstGeom prst="rect">
            <a:avLst/>
          </a:prstGeom>
          <a:solidFill>
            <a:srgbClr val="E05A00"/>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8 951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329184"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4 781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301752" cy="164592"/>
          </a:xfrm>
          <a:prstGeom prst="rect">
            <a:avLst/>
          </a:prstGeom>
          <a:solidFill>
            <a:srgbClr val="E05A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11%</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PRODUITS MER CONGELÉ</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22 915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9 586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VIANDES CONGELÉES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9 470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TIM (Destinataires,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Client (Destinataire)</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1 531</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10,1%</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SITAB CI</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876</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Cigares/Cigarettes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SCCI (PVC Compoundage CI)</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790</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PVC Résine</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ALLIAD CI</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687</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Polyéthylène</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SOCIFAD</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480</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Articles Divers</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STE PROD ALIM CONGELÉ CI</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418</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 Mer Congelé</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SONACO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417</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Cigarettes</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UBIPHARM CÔTE D'IVOIRE</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399</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SOLIBRA</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373</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Boissons</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STE TRANSFO INDUS CI</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363</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Emballages</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a:t>
            </a:r>
            <a:endParaRPr lang="en-US" sz="900" dirty="0"/>
          </a:p>
        </p:txBody>
      </p:sp>
      <p:sp>
        <p:nvSpPr>
          <p:cNvPr id="63" name="Shape 61"/>
          <p:cNvSpPr/>
          <p:nvPr/>
        </p:nvSpPr>
        <p:spPr>
          <a:xfrm>
            <a:off x="137160" y="4892040"/>
            <a:ext cx="6400800" cy="868680"/>
          </a:xfrm>
          <a:prstGeom prst="rect">
            <a:avLst/>
          </a:prstGeom>
          <a:solidFill>
            <a:srgbClr val="FFFBEC"/>
          </a:solidFill>
          <a:ln w="6350">
            <a:solidFill>
              <a:srgbClr val="E5C97A"/>
            </a:solidFill>
            <a:prstDash val="solid"/>
          </a:ln>
        </p:spPr>
      </p:sp>
      <p:sp>
        <p:nvSpPr>
          <p:cNvPr id="64" name="Text 62"/>
          <p:cNvSpPr/>
          <p:nvPr/>
        </p:nvSpPr>
        <p:spPr>
          <a:xfrm>
            <a:off x="228600" y="4965192"/>
            <a:ext cx="621792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Concentration : K1 Mining seul = 10,1% du volume AGL TIM. Risque client unique.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Opportunités cross-sell : SITAB (TIM+AER), UBIPHARM (TIM+AER+HINT IMP), SOLIBRA = clients multi-métiers à développer.</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marchandises AGL – TIM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(rangs 11–15)  |  Nouvelles marchandises captées  |  Nouveaux destinataires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TIM (rangs 11–15)</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45161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08254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357987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Text 11"/>
          <p:cNvSpPr/>
          <p:nvPr/>
        </p:nvSpPr>
        <p:spPr>
          <a:xfrm>
            <a:off x="507720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4" name="Shape 12"/>
          <p:cNvSpPr/>
          <p:nvPr/>
        </p:nvSpPr>
        <p:spPr>
          <a:xfrm>
            <a:off x="137160" y="1627632"/>
            <a:ext cx="6400800" cy="256032"/>
          </a:xfrm>
          <a:prstGeom prst="rect">
            <a:avLst/>
          </a:prstGeom>
          <a:solidFill>
            <a:srgbClr val="FFFFFF"/>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a:t>
            </a:r>
            <a:endParaRPr lang="en-US" sz="900" dirty="0"/>
          </a:p>
        </p:txBody>
      </p:sp>
      <p:sp>
        <p:nvSpPr>
          <p:cNvPr id="16" name="Text 14"/>
          <p:cNvSpPr/>
          <p:nvPr/>
        </p:nvSpPr>
        <p:spPr>
          <a:xfrm>
            <a:off x="585216" y="1664208"/>
            <a:ext cx="145161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ATLANTIQUE TRANSIT CI</a:t>
            </a:r>
            <a:endParaRPr lang="en-US" sz="900" dirty="0"/>
          </a:p>
        </p:txBody>
      </p:sp>
      <p:sp>
        <p:nvSpPr>
          <p:cNvPr id="17" name="Text 15"/>
          <p:cNvSpPr/>
          <p:nvPr/>
        </p:nvSpPr>
        <p:spPr>
          <a:xfrm>
            <a:off x="208254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3 820</a:t>
            </a:r>
            <a:endParaRPr lang="en-US" sz="900" dirty="0"/>
          </a:p>
        </p:txBody>
      </p:sp>
      <p:sp>
        <p:nvSpPr>
          <p:cNvPr id="18" name="Text 16"/>
          <p:cNvSpPr/>
          <p:nvPr/>
        </p:nvSpPr>
        <p:spPr>
          <a:xfrm>
            <a:off x="357987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2,0 %</a:t>
            </a:r>
            <a:endParaRPr lang="en-US" sz="900" dirty="0"/>
          </a:p>
        </p:txBody>
      </p:sp>
      <p:sp>
        <p:nvSpPr>
          <p:cNvPr id="19" name="Text 17"/>
          <p:cNvSpPr/>
          <p:nvPr/>
        </p:nvSpPr>
        <p:spPr>
          <a:xfrm>
            <a:off x="507720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Emball. / Plastiques</a:t>
            </a:r>
            <a:endParaRPr lang="en-US" sz="900" dirty="0"/>
          </a:p>
        </p:txBody>
      </p:sp>
      <p:sp>
        <p:nvSpPr>
          <p:cNvPr id="20" name="Shape 18"/>
          <p:cNvSpPr/>
          <p:nvPr/>
        </p:nvSpPr>
        <p:spPr>
          <a:xfrm>
            <a:off x="137160" y="1883664"/>
            <a:ext cx="640080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585216" y="1920240"/>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WESTAFRICA LOG. CI</a:t>
            </a:r>
            <a:endParaRPr lang="en-US" sz="900" dirty="0"/>
          </a:p>
        </p:txBody>
      </p:sp>
      <p:sp>
        <p:nvSpPr>
          <p:cNvPr id="23" name="Text 21"/>
          <p:cNvSpPr/>
          <p:nvPr/>
        </p:nvSpPr>
        <p:spPr>
          <a:xfrm>
            <a:off x="208254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3 410</a:t>
            </a:r>
            <a:endParaRPr lang="en-US" sz="900" dirty="0"/>
          </a:p>
        </p:txBody>
      </p:sp>
      <p:sp>
        <p:nvSpPr>
          <p:cNvPr id="24" name="Text 22"/>
          <p:cNvSpPr/>
          <p:nvPr/>
        </p:nvSpPr>
        <p:spPr>
          <a:xfrm>
            <a:off x="357987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1,8 %</a:t>
            </a:r>
            <a:endParaRPr lang="en-US" sz="900" dirty="0"/>
          </a:p>
        </p:txBody>
      </p:sp>
      <p:sp>
        <p:nvSpPr>
          <p:cNvPr id="25" name="Text 23"/>
          <p:cNvSpPr/>
          <p:nvPr/>
        </p:nvSpPr>
        <p:spPr>
          <a:xfrm>
            <a:off x="507720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26" name="Shape 24"/>
          <p:cNvSpPr/>
          <p:nvPr/>
        </p:nvSpPr>
        <p:spPr>
          <a:xfrm>
            <a:off x="137160" y="2139696"/>
            <a:ext cx="640080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28" name="Text 26"/>
          <p:cNvSpPr/>
          <p:nvPr/>
        </p:nvSpPr>
        <p:spPr>
          <a:xfrm>
            <a:off x="585216" y="2176272"/>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TRANSIT RAPID</a:t>
            </a:r>
            <a:endParaRPr lang="en-US" sz="900" dirty="0"/>
          </a:p>
        </p:txBody>
      </p:sp>
      <p:sp>
        <p:nvSpPr>
          <p:cNvPr id="29" name="Text 27"/>
          <p:cNvSpPr/>
          <p:nvPr/>
        </p:nvSpPr>
        <p:spPr>
          <a:xfrm>
            <a:off x="208254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3 180</a:t>
            </a:r>
            <a:endParaRPr lang="en-US" sz="900" dirty="0"/>
          </a:p>
        </p:txBody>
      </p:sp>
      <p:sp>
        <p:nvSpPr>
          <p:cNvPr id="30" name="Text 28"/>
          <p:cNvSpPr/>
          <p:nvPr/>
        </p:nvSpPr>
        <p:spPr>
          <a:xfrm>
            <a:off x="357987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a:t>
            </a:r>
            <a:endParaRPr lang="en-US" sz="900" dirty="0"/>
          </a:p>
        </p:txBody>
      </p:sp>
      <p:sp>
        <p:nvSpPr>
          <p:cNvPr id="31" name="Text 29"/>
          <p:cNvSpPr/>
          <p:nvPr/>
        </p:nvSpPr>
        <p:spPr>
          <a:xfrm>
            <a:off x="507720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Chimie / Pharma</a:t>
            </a:r>
            <a:endParaRPr lang="en-US" sz="900" dirty="0"/>
          </a:p>
        </p:txBody>
      </p:sp>
      <p:sp>
        <p:nvSpPr>
          <p:cNvPr id="32" name="Shape 30"/>
          <p:cNvSpPr/>
          <p:nvPr/>
        </p:nvSpPr>
        <p:spPr>
          <a:xfrm>
            <a:off x="137160" y="2395728"/>
            <a:ext cx="6400800" cy="256032"/>
          </a:xfrm>
          <a:prstGeom prst="rect">
            <a:avLst/>
          </a:prstGeom>
          <a:solidFill>
            <a:srgbClr val="FFF9EC"/>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#14</a:t>
            </a:r>
            <a:endParaRPr lang="en-US" sz="900" dirty="0"/>
          </a:p>
        </p:txBody>
      </p:sp>
      <p:sp>
        <p:nvSpPr>
          <p:cNvPr id="34" name="Text 32"/>
          <p:cNvSpPr/>
          <p:nvPr/>
        </p:nvSpPr>
        <p:spPr>
          <a:xfrm>
            <a:off x="585216" y="2432304"/>
            <a:ext cx="145161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CEVA LOGISTICS CI</a:t>
            </a:r>
            <a:endParaRPr lang="en-US" sz="900" dirty="0"/>
          </a:p>
        </p:txBody>
      </p:sp>
      <p:sp>
        <p:nvSpPr>
          <p:cNvPr id="35" name="Text 33"/>
          <p:cNvSpPr/>
          <p:nvPr/>
        </p:nvSpPr>
        <p:spPr>
          <a:xfrm>
            <a:off x="2082546" y="2432304"/>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2 950</a:t>
            </a:r>
            <a:endParaRPr lang="en-US" sz="900" dirty="0"/>
          </a:p>
        </p:txBody>
      </p:sp>
      <p:sp>
        <p:nvSpPr>
          <p:cNvPr id="36" name="Text 34"/>
          <p:cNvSpPr/>
          <p:nvPr/>
        </p:nvSpPr>
        <p:spPr>
          <a:xfrm>
            <a:off x="3579876" y="2432304"/>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1,5 %</a:t>
            </a:r>
            <a:endParaRPr lang="en-US" sz="900" dirty="0"/>
          </a:p>
        </p:txBody>
      </p:sp>
      <p:sp>
        <p:nvSpPr>
          <p:cNvPr id="37" name="Text 35"/>
          <p:cNvSpPr/>
          <p:nvPr/>
        </p:nvSpPr>
        <p:spPr>
          <a:xfrm>
            <a:off x="5077206" y="2432304"/>
            <a:ext cx="145161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Multi-segments</a:t>
            </a:r>
            <a:endParaRPr lang="en-US" sz="900" dirty="0"/>
          </a:p>
        </p:txBody>
      </p:sp>
      <p:sp>
        <p:nvSpPr>
          <p:cNvPr id="38" name="Shape 36"/>
          <p:cNvSpPr/>
          <p:nvPr/>
        </p:nvSpPr>
        <p:spPr>
          <a:xfrm>
            <a:off x="137160" y="2651760"/>
            <a:ext cx="6400800" cy="256032"/>
          </a:xfrm>
          <a:prstGeom prst="rect">
            <a:avLst/>
          </a:prstGeom>
          <a:solidFill>
            <a:srgbClr val="FFFFFF"/>
          </a:solidFill>
          <a:ln w="3810">
            <a:solidFill>
              <a:srgbClr val="E5E7EB"/>
            </a:solidFill>
            <a:prstDash val="solid"/>
          </a:ln>
        </p:spPr>
      </p:sp>
      <p:sp>
        <p:nvSpPr>
          <p:cNvPr id="39" name="Text 3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a:t>
            </a:r>
            <a:endParaRPr lang="en-US" sz="900" dirty="0"/>
          </a:p>
        </p:txBody>
      </p:sp>
      <p:sp>
        <p:nvSpPr>
          <p:cNvPr id="40" name="Text 38"/>
          <p:cNvSpPr/>
          <p:nvPr/>
        </p:nvSpPr>
        <p:spPr>
          <a:xfrm>
            <a:off x="585216" y="2688336"/>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SOCOPHAR TRANSIT</a:t>
            </a:r>
            <a:endParaRPr lang="en-US" sz="900" dirty="0"/>
          </a:p>
        </p:txBody>
      </p:sp>
      <p:sp>
        <p:nvSpPr>
          <p:cNvPr id="41" name="Text 39"/>
          <p:cNvSpPr/>
          <p:nvPr/>
        </p:nvSpPr>
        <p:spPr>
          <a:xfrm>
            <a:off x="208254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2 640</a:t>
            </a:r>
            <a:endParaRPr lang="en-US" sz="900" dirty="0"/>
          </a:p>
        </p:txBody>
      </p:sp>
      <p:sp>
        <p:nvSpPr>
          <p:cNvPr id="42" name="Text 40"/>
          <p:cNvSpPr/>
          <p:nvPr/>
        </p:nvSpPr>
        <p:spPr>
          <a:xfrm>
            <a:off x="357987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a:t>
            </a:r>
            <a:endParaRPr lang="en-US" sz="900" dirty="0"/>
          </a:p>
        </p:txBody>
      </p:sp>
      <p:sp>
        <p:nvSpPr>
          <p:cNvPr id="43" name="Text 41"/>
          <p:cNvSpPr/>
          <p:nvPr/>
        </p:nvSpPr>
        <p:spPr>
          <a:xfrm>
            <a:off x="507720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44" name="Text 42"/>
          <p:cNvSpPr/>
          <p:nvPr/>
        </p:nvSpPr>
        <p:spPr>
          <a:xfrm>
            <a:off x="228600" y="281635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TIM (1er flux 2026)</a:t>
            </a:r>
            <a:endParaRPr lang="en-US" sz="1100" dirty="0"/>
          </a:p>
        </p:txBody>
      </p:sp>
      <p:sp>
        <p:nvSpPr>
          <p:cNvPr id="45" name="Shape 43"/>
          <p:cNvSpPr/>
          <p:nvPr/>
        </p:nvSpPr>
        <p:spPr>
          <a:xfrm>
            <a:off x="137160" y="3090672"/>
            <a:ext cx="6400800" cy="256032"/>
          </a:xfrm>
          <a:prstGeom prst="rect">
            <a:avLst/>
          </a:prstGeom>
          <a:solidFill>
            <a:srgbClr val="0D2243"/>
          </a:solidFill>
          <a:ln/>
        </p:spPr>
      </p:sp>
      <p:sp>
        <p:nvSpPr>
          <p:cNvPr id="46" name="Text 44"/>
          <p:cNvSpPr/>
          <p:nvPr/>
        </p:nvSpPr>
        <p:spPr>
          <a:xfrm>
            <a:off x="173736" y="3127248"/>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47" name="Text 45"/>
          <p:cNvSpPr/>
          <p:nvPr/>
        </p:nvSpPr>
        <p:spPr>
          <a:xfrm>
            <a:off x="585216" y="3127248"/>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48" name="Text 46"/>
          <p:cNvSpPr/>
          <p:nvPr/>
        </p:nvSpPr>
        <p:spPr>
          <a:xfrm>
            <a:off x="2581656" y="3127248"/>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Secteur</a:t>
            </a:r>
            <a:endParaRPr lang="en-US" sz="900" dirty="0"/>
          </a:p>
        </p:txBody>
      </p:sp>
      <p:sp>
        <p:nvSpPr>
          <p:cNvPr id="49" name="Text 47"/>
          <p:cNvSpPr/>
          <p:nvPr/>
        </p:nvSpPr>
        <p:spPr>
          <a:xfrm>
            <a:off x="4578096" y="3127248"/>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50" name="Shape 48"/>
          <p:cNvSpPr/>
          <p:nvPr/>
        </p:nvSpPr>
        <p:spPr>
          <a:xfrm>
            <a:off x="137160" y="3346704"/>
            <a:ext cx="6400800" cy="256032"/>
          </a:xfrm>
          <a:prstGeom prst="rect">
            <a:avLst/>
          </a:prstGeom>
          <a:solidFill>
            <a:srgbClr val="FFF9EC"/>
          </a:solidFill>
          <a:ln w="3810">
            <a:solidFill>
              <a:srgbClr val="E5E7EB"/>
            </a:solidFill>
            <a:prstDash val="solid"/>
          </a:ln>
        </p:spPr>
      </p:sp>
      <p:sp>
        <p:nvSpPr>
          <p:cNvPr id="51" name="Text 49"/>
          <p:cNvSpPr/>
          <p:nvPr/>
        </p:nvSpPr>
        <p:spPr>
          <a:xfrm>
            <a:off x="173736" y="3383280"/>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ORANGE CI (équipements)</a:t>
            </a:r>
            <a:endParaRPr lang="en-US" sz="900" dirty="0"/>
          </a:p>
        </p:txBody>
      </p:sp>
      <p:sp>
        <p:nvSpPr>
          <p:cNvPr id="52" name="Text 50"/>
          <p:cNvSpPr/>
          <p:nvPr/>
        </p:nvSpPr>
        <p:spPr>
          <a:xfrm>
            <a:off x="585216" y="3383280"/>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680</a:t>
            </a:r>
            <a:endParaRPr lang="en-US" sz="900" dirty="0"/>
          </a:p>
        </p:txBody>
      </p:sp>
      <p:sp>
        <p:nvSpPr>
          <p:cNvPr id="53" name="Text 51"/>
          <p:cNvSpPr/>
          <p:nvPr/>
        </p:nvSpPr>
        <p:spPr>
          <a:xfrm>
            <a:off x="2581656" y="338328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54" name="Text 52"/>
          <p:cNvSpPr/>
          <p:nvPr/>
        </p:nvSpPr>
        <p:spPr>
          <a:xfrm>
            <a:off x="4578096" y="3383280"/>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55" name="Shape 53"/>
          <p:cNvSpPr/>
          <p:nvPr/>
        </p:nvSpPr>
        <p:spPr>
          <a:xfrm>
            <a:off x="137160" y="3602736"/>
            <a:ext cx="6400800" cy="256032"/>
          </a:xfrm>
          <a:prstGeom prst="rect">
            <a:avLst/>
          </a:prstGeom>
          <a:solidFill>
            <a:srgbClr val="F8F9FA"/>
          </a:solidFill>
          <a:ln w="3810">
            <a:solidFill>
              <a:srgbClr val="E5E7EB"/>
            </a:solidFill>
            <a:prstDash val="solid"/>
          </a:ln>
        </p:spPr>
      </p:sp>
      <p:sp>
        <p:nvSpPr>
          <p:cNvPr id="56" name="Text 54"/>
          <p:cNvSpPr/>
          <p:nvPr/>
        </p:nvSpPr>
        <p:spPr>
          <a:xfrm>
            <a:off x="173736" y="363931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NESTLÉ CI</a:t>
            </a:r>
            <a:endParaRPr lang="en-US" sz="900" dirty="0"/>
          </a:p>
        </p:txBody>
      </p:sp>
      <p:sp>
        <p:nvSpPr>
          <p:cNvPr id="57" name="Text 55"/>
          <p:cNvSpPr/>
          <p:nvPr/>
        </p:nvSpPr>
        <p:spPr>
          <a:xfrm>
            <a:off x="585216" y="363931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420</a:t>
            </a:r>
            <a:endParaRPr lang="en-US" sz="900" dirty="0"/>
          </a:p>
        </p:txBody>
      </p:sp>
      <p:sp>
        <p:nvSpPr>
          <p:cNvPr id="58" name="Text 56"/>
          <p:cNvSpPr/>
          <p:nvPr/>
        </p:nvSpPr>
        <p:spPr>
          <a:xfrm>
            <a:off x="2581656" y="363931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 industriel</a:t>
            </a:r>
            <a:endParaRPr lang="en-US" sz="900" dirty="0"/>
          </a:p>
        </p:txBody>
      </p:sp>
      <p:sp>
        <p:nvSpPr>
          <p:cNvPr id="59" name="Text 57"/>
          <p:cNvSpPr/>
          <p:nvPr/>
        </p:nvSpPr>
        <p:spPr>
          <a:xfrm>
            <a:off x="4578096" y="363931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60" name="Shape 58"/>
          <p:cNvSpPr/>
          <p:nvPr/>
        </p:nvSpPr>
        <p:spPr>
          <a:xfrm>
            <a:off x="137160" y="3858768"/>
            <a:ext cx="6400800" cy="256032"/>
          </a:xfrm>
          <a:prstGeom prst="rect">
            <a:avLst/>
          </a:prstGeom>
          <a:solidFill>
            <a:srgbClr val="FFFFFF"/>
          </a:solidFill>
          <a:ln w="3810">
            <a:solidFill>
              <a:srgbClr val="E5E7EB"/>
            </a:solidFill>
            <a:prstDash val="solid"/>
          </a:ln>
        </p:spPr>
      </p:sp>
      <p:sp>
        <p:nvSpPr>
          <p:cNvPr id="61" name="Text 59"/>
          <p:cNvSpPr/>
          <p:nvPr/>
        </p:nvSpPr>
        <p:spPr>
          <a:xfrm>
            <a:off x="173736" y="389534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62" name="Text 60"/>
          <p:cNvSpPr/>
          <p:nvPr/>
        </p:nvSpPr>
        <p:spPr>
          <a:xfrm>
            <a:off x="585216" y="389534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380</a:t>
            </a:r>
            <a:endParaRPr lang="en-US" sz="900" dirty="0"/>
          </a:p>
        </p:txBody>
      </p:sp>
      <p:sp>
        <p:nvSpPr>
          <p:cNvPr id="63" name="Text 61"/>
          <p:cNvSpPr/>
          <p:nvPr/>
        </p:nvSpPr>
        <p:spPr>
          <a:xfrm>
            <a:off x="2581656" y="389534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Pétrole</a:t>
            </a:r>
            <a:endParaRPr lang="en-US" sz="900" dirty="0"/>
          </a:p>
        </p:txBody>
      </p:sp>
      <p:sp>
        <p:nvSpPr>
          <p:cNvPr id="64" name="Text 62"/>
          <p:cNvSpPr/>
          <p:nvPr/>
        </p:nvSpPr>
        <p:spPr>
          <a:xfrm>
            <a:off x="4578096" y="389534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65" name="Shape 63"/>
          <p:cNvSpPr/>
          <p:nvPr/>
        </p:nvSpPr>
        <p:spPr>
          <a:xfrm>
            <a:off x="137160" y="4114800"/>
            <a:ext cx="6400800" cy="256032"/>
          </a:xfrm>
          <a:prstGeom prst="rect">
            <a:avLst/>
          </a:prstGeom>
          <a:solidFill>
            <a:srgbClr val="F8F9FA"/>
          </a:solidFill>
          <a:ln w="3810">
            <a:solidFill>
              <a:srgbClr val="E5E7EB"/>
            </a:solidFill>
            <a:prstDash val="solid"/>
          </a:ln>
        </p:spPr>
      </p:sp>
      <p:sp>
        <p:nvSpPr>
          <p:cNvPr id="66" name="Text 64"/>
          <p:cNvSpPr/>
          <p:nvPr/>
        </p:nvSpPr>
        <p:spPr>
          <a:xfrm>
            <a:off x="173736" y="415137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AFRICA RE</a:t>
            </a:r>
            <a:endParaRPr lang="en-US" sz="900" dirty="0"/>
          </a:p>
        </p:txBody>
      </p:sp>
      <p:sp>
        <p:nvSpPr>
          <p:cNvPr id="67" name="Text 65"/>
          <p:cNvSpPr/>
          <p:nvPr/>
        </p:nvSpPr>
        <p:spPr>
          <a:xfrm>
            <a:off x="585216" y="415137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290</a:t>
            </a:r>
            <a:endParaRPr lang="en-US" sz="900" dirty="0"/>
          </a:p>
        </p:txBody>
      </p:sp>
      <p:sp>
        <p:nvSpPr>
          <p:cNvPr id="68" name="Text 66"/>
          <p:cNvSpPr/>
          <p:nvPr/>
        </p:nvSpPr>
        <p:spPr>
          <a:xfrm>
            <a:off x="2581656" y="415137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Services</a:t>
            </a:r>
            <a:endParaRPr lang="en-US" sz="900" dirty="0"/>
          </a:p>
        </p:txBody>
      </p:sp>
      <p:sp>
        <p:nvSpPr>
          <p:cNvPr id="69" name="Text 67"/>
          <p:cNvSpPr/>
          <p:nvPr/>
        </p:nvSpPr>
        <p:spPr>
          <a:xfrm>
            <a:off x="4578096" y="415137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70" name="Shape 68"/>
          <p:cNvSpPr/>
          <p:nvPr/>
        </p:nvSpPr>
        <p:spPr>
          <a:xfrm>
            <a:off x="137160" y="4370832"/>
            <a:ext cx="6400800" cy="256032"/>
          </a:xfrm>
          <a:prstGeom prst="rect">
            <a:avLst/>
          </a:prstGeom>
          <a:solidFill>
            <a:srgbClr val="FFFFFF"/>
          </a:solidFill>
          <a:ln w="3810">
            <a:solidFill>
              <a:srgbClr val="E5E7EB"/>
            </a:solidFill>
            <a:prstDash val="solid"/>
          </a:ln>
        </p:spPr>
      </p:sp>
      <p:sp>
        <p:nvSpPr>
          <p:cNvPr id="71" name="Text 69"/>
          <p:cNvSpPr/>
          <p:nvPr/>
        </p:nvSpPr>
        <p:spPr>
          <a:xfrm>
            <a:off x="173736" y="44074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MTN CI</a:t>
            </a:r>
            <a:endParaRPr lang="en-US" sz="900" dirty="0"/>
          </a:p>
        </p:txBody>
      </p:sp>
      <p:sp>
        <p:nvSpPr>
          <p:cNvPr id="72" name="Text 70"/>
          <p:cNvSpPr/>
          <p:nvPr/>
        </p:nvSpPr>
        <p:spPr>
          <a:xfrm>
            <a:off x="585216" y="440740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245</a:t>
            </a:r>
            <a:endParaRPr lang="en-US" sz="900" dirty="0"/>
          </a:p>
        </p:txBody>
      </p:sp>
      <p:sp>
        <p:nvSpPr>
          <p:cNvPr id="73" name="Text 71"/>
          <p:cNvSpPr/>
          <p:nvPr/>
        </p:nvSpPr>
        <p:spPr>
          <a:xfrm>
            <a:off x="2581656" y="44074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74" name="Text 72"/>
          <p:cNvSpPr/>
          <p:nvPr/>
        </p:nvSpPr>
        <p:spPr>
          <a:xfrm>
            <a:off x="4578096" y="44074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75" name="Text 7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captées par AGL – TIM</a:t>
            </a:r>
            <a:endParaRPr lang="en-US" sz="1100" dirty="0"/>
          </a:p>
        </p:txBody>
      </p:sp>
      <p:sp>
        <p:nvSpPr>
          <p:cNvPr id="76" name="Text 74"/>
          <p:cNvSpPr/>
          <p:nvPr/>
        </p:nvSpPr>
        <p:spPr>
          <a:xfrm>
            <a:off x="667512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TÉLÉCOMMUNICATIONS</a:t>
            </a:r>
            <a:endParaRPr lang="en-US" sz="850" dirty="0"/>
          </a:p>
        </p:txBody>
      </p:sp>
      <p:sp>
        <p:nvSpPr>
          <p:cNvPr id="77" name="Text 75"/>
          <p:cNvSpPr/>
          <p:nvPr/>
        </p:nvSpPr>
        <p:spPr>
          <a:xfrm>
            <a:off x="833932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1 240 TEU</a:t>
            </a:r>
            <a:endParaRPr lang="en-US" sz="850" dirty="0"/>
          </a:p>
        </p:txBody>
      </p:sp>
      <p:sp>
        <p:nvSpPr>
          <p:cNvPr id="78" name="Shape 76"/>
          <p:cNvSpPr/>
          <p:nvPr/>
        </p:nvSpPr>
        <p:spPr>
          <a:xfrm>
            <a:off x="9235440" y="1453896"/>
            <a:ext cx="2743200" cy="164592"/>
          </a:xfrm>
          <a:prstGeom prst="rect">
            <a:avLst/>
          </a:prstGeom>
          <a:solidFill>
            <a:srgbClr val="E5E7EB"/>
          </a:solidFill>
          <a:ln/>
        </p:spPr>
      </p:sp>
      <p:sp>
        <p:nvSpPr>
          <p:cNvPr id="79" name="Shape 77"/>
          <p:cNvSpPr/>
          <p:nvPr/>
        </p:nvSpPr>
        <p:spPr>
          <a:xfrm>
            <a:off x="9235440" y="1453896"/>
            <a:ext cx="246888" cy="164592"/>
          </a:xfrm>
          <a:prstGeom prst="rect">
            <a:avLst/>
          </a:prstGeom>
          <a:solidFill>
            <a:srgbClr val="CC2200"/>
          </a:solidFill>
          <a:ln/>
        </p:spPr>
      </p:sp>
      <p:sp>
        <p:nvSpPr>
          <p:cNvPr id="80" name="Text 78"/>
          <p:cNvSpPr/>
          <p:nvPr/>
        </p:nvSpPr>
        <p:spPr>
          <a:xfrm>
            <a:off x="1202436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81" name="Text 79"/>
          <p:cNvSpPr/>
          <p:nvPr/>
        </p:nvSpPr>
        <p:spPr>
          <a:xfrm>
            <a:off x="667512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HUILES VÉGÉTALES</a:t>
            </a:r>
            <a:endParaRPr lang="en-US" sz="850" dirty="0"/>
          </a:p>
        </p:txBody>
      </p:sp>
      <p:sp>
        <p:nvSpPr>
          <p:cNvPr id="82" name="Text 80"/>
          <p:cNvSpPr/>
          <p:nvPr/>
        </p:nvSpPr>
        <p:spPr>
          <a:xfrm>
            <a:off x="833932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890 TEU</a:t>
            </a:r>
            <a:endParaRPr lang="en-US" sz="850" dirty="0"/>
          </a:p>
        </p:txBody>
      </p:sp>
      <p:sp>
        <p:nvSpPr>
          <p:cNvPr id="83" name="Shape 81"/>
          <p:cNvSpPr/>
          <p:nvPr/>
        </p:nvSpPr>
        <p:spPr>
          <a:xfrm>
            <a:off x="9235440" y="1837944"/>
            <a:ext cx="2743200" cy="164592"/>
          </a:xfrm>
          <a:prstGeom prst="rect">
            <a:avLst/>
          </a:prstGeom>
          <a:solidFill>
            <a:srgbClr val="E5E7EB"/>
          </a:solidFill>
          <a:ln/>
        </p:spPr>
      </p:sp>
      <p:sp>
        <p:nvSpPr>
          <p:cNvPr id="84" name="Shape 82"/>
          <p:cNvSpPr/>
          <p:nvPr/>
        </p:nvSpPr>
        <p:spPr>
          <a:xfrm>
            <a:off x="9235440" y="1837944"/>
            <a:ext cx="164592" cy="164592"/>
          </a:xfrm>
          <a:prstGeom prst="rect">
            <a:avLst/>
          </a:prstGeom>
          <a:solidFill>
            <a:srgbClr val="CC2200"/>
          </a:solidFill>
          <a:ln/>
        </p:spPr>
      </p:sp>
      <p:sp>
        <p:nvSpPr>
          <p:cNvPr id="85" name="Text 83"/>
          <p:cNvSpPr/>
          <p:nvPr/>
        </p:nvSpPr>
        <p:spPr>
          <a:xfrm>
            <a:off x="12024360" y="1801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86" name="Text 84"/>
          <p:cNvSpPr/>
          <p:nvPr/>
        </p:nvSpPr>
        <p:spPr>
          <a:xfrm>
            <a:off x="667512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FERTILISANTS</a:t>
            </a:r>
            <a:endParaRPr lang="en-US" sz="850" dirty="0"/>
          </a:p>
        </p:txBody>
      </p:sp>
      <p:sp>
        <p:nvSpPr>
          <p:cNvPr id="87" name="Text 85"/>
          <p:cNvSpPr/>
          <p:nvPr/>
        </p:nvSpPr>
        <p:spPr>
          <a:xfrm>
            <a:off x="833932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650 TEU</a:t>
            </a:r>
            <a:endParaRPr lang="en-US" sz="850" dirty="0"/>
          </a:p>
        </p:txBody>
      </p:sp>
      <p:sp>
        <p:nvSpPr>
          <p:cNvPr id="88" name="Shape 86"/>
          <p:cNvSpPr/>
          <p:nvPr/>
        </p:nvSpPr>
        <p:spPr>
          <a:xfrm>
            <a:off x="9235440" y="2221992"/>
            <a:ext cx="2743200" cy="164592"/>
          </a:xfrm>
          <a:prstGeom prst="rect">
            <a:avLst/>
          </a:prstGeom>
          <a:solidFill>
            <a:srgbClr val="E5E7EB"/>
          </a:solidFill>
          <a:ln/>
        </p:spPr>
      </p:sp>
      <p:sp>
        <p:nvSpPr>
          <p:cNvPr id="89" name="Shape 87"/>
          <p:cNvSpPr/>
          <p:nvPr/>
        </p:nvSpPr>
        <p:spPr>
          <a:xfrm>
            <a:off x="9235440" y="2221992"/>
            <a:ext cx="109728" cy="164592"/>
          </a:xfrm>
          <a:prstGeom prst="rect">
            <a:avLst/>
          </a:prstGeom>
          <a:solidFill>
            <a:srgbClr val="CC2200"/>
          </a:solidFill>
          <a:ln/>
        </p:spPr>
      </p:sp>
      <p:sp>
        <p:nvSpPr>
          <p:cNvPr id="90" name="Text 88"/>
          <p:cNvSpPr/>
          <p:nvPr/>
        </p:nvSpPr>
        <p:spPr>
          <a:xfrm>
            <a:off x="12024360" y="218541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4%</a:t>
            </a:r>
            <a:endParaRPr lang="en-US" sz="900" dirty="0"/>
          </a:p>
        </p:txBody>
      </p:sp>
      <p:sp>
        <p:nvSpPr>
          <p:cNvPr id="91" name="Text 89"/>
          <p:cNvSpPr/>
          <p:nvPr/>
        </p:nvSpPr>
        <p:spPr>
          <a:xfrm>
            <a:off x="667512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92" name="Text 90"/>
          <p:cNvSpPr/>
          <p:nvPr/>
        </p:nvSpPr>
        <p:spPr>
          <a:xfrm>
            <a:off x="833932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580 TEU</a:t>
            </a:r>
            <a:endParaRPr lang="en-US" sz="850" dirty="0"/>
          </a:p>
        </p:txBody>
      </p:sp>
      <p:sp>
        <p:nvSpPr>
          <p:cNvPr id="93" name="Shape 91"/>
          <p:cNvSpPr/>
          <p:nvPr/>
        </p:nvSpPr>
        <p:spPr>
          <a:xfrm>
            <a:off x="9235440" y="2606040"/>
            <a:ext cx="2743200" cy="164592"/>
          </a:xfrm>
          <a:prstGeom prst="rect">
            <a:avLst/>
          </a:prstGeom>
          <a:solidFill>
            <a:srgbClr val="E5E7EB"/>
          </a:solidFill>
          <a:ln/>
        </p:spPr>
      </p:sp>
      <p:sp>
        <p:nvSpPr>
          <p:cNvPr id="94" name="Shape 92"/>
          <p:cNvSpPr/>
          <p:nvPr/>
        </p:nvSpPr>
        <p:spPr>
          <a:xfrm>
            <a:off x="9235440" y="2606040"/>
            <a:ext cx="82296" cy="164592"/>
          </a:xfrm>
          <a:prstGeom prst="rect">
            <a:avLst/>
          </a:prstGeom>
          <a:solidFill>
            <a:srgbClr val="CC2200"/>
          </a:solidFill>
          <a:ln/>
        </p:spPr>
      </p:sp>
      <p:sp>
        <p:nvSpPr>
          <p:cNvPr id="95" name="Text 93"/>
          <p:cNvSpPr/>
          <p:nvPr/>
        </p:nvSpPr>
        <p:spPr>
          <a:xfrm>
            <a:off x="1202436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3%</a:t>
            </a:r>
            <a:endParaRPr lang="en-US" sz="900" dirty="0"/>
          </a:p>
        </p:txBody>
      </p:sp>
      <p:sp>
        <p:nvSpPr>
          <p:cNvPr id="96" name="Shape 94"/>
          <p:cNvSpPr/>
          <p:nvPr/>
        </p:nvSpPr>
        <p:spPr>
          <a:xfrm>
            <a:off x="6675120" y="3840480"/>
            <a:ext cx="5303520" cy="914400"/>
          </a:xfrm>
          <a:prstGeom prst="rect">
            <a:avLst/>
          </a:prstGeom>
          <a:solidFill>
            <a:srgbClr val="FEF2F2"/>
          </a:solidFill>
          <a:ln w="6350">
            <a:solidFill>
              <a:srgbClr val="E5C97A"/>
            </a:solidFill>
            <a:prstDash val="solid"/>
          </a:ln>
        </p:spPr>
      </p:sp>
      <p:sp>
        <p:nvSpPr>
          <p:cNvPr id="97" name="Text 95"/>
          <p:cNvSpPr/>
          <p:nvPr/>
        </p:nvSpPr>
        <p:spPr>
          <a:xfrm>
            <a:off x="6766560" y="3913632"/>
            <a:ext cx="512064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 CEVA Logistics CI (groupe CMA CGM) entre dans le top 15 TIM en quelques mois — déploiement multi-métiers à surveiller en priorité. Télécoms : 9% PDM dès la 1ère année (effet 5G 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02</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EXPORT MARITIME (TEM)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137 283 TEU  |  PDM AGL : 26,2%  |  #1 incontesté, ×4,7 le second</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137 283</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35 972</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26,2 %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Dominance absolue</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MAERSK</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×4,7</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28 242 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30,3 %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PDM max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TEM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TEM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60320"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30.3%</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129375" cy="201168"/>
          </a:xfrm>
          <a:prstGeom prst="rect">
            <a:avLst/>
          </a:prstGeom>
          <a:solidFill>
            <a:srgbClr val="1A7C4F"/>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25.2%</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433571"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28.8%</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137825"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25.3%</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698430"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20.1%</a:t>
            </a:r>
            <a:endParaRPr lang="en-US" sz="1200" dirty="0"/>
          </a:p>
        </p:txBody>
      </p:sp>
      <p:sp>
        <p:nvSpPr>
          <p:cNvPr id="55" name="Shape 52"/>
          <p:cNvSpPr/>
          <p:nvPr/>
        </p:nvSpPr>
        <p:spPr>
          <a:xfrm>
            <a:off x="6492240" y="5212080"/>
            <a:ext cx="5486400" cy="685800"/>
          </a:xfrm>
          <a:prstGeom prst="rect">
            <a:avLst/>
          </a:prstGeom>
          <a:solidFill>
            <a:srgbClr val="FEF2F2"/>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MAI : PDM chute à 20,1% (–10,2 pts vs Janvier). Marché en recul de –22% (28 586→22 421 TEU). Causes : fin saison cacao, recul cajou. Plan de relance à activer juin–juillet.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SEGMENTS &amp; CONCURRENTS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filière export – TEM</a:t>
            </a:r>
            <a:endParaRPr lang="en-US" sz="1100" dirty="0"/>
          </a:p>
        </p:txBody>
      </p:sp>
      <p:sp>
        <p:nvSpPr>
          <p:cNvPr id="8" name="Text 6"/>
          <p:cNvSpPr/>
          <p:nvPr/>
        </p:nvSpPr>
        <p:spPr>
          <a:xfrm>
            <a:off x="13716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9" name="Text 7"/>
          <p:cNvSpPr/>
          <p:nvPr/>
        </p:nvSpPr>
        <p:spPr>
          <a:xfrm>
            <a:off x="180136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6 908 TEU</a:t>
            </a:r>
            <a:endParaRPr lang="en-US" sz="850" dirty="0"/>
          </a:p>
        </p:txBody>
      </p:sp>
      <p:sp>
        <p:nvSpPr>
          <p:cNvPr id="10" name="Shape 8"/>
          <p:cNvSpPr/>
          <p:nvPr/>
        </p:nvSpPr>
        <p:spPr>
          <a:xfrm>
            <a:off x="2697480" y="1426464"/>
            <a:ext cx="2743200" cy="164592"/>
          </a:xfrm>
          <a:prstGeom prst="rect">
            <a:avLst/>
          </a:prstGeom>
          <a:solidFill>
            <a:srgbClr val="E5E7EB"/>
          </a:solidFill>
          <a:ln/>
        </p:spPr>
      </p:sp>
      <p:sp>
        <p:nvSpPr>
          <p:cNvPr id="11" name="Shape 9"/>
          <p:cNvSpPr/>
          <p:nvPr/>
        </p:nvSpPr>
        <p:spPr>
          <a:xfrm>
            <a:off x="2697480" y="1426464"/>
            <a:ext cx="2029968" cy="164592"/>
          </a:xfrm>
          <a:prstGeom prst="rect">
            <a:avLst/>
          </a:prstGeom>
          <a:solidFill>
            <a:srgbClr val="1A7C4F"/>
          </a:solidFill>
          <a:ln/>
        </p:spPr>
      </p:sp>
      <p:sp>
        <p:nvSpPr>
          <p:cNvPr id="12" name="Text 10"/>
          <p:cNvSpPr/>
          <p:nvPr/>
        </p:nvSpPr>
        <p:spPr>
          <a:xfrm>
            <a:off x="548640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13" name="Text 11"/>
          <p:cNvSpPr/>
          <p:nvPr/>
        </p:nvSpPr>
        <p:spPr>
          <a:xfrm>
            <a:off x="13716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DÉRIVÉS DE CACAO</a:t>
            </a:r>
            <a:endParaRPr lang="en-US" sz="850" dirty="0"/>
          </a:p>
        </p:txBody>
      </p:sp>
      <p:sp>
        <p:nvSpPr>
          <p:cNvPr id="14" name="Text 12"/>
          <p:cNvSpPr/>
          <p:nvPr/>
        </p:nvSpPr>
        <p:spPr>
          <a:xfrm>
            <a:off x="180136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11 411 TEU</a:t>
            </a:r>
            <a:endParaRPr lang="en-US" sz="850" dirty="0"/>
          </a:p>
        </p:txBody>
      </p:sp>
      <p:sp>
        <p:nvSpPr>
          <p:cNvPr id="15" name="Shape 13"/>
          <p:cNvSpPr/>
          <p:nvPr/>
        </p:nvSpPr>
        <p:spPr>
          <a:xfrm>
            <a:off x="2697480" y="1810512"/>
            <a:ext cx="2743200" cy="164592"/>
          </a:xfrm>
          <a:prstGeom prst="rect">
            <a:avLst/>
          </a:prstGeom>
          <a:solidFill>
            <a:srgbClr val="E5E7EB"/>
          </a:solidFill>
          <a:ln/>
        </p:spPr>
      </p:sp>
      <p:sp>
        <p:nvSpPr>
          <p:cNvPr id="16" name="Shape 14"/>
          <p:cNvSpPr/>
          <p:nvPr/>
        </p:nvSpPr>
        <p:spPr>
          <a:xfrm>
            <a:off x="2697480" y="1810512"/>
            <a:ext cx="1344168" cy="164592"/>
          </a:xfrm>
          <a:prstGeom prst="rect">
            <a:avLst/>
          </a:prstGeom>
          <a:solidFill>
            <a:srgbClr val="2563A8"/>
          </a:solidFill>
          <a:ln/>
        </p:spPr>
      </p:sp>
      <p:sp>
        <p:nvSpPr>
          <p:cNvPr id="17" name="Text 15"/>
          <p:cNvSpPr/>
          <p:nvPr/>
        </p:nvSpPr>
        <p:spPr>
          <a:xfrm>
            <a:off x="5486400" y="1773936"/>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49%</a:t>
            </a:r>
            <a:endParaRPr lang="en-US" sz="900" dirty="0"/>
          </a:p>
        </p:txBody>
      </p:sp>
      <p:sp>
        <p:nvSpPr>
          <p:cNvPr id="18" name="Text 16"/>
          <p:cNvSpPr/>
          <p:nvPr/>
        </p:nvSpPr>
        <p:spPr>
          <a:xfrm>
            <a:off x="13716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9" name="Text 17"/>
          <p:cNvSpPr/>
          <p:nvPr/>
        </p:nvSpPr>
        <p:spPr>
          <a:xfrm>
            <a:off x="180136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46 407 TEU</a:t>
            </a:r>
            <a:endParaRPr lang="en-US" sz="850" dirty="0"/>
          </a:p>
        </p:txBody>
      </p:sp>
      <p:sp>
        <p:nvSpPr>
          <p:cNvPr id="20" name="Shape 18"/>
          <p:cNvSpPr/>
          <p:nvPr/>
        </p:nvSpPr>
        <p:spPr>
          <a:xfrm>
            <a:off x="2697480" y="2194560"/>
            <a:ext cx="2743200" cy="164592"/>
          </a:xfrm>
          <a:prstGeom prst="rect">
            <a:avLst/>
          </a:prstGeom>
          <a:solidFill>
            <a:srgbClr val="E5E7EB"/>
          </a:solidFill>
          <a:ln/>
        </p:spPr>
      </p:sp>
      <p:sp>
        <p:nvSpPr>
          <p:cNvPr id="21" name="Shape 19"/>
          <p:cNvSpPr/>
          <p:nvPr/>
        </p:nvSpPr>
        <p:spPr>
          <a:xfrm>
            <a:off x="2697480" y="2194560"/>
            <a:ext cx="877824" cy="164592"/>
          </a:xfrm>
          <a:prstGeom prst="rect">
            <a:avLst/>
          </a:prstGeom>
          <a:solidFill>
            <a:srgbClr val="2563A8"/>
          </a:solidFill>
          <a:ln/>
        </p:spPr>
      </p:sp>
      <p:sp>
        <p:nvSpPr>
          <p:cNvPr id="22" name="Text 20"/>
          <p:cNvSpPr/>
          <p:nvPr/>
        </p:nvSpPr>
        <p:spPr>
          <a:xfrm>
            <a:off x="548640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23" name="Text 21"/>
          <p:cNvSpPr/>
          <p:nvPr/>
        </p:nvSpPr>
        <p:spPr>
          <a:xfrm>
            <a:off x="13716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4" name="Text 22"/>
          <p:cNvSpPr/>
          <p:nvPr/>
        </p:nvSpPr>
        <p:spPr>
          <a:xfrm>
            <a:off x="180136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4 179 TEU</a:t>
            </a:r>
            <a:endParaRPr lang="en-US" sz="850" dirty="0"/>
          </a:p>
        </p:txBody>
      </p:sp>
      <p:sp>
        <p:nvSpPr>
          <p:cNvPr id="25" name="Shape 23"/>
          <p:cNvSpPr/>
          <p:nvPr/>
        </p:nvSpPr>
        <p:spPr>
          <a:xfrm>
            <a:off x="2697480" y="2578608"/>
            <a:ext cx="2743200" cy="164592"/>
          </a:xfrm>
          <a:prstGeom prst="rect">
            <a:avLst/>
          </a:prstGeom>
          <a:solidFill>
            <a:srgbClr val="E5E7EB"/>
          </a:solidFill>
          <a:ln/>
        </p:spPr>
      </p:sp>
      <p:sp>
        <p:nvSpPr>
          <p:cNvPr id="26" name="Shape 24"/>
          <p:cNvSpPr/>
          <p:nvPr/>
        </p:nvSpPr>
        <p:spPr>
          <a:xfrm>
            <a:off x="2697480" y="2578608"/>
            <a:ext cx="795528" cy="164592"/>
          </a:xfrm>
          <a:prstGeom prst="rect">
            <a:avLst/>
          </a:prstGeom>
          <a:solidFill>
            <a:srgbClr val="2563A8"/>
          </a:solidFill>
          <a:ln/>
        </p:spPr>
      </p:sp>
      <p:sp>
        <p:nvSpPr>
          <p:cNvPr id="27" name="Text 25"/>
          <p:cNvSpPr/>
          <p:nvPr/>
        </p:nvSpPr>
        <p:spPr>
          <a:xfrm>
            <a:off x="548640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29%</a:t>
            </a:r>
            <a:endParaRPr lang="en-US" sz="900" dirty="0"/>
          </a:p>
        </p:txBody>
      </p:sp>
      <p:sp>
        <p:nvSpPr>
          <p:cNvPr id="28" name="Text 26"/>
          <p:cNvSpPr/>
          <p:nvPr/>
        </p:nvSpPr>
        <p:spPr>
          <a:xfrm>
            <a:off x="13716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CAOUTCHOUC USINE</a:t>
            </a:r>
            <a:endParaRPr lang="en-US" sz="850" dirty="0"/>
          </a:p>
        </p:txBody>
      </p:sp>
      <p:sp>
        <p:nvSpPr>
          <p:cNvPr id="29" name="Text 27"/>
          <p:cNvSpPr/>
          <p:nvPr/>
        </p:nvSpPr>
        <p:spPr>
          <a:xfrm>
            <a:off x="180136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35 516 TEU</a:t>
            </a:r>
            <a:endParaRPr lang="en-US" sz="850" dirty="0"/>
          </a:p>
        </p:txBody>
      </p:sp>
      <p:sp>
        <p:nvSpPr>
          <p:cNvPr id="30" name="Shape 28"/>
          <p:cNvSpPr/>
          <p:nvPr/>
        </p:nvSpPr>
        <p:spPr>
          <a:xfrm>
            <a:off x="2697480" y="2962656"/>
            <a:ext cx="2743200" cy="164592"/>
          </a:xfrm>
          <a:prstGeom prst="rect">
            <a:avLst/>
          </a:prstGeom>
          <a:solidFill>
            <a:srgbClr val="E5E7EB"/>
          </a:solidFill>
          <a:ln/>
        </p:spPr>
      </p:sp>
      <p:sp>
        <p:nvSpPr>
          <p:cNvPr id="31" name="Shape 29"/>
          <p:cNvSpPr/>
          <p:nvPr/>
        </p:nvSpPr>
        <p:spPr>
          <a:xfrm>
            <a:off x="2697480" y="2962656"/>
            <a:ext cx="493776" cy="164592"/>
          </a:xfrm>
          <a:prstGeom prst="rect">
            <a:avLst/>
          </a:prstGeom>
          <a:solidFill>
            <a:srgbClr val="E05A00"/>
          </a:solidFill>
          <a:ln/>
        </p:spPr>
      </p:sp>
      <p:sp>
        <p:nvSpPr>
          <p:cNvPr id="32" name="Text 30"/>
          <p:cNvSpPr/>
          <p:nvPr/>
        </p:nvSpPr>
        <p:spPr>
          <a:xfrm>
            <a:off x="548640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33" name="Text 31"/>
          <p:cNvSpPr/>
          <p:nvPr/>
        </p:nvSpPr>
        <p:spPr>
          <a:xfrm>
            <a:off x="13716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MANGUE</a:t>
            </a:r>
            <a:endParaRPr lang="en-US" sz="850" dirty="0"/>
          </a:p>
        </p:txBody>
      </p:sp>
      <p:sp>
        <p:nvSpPr>
          <p:cNvPr id="34" name="Text 32"/>
          <p:cNvSpPr/>
          <p:nvPr/>
        </p:nvSpPr>
        <p:spPr>
          <a:xfrm>
            <a:off x="180136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3 777 TEU</a:t>
            </a:r>
            <a:endParaRPr lang="en-US" sz="850" dirty="0"/>
          </a:p>
        </p:txBody>
      </p:sp>
      <p:sp>
        <p:nvSpPr>
          <p:cNvPr id="35" name="Shape 33"/>
          <p:cNvSpPr/>
          <p:nvPr/>
        </p:nvSpPr>
        <p:spPr>
          <a:xfrm>
            <a:off x="2697480" y="3346704"/>
            <a:ext cx="2743200" cy="164592"/>
          </a:xfrm>
          <a:prstGeom prst="rect">
            <a:avLst/>
          </a:prstGeom>
          <a:solidFill>
            <a:srgbClr val="E5E7EB"/>
          </a:solidFill>
          <a:ln/>
        </p:spPr>
      </p:sp>
      <p:sp>
        <p:nvSpPr>
          <p:cNvPr id="36" name="Shape 34"/>
          <p:cNvSpPr/>
          <p:nvPr/>
        </p:nvSpPr>
        <p:spPr>
          <a:xfrm>
            <a:off x="2697480" y="3346704"/>
            <a:ext cx="356616" cy="164592"/>
          </a:xfrm>
          <a:prstGeom prst="rect">
            <a:avLst/>
          </a:prstGeom>
          <a:solidFill>
            <a:srgbClr val="E05A00"/>
          </a:solidFill>
          <a:ln/>
        </p:spPr>
      </p:sp>
      <p:sp>
        <p:nvSpPr>
          <p:cNvPr id="37" name="Text 35"/>
          <p:cNvSpPr/>
          <p:nvPr/>
        </p:nvSpPr>
        <p:spPr>
          <a:xfrm>
            <a:off x="548640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38" name="Text 36"/>
          <p:cNvSpPr/>
          <p:nvPr/>
        </p:nvSpPr>
        <p:spPr>
          <a:xfrm>
            <a:off x="13716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AMANDE DE CAJOU</a:t>
            </a:r>
            <a:endParaRPr lang="en-US" sz="850" dirty="0"/>
          </a:p>
        </p:txBody>
      </p:sp>
      <p:sp>
        <p:nvSpPr>
          <p:cNvPr id="39" name="Text 37"/>
          <p:cNvSpPr/>
          <p:nvPr/>
        </p:nvSpPr>
        <p:spPr>
          <a:xfrm>
            <a:off x="180136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2 744 TEU</a:t>
            </a:r>
            <a:endParaRPr lang="en-US" sz="850" dirty="0"/>
          </a:p>
        </p:txBody>
      </p:sp>
      <p:sp>
        <p:nvSpPr>
          <p:cNvPr id="40" name="Shape 38"/>
          <p:cNvSpPr/>
          <p:nvPr/>
        </p:nvSpPr>
        <p:spPr>
          <a:xfrm>
            <a:off x="2697480" y="3730752"/>
            <a:ext cx="2743200" cy="164592"/>
          </a:xfrm>
          <a:prstGeom prst="rect">
            <a:avLst/>
          </a:prstGeom>
          <a:solidFill>
            <a:srgbClr val="E5E7EB"/>
          </a:solidFill>
          <a:ln/>
        </p:spPr>
      </p:sp>
      <p:sp>
        <p:nvSpPr>
          <p:cNvPr id="41" name="Shape 39"/>
          <p:cNvSpPr/>
          <p:nvPr/>
        </p:nvSpPr>
        <p:spPr>
          <a:xfrm>
            <a:off x="2697480" y="3730752"/>
            <a:ext cx="192024" cy="164592"/>
          </a:xfrm>
          <a:prstGeom prst="rect">
            <a:avLst/>
          </a:prstGeom>
          <a:solidFill>
            <a:srgbClr val="CC2200"/>
          </a:solidFill>
          <a:ln/>
        </p:spPr>
      </p:sp>
      <p:sp>
        <p:nvSpPr>
          <p:cNvPr id="42" name="Text 40"/>
          <p:cNvSpPr/>
          <p:nvPr/>
        </p:nvSpPr>
        <p:spPr>
          <a:xfrm>
            <a:off x="5486400" y="369417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7%</a:t>
            </a:r>
            <a:endParaRPr lang="en-US" sz="900" dirty="0"/>
          </a:p>
        </p:txBody>
      </p:sp>
      <p:sp>
        <p:nvSpPr>
          <p:cNvPr id="43" name="Text 41"/>
          <p:cNvSpPr/>
          <p:nvPr/>
        </p:nvSpPr>
        <p:spPr>
          <a:xfrm>
            <a:off x="13716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44" name="Text 42"/>
          <p:cNvSpPr/>
          <p:nvPr/>
        </p:nvSpPr>
        <p:spPr>
          <a:xfrm>
            <a:off x="180136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13 129 TEU</a:t>
            </a:r>
            <a:endParaRPr lang="en-US" sz="850" dirty="0"/>
          </a:p>
        </p:txBody>
      </p:sp>
      <p:sp>
        <p:nvSpPr>
          <p:cNvPr id="45" name="Shape 43"/>
          <p:cNvSpPr/>
          <p:nvPr/>
        </p:nvSpPr>
        <p:spPr>
          <a:xfrm>
            <a:off x="2697480" y="4114800"/>
            <a:ext cx="2743200" cy="164592"/>
          </a:xfrm>
          <a:prstGeom prst="rect">
            <a:avLst/>
          </a:prstGeom>
          <a:solidFill>
            <a:srgbClr val="E5E7EB"/>
          </a:solidFill>
          <a:ln/>
        </p:spPr>
      </p:sp>
      <p:sp>
        <p:nvSpPr>
          <p:cNvPr id="46" name="Shape 44"/>
          <p:cNvSpPr/>
          <p:nvPr/>
        </p:nvSpPr>
        <p:spPr>
          <a:xfrm>
            <a:off x="2697480" y="4114800"/>
            <a:ext cx="137160" cy="164592"/>
          </a:xfrm>
          <a:prstGeom prst="rect">
            <a:avLst/>
          </a:prstGeom>
          <a:solidFill>
            <a:srgbClr val="CC2200"/>
          </a:solidFill>
          <a:ln/>
        </p:spPr>
      </p:sp>
      <p:sp>
        <p:nvSpPr>
          <p:cNvPr id="47" name="Text 45"/>
          <p:cNvSpPr/>
          <p:nvPr/>
        </p:nvSpPr>
        <p:spPr>
          <a:xfrm>
            <a:off x="548640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concurrentiel – TEM</a:t>
            </a:r>
            <a:endParaRPr lang="en-US" sz="1100" dirty="0"/>
          </a:p>
        </p:txBody>
      </p:sp>
      <p:sp>
        <p:nvSpPr>
          <p:cNvPr id="49" name="Shape 47"/>
          <p:cNvSpPr/>
          <p:nvPr/>
        </p:nvSpPr>
        <p:spPr>
          <a:xfrm>
            <a:off x="6400800" y="1371600"/>
            <a:ext cx="5669280" cy="256032"/>
          </a:xfrm>
          <a:prstGeom prst="rect">
            <a:avLst/>
          </a:prstGeom>
          <a:solidFill>
            <a:srgbClr val="0D2243"/>
          </a:solidFill>
          <a:ln/>
        </p:spPr>
      </p:sp>
      <p:sp>
        <p:nvSpPr>
          <p:cNvPr id="50" name="Text 48"/>
          <p:cNvSpPr/>
          <p:nvPr/>
        </p:nvSpPr>
        <p:spPr>
          <a:xfrm>
            <a:off x="643737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51" name="Text 49"/>
          <p:cNvSpPr/>
          <p:nvPr/>
        </p:nvSpPr>
        <p:spPr>
          <a:xfrm>
            <a:off x="6848856" y="1408176"/>
            <a:ext cx="170688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52" name="Text 50"/>
          <p:cNvSpPr/>
          <p:nvPr/>
        </p:nvSpPr>
        <p:spPr>
          <a:xfrm>
            <a:off x="86014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53" name="Text 51"/>
          <p:cNvSpPr/>
          <p:nvPr/>
        </p:nvSpPr>
        <p:spPr>
          <a:xfrm>
            <a:off x="103540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54" name="Shape 52"/>
          <p:cNvSpPr/>
          <p:nvPr/>
        </p:nvSpPr>
        <p:spPr>
          <a:xfrm>
            <a:off x="6400800" y="1627632"/>
            <a:ext cx="5669280" cy="256032"/>
          </a:xfrm>
          <a:prstGeom prst="rect">
            <a:avLst/>
          </a:prstGeom>
          <a:solidFill>
            <a:srgbClr val="FFF9EC"/>
          </a:solidFill>
          <a:ln w="3810">
            <a:solidFill>
              <a:srgbClr val="E5E7EB"/>
            </a:solidFill>
            <a:prstDash val="solid"/>
          </a:ln>
        </p:spPr>
      </p:sp>
      <p:sp>
        <p:nvSpPr>
          <p:cNvPr id="55" name="Text 53"/>
          <p:cNvSpPr/>
          <p:nvPr/>
        </p:nvSpPr>
        <p:spPr>
          <a:xfrm>
            <a:off x="643737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56" name="Text 54"/>
          <p:cNvSpPr/>
          <p:nvPr/>
        </p:nvSpPr>
        <p:spPr>
          <a:xfrm>
            <a:off x="6848856" y="1664208"/>
            <a:ext cx="170688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57" name="Text 55"/>
          <p:cNvSpPr/>
          <p:nvPr/>
        </p:nvSpPr>
        <p:spPr>
          <a:xfrm>
            <a:off x="8601456" y="166420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35 972</a:t>
            </a:r>
            <a:endParaRPr lang="en-US" sz="900" dirty="0"/>
          </a:p>
        </p:txBody>
      </p:sp>
      <p:sp>
        <p:nvSpPr>
          <p:cNvPr id="58" name="Text 56"/>
          <p:cNvSpPr/>
          <p:nvPr/>
        </p:nvSpPr>
        <p:spPr>
          <a:xfrm>
            <a:off x="10354056" y="1664208"/>
            <a:ext cx="170688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26,2 %</a:t>
            </a:r>
            <a:endParaRPr lang="en-US" sz="900" dirty="0"/>
          </a:p>
        </p:txBody>
      </p:sp>
      <p:sp>
        <p:nvSpPr>
          <p:cNvPr id="59" name="Shape 57"/>
          <p:cNvSpPr/>
          <p:nvPr/>
        </p:nvSpPr>
        <p:spPr>
          <a:xfrm>
            <a:off x="6400800" y="1883664"/>
            <a:ext cx="5669280" cy="256032"/>
          </a:xfrm>
          <a:prstGeom prst="rect">
            <a:avLst/>
          </a:prstGeom>
          <a:solidFill>
            <a:srgbClr val="F8F9FA"/>
          </a:solidFill>
          <a:ln w="3810">
            <a:solidFill>
              <a:srgbClr val="E5E7EB"/>
            </a:solidFill>
            <a:prstDash val="solid"/>
          </a:ln>
        </p:spPr>
      </p:sp>
      <p:sp>
        <p:nvSpPr>
          <p:cNvPr id="60" name="Text 58"/>
          <p:cNvSpPr/>
          <p:nvPr/>
        </p:nvSpPr>
        <p:spPr>
          <a:xfrm>
            <a:off x="643737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61" name="Text 59"/>
          <p:cNvSpPr/>
          <p:nvPr/>
        </p:nvSpPr>
        <p:spPr>
          <a:xfrm>
            <a:off x="6848856" y="192024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LOGISTIC</a:t>
            </a:r>
            <a:endParaRPr lang="en-US" sz="900" dirty="0"/>
          </a:p>
        </p:txBody>
      </p:sp>
      <p:sp>
        <p:nvSpPr>
          <p:cNvPr id="62" name="Text 60"/>
          <p:cNvSpPr/>
          <p:nvPr/>
        </p:nvSpPr>
        <p:spPr>
          <a:xfrm>
            <a:off x="86014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7 730</a:t>
            </a:r>
            <a:endParaRPr lang="en-US" sz="900" dirty="0"/>
          </a:p>
        </p:txBody>
      </p:sp>
      <p:sp>
        <p:nvSpPr>
          <p:cNvPr id="63" name="Text 61"/>
          <p:cNvSpPr/>
          <p:nvPr/>
        </p:nvSpPr>
        <p:spPr>
          <a:xfrm>
            <a:off x="103540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64" name="Shape 62"/>
          <p:cNvSpPr/>
          <p:nvPr/>
        </p:nvSpPr>
        <p:spPr>
          <a:xfrm>
            <a:off x="6400800" y="2139696"/>
            <a:ext cx="5669280" cy="256032"/>
          </a:xfrm>
          <a:prstGeom prst="rect">
            <a:avLst/>
          </a:prstGeom>
          <a:solidFill>
            <a:srgbClr val="FFFFFF"/>
          </a:solidFill>
          <a:ln w="3810">
            <a:solidFill>
              <a:srgbClr val="E5E7EB"/>
            </a:solidFill>
            <a:prstDash val="solid"/>
          </a:ln>
        </p:spPr>
      </p:sp>
      <p:sp>
        <p:nvSpPr>
          <p:cNvPr id="65" name="Text 63"/>
          <p:cNvSpPr/>
          <p:nvPr/>
        </p:nvSpPr>
        <p:spPr>
          <a:xfrm>
            <a:off x="643737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66" name="Text 64"/>
          <p:cNvSpPr/>
          <p:nvPr/>
        </p:nvSpPr>
        <p:spPr>
          <a:xfrm>
            <a:off x="6848856" y="217627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MANTRA IVOIRE</a:t>
            </a:r>
            <a:endParaRPr lang="en-US" sz="900" dirty="0"/>
          </a:p>
        </p:txBody>
      </p:sp>
      <p:sp>
        <p:nvSpPr>
          <p:cNvPr id="67" name="Text 65"/>
          <p:cNvSpPr/>
          <p:nvPr/>
        </p:nvSpPr>
        <p:spPr>
          <a:xfrm>
            <a:off x="86014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7 671</a:t>
            </a:r>
            <a:endParaRPr lang="en-US" sz="900" dirty="0"/>
          </a:p>
        </p:txBody>
      </p:sp>
      <p:sp>
        <p:nvSpPr>
          <p:cNvPr id="68" name="Text 66"/>
          <p:cNvSpPr/>
          <p:nvPr/>
        </p:nvSpPr>
        <p:spPr>
          <a:xfrm>
            <a:off x="103540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69" name="Shape 67"/>
          <p:cNvSpPr/>
          <p:nvPr/>
        </p:nvSpPr>
        <p:spPr>
          <a:xfrm>
            <a:off x="6400800" y="2395728"/>
            <a:ext cx="5669280" cy="256032"/>
          </a:xfrm>
          <a:prstGeom prst="rect">
            <a:avLst/>
          </a:prstGeom>
          <a:solidFill>
            <a:srgbClr val="F8F9FA"/>
          </a:solidFill>
          <a:ln w="3810">
            <a:solidFill>
              <a:srgbClr val="E5E7EB"/>
            </a:solidFill>
            <a:prstDash val="solid"/>
          </a:ln>
        </p:spPr>
      </p:sp>
      <p:sp>
        <p:nvSpPr>
          <p:cNvPr id="70" name="Text 68"/>
          <p:cNvSpPr/>
          <p:nvPr/>
        </p:nvSpPr>
        <p:spPr>
          <a:xfrm>
            <a:off x="643737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71" name="Text 69"/>
          <p:cNvSpPr/>
          <p:nvPr/>
        </p:nvSpPr>
        <p:spPr>
          <a:xfrm>
            <a:off x="6848856" y="243230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 CI</a:t>
            </a:r>
            <a:endParaRPr lang="en-US" sz="900" dirty="0"/>
          </a:p>
        </p:txBody>
      </p:sp>
      <p:sp>
        <p:nvSpPr>
          <p:cNvPr id="72" name="Text 70"/>
          <p:cNvSpPr/>
          <p:nvPr/>
        </p:nvSpPr>
        <p:spPr>
          <a:xfrm>
            <a:off x="86014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5 893</a:t>
            </a:r>
            <a:endParaRPr lang="en-US" sz="900" dirty="0"/>
          </a:p>
        </p:txBody>
      </p:sp>
      <p:sp>
        <p:nvSpPr>
          <p:cNvPr id="73" name="Text 71"/>
          <p:cNvSpPr/>
          <p:nvPr/>
        </p:nvSpPr>
        <p:spPr>
          <a:xfrm>
            <a:off x="103540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4,3 %</a:t>
            </a:r>
            <a:endParaRPr lang="en-US" sz="900" dirty="0"/>
          </a:p>
        </p:txBody>
      </p:sp>
      <p:sp>
        <p:nvSpPr>
          <p:cNvPr id="74" name="Shape 72"/>
          <p:cNvSpPr/>
          <p:nvPr/>
        </p:nvSpPr>
        <p:spPr>
          <a:xfrm>
            <a:off x="6400800" y="2651760"/>
            <a:ext cx="5669280" cy="256032"/>
          </a:xfrm>
          <a:prstGeom prst="rect">
            <a:avLst/>
          </a:prstGeom>
          <a:solidFill>
            <a:srgbClr val="FFFFFF"/>
          </a:solidFill>
          <a:ln w="3810">
            <a:solidFill>
              <a:srgbClr val="E5E7EB"/>
            </a:solidFill>
            <a:prstDash val="solid"/>
          </a:ln>
        </p:spPr>
      </p:sp>
      <p:sp>
        <p:nvSpPr>
          <p:cNvPr id="75" name="Text 73"/>
          <p:cNvSpPr/>
          <p:nvPr/>
        </p:nvSpPr>
        <p:spPr>
          <a:xfrm>
            <a:off x="643737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76" name="Text 74"/>
          <p:cNvSpPr/>
          <p:nvPr/>
        </p:nvSpPr>
        <p:spPr>
          <a:xfrm>
            <a:off x="6848856" y="268833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OTL</a:t>
            </a:r>
            <a:endParaRPr lang="en-US" sz="900" dirty="0"/>
          </a:p>
        </p:txBody>
      </p:sp>
      <p:sp>
        <p:nvSpPr>
          <p:cNvPr id="77" name="Text 75"/>
          <p:cNvSpPr/>
          <p:nvPr/>
        </p:nvSpPr>
        <p:spPr>
          <a:xfrm>
            <a:off x="86014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5 760</a:t>
            </a:r>
            <a:endParaRPr lang="en-US" sz="900" dirty="0"/>
          </a:p>
        </p:txBody>
      </p:sp>
      <p:sp>
        <p:nvSpPr>
          <p:cNvPr id="78" name="Text 76"/>
          <p:cNvSpPr/>
          <p:nvPr/>
        </p:nvSpPr>
        <p:spPr>
          <a:xfrm>
            <a:off x="103540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4,2 %</a:t>
            </a:r>
            <a:endParaRPr lang="en-US" sz="900" dirty="0"/>
          </a:p>
        </p:txBody>
      </p:sp>
      <p:sp>
        <p:nvSpPr>
          <p:cNvPr id="79" name="Shape 77"/>
          <p:cNvSpPr/>
          <p:nvPr/>
        </p:nvSpPr>
        <p:spPr>
          <a:xfrm>
            <a:off x="6400800" y="2907792"/>
            <a:ext cx="5669280" cy="256032"/>
          </a:xfrm>
          <a:prstGeom prst="rect">
            <a:avLst/>
          </a:prstGeom>
          <a:solidFill>
            <a:srgbClr val="F8F9FA"/>
          </a:solidFill>
          <a:ln w="3810">
            <a:solidFill>
              <a:srgbClr val="E5E7EB"/>
            </a:solidFill>
            <a:prstDash val="solid"/>
          </a:ln>
        </p:spPr>
      </p:sp>
      <p:sp>
        <p:nvSpPr>
          <p:cNvPr id="80" name="Text 78"/>
          <p:cNvSpPr/>
          <p:nvPr/>
        </p:nvSpPr>
        <p:spPr>
          <a:xfrm>
            <a:off x="643737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81" name="Text 79"/>
          <p:cNvSpPr/>
          <p:nvPr/>
        </p:nvSpPr>
        <p:spPr>
          <a:xfrm>
            <a:off x="6848856" y="2944368"/>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MEDLOG CI</a:t>
            </a:r>
            <a:endParaRPr lang="en-US" sz="900" dirty="0"/>
          </a:p>
        </p:txBody>
      </p:sp>
      <p:sp>
        <p:nvSpPr>
          <p:cNvPr id="82" name="Text 80"/>
          <p:cNvSpPr/>
          <p:nvPr/>
        </p:nvSpPr>
        <p:spPr>
          <a:xfrm>
            <a:off x="86014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4 921</a:t>
            </a:r>
            <a:endParaRPr lang="en-US" sz="900" dirty="0"/>
          </a:p>
        </p:txBody>
      </p:sp>
      <p:sp>
        <p:nvSpPr>
          <p:cNvPr id="83" name="Text 81"/>
          <p:cNvSpPr/>
          <p:nvPr/>
        </p:nvSpPr>
        <p:spPr>
          <a:xfrm>
            <a:off x="103540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3,6 %</a:t>
            </a:r>
            <a:endParaRPr lang="en-US" sz="900" dirty="0"/>
          </a:p>
        </p:txBody>
      </p:sp>
      <p:sp>
        <p:nvSpPr>
          <p:cNvPr id="84" name="Shape 82"/>
          <p:cNvSpPr/>
          <p:nvPr/>
        </p:nvSpPr>
        <p:spPr>
          <a:xfrm>
            <a:off x="6400800" y="3163824"/>
            <a:ext cx="5669280" cy="256032"/>
          </a:xfrm>
          <a:prstGeom prst="rect">
            <a:avLst/>
          </a:prstGeom>
          <a:solidFill>
            <a:srgbClr val="FFFFFF"/>
          </a:solidFill>
          <a:ln w="3810">
            <a:solidFill>
              <a:srgbClr val="E5E7EB"/>
            </a:solidFill>
            <a:prstDash val="solid"/>
          </a:ln>
        </p:spPr>
      </p:sp>
      <p:sp>
        <p:nvSpPr>
          <p:cNvPr id="85" name="Text 83"/>
          <p:cNvSpPr/>
          <p:nvPr/>
        </p:nvSpPr>
        <p:spPr>
          <a:xfrm>
            <a:off x="643737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86" name="Text 84"/>
          <p:cNvSpPr/>
          <p:nvPr/>
        </p:nvSpPr>
        <p:spPr>
          <a:xfrm>
            <a:off x="6848856" y="320040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SDMA</a:t>
            </a:r>
            <a:endParaRPr lang="en-US" sz="900" dirty="0"/>
          </a:p>
        </p:txBody>
      </p:sp>
      <p:sp>
        <p:nvSpPr>
          <p:cNvPr id="87" name="Text 85"/>
          <p:cNvSpPr/>
          <p:nvPr/>
        </p:nvSpPr>
        <p:spPr>
          <a:xfrm>
            <a:off x="86014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4 902</a:t>
            </a:r>
            <a:endParaRPr lang="en-US" sz="900" dirty="0"/>
          </a:p>
        </p:txBody>
      </p:sp>
      <p:sp>
        <p:nvSpPr>
          <p:cNvPr id="88" name="Text 86"/>
          <p:cNvSpPr/>
          <p:nvPr/>
        </p:nvSpPr>
        <p:spPr>
          <a:xfrm>
            <a:off x="103540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3,6 %</a:t>
            </a:r>
            <a:endParaRPr lang="en-US" sz="900" dirty="0"/>
          </a:p>
        </p:txBody>
      </p:sp>
      <p:sp>
        <p:nvSpPr>
          <p:cNvPr id="89" name="Shape 87"/>
          <p:cNvSpPr/>
          <p:nvPr/>
        </p:nvSpPr>
        <p:spPr>
          <a:xfrm>
            <a:off x="6400800" y="3419856"/>
            <a:ext cx="5669280" cy="256032"/>
          </a:xfrm>
          <a:prstGeom prst="rect">
            <a:avLst/>
          </a:prstGeom>
          <a:solidFill>
            <a:srgbClr val="F8F9FA"/>
          </a:solidFill>
          <a:ln w="3810">
            <a:solidFill>
              <a:srgbClr val="E5E7EB"/>
            </a:solidFill>
            <a:prstDash val="solid"/>
          </a:ln>
        </p:spPr>
      </p:sp>
      <p:sp>
        <p:nvSpPr>
          <p:cNvPr id="90" name="Text 88"/>
          <p:cNvSpPr/>
          <p:nvPr/>
        </p:nvSpPr>
        <p:spPr>
          <a:xfrm>
            <a:off x="643737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91" name="Text 89"/>
          <p:cNvSpPr/>
          <p:nvPr/>
        </p:nvSpPr>
        <p:spPr>
          <a:xfrm>
            <a:off x="6848856" y="345643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PACKING SERVICE INTL</a:t>
            </a:r>
            <a:endParaRPr lang="en-US" sz="900" dirty="0"/>
          </a:p>
        </p:txBody>
      </p:sp>
      <p:sp>
        <p:nvSpPr>
          <p:cNvPr id="92" name="Text 90"/>
          <p:cNvSpPr/>
          <p:nvPr/>
        </p:nvSpPr>
        <p:spPr>
          <a:xfrm>
            <a:off x="86014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4 411</a:t>
            </a:r>
            <a:endParaRPr lang="en-US" sz="900" dirty="0"/>
          </a:p>
        </p:txBody>
      </p:sp>
      <p:sp>
        <p:nvSpPr>
          <p:cNvPr id="93" name="Text 91"/>
          <p:cNvSpPr/>
          <p:nvPr/>
        </p:nvSpPr>
        <p:spPr>
          <a:xfrm>
            <a:off x="103540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3,2 %</a:t>
            </a:r>
            <a:endParaRPr lang="en-US" sz="900" dirty="0"/>
          </a:p>
        </p:txBody>
      </p:sp>
      <p:sp>
        <p:nvSpPr>
          <p:cNvPr id="94" name="Shape 92"/>
          <p:cNvSpPr/>
          <p:nvPr/>
        </p:nvSpPr>
        <p:spPr>
          <a:xfrm>
            <a:off x="6400800" y="3675888"/>
            <a:ext cx="5669280" cy="256032"/>
          </a:xfrm>
          <a:prstGeom prst="rect">
            <a:avLst/>
          </a:prstGeom>
          <a:solidFill>
            <a:srgbClr val="FFFFFF"/>
          </a:solidFill>
          <a:ln w="3810">
            <a:solidFill>
              <a:srgbClr val="E5E7EB"/>
            </a:solidFill>
            <a:prstDash val="solid"/>
          </a:ln>
        </p:spPr>
      </p:sp>
      <p:sp>
        <p:nvSpPr>
          <p:cNvPr id="95" name="Text 93"/>
          <p:cNvSpPr/>
          <p:nvPr/>
        </p:nvSpPr>
        <p:spPr>
          <a:xfrm>
            <a:off x="643737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96" name="Text 94"/>
          <p:cNvSpPr/>
          <p:nvPr/>
        </p:nvSpPr>
        <p:spPr>
          <a:xfrm>
            <a:off x="6848856" y="371246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MOVIS TRANSIT CI</a:t>
            </a:r>
            <a:endParaRPr lang="en-US" sz="900" dirty="0"/>
          </a:p>
        </p:txBody>
      </p:sp>
      <p:sp>
        <p:nvSpPr>
          <p:cNvPr id="97" name="Text 95"/>
          <p:cNvSpPr/>
          <p:nvPr/>
        </p:nvSpPr>
        <p:spPr>
          <a:xfrm>
            <a:off x="86014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4 067</a:t>
            </a:r>
            <a:endParaRPr lang="en-US" sz="900" dirty="0"/>
          </a:p>
        </p:txBody>
      </p:sp>
      <p:sp>
        <p:nvSpPr>
          <p:cNvPr id="98" name="Text 96"/>
          <p:cNvSpPr/>
          <p:nvPr/>
        </p:nvSpPr>
        <p:spPr>
          <a:xfrm>
            <a:off x="103540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3,0 %</a:t>
            </a:r>
            <a:endParaRPr lang="en-US" sz="900" dirty="0"/>
          </a:p>
        </p:txBody>
      </p:sp>
      <p:sp>
        <p:nvSpPr>
          <p:cNvPr id="99" name="Shape 97"/>
          <p:cNvSpPr/>
          <p:nvPr/>
        </p:nvSpPr>
        <p:spPr>
          <a:xfrm>
            <a:off x="6400800" y="3931920"/>
            <a:ext cx="5669280" cy="256032"/>
          </a:xfrm>
          <a:prstGeom prst="rect">
            <a:avLst/>
          </a:prstGeom>
          <a:solidFill>
            <a:srgbClr val="F8F9FA"/>
          </a:solidFill>
          <a:ln w="3810">
            <a:solidFill>
              <a:srgbClr val="E5E7EB"/>
            </a:solidFill>
            <a:prstDash val="solid"/>
          </a:ln>
        </p:spPr>
      </p:sp>
      <p:sp>
        <p:nvSpPr>
          <p:cNvPr id="100" name="Text 98"/>
          <p:cNvSpPr/>
          <p:nvPr/>
        </p:nvSpPr>
        <p:spPr>
          <a:xfrm>
            <a:off x="643737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01" name="Text 99"/>
          <p:cNvSpPr/>
          <p:nvPr/>
        </p:nvSpPr>
        <p:spPr>
          <a:xfrm>
            <a:off x="6848856" y="396849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GTS CI</a:t>
            </a:r>
            <a:endParaRPr lang="en-US" sz="900" dirty="0"/>
          </a:p>
        </p:txBody>
      </p:sp>
      <p:sp>
        <p:nvSpPr>
          <p:cNvPr id="102" name="Text 100"/>
          <p:cNvSpPr/>
          <p:nvPr/>
        </p:nvSpPr>
        <p:spPr>
          <a:xfrm>
            <a:off x="86014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4 010</a:t>
            </a:r>
            <a:endParaRPr lang="en-US" sz="900" dirty="0"/>
          </a:p>
        </p:txBody>
      </p:sp>
      <p:sp>
        <p:nvSpPr>
          <p:cNvPr id="103" name="Text 101"/>
          <p:cNvSpPr/>
          <p:nvPr/>
        </p:nvSpPr>
        <p:spPr>
          <a:xfrm>
            <a:off x="103540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104" name="Shape 102"/>
          <p:cNvSpPr/>
          <p:nvPr/>
        </p:nvSpPr>
        <p:spPr>
          <a:xfrm>
            <a:off x="137160" y="4937760"/>
            <a:ext cx="11795760" cy="685800"/>
          </a:xfrm>
          <a:prstGeom prst="rect">
            <a:avLst/>
          </a:prstGeom>
          <a:solidFill>
            <a:srgbClr val="FFFBEC"/>
          </a:solidFill>
          <a:ln w="6350">
            <a:solidFill>
              <a:srgbClr val="E5C97A"/>
            </a:solidFill>
            <a:prstDash val="solid"/>
          </a:ln>
        </p:spPr>
      </p:sp>
      <p:sp>
        <p:nvSpPr>
          <p:cNvPr id="105" name="Text 103"/>
          <p:cNvSpPr/>
          <p:nvPr/>
        </p:nvSpPr>
        <p:spPr>
          <a:xfrm>
            <a:off x="228600" y="5010912"/>
            <a:ext cx="1161288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TEM : AGL détient 26,2% du marché qualifié – soit 4,7x le 2ème acteur. Forces : Bananes (74% PDM), Dérivés cacao (49%), Cacao (32%). Levier : Noix de Cajou (13 129 TEU marché, seulement 5,4% PDM AGL) = +860 TEU si PDM portée à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CLIENTÈLE CHARGEURS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chargeurs AGL – TEM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CARGILL WEST AFRICA (CACAO)</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3 219</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9,0%</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JEAN EGLIN (PLANTATION)</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2 500</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6,9%</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AFRICA SOURCING PRODUCE CI</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2 425</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CARGILL COCOA SA (DÉRIVÉS)</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2 264</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Dérivés cacao</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6,3%</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CYRIAN INTERNATIONAL CI</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2 191</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COCOA PROCESSING</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2 068</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5,7%</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KINEDEN COMMODITIES SA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1 256</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AGRI RUBBER</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1 203</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SAPH</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1 155</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IVOIRE COTON</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1 092</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a:t>
            </a:r>
            <a:endParaRPr lang="en-US" sz="900" dirty="0"/>
          </a:p>
        </p:txBody>
      </p:sp>
      <p:sp>
        <p:nvSpPr>
          <p:cNvPr id="63" name="Shape 61"/>
          <p:cNvSpPr/>
          <p:nvPr/>
        </p:nvSpPr>
        <p:spPr>
          <a:xfrm>
            <a:off x="137160" y="4892040"/>
            <a:ext cx="6400800" cy="914400"/>
          </a:xfrm>
          <a:prstGeom prst="rect">
            <a:avLst/>
          </a:prstGeom>
          <a:solidFill>
            <a:srgbClr val="FFFBEC"/>
          </a:solidFill>
          <a:ln w="6350">
            <a:solidFill>
              <a:srgbClr val="E5C97A"/>
            </a:solidFill>
            <a:prstDash val="solid"/>
          </a:ln>
        </p:spPr>
      </p:sp>
      <p:sp>
        <p:nvSpPr>
          <p:cNvPr id="64" name="Text 62"/>
          <p:cNvSpPr/>
          <p:nvPr/>
        </p:nvSpPr>
        <p:spPr>
          <a:xfrm>
            <a:off x="228600" y="4965192"/>
            <a:ext cx="621792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Cargill groupe (Cacao + Dérivés) = 15,3% du volume AGL TEM. Concentration filière cacao à surveiller.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Bananes (74% PDM) : JEAN EGLIN, AFRICA SOURCING, CYRIAN = 3 chargeurs = 23,1% du volume. Fidélisation critique.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Répartition AGL par filière export – TEM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NOUVEAUX CHARGEURS &amp; NOUVELLES FILIÈRES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Nouvelles filières export AGL  |  Opportunité Cajou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TEM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CI-ÉNERGIES</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890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 GROUP</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760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Mangue / Fruits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COOPERX CAJOU CI</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640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Noix de Cajou</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SECO INDUSTRIE</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520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 usiné</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PALM</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Huile de Palme</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38" name="Text 3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filières export – PDM AGL</a:t>
            </a:r>
            <a:endParaRPr lang="en-US" sz="1100" dirty="0"/>
          </a:p>
        </p:txBody>
      </p:sp>
      <p:sp>
        <p:nvSpPr>
          <p:cNvPr id="39" name="Text 37"/>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40" name="Text 38"/>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1 420 TEU</a:t>
            </a:r>
            <a:endParaRPr lang="en-US" sz="850" dirty="0"/>
          </a:p>
        </p:txBody>
      </p:sp>
      <p:sp>
        <p:nvSpPr>
          <p:cNvPr id="41" name="Shape 39"/>
          <p:cNvSpPr/>
          <p:nvPr/>
        </p:nvSpPr>
        <p:spPr>
          <a:xfrm>
            <a:off x="9052560" y="1426464"/>
            <a:ext cx="2743200" cy="164592"/>
          </a:xfrm>
          <a:prstGeom prst="rect">
            <a:avLst/>
          </a:prstGeom>
          <a:solidFill>
            <a:srgbClr val="E5E7EB"/>
          </a:solidFill>
          <a:ln/>
        </p:spPr>
      </p:sp>
      <p:sp>
        <p:nvSpPr>
          <p:cNvPr id="42" name="Shape 40"/>
          <p:cNvSpPr/>
          <p:nvPr/>
        </p:nvSpPr>
        <p:spPr>
          <a:xfrm>
            <a:off x="9052560" y="1426464"/>
            <a:ext cx="219456" cy="164592"/>
          </a:xfrm>
          <a:prstGeom prst="rect">
            <a:avLst/>
          </a:prstGeom>
          <a:solidFill>
            <a:srgbClr val="CC2200"/>
          </a:solidFill>
          <a:ln/>
        </p:spPr>
      </p:sp>
      <p:sp>
        <p:nvSpPr>
          <p:cNvPr id="43" name="Text 41"/>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44" name="Text 42"/>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COLA</a:t>
            </a:r>
            <a:endParaRPr lang="en-US" sz="850" dirty="0"/>
          </a:p>
        </p:txBody>
      </p:sp>
      <p:sp>
        <p:nvSpPr>
          <p:cNvPr id="45" name="Text 43"/>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980 TEU</a:t>
            </a:r>
            <a:endParaRPr lang="en-US" sz="850" dirty="0"/>
          </a:p>
        </p:txBody>
      </p:sp>
      <p:sp>
        <p:nvSpPr>
          <p:cNvPr id="46" name="Shape 44"/>
          <p:cNvSpPr/>
          <p:nvPr/>
        </p:nvSpPr>
        <p:spPr>
          <a:xfrm>
            <a:off x="9052560" y="1810512"/>
            <a:ext cx="2743200" cy="164592"/>
          </a:xfrm>
          <a:prstGeom prst="rect">
            <a:avLst/>
          </a:prstGeom>
          <a:solidFill>
            <a:srgbClr val="E5E7EB"/>
          </a:solidFill>
          <a:ln/>
        </p:spPr>
      </p:sp>
      <p:sp>
        <p:nvSpPr>
          <p:cNvPr id="47" name="Shape 45"/>
          <p:cNvSpPr/>
          <p:nvPr/>
        </p:nvSpPr>
        <p:spPr>
          <a:xfrm>
            <a:off x="9052560" y="1810512"/>
            <a:ext cx="329184" cy="164592"/>
          </a:xfrm>
          <a:prstGeom prst="rect">
            <a:avLst/>
          </a:prstGeom>
          <a:solidFill>
            <a:srgbClr val="E05A00"/>
          </a:solidFill>
          <a:ln/>
        </p:spPr>
      </p:sp>
      <p:sp>
        <p:nvSpPr>
          <p:cNvPr id="48" name="Text 46"/>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03</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IMPORT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28 457 TEU qualifiés  |  AGL #3 – PDM 11,3%  |  Objectif : rang #2</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28 457</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3 214</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E05A00"/>
                </a:solidFill>
                <a:latin typeface="Calibri" pitchFamily="34" charset="0"/>
                <a:ea typeface="Calibri" pitchFamily="34" charset="-122"/>
                <a:cs typeface="Calibri" pitchFamily="34" charset="-120"/>
              </a:rPr>
              <a:t>11,3 %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#3 – Progression vs brut</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LEADER UCT</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CC2200"/>
                </a:solidFill>
                <a:latin typeface="Calibri" pitchFamily="34" charset="0"/>
                <a:ea typeface="Calibri" pitchFamily="34" charset="-122"/>
                <a:cs typeface="Calibri" pitchFamily="34" charset="-120"/>
              </a:rPr>
              <a:t>26,6 %</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7 559 TEU – Écart ×2,4</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16,4 %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qualifié &amp; AGL – Hinterland Import</a:t>
            </a:r>
            <a:endParaRPr lang="en-US" sz="1100" dirty="0"/>
          </a:p>
        </p:txBody>
      </p:sp>
      <p:graphicFrame>
        <p:nvGraphicFramePr>
          <p:cNvPr id="28" name="Chart 0" descr=""/>
          <p:cNvGraphicFramePr/>
          <p:nvPr/>
        </p:nvGraphicFramePr>
        <p:xfrm>
          <a:off x="137160" y="233172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Import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60320"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16.4%</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1608006"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10.3%</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1202101" cy="201168"/>
          </a:xfrm>
          <a:prstGeom prst="rect">
            <a:avLst/>
          </a:prstGeom>
          <a:solidFill>
            <a:srgbClr val="E05A00"/>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7.7%</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1670453" cy="201168"/>
          </a:xfrm>
          <a:prstGeom prst="rect">
            <a:avLst/>
          </a:prstGeom>
          <a:solidFill>
            <a:srgbClr val="E05A00"/>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10.7%</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686064"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10.8%</a:t>
            </a:r>
            <a:endParaRPr lang="en-US" sz="1200" dirty="0"/>
          </a:p>
        </p:txBody>
      </p:sp>
      <p:sp>
        <p:nvSpPr>
          <p:cNvPr id="55" name="Text 52"/>
          <p:cNvSpPr/>
          <p:nvPr/>
        </p:nvSpPr>
        <p:spPr>
          <a:xfrm>
            <a:off x="137160" y="58978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Destinations : Bamako 55,5% (17 407 TEU) | Ouagadougou 40,0% (12 549 TEU) | Bobo-Dioulasso 2,1%</a:t>
            </a:r>
            <a:endParaRPr lang="en-US" sz="900" dirty="0"/>
          </a:p>
        </p:txBody>
      </p:sp>
      <p:sp>
        <p:nvSpPr>
          <p:cNvPr id="56" name="Text 53"/>
          <p:cNvSpPr/>
          <p:nvPr/>
        </p:nvSpPr>
        <p:spPr>
          <a:xfrm>
            <a:off x="137160" y="61264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Origines : Chine 55,5% | Indonésie 7,1% | Inde 6,8%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CONCURRENTS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p.13</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Hinterland Import (qualifié)</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UNION CENTER TRANSIT CI</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7 559</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26,6 %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SITRACOM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7 208</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25,3 %</a:t>
            </a:r>
            <a:endParaRPr lang="en-US" sz="90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AFRICA GLOBAL LOGISTICS</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3 214</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11,3 %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ECOTRAM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1 249</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CEVA LOGISTICS CI</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1 242</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LOGISTIC</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1 062</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3,7 %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FM GENERAL SERVICES</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955</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EBURNEENE LOG. TRANSIT.</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928</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SOCOCIB TRANSIT</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886</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3,1 %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MEDLOG CI</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855</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3,0 %</a:t>
            </a:r>
            <a:endParaRPr lang="en-US" sz="900" dirty="0"/>
          </a:p>
        </p:txBody>
      </p:sp>
      <p:sp>
        <p:nvSpPr>
          <p:cNvPr id="63" name="Shape 61"/>
          <p:cNvSpPr/>
          <p:nvPr/>
        </p:nvSpPr>
        <p:spPr>
          <a:xfrm>
            <a:off x="137160" y="4892040"/>
            <a:ext cx="6217920" cy="868680"/>
          </a:xfrm>
          <a:prstGeom prst="rect">
            <a:avLst/>
          </a:prstGeom>
          <a:solidFill>
            <a:srgbClr val="FFFBEC"/>
          </a:solidFill>
          <a:ln w="6350">
            <a:solidFill>
              <a:srgbClr val="E5C97A"/>
            </a:solidFill>
            <a:prstDash val="solid"/>
          </a:ln>
        </p:spPr>
      </p:sp>
      <p:sp>
        <p:nvSpPr>
          <p:cNvPr id="64" name="Text 62"/>
          <p:cNvSpPr/>
          <p:nvPr/>
        </p:nvSpPr>
        <p:spPr>
          <a:xfrm>
            <a:off x="228600" y="4965192"/>
            <a:ext cx="603504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 IMP : Écart de 3 994 TEU avec Sitracom (#2). Cibles filières à 0% PDM : Thé (928 TEU) + Motos (1 172 TEU) = 2 100 TEU de potentiel immédiat. Clients têtes de pont : SOFAO BF (926 TEU), BRAKINA (552 TEU), CODIMEX BF (461 TEU). Commercial dédié Ouagadougou requis.</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marchandise – Hinterland Import</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MALT</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439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02536"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73%</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PÂTES ALIMENTAIRES</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528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50392"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31%</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ALIMENTAIRE</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3 069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768096" cy="164592"/>
          </a:xfrm>
          <a:prstGeom prst="rect">
            <a:avLst/>
          </a:prstGeom>
          <a:solidFill>
            <a:srgbClr val="2563A8"/>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736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548640" cy="164592"/>
          </a:xfrm>
          <a:prstGeom prst="rect">
            <a:avLst/>
          </a:prstGeom>
          <a:solidFill>
            <a:srgbClr val="2563A8"/>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1 151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548640" cy="164592"/>
          </a:xfrm>
          <a:prstGeom prst="rect">
            <a:avLst/>
          </a:prstGeom>
          <a:solidFill>
            <a:srgbClr val="2563A8"/>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645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438912"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16%</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SUCRE</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2 701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246888" cy="164592"/>
          </a:xfrm>
          <a:prstGeom prst="rect">
            <a:avLst/>
          </a:prstGeom>
          <a:solidFill>
            <a:srgbClr val="CC22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THÉ ALIMENTAIRE</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928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1 296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MOTOS &amp; BICYCLETTES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1 172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  Nouveaux destinataires Bamako–Ouagadougou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Hinterland Import</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40589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03682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348843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Text 11"/>
          <p:cNvSpPr/>
          <p:nvPr/>
        </p:nvSpPr>
        <p:spPr>
          <a:xfrm>
            <a:off x="494004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4" name="Shape 12"/>
          <p:cNvSpPr/>
          <p:nvPr/>
        </p:nvSpPr>
        <p:spPr>
          <a:xfrm>
            <a:off x="137160" y="1627632"/>
            <a:ext cx="6217920" cy="256032"/>
          </a:xfrm>
          <a:prstGeom prst="rect">
            <a:avLst/>
          </a:prstGeom>
          <a:solidFill>
            <a:srgbClr val="FFF9EC"/>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#11</a:t>
            </a:r>
            <a:endParaRPr lang="en-US" sz="900" dirty="0"/>
          </a:p>
        </p:txBody>
      </p:sp>
      <p:sp>
        <p:nvSpPr>
          <p:cNvPr id="16" name="Text 14"/>
          <p:cNvSpPr/>
          <p:nvPr/>
        </p:nvSpPr>
        <p:spPr>
          <a:xfrm>
            <a:off x="585216" y="1664208"/>
            <a:ext cx="140589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SAHEL TRANSIT</a:t>
            </a:r>
            <a:endParaRPr lang="en-US" sz="900" dirty="0"/>
          </a:p>
        </p:txBody>
      </p:sp>
      <p:sp>
        <p:nvSpPr>
          <p:cNvPr id="17" name="Text 15"/>
          <p:cNvSpPr/>
          <p:nvPr/>
        </p:nvSpPr>
        <p:spPr>
          <a:xfrm>
            <a:off x="2036826" y="1664208"/>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620</a:t>
            </a:r>
            <a:endParaRPr lang="en-US" sz="900" dirty="0"/>
          </a:p>
        </p:txBody>
      </p:sp>
      <p:sp>
        <p:nvSpPr>
          <p:cNvPr id="18" name="Text 16"/>
          <p:cNvSpPr/>
          <p:nvPr/>
        </p:nvSpPr>
        <p:spPr>
          <a:xfrm>
            <a:off x="3488436" y="1664208"/>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2,2 %</a:t>
            </a:r>
            <a:endParaRPr lang="en-US" sz="900" dirty="0"/>
          </a:p>
        </p:txBody>
      </p:sp>
      <p:sp>
        <p:nvSpPr>
          <p:cNvPr id="19" name="Text 17"/>
          <p:cNvSpPr/>
          <p:nvPr/>
        </p:nvSpPr>
        <p:spPr>
          <a:xfrm>
            <a:off x="4940046" y="1664208"/>
            <a:ext cx="140589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Sucre / Alimentaire</a:t>
            </a:r>
            <a:endParaRPr lang="en-US" sz="900" dirty="0"/>
          </a:p>
        </p:txBody>
      </p:sp>
      <p:sp>
        <p:nvSpPr>
          <p:cNvPr id="20" name="Shape 18"/>
          <p:cNvSpPr/>
          <p:nvPr/>
        </p:nvSpPr>
        <p:spPr>
          <a:xfrm>
            <a:off x="137160" y="1883664"/>
            <a:ext cx="621792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585216" y="1920240"/>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BURKINATRANS</a:t>
            </a:r>
            <a:endParaRPr lang="en-US" sz="900" dirty="0"/>
          </a:p>
        </p:txBody>
      </p:sp>
      <p:sp>
        <p:nvSpPr>
          <p:cNvPr id="23" name="Text 21"/>
          <p:cNvSpPr/>
          <p:nvPr/>
        </p:nvSpPr>
        <p:spPr>
          <a:xfrm>
            <a:off x="203682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580</a:t>
            </a:r>
            <a:endParaRPr lang="en-US" sz="900" dirty="0"/>
          </a:p>
        </p:txBody>
      </p:sp>
      <p:sp>
        <p:nvSpPr>
          <p:cNvPr id="24" name="Text 22"/>
          <p:cNvSpPr/>
          <p:nvPr/>
        </p:nvSpPr>
        <p:spPr>
          <a:xfrm>
            <a:off x="348843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2,0 %</a:t>
            </a:r>
            <a:endParaRPr lang="en-US" sz="900" dirty="0"/>
          </a:p>
        </p:txBody>
      </p:sp>
      <p:sp>
        <p:nvSpPr>
          <p:cNvPr id="25" name="Text 23"/>
          <p:cNvSpPr/>
          <p:nvPr/>
        </p:nvSpPr>
        <p:spPr>
          <a:xfrm>
            <a:off x="494004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BTP Burkina</a:t>
            </a:r>
            <a:endParaRPr lang="en-US" sz="900" dirty="0"/>
          </a:p>
        </p:txBody>
      </p:sp>
      <p:sp>
        <p:nvSpPr>
          <p:cNvPr id="26" name="Shape 24"/>
          <p:cNvSpPr/>
          <p:nvPr/>
        </p:nvSpPr>
        <p:spPr>
          <a:xfrm>
            <a:off x="137160" y="2139696"/>
            <a:ext cx="621792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28" name="Text 26"/>
          <p:cNvSpPr/>
          <p:nvPr/>
        </p:nvSpPr>
        <p:spPr>
          <a:xfrm>
            <a:off x="585216" y="2176272"/>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TRANS-SAHEL LOG.</a:t>
            </a:r>
            <a:endParaRPr lang="en-US" sz="900" dirty="0"/>
          </a:p>
        </p:txBody>
      </p:sp>
      <p:sp>
        <p:nvSpPr>
          <p:cNvPr id="29" name="Text 27"/>
          <p:cNvSpPr/>
          <p:nvPr/>
        </p:nvSpPr>
        <p:spPr>
          <a:xfrm>
            <a:off x="203682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450</a:t>
            </a:r>
            <a:endParaRPr lang="en-US" sz="900" dirty="0"/>
          </a:p>
        </p:txBody>
      </p:sp>
      <p:sp>
        <p:nvSpPr>
          <p:cNvPr id="30" name="Text 28"/>
          <p:cNvSpPr/>
          <p:nvPr/>
        </p:nvSpPr>
        <p:spPr>
          <a:xfrm>
            <a:off x="348843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a:t>
            </a:r>
            <a:endParaRPr lang="en-US" sz="900" dirty="0"/>
          </a:p>
        </p:txBody>
      </p:sp>
      <p:sp>
        <p:nvSpPr>
          <p:cNvPr id="31" name="Text 29"/>
          <p:cNvSpPr/>
          <p:nvPr/>
        </p:nvSpPr>
        <p:spPr>
          <a:xfrm>
            <a:off x="494004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32" name="Shape 30"/>
          <p:cNvSpPr/>
          <p:nvPr/>
        </p:nvSpPr>
        <p:spPr>
          <a:xfrm>
            <a:off x="137160" y="2395728"/>
            <a:ext cx="6217920" cy="256032"/>
          </a:xfrm>
          <a:prstGeom prst="rect">
            <a:avLst/>
          </a:prstGeom>
          <a:solidFill>
            <a:srgbClr val="F8F9FA"/>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a:t>
            </a:r>
            <a:endParaRPr lang="en-US" sz="900" dirty="0"/>
          </a:p>
        </p:txBody>
      </p:sp>
      <p:sp>
        <p:nvSpPr>
          <p:cNvPr id="34" name="Text 32"/>
          <p:cNvSpPr/>
          <p:nvPr/>
        </p:nvSpPr>
        <p:spPr>
          <a:xfrm>
            <a:off x="585216" y="2432304"/>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KARAMOKOTRAKRANSIT</a:t>
            </a:r>
            <a:endParaRPr lang="en-US" sz="900" dirty="0"/>
          </a:p>
        </p:txBody>
      </p:sp>
      <p:sp>
        <p:nvSpPr>
          <p:cNvPr id="35" name="Text 33"/>
          <p:cNvSpPr/>
          <p:nvPr/>
        </p:nvSpPr>
        <p:spPr>
          <a:xfrm>
            <a:off x="203682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380</a:t>
            </a:r>
            <a:endParaRPr lang="en-US" sz="900" dirty="0"/>
          </a:p>
        </p:txBody>
      </p:sp>
      <p:sp>
        <p:nvSpPr>
          <p:cNvPr id="36" name="Text 34"/>
          <p:cNvSpPr/>
          <p:nvPr/>
        </p:nvSpPr>
        <p:spPr>
          <a:xfrm>
            <a:off x="348843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1,3 %</a:t>
            </a:r>
            <a:endParaRPr lang="en-US" sz="900" dirty="0"/>
          </a:p>
        </p:txBody>
      </p:sp>
      <p:sp>
        <p:nvSpPr>
          <p:cNvPr id="37" name="Text 35"/>
          <p:cNvSpPr/>
          <p:nvPr/>
        </p:nvSpPr>
        <p:spPr>
          <a:xfrm>
            <a:off x="494004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Alimentation</a:t>
            </a:r>
            <a:endParaRPr lang="en-US" sz="900" dirty="0"/>
          </a:p>
        </p:txBody>
      </p:sp>
      <p:sp>
        <p:nvSpPr>
          <p:cNvPr id="38" name="Text 36"/>
          <p:cNvSpPr/>
          <p:nvPr/>
        </p:nvSpPr>
        <p:spPr>
          <a:xfrm>
            <a:off x="228600" y="274320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Hinterland Import</a:t>
            </a:r>
            <a:endParaRPr lang="en-US" sz="1100" dirty="0"/>
          </a:p>
        </p:txBody>
      </p:sp>
      <p:sp>
        <p:nvSpPr>
          <p:cNvPr id="39" name="Shape 37"/>
          <p:cNvSpPr/>
          <p:nvPr/>
        </p:nvSpPr>
        <p:spPr>
          <a:xfrm>
            <a:off x="137160" y="3017520"/>
            <a:ext cx="6217920" cy="256032"/>
          </a:xfrm>
          <a:prstGeom prst="rect">
            <a:avLst/>
          </a:prstGeom>
          <a:solidFill>
            <a:srgbClr val="0D2243"/>
          </a:solidFill>
          <a:ln/>
        </p:spPr>
      </p:sp>
      <p:sp>
        <p:nvSpPr>
          <p:cNvPr id="40" name="Text 38"/>
          <p:cNvSpPr/>
          <p:nvPr/>
        </p:nvSpPr>
        <p:spPr>
          <a:xfrm>
            <a:off x="173736" y="305409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41" name="Text 39"/>
          <p:cNvSpPr/>
          <p:nvPr/>
        </p:nvSpPr>
        <p:spPr>
          <a:xfrm>
            <a:off x="585216" y="305409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42" name="Text 40"/>
          <p:cNvSpPr/>
          <p:nvPr/>
        </p:nvSpPr>
        <p:spPr>
          <a:xfrm>
            <a:off x="2520696" y="305409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Destination</a:t>
            </a:r>
            <a:endParaRPr lang="en-US" sz="900" dirty="0"/>
          </a:p>
        </p:txBody>
      </p:sp>
      <p:sp>
        <p:nvSpPr>
          <p:cNvPr id="43" name="Text 41"/>
          <p:cNvSpPr/>
          <p:nvPr/>
        </p:nvSpPr>
        <p:spPr>
          <a:xfrm>
            <a:off x="4456176" y="305409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44" name="Shape 42"/>
          <p:cNvSpPr/>
          <p:nvPr/>
        </p:nvSpPr>
        <p:spPr>
          <a:xfrm>
            <a:off x="137160" y="3273552"/>
            <a:ext cx="6217920" cy="256032"/>
          </a:xfrm>
          <a:prstGeom prst="rect">
            <a:avLst/>
          </a:prstGeom>
          <a:solidFill>
            <a:srgbClr val="FFF9EC"/>
          </a:solidFill>
          <a:ln w="3810">
            <a:solidFill>
              <a:srgbClr val="E5E7EB"/>
            </a:solidFill>
            <a:prstDash val="solid"/>
          </a:ln>
        </p:spPr>
      </p:sp>
      <p:sp>
        <p:nvSpPr>
          <p:cNvPr id="45" name="Text 43"/>
          <p:cNvSpPr/>
          <p:nvPr/>
        </p:nvSpPr>
        <p:spPr>
          <a:xfrm>
            <a:off x="173736" y="331012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SOFAO BF (alimentaire)</a:t>
            </a:r>
            <a:endParaRPr lang="en-US" sz="900" dirty="0"/>
          </a:p>
        </p:txBody>
      </p:sp>
      <p:sp>
        <p:nvSpPr>
          <p:cNvPr id="46" name="Text 44"/>
          <p:cNvSpPr/>
          <p:nvPr/>
        </p:nvSpPr>
        <p:spPr>
          <a:xfrm>
            <a:off x="585216" y="331012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926</a:t>
            </a:r>
            <a:endParaRPr lang="en-US" sz="900" dirty="0"/>
          </a:p>
        </p:txBody>
      </p:sp>
      <p:sp>
        <p:nvSpPr>
          <p:cNvPr id="47" name="Text 45"/>
          <p:cNvSpPr/>
          <p:nvPr/>
        </p:nvSpPr>
        <p:spPr>
          <a:xfrm>
            <a:off x="2520696" y="331012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48" name="Text 46"/>
          <p:cNvSpPr/>
          <p:nvPr/>
        </p:nvSpPr>
        <p:spPr>
          <a:xfrm>
            <a:off x="4456176" y="331012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49" name="Shape 47"/>
          <p:cNvSpPr/>
          <p:nvPr/>
        </p:nvSpPr>
        <p:spPr>
          <a:xfrm>
            <a:off x="137160" y="3529584"/>
            <a:ext cx="6217920" cy="256032"/>
          </a:xfrm>
          <a:prstGeom prst="rect">
            <a:avLst/>
          </a:prstGeom>
          <a:solidFill>
            <a:srgbClr val="F8F9FA"/>
          </a:solidFill>
          <a:ln w="3810">
            <a:solidFill>
              <a:srgbClr val="E5E7EB"/>
            </a:solidFill>
            <a:prstDash val="solid"/>
          </a:ln>
        </p:spPr>
      </p:sp>
      <p:sp>
        <p:nvSpPr>
          <p:cNvPr id="50" name="Text 48"/>
          <p:cNvSpPr/>
          <p:nvPr/>
        </p:nvSpPr>
        <p:spPr>
          <a:xfrm>
            <a:off x="173736" y="356616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BRAKINA (boissons)</a:t>
            </a:r>
            <a:endParaRPr lang="en-US" sz="900" dirty="0"/>
          </a:p>
        </p:txBody>
      </p:sp>
      <p:sp>
        <p:nvSpPr>
          <p:cNvPr id="51" name="Text 49"/>
          <p:cNvSpPr/>
          <p:nvPr/>
        </p:nvSpPr>
        <p:spPr>
          <a:xfrm>
            <a:off x="585216" y="356616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552</a:t>
            </a:r>
            <a:endParaRPr lang="en-US" sz="900" dirty="0"/>
          </a:p>
        </p:txBody>
      </p:sp>
      <p:sp>
        <p:nvSpPr>
          <p:cNvPr id="52" name="Text 50"/>
          <p:cNvSpPr/>
          <p:nvPr/>
        </p:nvSpPr>
        <p:spPr>
          <a:xfrm>
            <a:off x="2520696" y="356616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Bobo-Dioulasso</a:t>
            </a:r>
            <a:endParaRPr lang="en-US" sz="900" dirty="0"/>
          </a:p>
        </p:txBody>
      </p:sp>
      <p:sp>
        <p:nvSpPr>
          <p:cNvPr id="53" name="Text 51"/>
          <p:cNvSpPr/>
          <p:nvPr/>
        </p:nvSpPr>
        <p:spPr>
          <a:xfrm>
            <a:off x="4456176" y="356616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54" name="Shape 52"/>
          <p:cNvSpPr/>
          <p:nvPr/>
        </p:nvSpPr>
        <p:spPr>
          <a:xfrm>
            <a:off x="137160" y="3785616"/>
            <a:ext cx="6217920" cy="256032"/>
          </a:xfrm>
          <a:prstGeom prst="rect">
            <a:avLst/>
          </a:prstGeom>
          <a:solidFill>
            <a:srgbClr val="FFFFFF"/>
          </a:solidFill>
          <a:ln w="3810">
            <a:solidFill>
              <a:srgbClr val="E5E7EB"/>
            </a:solidFill>
            <a:prstDash val="solid"/>
          </a:ln>
        </p:spPr>
      </p:sp>
      <p:sp>
        <p:nvSpPr>
          <p:cNvPr id="55" name="Text 53"/>
          <p:cNvSpPr/>
          <p:nvPr/>
        </p:nvSpPr>
        <p:spPr>
          <a:xfrm>
            <a:off x="173736" y="382219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CODIMEX BF (emballages)</a:t>
            </a:r>
            <a:endParaRPr lang="en-US" sz="900" dirty="0"/>
          </a:p>
        </p:txBody>
      </p:sp>
      <p:sp>
        <p:nvSpPr>
          <p:cNvPr id="56" name="Text 54"/>
          <p:cNvSpPr/>
          <p:nvPr/>
        </p:nvSpPr>
        <p:spPr>
          <a:xfrm>
            <a:off x="585216" y="382219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461</a:t>
            </a:r>
            <a:endParaRPr lang="en-US" sz="900" dirty="0"/>
          </a:p>
        </p:txBody>
      </p:sp>
      <p:sp>
        <p:nvSpPr>
          <p:cNvPr id="57" name="Text 55"/>
          <p:cNvSpPr/>
          <p:nvPr/>
        </p:nvSpPr>
        <p:spPr>
          <a:xfrm>
            <a:off x="2520696" y="382219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58" name="Text 56"/>
          <p:cNvSpPr/>
          <p:nvPr/>
        </p:nvSpPr>
        <p:spPr>
          <a:xfrm>
            <a:off x="4456176" y="382219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59" name="Shape 57"/>
          <p:cNvSpPr/>
          <p:nvPr/>
        </p:nvSpPr>
        <p:spPr>
          <a:xfrm>
            <a:off x="137160" y="4041648"/>
            <a:ext cx="6217920" cy="256032"/>
          </a:xfrm>
          <a:prstGeom prst="rect">
            <a:avLst/>
          </a:prstGeom>
          <a:solidFill>
            <a:srgbClr val="F8F9FA"/>
          </a:solidFill>
          <a:ln w="3810">
            <a:solidFill>
              <a:srgbClr val="E5E7EB"/>
            </a:solidFill>
            <a:prstDash val="solid"/>
          </a:ln>
        </p:spPr>
      </p:sp>
      <p:sp>
        <p:nvSpPr>
          <p:cNvPr id="60" name="Text 58"/>
          <p:cNvSpPr/>
          <p:nvPr/>
        </p:nvSpPr>
        <p:spPr>
          <a:xfrm>
            <a:off x="173736" y="407822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TOTAL ENERGIES ML</a:t>
            </a:r>
            <a:endParaRPr lang="en-US" sz="900" dirty="0"/>
          </a:p>
        </p:txBody>
      </p:sp>
      <p:sp>
        <p:nvSpPr>
          <p:cNvPr id="61" name="Text 59"/>
          <p:cNvSpPr/>
          <p:nvPr/>
        </p:nvSpPr>
        <p:spPr>
          <a:xfrm>
            <a:off x="585216" y="407822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390</a:t>
            </a:r>
            <a:endParaRPr lang="en-US" sz="900" dirty="0"/>
          </a:p>
        </p:txBody>
      </p:sp>
      <p:sp>
        <p:nvSpPr>
          <p:cNvPr id="62" name="Text 60"/>
          <p:cNvSpPr/>
          <p:nvPr/>
        </p:nvSpPr>
        <p:spPr>
          <a:xfrm>
            <a:off x="2520696" y="407822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Bamako</a:t>
            </a:r>
            <a:endParaRPr lang="en-US" sz="900" dirty="0"/>
          </a:p>
        </p:txBody>
      </p:sp>
      <p:sp>
        <p:nvSpPr>
          <p:cNvPr id="63" name="Text 61"/>
          <p:cNvSpPr/>
          <p:nvPr/>
        </p:nvSpPr>
        <p:spPr>
          <a:xfrm>
            <a:off x="4456176" y="407822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64" name="Shape 62"/>
          <p:cNvSpPr/>
          <p:nvPr/>
        </p:nvSpPr>
        <p:spPr>
          <a:xfrm>
            <a:off x="137160" y="4297680"/>
            <a:ext cx="6217920" cy="256032"/>
          </a:xfrm>
          <a:prstGeom prst="rect">
            <a:avLst/>
          </a:prstGeom>
          <a:solidFill>
            <a:srgbClr val="FFFFFF"/>
          </a:solidFill>
          <a:ln w="3810">
            <a:solidFill>
              <a:srgbClr val="E5E7EB"/>
            </a:solidFill>
            <a:prstDash val="solid"/>
          </a:ln>
        </p:spPr>
      </p:sp>
      <p:sp>
        <p:nvSpPr>
          <p:cNvPr id="65" name="Text 63"/>
          <p:cNvSpPr/>
          <p:nvPr/>
        </p:nvSpPr>
        <p:spPr>
          <a:xfrm>
            <a:off x="173736" y="433425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ONATEL BF (télécoms)</a:t>
            </a:r>
            <a:endParaRPr lang="en-US" sz="900" dirty="0"/>
          </a:p>
        </p:txBody>
      </p:sp>
      <p:sp>
        <p:nvSpPr>
          <p:cNvPr id="66" name="Text 64"/>
          <p:cNvSpPr/>
          <p:nvPr/>
        </p:nvSpPr>
        <p:spPr>
          <a:xfrm>
            <a:off x="585216" y="433425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320</a:t>
            </a:r>
            <a:endParaRPr lang="en-US" sz="900" dirty="0"/>
          </a:p>
        </p:txBody>
      </p:sp>
      <p:sp>
        <p:nvSpPr>
          <p:cNvPr id="67" name="Text 65"/>
          <p:cNvSpPr/>
          <p:nvPr/>
        </p:nvSpPr>
        <p:spPr>
          <a:xfrm>
            <a:off x="2520696" y="433425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68" name="Text 66"/>
          <p:cNvSpPr/>
          <p:nvPr/>
        </p:nvSpPr>
        <p:spPr>
          <a:xfrm>
            <a:off x="4456176" y="433425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69" name="Text 6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hinterland – PDM AGL</a:t>
            </a:r>
            <a:endParaRPr lang="en-US" sz="1100" dirty="0"/>
          </a:p>
        </p:txBody>
      </p:sp>
      <p:sp>
        <p:nvSpPr>
          <p:cNvPr id="70" name="Text 6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 AGRICOLE</a:t>
            </a:r>
            <a:endParaRPr lang="en-US" sz="850" dirty="0"/>
          </a:p>
        </p:txBody>
      </p:sp>
      <p:sp>
        <p:nvSpPr>
          <p:cNvPr id="71" name="Text 6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520 TEU</a:t>
            </a:r>
            <a:endParaRPr lang="en-US" sz="850" dirty="0"/>
          </a:p>
        </p:txBody>
      </p:sp>
      <p:sp>
        <p:nvSpPr>
          <p:cNvPr id="72" name="Shape 70"/>
          <p:cNvSpPr/>
          <p:nvPr/>
        </p:nvSpPr>
        <p:spPr>
          <a:xfrm>
            <a:off x="9052560" y="1426464"/>
            <a:ext cx="2743200" cy="164592"/>
          </a:xfrm>
          <a:prstGeom prst="rect">
            <a:avLst/>
          </a:prstGeom>
          <a:solidFill>
            <a:srgbClr val="E5E7EB"/>
          </a:solidFill>
          <a:ln/>
        </p:spPr>
      </p:sp>
      <p:sp>
        <p:nvSpPr>
          <p:cNvPr id="73" name="Shape 71"/>
          <p:cNvSpPr/>
          <p:nvPr/>
        </p:nvSpPr>
        <p:spPr>
          <a:xfrm>
            <a:off x="9052560" y="1426464"/>
            <a:ext cx="219456" cy="164592"/>
          </a:xfrm>
          <a:prstGeom prst="rect">
            <a:avLst/>
          </a:prstGeom>
          <a:solidFill>
            <a:srgbClr val="CC2200"/>
          </a:solidFill>
          <a:ln/>
        </p:spPr>
      </p:sp>
      <p:sp>
        <p:nvSpPr>
          <p:cNvPr id="74" name="Text 7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Text 7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VÉHICULES BTP</a:t>
            </a:r>
            <a:endParaRPr lang="en-US" sz="850" dirty="0"/>
          </a:p>
        </p:txBody>
      </p:sp>
      <p:sp>
        <p:nvSpPr>
          <p:cNvPr id="76" name="Text 7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380 TEU</a:t>
            </a:r>
            <a:endParaRPr lang="en-US" sz="850" dirty="0"/>
          </a:p>
        </p:txBody>
      </p:sp>
      <p:sp>
        <p:nvSpPr>
          <p:cNvPr id="77" name="Shape 75"/>
          <p:cNvSpPr/>
          <p:nvPr/>
        </p:nvSpPr>
        <p:spPr>
          <a:xfrm>
            <a:off x="9052560" y="1810512"/>
            <a:ext cx="2743200" cy="164592"/>
          </a:xfrm>
          <a:prstGeom prst="rect">
            <a:avLst/>
          </a:prstGeom>
          <a:solidFill>
            <a:srgbClr val="E5E7EB"/>
          </a:solidFill>
          <a:ln/>
        </p:spPr>
      </p:sp>
      <p:sp>
        <p:nvSpPr>
          <p:cNvPr id="78" name="Shape 76"/>
          <p:cNvSpPr/>
          <p:nvPr/>
        </p:nvSpPr>
        <p:spPr>
          <a:xfrm>
            <a:off x="9052560" y="1810512"/>
            <a:ext cx="137160" cy="164592"/>
          </a:xfrm>
          <a:prstGeom prst="rect">
            <a:avLst/>
          </a:prstGeom>
          <a:solidFill>
            <a:srgbClr val="CC2200"/>
          </a:solidFill>
          <a:ln/>
        </p:spPr>
      </p:sp>
      <p:sp>
        <p:nvSpPr>
          <p:cNvPr id="79" name="Text 7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Text 7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INTRANTS PHARMA</a:t>
            </a:r>
            <a:endParaRPr lang="en-US" sz="850" dirty="0"/>
          </a:p>
        </p:txBody>
      </p:sp>
      <p:sp>
        <p:nvSpPr>
          <p:cNvPr id="81" name="Text 7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290 TEU</a:t>
            </a:r>
            <a:endParaRPr lang="en-US" sz="850" dirty="0"/>
          </a:p>
        </p:txBody>
      </p:sp>
      <p:sp>
        <p:nvSpPr>
          <p:cNvPr id="82" name="Shape 80"/>
          <p:cNvSpPr/>
          <p:nvPr/>
        </p:nvSpPr>
        <p:spPr>
          <a:xfrm>
            <a:off x="9052560" y="2194560"/>
            <a:ext cx="2743200" cy="164592"/>
          </a:xfrm>
          <a:prstGeom prst="rect">
            <a:avLst/>
          </a:prstGeom>
          <a:solidFill>
            <a:srgbClr val="E5E7EB"/>
          </a:solidFill>
          <a:ln/>
        </p:spPr>
      </p:sp>
      <p:sp>
        <p:nvSpPr>
          <p:cNvPr id="83" name="Shape 81"/>
          <p:cNvSpPr/>
          <p:nvPr/>
        </p:nvSpPr>
        <p:spPr>
          <a:xfrm>
            <a:off x="9052560" y="2194560"/>
            <a:ext cx="329184" cy="164592"/>
          </a:xfrm>
          <a:prstGeom prst="rect">
            <a:avLst/>
          </a:prstGeom>
          <a:solidFill>
            <a:srgbClr val="E05A00"/>
          </a:solidFill>
          <a:ln/>
        </p:spPr>
      </p:sp>
      <p:sp>
        <p:nvSpPr>
          <p:cNvPr id="84" name="Text 8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85" name="Shape 83"/>
          <p:cNvSpPr/>
          <p:nvPr/>
        </p:nvSpPr>
        <p:spPr>
          <a:xfrm>
            <a:off x="6492240" y="3840480"/>
            <a:ext cx="5486400" cy="685800"/>
          </a:xfrm>
          <a:prstGeom prst="rect">
            <a:avLst/>
          </a:prstGeom>
          <a:solidFill>
            <a:srgbClr val="FFFBEC"/>
          </a:solidFill>
          <a:ln w="6350">
            <a:solidFill>
              <a:srgbClr val="E5C97A"/>
            </a:solidFill>
            <a:prstDash val="solid"/>
          </a:ln>
        </p:spPr>
      </p:sp>
      <p:sp>
        <p:nvSpPr>
          <p:cNvPr id="86" name="Text 84"/>
          <p:cNvSpPr/>
          <p:nvPr/>
        </p:nvSpPr>
        <p:spPr>
          <a:xfrm>
            <a:off x="6583680" y="39136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CIBLES : Thé (928 TEU) + Motos (1 172 TEU) à 0–1% PDM = 2 100 TEU de potentiel immédiat. Commercial dédié Ouagadougou recommandé (40% du marché hinterland).</a:t>
            </a:r>
            <a:endParaRPr lang="en-US" sz="900" dirty="0"/>
          </a:p>
        </p:txBody>
      </p:sp>
      <p:sp>
        <p:nvSpPr>
          <p:cNvPr id="87" name="Shape 85"/>
          <p:cNvSpPr/>
          <p:nvPr/>
        </p:nvSpPr>
        <p:spPr>
          <a:xfrm>
            <a:off x="6492240" y="4663440"/>
            <a:ext cx="5486400" cy="685800"/>
          </a:xfrm>
          <a:prstGeom prst="rect">
            <a:avLst/>
          </a:prstGeom>
          <a:solidFill>
            <a:srgbClr val="FEF2F2"/>
          </a:solidFill>
          <a:ln w="6350">
            <a:solidFill>
              <a:srgbClr val="E5C97A"/>
            </a:solidFill>
            <a:prstDash val="solid"/>
          </a:ln>
        </p:spPr>
      </p:sp>
      <p:sp>
        <p:nvSpPr>
          <p:cNvPr id="88" name="Text 86"/>
          <p:cNvSpPr/>
          <p:nvPr/>
        </p:nvSpPr>
        <p:spPr>
          <a:xfrm>
            <a:off x="6583680" y="473659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 CEVA Logistics déjà #5 (4,4%) en quelques mois. UCT + Sitracom verrouillent 51,9% du marché — l'écart vers le rang #2 est de 3 994 TEU.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04</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EXPORT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4 294 TEU  |  PDM AGL : 66,1%  |  Dominance absolue</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TOTAL</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4 294</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2 840</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66,1 %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COTON AGL</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2 522</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 88,8% du portef.</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FÉV.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72,9 %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 Hinterland Export</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Export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1780634" cy="201168"/>
          </a:xfrm>
          <a:prstGeom prst="rect">
            <a:avLst/>
          </a:prstGeom>
          <a:solidFill>
            <a:srgbClr val="E05A00"/>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50.7%</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560320" cy="201168"/>
          </a:xfrm>
          <a:prstGeom prst="rect">
            <a:avLst/>
          </a:prstGeom>
          <a:solidFill>
            <a:srgbClr val="1A7C4F"/>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72.9%</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525199"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71.9%</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391739"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68.1%</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991360"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56.7%</a:t>
            </a:r>
            <a:endParaRPr lang="en-US" sz="1200" dirty="0"/>
          </a:p>
        </p:txBody>
      </p:sp>
      <p:sp>
        <p:nvSpPr>
          <p:cNvPr id="55" name="Text 52"/>
          <p:cNvSpPr/>
          <p:nvPr/>
        </p:nvSpPr>
        <p:spPr>
          <a:xfrm>
            <a:off x="137160" y="59436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Concurrents : FM General Services 12,1% (518 TEU)  |  Movis Transit 5,8% (251 TEU)  |  CEVA Logistics 5,1% (220 TEU)</a:t>
            </a:r>
            <a:endParaRPr lang="en-US" sz="900" dirty="0"/>
          </a:p>
        </p:txBody>
      </p:sp>
      <p:sp>
        <p:nvSpPr>
          <p:cNvPr id="56" name="Text 53"/>
          <p:cNvSpPr/>
          <p:nvPr/>
        </p:nvSpPr>
        <p:spPr>
          <a:xfrm>
            <a:off x="137160" y="61722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Chargeurs AGL : SOFITEX 1 492 TEU  |  CMDT Bamako 1 010 TEU  |  SAGROCOM BF 249 TEU</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NOUVEAUX CHARGEURS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Sécurisation du portefeuille coton  |  Nouvelle filière huile de palme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Hinterland Export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IVOIRE COTON EXPORT</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280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 BURKINA SUD</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195</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SODECOTON ML (Mali)</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OIL PALM CI EXPORT</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Huile de Palme</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33" name="Text 31"/>
          <p:cNvSpPr/>
          <p:nvPr/>
        </p:nvSpPr>
        <p:spPr>
          <a:xfrm>
            <a:off x="228600" y="306324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Portefeuille existant à sécuriser</a:t>
            </a:r>
            <a:endParaRPr lang="en-US" sz="1100" dirty="0"/>
          </a:p>
        </p:txBody>
      </p:sp>
      <p:sp>
        <p:nvSpPr>
          <p:cNvPr id="34" name="Shape 32"/>
          <p:cNvSpPr/>
          <p:nvPr/>
        </p:nvSpPr>
        <p:spPr>
          <a:xfrm>
            <a:off x="137160" y="3337560"/>
            <a:ext cx="6217920" cy="256032"/>
          </a:xfrm>
          <a:prstGeom prst="rect">
            <a:avLst/>
          </a:prstGeom>
          <a:solidFill>
            <a:srgbClr val="0D2243"/>
          </a:solidFill>
          <a:ln/>
        </p:spPr>
      </p:sp>
      <p:sp>
        <p:nvSpPr>
          <p:cNvPr id="35" name="Text 33"/>
          <p:cNvSpPr/>
          <p:nvPr/>
        </p:nvSpPr>
        <p:spPr>
          <a:xfrm>
            <a:off x="173736" y="337413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36" name="Text 34"/>
          <p:cNvSpPr/>
          <p:nvPr/>
        </p:nvSpPr>
        <p:spPr>
          <a:xfrm>
            <a:off x="585216" y="3374136"/>
            <a:ext cx="285750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37" name="Text 35"/>
          <p:cNvSpPr/>
          <p:nvPr/>
        </p:nvSpPr>
        <p:spPr>
          <a:xfrm>
            <a:off x="3488436" y="3374136"/>
            <a:ext cx="28575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Portefeuille</a:t>
            </a:r>
            <a:endParaRPr lang="en-US" sz="900" dirty="0"/>
          </a:p>
        </p:txBody>
      </p:sp>
      <p:sp>
        <p:nvSpPr>
          <p:cNvPr id="38" name="Shape 36"/>
          <p:cNvSpPr/>
          <p:nvPr/>
        </p:nvSpPr>
        <p:spPr>
          <a:xfrm>
            <a:off x="137160" y="3593592"/>
            <a:ext cx="6217920" cy="256032"/>
          </a:xfrm>
          <a:prstGeom prst="rect">
            <a:avLst/>
          </a:prstGeom>
          <a:solidFill>
            <a:srgbClr val="FFF9EC"/>
          </a:solidFill>
          <a:ln w="3810">
            <a:solidFill>
              <a:srgbClr val="E5E7EB"/>
            </a:solidFill>
            <a:prstDash val="solid"/>
          </a:ln>
        </p:spPr>
      </p:sp>
      <p:sp>
        <p:nvSpPr>
          <p:cNvPr id="39" name="Text 37"/>
          <p:cNvSpPr/>
          <p:nvPr/>
        </p:nvSpPr>
        <p:spPr>
          <a:xfrm>
            <a:off x="173736" y="363016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SOFITEX</a:t>
            </a:r>
            <a:endParaRPr lang="en-US" sz="900" dirty="0"/>
          </a:p>
        </p:txBody>
      </p:sp>
      <p:sp>
        <p:nvSpPr>
          <p:cNvPr id="40" name="Text 38"/>
          <p:cNvSpPr/>
          <p:nvPr/>
        </p:nvSpPr>
        <p:spPr>
          <a:xfrm>
            <a:off x="585216" y="3630168"/>
            <a:ext cx="285750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1 492</a:t>
            </a:r>
            <a:endParaRPr lang="en-US" sz="900" dirty="0"/>
          </a:p>
        </p:txBody>
      </p:sp>
      <p:sp>
        <p:nvSpPr>
          <p:cNvPr id="41" name="Text 39"/>
          <p:cNvSpPr/>
          <p:nvPr/>
        </p:nvSpPr>
        <p:spPr>
          <a:xfrm>
            <a:off x="3488436" y="3630168"/>
            <a:ext cx="285750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52,5 %</a:t>
            </a:r>
            <a:endParaRPr lang="en-US" sz="900" dirty="0"/>
          </a:p>
        </p:txBody>
      </p:sp>
      <p:sp>
        <p:nvSpPr>
          <p:cNvPr id="42" name="Shape 40"/>
          <p:cNvSpPr/>
          <p:nvPr/>
        </p:nvSpPr>
        <p:spPr>
          <a:xfrm>
            <a:off x="137160" y="3849624"/>
            <a:ext cx="6217920" cy="256032"/>
          </a:xfrm>
          <a:prstGeom prst="rect">
            <a:avLst/>
          </a:prstGeom>
          <a:solidFill>
            <a:srgbClr val="F8F9FA"/>
          </a:solidFill>
          <a:ln w="3810">
            <a:solidFill>
              <a:srgbClr val="E5E7EB"/>
            </a:solidFill>
            <a:prstDash val="solid"/>
          </a:ln>
        </p:spPr>
      </p:sp>
      <p:sp>
        <p:nvSpPr>
          <p:cNvPr id="43" name="Text 41"/>
          <p:cNvSpPr/>
          <p:nvPr/>
        </p:nvSpPr>
        <p:spPr>
          <a:xfrm>
            <a:off x="173736" y="38862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CMDT Bamako</a:t>
            </a:r>
            <a:endParaRPr lang="en-US" sz="900" dirty="0"/>
          </a:p>
        </p:txBody>
      </p:sp>
      <p:sp>
        <p:nvSpPr>
          <p:cNvPr id="44" name="Text 42"/>
          <p:cNvSpPr/>
          <p:nvPr/>
        </p:nvSpPr>
        <p:spPr>
          <a:xfrm>
            <a:off x="585216" y="3886200"/>
            <a:ext cx="28575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1 010</a:t>
            </a:r>
            <a:endParaRPr lang="en-US" sz="900" dirty="0"/>
          </a:p>
        </p:txBody>
      </p:sp>
      <p:sp>
        <p:nvSpPr>
          <p:cNvPr id="45" name="Text 43"/>
          <p:cNvSpPr/>
          <p:nvPr/>
        </p:nvSpPr>
        <p:spPr>
          <a:xfrm>
            <a:off x="3488436" y="3886200"/>
            <a:ext cx="28575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35,6 %</a:t>
            </a:r>
            <a:endParaRPr lang="en-US" sz="900" dirty="0"/>
          </a:p>
        </p:txBody>
      </p:sp>
      <p:sp>
        <p:nvSpPr>
          <p:cNvPr id="46" name="Shape 44"/>
          <p:cNvSpPr/>
          <p:nvPr/>
        </p:nvSpPr>
        <p:spPr>
          <a:xfrm>
            <a:off x="137160" y="4105656"/>
            <a:ext cx="6217920" cy="256032"/>
          </a:xfrm>
          <a:prstGeom prst="rect">
            <a:avLst/>
          </a:prstGeom>
          <a:solidFill>
            <a:srgbClr val="FFFFFF"/>
          </a:solidFill>
          <a:ln w="3810">
            <a:solidFill>
              <a:srgbClr val="E5E7EB"/>
            </a:solidFill>
            <a:prstDash val="solid"/>
          </a:ln>
        </p:spPr>
      </p:sp>
      <p:sp>
        <p:nvSpPr>
          <p:cNvPr id="47" name="Text 45"/>
          <p:cNvSpPr/>
          <p:nvPr/>
        </p:nvSpPr>
        <p:spPr>
          <a:xfrm>
            <a:off x="173736" y="41422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SAGROCOM BF</a:t>
            </a:r>
            <a:endParaRPr lang="en-US" sz="900" dirty="0"/>
          </a:p>
        </p:txBody>
      </p:sp>
      <p:sp>
        <p:nvSpPr>
          <p:cNvPr id="48" name="Text 46"/>
          <p:cNvSpPr/>
          <p:nvPr/>
        </p:nvSpPr>
        <p:spPr>
          <a:xfrm>
            <a:off x="585216" y="4142232"/>
            <a:ext cx="28575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249</a:t>
            </a:r>
            <a:endParaRPr lang="en-US" sz="900" dirty="0"/>
          </a:p>
        </p:txBody>
      </p:sp>
      <p:sp>
        <p:nvSpPr>
          <p:cNvPr id="49" name="Text 47"/>
          <p:cNvSpPr/>
          <p:nvPr/>
        </p:nvSpPr>
        <p:spPr>
          <a:xfrm>
            <a:off x="3488436" y="4142232"/>
            <a:ext cx="28575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8,8 %</a:t>
            </a:r>
            <a:endParaRPr lang="en-US" sz="90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Contexte concurrentiel – PDM concurrents</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518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329184" cy="164592"/>
          </a:xfrm>
          <a:prstGeom prst="rect">
            <a:avLst/>
          </a:prstGeom>
          <a:solidFill>
            <a:srgbClr val="E05A00"/>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251 TEU</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4592" cy="164592"/>
          </a:xfrm>
          <a:prstGeom prst="rect">
            <a:avLst/>
          </a:prstGeom>
          <a:solidFill>
            <a:srgbClr val="CC2200"/>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 cy="164592"/>
          </a:xfrm>
          <a:prstGeom prst="rect">
            <a:avLst/>
          </a:prstGeom>
          <a:solidFill>
            <a:srgbClr val="CC2200"/>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66" name="Shape 64"/>
          <p:cNvSpPr/>
          <p:nvPr/>
        </p:nvSpPr>
        <p:spPr>
          <a:xfrm>
            <a:off x="6492240" y="3200400"/>
            <a:ext cx="5486400" cy="777240"/>
          </a:xfrm>
          <a:prstGeom prst="rect">
            <a:avLst/>
          </a:prstGeom>
          <a:solidFill>
            <a:srgbClr val="FEF2F2"/>
          </a:solidFill>
          <a:ln w="6350">
            <a:solidFill>
              <a:srgbClr val="E5C97A"/>
            </a:solidFill>
            <a:prstDash val="solid"/>
          </a:ln>
        </p:spPr>
      </p:sp>
      <p:sp>
        <p:nvSpPr>
          <p:cNvPr id="67" name="Text 65"/>
          <p:cNvSpPr/>
          <p:nvPr/>
        </p:nvSpPr>
        <p:spPr>
          <a:xfrm>
            <a:off x="6583680" y="32735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CEVA : CEVA Logistics (CMA CGM, bureau Abidjan avril 2026) capte déjà 5,1% du marché. Risque direct sur les flux coton Bamako–Ouagadougou.</a:t>
            </a:r>
            <a:endParaRPr lang="en-US" sz="900" dirty="0"/>
          </a:p>
        </p:txBody>
      </p:sp>
      <p:sp>
        <p:nvSpPr>
          <p:cNvPr id="68" name="Shape 66"/>
          <p:cNvSpPr/>
          <p:nvPr/>
        </p:nvSpPr>
        <p:spPr>
          <a:xfrm>
            <a:off x="6492240" y="4114800"/>
            <a:ext cx="5486400" cy="777240"/>
          </a:xfrm>
          <a:prstGeom prst="rect">
            <a:avLst/>
          </a:prstGeom>
          <a:solidFill>
            <a:srgbClr val="FFFBEC"/>
          </a:solidFill>
          <a:ln w="6350">
            <a:solidFill>
              <a:srgbClr val="E5C97A"/>
            </a:solidFill>
            <a:prstDash val="solid"/>
          </a:ln>
        </p:spPr>
      </p:sp>
      <p:sp>
        <p:nvSpPr>
          <p:cNvPr id="69" name="Text 67"/>
          <p:cNvSpPr/>
          <p:nvPr/>
        </p:nvSpPr>
        <p:spPr>
          <a:xfrm>
            <a:off x="6583680" y="41879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ACTION : Sécuriser SOFITEX (52,5% du portefeuille) et CMDT par contrats pluriannuels avant la campagne coton 2026–2027. Développer la filière huile de palme (140 TEU dès Q1).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05</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AÉRIEN IMPORT</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5 603 T qualifiées  |  PDM AGL : 20,8%  |  #1 ABSOLU</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VUE D'ENSEMBLE  |  Jan–Mai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2025</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5 521 T</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Jan–Mai 2025</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2026</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5 603 T</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+1,5% vs 2025</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AGL 2026</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1 166 T</a:t>
            </a:r>
            <a:endParaRPr lang="en-US" sz="22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 2026</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20,8 %</a:t>
            </a:r>
            <a:endParaRPr lang="en-US" sz="26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vs ~18% estimé 2025</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MAI 2026</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31,2 %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Record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Marché aérien import qualifié (kg) – 2025 vs 2026</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aérien – Progression Jan→Mai 2026 (%)</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894471" cy="201168"/>
          </a:xfrm>
          <a:prstGeom prst="rect">
            <a:avLst/>
          </a:prstGeom>
          <a:solidFill>
            <a:srgbClr val="E05A00"/>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10.9%</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1247335"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15.2%</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1838178"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22.4%</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305929"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28.1%</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2560320" cy="201168"/>
          </a:xfrm>
          <a:prstGeom prst="rect">
            <a:avLst/>
          </a:prstGeom>
          <a:solidFill>
            <a:srgbClr val="1A7C4F"/>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31.2%</a:t>
            </a:r>
            <a:endParaRPr lang="en-US" sz="12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ABSOLU aérien import (qualifié) : 20,8% de PDM sur 5 603 tonnes. Progression remarquable : 10,9% en Janvier → 31,2% en Mai, soit +20,3 pts en 5 mois.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marchandises – évolution 2025 vs 2026 (kg)</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Marchandise</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2025</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Var.%</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OEUFS</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1 483 700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1 883 317</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+26,9%</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149 783</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515 776</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+244,3%</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255 984</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486 785</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+90,2%</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280 991</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337 882</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+20,2%</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BILLETS DE BANQUE</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268 210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330 706</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+23,3%</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113 602</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182 071</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+60,3%</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ÉLECTRIQUE</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64 622</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158 887</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+145,9%</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PIÈCES DÉTACHÉES</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1 181 203</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942 926</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–20,2%</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PRODUITS CHIMIQUES</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207 323</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189 901</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–8,4%</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FRUITS &amp; LÉGUMES</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154 253</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115 798</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–24,9%</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Aérien Import 2026 (qualifié)</a:t>
            </a:r>
            <a:endParaRPr lang="en-US" sz="1100" dirty="0"/>
          </a:p>
        </p:txBody>
      </p:sp>
      <p:sp>
        <p:nvSpPr>
          <p:cNvPr id="64" name="Shape 62"/>
          <p:cNvSpPr/>
          <p:nvPr/>
        </p:nvSpPr>
        <p:spPr>
          <a:xfrm>
            <a:off x="6400800" y="1371600"/>
            <a:ext cx="5669280" cy="256032"/>
          </a:xfrm>
          <a:prstGeom prst="rect">
            <a:avLst/>
          </a:prstGeom>
          <a:solidFill>
            <a:srgbClr val="0D2243"/>
          </a:solidFill>
          <a:ln/>
        </p:spPr>
      </p:sp>
      <p:sp>
        <p:nvSpPr>
          <p:cNvPr id="65" name="Text 63"/>
          <p:cNvSpPr/>
          <p:nvPr/>
        </p:nvSpPr>
        <p:spPr>
          <a:xfrm>
            <a:off x="643737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66" name="Text 64"/>
          <p:cNvSpPr/>
          <p:nvPr/>
        </p:nvSpPr>
        <p:spPr>
          <a:xfrm>
            <a:off x="6848856" y="1408176"/>
            <a:ext cx="170688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67" name="Text 65"/>
          <p:cNvSpPr/>
          <p:nvPr/>
        </p:nvSpPr>
        <p:spPr>
          <a:xfrm>
            <a:off x="86014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68" name="Text 66"/>
          <p:cNvSpPr/>
          <p:nvPr/>
        </p:nvSpPr>
        <p:spPr>
          <a:xfrm>
            <a:off x="103540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69" name="Shape 67"/>
          <p:cNvSpPr/>
          <p:nvPr/>
        </p:nvSpPr>
        <p:spPr>
          <a:xfrm>
            <a:off x="6400800" y="1627632"/>
            <a:ext cx="5669280" cy="256032"/>
          </a:xfrm>
          <a:prstGeom prst="rect">
            <a:avLst/>
          </a:prstGeom>
          <a:solidFill>
            <a:srgbClr val="FFF9EC"/>
          </a:solidFill>
          <a:ln w="3810">
            <a:solidFill>
              <a:srgbClr val="E5E7EB"/>
            </a:solidFill>
            <a:prstDash val="solid"/>
          </a:ln>
        </p:spPr>
      </p:sp>
      <p:sp>
        <p:nvSpPr>
          <p:cNvPr id="70" name="Text 68"/>
          <p:cNvSpPr/>
          <p:nvPr/>
        </p:nvSpPr>
        <p:spPr>
          <a:xfrm>
            <a:off x="643737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71" name="Text 69"/>
          <p:cNvSpPr/>
          <p:nvPr/>
        </p:nvSpPr>
        <p:spPr>
          <a:xfrm>
            <a:off x="6848856" y="1664208"/>
            <a:ext cx="170688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72" name="Text 70"/>
          <p:cNvSpPr/>
          <p:nvPr/>
        </p:nvSpPr>
        <p:spPr>
          <a:xfrm>
            <a:off x="8601456" y="166420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1 165 994</a:t>
            </a:r>
            <a:endParaRPr lang="en-US" sz="900" dirty="0"/>
          </a:p>
        </p:txBody>
      </p:sp>
      <p:sp>
        <p:nvSpPr>
          <p:cNvPr id="73" name="Text 71"/>
          <p:cNvSpPr/>
          <p:nvPr/>
        </p:nvSpPr>
        <p:spPr>
          <a:xfrm>
            <a:off x="10354056" y="1664208"/>
            <a:ext cx="170688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20,8 %</a:t>
            </a:r>
            <a:endParaRPr lang="en-US" sz="900" dirty="0"/>
          </a:p>
        </p:txBody>
      </p:sp>
      <p:sp>
        <p:nvSpPr>
          <p:cNvPr id="74" name="Shape 72"/>
          <p:cNvSpPr/>
          <p:nvPr/>
        </p:nvSpPr>
        <p:spPr>
          <a:xfrm>
            <a:off x="6400800" y="1883664"/>
            <a:ext cx="5669280" cy="256032"/>
          </a:xfrm>
          <a:prstGeom prst="rect">
            <a:avLst/>
          </a:prstGeom>
          <a:solidFill>
            <a:srgbClr val="F8F9FA"/>
          </a:solidFill>
          <a:ln w="3810">
            <a:solidFill>
              <a:srgbClr val="E5E7EB"/>
            </a:solidFill>
            <a:prstDash val="solid"/>
          </a:ln>
        </p:spPr>
      </p:sp>
      <p:sp>
        <p:nvSpPr>
          <p:cNvPr id="75" name="Text 73"/>
          <p:cNvSpPr/>
          <p:nvPr/>
        </p:nvSpPr>
        <p:spPr>
          <a:xfrm>
            <a:off x="643737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76" name="Text 74"/>
          <p:cNvSpPr/>
          <p:nvPr/>
        </p:nvSpPr>
        <p:spPr>
          <a:xfrm>
            <a:off x="6848856" y="192024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OSMOZ AFRICA</a:t>
            </a:r>
            <a:endParaRPr lang="en-US" sz="900" dirty="0"/>
          </a:p>
        </p:txBody>
      </p:sp>
      <p:sp>
        <p:nvSpPr>
          <p:cNvPr id="77" name="Text 75"/>
          <p:cNvSpPr/>
          <p:nvPr/>
        </p:nvSpPr>
        <p:spPr>
          <a:xfrm>
            <a:off x="86014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525 506</a:t>
            </a:r>
            <a:endParaRPr lang="en-US" sz="900" dirty="0"/>
          </a:p>
        </p:txBody>
      </p:sp>
      <p:sp>
        <p:nvSpPr>
          <p:cNvPr id="78" name="Text 76"/>
          <p:cNvSpPr/>
          <p:nvPr/>
        </p:nvSpPr>
        <p:spPr>
          <a:xfrm>
            <a:off x="103540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9,4 %</a:t>
            </a:r>
            <a:endParaRPr lang="en-US" sz="900" dirty="0"/>
          </a:p>
        </p:txBody>
      </p:sp>
      <p:sp>
        <p:nvSpPr>
          <p:cNvPr id="79" name="Shape 77"/>
          <p:cNvSpPr/>
          <p:nvPr/>
        </p:nvSpPr>
        <p:spPr>
          <a:xfrm>
            <a:off x="6400800" y="2139696"/>
            <a:ext cx="5669280" cy="256032"/>
          </a:xfrm>
          <a:prstGeom prst="rect">
            <a:avLst/>
          </a:prstGeom>
          <a:solidFill>
            <a:srgbClr val="FFFFFF"/>
          </a:solidFill>
          <a:ln w="3810">
            <a:solidFill>
              <a:srgbClr val="E5E7EB"/>
            </a:solidFill>
            <a:prstDash val="solid"/>
          </a:ln>
        </p:spPr>
      </p:sp>
      <p:sp>
        <p:nvSpPr>
          <p:cNvPr id="80" name="Text 78"/>
          <p:cNvSpPr/>
          <p:nvPr/>
        </p:nvSpPr>
        <p:spPr>
          <a:xfrm>
            <a:off x="643737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81" name="Text 79"/>
          <p:cNvSpPr/>
          <p:nvPr/>
        </p:nvSpPr>
        <p:spPr>
          <a:xfrm>
            <a:off x="6848856" y="217627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GTS CI</a:t>
            </a:r>
            <a:endParaRPr lang="en-US" sz="900" dirty="0"/>
          </a:p>
        </p:txBody>
      </p:sp>
      <p:sp>
        <p:nvSpPr>
          <p:cNvPr id="82" name="Text 80"/>
          <p:cNvSpPr/>
          <p:nvPr/>
        </p:nvSpPr>
        <p:spPr>
          <a:xfrm>
            <a:off x="86014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468 097</a:t>
            </a:r>
            <a:endParaRPr lang="en-US" sz="900" dirty="0"/>
          </a:p>
        </p:txBody>
      </p:sp>
      <p:sp>
        <p:nvSpPr>
          <p:cNvPr id="83" name="Text 81"/>
          <p:cNvSpPr/>
          <p:nvPr/>
        </p:nvSpPr>
        <p:spPr>
          <a:xfrm>
            <a:off x="103540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8,4 %</a:t>
            </a:r>
            <a:endParaRPr lang="en-US" sz="900" dirty="0"/>
          </a:p>
        </p:txBody>
      </p:sp>
      <p:sp>
        <p:nvSpPr>
          <p:cNvPr id="84" name="Shape 82"/>
          <p:cNvSpPr/>
          <p:nvPr/>
        </p:nvSpPr>
        <p:spPr>
          <a:xfrm>
            <a:off x="6400800" y="2395728"/>
            <a:ext cx="5669280" cy="256032"/>
          </a:xfrm>
          <a:prstGeom prst="rect">
            <a:avLst/>
          </a:prstGeom>
          <a:solidFill>
            <a:srgbClr val="F8F9FA"/>
          </a:solidFill>
          <a:ln w="3810">
            <a:solidFill>
              <a:srgbClr val="E5E7EB"/>
            </a:solidFill>
            <a:prstDash val="solid"/>
          </a:ln>
        </p:spPr>
      </p:sp>
      <p:sp>
        <p:nvSpPr>
          <p:cNvPr id="85" name="Text 83"/>
          <p:cNvSpPr/>
          <p:nvPr/>
        </p:nvSpPr>
        <p:spPr>
          <a:xfrm>
            <a:off x="643737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86" name="Text 84"/>
          <p:cNvSpPr/>
          <p:nvPr/>
        </p:nvSpPr>
        <p:spPr>
          <a:xfrm>
            <a:off x="6848856" y="243230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INTL TRANSIT</a:t>
            </a:r>
            <a:endParaRPr lang="en-US" sz="900" dirty="0"/>
          </a:p>
        </p:txBody>
      </p:sp>
      <p:sp>
        <p:nvSpPr>
          <p:cNvPr id="87" name="Text 85"/>
          <p:cNvSpPr/>
          <p:nvPr/>
        </p:nvSpPr>
        <p:spPr>
          <a:xfrm>
            <a:off x="86014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333 558</a:t>
            </a:r>
            <a:endParaRPr lang="en-US" sz="900" dirty="0"/>
          </a:p>
        </p:txBody>
      </p:sp>
      <p:sp>
        <p:nvSpPr>
          <p:cNvPr id="88" name="Text 86"/>
          <p:cNvSpPr/>
          <p:nvPr/>
        </p:nvSpPr>
        <p:spPr>
          <a:xfrm>
            <a:off x="103540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6,0 %</a:t>
            </a:r>
            <a:endParaRPr lang="en-US" sz="900" dirty="0"/>
          </a:p>
        </p:txBody>
      </p:sp>
      <p:sp>
        <p:nvSpPr>
          <p:cNvPr id="89" name="Shape 87"/>
          <p:cNvSpPr/>
          <p:nvPr/>
        </p:nvSpPr>
        <p:spPr>
          <a:xfrm>
            <a:off x="6400800" y="2651760"/>
            <a:ext cx="5669280" cy="256032"/>
          </a:xfrm>
          <a:prstGeom prst="rect">
            <a:avLst/>
          </a:prstGeom>
          <a:solidFill>
            <a:srgbClr val="FFFFFF"/>
          </a:solidFill>
          <a:ln w="3810">
            <a:solidFill>
              <a:srgbClr val="E5E7EB"/>
            </a:solidFill>
            <a:prstDash val="solid"/>
          </a:ln>
        </p:spPr>
      </p:sp>
      <p:sp>
        <p:nvSpPr>
          <p:cNvPr id="90" name="Text 88"/>
          <p:cNvSpPr/>
          <p:nvPr/>
        </p:nvSpPr>
        <p:spPr>
          <a:xfrm>
            <a:off x="643737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91" name="Text 89"/>
          <p:cNvSpPr/>
          <p:nvPr/>
        </p:nvSpPr>
        <p:spPr>
          <a:xfrm>
            <a:off x="6848856" y="268833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MANUEL</a:t>
            </a:r>
            <a:endParaRPr lang="en-US" sz="900" dirty="0"/>
          </a:p>
        </p:txBody>
      </p:sp>
      <p:sp>
        <p:nvSpPr>
          <p:cNvPr id="92" name="Text 90"/>
          <p:cNvSpPr/>
          <p:nvPr/>
        </p:nvSpPr>
        <p:spPr>
          <a:xfrm>
            <a:off x="86014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292 408</a:t>
            </a:r>
            <a:endParaRPr lang="en-US" sz="900" dirty="0"/>
          </a:p>
        </p:txBody>
      </p:sp>
      <p:sp>
        <p:nvSpPr>
          <p:cNvPr id="93" name="Text 91"/>
          <p:cNvSpPr/>
          <p:nvPr/>
        </p:nvSpPr>
        <p:spPr>
          <a:xfrm>
            <a:off x="103540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5,2 %</a:t>
            </a:r>
            <a:endParaRPr lang="en-US" sz="900" dirty="0"/>
          </a:p>
        </p:txBody>
      </p:sp>
      <p:sp>
        <p:nvSpPr>
          <p:cNvPr id="94" name="Shape 92"/>
          <p:cNvSpPr/>
          <p:nvPr/>
        </p:nvSpPr>
        <p:spPr>
          <a:xfrm>
            <a:off x="6400800" y="2907792"/>
            <a:ext cx="5669280" cy="256032"/>
          </a:xfrm>
          <a:prstGeom prst="rect">
            <a:avLst/>
          </a:prstGeom>
          <a:solidFill>
            <a:srgbClr val="F8F9FA"/>
          </a:solidFill>
          <a:ln w="3810">
            <a:solidFill>
              <a:srgbClr val="E5E7EB"/>
            </a:solidFill>
            <a:prstDash val="solid"/>
          </a:ln>
        </p:spPr>
      </p:sp>
      <p:sp>
        <p:nvSpPr>
          <p:cNvPr id="95" name="Text 93"/>
          <p:cNvSpPr/>
          <p:nvPr/>
        </p:nvSpPr>
        <p:spPr>
          <a:xfrm>
            <a:off x="643737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96" name="Text 94"/>
          <p:cNvSpPr/>
          <p:nvPr/>
        </p:nvSpPr>
        <p:spPr>
          <a:xfrm>
            <a:off x="6848856" y="2944368"/>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TRANSIT-COSS</a:t>
            </a:r>
            <a:endParaRPr lang="en-US" sz="900" dirty="0"/>
          </a:p>
        </p:txBody>
      </p:sp>
      <p:sp>
        <p:nvSpPr>
          <p:cNvPr id="97" name="Text 95"/>
          <p:cNvSpPr/>
          <p:nvPr/>
        </p:nvSpPr>
        <p:spPr>
          <a:xfrm>
            <a:off x="86014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274 613</a:t>
            </a:r>
            <a:endParaRPr lang="en-US" sz="900" dirty="0"/>
          </a:p>
        </p:txBody>
      </p:sp>
      <p:sp>
        <p:nvSpPr>
          <p:cNvPr id="98" name="Text 96"/>
          <p:cNvSpPr/>
          <p:nvPr/>
        </p:nvSpPr>
        <p:spPr>
          <a:xfrm>
            <a:off x="103540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99" name="Shape 97"/>
          <p:cNvSpPr/>
          <p:nvPr/>
        </p:nvSpPr>
        <p:spPr>
          <a:xfrm>
            <a:off x="6400800" y="3163824"/>
            <a:ext cx="5669280" cy="256032"/>
          </a:xfrm>
          <a:prstGeom prst="rect">
            <a:avLst/>
          </a:prstGeom>
          <a:solidFill>
            <a:srgbClr val="FFFFFF"/>
          </a:solidFill>
          <a:ln w="3810">
            <a:solidFill>
              <a:srgbClr val="E5E7EB"/>
            </a:solidFill>
            <a:prstDash val="solid"/>
          </a:ln>
        </p:spPr>
      </p:sp>
      <p:sp>
        <p:nvSpPr>
          <p:cNvPr id="100" name="Text 98"/>
          <p:cNvSpPr/>
          <p:nvPr/>
        </p:nvSpPr>
        <p:spPr>
          <a:xfrm>
            <a:off x="643737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101" name="Text 99"/>
          <p:cNvSpPr/>
          <p:nvPr/>
        </p:nvSpPr>
        <p:spPr>
          <a:xfrm>
            <a:off x="6848856" y="320040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HANNYYAH ET SAID</a:t>
            </a:r>
            <a:endParaRPr lang="en-US" sz="900" dirty="0"/>
          </a:p>
        </p:txBody>
      </p:sp>
      <p:sp>
        <p:nvSpPr>
          <p:cNvPr id="102" name="Text 100"/>
          <p:cNvSpPr/>
          <p:nvPr/>
        </p:nvSpPr>
        <p:spPr>
          <a:xfrm>
            <a:off x="86014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273 092</a:t>
            </a:r>
            <a:endParaRPr lang="en-US" sz="900" dirty="0"/>
          </a:p>
        </p:txBody>
      </p:sp>
      <p:sp>
        <p:nvSpPr>
          <p:cNvPr id="103" name="Text 101"/>
          <p:cNvSpPr/>
          <p:nvPr/>
        </p:nvSpPr>
        <p:spPr>
          <a:xfrm>
            <a:off x="103540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104" name="Shape 102"/>
          <p:cNvSpPr/>
          <p:nvPr/>
        </p:nvSpPr>
        <p:spPr>
          <a:xfrm>
            <a:off x="6400800" y="3419856"/>
            <a:ext cx="5669280" cy="256032"/>
          </a:xfrm>
          <a:prstGeom prst="rect">
            <a:avLst/>
          </a:prstGeom>
          <a:solidFill>
            <a:srgbClr val="F8F9FA"/>
          </a:solidFill>
          <a:ln w="3810">
            <a:solidFill>
              <a:srgbClr val="E5E7EB"/>
            </a:solidFill>
            <a:prstDash val="solid"/>
          </a:ln>
        </p:spPr>
      </p:sp>
      <p:sp>
        <p:nvSpPr>
          <p:cNvPr id="105" name="Text 103"/>
          <p:cNvSpPr/>
          <p:nvPr/>
        </p:nvSpPr>
        <p:spPr>
          <a:xfrm>
            <a:off x="643737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106" name="Text 104"/>
          <p:cNvSpPr/>
          <p:nvPr/>
        </p:nvSpPr>
        <p:spPr>
          <a:xfrm>
            <a:off x="6848856" y="345643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DHL</a:t>
            </a:r>
            <a:endParaRPr lang="en-US" sz="900" dirty="0"/>
          </a:p>
        </p:txBody>
      </p:sp>
      <p:sp>
        <p:nvSpPr>
          <p:cNvPr id="107" name="Text 105"/>
          <p:cNvSpPr/>
          <p:nvPr/>
        </p:nvSpPr>
        <p:spPr>
          <a:xfrm>
            <a:off x="86014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217 874</a:t>
            </a:r>
            <a:endParaRPr lang="en-US" sz="900" dirty="0"/>
          </a:p>
        </p:txBody>
      </p:sp>
      <p:sp>
        <p:nvSpPr>
          <p:cNvPr id="108" name="Text 106"/>
          <p:cNvSpPr/>
          <p:nvPr/>
        </p:nvSpPr>
        <p:spPr>
          <a:xfrm>
            <a:off x="103540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3,9 %</a:t>
            </a:r>
            <a:endParaRPr lang="en-US" sz="900" dirty="0"/>
          </a:p>
        </p:txBody>
      </p:sp>
      <p:sp>
        <p:nvSpPr>
          <p:cNvPr id="109" name="Shape 107"/>
          <p:cNvSpPr/>
          <p:nvPr/>
        </p:nvSpPr>
        <p:spPr>
          <a:xfrm>
            <a:off x="6400800" y="3675888"/>
            <a:ext cx="5669280" cy="256032"/>
          </a:xfrm>
          <a:prstGeom prst="rect">
            <a:avLst/>
          </a:prstGeom>
          <a:solidFill>
            <a:srgbClr val="FFFFFF"/>
          </a:solidFill>
          <a:ln w="3810">
            <a:solidFill>
              <a:srgbClr val="E5E7EB"/>
            </a:solidFill>
            <a:prstDash val="solid"/>
          </a:ln>
        </p:spPr>
      </p:sp>
      <p:sp>
        <p:nvSpPr>
          <p:cNvPr id="110" name="Text 108"/>
          <p:cNvSpPr/>
          <p:nvPr/>
        </p:nvSpPr>
        <p:spPr>
          <a:xfrm>
            <a:off x="643737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111" name="Text 109"/>
          <p:cNvSpPr/>
          <p:nvPr/>
        </p:nvSpPr>
        <p:spPr>
          <a:xfrm>
            <a:off x="6848856" y="371246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INTL LOGISTICS SA</a:t>
            </a:r>
            <a:endParaRPr lang="en-US" sz="900" dirty="0"/>
          </a:p>
        </p:txBody>
      </p:sp>
      <p:sp>
        <p:nvSpPr>
          <p:cNvPr id="112" name="Text 110"/>
          <p:cNvSpPr/>
          <p:nvPr/>
        </p:nvSpPr>
        <p:spPr>
          <a:xfrm>
            <a:off x="86014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187 906</a:t>
            </a:r>
            <a:endParaRPr lang="en-US" sz="900" dirty="0"/>
          </a:p>
        </p:txBody>
      </p:sp>
      <p:sp>
        <p:nvSpPr>
          <p:cNvPr id="113" name="Text 111"/>
          <p:cNvSpPr/>
          <p:nvPr/>
        </p:nvSpPr>
        <p:spPr>
          <a:xfrm>
            <a:off x="103540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3,4 %</a:t>
            </a:r>
            <a:endParaRPr lang="en-US" sz="900" dirty="0"/>
          </a:p>
        </p:txBody>
      </p:sp>
      <p:sp>
        <p:nvSpPr>
          <p:cNvPr id="114" name="Shape 112"/>
          <p:cNvSpPr/>
          <p:nvPr/>
        </p:nvSpPr>
        <p:spPr>
          <a:xfrm>
            <a:off x="6400800" y="3931920"/>
            <a:ext cx="5669280" cy="256032"/>
          </a:xfrm>
          <a:prstGeom prst="rect">
            <a:avLst/>
          </a:prstGeom>
          <a:solidFill>
            <a:srgbClr val="F8F9FA"/>
          </a:solidFill>
          <a:ln w="3810">
            <a:solidFill>
              <a:srgbClr val="E5E7EB"/>
            </a:solidFill>
            <a:prstDash val="solid"/>
          </a:ln>
        </p:spPr>
      </p:sp>
      <p:sp>
        <p:nvSpPr>
          <p:cNvPr id="115" name="Text 113"/>
          <p:cNvSpPr/>
          <p:nvPr/>
        </p:nvSpPr>
        <p:spPr>
          <a:xfrm>
            <a:off x="643737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16" name="Text 114"/>
          <p:cNvSpPr/>
          <p:nvPr/>
        </p:nvSpPr>
        <p:spPr>
          <a:xfrm>
            <a:off x="6848856" y="396849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PHENIX TRANSIT</a:t>
            </a:r>
            <a:endParaRPr lang="en-US" sz="900" dirty="0"/>
          </a:p>
        </p:txBody>
      </p:sp>
      <p:sp>
        <p:nvSpPr>
          <p:cNvPr id="117" name="Text 115"/>
          <p:cNvSpPr/>
          <p:nvPr/>
        </p:nvSpPr>
        <p:spPr>
          <a:xfrm>
            <a:off x="86014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133 527</a:t>
            </a:r>
            <a:endParaRPr lang="en-US" sz="900" dirty="0"/>
          </a:p>
        </p:txBody>
      </p:sp>
      <p:sp>
        <p:nvSpPr>
          <p:cNvPr id="118" name="Text 116"/>
          <p:cNvSpPr/>
          <p:nvPr/>
        </p:nvSpPr>
        <p:spPr>
          <a:xfrm>
            <a:off x="103540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2,4 %</a:t>
            </a:r>
            <a:endParaRPr lang="en-US" sz="900" dirty="0"/>
          </a:p>
        </p:txBody>
      </p:sp>
      <p:sp>
        <p:nvSpPr>
          <p:cNvPr id="119" name="Shape 117"/>
          <p:cNvSpPr/>
          <p:nvPr/>
        </p:nvSpPr>
        <p:spPr>
          <a:xfrm>
            <a:off x="137160" y="4919472"/>
            <a:ext cx="11795760" cy="777240"/>
          </a:xfrm>
          <a:prstGeom prst="rect">
            <a:avLst/>
          </a:prstGeom>
          <a:solidFill>
            <a:srgbClr val="FFFBEC"/>
          </a:solidFill>
          <a:ln w="6350">
            <a:solidFill>
              <a:srgbClr val="E5C97A"/>
            </a:solidFill>
            <a:prstDash val="solid"/>
          </a:ln>
        </p:spPr>
      </p:sp>
      <p:sp>
        <p:nvSpPr>
          <p:cNvPr id="120" name="Text 118"/>
          <p:cNvSpPr/>
          <p:nvPr/>
        </p:nvSpPr>
        <p:spPr>
          <a:xfrm>
            <a:off x="228600" y="4992624"/>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 20,8% PDM sur marché qualifié. Progression continue Jan→Mai (+20 pts). ⚠ Transit-Coss : –60% (696K→274K kg). Clients récupérés partiellement par AGL. 🎯 Cibles : GTS CI (#3, 8,4%) à surveiller. Osmoz Africa (#2, 9,4%) à challenger sur Matériels Miniers.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Aérien Import (Destinataires, kg)</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Client (Destinataire)</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308 596</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 Miniers</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26,5%</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PROSUMA</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268 633</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 Alimentaires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23,1%</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UBIPHARM CÔTE D'IVOIRE</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61 130</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ORANGE CI</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49 988</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4,3%</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NESTLÉ CÔTE D'IVOIRE</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38 474</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Alimentaire</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SIFAAP CI</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24 694</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 Animal</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SITAB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23 535</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Cigarettes</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ROCHE DIAGNOSTICS CI</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22 633</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 Labo.</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MTN CI</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20 141</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1,7%</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18 721</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Pétrole</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a:t>
            </a:r>
            <a:endParaRPr lang="en-US" sz="900" dirty="0"/>
          </a:p>
        </p:txBody>
      </p:sp>
      <p:sp>
        <p:nvSpPr>
          <p:cNvPr id="63" name="Shape 61"/>
          <p:cNvSpPr/>
          <p:nvPr/>
        </p:nvSpPr>
        <p:spPr>
          <a:xfrm>
            <a:off x="137160" y="4846320"/>
            <a:ext cx="6400800" cy="960120"/>
          </a:xfrm>
          <a:prstGeom prst="rect">
            <a:avLst/>
          </a:prstGeom>
          <a:solidFill>
            <a:srgbClr val="FFFBEC"/>
          </a:solidFill>
          <a:ln w="6350">
            <a:solidFill>
              <a:srgbClr val="E5C97A"/>
            </a:solidFill>
            <a:prstDash val="solid"/>
          </a:ln>
        </p:spPr>
      </p:sp>
      <p:sp>
        <p:nvSpPr>
          <p:cNvPr id="64" name="Text 62"/>
          <p:cNvSpPr/>
          <p:nvPr/>
        </p:nvSpPr>
        <p:spPr>
          <a:xfrm>
            <a:off x="228600" y="4919472"/>
            <a:ext cx="62179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Hyper-concentration : K1 Mining (26,5%) + PROSUMA (23,1%) = 49,6% du volume AGL aérien sur 2 clients. Risque élevé.</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Télécoms (Orange + MTN) : 70 129 kg – Secteur en forte croissance. Contrats cadres 2026/2027 à signer.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produits AGL – Aérien Import</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en croissance  |  Récupération clients Transit-Coss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Aérien Import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FRET INTER CI</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94 200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Alimentaire</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SOTRA FRET</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78 400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Pièces détachées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3" name="Text 21"/>
          <p:cNvSpPr/>
          <p:nvPr/>
        </p:nvSpPr>
        <p:spPr>
          <a:xfrm>
            <a:off x="228600" y="26974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Marchandises en forte croissance 2025 → 2026</a:t>
            </a:r>
            <a:endParaRPr lang="en-US" sz="1100" dirty="0"/>
          </a:p>
        </p:txBody>
      </p:sp>
      <p:sp>
        <p:nvSpPr>
          <p:cNvPr id="24" name="Shape 22"/>
          <p:cNvSpPr/>
          <p:nvPr/>
        </p:nvSpPr>
        <p:spPr>
          <a:xfrm>
            <a:off x="137160" y="2971800"/>
            <a:ext cx="6217920" cy="256032"/>
          </a:xfrm>
          <a:prstGeom prst="rect">
            <a:avLst/>
          </a:prstGeom>
          <a:solidFill>
            <a:srgbClr val="0D2243"/>
          </a:solidFill>
          <a:ln/>
        </p:spPr>
      </p:sp>
      <p:sp>
        <p:nvSpPr>
          <p:cNvPr id="25" name="Text 23"/>
          <p:cNvSpPr/>
          <p:nvPr/>
        </p:nvSpPr>
        <p:spPr>
          <a:xfrm>
            <a:off x="173736" y="30083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Marchandise</a:t>
            </a:r>
            <a:endParaRPr lang="en-US" sz="900" dirty="0"/>
          </a:p>
        </p:txBody>
      </p:sp>
      <p:sp>
        <p:nvSpPr>
          <p:cNvPr id="26" name="Text 24"/>
          <p:cNvSpPr/>
          <p:nvPr/>
        </p:nvSpPr>
        <p:spPr>
          <a:xfrm>
            <a:off x="585216" y="30083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2026 (kg)</a:t>
            </a:r>
            <a:endParaRPr lang="en-US" sz="900" dirty="0"/>
          </a:p>
        </p:txBody>
      </p:sp>
      <p:sp>
        <p:nvSpPr>
          <p:cNvPr id="27" name="Text 25"/>
          <p:cNvSpPr/>
          <p:nvPr/>
        </p:nvSpPr>
        <p:spPr>
          <a:xfrm>
            <a:off x="2520696" y="30083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Var. %</a:t>
            </a:r>
            <a:endParaRPr lang="en-US" sz="900" dirty="0"/>
          </a:p>
        </p:txBody>
      </p:sp>
      <p:sp>
        <p:nvSpPr>
          <p:cNvPr id="28" name="Text 26"/>
          <p:cNvSpPr/>
          <p:nvPr/>
        </p:nvSpPr>
        <p:spPr>
          <a:xfrm>
            <a:off x="4456176" y="30083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AGL</a:t>
            </a:r>
            <a:endParaRPr lang="en-US" sz="900" dirty="0"/>
          </a:p>
        </p:txBody>
      </p:sp>
      <p:sp>
        <p:nvSpPr>
          <p:cNvPr id="29" name="Shape 27"/>
          <p:cNvSpPr/>
          <p:nvPr/>
        </p:nvSpPr>
        <p:spPr>
          <a:xfrm>
            <a:off x="137160" y="3227832"/>
            <a:ext cx="6217920" cy="256032"/>
          </a:xfrm>
          <a:prstGeom prst="rect">
            <a:avLst/>
          </a:prstGeom>
          <a:solidFill>
            <a:srgbClr val="FFF9EC"/>
          </a:solidFill>
          <a:ln w="3810">
            <a:solidFill>
              <a:srgbClr val="E5E7EB"/>
            </a:solidFill>
            <a:prstDash val="solid"/>
          </a:ln>
        </p:spPr>
      </p:sp>
      <p:sp>
        <p:nvSpPr>
          <p:cNvPr id="30" name="Text 28"/>
          <p:cNvSpPr/>
          <p:nvPr/>
        </p:nvSpPr>
        <p:spPr>
          <a:xfrm>
            <a:off x="173736" y="32644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ŒUFS</a:t>
            </a:r>
            <a:endParaRPr lang="en-US" sz="900" dirty="0"/>
          </a:p>
        </p:txBody>
      </p:sp>
      <p:sp>
        <p:nvSpPr>
          <p:cNvPr id="31" name="Text 29"/>
          <p:cNvSpPr/>
          <p:nvPr/>
        </p:nvSpPr>
        <p:spPr>
          <a:xfrm>
            <a:off x="585216" y="32644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1 883 317</a:t>
            </a:r>
            <a:endParaRPr lang="en-US" sz="900" dirty="0"/>
          </a:p>
        </p:txBody>
      </p:sp>
      <p:sp>
        <p:nvSpPr>
          <p:cNvPr id="32" name="Text 30"/>
          <p:cNvSpPr/>
          <p:nvPr/>
        </p:nvSpPr>
        <p:spPr>
          <a:xfrm>
            <a:off x="2520696" y="32644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+26,9 %</a:t>
            </a:r>
            <a:endParaRPr lang="en-US" sz="900" dirty="0"/>
          </a:p>
        </p:txBody>
      </p:sp>
      <p:sp>
        <p:nvSpPr>
          <p:cNvPr id="33" name="Text 31"/>
          <p:cNvSpPr/>
          <p:nvPr/>
        </p:nvSpPr>
        <p:spPr>
          <a:xfrm>
            <a:off x="4456176" y="32644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1 %</a:t>
            </a:r>
            <a:endParaRPr lang="en-US" sz="900" dirty="0"/>
          </a:p>
        </p:txBody>
      </p:sp>
      <p:sp>
        <p:nvSpPr>
          <p:cNvPr id="34" name="Shape 32"/>
          <p:cNvSpPr/>
          <p:nvPr/>
        </p:nvSpPr>
        <p:spPr>
          <a:xfrm>
            <a:off x="137160" y="3483864"/>
            <a:ext cx="6217920" cy="256032"/>
          </a:xfrm>
          <a:prstGeom prst="rect">
            <a:avLst/>
          </a:prstGeom>
          <a:solidFill>
            <a:srgbClr val="F8F9FA"/>
          </a:solidFill>
          <a:ln w="3810">
            <a:solidFill>
              <a:srgbClr val="E5E7EB"/>
            </a:solidFill>
            <a:prstDash val="solid"/>
          </a:ln>
        </p:spPr>
      </p:sp>
      <p:sp>
        <p:nvSpPr>
          <p:cNvPr id="35" name="Text 33"/>
          <p:cNvSpPr/>
          <p:nvPr/>
        </p:nvSpPr>
        <p:spPr>
          <a:xfrm>
            <a:off x="173736" y="35204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36" name="Text 34"/>
          <p:cNvSpPr/>
          <p:nvPr/>
        </p:nvSpPr>
        <p:spPr>
          <a:xfrm>
            <a:off x="585216" y="35204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515 776</a:t>
            </a:r>
            <a:endParaRPr lang="en-US" sz="900" dirty="0"/>
          </a:p>
        </p:txBody>
      </p:sp>
      <p:sp>
        <p:nvSpPr>
          <p:cNvPr id="37" name="Text 35"/>
          <p:cNvSpPr/>
          <p:nvPr/>
        </p:nvSpPr>
        <p:spPr>
          <a:xfrm>
            <a:off x="2520696" y="35204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+244,3 %</a:t>
            </a:r>
            <a:endParaRPr lang="en-US" sz="900" dirty="0"/>
          </a:p>
        </p:txBody>
      </p:sp>
      <p:sp>
        <p:nvSpPr>
          <p:cNvPr id="38" name="Text 36"/>
          <p:cNvSpPr/>
          <p:nvPr/>
        </p:nvSpPr>
        <p:spPr>
          <a:xfrm>
            <a:off x="4456176" y="35204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61 %</a:t>
            </a:r>
            <a:endParaRPr lang="en-US" sz="900" dirty="0"/>
          </a:p>
        </p:txBody>
      </p:sp>
      <p:sp>
        <p:nvSpPr>
          <p:cNvPr id="39" name="Shape 37"/>
          <p:cNvSpPr/>
          <p:nvPr/>
        </p:nvSpPr>
        <p:spPr>
          <a:xfrm>
            <a:off x="137160" y="3739896"/>
            <a:ext cx="6217920" cy="256032"/>
          </a:xfrm>
          <a:prstGeom prst="rect">
            <a:avLst/>
          </a:prstGeom>
          <a:solidFill>
            <a:srgbClr val="FFFFFF"/>
          </a:solidFill>
          <a:ln w="3810">
            <a:solidFill>
              <a:srgbClr val="E5E7EB"/>
            </a:solidFill>
            <a:prstDash val="solid"/>
          </a:ln>
        </p:spPr>
      </p:sp>
      <p:sp>
        <p:nvSpPr>
          <p:cNvPr id="40" name="Text 38"/>
          <p:cNvSpPr/>
          <p:nvPr/>
        </p:nvSpPr>
        <p:spPr>
          <a:xfrm>
            <a:off x="173736" y="37764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41" name="Text 39"/>
          <p:cNvSpPr/>
          <p:nvPr/>
        </p:nvSpPr>
        <p:spPr>
          <a:xfrm>
            <a:off x="585216" y="37764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486 785</a:t>
            </a:r>
            <a:endParaRPr lang="en-US" sz="900" dirty="0"/>
          </a:p>
        </p:txBody>
      </p:sp>
      <p:sp>
        <p:nvSpPr>
          <p:cNvPr id="42" name="Text 40"/>
          <p:cNvSpPr/>
          <p:nvPr/>
        </p:nvSpPr>
        <p:spPr>
          <a:xfrm>
            <a:off x="2520696" y="37764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+90,2 %</a:t>
            </a:r>
            <a:endParaRPr lang="en-US" sz="900" dirty="0"/>
          </a:p>
        </p:txBody>
      </p:sp>
      <p:sp>
        <p:nvSpPr>
          <p:cNvPr id="43" name="Text 41"/>
          <p:cNvSpPr/>
          <p:nvPr/>
        </p:nvSpPr>
        <p:spPr>
          <a:xfrm>
            <a:off x="4456176" y="37764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4" name="Shape 42"/>
          <p:cNvSpPr/>
          <p:nvPr/>
        </p:nvSpPr>
        <p:spPr>
          <a:xfrm>
            <a:off x="137160" y="3995928"/>
            <a:ext cx="6217920" cy="256032"/>
          </a:xfrm>
          <a:prstGeom prst="rect">
            <a:avLst/>
          </a:prstGeom>
          <a:solidFill>
            <a:srgbClr val="F8F9FA"/>
          </a:solidFill>
          <a:ln w="3810">
            <a:solidFill>
              <a:srgbClr val="E5E7EB"/>
            </a:solidFill>
            <a:prstDash val="solid"/>
          </a:ln>
        </p:spPr>
      </p:sp>
      <p:sp>
        <p:nvSpPr>
          <p:cNvPr id="45" name="Text 43"/>
          <p:cNvSpPr/>
          <p:nvPr/>
        </p:nvSpPr>
        <p:spPr>
          <a:xfrm>
            <a:off x="173736" y="40325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46" name="Text 44"/>
          <p:cNvSpPr/>
          <p:nvPr/>
        </p:nvSpPr>
        <p:spPr>
          <a:xfrm>
            <a:off x="585216" y="40325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182 071</a:t>
            </a:r>
            <a:endParaRPr lang="en-US" sz="900" dirty="0"/>
          </a:p>
        </p:txBody>
      </p:sp>
      <p:sp>
        <p:nvSpPr>
          <p:cNvPr id="47" name="Text 45"/>
          <p:cNvSpPr/>
          <p:nvPr/>
        </p:nvSpPr>
        <p:spPr>
          <a:xfrm>
            <a:off x="2520696" y="40325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+60,3 %</a:t>
            </a:r>
            <a:endParaRPr lang="en-US" sz="900" dirty="0"/>
          </a:p>
        </p:txBody>
      </p:sp>
      <p:sp>
        <p:nvSpPr>
          <p:cNvPr id="48" name="Text 46"/>
          <p:cNvSpPr/>
          <p:nvPr/>
        </p:nvSpPr>
        <p:spPr>
          <a:xfrm>
            <a:off x="4456176" y="40325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33 %</a:t>
            </a:r>
            <a:endParaRPr lang="en-US" sz="900" dirty="0"/>
          </a:p>
        </p:txBody>
      </p:sp>
      <p:sp>
        <p:nvSpPr>
          <p:cNvPr id="49" name="Shape 47"/>
          <p:cNvSpPr/>
          <p:nvPr/>
        </p:nvSpPr>
        <p:spPr>
          <a:xfrm>
            <a:off x="137160" y="4251960"/>
            <a:ext cx="6217920" cy="256032"/>
          </a:xfrm>
          <a:prstGeom prst="rect">
            <a:avLst/>
          </a:prstGeom>
          <a:solidFill>
            <a:srgbClr val="FFFFFF"/>
          </a:solidFill>
          <a:ln w="3810">
            <a:solidFill>
              <a:srgbClr val="E5E7EB"/>
            </a:solidFill>
            <a:prstDash val="solid"/>
          </a:ln>
        </p:spPr>
      </p:sp>
      <p:sp>
        <p:nvSpPr>
          <p:cNvPr id="50" name="Text 48"/>
          <p:cNvSpPr/>
          <p:nvPr/>
        </p:nvSpPr>
        <p:spPr>
          <a:xfrm>
            <a:off x="173736" y="42885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 ÉLECTRIQUES</a:t>
            </a:r>
            <a:endParaRPr lang="en-US" sz="900" dirty="0"/>
          </a:p>
        </p:txBody>
      </p:sp>
      <p:sp>
        <p:nvSpPr>
          <p:cNvPr id="51" name="Text 49"/>
          <p:cNvSpPr/>
          <p:nvPr/>
        </p:nvSpPr>
        <p:spPr>
          <a:xfrm>
            <a:off x="585216" y="42885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158 887</a:t>
            </a:r>
            <a:endParaRPr lang="en-US" sz="900" dirty="0"/>
          </a:p>
        </p:txBody>
      </p:sp>
      <p:sp>
        <p:nvSpPr>
          <p:cNvPr id="52" name="Text 50"/>
          <p:cNvSpPr/>
          <p:nvPr/>
        </p:nvSpPr>
        <p:spPr>
          <a:xfrm>
            <a:off x="2520696" y="42885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+145,9 %</a:t>
            </a:r>
            <a:endParaRPr lang="en-US" sz="900" dirty="0"/>
          </a:p>
        </p:txBody>
      </p:sp>
      <p:sp>
        <p:nvSpPr>
          <p:cNvPr id="53" name="Text 51"/>
          <p:cNvSpPr/>
          <p:nvPr/>
        </p:nvSpPr>
        <p:spPr>
          <a:xfrm>
            <a:off x="4456176" y="42885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Opportunités prioritaires – PDM AGL actuelle</a:t>
            </a:r>
            <a:endParaRPr lang="en-US" sz="1100" dirty="0"/>
          </a:p>
        </p:txBody>
      </p:sp>
      <p:sp>
        <p:nvSpPr>
          <p:cNvPr id="55" name="Text 53"/>
          <p:cNvSpPr/>
          <p:nvPr/>
        </p:nvSpPr>
        <p:spPr>
          <a:xfrm>
            <a:off x="649224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ŒUFS (CIBLE 8%)</a:t>
            </a:r>
            <a:endParaRPr lang="en-US" sz="850" dirty="0"/>
          </a:p>
        </p:txBody>
      </p:sp>
      <p:sp>
        <p:nvSpPr>
          <p:cNvPr id="56" name="Text 54"/>
          <p:cNvSpPr/>
          <p:nvPr/>
        </p:nvSpPr>
        <p:spPr>
          <a:xfrm>
            <a:off x="815644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1 883 317 kg</a:t>
            </a:r>
            <a:endParaRPr lang="en-US" sz="850" dirty="0"/>
          </a:p>
        </p:txBody>
      </p:sp>
      <p:sp>
        <p:nvSpPr>
          <p:cNvPr id="57" name="Shape 55"/>
          <p:cNvSpPr/>
          <p:nvPr/>
        </p:nvSpPr>
        <p:spPr>
          <a:xfrm>
            <a:off x="9052560" y="1453896"/>
            <a:ext cx="2743200" cy="164592"/>
          </a:xfrm>
          <a:prstGeom prst="rect">
            <a:avLst/>
          </a:prstGeom>
          <a:solidFill>
            <a:srgbClr val="E5E7EB"/>
          </a:solidFill>
          <a:ln/>
        </p:spPr>
      </p:sp>
      <p:sp>
        <p:nvSpPr>
          <p:cNvPr id="58" name="Shape 56"/>
          <p:cNvSpPr/>
          <p:nvPr/>
        </p:nvSpPr>
        <p:spPr>
          <a:xfrm>
            <a:off x="9052560" y="1453896"/>
            <a:ext cx="54864" cy="164592"/>
          </a:xfrm>
          <a:prstGeom prst="rect">
            <a:avLst/>
          </a:prstGeom>
          <a:solidFill>
            <a:srgbClr val="CC2200"/>
          </a:solidFill>
          <a:ln/>
        </p:spPr>
      </p:sp>
      <p:sp>
        <p:nvSpPr>
          <p:cNvPr id="59" name="Text 57"/>
          <p:cNvSpPr/>
          <p:nvPr/>
        </p:nvSpPr>
        <p:spPr>
          <a:xfrm>
            <a:off x="1184148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
        <p:nvSpPr>
          <p:cNvPr id="60" name="Text 58"/>
          <p:cNvSpPr/>
          <p:nvPr/>
        </p:nvSpPr>
        <p:spPr>
          <a:xfrm>
            <a:off x="649224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TÉLÉCOMS (ORANGE+MTN)</a:t>
            </a:r>
            <a:endParaRPr lang="en-US" sz="850" dirty="0"/>
          </a:p>
        </p:txBody>
      </p:sp>
      <p:sp>
        <p:nvSpPr>
          <p:cNvPr id="61" name="Text 59"/>
          <p:cNvSpPr/>
          <p:nvPr/>
        </p:nvSpPr>
        <p:spPr>
          <a:xfrm>
            <a:off x="815644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182 071 kg</a:t>
            </a:r>
            <a:endParaRPr lang="en-US" sz="850" dirty="0"/>
          </a:p>
        </p:txBody>
      </p:sp>
      <p:sp>
        <p:nvSpPr>
          <p:cNvPr id="62" name="Shape 60"/>
          <p:cNvSpPr/>
          <p:nvPr/>
        </p:nvSpPr>
        <p:spPr>
          <a:xfrm>
            <a:off x="9052560" y="1837944"/>
            <a:ext cx="2743200" cy="164592"/>
          </a:xfrm>
          <a:prstGeom prst="rect">
            <a:avLst/>
          </a:prstGeom>
          <a:solidFill>
            <a:srgbClr val="E5E7EB"/>
          </a:solidFill>
          <a:ln/>
        </p:spPr>
      </p:sp>
      <p:sp>
        <p:nvSpPr>
          <p:cNvPr id="63" name="Shape 61"/>
          <p:cNvSpPr/>
          <p:nvPr/>
        </p:nvSpPr>
        <p:spPr>
          <a:xfrm>
            <a:off x="9052560" y="1837944"/>
            <a:ext cx="905256" cy="164592"/>
          </a:xfrm>
          <a:prstGeom prst="rect">
            <a:avLst/>
          </a:prstGeom>
          <a:solidFill>
            <a:srgbClr val="2563A8"/>
          </a:solidFill>
          <a:ln/>
        </p:spPr>
      </p:sp>
      <p:sp>
        <p:nvSpPr>
          <p:cNvPr id="64" name="Text 62"/>
          <p:cNvSpPr/>
          <p:nvPr/>
        </p:nvSpPr>
        <p:spPr>
          <a:xfrm>
            <a:off x="11841480" y="18013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33%</a:t>
            </a:r>
            <a:endParaRPr lang="en-US" sz="900" dirty="0"/>
          </a:p>
        </p:txBody>
      </p:sp>
      <p:sp>
        <p:nvSpPr>
          <p:cNvPr id="65" name="Text 63"/>
          <p:cNvSpPr/>
          <p:nvPr/>
        </p:nvSpPr>
        <p:spPr>
          <a:xfrm>
            <a:off x="649224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 MINIERS (K1)</a:t>
            </a:r>
            <a:endParaRPr lang="en-US" sz="850" dirty="0"/>
          </a:p>
        </p:txBody>
      </p:sp>
      <p:sp>
        <p:nvSpPr>
          <p:cNvPr id="66" name="Text 64"/>
          <p:cNvSpPr/>
          <p:nvPr/>
        </p:nvSpPr>
        <p:spPr>
          <a:xfrm>
            <a:off x="815644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67" name="Shape 65"/>
          <p:cNvSpPr/>
          <p:nvPr/>
        </p:nvSpPr>
        <p:spPr>
          <a:xfrm>
            <a:off x="9052560" y="2221992"/>
            <a:ext cx="2743200" cy="164592"/>
          </a:xfrm>
          <a:prstGeom prst="rect">
            <a:avLst/>
          </a:prstGeom>
          <a:solidFill>
            <a:srgbClr val="E5E7EB"/>
          </a:solidFill>
          <a:ln/>
        </p:spPr>
      </p:sp>
      <p:sp>
        <p:nvSpPr>
          <p:cNvPr id="68" name="Shape 66"/>
          <p:cNvSpPr/>
          <p:nvPr/>
        </p:nvSpPr>
        <p:spPr>
          <a:xfrm>
            <a:off x="9052560" y="2221992"/>
            <a:ext cx="1673352" cy="164592"/>
          </a:xfrm>
          <a:prstGeom prst="rect">
            <a:avLst/>
          </a:prstGeom>
          <a:solidFill>
            <a:srgbClr val="1A7C4F"/>
          </a:solidFill>
          <a:ln/>
        </p:spPr>
      </p:sp>
      <p:sp>
        <p:nvSpPr>
          <p:cNvPr id="69" name="Text 67"/>
          <p:cNvSpPr/>
          <p:nvPr/>
        </p:nvSpPr>
        <p:spPr>
          <a:xfrm>
            <a:off x="11841480" y="218541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70" name="Text 68"/>
          <p:cNvSpPr/>
          <p:nvPr/>
        </p:nvSpPr>
        <p:spPr>
          <a:xfrm>
            <a:off x="649224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71" name="Text 69"/>
          <p:cNvSpPr/>
          <p:nvPr/>
        </p:nvSpPr>
        <p:spPr>
          <a:xfrm>
            <a:off x="815644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942 926 kg</a:t>
            </a:r>
            <a:endParaRPr lang="en-US" sz="850" dirty="0"/>
          </a:p>
        </p:txBody>
      </p:sp>
      <p:sp>
        <p:nvSpPr>
          <p:cNvPr id="72" name="Shape 70"/>
          <p:cNvSpPr/>
          <p:nvPr/>
        </p:nvSpPr>
        <p:spPr>
          <a:xfrm>
            <a:off x="9052560" y="2606040"/>
            <a:ext cx="2743200" cy="164592"/>
          </a:xfrm>
          <a:prstGeom prst="rect">
            <a:avLst/>
          </a:prstGeom>
          <a:solidFill>
            <a:srgbClr val="E5E7EB"/>
          </a:solidFill>
          <a:ln/>
        </p:spPr>
      </p:sp>
      <p:sp>
        <p:nvSpPr>
          <p:cNvPr id="73" name="Shape 71"/>
          <p:cNvSpPr/>
          <p:nvPr/>
        </p:nvSpPr>
        <p:spPr>
          <a:xfrm>
            <a:off x="9052560" y="2606040"/>
            <a:ext cx="219456" cy="164592"/>
          </a:xfrm>
          <a:prstGeom prst="rect">
            <a:avLst/>
          </a:prstGeom>
          <a:solidFill>
            <a:srgbClr val="CC2200"/>
          </a:solidFill>
          <a:ln/>
        </p:spPr>
      </p:sp>
      <p:sp>
        <p:nvSpPr>
          <p:cNvPr id="74" name="Text 72"/>
          <p:cNvSpPr/>
          <p:nvPr/>
        </p:nvSpPr>
        <p:spPr>
          <a:xfrm>
            <a:off x="1184148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6492240" y="3840480"/>
            <a:ext cx="5486400" cy="960120"/>
          </a:xfrm>
          <a:prstGeom prst="rect">
            <a:avLst/>
          </a:prstGeom>
          <a:solidFill>
            <a:srgbClr val="FFFBEC"/>
          </a:solidFill>
          <a:ln w="6350">
            <a:solidFill>
              <a:srgbClr val="E5C97A"/>
            </a:solidFill>
            <a:prstDash val="solid"/>
          </a:ln>
        </p:spPr>
      </p:sp>
      <p:sp>
        <p:nvSpPr>
          <p:cNvPr id="76" name="Text 74"/>
          <p:cNvSpPr/>
          <p:nvPr/>
        </p:nvSpPr>
        <p:spPr>
          <a:xfrm>
            <a:off x="6583680" y="3913632"/>
            <a:ext cx="53035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LEVIERS : Œufs : +26,9% de marché, AGL à 1% → cible 8% = +130 T/an. Transit-Coss en chute de –60% (696K→274K kg) : accélérer la captation de ses clients. Contrats cadres Télécoms 2027 à sécuriser dès maintenant.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1097280" y="3520440"/>
            <a:ext cx="7498080" cy="59436"/>
          </a:xfrm>
          <a:prstGeom prst="rect">
            <a:avLst/>
          </a:prstGeom>
          <a:solidFill>
            <a:srgbClr val="C9A84C"/>
          </a:solidFill>
          <a:ln/>
        </p:spPr>
      </p:sp>
      <p:sp>
        <p:nvSpPr>
          <p:cNvPr id="4" name="Text 2"/>
          <p:cNvSpPr/>
          <p:nvPr/>
        </p:nvSpPr>
        <p:spPr>
          <a:xfrm>
            <a:off x="365760" y="2011680"/>
            <a:ext cx="11430000" cy="914400"/>
          </a:xfrm>
          <a:prstGeom prst="rect">
            <a:avLst/>
          </a:prstGeom>
          <a:noFill/>
          <a:ln/>
        </p:spPr>
        <p:txBody>
          <a:bodyPr wrap="square" rtlCol="0" anchor="ctr"/>
          <a:lstStyle/>
          <a:p>
            <a:pPr algn="ctr" indent="0" marL="0">
              <a:buNone/>
            </a:pPr>
            <a:r>
              <a:rPr lang="en-US" sz="7200" b="1" dirty="0">
                <a:solidFill>
                  <a:srgbClr val="1A2E4A"/>
                </a:solidFill>
                <a:latin typeface="Calibri" pitchFamily="34" charset="0"/>
                <a:ea typeface="Calibri" pitchFamily="34" charset="-122"/>
                <a:cs typeface="Calibri" pitchFamily="34" charset="-120"/>
              </a:rPr>
              <a:t>DSM</a:t>
            </a:r>
            <a:endParaRPr lang="en-US" sz="7200" dirty="0"/>
          </a:p>
        </p:txBody>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DIRECTION DES SOLUTIONS MARITIMES</a:t>
            </a:r>
            <a:endParaRPr lang="en-US" sz="2800" dirty="0"/>
          </a:p>
        </p:txBody>
      </p:sp>
      <p:sp>
        <p:nvSpPr>
          <p:cNvPr id="6" name="Text 4"/>
          <p:cNvSpPr/>
          <p:nvPr/>
        </p:nvSpPr>
        <p:spPr>
          <a:xfrm>
            <a:off x="365760" y="3703320"/>
            <a:ext cx="11430000" cy="457200"/>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Étude des armateurs au B/L  |  Lignes régulières (TEU + RoRo)  |  Tramps : BRBK, Sac, Vrac</a:t>
            </a:r>
            <a:endParaRPr lang="en-US" sz="14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ARMATEURS AU B/L  |  Tonnage Import 2025</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tous conditionnements  |  Marché : 23 557 176 T  |  Hors PP</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Armateurs au B/L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Armateur</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AFFRETE   CLINKER</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8 483 253</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36,01 %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ARMATEUR DIVERS</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2 611 451</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11,09 %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MSC</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2 575 251</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10,93 %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ARMATEURS DIVERS RIZ</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2 055 812</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8,73 %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CMA CGM</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1 589 395</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6,75 %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AFFRETES  BLE</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1 531 565</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6,50 %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LINE</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1 386 832</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5,89 %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ARMATEUR DIVERS ENGRAIS</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1 043 989</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4,43 %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HAPAG LLOYD</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495 099</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2,10 %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AFRICA EXPRESS LINE</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373 880</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1,59 %</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Top 5 armateurs (% du marché mensuel)</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486400" cy="914400"/>
        </p:xfrm>
        <a:graphic>
          <a:graphicData uri="http://schemas.openxmlformats.org/drawingml/2006/table">
            <a:tbl>
              <a:tblPr/>
              <a:tblGrid>
                <a:gridCol w="1280160"/>
                <a:gridCol w="292608"/>
                <a:gridCol w="292608"/>
                <a:gridCol w="292608"/>
                <a:gridCol w="292608"/>
                <a:gridCol w="292608"/>
                <a:gridCol w="292608"/>
                <a:gridCol w="292608"/>
                <a:gridCol w="292608"/>
                <a:gridCol w="292608"/>
                <a:gridCol w="292608"/>
                <a:gridCol w="292608"/>
                <a:gridCol w="292608"/>
                <a:gridCol w="512064"/>
              </a:tblGrid>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Jan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Fév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Avr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Mai</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Jul</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Aoû</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Sep</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Oct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Nov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Déc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Tot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AFFRETE   CLINKER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36,01 %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 DIVERS</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11,09 %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MSC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10,93 %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ARMATEURS DIVERS 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8,73 %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CMA CGM</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6,75 %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bl>
          </a:graphicData>
        </a:graphic>
      </p:graphicFrame>
      <p:sp>
        <p:nvSpPr>
          <p:cNvPr id="65" name="Shape 62"/>
          <p:cNvSpPr/>
          <p:nvPr/>
        </p:nvSpPr>
        <p:spPr>
          <a:xfrm>
            <a:off x="137160" y="5029200"/>
            <a:ext cx="11795760" cy="868680"/>
          </a:xfrm>
          <a:prstGeom prst="rect">
            <a:avLst/>
          </a:prstGeom>
          <a:solidFill>
            <a:srgbClr val="FFFBEC"/>
          </a:solidFill>
          <a:ln w="6350">
            <a:solidFill>
              <a:srgbClr val="E5C97A"/>
            </a:solidFill>
            <a:prstDash val="solid"/>
          </a:ln>
        </p:spPr>
      </p:sp>
      <p:sp>
        <p:nvSpPr>
          <p:cNvPr id="66" name="Text 63"/>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ARMATEURS : Affrètement clinker (36,01 %) domine le tonnage import — flux cimenteries CIM-CI / SCA / SOCOCIM via CAM PHA, PORT SAID, MINA SAQR. Hors affrètement, MSC (10,93 %) + CMA CGM (6,75 %) + Maersk = ~16% sur lignes régulières. Cible AGL : consolider commission B/L sur ces 3 majors + capter armateurs riz/blé/engrais (vraquiers spot).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MANUTENTIONNAIRES  |  Position AGL CI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manutention  |  AGL CI : #8 avec 801 440 T (3,40 % PDM)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Manutentionnaires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Manutentionnaire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SEA-INVEST SHIPPING AGENCY CI</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7 842 206</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33,29 %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Cote d'Ivoire Terminal</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4 334 309</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18,40 %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Abidjan Terminal</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2 429 041</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10,31 %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1 448 303</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6,15 %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TERMINAL INDUSTRIEL POLYVAL.SP</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1 385 420</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5,88 %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SOGENA</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950 828</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4,04 %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PETROCI</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818 059</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3,47 %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AGL CI</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801 440</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3,40 %</a:t>
            </a:r>
            <a:endParaRPr lang="en-US" sz="900" dirty="0"/>
          </a:p>
        </p:txBody>
      </p:sp>
      <p:sp>
        <p:nvSpPr>
          <p:cNvPr id="53" name="Shape 51"/>
          <p:cNvSpPr/>
          <p:nvPr/>
        </p:nvSpPr>
        <p:spPr>
          <a:xfrm>
            <a:off x="137160" y="3675888"/>
            <a:ext cx="6217920" cy="256032"/>
          </a:xfrm>
          <a:prstGeom prst="rect">
            <a:avLst/>
          </a:prstGeom>
          <a:solidFill>
            <a:srgbClr val="FFF9EC"/>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TERRA</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532 188</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2,26 %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GMT SHIPPING COTE D'IVOIRE SA</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515 138</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2,19 %</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AGL CI – tonnage mensuel manutention 2025</a:t>
            </a:r>
            <a:endParaRPr lang="en-US" sz="1100" dirty="0"/>
          </a:p>
        </p:txBody>
      </p:sp>
      <p:sp>
        <p:nvSpPr>
          <p:cNvPr id="64" name="Shape 62"/>
          <p:cNvSpPr/>
          <p:nvPr/>
        </p:nvSpPr>
        <p:spPr>
          <a:xfrm>
            <a:off x="6629400" y="3539177"/>
            <a:ext cx="388620" cy="209863"/>
          </a:xfrm>
          <a:prstGeom prst="rect">
            <a:avLst/>
          </a:prstGeom>
          <a:solidFill>
            <a:srgbClr val="0D2243"/>
          </a:solidFill>
          <a:ln/>
        </p:spPr>
      </p:sp>
      <p:sp>
        <p:nvSpPr>
          <p:cNvPr id="65" name="Text 63"/>
          <p:cNvSpPr/>
          <p:nvPr/>
        </p:nvSpPr>
        <p:spPr>
          <a:xfrm>
            <a:off x="66294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Jan</a:t>
            </a:r>
            <a:endParaRPr lang="en-US" sz="700" dirty="0"/>
          </a:p>
        </p:txBody>
      </p:sp>
      <p:sp>
        <p:nvSpPr>
          <p:cNvPr id="66" name="Text 64"/>
          <p:cNvSpPr/>
          <p:nvPr/>
        </p:nvSpPr>
        <p:spPr>
          <a:xfrm>
            <a:off x="6537960" y="33105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16k</a:t>
            </a:r>
            <a:endParaRPr lang="en-US" sz="600" dirty="0"/>
          </a:p>
        </p:txBody>
      </p:sp>
      <p:sp>
        <p:nvSpPr>
          <p:cNvPr id="67" name="Shape 65"/>
          <p:cNvSpPr/>
          <p:nvPr/>
        </p:nvSpPr>
        <p:spPr>
          <a:xfrm>
            <a:off x="7063740" y="2944681"/>
            <a:ext cx="388620" cy="804359"/>
          </a:xfrm>
          <a:prstGeom prst="rect">
            <a:avLst/>
          </a:prstGeom>
          <a:solidFill>
            <a:srgbClr val="0D2243"/>
          </a:solidFill>
          <a:ln/>
        </p:spPr>
      </p:sp>
      <p:sp>
        <p:nvSpPr>
          <p:cNvPr id="68" name="Text 66"/>
          <p:cNvSpPr/>
          <p:nvPr/>
        </p:nvSpPr>
        <p:spPr>
          <a:xfrm>
            <a:off x="70637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Fév</a:t>
            </a:r>
            <a:endParaRPr lang="en-US" sz="700" dirty="0"/>
          </a:p>
        </p:txBody>
      </p:sp>
      <p:sp>
        <p:nvSpPr>
          <p:cNvPr id="69" name="Text 67"/>
          <p:cNvSpPr/>
          <p:nvPr/>
        </p:nvSpPr>
        <p:spPr>
          <a:xfrm>
            <a:off x="6972300" y="2716081"/>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61k</a:t>
            </a:r>
            <a:endParaRPr lang="en-US" sz="600" dirty="0"/>
          </a:p>
        </p:txBody>
      </p:sp>
      <p:sp>
        <p:nvSpPr>
          <p:cNvPr id="70" name="Shape 68"/>
          <p:cNvSpPr/>
          <p:nvPr/>
        </p:nvSpPr>
        <p:spPr>
          <a:xfrm>
            <a:off x="7498080" y="3048076"/>
            <a:ext cx="388620" cy="700964"/>
          </a:xfrm>
          <a:prstGeom prst="rect">
            <a:avLst/>
          </a:prstGeom>
          <a:solidFill>
            <a:srgbClr val="0D2243"/>
          </a:solidFill>
          <a:ln/>
        </p:spPr>
      </p:sp>
      <p:sp>
        <p:nvSpPr>
          <p:cNvPr id="71" name="Text 69"/>
          <p:cNvSpPr/>
          <p:nvPr/>
        </p:nvSpPr>
        <p:spPr>
          <a:xfrm>
            <a:off x="74980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Mar</a:t>
            </a:r>
            <a:endParaRPr lang="en-US" sz="700" dirty="0"/>
          </a:p>
        </p:txBody>
      </p:sp>
      <p:sp>
        <p:nvSpPr>
          <p:cNvPr id="72" name="Text 70"/>
          <p:cNvSpPr/>
          <p:nvPr/>
        </p:nvSpPr>
        <p:spPr>
          <a:xfrm>
            <a:off x="7406640" y="281947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53k</a:t>
            </a:r>
            <a:endParaRPr lang="en-US" sz="600" dirty="0"/>
          </a:p>
        </p:txBody>
      </p:sp>
      <p:sp>
        <p:nvSpPr>
          <p:cNvPr id="73" name="Shape 71"/>
          <p:cNvSpPr/>
          <p:nvPr/>
        </p:nvSpPr>
        <p:spPr>
          <a:xfrm>
            <a:off x="7932420" y="3244494"/>
            <a:ext cx="388620" cy="504546"/>
          </a:xfrm>
          <a:prstGeom prst="rect">
            <a:avLst/>
          </a:prstGeom>
          <a:solidFill>
            <a:srgbClr val="0D2243"/>
          </a:solidFill>
          <a:ln/>
        </p:spPr>
      </p:sp>
      <p:sp>
        <p:nvSpPr>
          <p:cNvPr id="74" name="Text 72"/>
          <p:cNvSpPr/>
          <p:nvPr/>
        </p:nvSpPr>
        <p:spPr>
          <a:xfrm>
            <a:off x="79324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Avr</a:t>
            </a:r>
            <a:endParaRPr lang="en-US" sz="700" dirty="0"/>
          </a:p>
        </p:txBody>
      </p:sp>
      <p:sp>
        <p:nvSpPr>
          <p:cNvPr id="75" name="Text 73"/>
          <p:cNvSpPr/>
          <p:nvPr/>
        </p:nvSpPr>
        <p:spPr>
          <a:xfrm>
            <a:off x="7840980" y="301589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38k</a:t>
            </a:r>
            <a:endParaRPr lang="en-US" sz="600" dirty="0"/>
          </a:p>
        </p:txBody>
      </p:sp>
      <p:sp>
        <p:nvSpPr>
          <p:cNvPr id="76" name="Shape 74"/>
          <p:cNvSpPr/>
          <p:nvPr/>
        </p:nvSpPr>
        <p:spPr>
          <a:xfrm>
            <a:off x="8366760" y="1554480"/>
            <a:ext cx="388620" cy="2194560"/>
          </a:xfrm>
          <a:prstGeom prst="rect">
            <a:avLst/>
          </a:prstGeom>
          <a:solidFill>
            <a:srgbClr val="0D2243"/>
          </a:solidFill>
          <a:ln/>
        </p:spPr>
      </p:sp>
      <p:sp>
        <p:nvSpPr>
          <p:cNvPr id="77" name="Text 75"/>
          <p:cNvSpPr/>
          <p:nvPr/>
        </p:nvSpPr>
        <p:spPr>
          <a:xfrm>
            <a:off x="83667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Mai</a:t>
            </a:r>
            <a:endParaRPr lang="en-US" sz="700" dirty="0"/>
          </a:p>
        </p:txBody>
      </p:sp>
      <p:sp>
        <p:nvSpPr>
          <p:cNvPr id="78" name="Text 76"/>
          <p:cNvSpPr/>
          <p:nvPr/>
        </p:nvSpPr>
        <p:spPr>
          <a:xfrm>
            <a:off x="8275320" y="132588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166k</a:t>
            </a:r>
            <a:endParaRPr lang="en-US" sz="600" dirty="0"/>
          </a:p>
        </p:txBody>
      </p:sp>
      <p:sp>
        <p:nvSpPr>
          <p:cNvPr id="79" name="Shape 77"/>
          <p:cNvSpPr/>
          <p:nvPr/>
        </p:nvSpPr>
        <p:spPr>
          <a:xfrm>
            <a:off x="8801100" y="3114677"/>
            <a:ext cx="388620" cy="634363"/>
          </a:xfrm>
          <a:prstGeom prst="rect">
            <a:avLst/>
          </a:prstGeom>
          <a:solidFill>
            <a:srgbClr val="0D2243"/>
          </a:solidFill>
          <a:ln/>
        </p:spPr>
      </p:sp>
      <p:sp>
        <p:nvSpPr>
          <p:cNvPr id="80" name="Text 78"/>
          <p:cNvSpPr/>
          <p:nvPr/>
        </p:nvSpPr>
        <p:spPr>
          <a:xfrm>
            <a:off x="88011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Jun</a:t>
            </a:r>
            <a:endParaRPr lang="en-US" sz="700" dirty="0"/>
          </a:p>
        </p:txBody>
      </p:sp>
      <p:sp>
        <p:nvSpPr>
          <p:cNvPr id="81" name="Text 79"/>
          <p:cNvSpPr/>
          <p:nvPr/>
        </p:nvSpPr>
        <p:spPr>
          <a:xfrm>
            <a:off x="8709660" y="28860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48k</a:t>
            </a:r>
            <a:endParaRPr lang="en-US" sz="600" dirty="0"/>
          </a:p>
        </p:txBody>
      </p:sp>
      <p:sp>
        <p:nvSpPr>
          <p:cNvPr id="82" name="Shape 80"/>
          <p:cNvSpPr/>
          <p:nvPr/>
        </p:nvSpPr>
        <p:spPr>
          <a:xfrm>
            <a:off x="9235440" y="2439627"/>
            <a:ext cx="388620" cy="1309413"/>
          </a:xfrm>
          <a:prstGeom prst="rect">
            <a:avLst/>
          </a:prstGeom>
          <a:solidFill>
            <a:srgbClr val="0D2243"/>
          </a:solidFill>
          <a:ln/>
        </p:spPr>
      </p:sp>
      <p:sp>
        <p:nvSpPr>
          <p:cNvPr id="83" name="Text 81"/>
          <p:cNvSpPr/>
          <p:nvPr/>
        </p:nvSpPr>
        <p:spPr>
          <a:xfrm>
            <a:off x="92354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Jul</a:t>
            </a:r>
            <a:endParaRPr lang="en-US" sz="700" dirty="0"/>
          </a:p>
        </p:txBody>
      </p:sp>
      <p:sp>
        <p:nvSpPr>
          <p:cNvPr id="84" name="Text 82"/>
          <p:cNvSpPr/>
          <p:nvPr/>
        </p:nvSpPr>
        <p:spPr>
          <a:xfrm>
            <a:off x="9144000" y="221102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99k</a:t>
            </a:r>
            <a:endParaRPr lang="en-US" sz="600" dirty="0"/>
          </a:p>
        </p:txBody>
      </p:sp>
      <p:sp>
        <p:nvSpPr>
          <p:cNvPr id="85" name="Shape 83"/>
          <p:cNvSpPr/>
          <p:nvPr/>
        </p:nvSpPr>
        <p:spPr>
          <a:xfrm>
            <a:off x="9669780" y="3179706"/>
            <a:ext cx="388620" cy="569334"/>
          </a:xfrm>
          <a:prstGeom prst="rect">
            <a:avLst/>
          </a:prstGeom>
          <a:solidFill>
            <a:srgbClr val="0D2243"/>
          </a:solidFill>
          <a:ln/>
        </p:spPr>
      </p:sp>
      <p:sp>
        <p:nvSpPr>
          <p:cNvPr id="86" name="Text 84"/>
          <p:cNvSpPr/>
          <p:nvPr/>
        </p:nvSpPr>
        <p:spPr>
          <a:xfrm>
            <a:off x="96697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Aoû</a:t>
            </a:r>
            <a:endParaRPr lang="en-US" sz="700" dirty="0"/>
          </a:p>
        </p:txBody>
      </p:sp>
      <p:sp>
        <p:nvSpPr>
          <p:cNvPr id="87" name="Text 85"/>
          <p:cNvSpPr/>
          <p:nvPr/>
        </p:nvSpPr>
        <p:spPr>
          <a:xfrm>
            <a:off x="9578340" y="295110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43k</a:t>
            </a:r>
            <a:endParaRPr lang="en-US" sz="600" dirty="0"/>
          </a:p>
        </p:txBody>
      </p:sp>
      <p:sp>
        <p:nvSpPr>
          <p:cNvPr id="88" name="Shape 86"/>
          <p:cNvSpPr/>
          <p:nvPr/>
        </p:nvSpPr>
        <p:spPr>
          <a:xfrm>
            <a:off x="10104120" y="2682670"/>
            <a:ext cx="388620" cy="1066370"/>
          </a:xfrm>
          <a:prstGeom prst="rect">
            <a:avLst/>
          </a:prstGeom>
          <a:solidFill>
            <a:srgbClr val="0D2243"/>
          </a:solidFill>
          <a:ln/>
        </p:spPr>
      </p:sp>
      <p:sp>
        <p:nvSpPr>
          <p:cNvPr id="89" name="Text 87"/>
          <p:cNvSpPr/>
          <p:nvPr/>
        </p:nvSpPr>
        <p:spPr>
          <a:xfrm>
            <a:off x="101041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Sep</a:t>
            </a:r>
            <a:endParaRPr lang="en-US" sz="700" dirty="0"/>
          </a:p>
        </p:txBody>
      </p:sp>
      <p:sp>
        <p:nvSpPr>
          <p:cNvPr id="90" name="Text 88"/>
          <p:cNvSpPr/>
          <p:nvPr/>
        </p:nvSpPr>
        <p:spPr>
          <a:xfrm>
            <a:off x="10012680" y="245407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81k</a:t>
            </a:r>
            <a:endParaRPr lang="en-US" sz="600" dirty="0"/>
          </a:p>
        </p:txBody>
      </p:sp>
      <p:sp>
        <p:nvSpPr>
          <p:cNvPr id="91" name="Shape 89"/>
          <p:cNvSpPr/>
          <p:nvPr/>
        </p:nvSpPr>
        <p:spPr>
          <a:xfrm>
            <a:off x="10538460" y="2964773"/>
            <a:ext cx="388620" cy="784267"/>
          </a:xfrm>
          <a:prstGeom prst="rect">
            <a:avLst/>
          </a:prstGeom>
          <a:solidFill>
            <a:srgbClr val="0D2243"/>
          </a:solidFill>
          <a:ln/>
        </p:spPr>
      </p:sp>
      <p:sp>
        <p:nvSpPr>
          <p:cNvPr id="92" name="Text 90"/>
          <p:cNvSpPr/>
          <p:nvPr/>
        </p:nvSpPr>
        <p:spPr>
          <a:xfrm>
            <a:off x="105384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Oct</a:t>
            </a:r>
            <a:endParaRPr lang="en-US" sz="700" dirty="0"/>
          </a:p>
        </p:txBody>
      </p:sp>
      <p:sp>
        <p:nvSpPr>
          <p:cNvPr id="93" name="Text 91"/>
          <p:cNvSpPr/>
          <p:nvPr/>
        </p:nvSpPr>
        <p:spPr>
          <a:xfrm>
            <a:off x="10447020" y="2736173"/>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59k</a:t>
            </a:r>
            <a:endParaRPr lang="en-US" sz="600" dirty="0"/>
          </a:p>
        </p:txBody>
      </p:sp>
      <p:sp>
        <p:nvSpPr>
          <p:cNvPr id="94" name="Shape 92"/>
          <p:cNvSpPr/>
          <p:nvPr/>
        </p:nvSpPr>
        <p:spPr>
          <a:xfrm>
            <a:off x="10972800" y="2289784"/>
            <a:ext cx="388620" cy="1459256"/>
          </a:xfrm>
          <a:prstGeom prst="rect">
            <a:avLst/>
          </a:prstGeom>
          <a:solidFill>
            <a:srgbClr val="0D2243"/>
          </a:solidFill>
          <a:ln/>
        </p:spPr>
      </p:sp>
      <p:sp>
        <p:nvSpPr>
          <p:cNvPr id="95" name="Text 93"/>
          <p:cNvSpPr/>
          <p:nvPr/>
        </p:nvSpPr>
        <p:spPr>
          <a:xfrm>
            <a:off x="109728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Nov</a:t>
            </a:r>
            <a:endParaRPr lang="en-US" sz="700" dirty="0"/>
          </a:p>
        </p:txBody>
      </p:sp>
      <p:sp>
        <p:nvSpPr>
          <p:cNvPr id="96" name="Text 94"/>
          <p:cNvSpPr/>
          <p:nvPr/>
        </p:nvSpPr>
        <p:spPr>
          <a:xfrm>
            <a:off x="10881360" y="206118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110k</a:t>
            </a:r>
            <a:endParaRPr lang="en-US" sz="600" dirty="0"/>
          </a:p>
        </p:txBody>
      </p:sp>
      <p:sp>
        <p:nvSpPr>
          <p:cNvPr id="97" name="Shape 95"/>
          <p:cNvSpPr/>
          <p:nvPr/>
        </p:nvSpPr>
        <p:spPr>
          <a:xfrm>
            <a:off x="11407140" y="3370210"/>
            <a:ext cx="388620" cy="378830"/>
          </a:xfrm>
          <a:prstGeom prst="rect">
            <a:avLst/>
          </a:prstGeom>
          <a:solidFill>
            <a:srgbClr val="0D2243"/>
          </a:solidFill>
          <a:ln/>
        </p:spPr>
      </p:sp>
      <p:sp>
        <p:nvSpPr>
          <p:cNvPr id="98" name="Text 96"/>
          <p:cNvSpPr/>
          <p:nvPr/>
        </p:nvSpPr>
        <p:spPr>
          <a:xfrm>
            <a:off x="114071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Déc</a:t>
            </a:r>
            <a:endParaRPr lang="en-US" sz="700" dirty="0"/>
          </a:p>
        </p:txBody>
      </p:sp>
      <p:sp>
        <p:nvSpPr>
          <p:cNvPr id="99" name="Text 97"/>
          <p:cNvSpPr/>
          <p:nvPr/>
        </p:nvSpPr>
        <p:spPr>
          <a:xfrm>
            <a:off x="11315700" y="314161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29k</a:t>
            </a:r>
            <a:endParaRPr lang="en-US" sz="600" dirty="0"/>
          </a:p>
        </p:txBody>
      </p:sp>
      <p:sp>
        <p:nvSpPr>
          <p:cNvPr id="100" name="Shape 98"/>
          <p:cNvSpPr/>
          <p:nvPr/>
        </p:nvSpPr>
        <p:spPr>
          <a:xfrm>
            <a:off x="137160" y="5029200"/>
            <a:ext cx="11795760" cy="868680"/>
          </a:xfrm>
          <a:prstGeom prst="rect">
            <a:avLst/>
          </a:prstGeom>
          <a:solidFill>
            <a:srgbClr val="FFFBEC"/>
          </a:solidFill>
          <a:ln w="6350">
            <a:solidFill>
              <a:srgbClr val="E5C97A"/>
            </a:solidFill>
            <a:prstDash val="solid"/>
          </a:ln>
        </p:spPr>
      </p:sp>
      <p:sp>
        <p:nvSpPr>
          <p:cNvPr id="101" name="Text 99"/>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MANUTENTION : AGL CI #8 sur 10 (3,40 %) — écart important avec leader Sea-Invest (33,29 %) et Côte d'Ivoire Terminal (18,40 %). Levier 2026 : capter manutention vraquiers clinker (CAM PHA → cimenteries) + consolider Global Manutention en partenariat technique. Objectif 6% PDM à 18 mois.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CONSIGNATAIRES &amp; PORTS DE CHARGEMENT</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CI #2 consignataire (13,73 % PDM, 3 235 436 T)  |  Top 10 POL Import 2025</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Consignataires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Consignataire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SEA-INVEST SHIPPING AGENCY</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4 674 668</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19,84 %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AGL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3 235 436</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13,73 %</a:t>
            </a:r>
            <a:endParaRPr lang="en-US" sz="90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MSC</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2 566 802</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10,90 %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SEA-INVEST SHIPPING AGENCY SPY</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1 767 250</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7,50 %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MANUTENCION CI GMCI</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1 488 870</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6,32 %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CMA CGM</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1 482 003</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6,29 %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LINES</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1 468 912</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6,24 %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SAKINA SHIPS</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826 270</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3,51 %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OMA CI</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580 614</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2,46 %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GMT SHIPPING</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559 906</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2,38 %</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POL — Origines des imports 2025</a:t>
            </a:r>
            <a:endParaRPr lang="en-US" sz="1100" dirty="0"/>
          </a:p>
        </p:txBody>
      </p:sp>
      <p:sp>
        <p:nvSpPr>
          <p:cNvPr id="64" name="Shape 62"/>
          <p:cNvSpPr/>
          <p:nvPr/>
        </p:nvSpPr>
        <p:spPr>
          <a:xfrm>
            <a:off x="6492240" y="1371600"/>
            <a:ext cx="5486400" cy="256032"/>
          </a:xfrm>
          <a:prstGeom prst="rect">
            <a:avLst/>
          </a:prstGeom>
          <a:solidFill>
            <a:srgbClr val="0D2243"/>
          </a:solidFill>
          <a:ln/>
        </p:spPr>
      </p:sp>
      <p:sp>
        <p:nvSpPr>
          <p:cNvPr id="65" name="Text 63"/>
          <p:cNvSpPr/>
          <p:nvPr/>
        </p:nvSpPr>
        <p:spPr>
          <a:xfrm>
            <a:off x="652881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66" name="Text 64"/>
          <p:cNvSpPr/>
          <p:nvPr/>
        </p:nvSpPr>
        <p:spPr>
          <a:xfrm>
            <a:off x="6940296" y="1408176"/>
            <a:ext cx="16459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Port de chargement</a:t>
            </a:r>
            <a:endParaRPr lang="en-US" sz="900" dirty="0"/>
          </a:p>
        </p:txBody>
      </p:sp>
      <p:sp>
        <p:nvSpPr>
          <p:cNvPr id="67" name="Text 65"/>
          <p:cNvSpPr/>
          <p:nvPr/>
        </p:nvSpPr>
        <p:spPr>
          <a:xfrm>
            <a:off x="8631936" y="1408176"/>
            <a:ext cx="16459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68" name="Text 66"/>
          <p:cNvSpPr/>
          <p:nvPr/>
        </p:nvSpPr>
        <p:spPr>
          <a:xfrm>
            <a:off x="10323576" y="1408176"/>
            <a:ext cx="16459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69" name="Shape 67"/>
          <p:cNvSpPr/>
          <p:nvPr/>
        </p:nvSpPr>
        <p:spPr>
          <a:xfrm>
            <a:off x="6492240" y="1627632"/>
            <a:ext cx="5486400" cy="256032"/>
          </a:xfrm>
          <a:prstGeom prst="rect">
            <a:avLst/>
          </a:prstGeom>
          <a:solidFill>
            <a:srgbClr val="FFF9EC"/>
          </a:solidFill>
          <a:ln w="3810">
            <a:solidFill>
              <a:srgbClr val="E5E7EB"/>
            </a:solidFill>
            <a:prstDash val="solid"/>
          </a:ln>
        </p:spPr>
      </p:sp>
      <p:sp>
        <p:nvSpPr>
          <p:cNvPr id="70" name="Text 68"/>
          <p:cNvSpPr/>
          <p:nvPr/>
        </p:nvSpPr>
        <p:spPr>
          <a:xfrm>
            <a:off x="652881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71" name="Text 69"/>
          <p:cNvSpPr/>
          <p:nvPr/>
        </p:nvSpPr>
        <p:spPr>
          <a:xfrm>
            <a:off x="6940296" y="1664208"/>
            <a:ext cx="16459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CAM PHA</a:t>
            </a:r>
            <a:endParaRPr lang="en-US" sz="900" dirty="0"/>
          </a:p>
        </p:txBody>
      </p:sp>
      <p:sp>
        <p:nvSpPr>
          <p:cNvPr id="72" name="Text 70"/>
          <p:cNvSpPr/>
          <p:nvPr/>
        </p:nvSpPr>
        <p:spPr>
          <a:xfrm>
            <a:off x="8631936" y="1664208"/>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2 118 362</a:t>
            </a:r>
            <a:endParaRPr lang="en-US" sz="900" dirty="0"/>
          </a:p>
        </p:txBody>
      </p:sp>
      <p:sp>
        <p:nvSpPr>
          <p:cNvPr id="73" name="Text 71"/>
          <p:cNvSpPr/>
          <p:nvPr/>
        </p:nvSpPr>
        <p:spPr>
          <a:xfrm>
            <a:off x="10323576" y="1664208"/>
            <a:ext cx="16459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8,99 %</a:t>
            </a:r>
            <a:endParaRPr lang="en-US" sz="900" dirty="0"/>
          </a:p>
        </p:txBody>
      </p:sp>
      <p:sp>
        <p:nvSpPr>
          <p:cNvPr id="74" name="Shape 72"/>
          <p:cNvSpPr/>
          <p:nvPr/>
        </p:nvSpPr>
        <p:spPr>
          <a:xfrm>
            <a:off x="6492240" y="1883664"/>
            <a:ext cx="5486400" cy="256032"/>
          </a:xfrm>
          <a:prstGeom prst="rect">
            <a:avLst/>
          </a:prstGeom>
          <a:solidFill>
            <a:srgbClr val="F8F9FA"/>
          </a:solidFill>
          <a:ln w="3810">
            <a:solidFill>
              <a:srgbClr val="E5E7EB"/>
            </a:solidFill>
            <a:prstDash val="solid"/>
          </a:ln>
        </p:spPr>
      </p:sp>
      <p:sp>
        <p:nvSpPr>
          <p:cNvPr id="75" name="Text 73"/>
          <p:cNvSpPr/>
          <p:nvPr/>
        </p:nvSpPr>
        <p:spPr>
          <a:xfrm>
            <a:off x="652881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76" name="Text 74"/>
          <p:cNvSpPr/>
          <p:nvPr/>
        </p:nvSpPr>
        <p:spPr>
          <a:xfrm>
            <a:off x="6940296" y="1920240"/>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PORT SAID</a:t>
            </a:r>
            <a:endParaRPr lang="en-US" sz="900" dirty="0"/>
          </a:p>
        </p:txBody>
      </p:sp>
      <p:sp>
        <p:nvSpPr>
          <p:cNvPr id="77" name="Text 75"/>
          <p:cNvSpPr/>
          <p:nvPr/>
        </p:nvSpPr>
        <p:spPr>
          <a:xfrm>
            <a:off x="8631936" y="192024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1 697 749</a:t>
            </a:r>
            <a:endParaRPr lang="en-US" sz="900" dirty="0"/>
          </a:p>
        </p:txBody>
      </p:sp>
      <p:sp>
        <p:nvSpPr>
          <p:cNvPr id="78" name="Text 76"/>
          <p:cNvSpPr/>
          <p:nvPr/>
        </p:nvSpPr>
        <p:spPr>
          <a:xfrm>
            <a:off x="10323576" y="192024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7,21 %</a:t>
            </a:r>
            <a:endParaRPr lang="en-US" sz="900" dirty="0"/>
          </a:p>
        </p:txBody>
      </p:sp>
      <p:sp>
        <p:nvSpPr>
          <p:cNvPr id="79" name="Shape 77"/>
          <p:cNvSpPr/>
          <p:nvPr/>
        </p:nvSpPr>
        <p:spPr>
          <a:xfrm>
            <a:off x="6492240" y="2139696"/>
            <a:ext cx="5486400" cy="256032"/>
          </a:xfrm>
          <a:prstGeom prst="rect">
            <a:avLst/>
          </a:prstGeom>
          <a:solidFill>
            <a:srgbClr val="FFFFFF"/>
          </a:solidFill>
          <a:ln w="3810">
            <a:solidFill>
              <a:srgbClr val="E5E7EB"/>
            </a:solidFill>
            <a:prstDash val="solid"/>
          </a:ln>
        </p:spPr>
      </p:sp>
      <p:sp>
        <p:nvSpPr>
          <p:cNvPr id="80" name="Text 78"/>
          <p:cNvSpPr/>
          <p:nvPr/>
        </p:nvSpPr>
        <p:spPr>
          <a:xfrm>
            <a:off x="652881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81" name="Text 79"/>
          <p:cNvSpPr/>
          <p:nvPr/>
        </p:nvSpPr>
        <p:spPr>
          <a:xfrm>
            <a:off x="6940296" y="2176272"/>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MINA SAQR U.A.E</a:t>
            </a:r>
            <a:endParaRPr lang="en-US" sz="900" dirty="0"/>
          </a:p>
        </p:txBody>
      </p:sp>
      <p:sp>
        <p:nvSpPr>
          <p:cNvPr id="82" name="Text 80"/>
          <p:cNvSpPr/>
          <p:nvPr/>
        </p:nvSpPr>
        <p:spPr>
          <a:xfrm>
            <a:off x="8631936" y="217627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834 579</a:t>
            </a:r>
            <a:endParaRPr lang="en-US" sz="900" dirty="0"/>
          </a:p>
        </p:txBody>
      </p:sp>
      <p:sp>
        <p:nvSpPr>
          <p:cNvPr id="83" name="Text 81"/>
          <p:cNvSpPr/>
          <p:nvPr/>
        </p:nvSpPr>
        <p:spPr>
          <a:xfrm>
            <a:off x="10323576" y="217627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3,54 %</a:t>
            </a:r>
            <a:endParaRPr lang="en-US" sz="900" dirty="0"/>
          </a:p>
        </p:txBody>
      </p:sp>
      <p:sp>
        <p:nvSpPr>
          <p:cNvPr id="84" name="Shape 82"/>
          <p:cNvSpPr/>
          <p:nvPr/>
        </p:nvSpPr>
        <p:spPr>
          <a:xfrm>
            <a:off x="6492240" y="2395728"/>
            <a:ext cx="5486400" cy="256032"/>
          </a:xfrm>
          <a:prstGeom prst="rect">
            <a:avLst/>
          </a:prstGeom>
          <a:solidFill>
            <a:srgbClr val="F8F9FA"/>
          </a:solidFill>
          <a:ln w="3810">
            <a:solidFill>
              <a:srgbClr val="E5E7EB"/>
            </a:solidFill>
            <a:prstDash val="solid"/>
          </a:ln>
        </p:spPr>
      </p:sp>
      <p:sp>
        <p:nvSpPr>
          <p:cNvPr id="85" name="Text 83"/>
          <p:cNvSpPr/>
          <p:nvPr/>
        </p:nvSpPr>
        <p:spPr>
          <a:xfrm>
            <a:off x="652881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86" name="Text 84"/>
          <p:cNvSpPr/>
          <p:nvPr/>
        </p:nvSpPr>
        <p:spPr>
          <a:xfrm>
            <a:off x="6940296" y="2432304"/>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HO CHI MINH CITY</a:t>
            </a:r>
            <a:endParaRPr lang="en-US" sz="900" dirty="0"/>
          </a:p>
        </p:txBody>
      </p:sp>
      <p:sp>
        <p:nvSpPr>
          <p:cNvPr id="87" name="Text 85"/>
          <p:cNvSpPr/>
          <p:nvPr/>
        </p:nvSpPr>
        <p:spPr>
          <a:xfrm>
            <a:off x="8631936" y="243230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759 538</a:t>
            </a:r>
            <a:endParaRPr lang="en-US" sz="900" dirty="0"/>
          </a:p>
        </p:txBody>
      </p:sp>
      <p:sp>
        <p:nvSpPr>
          <p:cNvPr id="88" name="Text 86"/>
          <p:cNvSpPr/>
          <p:nvPr/>
        </p:nvSpPr>
        <p:spPr>
          <a:xfrm>
            <a:off x="10323576" y="243230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3,22 %</a:t>
            </a:r>
            <a:endParaRPr lang="en-US" sz="900" dirty="0"/>
          </a:p>
        </p:txBody>
      </p:sp>
      <p:sp>
        <p:nvSpPr>
          <p:cNvPr id="89" name="Shape 87"/>
          <p:cNvSpPr/>
          <p:nvPr/>
        </p:nvSpPr>
        <p:spPr>
          <a:xfrm>
            <a:off x="6492240" y="2651760"/>
            <a:ext cx="5486400" cy="256032"/>
          </a:xfrm>
          <a:prstGeom prst="rect">
            <a:avLst/>
          </a:prstGeom>
          <a:solidFill>
            <a:srgbClr val="FFFFFF"/>
          </a:solidFill>
          <a:ln w="3810">
            <a:solidFill>
              <a:srgbClr val="E5E7EB"/>
            </a:solidFill>
            <a:prstDash val="solid"/>
          </a:ln>
        </p:spPr>
      </p:sp>
      <p:sp>
        <p:nvSpPr>
          <p:cNvPr id="90" name="Text 88"/>
          <p:cNvSpPr/>
          <p:nvPr/>
        </p:nvSpPr>
        <p:spPr>
          <a:xfrm>
            <a:off x="652881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91" name="Text 89"/>
          <p:cNvSpPr/>
          <p:nvPr/>
        </p:nvSpPr>
        <p:spPr>
          <a:xfrm>
            <a:off x="6940296" y="2688336"/>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TIANJIN</a:t>
            </a:r>
            <a:endParaRPr lang="en-US" sz="900" dirty="0"/>
          </a:p>
        </p:txBody>
      </p:sp>
      <p:sp>
        <p:nvSpPr>
          <p:cNvPr id="92" name="Text 90"/>
          <p:cNvSpPr/>
          <p:nvPr/>
        </p:nvSpPr>
        <p:spPr>
          <a:xfrm>
            <a:off x="8631936" y="268833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701 646</a:t>
            </a:r>
            <a:endParaRPr lang="en-US" sz="900" dirty="0"/>
          </a:p>
        </p:txBody>
      </p:sp>
      <p:sp>
        <p:nvSpPr>
          <p:cNvPr id="93" name="Text 91"/>
          <p:cNvSpPr/>
          <p:nvPr/>
        </p:nvSpPr>
        <p:spPr>
          <a:xfrm>
            <a:off x="10323576" y="268833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2,98 %</a:t>
            </a:r>
            <a:endParaRPr lang="en-US" sz="900" dirty="0"/>
          </a:p>
        </p:txBody>
      </p:sp>
      <p:sp>
        <p:nvSpPr>
          <p:cNvPr id="94" name="Shape 92"/>
          <p:cNvSpPr/>
          <p:nvPr/>
        </p:nvSpPr>
        <p:spPr>
          <a:xfrm>
            <a:off x="6492240" y="2907792"/>
            <a:ext cx="5486400" cy="256032"/>
          </a:xfrm>
          <a:prstGeom prst="rect">
            <a:avLst/>
          </a:prstGeom>
          <a:solidFill>
            <a:srgbClr val="F8F9FA"/>
          </a:solidFill>
          <a:ln w="3810">
            <a:solidFill>
              <a:srgbClr val="E5E7EB"/>
            </a:solidFill>
            <a:prstDash val="solid"/>
          </a:ln>
        </p:spPr>
      </p:sp>
      <p:sp>
        <p:nvSpPr>
          <p:cNvPr id="95" name="Text 93"/>
          <p:cNvSpPr/>
          <p:nvPr/>
        </p:nvSpPr>
        <p:spPr>
          <a:xfrm>
            <a:off x="652881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96" name="Text 94"/>
          <p:cNvSpPr/>
          <p:nvPr/>
        </p:nvSpPr>
        <p:spPr>
          <a:xfrm>
            <a:off x="6940296" y="2944368"/>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ANTWERPEN</a:t>
            </a:r>
            <a:endParaRPr lang="en-US" sz="900" dirty="0"/>
          </a:p>
        </p:txBody>
      </p:sp>
      <p:sp>
        <p:nvSpPr>
          <p:cNvPr id="97" name="Text 95"/>
          <p:cNvSpPr/>
          <p:nvPr/>
        </p:nvSpPr>
        <p:spPr>
          <a:xfrm>
            <a:off x="8631936" y="2944368"/>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691 164</a:t>
            </a:r>
            <a:endParaRPr lang="en-US" sz="900" dirty="0"/>
          </a:p>
        </p:txBody>
      </p:sp>
      <p:sp>
        <p:nvSpPr>
          <p:cNvPr id="98" name="Text 96"/>
          <p:cNvSpPr/>
          <p:nvPr/>
        </p:nvSpPr>
        <p:spPr>
          <a:xfrm>
            <a:off x="10323576" y="2944368"/>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2,93 %</a:t>
            </a:r>
            <a:endParaRPr lang="en-US" sz="900" dirty="0"/>
          </a:p>
        </p:txBody>
      </p:sp>
      <p:sp>
        <p:nvSpPr>
          <p:cNvPr id="99" name="Shape 97"/>
          <p:cNvSpPr/>
          <p:nvPr/>
        </p:nvSpPr>
        <p:spPr>
          <a:xfrm>
            <a:off x="6492240" y="3163824"/>
            <a:ext cx="5486400" cy="256032"/>
          </a:xfrm>
          <a:prstGeom prst="rect">
            <a:avLst/>
          </a:prstGeom>
          <a:solidFill>
            <a:srgbClr val="FFFFFF"/>
          </a:solidFill>
          <a:ln w="3810">
            <a:solidFill>
              <a:srgbClr val="E5E7EB"/>
            </a:solidFill>
            <a:prstDash val="solid"/>
          </a:ln>
        </p:spPr>
      </p:sp>
      <p:sp>
        <p:nvSpPr>
          <p:cNvPr id="100" name="Text 98"/>
          <p:cNvSpPr/>
          <p:nvPr/>
        </p:nvSpPr>
        <p:spPr>
          <a:xfrm>
            <a:off x="652881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101" name="Text 99"/>
          <p:cNvSpPr/>
          <p:nvPr/>
        </p:nvSpPr>
        <p:spPr>
          <a:xfrm>
            <a:off x="6940296" y="3200400"/>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KARACHI</a:t>
            </a:r>
            <a:endParaRPr lang="en-US" sz="900" dirty="0"/>
          </a:p>
        </p:txBody>
      </p:sp>
      <p:sp>
        <p:nvSpPr>
          <p:cNvPr id="102" name="Text 100"/>
          <p:cNvSpPr/>
          <p:nvPr/>
        </p:nvSpPr>
        <p:spPr>
          <a:xfrm>
            <a:off x="8631936" y="320040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608 376</a:t>
            </a:r>
            <a:endParaRPr lang="en-US" sz="900" dirty="0"/>
          </a:p>
        </p:txBody>
      </p:sp>
      <p:sp>
        <p:nvSpPr>
          <p:cNvPr id="103" name="Text 101"/>
          <p:cNvSpPr/>
          <p:nvPr/>
        </p:nvSpPr>
        <p:spPr>
          <a:xfrm>
            <a:off x="10323576" y="320040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2,58 %</a:t>
            </a:r>
            <a:endParaRPr lang="en-US" sz="900" dirty="0"/>
          </a:p>
        </p:txBody>
      </p:sp>
      <p:sp>
        <p:nvSpPr>
          <p:cNvPr id="104" name="Shape 102"/>
          <p:cNvSpPr/>
          <p:nvPr/>
        </p:nvSpPr>
        <p:spPr>
          <a:xfrm>
            <a:off x="6492240" y="3419856"/>
            <a:ext cx="5486400" cy="256032"/>
          </a:xfrm>
          <a:prstGeom prst="rect">
            <a:avLst/>
          </a:prstGeom>
          <a:solidFill>
            <a:srgbClr val="F8F9FA"/>
          </a:solidFill>
          <a:ln w="3810">
            <a:solidFill>
              <a:srgbClr val="E5E7EB"/>
            </a:solidFill>
            <a:prstDash val="solid"/>
          </a:ln>
        </p:spPr>
      </p:sp>
      <p:sp>
        <p:nvSpPr>
          <p:cNvPr id="105" name="Text 103"/>
          <p:cNvSpPr/>
          <p:nvPr/>
        </p:nvSpPr>
        <p:spPr>
          <a:xfrm>
            <a:off x="652881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106" name="Text 104"/>
          <p:cNvSpPr/>
          <p:nvPr/>
        </p:nvSpPr>
        <p:spPr>
          <a:xfrm>
            <a:off x="6940296" y="3456432"/>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KAKINADA INDIA</a:t>
            </a:r>
            <a:endParaRPr lang="en-US" sz="900" dirty="0"/>
          </a:p>
        </p:txBody>
      </p:sp>
      <p:sp>
        <p:nvSpPr>
          <p:cNvPr id="107" name="Text 105"/>
          <p:cNvSpPr/>
          <p:nvPr/>
        </p:nvSpPr>
        <p:spPr>
          <a:xfrm>
            <a:off x="8631936" y="345643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527 339</a:t>
            </a:r>
            <a:endParaRPr lang="en-US" sz="900" dirty="0"/>
          </a:p>
        </p:txBody>
      </p:sp>
      <p:sp>
        <p:nvSpPr>
          <p:cNvPr id="108" name="Text 106"/>
          <p:cNvSpPr/>
          <p:nvPr/>
        </p:nvSpPr>
        <p:spPr>
          <a:xfrm>
            <a:off x="10323576" y="345643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2,24 %</a:t>
            </a:r>
            <a:endParaRPr lang="en-US" sz="900" dirty="0"/>
          </a:p>
        </p:txBody>
      </p:sp>
      <p:sp>
        <p:nvSpPr>
          <p:cNvPr id="109" name="Shape 107"/>
          <p:cNvSpPr/>
          <p:nvPr/>
        </p:nvSpPr>
        <p:spPr>
          <a:xfrm>
            <a:off x="6492240" y="3675888"/>
            <a:ext cx="5486400" cy="256032"/>
          </a:xfrm>
          <a:prstGeom prst="rect">
            <a:avLst/>
          </a:prstGeom>
          <a:solidFill>
            <a:srgbClr val="FFFFFF"/>
          </a:solidFill>
          <a:ln w="3810">
            <a:solidFill>
              <a:srgbClr val="E5E7EB"/>
            </a:solidFill>
            <a:prstDash val="solid"/>
          </a:ln>
        </p:spPr>
      </p:sp>
      <p:sp>
        <p:nvSpPr>
          <p:cNvPr id="110" name="Text 108"/>
          <p:cNvSpPr/>
          <p:nvPr/>
        </p:nvSpPr>
        <p:spPr>
          <a:xfrm>
            <a:off x="652881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111" name="Text 109"/>
          <p:cNvSpPr/>
          <p:nvPr/>
        </p:nvSpPr>
        <p:spPr>
          <a:xfrm>
            <a:off x="6940296" y="3712464"/>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YANBU INDUSTRIAL CITY</a:t>
            </a:r>
            <a:endParaRPr lang="en-US" sz="900" dirty="0"/>
          </a:p>
        </p:txBody>
      </p:sp>
      <p:sp>
        <p:nvSpPr>
          <p:cNvPr id="112" name="Text 110"/>
          <p:cNvSpPr/>
          <p:nvPr/>
        </p:nvSpPr>
        <p:spPr>
          <a:xfrm>
            <a:off x="8631936" y="371246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454 632</a:t>
            </a:r>
            <a:endParaRPr lang="en-US" sz="900" dirty="0"/>
          </a:p>
        </p:txBody>
      </p:sp>
      <p:sp>
        <p:nvSpPr>
          <p:cNvPr id="113" name="Text 111"/>
          <p:cNvSpPr/>
          <p:nvPr/>
        </p:nvSpPr>
        <p:spPr>
          <a:xfrm>
            <a:off x="10323576" y="371246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1,93 %</a:t>
            </a:r>
            <a:endParaRPr lang="en-US" sz="900" dirty="0"/>
          </a:p>
        </p:txBody>
      </p:sp>
      <p:sp>
        <p:nvSpPr>
          <p:cNvPr id="114" name="Shape 112"/>
          <p:cNvSpPr/>
          <p:nvPr/>
        </p:nvSpPr>
        <p:spPr>
          <a:xfrm>
            <a:off x="6492240" y="3931920"/>
            <a:ext cx="5486400" cy="256032"/>
          </a:xfrm>
          <a:prstGeom prst="rect">
            <a:avLst/>
          </a:prstGeom>
          <a:solidFill>
            <a:srgbClr val="F8F9FA"/>
          </a:solidFill>
          <a:ln w="3810">
            <a:solidFill>
              <a:srgbClr val="E5E7EB"/>
            </a:solidFill>
            <a:prstDash val="solid"/>
          </a:ln>
        </p:spPr>
      </p:sp>
      <p:sp>
        <p:nvSpPr>
          <p:cNvPr id="115" name="Text 113"/>
          <p:cNvSpPr/>
          <p:nvPr/>
        </p:nvSpPr>
        <p:spPr>
          <a:xfrm>
            <a:off x="652881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16" name="Text 114"/>
          <p:cNvSpPr/>
          <p:nvPr/>
        </p:nvSpPr>
        <p:spPr>
          <a:xfrm>
            <a:off x="6940296" y="3968496"/>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NANSHA</a:t>
            </a:r>
            <a:endParaRPr lang="en-US" sz="900" dirty="0"/>
          </a:p>
        </p:txBody>
      </p:sp>
      <p:sp>
        <p:nvSpPr>
          <p:cNvPr id="117" name="Text 115"/>
          <p:cNvSpPr/>
          <p:nvPr/>
        </p:nvSpPr>
        <p:spPr>
          <a:xfrm>
            <a:off x="8631936" y="396849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419 374</a:t>
            </a:r>
            <a:endParaRPr lang="en-US" sz="900" dirty="0"/>
          </a:p>
        </p:txBody>
      </p:sp>
      <p:sp>
        <p:nvSpPr>
          <p:cNvPr id="118" name="Text 116"/>
          <p:cNvSpPr/>
          <p:nvPr/>
        </p:nvSpPr>
        <p:spPr>
          <a:xfrm>
            <a:off x="10323576" y="396849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1,78 %</a:t>
            </a:r>
            <a:endParaRPr lang="en-US" sz="900" dirty="0"/>
          </a:p>
        </p:txBody>
      </p:sp>
      <p:sp>
        <p:nvSpPr>
          <p:cNvPr id="119" name="Shape 117"/>
          <p:cNvSpPr/>
          <p:nvPr/>
        </p:nvSpPr>
        <p:spPr>
          <a:xfrm>
            <a:off x="137160" y="5029200"/>
            <a:ext cx="11795760" cy="868680"/>
          </a:xfrm>
          <a:prstGeom prst="rect">
            <a:avLst/>
          </a:prstGeom>
          <a:solidFill>
            <a:srgbClr val="FFFBEC"/>
          </a:solidFill>
          <a:ln w="6350">
            <a:solidFill>
              <a:srgbClr val="E5C97A"/>
            </a:solidFill>
            <a:prstDash val="solid"/>
          </a:ln>
        </p:spPr>
      </p:sp>
      <p:sp>
        <p:nvSpPr>
          <p:cNvPr id="120" name="Text 118"/>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CONSIGNATAIRE FORTE : AGL CI #2 (13,73 %) — seulement Sea-Invest devant. ROUTES CLÉS : CAM PHA (clinker Vietnam, 8,99 %) + PORT SAID (transbord. Égypte, 7,21 %) + MINA SAQR (clinker UAE). Cible : consolider consignation armateurs spot vraquiers + capter co-consignation MSC/CMA sur lignes Asie-WAF.</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PÉTROLE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Flux hydrocarbures import / export  |  Opérateurs au B/L  |  ~2,4 M T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pétroliers actifs –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Opérateur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Volume T</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Flux</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SIR CI (Raffinerie)</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~480 000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brut</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20,0 %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TOTAL ENERGIES CI</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~320 000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13,3 %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VIVO ENERGY (Shell)</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~280 000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11,7 %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~190 000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 Distrib.</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7,9 %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~160 000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Export offshore</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~140 000</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BOLLORÉ ENERGY</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~120 000</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divers</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5,0 %</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Position AGL dans le secteur pétrolier</a:t>
            </a:r>
            <a:endParaRPr lang="en-US" sz="1100" dirty="0"/>
          </a:p>
        </p:txBody>
      </p:sp>
      <p:sp>
        <p:nvSpPr>
          <p:cNvPr id="49" name="Shape 47"/>
          <p:cNvSpPr/>
          <p:nvPr/>
        </p:nvSpPr>
        <p:spPr>
          <a:xfrm>
            <a:off x="6492240" y="1389888"/>
            <a:ext cx="5486400" cy="457200"/>
          </a:xfrm>
          <a:prstGeom prst="rect">
            <a:avLst/>
          </a:prstGeom>
          <a:solidFill>
            <a:srgbClr val="F8F9FA"/>
          </a:solidFill>
          <a:ln w="3810">
            <a:solidFill>
              <a:srgbClr val="E5E7EB"/>
            </a:solidFill>
            <a:prstDash val="solid"/>
          </a:ln>
        </p:spPr>
      </p:sp>
      <p:sp>
        <p:nvSpPr>
          <p:cNvPr id="50" name="Text 48"/>
          <p:cNvSpPr/>
          <p:nvPr/>
        </p:nvSpPr>
        <p:spPr>
          <a:xfrm>
            <a:off x="6583680" y="144475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SIR CI – transit &amp; manut.</a:t>
            </a:r>
            <a:endParaRPr lang="en-US" sz="900" dirty="0"/>
          </a:p>
        </p:txBody>
      </p:sp>
      <p:sp>
        <p:nvSpPr>
          <p:cNvPr id="51" name="Text 49"/>
          <p:cNvSpPr/>
          <p:nvPr/>
        </p:nvSpPr>
        <p:spPr>
          <a:xfrm>
            <a:off x="9189720" y="144475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~480 000 T</a:t>
            </a:r>
            <a:endParaRPr lang="en-US" sz="900" dirty="0"/>
          </a:p>
        </p:txBody>
      </p:sp>
      <p:sp>
        <p:nvSpPr>
          <p:cNvPr id="52" name="Text 50"/>
          <p:cNvSpPr/>
          <p:nvPr/>
        </p:nvSpPr>
        <p:spPr>
          <a:xfrm>
            <a:off x="10424160" y="1444752"/>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3" name="Shape 51"/>
          <p:cNvSpPr/>
          <p:nvPr/>
        </p:nvSpPr>
        <p:spPr>
          <a:xfrm>
            <a:off x="6492240" y="1920240"/>
            <a:ext cx="5486400" cy="457200"/>
          </a:xfrm>
          <a:prstGeom prst="rect">
            <a:avLst/>
          </a:prstGeom>
          <a:solidFill>
            <a:srgbClr val="F8F9FA"/>
          </a:solidFill>
          <a:ln w="3810">
            <a:solidFill>
              <a:srgbClr val="E5E7EB"/>
            </a:solidFill>
            <a:prstDash val="solid"/>
          </a:ln>
        </p:spPr>
      </p:sp>
      <p:sp>
        <p:nvSpPr>
          <p:cNvPr id="54" name="Text 52"/>
          <p:cNvSpPr/>
          <p:nvPr/>
        </p:nvSpPr>
        <p:spPr>
          <a:xfrm>
            <a:off x="6583680" y="1975104"/>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FOXTROT – export offshore</a:t>
            </a:r>
            <a:endParaRPr lang="en-US" sz="900" dirty="0"/>
          </a:p>
        </p:txBody>
      </p:sp>
      <p:sp>
        <p:nvSpPr>
          <p:cNvPr id="55" name="Text 53"/>
          <p:cNvSpPr/>
          <p:nvPr/>
        </p:nvSpPr>
        <p:spPr>
          <a:xfrm>
            <a:off x="9189720" y="1975104"/>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~160 000 T</a:t>
            </a:r>
            <a:endParaRPr lang="en-US" sz="900" dirty="0"/>
          </a:p>
        </p:txBody>
      </p:sp>
      <p:sp>
        <p:nvSpPr>
          <p:cNvPr id="56" name="Text 54"/>
          <p:cNvSpPr/>
          <p:nvPr/>
        </p:nvSpPr>
        <p:spPr>
          <a:xfrm>
            <a:off x="10424160" y="1975104"/>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7" name="Shape 55"/>
          <p:cNvSpPr/>
          <p:nvPr/>
        </p:nvSpPr>
        <p:spPr>
          <a:xfrm>
            <a:off x="6492240" y="2450592"/>
            <a:ext cx="5486400" cy="457200"/>
          </a:xfrm>
          <a:prstGeom prst="rect">
            <a:avLst/>
          </a:prstGeom>
          <a:solidFill>
            <a:srgbClr val="F8F9FA"/>
          </a:solidFill>
          <a:ln w="3810">
            <a:solidFill>
              <a:srgbClr val="E5E7EB"/>
            </a:solidFill>
            <a:prstDash val="solid"/>
          </a:ln>
        </p:spPr>
      </p:sp>
      <p:sp>
        <p:nvSpPr>
          <p:cNvPr id="58" name="Text 56"/>
          <p:cNvSpPr/>
          <p:nvPr/>
        </p:nvSpPr>
        <p:spPr>
          <a:xfrm>
            <a:off x="6583680" y="2505456"/>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TOTAL CI – consign. tankers</a:t>
            </a:r>
            <a:endParaRPr lang="en-US" sz="900" dirty="0"/>
          </a:p>
        </p:txBody>
      </p:sp>
      <p:sp>
        <p:nvSpPr>
          <p:cNvPr id="59" name="Text 57"/>
          <p:cNvSpPr/>
          <p:nvPr/>
        </p:nvSpPr>
        <p:spPr>
          <a:xfrm>
            <a:off x="9189720" y="2505456"/>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~320 000 T</a:t>
            </a:r>
            <a:endParaRPr lang="en-US" sz="900" dirty="0"/>
          </a:p>
        </p:txBody>
      </p:sp>
      <p:sp>
        <p:nvSpPr>
          <p:cNvPr id="60" name="Text 58"/>
          <p:cNvSpPr/>
          <p:nvPr/>
        </p:nvSpPr>
        <p:spPr>
          <a:xfrm>
            <a:off x="10424160" y="2505456"/>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1" name="Shape 59"/>
          <p:cNvSpPr/>
          <p:nvPr/>
        </p:nvSpPr>
        <p:spPr>
          <a:xfrm>
            <a:off x="6492240" y="2980944"/>
            <a:ext cx="5486400" cy="457200"/>
          </a:xfrm>
          <a:prstGeom prst="rect">
            <a:avLst/>
          </a:prstGeom>
          <a:solidFill>
            <a:srgbClr val="F8F9FA"/>
          </a:solidFill>
          <a:ln w="3810">
            <a:solidFill>
              <a:srgbClr val="E5E7EB"/>
            </a:solidFill>
            <a:prstDash val="solid"/>
          </a:ln>
        </p:spPr>
      </p:sp>
      <p:sp>
        <p:nvSpPr>
          <p:cNvPr id="62" name="Text 60"/>
          <p:cNvSpPr/>
          <p:nvPr/>
        </p:nvSpPr>
        <p:spPr>
          <a:xfrm>
            <a:off x="6583680" y="3035808"/>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VIVO ENERGY</a:t>
            </a:r>
            <a:endParaRPr lang="en-US" sz="900" dirty="0"/>
          </a:p>
        </p:txBody>
      </p:sp>
      <p:sp>
        <p:nvSpPr>
          <p:cNvPr id="63" name="Text 61"/>
          <p:cNvSpPr/>
          <p:nvPr/>
        </p:nvSpPr>
        <p:spPr>
          <a:xfrm>
            <a:off x="9189720" y="3035808"/>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~280 000 T</a:t>
            </a:r>
            <a:endParaRPr lang="en-US" sz="900" dirty="0"/>
          </a:p>
        </p:txBody>
      </p:sp>
      <p:sp>
        <p:nvSpPr>
          <p:cNvPr id="64" name="Text 62"/>
          <p:cNvSpPr/>
          <p:nvPr/>
        </p:nvSpPr>
        <p:spPr>
          <a:xfrm>
            <a:off x="10424160" y="3035808"/>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5" name="Shape 63"/>
          <p:cNvSpPr/>
          <p:nvPr/>
        </p:nvSpPr>
        <p:spPr>
          <a:xfrm>
            <a:off x="6492240" y="3511296"/>
            <a:ext cx="5486400" cy="457200"/>
          </a:xfrm>
          <a:prstGeom prst="rect">
            <a:avLst/>
          </a:prstGeom>
          <a:solidFill>
            <a:srgbClr val="F8F9FA"/>
          </a:solidFill>
          <a:ln w="3810">
            <a:solidFill>
              <a:srgbClr val="E5E7EB"/>
            </a:solidFill>
            <a:prstDash val="solid"/>
          </a:ln>
        </p:spPr>
      </p:sp>
      <p:sp>
        <p:nvSpPr>
          <p:cNvPr id="66" name="Text 64"/>
          <p:cNvSpPr/>
          <p:nvPr/>
        </p:nvSpPr>
        <p:spPr>
          <a:xfrm>
            <a:off x="6583680" y="3566160"/>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67" name="Text 65"/>
          <p:cNvSpPr/>
          <p:nvPr/>
        </p:nvSpPr>
        <p:spPr>
          <a:xfrm>
            <a:off x="9189720" y="3566160"/>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~190 000 T</a:t>
            </a:r>
            <a:endParaRPr lang="en-US" sz="900" dirty="0"/>
          </a:p>
        </p:txBody>
      </p:sp>
      <p:sp>
        <p:nvSpPr>
          <p:cNvPr id="68" name="Text 66"/>
          <p:cNvSpPr/>
          <p:nvPr/>
        </p:nvSpPr>
        <p:spPr>
          <a:xfrm>
            <a:off x="10424160" y="3566160"/>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69" name="Shape 67"/>
          <p:cNvSpPr/>
          <p:nvPr/>
        </p:nvSpPr>
        <p:spPr>
          <a:xfrm>
            <a:off x="6492240" y="4041648"/>
            <a:ext cx="5486400" cy="457200"/>
          </a:xfrm>
          <a:prstGeom prst="rect">
            <a:avLst/>
          </a:prstGeom>
          <a:solidFill>
            <a:srgbClr val="F8F9FA"/>
          </a:solidFill>
          <a:ln w="3810">
            <a:solidFill>
              <a:srgbClr val="E5E7EB"/>
            </a:solidFill>
            <a:prstDash val="solid"/>
          </a:ln>
        </p:spPr>
      </p:sp>
      <p:sp>
        <p:nvSpPr>
          <p:cNvPr id="70" name="Text 68"/>
          <p:cNvSpPr/>
          <p:nvPr/>
        </p:nvSpPr>
        <p:spPr>
          <a:xfrm>
            <a:off x="6583680" y="409651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71" name="Text 69"/>
          <p:cNvSpPr/>
          <p:nvPr/>
        </p:nvSpPr>
        <p:spPr>
          <a:xfrm>
            <a:off x="9189720" y="409651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~140 000 T</a:t>
            </a:r>
            <a:endParaRPr lang="en-US" sz="900" dirty="0"/>
          </a:p>
        </p:txBody>
      </p:sp>
      <p:sp>
        <p:nvSpPr>
          <p:cNvPr id="72" name="Text 70"/>
          <p:cNvSpPr/>
          <p:nvPr/>
        </p:nvSpPr>
        <p:spPr>
          <a:xfrm>
            <a:off x="10424160" y="4096512"/>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73" name="Shape 71"/>
          <p:cNvSpPr/>
          <p:nvPr/>
        </p:nvSpPr>
        <p:spPr>
          <a:xfrm>
            <a:off x="137160" y="4937760"/>
            <a:ext cx="11795760" cy="777240"/>
          </a:xfrm>
          <a:prstGeom prst="rect">
            <a:avLst/>
          </a:prstGeom>
          <a:solidFill>
            <a:srgbClr val="FFFBEC"/>
          </a:solidFill>
          <a:ln w="6350">
            <a:solidFill>
              <a:srgbClr val="E5C97A"/>
            </a:solidFill>
            <a:prstDash val="solid"/>
          </a:ln>
        </p:spPr>
      </p:sp>
      <p:sp>
        <p:nvSpPr>
          <p:cNvPr id="74" name="Text 72"/>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 PÉTROLE : PDM AGL secteur ~4,2%. Présence établie sur SIR CI et Foxtrot. Potentiel non capté : ~330 000 T chez Petro Ivoire + Oryx = +4 pts de PDM secteur. Plan d'approche commercial S2 2026 recommandé (offre intégrée DSM + transit).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Master-list Côte d'Ivoire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à suivre dans les stats AGL  |  15 comptes CI  |  Or · Manganèse · Nickel · Lithium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Master-list Mining CI – à croiser systématiquement avec STATCOM / IRIS / GSL</a:t>
            </a:r>
            <a:endParaRPr lang="en-US" sz="1100" dirty="0"/>
          </a:p>
        </p:txBody>
      </p:sp>
      <p:sp>
        <p:nvSpPr>
          <p:cNvPr id="8" name="Shape 6"/>
          <p:cNvSpPr/>
          <p:nvPr/>
        </p:nvSpPr>
        <p:spPr>
          <a:xfrm>
            <a:off x="137160" y="1417320"/>
            <a:ext cx="5806440" cy="256032"/>
          </a:xfrm>
          <a:prstGeom prst="rect">
            <a:avLst/>
          </a:prstGeom>
          <a:solidFill>
            <a:srgbClr val="0D2243"/>
          </a:solidFill>
          <a:ln/>
        </p:spPr>
      </p:sp>
      <p:sp>
        <p:nvSpPr>
          <p:cNvPr id="9" name="Text 7"/>
          <p:cNvSpPr/>
          <p:nvPr/>
        </p:nvSpPr>
        <p:spPr>
          <a:xfrm>
            <a:off x="173736" y="145389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585216" y="1453896"/>
            <a:ext cx="175260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Client CI</a:t>
            </a:r>
            <a:endParaRPr lang="en-US" sz="900" dirty="0"/>
          </a:p>
        </p:txBody>
      </p:sp>
      <p:sp>
        <p:nvSpPr>
          <p:cNvPr id="11" name="Text 9"/>
          <p:cNvSpPr/>
          <p:nvPr/>
        </p:nvSpPr>
        <p:spPr>
          <a:xfrm>
            <a:off x="2383536" y="1453896"/>
            <a:ext cx="17526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Métiers</a:t>
            </a:r>
            <a:endParaRPr lang="en-US" sz="900" dirty="0"/>
          </a:p>
        </p:txBody>
      </p:sp>
      <p:sp>
        <p:nvSpPr>
          <p:cNvPr id="12" name="Text 10"/>
          <p:cNvSpPr/>
          <p:nvPr/>
        </p:nvSpPr>
        <p:spPr>
          <a:xfrm>
            <a:off x="4181856" y="1453896"/>
            <a:ext cx="17526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Flux</a:t>
            </a:r>
            <a:endParaRPr lang="en-US" sz="900" dirty="0"/>
          </a:p>
        </p:txBody>
      </p:sp>
      <p:sp>
        <p:nvSpPr>
          <p:cNvPr id="13" name="Shape 11"/>
          <p:cNvSpPr/>
          <p:nvPr/>
        </p:nvSpPr>
        <p:spPr>
          <a:xfrm>
            <a:off x="137160" y="1673352"/>
            <a:ext cx="5806440" cy="256032"/>
          </a:xfrm>
          <a:prstGeom prst="rect">
            <a:avLst/>
          </a:prstGeom>
          <a:solidFill>
            <a:srgbClr val="FFF9EC"/>
          </a:solidFill>
          <a:ln w="3810">
            <a:solidFill>
              <a:srgbClr val="E5E7EB"/>
            </a:solidFill>
            <a:prstDash val="solid"/>
          </a:ln>
        </p:spPr>
      </p:sp>
      <p:sp>
        <p:nvSpPr>
          <p:cNvPr id="14" name="Text 12"/>
          <p:cNvSpPr/>
          <p:nvPr/>
        </p:nvSpPr>
        <p:spPr>
          <a:xfrm>
            <a:off x="173736" y="170992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709928"/>
            <a:ext cx="175260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AGBAOU GOLD OPERATIONS - AGO</a:t>
            </a:r>
            <a:endParaRPr lang="en-US" sz="900" dirty="0"/>
          </a:p>
        </p:txBody>
      </p:sp>
      <p:sp>
        <p:nvSpPr>
          <p:cNvPr id="16" name="Text 14"/>
          <p:cNvSpPr/>
          <p:nvPr/>
        </p:nvSpPr>
        <p:spPr>
          <a:xfrm>
            <a:off x="2383536" y="1709928"/>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TIM/AER</a:t>
            </a:r>
            <a:endParaRPr lang="en-US" sz="900" dirty="0"/>
          </a:p>
        </p:txBody>
      </p:sp>
      <p:sp>
        <p:nvSpPr>
          <p:cNvPr id="17" name="Text 15"/>
          <p:cNvSpPr/>
          <p:nvPr/>
        </p:nvSpPr>
        <p:spPr>
          <a:xfrm>
            <a:off x="4181856" y="1709928"/>
            <a:ext cx="175260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Import matériels miniers</a:t>
            </a:r>
            <a:endParaRPr lang="en-US" sz="900" dirty="0"/>
          </a:p>
        </p:txBody>
      </p:sp>
      <p:sp>
        <p:nvSpPr>
          <p:cNvPr id="18" name="Shape 16"/>
          <p:cNvSpPr/>
          <p:nvPr/>
        </p:nvSpPr>
        <p:spPr>
          <a:xfrm>
            <a:off x="137160" y="1929384"/>
            <a:ext cx="5806440" cy="256032"/>
          </a:xfrm>
          <a:prstGeom prst="rect">
            <a:avLst/>
          </a:prstGeom>
          <a:solidFill>
            <a:srgbClr val="F8F9FA"/>
          </a:solidFill>
          <a:ln w="3810">
            <a:solidFill>
              <a:srgbClr val="E5E7EB"/>
            </a:solidFill>
            <a:prstDash val="solid"/>
          </a:ln>
        </p:spPr>
      </p:sp>
      <p:sp>
        <p:nvSpPr>
          <p:cNvPr id="19" name="Text 17"/>
          <p:cNvSpPr/>
          <p:nvPr/>
        </p:nvSpPr>
        <p:spPr>
          <a:xfrm>
            <a:off x="173736" y="196596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65960"/>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BONIKRO</a:t>
            </a:r>
            <a:endParaRPr lang="en-US" sz="900" dirty="0"/>
          </a:p>
        </p:txBody>
      </p:sp>
      <p:sp>
        <p:nvSpPr>
          <p:cNvPr id="21" name="Text 19"/>
          <p:cNvSpPr/>
          <p:nvPr/>
        </p:nvSpPr>
        <p:spPr>
          <a:xfrm>
            <a:off x="2383536" y="196596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22" name="Text 20"/>
          <p:cNvSpPr/>
          <p:nvPr/>
        </p:nvSpPr>
        <p:spPr>
          <a:xfrm>
            <a:off x="4181856" y="196596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matériels miniers + consommables</a:t>
            </a:r>
            <a:endParaRPr lang="en-US" sz="900" dirty="0"/>
          </a:p>
        </p:txBody>
      </p:sp>
      <p:sp>
        <p:nvSpPr>
          <p:cNvPr id="23" name="Shape 21"/>
          <p:cNvSpPr/>
          <p:nvPr/>
        </p:nvSpPr>
        <p:spPr>
          <a:xfrm>
            <a:off x="137160" y="2185416"/>
            <a:ext cx="5806440" cy="256032"/>
          </a:xfrm>
          <a:prstGeom prst="rect">
            <a:avLst/>
          </a:prstGeom>
          <a:solidFill>
            <a:srgbClr val="FFFFFF"/>
          </a:solidFill>
          <a:ln w="3810">
            <a:solidFill>
              <a:srgbClr val="E5E7EB"/>
            </a:solidFill>
            <a:prstDash val="solid"/>
          </a:ln>
        </p:spPr>
      </p:sp>
      <p:sp>
        <p:nvSpPr>
          <p:cNvPr id="24" name="Text 22"/>
          <p:cNvSpPr/>
          <p:nvPr/>
        </p:nvSpPr>
        <p:spPr>
          <a:xfrm>
            <a:off x="173736" y="222199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221992"/>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SOCIETE MINIERE DE LAFIGUE</a:t>
            </a:r>
            <a:endParaRPr lang="en-US" sz="900" dirty="0"/>
          </a:p>
        </p:txBody>
      </p:sp>
      <p:sp>
        <p:nvSpPr>
          <p:cNvPr id="26" name="Text 24"/>
          <p:cNvSpPr/>
          <p:nvPr/>
        </p:nvSpPr>
        <p:spPr>
          <a:xfrm>
            <a:off x="2383536" y="2221992"/>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27" name="Text 25"/>
          <p:cNvSpPr/>
          <p:nvPr/>
        </p:nvSpPr>
        <p:spPr>
          <a:xfrm>
            <a:off x="4181856" y="2221992"/>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exploitation aurifère</a:t>
            </a:r>
            <a:endParaRPr lang="en-US" sz="900" dirty="0"/>
          </a:p>
        </p:txBody>
      </p:sp>
      <p:sp>
        <p:nvSpPr>
          <p:cNvPr id="28" name="Shape 26"/>
          <p:cNvSpPr/>
          <p:nvPr/>
        </p:nvSpPr>
        <p:spPr>
          <a:xfrm>
            <a:off x="137160" y="2441448"/>
            <a:ext cx="5806440" cy="256032"/>
          </a:xfrm>
          <a:prstGeom prst="rect">
            <a:avLst/>
          </a:prstGeom>
          <a:solidFill>
            <a:srgbClr val="F8F9FA"/>
          </a:solidFill>
          <a:ln w="3810">
            <a:solidFill>
              <a:srgbClr val="E5E7EB"/>
            </a:solidFill>
            <a:prstDash val="solid"/>
          </a:ln>
        </p:spPr>
      </p:sp>
      <p:sp>
        <p:nvSpPr>
          <p:cNvPr id="29" name="Text 27"/>
          <p:cNvSpPr/>
          <p:nvPr/>
        </p:nvSpPr>
        <p:spPr>
          <a:xfrm>
            <a:off x="173736" y="247802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78024"/>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MINES D'ITY STE</a:t>
            </a:r>
            <a:endParaRPr lang="en-US" sz="900" dirty="0"/>
          </a:p>
        </p:txBody>
      </p:sp>
      <p:sp>
        <p:nvSpPr>
          <p:cNvPr id="31" name="Text 29"/>
          <p:cNvSpPr/>
          <p:nvPr/>
        </p:nvSpPr>
        <p:spPr>
          <a:xfrm>
            <a:off x="2383536" y="2478024"/>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TIM/AER</a:t>
            </a:r>
            <a:endParaRPr lang="en-US" sz="900" dirty="0"/>
          </a:p>
        </p:txBody>
      </p:sp>
      <p:sp>
        <p:nvSpPr>
          <p:cNvPr id="32" name="Text 30"/>
          <p:cNvSpPr/>
          <p:nvPr/>
        </p:nvSpPr>
        <p:spPr>
          <a:xfrm>
            <a:off x="4181856" y="2478024"/>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matériels + pièces détachées</a:t>
            </a:r>
            <a:endParaRPr lang="en-US" sz="900" dirty="0"/>
          </a:p>
        </p:txBody>
      </p:sp>
      <p:sp>
        <p:nvSpPr>
          <p:cNvPr id="33" name="Shape 31"/>
          <p:cNvSpPr/>
          <p:nvPr/>
        </p:nvSpPr>
        <p:spPr>
          <a:xfrm>
            <a:off x="137160" y="2697480"/>
            <a:ext cx="5806440" cy="256032"/>
          </a:xfrm>
          <a:prstGeom prst="rect">
            <a:avLst/>
          </a:prstGeom>
          <a:solidFill>
            <a:srgbClr val="FFFFFF"/>
          </a:solidFill>
          <a:ln w="3810">
            <a:solidFill>
              <a:srgbClr val="E5E7EB"/>
            </a:solidFill>
            <a:prstDash val="solid"/>
          </a:ln>
        </p:spPr>
      </p:sp>
      <p:sp>
        <p:nvSpPr>
          <p:cNvPr id="34" name="Text 32"/>
          <p:cNvSpPr/>
          <p:nvPr/>
        </p:nvSpPr>
        <p:spPr>
          <a:xfrm>
            <a:off x="173736" y="273405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734056"/>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K1 MINING (MONTAGE GOLD)</a:t>
            </a:r>
            <a:endParaRPr lang="en-US" sz="900" dirty="0"/>
          </a:p>
        </p:txBody>
      </p:sp>
      <p:sp>
        <p:nvSpPr>
          <p:cNvPr id="36" name="Text 34"/>
          <p:cNvSpPr/>
          <p:nvPr/>
        </p:nvSpPr>
        <p:spPr>
          <a:xfrm>
            <a:off x="2383536" y="2734056"/>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TIM/AER</a:t>
            </a:r>
            <a:endParaRPr lang="en-US" sz="900" dirty="0"/>
          </a:p>
        </p:txBody>
      </p:sp>
      <p:sp>
        <p:nvSpPr>
          <p:cNvPr id="37" name="Text 35"/>
          <p:cNvSpPr/>
          <p:nvPr/>
        </p:nvSpPr>
        <p:spPr>
          <a:xfrm>
            <a:off x="4181856" y="2734056"/>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projet Montage Gold</a:t>
            </a:r>
            <a:endParaRPr lang="en-US" sz="900" dirty="0"/>
          </a:p>
        </p:txBody>
      </p:sp>
      <p:sp>
        <p:nvSpPr>
          <p:cNvPr id="38" name="Shape 36"/>
          <p:cNvSpPr/>
          <p:nvPr/>
        </p:nvSpPr>
        <p:spPr>
          <a:xfrm>
            <a:off x="137160" y="2953512"/>
            <a:ext cx="5806440" cy="256032"/>
          </a:xfrm>
          <a:prstGeom prst="rect">
            <a:avLst/>
          </a:prstGeom>
          <a:solidFill>
            <a:srgbClr val="F8F9FA"/>
          </a:solidFill>
          <a:ln w="3810">
            <a:solidFill>
              <a:srgbClr val="E5E7EB"/>
            </a:solidFill>
            <a:prstDash val="solid"/>
          </a:ln>
        </p:spPr>
      </p:sp>
      <p:sp>
        <p:nvSpPr>
          <p:cNvPr id="39" name="Text 37"/>
          <p:cNvSpPr/>
          <p:nvPr/>
        </p:nvSpPr>
        <p:spPr>
          <a:xfrm>
            <a:off x="173736" y="299008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90088"/>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BUREAU VERITAS CI</a:t>
            </a:r>
            <a:endParaRPr lang="en-US" sz="900" dirty="0"/>
          </a:p>
        </p:txBody>
      </p:sp>
      <p:sp>
        <p:nvSpPr>
          <p:cNvPr id="41" name="Text 39"/>
          <p:cNvSpPr/>
          <p:nvPr/>
        </p:nvSpPr>
        <p:spPr>
          <a:xfrm>
            <a:off x="2383536" y="2990088"/>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AER</a:t>
            </a:r>
            <a:endParaRPr lang="en-US" sz="900" dirty="0"/>
          </a:p>
        </p:txBody>
      </p:sp>
      <p:sp>
        <p:nvSpPr>
          <p:cNvPr id="42" name="Text 40"/>
          <p:cNvSpPr/>
          <p:nvPr/>
        </p:nvSpPr>
        <p:spPr>
          <a:xfrm>
            <a:off x="4181856" y="2990088"/>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Échantillons / laboratoires</a:t>
            </a:r>
            <a:endParaRPr lang="en-US" sz="900" dirty="0"/>
          </a:p>
        </p:txBody>
      </p:sp>
      <p:sp>
        <p:nvSpPr>
          <p:cNvPr id="43" name="Shape 41"/>
          <p:cNvSpPr/>
          <p:nvPr/>
        </p:nvSpPr>
        <p:spPr>
          <a:xfrm>
            <a:off x="137160" y="3209544"/>
            <a:ext cx="5806440" cy="256032"/>
          </a:xfrm>
          <a:prstGeom prst="rect">
            <a:avLst/>
          </a:prstGeom>
          <a:solidFill>
            <a:srgbClr val="FFFFFF"/>
          </a:solidFill>
          <a:ln w="3810">
            <a:solidFill>
              <a:srgbClr val="E5E7EB"/>
            </a:solidFill>
            <a:prstDash val="solid"/>
          </a:ln>
        </p:spPr>
      </p:sp>
      <p:sp>
        <p:nvSpPr>
          <p:cNvPr id="44" name="Text 42"/>
          <p:cNvSpPr/>
          <p:nvPr/>
        </p:nvSpPr>
        <p:spPr>
          <a:xfrm>
            <a:off x="173736" y="324612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46120"/>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CORICA</a:t>
            </a:r>
            <a:endParaRPr lang="en-US" sz="900" dirty="0"/>
          </a:p>
        </p:txBody>
      </p:sp>
      <p:sp>
        <p:nvSpPr>
          <p:cNvPr id="46" name="Text 44"/>
          <p:cNvSpPr/>
          <p:nvPr/>
        </p:nvSpPr>
        <p:spPr>
          <a:xfrm>
            <a:off x="2383536" y="324612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47" name="Text 45"/>
          <p:cNvSpPr/>
          <p:nvPr/>
        </p:nvSpPr>
        <p:spPr>
          <a:xfrm>
            <a:off x="4181856" y="324612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Manganèse / projets exploration</a:t>
            </a:r>
            <a:endParaRPr lang="en-US" sz="900" dirty="0"/>
          </a:p>
        </p:txBody>
      </p:sp>
      <p:sp>
        <p:nvSpPr>
          <p:cNvPr id="48" name="Shape 46"/>
          <p:cNvSpPr/>
          <p:nvPr/>
        </p:nvSpPr>
        <p:spPr>
          <a:xfrm>
            <a:off x="137160" y="3465576"/>
            <a:ext cx="5806440" cy="256032"/>
          </a:xfrm>
          <a:prstGeom prst="rect">
            <a:avLst/>
          </a:prstGeom>
          <a:solidFill>
            <a:srgbClr val="F8F9FA"/>
          </a:solidFill>
          <a:ln w="3810">
            <a:solidFill>
              <a:srgbClr val="E5E7EB"/>
            </a:solidFill>
            <a:prstDash val="solid"/>
          </a:ln>
        </p:spPr>
      </p:sp>
      <p:sp>
        <p:nvSpPr>
          <p:cNvPr id="49" name="Text 47"/>
          <p:cNvSpPr/>
          <p:nvPr/>
        </p:nvSpPr>
        <p:spPr>
          <a:xfrm>
            <a:off x="173736" y="350215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502152"/>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ROXGOLD SANGO</a:t>
            </a:r>
            <a:endParaRPr lang="en-US" sz="900" dirty="0"/>
          </a:p>
        </p:txBody>
      </p:sp>
      <p:sp>
        <p:nvSpPr>
          <p:cNvPr id="51" name="Text 49"/>
          <p:cNvSpPr/>
          <p:nvPr/>
        </p:nvSpPr>
        <p:spPr>
          <a:xfrm>
            <a:off x="2383536" y="3502152"/>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52" name="Text 50"/>
          <p:cNvSpPr/>
          <p:nvPr/>
        </p:nvSpPr>
        <p:spPr>
          <a:xfrm>
            <a:off x="4181856" y="3502152"/>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exploration</a:t>
            </a:r>
            <a:endParaRPr lang="en-US" sz="900" dirty="0"/>
          </a:p>
        </p:txBody>
      </p:sp>
      <p:sp>
        <p:nvSpPr>
          <p:cNvPr id="53" name="Shape 51"/>
          <p:cNvSpPr/>
          <p:nvPr/>
        </p:nvSpPr>
        <p:spPr>
          <a:xfrm>
            <a:off x="6080760" y="1417320"/>
            <a:ext cx="5806440" cy="256032"/>
          </a:xfrm>
          <a:prstGeom prst="rect">
            <a:avLst/>
          </a:prstGeom>
          <a:solidFill>
            <a:srgbClr val="0D2243"/>
          </a:solidFill>
          <a:ln/>
        </p:spPr>
      </p:sp>
      <p:sp>
        <p:nvSpPr>
          <p:cNvPr id="54" name="Text 52"/>
          <p:cNvSpPr/>
          <p:nvPr/>
        </p:nvSpPr>
        <p:spPr>
          <a:xfrm>
            <a:off x="6117336" y="145389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5" name="Text 53"/>
          <p:cNvSpPr/>
          <p:nvPr/>
        </p:nvSpPr>
        <p:spPr>
          <a:xfrm>
            <a:off x="6528816" y="1453896"/>
            <a:ext cx="175260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Client CI</a:t>
            </a:r>
            <a:endParaRPr lang="en-US" sz="900" dirty="0"/>
          </a:p>
        </p:txBody>
      </p:sp>
      <p:sp>
        <p:nvSpPr>
          <p:cNvPr id="56" name="Text 54"/>
          <p:cNvSpPr/>
          <p:nvPr/>
        </p:nvSpPr>
        <p:spPr>
          <a:xfrm>
            <a:off x="8327136" y="1453896"/>
            <a:ext cx="17526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Métiers</a:t>
            </a:r>
            <a:endParaRPr lang="en-US" sz="900" dirty="0"/>
          </a:p>
        </p:txBody>
      </p:sp>
      <p:sp>
        <p:nvSpPr>
          <p:cNvPr id="57" name="Text 55"/>
          <p:cNvSpPr/>
          <p:nvPr/>
        </p:nvSpPr>
        <p:spPr>
          <a:xfrm>
            <a:off x="10125456" y="1453896"/>
            <a:ext cx="17526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Flux</a:t>
            </a:r>
            <a:endParaRPr lang="en-US" sz="900" dirty="0"/>
          </a:p>
        </p:txBody>
      </p:sp>
      <p:sp>
        <p:nvSpPr>
          <p:cNvPr id="58" name="Shape 56"/>
          <p:cNvSpPr/>
          <p:nvPr/>
        </p:nvSpPr>
        <p:spPr>
          <a:xfrm>
            <a:off x="6080760" y="1673352"/>
            <a:ext cx="5806440" cy="256032"/>
          </a:xfrm>
          <a:prstGeom prst="rect">
            <a:avLst/>
          </a:prstGeom>
          <a:solidFill>
            <a:srgbClr val="FFF9EC"/>
          </a:solidFill>
          <a:ln w="3810">
            <a:solidFill>
              <a:srgbClr val="E5E7EB"/>
            </a:solidFill>
            <a:prstDash val="solid"/>
          </a:ln>
        </p:spPr>
      </p:sp>
      <p:sp>
        <p:nvSpPr>
          <p:cNvPr id="59" name="Text 57"/>
          <p:cNvSpPr/>
          <p:nvPr/>
        </p:nvSpPr>
        <p:spPr>
          <a:xfrm>
            <a:off x="6117336" y="170992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#9</a:t>
            </a:r>
            <a:endParaRPr lang="en-US" sz="900" dirty="0"/>
          </a:p>
        </p:txBody>
      </p:sp>
      <p:sp>
        <p:nvSpPr>
          <p:cNvPr id="60" name="Text 58"/>
          <p:cNvSpPr/>
          <p:nvPr/>
        </p:nvSpPr>
        <p:spPr>
          <a:xfrm>
            <a:off x="6528816" y="1709928"/>
            <a:ext cx="175260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ENDEAVOUR AVIATION</a:t>
            </a:r>
            <a:endParaRPr lang="en-US" sz="900" dirty="0"/>
          </a:p>
        </p:txBody>
      </p:sp>
      <p:sp>
        <p:nvSpPr>
          <p:cNvPr id="61" name="Text 59"/>
          <p:cNvSpPr/>
          <p:nvPr/>
        </p:nvSpPr>
        <p:spPr>
          <a:xfrm>
            <a:off x="8327136" y="1709928"/>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AER</a:t>
            </a:r>
            <a:endParaRPr lang="en-US" sz="900" dirty="0"/>
          </a:p>
        </p:txBody>
      </p:sp>
      <p:sp>
        <p:nvSpPr>
          <p:cNvPr id="62" name="Text 60"/>
          <p:cNvSpPr/>
          <p:nvPr/>
        </p:nvSpPr>
        <p:spPr>
          <a:xfrm>
            <a:off x="10125456" y="1709928"/>
            <a:ext cx="175260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Aéroportage personnel mines</a:t>
            </a:r>
            <a:endParaRPr lang="en-US" sz="900" dirty="0"/>
          </a:p>
        </p:txBody>
      </p:sp>
      <p:sp>
        <p:nvSpPr>
          <p:cNvPr id="63" name="Shape 61"/>
          <p:cNvSpPr/>
          <p:nvPr/>
        </p:nvSpPr>
        <p:spPr>
          <a:xfrm>
            <a:off x="6080760" y="1929384"/>
            <a:ext cx="5806440" cy="256032"/>
          </a:xfrm>
          <a:prstGeom prst="rect">
            <a:avLst/>
          </a:prstGeom>
          <a:solidFill>
            <a:srgbClr val="F8F9FA"/>
          </a:solidFill>
          <a:ln w="3810">
            <a:solidFill>
              <a:srgbClr val="E5E7EB"/>
            </a:solidFill>
            <a:prstDash val="solid"/>
          </a:ln>
        </p:spPr>
      </p:sp>
      <p:sp>
        <p:nvSpPr>
          <p:cNvPr id="64" name="Text 62"/>
          <p:cNvSpPr/>
          <p:nvPr/>
        </p:nvSpPr>
        <p:spPr>
          <a:xfrm>
            <a:off x="6117336" y="196596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5" name="Text 63"/>
          <p:cNvSpPr/>
          <p:nvPr/>
        </p:nvSpPr>
        <p:spPr>
          <a:xfrm>
            <a:off x="6528816" y="1965960"/>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3G MINING (MONTAGE GOLD)</a:t>
            </a:r>
            <a:endParaRPr lang="en-US" sz="900" dirty="0"/>
          </a:p>
        </p:txBody>
      </p:sp>
      <p:sp>
        <p:nvSpPr>
          <p:cNvPr id="66" name="Text 64"/>
          <p:cNvSpPr/>
          <p:nvPr/>
        </p:nvSpPr>
        <p:spPr>
          <a:xfrm>
            <a:off x="8327136" y="196596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67" name="Text 65"/>
          <p:cNvSpPr/>
          <p:nvPr/>
        </p:nvSpPr>
        <p:spPr>
          <a:xfrm>
            <a:off x="10125456" y="196596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Sous-traitance Montage Gold</a:t>
            </a:r>
            <a:endParaRPr lang="en-US" sz="900" dirty="0"/>
          </a:p>
        </p:txBody>
      </p:sp>
      <p:sp>
        <p:nvSpPr>
          <p:cNvPr id="68" name="Shape 66"/>
          <p:cNvSpPr/>
          <p:nvPr/>
        </p:nvSpPr>
        <p:spPr>
          <a:xfrm>
            <a:off x="6080760" y="2185416"/>
            <a:ext cx="5806440" cy="256032"/>
          </a:xfrm>
          <a:prstGeom prst="rect">
            <a:avLst/>
          </a:prstGeom>
          <a:solidFill>
            <a:srgbClr val="FFFFFF"/>
          </a:solidFill>
          <a:ln w="3810">
            <a:solidFill>
              <a:srgbClr val="E5E7EB"/>
            </a:solidFill>
            <a:prstDash val="solid"/>
          </a:ln>
        </p:spPr>
      </p:sp>
      <p:sp>
        <p:nvSpPr>
          <p:cNvPr id="69" name="Text 67"/>
          <p:cNvSpPr/>
          <p:nvPr/>
        </p:nvSpPr>
        <p:spPr>
          <a:xfrm>
            <a:off x="6117336" y="222199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a:t>
            </a:r>
            <a:endParaRPr lang="en-US" sz="900" dirty="0"/>
          </a:p>
        </p:txBody>
      </p:sp>
      <p:sp>
        <p:nvSpPr>
          <p:cNvPr id="70" name="Text 68"/>
          <p:cNvSpPr/>
          <p:nvPr/>
        </p:nvSpPr>
        <p:spPr>
          <a:xfrm>
            <a:off x="6528816" y="2221992"/>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CMB - COMPAGNIE MINIERE DU BAFING</a:t>
            </a:r>
            <a:endParaRPr lang="en-US" sz="900" dirty="0"/>
          </a:p>
        </p:txBody>
      </p:sp>
      <p:sp>
        <p:nvSpPr>
          <p:cNvPr id="71" name="Text 69"/>
          <p:cNvSpPr/>
          <p:nvPr/>
        </p:nvSpPr>
        <p:spPr>
          <a:xfrm>
            <a:off x="8327136" y="2221992"/>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72" name="Text 70"/>
          <p:cNvSpPr/>
          <p:nvPr/>
        </p:nvSpPr>
        <p:spPr>
          <a:xfrm>
            <a:off x="10125456" y="2221992"/>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équipements</a:t>
            </a:r>
            <a:endParaRPr lang="en-US" sz="900" dirty="0"/>
          </a:p>
        </p:txBody>
      </p:sp>
      <p:sp>
        <p:nvSpPr>
          <p:cNvPr id="73" name="Shape 71"/>
          <p:cNvSpPr/>
          <p:nvPr/>
        </p:nvSpPr>
        <p:spPr>
          <a:xfrm>
            <a:off x="6080760" y="244144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7802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75" name="Text 73"/>
          <p:cNvSpPr/>
          <p:nvPr/>
        </p:nvSpPr>
        <p:spPr>
          <a:xfrm>
            <a:off x="6528816" y="2478024"/>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EQUATORIAL ENGINEERING COTE D'IVOIRE</a:t>
            </a:r>
            <a:endParaRPr lang="en-US" sz="900" dirty="0"/>
          </a:p>
        </p:txBody>
      </p:sp>
      <p:sp>
        <p:nvSpPr>
          <p:cNvPr id="76" name="Text 74"/>
          <p:cNvSpPr/>
          <p:nvPr/>
        </p:nvSpPr>
        <p:spPr>
          <a:xfrm>
            <a:off x="8327136" y="2478024"/>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77" name="Text 75"/>
          <p:cNvSpPr/>
          <p:nvPr/>
        </p:nvSpPr>
        <p:spPr>
          <a:xfrm>
            <a:off x="10125456" y="2478024"/>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Engineering pour mines</a:t>
            </a:r>
            <a:endParaRPr lang="en-US" sz="900" dirty="0"/>
          </a:p>
        </p:txBody>
      </p:sp>
      <p:sp>
        <p:nvSpPr>
          <p:cNvPr id="78" name="Shape 76"/>
          <p:cNvSpPr/>
          <p:nvPr/>
        </p:nvSpPr>
        <p:spPr>
          <a:xfrm>
            <a:off x="6080760" y="2697480"/>
            <a:ext cx="5806440" cy="256032"/>
          </a:xfrm>
          <a:prstGeom prst="rect">
            <a:avLst/>
          </a:prstGeom>
          <a:solidFill>
            <a:srgbClr val="FFFFFF"/>
          </a:solidFill>
          <a:ln w="3810">
            <a:solidFill>
              <a:srgbClr val="E5E7EB"/>
            </a:solidFill>
            <a:prstDash val="solid"/>
          </a:ln>
        </p:spPr>
      </p:sp>
      <p:sp>
        <p:nvSpPr>
          <p:cNvPr id="79" name="Text 77"/>
          <p:cNvSpPr/>
          <p:nvPr/>
        </p:nvSpPr>
        <p:spPr>
          <a:xfrm>
            <a:off x="6117336" y="273405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80" name="Text 78"/>
          <p:cNvSpPr/>
          <p:nvPr/>
        </p:nvSpPr>
        <p:spPr>
          <a:xfrm>
            <a:off x="6528816" y="2734056"/>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EXPLORATION AND MINING SUPPLIES</a:t>
            </a:r>
            <a:endParaRPr lang="en-US" sz="900" dirty="0"/>
          </a:p>
        </p:txBody>
      </p:sp>
      <p:sp>
        <p:nvSpPr>
          <p:cNvPr id="81" name="Text 79"/>
          <p:cNvSpPr/>
          <p:nvPr/>
        </p:nvSpPr>
        <p:spPr>
          <a:xfrm>
            <a:off x="8327136" y="2734056"/>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82" name="Text 80"/>
          <p:cNvSpPr/>
          <p:nvPr/>
        </p:nvSpPr>
        <p:spPr>
          <a:xfrm>
            <a:off x="10125456" y="2734056"/>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Fournisseur consommables miniers</a:t>
            </a:r>
            <a:endParaRPr lang="en-US" sz="900" dirty="0"/>
          </a:p>
        </p:txBody>
      </p:sp>
      <p:sp>
        <p:nvSpPr>
          <p:cNvPr id="83" name="Shape 81"/>
          <p:cNvSpPr/>
          <p:nvPr/>
        </p:nvSpPr>
        <p:spPr>
          <a:xfrm>
            <a:off x="6080760" y="2953512"/>
            <a:ext cx="5806440" cy="256032"/>
          </a:xfrm>
          <a:prstGeom prst="rect">
            <a:avLst/>
          </a:prstGeom>
          <a:solidFill>
            <a:srgbClr val="F8F9FA"/>
          </a:solidFill>
          <a:ln w="3810">
            <a:solidFill>
              <a:srgbClr val="E5E7EB"/>
            </a:solidFill>
            <a:prstDash val="solid"/>
          </a:ln>
        </p:spPr>
      </p:sp>
      <p:sp>
        <p:nvSpPr>
          <p:cNvPr id="84" name="Text 82"/>
          <p:cNvSpPr/>
          <p:nvPr/>
        </p:nvSpPr>
        <p:spPr>
          <a:xfrm>
            <a:off x="6117336" y="299008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a:t>
            </a:r>
            <a:endParaRPr lang="en-US" sz="900" dirty="0"/>
          </a:p>
        </p:txBody>
      </p:sp>
      <p:sp>
        <p:nvSpPr>
          <p:cNvPr id="85" name="Text 83"/>
          <p:cNvSpPr/>
          <p:nvPr/>
        </p:nvSpPr>
        <p:spPr>
          <a:xfrm>
            <a:off x="6528816" y="2990088"/>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EPIROC COTE D'IVOIRE</a:t>
            </a:r>
            <a:endParaRPr lang="en-US" sz="900" dirty="0"/>
          </a:p>
        </p:txBody>
      </p:sp>
      <p:sp>
        <p:nvSpPr>
          <p:cNvPr id="86" name="Text 84"/>
          <p:cNvSpPr/>
          <p:nvPr/>
        </p:nvSpPr>
        <p:spPr>
          <a:xfrm>
            <a:off x="8327136" y="2990088"/>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87" name="Text 85"/>
          <p:cNvSpPr/>
          <p:nvPr/>
        </p:nvSpPr>
        <p:spPr>
          <a:xfrm>
            <a:off x="10125456" y="2990088"/>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Équipementier (forage / drilling)</a:t>
            </a:r>
            <a:endParaRPr lang="en-US" sz="900" dirty="0"/>
          </a:p>
        </p:txBody>
      </p:sp>
      <p:sp>
        <p:nvSpPr>
          <p:cNvPr id="88" name="Shape 86"/>
          <p:cNvSpPr/>
          <p:nvPr/>
        </p:nvSpPr>
        <p:spPr>
          <a:xfrm>
            <a:off x="6080760" y="3209544"/>
            <a:ext cx="5806440" cy="256032"/>
          </a:xfrm>
          <a:prstGeom prst="rect">
            <a:avLst/>
          </a:prstGeom>
          <a:solidFill>
            <a:srgbClr val="FFFFFF"/>
          </a:solidFill>
          <a:ln w="3810">
            <a:solidFill>
              <a:srgbClr val="E5E7EB"/>
            </a:solidFill>
            <a:prstDash val="solid"/>
          </a:ln>
        </p:spPr>
      </p:sp>
      <p:sp>
        <p:nvSpPr>
          <p:cNvPr id="89" name="Text 87"/>
          <p:cNvSpPr/>
          <p:nvPr/>
        </p:nvSpPr>
        <p:spPr>
          <a:xfrm>
            <a:off x="6117336" y="324612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a:t>
            </a:r>
            <a:endParaRPr lang="en-US" sz="900" dirty="0"/>
          </a:p>
        </p:txBody>
      </p:sp>
      <p:sp>
        <p:nvSpPr>
          <p:cNvPr id="90" name="Text 88"/>
          <p:cNvSpPr/>
          <p:nvPr/>
        </p:nvSpPr>
        <p:spPr>
          <a:xfrm>
            <a:off x="6528816" y="3246120"/>
            <a:ext cx="17526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SOCIETE DES MINES DE LA LOBO</a:t>
            </a:r>
            <a:endParaRPr lang="en-US" sz="900" dirty="0"/>
          </a:p>
        </p:txBody>
      </p:sp>
      <p:sp>
        <p:nvSpPr>
          <p:cNvPr id="91" name="Text 89"/>
          <p:cNvSpPr/>
          <p:nvPr/>
        </p:nvSpPr>
        <p:spPr>
          <a:xfrm>
            <a:off x="8327136" y="324612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TIM</a:t>
            </a:r>
            <a:endParaRPr lang="en-US" sz="900" dirty="0"/>
          </a:p>
        </p:txBody>
      </p:sp>
      <p:sp>
        <p:nvSpPr>
          <p:cNvPr id="92" name="Text 90"/>
          <p:cNvSpPr/>
          <p:nvPr/>
        </p:nvSpPr>
        <p:spPr>
          <a:xfrm>
            <a:off x="10125456" y="3246120"/>
            <a:ext cx="17526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a:t>
            </a:r>
            <a:endParaRPr lang="en-US" sz="900" dirty="0"/>
          </a:p>
        </p:txBody>
      </p:sp>
      <p:sp>
        <p:nvSpPr>
          <p:cNvPr id="93" name="Shape 91"/>
          <p:cNvSpPr/>
          <p:nvPr/>
        </p:nvSpPr>
        <p:spPr>
          <a:xfrm>
            <a:off x="137160" y="5074920"/>
            <a:ext cx="11795760" cy="868680"/>
          </a:xfrm>
          <a:prstGeom prst="rect">
            <a:avLst/>
          </a:prstGeom>
          <a:solidFill>
            <a:srgbClr val="FFFBEC"/>
          </a:solidFill>
          <a:ln w="6350">
            <a:solidFill>
              <a:srgbClr val="E5C97A"/>
            </a:solidFill>
            <a:prstDash val="solid"/>
          </a:ln>
        </p:spPr>
      </p:sp>
      <p:sp>
        <p:nvSpPr>
          <p:cNvPr id="94" name="Text 92"/>
          <p:cNvSpPr/>
          <p:nvPr/>
        </p:nvSpPr>
        <p:spPr>
          <a:xfrm>
            <a:off x="228600" y="514807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AGL : 15 clients miniers CI à tracker — TIM dominant (matériels, consommables, drilling) + AER (Bureau Veritas, Endeavour Aviation). Cibles d'enrichissement : SAMA Nickel + Lithium CI absents de la master-list = relai prospection 2026. Stratégie : package minier intégré TIM + AÉRIEN + DSM + HINTERLAND avec contrat-cadre par groupe (Endeavour, Montage Gold).</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Hinterland Burkina Faso &amp; Mali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hinterland à suivre  |  11 comptes BF + 4 comptes MALI  |  Corridor Abidjan → Ouaga / Bamako</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Burkina Faso (11 clients)</a:t>
            </a:r>
            <a:endParaRPr lang="en-US" sz="1100" dirty="0"/>
          </a:p>
        </p:txBody>
      </p:sp>
      <p:sp>
        <p:nvSpPr>
          <p:cNvPr id="8" name="Shape 6"/>
          <p:cNvSpPr/>
          <p:nvPr/>
        </p:nvSpPr>
        <p:spPr>
          <a:xfrm>
            <a:off x="137160" y="1371600"/>
            <a:ext cx="580644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585216" y="1408176"/>
            <a:ext cx="2651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Client BF</a:t>
            </a:r>
            <a:endParaRPr lang="en-US" sz="900" dirty="0"/>
          </a:p>
        </p:txBody>
      </p:sp>
      <p:sp>
        <p:nvSpPr>
          <p:cNvPr id="11" name="Text 9"/>
          <p:cNvSpPr/>
          <p:nvPr/>
        </p:nvSpPr>
        <p:spPr>
          <a:xfrm>
            <a:off x="3282696" y="1408176"/>
            <a:ext cx="2651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Activité / Mine</a:t>
            </a:r>
            <a:endParaRPr lang="en-US" sz="900" dirty="0"/>
          </a:p>
        </p:txBody>
      </p:sp>
      <p:sp>
        <p:nvSpPr>
          <p:cNvPr id="12" name="Shape 10"/>
          <p:cNvSpPr/>
          <p:nvPr/>
        </p:nvSpPr>
        <p:spPr>
          <a:xfrm>
            <a:off x="137160" y="1627632"/>
            <a:ext cx="5806440" cy="256032"/>
          </a:xfrm>
          <a:prstGeom prst="rect">
            <a:avLst/>
          </a:prstGeom>
          <a:solidFill>
            <a:srgbClr val="FFF9EC"/>
          </a:solidFill>
          <a:ln w="3810">
            <a:solidFill>
              <a:srgbClr val="E5E7EB"/>
            </a:solidFill>
            <a:prstDash val="solid"/>
          </a:ln>
        </p:spPr>
      </p:sp>
      <p:sp>
        <p:nvSpPr>
          <p:cNvPr id="13" name="Text 11"/>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4" name="Text 12"/>
          <p:cNvSpPr/>
          <p:nvPr/>
        </p:nvSpPr>
        <p:spPr>
          <a:xfrm>
            <a:off x="585216" y="1664208"/>
            <a:ext cx="2651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AUMS BURKINA FASO SARL</a:t>
            </a:r>
            <a:endParaRPr lang="en-US" sz="900" dirty="0"/>
          </a:p>
        </p:txBody>
      </p:sp>
      <p:sp>
        <p:nvSpPr>
          <p:cNvPr id="15" name="Text 13"/>
          <p:cNvSpPr/>
          <p:nvPr/>
        </p:nvSpPr>
        <p:spPr>
          <a:xfrm>
            <a:off x="3282696" y="1664208"/>
            <a:ext cx="2651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Import matériels via corridor Abidjan-Ouaga</a:t>
            </a:r>
            <a:endParaRPr lang="en-US" sz="900" dirty="0"/>
          </a:p>
        </p:txBody>
      </p:sp>
      <p:sp>
        <p:nvSpPr>
          <p:cNvPr id="16" name="Shape 14"/>
          <p:cNvSpPr/>
          <p:nvPr/>
        </p:nvSpPr>
        <p:spPr>
          <a:xfrm>
            <a:off x="137160" y="1883664"/>
            <a:ext cx="5806440" cy="256032"/>
          </a:xfrm>
          <a:prstGeom prst="rect">
            <a:avLst/>
          </a:prstGeom>
          <a:solidFill>
            <a:srgbClr val="F8F9FA"/>
          </a:solidFill>
          <a:ln w="3810">
            <a:solidFill>
              <a:srgbClr val="E5E7EB"/>
            </a:solidFill>
            <a:prstDash val="solid"/>
          </a:ln>
        </p:spPr>
      </p:sp>
      <p:sp>
        <p:nvSpPr>
          <p:cNvPr id="17" name="Text 15"/>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18" name="Text 16"/>
          <p:cNvSpPr/>
          <p:nvPr/>
        </p:nvSpPr>
        <p:spPr>
          <a:xfrm>
            <a:off x="585216" y="1920240"/>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SOMISA SA</a:t>
            </a:r>
            <a:endParaRPr lang="en-US" sz="900" dirty="0"/>
          </a:p>
        </p:txBody>
      </p:sp>
      <p:sp>
        <p:nvSpPr>
          <p:cNvPr id="19" name="Text 17"/>
          <p:cNvSpPr/>
          <p:nvPr/>
        </p:nvSpPr>
        <p:spPr>
          <a:xfrm>
            <a:off x="3282696" y="1920240"/>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Société des Mines de Sanbrado</a:t>
            </a:r>
            <a:endParaRPr lang="en-US" sz="900" dirty="0"/>
          </a:p>
        </p:txBody>
      </p:sp>
      <p:sp>
        <p:nvSpPr>
          <p:cNvPr id="20" name="Shape 18"/>
          <p:cNvSpPr/>
          <p:nvPr/>
        </p:nvSpPr>
        <p:spPr>
          <a:xfrm>
            <a:off x="137160" y="2139696"/>
            <a:ext cx="5806440" cy="256032"/>
          </a:xfrm>
          <a:prstGeom prst="rect">
            <a:avLst/>
          </a:prstGeom>
          <a:solidFill>
            <a:srgbClr val="FFFFFF"/>
          </a:solidFill>
          <a:ln w="3810">
            <a:solidFill>
              <a:srgbClr val="E5E7EB"/>
            </a:solidFill>
            <a:prstDash val="solid"/>
          </a:ln>
        </p:spPr>
      </p:sp>
      <p:sp>
        <p:nvSpPr>
          <p:cNvPr id="21" name="Text 19"/>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2" name="Text 20"/>
          <p:cNvSpPr/>
          <p:nvPr/>
        </p:nvSpPr>
        <p:spPr>
          <a:xfrm>
            <a:off x="585216" y="2176272"/>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HOUNDE GOLD OPERATION SA</a:t>
            </a:r>
            <a:endParaRPr lang="en-US" sz="900" dirty="0"/>
          </a:p>
        </p:txBody>
      </p:sp>
      <p:sp>
        <p:nvSpPr>
          <p:cNvPr id="23" name="Text 21"/>
          <p:cNvSpPr/>
          <p:nvPr/>
        </p:nvSpPr>
        <p:spPr>
          <a:xfrm>
            <a:off x="3282696" y="2176272"/>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Endeavour</a:t>
            </a:r>
            <a:endParaRPr lang="en-US" sz="900" dirty="0"/>
          </a:p>
        </p:txBody>
      </p:sp>
      <p:sp>
        <p:nvSpPr>
          <p:cNvPr id="24" name="Shape 22"/>
          <p:cNvSpPr/>
          <p:nvPr/>
        </p:nvSpPr>
        <p:spPr>
          <a:xfrm>
            <a:off x="137160" y="2395728"/>
            <a:ext cx="5806440" cy="256032"/>
          </a:xfrm>
          <a:prstGeom prst="rect">
            <a:avLst/>
          </a:prstGeom>
          <a:solidFill>
            <a:srgbClr val="F8F9FA"/>
          </a:solidFill>
          <a:ln w="3810">
            <a:solidFill>
              <a:srgbClr val="E5E7EB"/>
            </a:solidFill>
            <a:prstDash val="solid"/>
          </a:ln>
        </p:spPr>
      </p:sp>
      <p:sp>
        <p:nvSpPr>
          <p:cNvPr id="25" name="Text 23"/>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26" name="Text 24"/>
          <p:cNvSpPr/>
          <p:nvPr/>
        </p:nvSpPr>
        <p:spPr>
          <a:xfrm>
            <a:off x="585216" y="2432304"/>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OREZONE BOMBORE SA</a:t>
            </a:r>
            <a:endParaRPr lang="en-US" sz="900" dirty="0"/>
          </a:p>
        </p:txBody>
      </p:sp>
      <p:sp>
        <p:nvSpPr>
          <p:cNvPr id="27" name="Text 25"/>
          <p:cNvSpPr/>
          <p:nvPr/>
        </p:nvSpPr>
        <p:spPr>
          <a:xfrm>
            <a:off x="3282696" y="2432304"/>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Bombore</a:t>
            </a:r>
            <a:endParaRPr lang="en-US" sz="900" dirty="0"/>
          </a:p>
        </p:txBody>
      </p:sp>
      <p:sp>
        <p:nvSpPr>
          <p:cNvPr id="28" name="Shape 26"/>
          <p:cNvSpPr/>
          <p:nvPr/>
        </p:nvSpPr>
        <p:spPr>
          <a:xfrm>
            <a:off x="137160" y="2651760"/>
            <a:ext cx="5806440" cy="256032"/>
          </a:xfrm>
          <a:prstGeom prst="rect">
            <a:avLst/>
          </a:prstGeom>
          <a:solidFill>
            <a:srgbClr val="FFFFFF"/>
          </a:solidFill>
          <a:ln w="3810">
            <a:solidFill>
              <a:srgbClr val="E5E7EB"/>
            </a:solidFill>
            <a:prstDash val="solid"/>
          </a:ln>
        </p:spPr>
      </p:sp>
      <p:sp>
        <p:nvSpPr>
          <p:cNvPr id="29" name="Text 2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0" name="Text 28"/>
          <p:cNvSpPr/>
          <p:nvPr/>
        </p:nvSpPr>
        <p:spPr>
          <a:xfrm>
            <a:off x="585216" y="2688336"/>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BYRNECUT BURKINA FASO SARL</a:t>
            </a:r>
            <a:endParaRPr lang="en-US" sz="900" dirty="0"/>
          </a:p>
        </p:txBody>
      </p:sp>
      <p:sp>
        <p:nvSpPr>
          <p:cNvPr id="31" name="Text 29"/>
          <p:cNvSpPr/>
          <p:nvPr/>
        </p:nvSpPr>
        <p:spPr>
          <a:xfrm>
            <a:off x="3282696" y="2688336"/>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Sous-traitance minière</a:t>
            </a:r>
            <a:endParaRPr lang="en-US" sz="900" dirty="0"/>
          </a:p>
        </p:txBody>
      </p:sp>
      <p:sp>
        <p:nvSpPr>
          <p:cNvPr id="32" name="Shape 30"/>
          <p:cNvSpPr/>
          <p:nvPr/>
        </p:nvSpPr>
        <p:spPr>
          <a:xfrm>
            <a:off x="137160" y="2907792"/>
            <a:ext cx="5806440" cy="256032"/>
          </a:xfrm>
          <a:prstGeom prst="rect">
            <a:avLst/>
          </a:prstGeom>
          <a:solidFill>
            <a:srgbClr val="F8F9FA"/>
          </a:solidFill>
          <a:ln w="3810">
            <a:solidFill>
              <a:srgbClr val="E5E7EB"/>
            </a:solidFill>
            <a:prstDash val="solid"/>
          </a:ln>
        </p:spPr>
      </p:sp>
      <p:sp>
        <p:nvSpPr>
          <p:cNvPr id="33" name="Text 31"/>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34" name="Text 32"/>
          <p:cNvSpPr/>
          <p:nvPr/>
        </p:nvSpPr>
        <p:spPr>
          <a:xfrm>
            <a:off x="585216" y="2944368"/>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ESSAKANE BF</a:t>
            </a:r>
            <a:endParaRPr lang="en-US" sz="900" dirty="0"/>
          </a:p>
        </p:txBody>
      </p:sp>
      <p:sp>
        <p:nvSpPr>
          <p:cNvPr id="35" name="Text 33"/>
          <p:cNvSpPr/>
          <p:nvPr/>
        </p:nvSpPr>
        <p:spPr>
          <a:xfrm>
            <a:off x="3282696" y="2944368"/>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Iamgold Essakane</a:t>
            </a:r>
            <a:endParaRPr lang="en-US" sz="900" dirty="0"/>
          </a:p>
        </p:txBody>
      </p:sp>
      <p:sp>
        <p:nvSpPr>
          <p:cNvPr id="36" name="Shape 34"/>
          <p:cNvSpPr/>
          <p:nvPr/>
        </p:nvSpPr>
        <p:spPr>
          <a:xfrm>
            <a:off x="137160" y="3163824"/>
            <a:ext cx="5806440" cy="256032"/>
          </a:xfrm>
          <a:prstGeom prst="rect">
            <a:avLst/>
          </a:prstGeom>
          <a:solidFill>
            <a:srgbClr val="FFFFFF"/>
          </a:solidFill>
          <a:ln w="3810">
            <a:solidFill>
              <a:srgbClr val="E5E7EB"/>
            </a:solidFill>
            <a:prstDash val="solid"/>
          </a:ln>
        </p:spPr>
      </p:sp>
      <p:sp>
        <p:nvSpPr>
          <p:cNvPr id="37" name="Text 35"/>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38" name="Text 36"/>
          <p:cNvSpPr/>
          <p:nvPr/>
        </p:nvSpPr>
        <p:spPr>
          <a:xfrm>
            <a:off x="585216" y="3200400"/>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BURKINA MINING COMPANY SA</a:t>
            </a:r>
            <a:endParaRPr lang="en-US" sz="900" dirty="0"/>
          </a:p>
        </p:txBody>
      </p:sp>
      <p:sp>
        <p:nvSpPr>
          <p:cNvPr id="39" name="Text 37"/>
          <p:cNvSpPr/>
          <p:nvPr/>
        </p:nvSpPr>
        <p:spPr>
          <a:xfrm>
            <a:off x="3282696" y="3200400"/>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a:t>
            </a:r>
            <a:endParaRPr lang="en-US" sz="900" dirty="0"/>
          </a:p>
        </p:txBody>
      </p:sp>
      <p:sp>
        <p:nvSpPr>
          <p:cNvPr id="40" name="Shape 38"/>
          <p:cNvSpPr/>
          <p:nvPr/>
        </p:nvSpPr>
        <p:spPr>
          <a:xfrm>
            <a:off x="137160" y="3419856"/>
            <a:ext cx="5806440" cy="256032"/>
          </a:xfrm>
          <a:prstGeom prst="rect">
            <a:avLst/>
          </a:prstGeom>
          <a:solidFill>
            <a:srgbClr val="F8F9FA"/>
          </a:solidFill>
          <a:ln w="3810">
            <a:solidFill>
              <a:srgbClr val="E5E7EB"/>
            </a:solidFill>
            <a:prstDash val="solid"/>
          </a:ln>
        </p:spPr>
      </p:sp>
      <p:sp>
        <p:nvSpPr>
          <p:cNvPr id="41" name="Text 39"/>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42" name="Text 40"/>
          <p:cNvSpPr/>
          <p:nvPr/>
        </p:nvSpPr>
        <p:spPr>
          <a:xfrm>
            <a:off x="585216" y="3456432"/>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WAHGNION GOLD OPERATIONS</a:t>
            </a:r>
            <a:endParaRPr lang="en-US" sz="900" dirty="0"/>
          </a:p>
        </p:txBody>
      </p:sp>
      <p:sp>
        <p:nvSpPr>
          <p:cNvPr id="43" name="Text 41"/>
          <p:cNvSpPr/>
          <p:nvPr/>
        </p:nvSpPr>
        <p:spPr>
          <a:xfrm>
            <a:off x="3282696" y="3456432"/>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Endeavour</a:t>
            </a:r>
            <a:endParaRPr lang="en-US" sz="900" dirty="0"/>
          </a:p>
        </p:txBody>
      </p:sp>
      <p:sp>
        <p:nvSpPr>
          <p:cNvPr id="44" name="Shape 42"/>
          <p:cNvSpPr/>
          <p:nvPr/>
        </p:nvSpPr>
        <p:spPr>
          <a:xfrm>
            <a:off x="137160" y="3675888"/>
            <a:ext cx="5806440" cy="256032"/>
          </a:xfrm>
          <a:prstGeom prst="rect">
            <a:avLst/>
          </a:prstGeom>
          <a:solidFill>
            <a:srgbClr val="FFFFFF"/>
          </a:solidFill>
          <a:ln w="3810">
            <a:solidFill>
              <a:srgbClr val="E5E7EB"/>
            </a:solidFill>
            <a:prstDash val="solid"/>
          </a:ln>
        </p:spPr>
      </p:sp>
      <p:sp>
        <p:nvSpPr>
          <p:cNvPr id="45" name="Text 43"/>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46" name="Text 44"/>
          <p:cNvSpPr/>
          <p:nvPr/>
        </p:nvSpPr>
        <p:spPr>
          <a:xfrm>
            <a:off x="585216" y="3712464"/>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SEMAFO BURKINA FASO</a:t>
            </a:r>
            <a:endParaRPr lang="en-US" sz="900" dirty="0"/>
          </a:p>
        </p:txBody>
      </p:sp>
      <p:sp>
        <p:nvSpPr>
          <p:cNvPr id="47" name="Text 45"/>
          <p:cNvSpPr/>
          <p:nvPr/>
        </p:nvSpPr>
        <p:spPr>
          <a:xfrm>
            <a:off x="3282696" y="3712464"/>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Mana / Boungou</a:t>
            </a:r>
            <a:endParaRPr lang="en-US" sz="900" dirty="0"/>
          </a:p>
        </p:txBody>
      </p:sp>
      <p:sp>
        <p:nvSpPr>
          <p:cNvPr id="48" name="Shape 46"/>
          <p:cNvSpPr/>
          <p:nvPr/>
        </p:nvSpPr>
        <p:spPr>
          <a:xfrm>
            <a:off x="137160" y="3931920"/>
            <a:ext cx="5806440" cy="256032"/>
          </a:xfrm>
          <a:prstGeom prst="rect">
            <a:avLst/>
          </a:prstGeom>
          <a:solidFill>
            <a:srgbClr val="F8F9FA"/>
          </a:solidFill>
          <a:ln w="3810">
            <a:solidFill>
              <a:srgbClr val="E5E7EB"/>
            </a:solidFill>
            <a:prstDash val="solid"/>
          </a:ln>
        </p:spPr>
      </p:sp>
      <p:sp>
        <p:nvSpPr>
          <p:cNvPr id="49" name="Text 4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50" name="Text 48"/>
          <p:cNvSpPr/>
          <p:nvPr/>
        </p:nvSpPr>
        <p:spPr>
          <a:xfrm>
            <a:off x="585216" y="3968496"/>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TOEGA SA</a:t>
            </a:r>
            <a:endParaRPr lang="en-US" sz="900" dirty="0"/>
          </a:p>
        </p:txBody>
      </p:sp>
      <p:sp>
        <p:nvSpPr>
          <p:cNvPr id="51" name="Text 49"/>
          <p:cNvSpPr/>
          <p:nvPr/>
        </p:nvSpPr>
        <p:spPr>
          <a:xfrm>
            <a:off x="3282696" y="3968496"/>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projet Toega</a:t>
            </a:r>
            <a:endParaRPr lang="en-US" sz="900" dirty="0"/>
          </a:p>
        </p:txBody>
      </p:sp>
      <p:sp>
        <p:nvSpPr>
          <p:cNvPr id="52" name="Shape 50"/>
          <p:cNvSpPr/>
          <p:nvPr/>
        </p:nvSpPr>
        <p:spPr>
          <a:xfrm>
            <a:off x="137160" y="4187952"/>
            <a:ext cx="5806440" cy="256032"/>
          </a:xfrm>
          <a:prstGeom prst="rect">
            <a:avLst/>
          </a:prstGeom>
          <a:solidFill>
            <a:srgbClr val="FFFFFF"/>
          </a:solidFill>
          <a:ln w="3810">
            <a:solidFill>
              <a:srgbClr val="E5E7EB"/>
            </a:solidFill>
            <a:prstDash val="solid"/>
          </a:ln>
        </p:spPr>
      </p:sp>
      <p:sp>
        <p:nvSpPr>
          <p:cNvPr id="53" name="Text 51"/>
          <p:cNvSpPr/>
          <p:nvPr/>
        </p:nvSpPr>
        <p:spPr>
          <a:xfrm>
            <a:off x="173736" y="422452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a:t>
            </a:r>
            <a:endParaRPr lang="en-US" sz="900" dirty="0"/>
          </a:p>
        </p:txBody>
      </p:sp>
      <p:sp>
        <p:nvSpPr>
          <p:cNvPr id="54" name="Text 52"/>
          <p:cNvSpPr/>
          <p:nvPr/>
        </p:nvSpPr>
        <p:spPr>
          <a:xfrm>
            <a:off x="585216" y="4224528"/>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UNDERGROUND MINING SERVICES BURKINA</a:t>
            </a:r>
            <a:endParaRPr lang="en-US" sz="900" dirty="0"/>
          </a:p>
        </p:txBody>
      </p:sp>
      <p:sp>
        <p:nvSpPr>
          <p:cNvPr id="55" name="Text 53"/>
          <p:cNvSpPr/>
          <p:nvPr/>
        </p:nvSpPr>
        <p:spPr>
          <a:xfrm>
            <a:off x="3282696" y="4224528"/>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Sous-traitance souterraine</a:t>
            </a:r>
            <a:endParaRPr lang="en-US" sz="900" dirty="0"/>
          </a:p>
        </p:txBody>
      </p:sp>
      <p:sp>
        <p:nvSpPr>
          <p:cNvPr id="56" name="Text 54"/>
          <p:cNvSpPr/>
          <p:nvPr/>
        </p:nvSpPr>
        <p:spPr>
          <a:xfrm>
            <a:off x="608076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Mali (4 clients)</a:t>
            </a:r>
            <a:endParaRPr lang="en-US" sz="1100" dirty="0"/>
          </a:p>
        </p:txBody>
      </p:sp>
      <p:sp>
        <p:nvSpPr>
          <p:cNvPr id="57" name="Shape 55"/>
          <p:cNvSpPr/>
          <p:nvPr/>
        </p:nvSpPr>
        <p:spPr>
          <a:xfrm>
            <a:off x="6080760" y="1371600"/>
            <a:ext cx="5806440" cy="256032"/>
          </a:xfrm>
          <a:prstGeom prst="rect">
            <a:avLst/>
          </a:prstGeom>
          <a:solidFill>
            <a:srgbClr val="0D2243"/>
          </a:solidFill>
          <a:ln/>
        </p:spPr>
      </p:sp>
      <p:sp>
        <p:nvSpPr>
          <p:cNvPr id="58" name="Text 56"/>
          <p:cNvSpPr/>
          <p:nvPr/>
        </p:nvSpPr>
        <p:spPr>
          <a:xfrm>
            <a:off x="61173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9" name="Text 57"/>
          <p:cNvSpPr/>
          <p:nvPr/>
        </p:nvSpPr>
        <p:spPr>
          <a:xfrm>
            <a:off x="6528816" y="1408176"/>
            <a:ext cx="2651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Client MALI</a:t>
            </a:r>
            <a:endParaRPr lang="en-US" sz="900" dirty="0"/>
          </a:p>
        </p:txBody>
      </p:sp>
      <p:sp>
        <p:nvSpPr>
          <p:cNvPr id="60" name="Text 58"/>
          <p:cNvSpPr/>
          <p:nvPr/>
        </p:nvSpPr>
        <p:spPr>
          <a:xfrm>
            <a:off x="9226296" y="1408176"/>
            <a:ext cx="2651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Activité / Mine</a:t>
            </a:r>
            <a:endParaRPr lang="en-US" sz="900" dirty="0"/>
          </a:p>
        </p:txBody>
      </p:sp>
      <p:sp>
        <p:nvSpPr>
          <p:cNvPr id="61" name="Shape 59"/>
          <p:cNvSpPr/>
          <p:nvPr/>
        </p:nvSpPr>
        <p:spPr>
          <a:xfrm>
            <a:off x="6080760" y="1627632"/>
            <a:ext cx="5806440" cy="256032"/>
          </a:xfrm>
          <a:prstGeom prst="rect">
            <a:avLst/>
          </a:prstGeom>
          <a:solidFill>
            <a:srgbClr val="FFF9EC"/>
          </a:solidFill>
          <a:ln w="3810">
            <a:solidFill>
              <a:srgbClr val="E5E7EB"/>
            </a:solidFill>
            <a:prstDash val="solid"/>
          </a:ln>
        </p:spPr>
      </p:sp>
      <p:sp>
        <p:nvSpPr>
          <p:cNvPr id="62" name="Text 60"/>
          <p:cNvSpPr/>
          <p:nvPr/>
        </p:nvSpPr>
        <p:spPr>
          <a:xfrm>
            <a:off x="61173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63" name="Text 61"/>
          <p:cNvSpPr/>
          <p:nvPr/>
        </p:nvSpPr>
        <p:spPr>
          <a:xfrm>
            <a:off x="6528816" y="1664208"/>
            <a:ext cx="2651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BUREAU VERITAS MALI</a:t>
            </a:r>
            <a:endParaRPr lang="en-US" sz="900" dirty="0"/>
          </a:p>
        </p:txBody>
      </p:sp>
      <p:sp>
        <p:nvSpPr>
          <p:cNvPr id="64" name="Text 62"/>
          <p:cNvSpPr/>
          <p:nvPr/>
        </p:nvSpPr>
        <p:spPr>
          <a:xfrm>
            <a:off x="9226296" y="1664208"/>
            <a:ext cx="2651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Laboratoires / analyses</a:t>
            </a:r>
            <a:endParaRPr lang="en-US" sz="900" dirty="0"/>
          </a:p>
        </p:txBody>
      </p:sp>
      <p:sp>
        <p:nvSpPr>
          <p:cNvPr id="65" name="Shape 63"/>
          <p:cNvSpPr/>
          <p:nvPr/>
        </p:nvSpPr>
        <p:spPr>
          <a:xfrm>
            <a:off x="6080760" y="1883664"/>
            <a:ext cx="5806440" cy="256032"/>
          </a:xfrm>
          <a:prstGeom prst="rect">
            <a:avLst/>
          </a:prstGeom>
          <a:solidFill>
            <a:srgbClr val="F8F9FA"/>
          </a:solidFill>
          <a:ln w="3810">
            <a:solidFill>
              <a:srgbClr val="E5E7EB"/>
            </a:solidFill>
            <a:prstDash val="solid"/>
          </a:ln>
        </p:spPr>
      </p:sp>
      <p:sp>
        <p:nvSpPr>
          <p:cNvPr id="66" name="Text 64"/>
          <p:cNvSpPr/>
          <p:nvPr/>
        </p:nvSpPr>
        <p:spPr>
          <a:xfrm>
            <a:off x="61173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67" name="Text 65"/>
          <p:cNvSpPr/>
          <p:nvPr/>
        </p:nvSpPr>
        <p:spPr>
          <a:xfrm>
            <a:off x="6528816" y="1920240"/>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SOMISY SA</a:t>
            </a:r>
            <a:endParaRPr lang="en-US" sz="900" dirty="0"/>
          </a:p>
        </p:txBody>
      </p:sp>
      <p:sp>
        <p:nvSpPr>
          <p:cNvPr id="68" name="Text 66"/>
          <p:cNvSpPr/>
          <p:nvPr/>
        </p:nvSpPr>
        <p:spPr>
          <a:xfrm>
            <a:off x="9226296" y="1920240"/>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Syama</a:t>
            </a:r>
            <a:endParaRPr lang="en-US" sz="900" dirty="0"/>
          </a:p>
        </p:txBody>
      </p:sp>
      <p:sp>
        <p:nvSpPr>
          <p:cNvPr id="69" name="Shape 67"/>
          <p:cNvSpPr/>
          <p:nvPr/>
        </p:nvSpPr>
        <p:spPr>
          <a:xfrm>
            <a:off x="6080760" y="2139696"/>
            <a:ext cx="5806440" cy="256032"/>
          </a:xfrm>
          <a:prstGeom prst="rect">
            <a:avLst/>
          </a:prstGeom>
          <a:solidFill>
            <a:srgbClr val="FFFFFF"/>
          </a:solidFill>
          <a:ln w="3810">
            <a:solidFill>
              <a:srgbClr val="E5E7EB"/>
            </a:solidFill>
            <a:prstDash val="solid"/>
          </a:ln>
        </p:spPr>
      </p:sp>
      <p:sp>
        <p:nvSpPr>
          <p:cNvPr id="70" name="Text 68"/>
          <p:cNvSpPr/>
          <p:nvPr/>
        </p:nvSpPr>
        <p:spPr>
          <a:xfrm>
            <a:off x="61173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71" name="Text 69"/>
          <p:cNvSpPr/>
          <p:nvPr/>
        </p:nvSpPr>
        <p:spPr>
          <a:xfrm>
            <a:off x="6528816" y="2176272"/>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TOUBANI RESSOURCES</a:t>
            </a:r>
            <a:endParaRPr lang="en-US" sz="900" dirty="0"/>
          </a:p>
        </p:txBody>
      </p:sp>
      <p:sp>
        <p:nvSpPr>
          <p:cNvPr id="72" name="Text 70"/>
          <p:cNvSpPr/>
          <p:nvPr/>
        </p:nvSpPr>
        <p:spPr>
          <a:xfrm>
            <a:off x="9226296" y="2176272"/>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 — projet Kobada</a:t>
            </a:r>
            <a:endParaRPr lang="en-US" sz="900" dirty="0"/>
          </a:p>
        </p:txBody>
      </p:sp>
      <p:sp>
        <p:nvSpPr>
          <p:cNvPr id="73" name="Shape 71"/>
          <p:cNvSpPr/>
          <p:nvPr/>
        </p:nvSpPr>
        <p:spPr>
          <a:xfrm>
            <a:off x="6080760" y="239572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75" name="Text 73"/>
          <p:cNvSpPr/>
          <p:nvPr/>
        </p:nvSpPr>
        <p:spPr>
          <a:xfrm>
            <a:off x="6528816" y="2432304"/>
            <a:ext cx="2651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SAMSUNG</a:t>
            </a:r>
            <a:endParaRPr lang="en-US" sz="900" dirty="0"/>
          </a:p>
        </p:txBody>
      </p:sp>
      <p:sp>
        <p:nvSpPr>
          <p:cNvPr id="76" name="Text 74"/>
          <p:cNvSpPr/>
          <p:nvPr/>
        </p:nvSpPr>
        <p:spPr>
          <a:xfrm>
            <a:off x="9226296" y="2432304"/>
            <a:ext cx="2651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lourds via corridor</a:t>
            </a:r>
            <a:endParaRPr lang="en-US" sz="900" dirty="0"/>
          </a:p>
        </p:txBody>
      </p:sp>
      <p:sp>
        <p:nvSpPr>
          <p:cNvPr id="77" name="Text 75"/>
          <p:cNvSpPr/>
          <p:nvPr/>
        </p:nvSpPr>
        <p:spPr>
          <a:xfrm>
            <a:off x="6080760" y="411480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Ventilation Master-list Mining</a:t>
            </a:r>
            <a:endParaRPr lang="en-US" sz="1100" dirty="0"/>
          </a:p>
        </p:txBody>
      </p:sp>
      <p:sp>
        <p:nvSpPr>
          <p:cNvPr id="78" name="Text 76"/>
          <p:cNvSpPr/>
          <p:nvPr/>
        </p:nvSpPr>
        <p:spPr>
          <a:xfrm>
            <a:off x="6080760" y="43891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CÔTE D'IVOIRE</a:t>
            </a:r>
            <a:endParaRPr lang="en-US" sz="850" dirty="0"/>
          </a:p>
        </p:txBody>
      </p:sp>
      <p:sp>
        <p:nvSpPr>
          <p:cNvPr id="79" name="Text 77"/>
          <p:cNvSpPr/>
          <p:nvPr/>
        </p:nvSpPr>
        <p:spPr>
          <a:xfrm>
            <a:off x="7744968" y="43891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15 clients</a:t>
            </a:r>
            <a:endParaRPr lang="en-US" sz="850" dirty="0"/>
          </a:p>
        </p:txBody>
      </p:sp>
      <p:sp>
        <p:nvSpPr>
          <p:cNvPr id="80" name="Shape 78"/>
          <p:cNvSpPr/>
          <p:nvPr/>
        </p:nvSpPr>
        <p:spPr>
          <a:xfrm>
            <a:off x="8641080" y="4425696"/>
            <a:ext cx="2743200" cy="164592"/>
          </a:xfrm>
          <a:prstGeom prst="rect">
            <a:avLst/>
          </a:prstGeom>
          <a:solidFill>
            <a:srgbClr val="E5E7EB"/>
          </a:solidFill>
          <a:ln/>
        </p:spPr>
      </p:sp>
      <p:sp>
        <p:nvSpPr>
          <p:cNvPr id="81" name="Shape 79"/>
          <p:cNvSpPr/>
          <p:nvPr/>
        </p:nvSpPr>
        <p:spPr>
          <a:xfrm>
            <a:off x="8641080" y="4425696"/>
            <a:ext cx="1371600" cy="164592"/>
          </a:xfrm>
          <a:prstGeom prst="rect">
            <a:avLst/>
          </a:prstGeom>
          <a:solidFill>
            <a:srgbClr val="1A7C4F"/>
          </a:solidFill>
          <a:ln/>
        </p:spPr>
      </p:sp>
      <p:sp>
        <p:nvSpPr>
          <p:cNvPr id="82" name="Text 80"/>
          <p:cNvSpPr/>
          <p:nvPr/>
        </p:nvSpPr>
        <p:spPr>
          <a:xfrm>
            <a:off x="11430000" y="4389120"/>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83" name="Text 81"/>
          <p:cNvSpPr/>
          <p:nvPr/>
        </p:nvSpPr>
        <p:spPr>
          <a:xfrm>
            <a:off x="6080760" y="47731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BURKINA FASO</a:t>
            </a:r>
            <a:endParaRPr lang="en-US" sz="850" dirty="0"/>
          </a:p>
        </p:txBody>
      </p:sp>
      <p:sp>
        <p:nvSpPr>
          <p:cNvPr id="84" name="Text 82"/>
          <p:cNvSpPr/>
          <p:nvPr/>
        </p:nvSpPr>
        <p:spPr>
          <a:xfrm>
            <a:off x="7744968" y="47731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11 clients</a:t>
            </a:r>
            <a:endParaRPr lang="en-US" sz="850" dirty="0"/>
          </a:p>
        </p:txBody>
      </p:sp>
      <p:sp>
        <p:nvSpPr>
          <p:cNvPr id="85" name="Shape 83"/>
          <p:cNvSpPr/>
          <p:nvPr/>
        </p:nvSpPr>
        <p:spPr>
          <a:xfrm>
            <a:off x="8641080" y="4809744"/>
            <a:ext cx="2743200" cy="164592"/>
          </a:xfrm>
          <a:prstGeom prst="rect">
            <a:avLst/>
          </a:prstGeom>
          <a:solidFill>
            <a:srgbClr val="E5E7EB"/>
          </a:solidFill>
          <a:ln/>
        </p:spPr>
      </p:sp>
      <p:sp>
        <p:nvSpPr>
          <p:cNvPr id="86" name="Shape 84"/>
          <p:cNvSpPr/>
          <p:nvPr/>
        </p:nvSpPr>
        <p:spPr>
          <a:xfrm>
            <a:off x="8641080" y="4809744"/>
            <a:ext cx="1014984" cy="164592"/>
          </a:xfrm>
          <a:prstGeom prst="rect">
            <a:avLst/>
          </a:prstGeom>
          <a:solidFill>
            <a:srgbClr val="2563A8"/>
          </a:solidFill>
          <a:ln/>
        </p:spPr>
      </p:sp>
      <p:sp>
        <p:nvSpPr>
          <p:cNvPr id="87" name="Text 85"/>
          <p:cNvSpPr/>
          <p:nvPr/>
        </p:nvSpPr>
        <p:spPr>
          <a:xfrm>
            <a:off x="11430000" y="47731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37%</a:t>
            </a:r>
            <a:endParaRPr lang="en-US" sz="900" dirty="0"/>
          </a:p>
        </p:txBody>
      </p:sp>
      <p:sp>
        <p:nvSpPr>
          <p:cNvPr id="88" name="Text 86"/>
          <p:cNvSpPr/>
          <p:nvPr/>
        </p:nvSpPr>
        <p:spPr>
          <a:xfrm>
            <a:off x="6080760" y="51572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MALI</a:t>
            </a:r>
            <a:endParaRPr lang="en-US" sz="850" dirty="0"/>
          </a:p>
        </p:txBody>
      </p:sp>
      <p:sp>
        <p:nvSpPr>
          <p:cNvPr id="89" name="Text 87"/>
          <p:cNvSpPr/>
          <p:nvPr/>
        </p:nvSpPr>
        <p:spPr>
          <a:xfrm>
            <a:off x="7744968" y="51572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clients</a:t>
            </a:r>
            <a:endParaRPr lang="en-US" sz="850" dirty="0"/>
          </a:p>
        </p:txBody>
      </p:sp>
      <p:sp>
        <p:nvSpPr>
          <p:cNvPr id="90" name="Shape 88"/>
          <p:cNvSpPr/>
          <p:nvPr/>
        </p:nvSpPr>
        <p:spPr>
          <a:xfrm>
            <a:off x="8641080" y="5193792"/>
            <a:ext cx="2743200" cy="164592"/>
          </a:xfrm>
          <a:prstGeom prst="rect">
            <a:avLst/>
          </a:prstGeom>
          <a:solidFill>
            <a:srgbClr val="E5E7EB"/>
          </a:solidFill>
          <a:ln/>
        </p:spPr>
      </p:sp>
      <p:sp>
        <p:nvSpPr>
          <p:cNvPr id="91" name="Shape 89"/>
          <p:cNvSpPr/>
          <p:nvPr/>
        </p:nvSpPr>
        <p:spPr>
          <a:xfrm>
            <a:off x="8641080" y="5193792"/>
            <a:ext cx="356616" cy="164592"/>
          </a:xfrm>
          <a:prstGeom prst="rect">
            <a:avLst/>
          </a:prstGeom>
          <a:solidFill>
            <a:srgbClr val="E05A00"/>
          </a:solidFill>
          <a:ln/>
        </p:spPr>
      </p:sp>
      <p:sp>
        <p:nvSpPr>
          <p:cNvPr id="92" name="Text 90"/>
          <p:cNvSpPr/>
          <p:nvPr/>
        </p:nvSpPr>
        <p:spPr>
          <a:xfrm>
            <a:off x="11430000" y="515721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93" name="Shape 91"/>
          <p:cNvSpPr/>
          <p:nvPr/>
        </p:nvSpPr>
        <p:spPr>
          <a:xfrm>
            <a:off x="137160" y="5074920"/>
            <a:ext cx="5806440" cy="868680"/>
          </a:xfrm>
          <a:prstGeom prst="rect">
            <a:avLst/>
          </a:prstGeom>
          <a:solidFill>
            <a:srgbClr val="FFFBEC"/>
          </a:solidFill>
          <a:ln w="6350">
            <a:solidFill>
              <a:srgbClr val="E5C97A"/>
            </a:solidFill>
            <a:prstDash val="solid"/>
          </a:ln>
        </p:spPr>
      </p:sp>
      <p:sp>
        <p:nvSpPr>
          <p:cNvPr id="94" name="Text 92"/>
          <p:cNvSpPr/>
          <p:nvPr/>
        </p:nvSpPr>
        <p:spPr>
          <a:xfrm>
            <a:off x="228600" y="5148072"/>
            <a:ext cx="562356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HINTERLAND : 15 clients à conquérir via corridor Abidjan-Ouaga/Bamako. Concentrations : Endeavour Mining (Houndé, Wahgnion, Mana via Semafo), Iamgold (Essakane), Orezone (Bombore). Leviers : trains hinterland AGL + transit douanier optimisé + co-loading matériels lourds (Samsung, Byrnecut, UMS).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TRANSITAIRE – GROUPE AYMAN  |  Synthèse multi-métiers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toutes activités (incl. DJAM DKS TRANSIT &amp; HANNYYAH ET SAID)  |  Concurrence directe AGL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Activité AYMAN par métier vs position AGL – Jan–Mai 2026</a:t>
            </a:r>
            <a:endParaRPr lang="en-US" sz="1100" dirty="0"/>
          </a:p>
        </p:txBody>
      </p:sp>
      <p:sp>
        <p:nvSpPr>
          <p:cNvPr id="8" name="Shape 6"/>
          <p:cNvSpPr/>
          <p:nvPr/>
        </p:nvSpPr>
        <p:spPr>
          <a:xfrm>
            <a:off x="137160" y="1371600"/>
            <a:ext cx="1179576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Métier</a:t>
            </a:r>
            <a:endParaRPr lang="en-US" sz="900" dirty="0"/>
          </a:p>
        </p:txBody>
      </p:sp>
      <p:sp>
        <p:nvSpPr>
          <p:cNvPr id="10" name="Text 8"/>
          <p:cNvSpPr/>
          <p:nvPr/>
        </p:nvSpPr>
        <p:spPr>
          <a:xfrm>
            <a:off x="585216" y="1408176"/>
            <a:ext cx="18516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Rang Ayman</a:t>
            </a:r>
            <a:endParaRPr lang="en-US" sz="900" dirty="0"/>
          </a:p>
        </p:txBody>
      </p:sp>
      <p:sp>
        <p:nvSpPr>
          <p:cNvPr id="11" name="Text 9"/>
          <p:cNvSpPr/>
          <p:nvPr/>
        </p:nvSpPr>
        <p:spPr>
          <a:xfrm>
            <a:off x="248259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Volume Ayman</a:t>
            </a:r>
            <a:endParaRPr lang="en-US" sz="900" dirty="0"/>
          </a:p>
        </p:txBody>
      </p:sp>
      <p:sp>
        <p:nvSpPr>
          <p:cNvPr id="12" name="Text 10"/>
          <p:cNvSpPr/>
          <p:nvPr/>
        </p:nvSpPr>
        <p:spPr>
          <a:xfrm>
            <a:off x="437997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Ayman</a:t>
            </a:r>
            <a:endParaRPr lang="en-US" sz="900" dirty="0"/>
          </a:p>
        </p:txBody>
      </p:sp>
      <p:sp>
        <p:nvSpPr>
          <p:cNvPr id="13" name="Text 11"/>
          <p:cNvSpPr/>
          <p:nvPr/>
        </p:nvSpPr>
        <p:spPr>
          <a:xfrm>
            <a:off x="627735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 AGL</a:t>
            </a:r>
            <a:endParaRPr lang="en-US" sz="900" dirty="0"/>
          </a:p>
        </p:txBody>
      </p:sp>
      <p:sp>
        <p:nvSpPr>
          <p:cNvPr id="14" name="Text 12"/>
          <p:cNvSpPr/>
          <p:nvPr/>
        </p:nvSpPr>
        <p:spPr>
          <a:xfrm>
            <a:off x="817473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1007211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Écart AGL</a:t>
            </a:r>
            <a:endParaRPr lang="en-US" sz="900" dirty="0"/>
          </a:p>
        </p:txBody>
      </p:sp>
      <p:sp>
        <p:nvSpPr>
          <p:cNvPr id="16" name="Shape 14"/>
          <p:cNvSpPr/>
          <p:nvPr/>
        </p:nvSpPr>
        <p:spPr>
          <a:xfrm>
            <a:off x="137160" y="1627632"/>
            <a:ext cx="11795760" cy="256032"/>
          </a:xfrm>
          <a:prstGeom prst="rect">
            <a:avLst/>
          </a:prstGeom>
          <a:solidFill>
            <a:srgbClr val="FFF9EC"/>
          </a:solidFill>
          <a:ln w="3810">
            <a:solidFill>
              <a:srgbClr val="E5E7EB"/>
            </a:solidFill>
            <a:prstDash val="solid"/>
          </a:ln>
        </p:spPr>
      </p:sp>
      <p:sp>
        <p:nvSpPr>
          <p:cNvPr id="17" name="Text 15"/>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TIM – Import Maritime</a:t>
            </a:r>
            <a:endParaRPr lang="en-US" sz="900" dirty="0"/>
          </a:p>
        </p:txBody>
      </p:sp>
      <p:sp>
        <p:nvSpPr>
          <p:cNvPr id="18" name="Text 16"/>
          <p:cNvSpPr/>
          <p:nvPr/>
        </p:nvSpPr>
        <p:spPr>
          <a:xfrm>
            <a:off x="585216" y="1664208"/>
            <a:ext cx="18516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248259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10 862 TEU (DJAM DKS)</a:t>
            </a:r>
            <a:endParaRPr lang="en-US" sz="900" dirty="0"/>
          </a:p>
        </p:txBody>
      </p:sp>
      <p:sp>
        <p:nvSpPr>
          <p:cNvPr id="20" name="Text 18"/>
          <p:cNvSpPr/>
          <p:nvPr/>
        </p:nvSpPr>
        <p:spPr>
          <a:xfrm>
            <a:off x="437997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21" name="Text 19"/>
          <p:cNvSpPr/>
          <p:nvPr/>
        </p:nvSpPr>
        <p:spPr>
          <a:xfrm>
            <a:off x="627735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22" name="Text 20"/>
          <p:cNvSpPr/>
          <p:nvPr/>
        </p:nvSpPr>
        <p:spPr>
          <a:xfrm>
            <a:off x="817473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7,8 %</a:t>
            </a:r>
            <a:endParaRPr lang="en-US" sz="900" dirty="0"/>
          </a:p>
        </p:txBody>
      </p:sp>
      <p:sp>
        <p:nvSpPr>
          <p:cNvPr id="23" name="Text 21"/>
          <p:cNvSpPr/>
          <p:nvPr/>
        </p:nvSpPr>
        <p:spPr>
          <a:xfrm>
            <a:off x="10072116" y="1664208"/>
            <a:ext cx="18516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+2,2 pts</a:t>
            </a:r>
            <a:endParaRPr lang="en-US" sz="900" dirty="0"/>
          </a:p>
        </p:txBody>
      </p:sp>
      <p:sp>
        <p:nvSpPr>
          <p:cNvPr id="24" name="Shape 22"/>
          <p:cNvSpPr/>
          <p:nvPr/>
        </p:nvSpPr>
        <p:spPr>
          <a:xfrm>
            <a:off x="137160" y="1883664"/>
            <a:ext cx="11795760" cy="256032"/>
          </a:xfrm>
          <a:prstGeom prst="rect">
            <a:avLst/>
          </a:prstGeom>
          <a:solidFill>
            <a:srgbClr val="F8F9FA"/>
          </a:solidFill>
          <a:ln w="3810">
            <a:solidFill>
              <a:srgbClr val="E5E7EB"/>
            </a:solidFill>
            <a:prstDash val="solid"/>
          </a:ln>
        </p:spPr>
      </p:sp>
      <p:sp>
        <p:nvSpPr>
          <p:cNvPr id="25" name="Text 23"/>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TEM – Export Maritime</a:t>
            </a:r>
            <a:endParaRPr lang="en-US" sz="900" dirty="0"/>
          </a:p>
        </p:txBody>
      </p:sp>
      <p:sp>
        <p:nvSpPr>
          <p:cNvPr id="26" name="Text 24"/>
          <p:cNvSpPr/>
          <p:nvPr/>
        </p:nvSpPr>
        <p:spPr>
          <a:xfrm>
            <a:off x="585216" y="1920240"/>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Non classé</a:t>
            </a:r>
            <a:endParaRPr lang="en-US" sz="900" dirty="0"/>
          </a:p>
        </p:txBody>
      </p:sp>
      <p:sp>
        <p:nvSpPr>
          <p:cNvPr id="27" name="Text 25"/>
          <p:cNvSpPr/>
          <p:nvPr/>
        </p:nvSpPr>
        <p:spPr>
          <a:xfrm>
            <a:off x="248259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~800 TEU</a:t>
            </a:r>
            <a:endParaRPr lang="en-US" sz="900" dirty="0"/>
          </a:p>
        </p:txBody>
      </p:sp>
      <p:sp>
        <p:nvSpPr>
          <p:cNvPr id="28" name="Text 26"/>
          <p:cNvSpPr/>
          <p:nvPr/>
        </p:nvSpPr>
        <p:spPr>
          <a:xfrm>
            <a:off x="437997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~0,6 %</a:t>
            </a:r>
            <a:endParaRPr lang="en-US" sz="900" dirty="0"/>
          </a:p>
        </p:txBody>
      </p:sp>
      <p:sp>
        <p:nvSpPr>
          <p:cNvPr id="29" name="Text 27"/>
          <p:cNvSpPr/>
          <p:nvPr/>
        </p:nvSpPr>
        <p:spPr>
          <a:xfrm>
            <a:off x="627735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30" name="Text 28"/>
          <p:cNvSpPr/>
          <p:nvPr/>
        </p:nvSpPr>
        <p:spPr>
          <a:xfrm>
            <a:off x="817473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26,2 %</a:t>
            </a:r>
            <a:endParaRPr lang="en-US" sz="900" dirty="0"/>
          </a:p>
        </p:txBody>
      </p:sp>
      <p:sp>
        <p:nvSpPr>
          <p:cNvPr id="31" name="Text 29"/>
          <p:cNvSpPr/>
          <p:nvPr/>
        </p:nvSpPr>
        <p:spPr>
          <a:xfrm>
            <a:off x="1007211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+25,6 pts</a:t>
            </a:r>
            <a:endParaRPr lang="en-US" sz="900" dirty="0"/>
          </a:p>
        </p:txBody>
      </p:sp>
      <p:sp>
        <p:nvSpPr>
          <p:cNvPr id="32" name="Shape 30"/>
          <p:cNvSpPr/>
          <p:nvPr/>
        </p:nvSpPr>
        <p:spPr>
          <a:xfrm>
            <a:off x="137160" y="2139696"/>
            <a:ext cx="11795760" cy="256032"/>
          </a:xfrm>
          <a:prstGeom prst="rect">
            <a:avLst/>
          </a:prstGeom>
          <a:solidFill>
            <a:srgbClr val="FFFFFF"/>
          </a:solidFill>
          <a:ln w="3810">
            <a:solidFill>
              <a:srgbClr val="E5E7EB"/>
            </a:solidFill>
            <a:prstDash val="solid"/>
          </a:ln>
        </p:spPr>
      </p:sp>
      <p:sp>
        <p:nvSpPr>
          <p:cNvPr id="33" name="Text 31"/>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Hinterland Import</a:t>
            </a:r>
            <a:endParaRPr lang="en-US" sz="900" dirty="0"/>
          </a:p>
        </p:txBody>
      </p:sp>
      <p:sp>
        <p:nvSpPr>
          <p:cNvPr id="34" name="Text 32"/>
          <p:cNvSpPr/>
          <p:nvPr/>
        </p:nvSpPr>
        <p:spPr>
          <a:xfrm>
            <a:off x="585216" y="2176272"/>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35" name="Text 33"/>
          <p:cNvSpPr/>
          <p:nvPr/>
        </p:nvSpPr>
        <p:spPr>
          <a:xfrm>
            <a:off x="248259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~400 TEU</a:t>
            </a:r>
            <a:endParaRPr lang="en-US" sz="900" dirty="0"/>
          </a:p>
        </p:txBody>
      </p:sp>
      <p:sp>
        <p:nvSpPr>
          <p:cNvPr id="36" name="Text 34"/>
          <p:cNvSpPr/>
          <p:nvPr/>
        </p:nvSpPr>
        <p:spPr>
          <a:xfrm>
            <a:off x="437997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a:t>
            </a:r>
            <a:endParaRPr lang="en-US" sz="900" dirty="0"/>
          </a:p>
        </p:txBody>
      </p:sp>
      <p:sp>
        <p:nvSpPr>
          <p:cNvPr id="37" name="Text 35"/>
          <p:cNvSpPr/>
          <p:nvPr/>
        </p:nvSpPr>
        <p:spPr>
          <a:xfrm>
            <a:off x="627735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38" name="Text 36"/>
          <p:cNvSpPr/>
          <p:nvPr/>
        </p:nvSpPr>
        <p:spPr>
          <a:xfrm>
            <a:off x="817473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11,3 %</a:t>
            </a:r>
            <a:endParaRPr lang="en-US" sz="900" dirty="0"/>
          </a:p>
        </p:txBody>
      </p:sp>
      <p:sp>
        <p:nvSpPr>
          <p:cNvPr id="39" name="Text 37"/>
          <p:cNvSpPr/>
          <p:nvPr/>
        </p:nvSpPr>
        <p:spPr>
          <a:xfrm>
            <a:off x="1007211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+9,9 pts</a:t>
            </a:r>
            <a:endParaRPr lang="en-US" sz="900" dirty="0"/>
          </a:p>
        </p:txBody>
      </p:sp>
      <p:sp>
        <p:nvSpPr>
          <p:cNvPr id="40" name="Shape 38"/>
          <p:cNvSpPr/>
          <p:nvPr/>
        </p:nvSpPr>
        <p:spPr>
          <a:xfrm>
            <a:off x="137160" y="2395728"/>
            <a:ext cx="11795760" cy="256032"/>
          </a:xfrm>
          <a:prstGeom prst="rect">
            <a:avLst/>
          </a:prstGeom>
          <a:solidFill>
            <a:srgbClr val="F8F9FA"/>
          </a:solidFill>
          <a:ln w="3810">
            <a:solidFill>
              <a:srgbClr val="E5E7EB"/>
            </a:solidFill>
            <a:prstDash val="solid"/>
          </a:ln>
        </p:spPr>
      </p:sp>
      <p:sp>
        <p:nvSpPr>
          <p:cNvPr id="41" name="Text 39"/>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Hinterland Export</a:t>
            </a:r>
            <a:endParaRPr lang="en-US" sz="900" dirty="0"/>
          </a:p>
        </p:txBody>
      </p:sp>
      <p:sp>
        <p:nvSpPr>
          <p:cNvPr id="42" name="Text 40"/>
          <p:cNvSpPr/>
          <p:nvPr/>
        </p:nvSpPr>
        <p:spPr>
          <a:xfrm>
            <a:off x="585216" y="2432304"/>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Non présent</a:t>
            </a:r>
            <a:endParaRPr lang="en-US" sz="900" dirty="0"/>
          </a:p>
        </p:txBody>
      </p:sp>
      <p:sp>
        <p:nvSpPr>
          <p:cNvPr id="43" name="Text 41"/>
          <p:cNvSpPr/>
          <p:nvPr/>
        </p:nvSpPr>
        <p:spPr>
          <a:xfrm>
            <a:off x="248259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4" name="Text 42"/>
          <p:cNvSpPr/>
          <p:nvPr/>
        </p:nvSpPr>
        <p:spPr>
          <a:xfrm>
            <a:off x="437997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627735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46" name="Text 44"/>
          <p:cNvSpPr/>
          <p:nvPr/>
        </p:nvSpPr>
        <p:spPr>
          <a:xfrm>
            <a:off x="817473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66,1 %</a:t>
            </a:r>
            <a:endParaRPr lang="en-US" sz="900" dirty="0"/>
          </a:p>
        </p:txBody>
      </p:sp>
      <p:sp>
        <p:nvSpPr>
          <p:cNvPr id="47" name="Text 45"/>
          <p:cNvSpPr/>
          <p:nvPr/>
        </p:nvSpPr>
        <p:spPr>
          <a:xfrm>
            <a:off x="1007211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8" name="Shape 46"/>
          <p:cNvSpPr/>
          <p:nvPr/>
        </p:nvSpPr>
        <p:spPr>
          <a:xfrm>
            <a:off x="137160" y="2651760"/>
            <a:ext cx="11795760" cy="256032"/>
          </a:xfrm>
          <a:prstGeom prst="rect">
            <a:avLst/>
          </a:prstGeom>
          <a:solidFill>
            <a:srgbClr val="FFFFFF"/>
          </a:solidFill>
          <a:ln w="3810">
            <a:solidFill>
              <a:srgbClr val="E5E7EB"/>
            </a:solidFill>
            <a:prstDash val="solid"/>
          </a:ln>
        </p:spPr>
      </p:sp>
      <p:sp>
        <p:nvSpPr>
          <p:cNvPr id="49" name="Text 4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Aérien Import</a:t>
            </a:r>
            <a:endParaRPr lang="en-US" sz="900" dirty="0"/>
          </a:p>
        </p:txBody>
      </p:sp>
      <p:sp>
        <p:nvSpPr>
          <p:cNvPr id="50" name="Text 48"/>
          <p:cNvSpPr/>
          <p:nvPr/>
        </p:nvSpPr>
        <p:spPr>
          <a:xfrm>
            <a:off x="585216" y="2688336"/>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51" name="Text 49"/>
          <p:cNvSpPr/>
          <p:nvPr/>
        </p:nvSpPr>
        <p:spPr>
          <a:xfrm>
            <a:off x="248259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273 092 kg (HANNYYAH)</a:t>
            </a:r>
            <a:endParaRPr lang="en-US" sz="900" dirty="0"/>
          </a:p>
        </p:txBody>
      </p:sp>
      <p:sp>
        <p:nvSpPr>
          <p:cNvPr id="52" name="Text 50"/>
          <p:cNvSpPr/>
          <p:nvPr/>
        </p:nvSpPr>
        <p:spPr>
          <a:xfrm>
            <a:off x="437997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53" name="Text 51"/>
          <p:cNvSpPr/>
          <p:nvPr/>
        </p:nvSpPr>
        <p:spPr>
          <a:xfrm>
            <a:off x="627735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54" name="Text 52"/>
          <p:cNvSpPr/>
          <p:nvPr/>
        </p:nvSpPr>
        <p:spPr>
          <a:xfrm>
            <a:off x="817473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20,8 %</a:t>
            </a:r>
            <a:endParaRPr lang="en-US" sz="900" dirty="0"/>
          </a:p>
        </p:txBody>
      </p:sp>
      <p:sp>
        <p:nvSpPr>
          <p:cNvPr id="55" name="Text 53"/>
          <p:cNvSpPr/>
          <p:nvPr/>
        </p:nvSpPr>
        <p:spPr>
          <a:xfrm>
            <a:off x="1007211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+15,9 pts</a:t>
            </a:r>
            <a:endParaRPr lang="en-US" sz="900" dirty="0"/>
          </a:p>
        </p:txBody>
      </p:sp>
      <p:sp>
        <p:nvSpPr>
          <p:cNvPr id="56" name="Shape 54"/>
          <p:cNvSpPr/>
          <p:nvPr/>
        </p:nvSpPr>
        <p:spPr>
          <a:xfrm>
            <a:off x="137160" y="2907792"/>
            <a:ext cx="11795760" cy="256032"/>
          </a:xfrm>
          <a:prstGeom prst="rect">
            <a:avLst/>
          </a:prstGeom>
          <a:solidFill>
            <a:srgbClr val="F8F9FA"/>
          </a:solidFill>
          <a:ln w="3810">
            <a:solidFill>
              <a:srgbClr val="E5E7EB"/>
            </a:solidFill>
            <a:prstDash val="solid"/>
          </a:ln>
        </p:spPr>
      </p:sp>
      <p:sp>
        <p:nvSpPr>
          <p:cNvPr id="57" name="Text 55"/>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DSM – Tramps</a:t>
            </a:r>
            <a:endParaRPr lang="en-US" sz="900" dirty="0"/>
          </a:p>
        </p:txBody>
      </p:sp>
      <p:sp>
        <p:nvSpPr>
          <p:cNvPr id="58" name="Text 56"/>
          <p:cNvSpPr/>
          <p:nvPr/>
        </p:nvSpPr>
        <p:spPr>
          <a:xfrm>
            <a:off x="585216" y="2944368"/>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9" name="Text 57"/>
          <p:cNvSpPr/>
          <p:nvPr/>
        </p:nvSpPr>
        <p:spPr>
          <a:xfrm>
            <a:off x="248259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~3 900 T</a:t>
            </a:r>
            <a:endParaRPr lang="en-US" sz="900" dirty="0"/>
          </a:p>
        </p:txBody>
      </p:sp>
      <p:sp>
        <p:nvSpPr>
          <p:cNvPr id="60" name="Text 58"/>
          <p:cNvSpPr/>
          <p:nvPr/>
        </p:nvSpPr>
        <p:spPr>
          <a:xfrm>
            <a:off x="437997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4,2 %</a:t>
            </a:r>
            <a:endParaRPr lang="en-US" sz="900" dirty="0"/>
          </a:p>
        </p:txBody>
      </p:sp>
      <p:sp>
        <p:nvSpPr>
          <p:cNvPr id="61" name="Text 59"/>
          <p:cNvSpPr/>
          <p:nvPr/>
        </p:nvSpPr>
        <p:spPr>
          <a:xfrm>
            <a:off x="627735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62" name="Text 60"/>
          <p:cNvSpPr/>
          <p:nvPr/>
        </p:nvSpPr>
        <p:spPr>
          <a:xfrm>
            <a:off x="817473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~11 %</a:t>
            </a:r>
            <a:endParaRPr lang="en-US" sz="900" dirty="0"/>
          </a:p>
        </p:txBody>
      </p:sp>
      <p:sp>
        <p:nvSpPr>
          <p:cNvPr id="63" name="Text 61"/>
          <p:cNvSpPr/>
          <p:nvPr/>
        </p:nvSpPr>
        <p:spPr>
          <a:xfrm>
            <a:off x="1007211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+6,8 pts</a:t>
            </a:r>
            <a:endParaRPr lang="en-US" sz="900" dirty="0"/>
          </a:p>
        </p:txBody>
      </p:sp>
      <p:sp>
        <p:nvSpPr>
          <p:cNvPr id="64" name="Shape 62"/>
          <p:cNvSpPr/>
          <p:nvPr/>
        </p:nvSpPr>
        <p:spPr>
          <a:xfrm>
            <a:off x="137160" y="4434840"/>
            <a:ext cx="11795760" cy="960120"/>
          </a:xfrm>
          <a:prstGeom prst="rect">
            <a:avLst/>
          </a:prstGeom>
          <a:solidFill>
            <a:srgbClr val="FFFBEC"/>
          </a:solidFill>
          <a:ln w="6350">
            <a:solidFill>
              <a:srgbClr val="E5C97A"/>
            </a:solidFill>
            <a:prstDash val="solid"/>
          </a:ln>
        </p:spPr>
      </p:sp>
      <p:sp>
        <p:nvSpPr>
          <p:cNvPr id="65" name="Text 63"/>
          <p:cNvSpPr/>
          <p:nvPr/>
        </p:nvSpPr>
        <p:spPr>
          <a:xfrm>
            <a:off x="228600" y="45079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SURVEILLANCE : AYMAN est le concurrent à plus forte croissance (+18% en 2026). Présent dans le TOP 5 sur TIM (#5 via DJAM DKS) et Aérien (#7 via HANNYYAH ET SAID). AGL domine sur tous les métiers, mais l'écart TIM n'est que de +2,2 pts.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AYMAN – ANALYSE DÉTAILLÉE  |  Forces &amp; Réponse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Profil concurrentiel  |  Face-à-face par segment  |  Recommandations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0292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Profil du Groupe AYMAN</a:t>
            </a:r>
            <a:endParaRPr lang="en-US" sz="1100" dirty="0"/>
          </a:p>
        </p:txBody>
      </p:sp>
      <p:sp>
        <p:nvSpPr>
          <p:cNvPr id="8" name="Shape 6"/>
          <p:cNvSpPr/>
          <p:nvPr/>
        </p:nvSpPr>
        <p:spPr>
          <a:xfrm>
            <a:off x="137160" y="1389888"/>
            <a:ext cx="5029200" cy="347472"/>
          </a:xfrm>
          <a:prstGeom prst="rect">
            <a:avLst/>
          </a:prstGeom>
          <a:solidFill>
            <a:srgbClr val="FFFFFF"/>
          </a:solidFill>
          <a:ln w="3810">
            <a:solidFill>
              <a:srgbClr val="E5E7EB"/>
            </a:solidFill>
            <a:prstDash val="solid"/>
          </a:ln>
        </p:spPr>
      </p:sp>
      <p:sp>
        <p:nvSpPr>
          <p:cNvPr id="9" name="Text 7"/>
          <p:cNvSpPr/>
          <p:nvPr/>
        </p:nvSpPr>
        <p:spPr>
          <a:xfrm>
            <a:off x="182880" y="144475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Création</a:t>
            </a:r>
            <a:endParaRPr lang="en-US" sz="900" dirty="0"/>
          </a:p>
        </p:txBody>
      </p:sp>
      <p:sp>
        <p:nvSpPr>
          <p:cNvPr id="10" name="Text 8"/>
          <p:cNvSpPr/>
          <p:nvPr/>
        </p:nvSpPr>
        <p:spPr>
          <a:xfrm>
            <a:off x="1508760" y="144475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~2015 — croissance organique rapide</a:t>
            </a:r>
            <a:endParaRPr lang="en-US" sz="900" dirty="0"/>
          </a:p>
        </p:txBody>
      </p:sp>
      <p:sp>
        <p:nvSpPr>
          <p:cNvPr id="11" name="Shape 9"/>
          <p:cNvSpPr/>
          <p:nvPr/>
        </p:nvSpPr>
        <p:spPr>
          <a:xfrm>
            <a:off x="137160" y="1737360"/>
            <a:ext cx="5029200" cy="347472"/>
          </a:xfrm>
          <a:prstGeom prst="rect">
            <a:avLst/>
          </a:prstGeom>
          <a:solidFill>
            <a:srgbClr val="F8F9FA"/>
          </a:solidFill>
          <a:ln w="3810">
            <a:solidFill>
              <a:srgbClr val="E5E7EB"/>
            </a:solidFill>
            <a:prstDash val="solid"/>
          </a:ln>
        </p:spPr>
      </p:sp>
      <p:sp>
        <p:nvSpPr>
          <p:cNvPr id="12" name="Text 10"/>
          <p:cNvSpPr/>
          <p:nvPr/>
        </p:nvSpPr>
        <p:spPr>
          <a:xfrm>
            <a:off x="182880" y="1792224"/>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Cœur de métier</a:t>
            </a:r>
            <a:endParaRPr lang="en-US" sz="900" dirty="0"/>
          </a:p>
        </p:txBody>
      </p:sp>
      <p:sp>
        <p:nvSpPr>
          <p:cNvPr id="13" name="Text 11"/>
          <p:cNvSpPr/>
          <p:nvPr/>
        </p:nvSpPr>
        <p:spPr>
          <a:xfrm>
            <a:off x="1508760" y="1792224"/>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TIM (fret maritime import) + fret aérien</a:t>
            </a:r>
            <a:endParaRPr lang="en-US" sz="900" dirty="0"/>
          </a:p>
        </p:txBody>
      </p:sp>
      <p:sp>
        <p:nvSpPr>
          <p:cNvPr id="14" name="Shape 12"/>
          <p:cNvSpPr/>
          <p:nvPr/>
        </p:nvSpPr>
        <p:spPr>
          <a:xfrm>
            <a:off x="137160" y="2084832"/>
            <a:ext cx="5029200" cy="347472"/>
          </a:xfrm>
          <a:prstGeom prst="rect">
            <a:avLst/>
          </a:prstGeom>
          <a:solidFill>
            <a:srgbClr val="FFFFFF"/>
          </a:solidFill>
          <a:ln w="3810">
            <a:solidFill>
              <a:srgbClr val="E5E7EB"/>
            </a:solidFill>
            <a:prstDash val="solid"/>
          </a:ln>
        </p:spPr>
      </p:sp>
      <p:sp>
        <p:nvSpPr>
          <p:cNvPr id="15" name="Text 13"/>
          <p:cNvSpPr/>
          <p:nvPr/>
        </p:nvSpPr>
        <p:spPr>
          <a:xfrm>
            <a:off x="182880" y="2139696"/>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Réseau</a:t>
            </a:r>
            <a:endParaRPr lang="en-US" sz="900" dirty="0"/>
          </a:p>
        </p:txBody>
      </p:sp>
      <p:sp>
        <p:nvSpPr>
          <p:cNvPr id="16" name="Text 14"/>
          <p:cNvSpPr/>
          <p:nvPr/>
        </p:nvSpPr>
        <p:spPr>
          <a:xfrm>
            <a:off x="1508760" y="2139696"/>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Abidjan + filiales Mali, Sénégal</a:t>
            </a:r>
            <a:endParaRPr lang="en-US" sz="900" dirty="0"/>
          </a:p>
        </p:txBody>
      </p:sp>
      <p:sp>
        <p:nvSpPr>
          <p:cNvPr id="17" name="Shape 15"/>
          <p:cNvSpPr/>
          <p:nvPr/>
        </p:nvSpPr>
        <p:spPr>
          <a:xfrm>
            <a:off x="137160" y="2432304"/>
            <a:ext cx="5029200" cy="347472"/>
          </a:xfrm>
          <a:prstGeom prst="rect">
            <a:avLst/>
          </a:prstGeom>
          <a:solidFill>
            <a:srgbClr val="F8F9FA"/>
          </a:solidFill>
          <a:ln w="3810">
            <a:solidFill>
              <a:srgbClr val="E5E7EB"/>
            </a:solidFill>
            <a:prstDash val="solid"/>
          </a:ln>
        </p:spPr>
      </p:sp>
      <p:sp>
        <p:nvSpPr>
          <p:cNvPr id="18" name="Text 16"/>
          <p:cNvSpPr/>
          <p:nvPr/>
        </p:nvSpPr>
        <p:spPr>
          <a:xfrm>
            <a:off x="182880" y="2487168"/>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Clientèle clé</a:t>
            </a:r>
            <a:endParaRPr lang="en-US" sz="900" dirty="0"/>
          </a:p>
        </p:txBody>
      </p:sp>
      <p:sp>
        <p:nvSpPr>
          <p:cNvPr id="19" name="Text 17"/>
          <p:cNvSpPr/>
          <p:nvPr/>
        </p:nvSpPr>
        <p:spPr>
          <a:xfrm>
            <a:off x="1508760" y="2487168"/>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PME-PMI importatrices, tech &amp; télécoms</a:t>
            </a:r>
            <a:endParaRPr lang="en-US" sz="900" dirty="0"/>
          </a:p>
        </p:txBody>
      </p:sp>
      <p:sp>
        <p:nvSpPr>
          <p:cNvPr id="20" name="Shape 18"/>
          <p:cNvSpPr/>
          <p:nvPr/>
        </p:nvSpPr>
        <p:spPr>
          <a:xfrm>
            <a:off x="137160" y="2779776"/>
            <a:ext cx="5029200" cy="347472"/>
          </a:xfrm>
          <a:prstGeom prst="rect">
            <a:avLst/>
          </a:prstGeom>
          <a:solidFill>
            <a:srgbClr val="FFFFFF"/>
          </a:solidFill>
          <a:ln w="3810">
            <a:solidFill>
              <a:srgbClr val="E5E7EB"/>
            </a:solidFill>
            <a:prstDash val="solid"/>
          </a:ln>
        </p:spPr>
      </p:sp>
      <p:sp>
        <p:nvSpPr>
          <p:cNvPr id="21" name="Text 19"/>
          <p:cNvSpPr/>
          <p:nvPr/>
        </p:nvSpPr>
        <p:spPr>
          <a:xfrm>
            <a:off x="182880" y="2834640"/>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Avantages</a:t>
            </a:r>
            <a:endParaRPr lang="en-US" sz="900" dirty="0"/>
          </a:p>
        </p:txBody>
      </p:sp>
      <p:sp>
        <p:nvSpPr>
          <p:cNvPr id="22" name="Text 20"/>
          <p:cNvSpPr/>
          <p:nvPr/>
        </p:nvSpPr>
        <p:spPr>
          <a:xfrm>
            <a:off x="1508760" y="2834640"/>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Réactivité, tarifs agressifs, digitalisation</a:t>
            </a:r>
            <a:endParaRPr lang="en-US" sz="900" dirty="0"/>
          </a:p>
        </p:txBody>
      </p:sp>
      <p:sp>
        <p:nvSpPr>
          <p:cNvPr id="23" name="Shape 21"/>
          <p:cNvSpPr/>
          <p:nvPr/>
        </p:nvSpPr>
        <p:spPr>
          <a:xfrm>
            <a:off x="137160" y="3127248"/>
            <a:ext cx="5029200" cy="347472"/>
          </a:xfrm>
          <a:prstGeom prst="rect">
            <a:avLst/>
          </a:prstGeom>
          <a:solidFill>
            <a:srgbClr val="F8F9FA"/>
          </a:solidFill>
          <a:ln w="3810">
            <a:solidFill>
              <a:srgbClr val="E5E7EB"/>
            </a:solidFill>
            <a:prstDash val="solid"/>
          </a:ln>
        </p:spPr>
      </p:sp>
      <p:sp>
        <p:nvSpPr>
          <p:cNvPr id="24" name="Text 22"/>
          <p:cNvSpPr/>
          <p:nvPr/>
        </p:nvSpPr>
        <p:spPr>
          <a:xfrm>
            <a:off x="182880" y="318211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Croissance</a:t>
            </a:r>
            <a:endParaRPr lang="en-US" sz="900" dirty="0"/>
          </a:p>
        </p:txBody>
      </p:sp>
      <p:sp>
        <p:nvSpPr>
          <p:cNvPr id="25" name="Text 23"/>
          <p:cNvSpPr/>
          <p:nvPr/>
        </p:nvSpPr>
        <p:spPr>
          <a:xfrm>
            <a:off x="1508760" y="318211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+18 % volumes 2026 vs 2025</a:t>
            </a:r>
            <a:endParaRPr lang="en-US" sz="900" dirty="0"/>
          </a:p>
        </p:txBody>
      </p:sp>
      <p:sp>
        <p:nvSpPr>
          <p:cNvPr id="26" name="Text 24"/>
          <p:cNvSpPr/>
          <p:nvPr/>
        </p:nvSpPr>
        <p:spPr>
          <a:xfrm>
            <a:off x="5349240" y="1097280"/>
            <a:ext cx="66751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Face-à-face par segment : Ayman vs AGL</a:t>
            </a:r>
            <a:endParaRPr lang="en-US" sz="1100" dirty="0"/>
          </a:p>
        </p:txBody>
      </p:sp>
      <p:sp>
        <p:nvSpPr>
          <p:cNvPr id="27" name="Shape 25"/>
          <p:cNvSpPr/>
          <p:nvPr/>
        </p:nvSpPr>
        <p:spPr>
          <a:xfrm>
            <a:off x="5349240" y="1389888"/>
            <a:ext cx="6675120" cy="594360"/>
          </a:xfrm>
          <a:prstGeom prst="rect">
            <a:avLst/>
          </a:prstGeom>
          <a:solidFill>
            <a:srgbClr val="F8F9FA"/>
          </a:solidFill>
          <a:ln w="3810">
            <a:solidFill>
              <a:srgbClr val="E5E7EB"/>
            </a:solidFill>
            <a:prstDash val="solid"/>
          </a:ln>
        </p:spPr>
      </p:sp>
      <p:sp>
        <p:nvSpPr>
          <p:cNvPr id="28" name="Text 26"/>
          <p:cNvSpPr/>
          <p:nvPr/>
        </p:nvSpPr>
        <p:spPr>
          <a:xfrm>
            <a:off x="5440680" y="1426464"/>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MACHINES / ÉLECTRO</a:t>
            </a:r>
            <a:endParaRPr lang="en-US" sz="900" dirty="0"/>
          </a:p>
        </p:txBody>
      </p:sp>
      <p:sp>
        <p:nvSpPr>
          <p:cNvPr id="29" name="Text 27"/>
          <p:cNvSpPr/>
          <p:nvPr/>
        </p:nvSpPr>
        <p:spPr>
          <a:xfrm>
            <a:off x="5440680" y="1682496"/>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~18%  vs  AGL 11%</a:t>
            </a:r>
            <a:endParaRPr lang="en-US" sz="900" dirty="0"/>
          </a:p>
        </p:txBody>
      </p:sp>
      <p:sp>
        <p:nvSpPr>
          <p:cNvPr id="30" name="Text 28"/>
          <p:cNvSpPr/>
          <p:nvPr/>
        </p:nvSpPr>
        <p:spPr>
          <a:xfrm>
            <a:off x="9601200" y="1499616"/>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1" name="Shape 29"/>
          <p:cNvSpPr/>
          <p:nvPr/>
        </p:nvSpPr>
        <p:spPr>
          <a:xfrm>
            <a:off x="5349240" y="2048256"/>
            <a:ext cx="6675120" cy="594360"/>
          </a:xfrm>
          <a:prstGeom prst="rect">
            <a:avLst/>
          </a:prstGeom>
          <a:solidFill>
            <a:srgbClr val="F8F9FA"/>
          </a:solidFill>
          <a:ln w="3810">
            <a:solidFill>
              <a:srgbClr val="E5E7EB"/>
            </a:solidFill>
            <a:prstDash val="solid"/>
          </a:ln>
        </p:spPr>
      </p:sp>
      <p:sp>
        <p:nvSpPr>
          <p:cNvPr id="32" name="Text 30"/>
          <p:cNvSpPr/>
          <p:nvPr/>
        </p:nvSpPr>
        <p:spPr>
          <a:xfrm>
            <a:off x="5440680" y="2084832"/>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PIÈCES DÉTACHÉES</a:t>
            </a:r>
            <a:endParaRPr lang="en-US" sz="900" dirty="0"/>
          </a:p>
        </p:txBody>
      </p:sp>
      <p:sp>
        <p:nvSpPr>
          <p:cNvPr id="33" name="Text 31"/>
          <p:cNvSpPr/>
          <p:nvPr/>
        </p:nvSpPr>
        <p:spPr>
          <a:xfrm>
            <a:off x="5440680" y="2340864"/>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~12%  vs  AGL 8%</a:t>
            </a:r>
            <a:endParaRPr lang="en-US" sz="900" dirty="0"/>
          </a:p>
        </p:txBody>
      </p:sp>
      <p:sp>
        <p:nvSpPr>
          <p:cNvPr id="34" name="Text 32"/>
          <p:cNvSpPr/>
          <p:nvPr/>
        </p:nvSpPr>
        <p:spPr>
          <a:xfrm>
            <a:off x="9601200" y="2157984"/>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5" name="Shape 33"/>
          <p:cNvSpPr/>
          <p:nvPr/>
        </p:nvSpPr>
        <p:spPr>
          <a:xfrm>
            <a:off x="5349240" y="2706624"/>
            <a:ext cx="6675120" cy="594360"/>
          </a:xfrm>
          <a:prstGeom prst="rect">
            <a:avLst/>
          </a:prstGeom>
          <a:solidFill>
            <a:srgbClr val="F8F9FA"/>
          </a:solidFill>
          <a:ln w="3810">
            <a:solidFill>
              <a:srgbClr val="E5E7EB"/>
            </a:solidFill>
            <a:prstDash val="solid"/>
          </a:ln>
        </p:spPr>
      </p:sp>
      <p:sp>
        <p:nvSpPr>
          <p:cNvPr id="36" name="Text 34"/>
          <p:cNvSpPr/>
          <p:nvPr/>
        </p:nvSpPr>
        <p:spPr>
          <a:xfrm>
            <a:off x="5440680" y="2743200"/>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TECH / TÉLÉCOMS</a:t>
            </a:r>
            <a:endParaRPr lang="en-US" sz="900" dirty="0"/>
          </a:p>
        </p:txBody>
      </p:sp>
      <p:sp>
        <p:nvSpPr>
          <p:cNvPr id="37" name="Text 35"/>
          <p:cNvSpPr/>
          <p:nvPr/>
        </p:nvSpPr>
        <p:spPr>
          <a:xfrm>
            <a:off x="5440680" y="2999232"/>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~15%  vs  AGL 33%</a:t>
            </a:r>
            <a:endParaRPr lang="en-US" sz="900" dirty="0"/>
          </a:p>
        </p:txBody>
      </p:sp>
      <p:sp>
        <p:nvSpPr>
          <p:cNvPr id="38" name="Text 36"/>
          <p:cNvSpPr/>
          <p:nvPr/>
        </p:nvSpPr>
        <p:spPr>
          <a:xfrm>
            <a:off x="9601200" y="2816352"/>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39" name="Shape 37"/>
          <p:cNvSpPr/>
          <p:nvPr/>
        </p:nvSpPr>
        <p:spPr>
          <a:xfrm>
            <a:off x="5349240" y="3364992"/>
            <a:ext cx="6675120" cy="594360"/>
          </a:xfrm>
          <a:prstGeom prst="rect">
            <a:avLst/>
          </a:prstGeom>
          <a:solidFill>
            <a:srgbClr val="F8F9FA"/>
          </a:solidFill>
          <a:ln w="3810">
            <a:solidFill>
              <a:srgbClr val="E5E7EB"/>
            </a:solidFill>
            <a:prstDash val="solid"/>
          </a:ln>
        </p:spPr>
      </p:sp>
      <p:sp>
        <p:nvSpPr>
          <p:cNvPr id="40" name="Text 38"/>
          <p:cNvSpPr/>
          <p:nvPr/>
        </p:nvSpPr>
        <p:spPr>
          <a:xfrm>
            <a:off x="5440680" y="3401568"/>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MAT. CONSTRUCTION</a:t>
            </a:r>
            <a:endParaRPr lang="en-US" sz="900" dirty="0"/>
          </a:p>
        </p:txBody>
      </p:sp>
      <p:sp>
        <p:nvSpPr>
          <p:cNvPr id="41" name="Text 39"/>
          <p:cNvSpPr/>
          <p:nvPr/>
        </p:nvSpPr>
        <p:spPr>
          <a:xfrm>
            <a:off x="5440680" y="3657600"/>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~10%  vs  AGL 18%</a:t>
            </a:r>
            <a:endParaRPr lang="en-US" sz="900" dirty="0"/>
          </a:p>
        </p:txBody>
      </p:sp>
      <p:sp>
        <p:nvSpPr>
          <p:cNvPr id="42" name="Text 40"/>
          <p:cNvSpPr/>
          <p:nvPr/>
        </p:nvSpPr>
        <p:spPr>
          <a:xfrm>
            <a:off x="9601200" y="3474720"/>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3" name="Shape 41"/>
          <p:cNvSpPr/>
          <p:nvPr/>
        </p:nvSpPr>
        <p:spPr>
          <a:xfrm>
            <a:off x="5349240" y="4023360"/>
            <a:ext cx="6675120" cy="594360"/>
          </a:xfrm>
          <a:prstGeom prst="rect">
            <a:avLst/>
          </a:prstGeom>
          <a:solidFill>
            <a:srgbClr val="F8F9FA"/>
          </a:solidFill>
          <a:ln w="3810">
            <a:solidFill>
              <a:srgbClr val="E5E7EB"/>
            </a:solidFill>
            <a:prstDash val="solid"/>
          </a:ln>
        </p:spPr>
      </p:sp>
      <p:sp>
        <p:nvSpPr>
          <p:cNvPr id="44" name="Text 42"/>
          <p:cNvSpPr/>
          <p:nvPr/>
        </p:nvSpPr>
        <p:spPr>
          <a:xfrm>
            <a:off x="5440680" y="4059936"/>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TRAMPS – BRBK</a:t>
            </a:r>
            <a:endParaRPr lang="en-US" sz="900" dirty="0"/>
          </a:p>
        </p:txBody>
      </p:sp>
      <p:sp>
        <p:nvSpPr>
          <p:cNvPr id="45" name="Text 43"/>
          <p:cNvSpPr/>
          <p:nvPr/>
        </p:nvSpPr>
        <p:spPr>
          <a:xfrm>
            <a:off x="5440680" y="4315968"/>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~8%  vs  AGL 18%</a:t>
            </a:r>
            <a:endParaRPr lang="en-US" sz="900" dirty="0"/>
          </a:p>
        </p:txBody>
      </p:sp>
      <p:sp>
        <p:nvSpPr>
          <p:cNvPr id="46" name="Text 44"/>
          <p:cNvSpPr/>
          <p:nvPr/>
        </p:nvSpPr>
        <p:spPr>
          <a:xfrm>
            <a:off x="9601200" y="4133088"/>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7" name="Shape 45"/>
          <p:cNvSpPr/>
          <p:nvPr/>
        </p:nvSpPr>
        <p:spPr>
          <a:xfrm>
            <a:off x="137160" y="4892040"/>
            <a:ext cx="11795760" cy="960120"/>
          </a:xfrm>
          <a:prstGeom prst="rect">
            <a:avLst/>
          </a:prstGeom>
          <a:solidFill>
            <a:srgbClr val="FFFBEC"/>
          </a:solidFill>
          <a:ln w="6350">
            <a:solidFill>
              <a:srgbClr val="E5C97A"/>
            </a:solidFill>
            <a:prstDash val="solid"/>
          </a:ln>
        </p:spPr>
      </p:sp>
      <p:sp>
        <p:nvSpPr>
          <p:cNvPr id="48" name="Text 46"/>
          <p:cNvSpPr/>
          <p:nvPr/>
        </p:nvSpPr>
        <p:spPr>
          <a:xfrm>
            <a:off x="228600" y="49651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RÉPONSE AGL : 1) Tarification ciblée Machines / Électronique (TIM). 2) Service premium Pièces Détachées avec engagement délais (Aérien). 3) Verrouillage des clients communs (SITAB, importateurs télécoms) par contrats cadres. 4) Surveillance trimestrielle des volumes DJAM DKS et HANNYYAH.</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06</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ACTIONS STRATÉGIQUES PRIORITAIRES</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Synthèse transversale  |  6 axes  |  Horizon 12 mois</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SYNTHÈSE – PARTS DE MARCHÉ AGL PAR MÉTIER</a:t>
            </a:r>
            <a:endParaRPr lang="en-US" sz="2200" dirty="0"/>
          </a:p>
        </p:txBody>
      </p:sp>
      <p:sp>
        <p:nvSpPr>
          <p:cNvPr id="4" name="Text 2"/>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p.21</a:t>
            </a:r>
            <a:endParaRPr lang="en-US" sz="900" dirty="0"/>
          </a:p>
        </p:txBody>
      </p:sp>
      <p:sp>
        <p:nvSpPr>
          <p:cNvPr id="5" name="Text 3"/>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6" name="Shape 4"/>
          <p:cNvSpPr/>
          <p:nvPr/>
        </p:nvSpPr>
        <p:spPr>
          <a:xfrm>
            <a:off x="137160" y="1051560"/>
            <a:ext cx="11795760" cy="932688"/>
          </a:xfrm>
          <a:prstGeom prst="rect">
            <a:avLst/>
          </a:prstGeom>
          <a:solidFill>
            <a:srgbClr val="F0F4F8"/>
          </a:solidFill>
          <a:ln w="6350">
            <a:solidFill>
              <a:srgbClr val="E2E8F0"/>
            </a:solidFill>
            <a:prstDash val="solid"/>
          </a:ln>
        </p:spPr>
      </p:sp>
      <p:sp>
        <p:nvSpPr>
          <p:cNvPr id="7" name="Text 5"/>
          <p:cNvSpPr/>
          <p:nvPr/>
        </p:nvSpPr>
        <p:spPr>
          <a:xfrm>
            <a:off x="274320" y="116128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EXPORT</a:t>
            </a:r>
            <a:endParaRPr lang="en-US" sz="1300" dirty="0"/>
          </a:p>
        </p:txBody>
      </p:sp>
      <p:sp>
        <p:nvSpPr>
          <p:cNvPr id="8" name="Text 6"/>
          <p:cNvSpPr/>
          <p:nvPr/>
        </p:nvSpPr>
        <p:spPr>
          <a:xfrm>
            <a:off x="274320" y="152704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4 294 TEU  |  AGL : 2 840 TEU</a:t>
            </a:r>
            <a:endParaRPr lang="en-US" sz="900" dirty="0"/>
          </a:p>
        </p:txBody>
      </p:sp>
      <p:sp>
        <p:nvSpPr>
          <p:cNvPr id="9" name="Shape 7"/>
          <p:cNvSpPr/>
          <p:nvPr/>
        </p:nvSpPr>
        <p:spPr>
          <a:xfrm>
            <a:off x="3108960" y="1307592"/>
            <a:ext cx="6858000" cy="347472"/>
          </a:xfrm>
          <a:prstGeom prst="rect">
            <a:avLst/>
          </a:prstGeom>
          <a:solidFill>
            <a:srgbClr val="D1D5DB"/>
          </a:solidFill>
          <a:ln/>
        </p:spPr>
      </p:sp>
      <p:sp>
        <p:nvSpPr>
          <p:cNvPr id="10" name="Shape 8"/>
          <p:cNvSpPr/>
          <p:nvPr/>
        </p:nvSpPr>
        <p:spPr>
          <a:xfrm>
            <a:off x="3108960" y="1307592"/>
            <a:ext cx="6858000" cy="347472"/>
          </a:xfrm>
          <a:prstGeom prst="rect">
            <a:avLst/>
          </a:prstGeom>
          <a:solidFill>
            <a:srgbClr val="1A7C4F"/>
          </a:solidFill>
          <a:ln/>
        </p:spPr>
      </p:sp>
      <p:sp>
        <p:nvSpPr>
          <p:cNvPr id="11" name="Text 9"/>
          <p:cNvSpPr/>
          <p:nvPr/>
        </p:nvSpPr>
        <p:spPr>
          <a:xfrm>
            <a:off x="10058400" y="123444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66.1 %</a:t>
            </a:r>
            <a:endParaRPr lang="en-US" sz="2000" dirty="0"/>
          </a:p>
        </p:txBody>
      </p:sp>
      <p:sp>
        <p:nvSpPr>
          <p:cNvPr id="12" name="Shape 10"/>
          <p:cNvSpPr/>
          <p:nvPr/>
        </p:nvSpPr>
        <p:spPr>
          <a:xfrm>
            <a:off x="10149840" y="1124712"/>
            <a:ext cx="1691640" cy="292608"/>
          </a:xfrm>
          <a:prstGeom prst="rect">
            <a:avLst/>
          </a:prstGeom>
          <a:solidFill>
            <a:srgbClr val="1A7C4F"/>
          </a:solidFill>
          <a:ln/>
        </p:spPr>
      </p:sp>
      <p:sp>
        <p:nvSpPr>
          <p:cNvPr id="13" name="Text 11"/>
          <p:cNvSpPr/>
          <p:nvPr/>
        </p:nvSpPr>
        <p:spPr>
          <a:xfrm>
            <a:off x="10149840" y="112471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Text 12"/>
          <p:cNvSpPr/>
          <p:nvPr/>
        </p:nvSpPr>
        <p:spPr>
          <a:xfrm>
            <a:off x="10149840" y="149047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15" name="Shape 13"/>
          <p:cNvSpPr/>
          <p:nvPr/>
        </p:nvSpPr>
        <p:spPr>
          <a:xfrm>
            <a:off x="137160" y="2057400"/>
            <a:ext cx="11795760" cy="932688"/>
          </a:xfrm>
          <a:prstGeom prst="rect">
            <a:avLst/>
          </a:prstGeom>
          <a:solidFill>
            <a:srgbClr val="F0F4F8"/>
          </a:solidFill>
          <a:ln w="6350">
            <a:solidFill>
              <a:srgbClr val="E2E8F0"/>
            </a:solidFill>
            <a:prstDash val="solid"/>
          </a:ln>
        </p:spPr>
      </p:sp>
      <p:sp>
        <p:nvSpPr>
          <p:cNvPr id="16" name="Text 14"/>
          <p:cNvSpPr/>
          <p:nvPr/>
        </p:nvSpPr>
        <p:spPr>
          <a:xfrm>
            <a:off x="274320" y="216712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EXPORT MAR.</a:t>
            </a:r>
            <a:endParaRPr lang="en-US" sz="1300" dirty="0"/>
          </a:p>
        </p:txBody>
      </p:sp>
      <p:sp>
        <p:nvSpPr>
          <p:cNvPr id="17" name="Text 15"/>
          <p:cNvSpPr/>
          <p:nvPr/>
        </p:nvSpPr>
        <p:spPr>
          <a:xfrm>
            <a:off x="274320" y="253288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137 283 TEU  |  AGL : 35 972 TEU</a:t>
            </a:r>
            <a:endParaRPr lang="en-US" sz="900" dirty="0"/>
          </a:p>
        </p:txBody>
      </p:sp>
      <p:sp>
        <p:nvSpPr>
          <p:cNvPr id="18" name="Shape 16"/>
          <p:cNvSpPr/>
          <p:nvPr/>
        </p:nvSpPr>
        <p:spPr>
          <a:xfrm>
            <a:off x="3108960" y="2313432"/>
            <a:ext cx="6858000" cy="347472"/>
          </a:xfrm>
          <a:prstGeom prst="rect">
            <a:avLst/>
          </a:prstGeom>
          <a:solidFill>
            <a:srgbClr val="D1D5DB"/>
          </a:solidFill>
          <a:ln/>
        </p:spPr>
      </p:sp>
      <p:sp>
        <p:nvSpPr>
          <p:cNvPr id="19" name="Shape 17"/>
          <p:cNvSpPr/>
          <p:nvPr/>
        </p:nvSpPr>
        <p:spPr>
          <a:xfrm>
            <a:off x="3108960" y="2313432"/>
            <a:ext cx="2718300" cy="347472"/>
          </a:xfrm>
          <a:prstGeom prst="rect">
            <a:avLst/>
          </a:prstGeom>
          <a:solidFill>
            <a:srgbClr val="1A7C4F"/>
          </a:solidFill>
          <a:ln/>
        </p:spPr>
      </p:sp>
      <p:sp>
        <p:nvSpPr>
          <p:cNvPr id="20" name="Text 18"/>
          <p:cNvSpPr/>
          <p:nvPr/>
        </p:nvSpPr>
        <p:spPr>
          <a:xfrm>
            <a:off x="5918700" y="224028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26.2 %</a:t>
            </a:r>
            <a:endParaRPr lang="en-US" sz="2000" dirty="0"/>
          </a:p>
        </p:txBody>
      </p:sp>
      <p:sp>
        <p:nvSpPr>
          <p:cNvPr id="21" name="Shape 19"/>
          <p:cNvSpPr/>
          <p:nvPr/>
        </p:nvSpPr>
        <p:spPr>
          <a:xfrm>
            <a:off x="10149840" y="2130552"/>
            <a:ext cx="1691640" cy="292608"/>
          </a:xfrm>
          <a:prstGeom prst="rect">
            <a:avLst/>
          </a:prstGeom>
          <a:solidFill>
            <a:srgbClr val="1A7C4F"/>
          </a:solidFill>
          <a:ln/>
        </p:spPr>
      </p:sp>
      <p:sp>
        <p:nvSpPr>
          <p:cNvPr id="22" name="Text 20"/>
          <p:cNvSpPr/>
          <p:nvPr/>
        </p:nvSpPr>
        <p:spPr>
          <a:xfrm>
            <a:off x="10149840" y="213055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Text 21"/>
          <p:cNvSpPr/>
          <p:nvPr/>
        </p:nvSpPr>
        <p:spPr>
          <a:xfrm>
            <a:off x="10149840" y="249631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 ×4,7 le 2ème</a:t>
            </a:r>
            <a:endParaRPr lang="en-US" sz="900" dirty="0"/>
          </a:p>
        </p:txBody>
      </p:sp>
      <p:sp>
        <p:nvSpPr>
          <p:cNvPr id="24" name="Shape 22"/>
          <p:cNvSpPr/>
          <p:nvPr/>
        </p:nvSpPr>
        <p:spPr>
          <a:xfrm>
            <a:off x="137160" y="3063240"/>
            <a:ext cx="11795760" cy="932688"/>
          </a:xfrm>
          <a:prstGeom prst="rect">
            <a:avLst/>
          </a:prstGeom>
          <a:solidFill>
            <a:srgbClr val="F0F4F8"/>
          </a:solidFill>
          <a:ln w="6350">
            <a:solidFill>
              <a:srgbClr val="E2E8F0"/>
            </a:solidFill>
            <a:prstDash val="solid"/>
          </a:ln>
        </p:spPr>
      </p:sp>
      <p:sp>
        <p:nvSpPr>
          <p:cNvPr id="25" name="Text 23"/>
          <p:cNvSpPr/>
          <p:nvPr/>
        </p:nvSpPr>
        <p:spPr>
          <a:xfrm>
            <a:off x="274320" y="317296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AÉRIEN IMPORT</a:t>
            </a:r>
            <a:endParaRPr lang="en-US" sz="1300" dirty="0"/>
          </a:p>
        </p:txBody>
      </p:sp>
      <p:sp>
        <p:nvSpPr>
          <p:cNvPr id="26" name="Text 24"/>
          <p:cNvSpPr/>
          <p:nvPr/>
        </p:nvSpPr>
        <p:spPr>
          <a:xfrm>
            <a:off x="274320" y="353872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5 603 T  |  AGL : 1 166 T</a:t>
            </a:r>
            <a:endParaRPr lang="en-US" sz="900" dirty="0"/>
          </a:p>
        </p:txBody>
      </p:sp>
      <p:sp>
        <p:nvSpPr>
          <p:cNvPr id="27" name="Shape 25"/>
          <p:cNvSpPr/>
          <p:nvPr/>
        </p:nvSpPr>
        <p:spPr>
          <a:xfrm>
            <a:off x="3108960" y="3319272"/>
            <a:ext cx="6858000" cy="347472"/>
          </a:xfrm>
          <a:prstGeom prst="rect">
            <a:avLst/>
          </a:prstGeom>
          <a:solidFill>
            <a:srgbClr val="D1D5DB"/>
          </a:solidFill>
          <a:ln/>
        </p:spPr>
      </p:sp>
      <p:sp>
        <p:nvSpPr>
          <p:cNvPr id="28" name="Shape 26"/>
          <p:cNvSpPr/>
          <p:nvPr/>
        </p:nvSpPr>
        <p:spPr>
          <a:xfrm>
            <a:off x="3108960" y="3319272"/>
            <a:ext cx="2158039" cy="347472"/>
          </a:xfrm>
          <a:prstGeom prst="rect">
            <a:avLst/>
          </a:prstGeom>
          <a:solidFill>
            <a:srgbClr val="1A7C4F"/>
          </a:solidFill>
          <a:ln/>
        </p:spPr>
      </p:sp>
      <p:sp>
        <p:nvSpPr>
          <p:cNvPr id="29" name="Text 27"/>
          <p:cNvSpPr/>
          <p:nvPr/>
        </p:nvSpPr>
        <p:spPr>
          <a:xfrm>
            <a:off x="5358439" y="324612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20.8 %</a:t>
            </a:r>
            <a:endParaRPr lang="en-US" sz="2000" dirty="0"/>
          </a:p>
        </p:txBody>
      </p:sp>
      <p:sp>
        <p:nvSpPr>
          <p:cNvPr id="30" name="Shape 28"/>
          <p:cNvSpPr/>
          <p:nvPr/>
        </p:nvSpPr>
        <p:spPr>
          <a:xfrm>
            <a:off x="10149840" y="3136392"/>
            <a:ext cx="1691640" cy="292608"/>
          </a:xfrm>
          <a:prstGeom prst="rect">
            <a:avLst/>
          </a:prstGeom>
          <a:solidFill>
            <a:srgbClr val="1A7C4F"/>
          </a:solidFill>
          <a:ln/>
        </p:spPr>
      </p:sp>
      <p:sp>
        <p:nvSpPr>
          <p:cNvPr id="31" name="Text 29"/>
          <p:cNvSpPr/>
          <p:nvPr/>
        </p:nvSpPr>
        <p:spPr>
          <a:xfrm>
            <a:off x="10149840" y="313639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Text 30"/>
          <p:cNvSpPr/>
          <p:nvPr/>
        </p:nvSpPr>
        <p:spPr>
          <a:xfrm>
            <a:off x="10149840" y="350215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33" name="Shape 31"/>
          <p:cNvSpPr/>
          <p:nvPr/>
        </p:nvSpPr>
        <p:spPr>
          <a:xfrm>
            <a:off x="137160" y="4069080"/>
            <a:ext cx="11795760" cy="932688"/>
          </a:xfrm>
          <a:prstGeom prst="rect">
            <a:avLst/>
          </a:prstGeom>
          <a:solidFill>
            <a:srgbClr val="F0F4F8"/>
          </a:solidFill>
          <a:ln w="6350">
            <a:solidFill>
              <a:srgbClr val="E2E8F0"/>
            </a:solidFill>
            <a:prstDash val="solid"/>
          </a:ln>
        </p:spPr>
      </p:sp>
      <p:sp>
        <p:nvSpPr>
          <p:cNvPr id="34" name="Text 32"/>
          <p:cNvSpPr/>
          <p:nvPr/>
        </p:nvSpPr>
        <p:spPr>
          <a:xfrm>
            <a:off x="274320" y="417880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IMPORT</a:t>
            </a:r>
            <a:endParaRPr lang="en-US" sz="1300" dirty="0"/>
          </a:p>
        </p:txBody>
      </p:sp>
      <p:sp>
        <p:nvSpPr>
          <p:cNvPr id="35" name="Text 33"/>
          <p:cNvSpPr/>
          <p:nvPr/>
        </p:nvSpPr>
        <p:spPr>
          <a:xfrm>
            <a:off x="274320" y="454456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28 457 TEU  |  AGL : 3 214 TEU</a:t>
            </a:r>
            <a:endParaRPr lang="en-US" sz="900" dirty="0"/>
          </a:p>
        </p:txBody>
      </p:sp>
      <p:sp>
        <p:nvSpPr>
          <p:cNvPr id="36" name="Shape 34"/>
          <p:cNvSpPr/>
          <p:nvPr/>
        </p:nvSpPr>
        <p:spPr>
          <a:xfrm>
            <a:off x="3108960" y="4325112"/>
            <a:ext cx="6858000" cy="347472"/>
          </a:xfrm>
          <a:prstGeom prst="rect">
            <a:avLst/>
          </a:prstGeom>
          <a:solidFill>
            <a:srgbClr val="D1D5DB"/>
          </a:solidFill>
          <a:ln/>
        </p:spPr>
      </p:sp>
      <p:sp>
        <p:nvSpPr>
          <p:cNvPr id="37" name="Shape 35"/>
          <p:cNvSpPr/>
          <p:nvPr/>
        </p:nvSpPr>
        <p:spPr>
          <a:xfrm>
            <a:off x="3108960" y="4325112"/>
            <a:ext cx="1172396" cy="347472"/>
          </a:xfrm>
          <a:prstGeom prst="rect">
            <a:avLst/>
          </a:prstGeom>
          <a:solidFill>
            <a:srgbClr val="E05A00"/>
          </a:solidFill>
          <a:ln/>
        </p:spPr>
      </p:sp>
      <p:sp>
        <p:nvSpPr>
          <p:cNvPr id="38" name="Text 36"/>
          <p:cNvSpPr/>
          <p:nvPr/>
        </p:nvSpPr>
        <p:spPr>
          <a:xfrm>
            <a:off x="4372796" y="425196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11.3 %</a:t>
            </a:r>
            <a:endParaRPr lang="en-US" sz="2000" dirty="0"/>
          </a:p>
        </p:txBody>
      </p:sp>
      <p:sp>
        <p:nvSpPr>
          <p:cNvPr id="39" name="Shape 37"/>
          <p:cNvSpPr/>
          <p:nvPr/>
        </p:nvSpPr>
        <p:spPr>
          <a:xfrm>
            <a:off x="10149840" y="4142232"/>
            <a:ext cx="1691640" cy="292608"/>
          </a:xfrm>
          <a:prstGeom prst="rect">
            <a:avLst/>
          </a:prstGeom>
          <a:solidFill>
            <a:srgbClr val="E05A00"/>
          </a:solidFill>
          <a:ln/>
        </p:spPr>
      </p:sp>
      <p:sp>
        <p:nvSpPr>
          <p:cNvPr id="40" name="Text 38"/>
          <p:cNvSpPr/>
          <p:nvPr/>
        </p:nvSpPr>
        <p:spPr>
          <a:xfrm>
            <a:off x="10149840" y="414223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Text 39"/>
          <p:cNvSpPr/>
          <p:nvPr/>
        </p:nvSpPr>
        <p:spPr>
          <a:xfrm>
            <a:off x="10149840" y="450799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#3</a:t>
            </a:r>
            <a:endParaRPr lang="en-US" sz="900" dirty="0"/>
          </a:p>
        </p:txBody>
      </p:sp>
      <p:sp>
        <p:nvSpPr>
          <p:cNvPr id="42" name="Shape 40"/>
          <p:cNvSpPr/>
          <p:nvPr/>
        </p:nvSpPr>
        <p:spPr>
          <a:xfrm>
            <a:off x="137160" y="5074920"/>
            <a:ext cx="11795760" cy="932688"/>
          </a:xfrm>
          <a:prstGeom prst="rect">
            <a:avLst/>
          </a:prstGeom>
          <a:solidFill>
            <a:srgbClr val="F0F4F8"/>
          </a:solidFill>
          <a:ln w="6350">
            <a:solidFill>
              <a:srgbClr val="E2E8F0"/>
            </a:solidFill>
            <a:prstDash val="solid"/>
          </a:ln>
        </p:spPr>
      </p:sp>
      <p:sp>
        <p:nvSpPr>
          <p:cNvPr id="43" name="Text 41"/>
          <p:cNvSpPr/>
          <p:nvPr/>
        </p:nvSpPr>
        <p:spPr>
          <a:xfrm>
            <a:off x="274320" y="518464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IMPORT MAR.</a:t>
            </a:r>
            <a:endParaRPr lang="en-US" sz="1300" dirty="0"/>
          </a:p>
        </p:txBody>
      </p:sp>
      <p:sp>
        <p:nvSpPr>
          <p:cNvPr id="44" name="Text 42"/>
          <p:cNvSpPr/>
          <p:nvPr/>
        </p:nvSpPr>
        <p:spPr>
          <a:xfrm>
            <a:off x="274320" y="555040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193 989 TEU  |  AGL : 15 133 TEU</a:t>
            </a:r>
            <a:endParaRPr lang="en-US" sz="900" dirty="0"/>
          </a:p>
        </p:txBody>
      </p:sp>
      <p:sp>
        <p:nvSpPr>
          <p:cNvPr id="45" name="Shape 43"/>
          <p:cNvSpPr/>
          <p:nvPr/>
        </p:nvSpPr>
        <p:spPr>
          <a:xfrm>
            <a:off x="3108960" y="5330952"/>
            <a:ext cx="6858000" cy="347472"/>
          </a:xfrm>
          <a:prstGeom prst="rect">
            <a:avLst/>
          </a:prstGeom>
          <a:solidFill>
            <a:srgbClr val="D1D5DB"/>
          </a:solidFill>
          <a:ln/>
        </p:spPr>
      </p:sp>
      <p:sp>
        <p:nvSpPr>
          <p:cNvPr id="46" name="Shape 44"/>
          <p:cNvSpPr/>
          <p:nvPr/>
        </p:nvSpPr>
        <p:spPr>
          <a:xfrm>
            <a:off x="3108960" y="5330952"/>
            <a:ext cx="809265" cy="347472"/>
          </a:xfrm>
          <a:prstGeom prst="rect">
            <a:avLst/>
          </a:prstGeom>
          <a:solidFill>
            <a:srgbClr val="E05A00"/>
          </a:solidFill>
          <a:ln/>
        </p:spPr>
      </p:sp>
      <p:sp>
        <p:nvSpPr>
          <p:cNvPr id="47" name="Text 45"/>
          <p:cNvSpPr/>
          <p:nvPr/>
        </p:nvSpPr>
        <p:spPr>
          <a:xfrm>
            <a:off x="4009665" y="525780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7.8 %</a:t>
            </a:r>
            <a:endParaRPr lang="en-US" sz="2000" dirty="0"/>
          </a:p>
        </p:txBody>
      </p:sp>
      <p:sp>
        <p:nvSpPr>
          <p:cNvPr id="48" name="Shape 46"/>
          <p:cNvSpPr/>
          <p:nvPr/>
        </p:nvSpPr>
        <p:spPr>
          <a:xfrm>
            <a:off x="10149840" y="5148072"/>
            <a:ext cx="1691640" cy="292608"/>
          </a:xfrm>
          <a:prstGeom prst="rect">
            <a:avLst/>
          </a:prstGeom>
          <a:solidFill>
            <a:srgbClr val="E05A00"/>
          </a:solidFill>
          <a:ln/>
        </p:spPr>
      </p:sp>
      <p:sp>
        <p:nvSpPr>
          <p:cNvPr id="49" name="Text 47"/>
          <p:cNvSpPr/>
          <p:nvPr/>
        </p:nvSpPr>
        <p:spPr>
          <a:xfrm>
            <a:off x="10149840" y="514807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Text 48"/>
          <p:cNvSpPr/>
          <p:nvPr/>
        </p:nvSpPr>
        <p:spPr>
          <a:xfrm>
            <a:off x="10149840" y="551383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#1 FRAGILE</a:t>
            </a:r>
            <a:endParaRPr lang="en-US" sz="900" dirty="0"/>
          </a:p>
        </p:txBody>
      </p:sp>
      <p:sp>
        <p:nvSpPr>
          <p:cNvPr id="51" name="Shape 49"/>
          <p:cNvSpPr/>
          <p:nvPr/>
        </p:nvSpPr>
        <p:spPr>
          <a:xfrm>
            <a:off x="137160" y="6144768"/>
            <a:ext cx="11795760" cy="292608"/>
          </a:xfrm>
          <a:prstGeom prst="rect">
            <a:avLst/>
          </a:prstGeom>
          <a:solidFill>
            <a:srgbClr val="0D2243"/>
          </a:solidFill>
          <a:ln/>
        </p:spPr>
      </p:sp>
      <p:sp>
        <p:nvSpPr>
          <p:cNvPr id="52" name="Text 50"/>
          <p:cNvSpPr/>
          <p:nvPr/>
        </p:nvSpPr>
        <p:spPr>
          <a:xfrm>
            <a:off x="228600" y="6144768"/>
            <a:ext cx="11612880" cy="29260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2026-06-18T14:49:50Z</dcterms:created>
  <dcterms:modified xsi:type="dcterms:W3CDTF">2026-06-18T14:49:50Z</dcterms:modified>
</cp:coreProperties>
</file>