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00077"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078377"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6.9%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259106"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7.5%</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560320"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8.5%</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34947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7.8%</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15 133</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7,8 %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STRACOTRANS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14 575</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TGR (Transit Général Rapide)</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13 663</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GENERAL TRANSIT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12 028</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DJAM DKS TRANSIT</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10 203</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5,3 %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PROFESIONNEL TRANSIT</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9 479</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 TRANSIT CI</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6 137</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5 680</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SAS TRANSIT</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5 274</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2,7 %</a:t>
            </a:r>
            <a:endParaRPr lang="en-US" sz="90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1 531</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10,1%</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876</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Cigares/Cigarettes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SCCI (PVC Compoundage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790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PVC Résine</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ALLIAD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687</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Polyéthylène</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SOCIFAD</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480</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Articles Divers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PROD ALIM CONGELÉ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Mer Congelé</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SONACO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417</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399</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SOLIBRA</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373</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Boissons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TRANSFO INDUS CI</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363</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Emballages</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a:t>
            </a:r>
            <a:endParaRPr lang="en-US" sz="90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5161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8254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57987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507720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5161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ATLANTIQUE TRANSIT CI</a:t>
            </a:r>
            <a:endParaRPr lang="en-US" sz="900" dirty="0"/>
          </a:p>
        </p:txBody>
      </p:sp>
      <p:sp>
        <p:nvSpPr>
          <p:cNvPr id="17" name="Text 15"/>
          <p:cNvSpPr/>
          <p:nvPr/>
        </p:nvSpPr>
        <p:spPr>
          <a:xfrm>
            <a:off x="208254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3 820</a:t>
            </a:r>
            <a:endParaRPr lang="en-US" sz="900" dirty="0"/>
          </a:p>
        </p:txBody>
      </p:sp>
      <p:sp>
        <p:nvSpPr>
          <p:cNvPr id="18" name="Text 16"/>
          <p:cNvSpPr/>
          <p:nvPr/>
        </p:nvSpPr>
        <p:spPr>
          <a:xfrm>
            <a:off x="357987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19" name="Text 17"/>
          <p:cNvSpPr/>
          <p:nvPr/>
        </p:nvSpPr>
        <p:spPr>
          <a:xfrm>
            <a:off x="507720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 / Plastiques</a:t>
            </a:r>
            <a:endParaRPr lang="en-US" sz="90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WESTAFRICA LOG. CI</a:t>
            </a:r>
            <a:endParaRPr lang="en-US" sz="900" dirty="0"/>
          </a:p>
        </p:txBody>
      </p:sp>
      <p:sp>
        <p:nvSpPr>
          <p:cNvPr id="23" name="Text 21"/>
          <p:cNvSpPr/>
          <p:nvPr/>
        </p:nvSpPr>
        <p:spPr>
          <a:xfrm>
            <a:off x="208254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3 410</a:t>
            </a:r>
            <a:endParaRPr lang="en-US" sz="900" dirty="0"/>
          </a:p>
        </p:txBody>
      </p:sp>
      <p:sp>
        <p:nvSpPr>
          <p:cNvPr id="24" name="Text 22"/>
          <p:cNvSpPr/>
          <p:nvPr/>
        </p:nvSpPr>
        <p:spPr>
          <a:xfrm>
            <a:off x="357987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1,8 %</a:t>
            </a:r>
            <a:endParaRPr lang="en-US" sz="900" dirty="0"/>
          </a:p>
        </p:txBody>
      </p:sp>
      <p:sp>
        <p:nvSpPr>
          <p:cNvPr id="25" name="Text 23"/>
          <p:cNvSpPr/>
          <p:nvPr/>
        </p:nvSpPr>
        <p:spPr>
          <a:xfrm>
            <a:off x="507720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TRANSIT RAPID</a:t>
            </a:r>
            <a:endParaRPr lang="en-US" sz="900" dirty="0"/>
          </a:p>
        </p:txBody>
      </p:sp>
      <p:sp>
        <p:nvSpPr>
          <p:cNvPr id="29" name="Text 27"/>
          <p:cNvSpPr/>
          <p:nvPr/>
        </p:nvSpPr>
        <p:spPr>
          <a:xfrm>
            <a:off x="208254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3 180</a:t>
            </a:r>
            <a:endParaRPr lang="en-US" sz="900" dirty="0"/>
          </a:p>
        </p:txBody>
      </p:sp>
      <p:sp>
        <p:nvSpPr>
          <p:cNvPr id="30" name="Text 28"/>
          <p:cNvSpPr/>
          <p:nvPr/>
        </p:nvSpPr>
        <p:spPr>
          <a:xfrm>
            <a:off x="357987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507720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Chimie / Pharma</a:t>
            </a:r>
            <a:endParaRPr lang="en-US" sz="90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5161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5" name="Text 33"/>
          <p:cNvSpPr/>
          <p:nvPr/>
        </p:nvSpPr>
        <p:spPr>
          <a:xfrm>
            <a:off x="208254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2 950</a:t>
            </a:r>
            <a:endParaRPr lang="en-US" sz="900" dirty="0"/>
          </a:p>
        </p:txBody>
      </p:sp>
      <p:sp>
        <p:nvSpPr>
          <p:cNvPr id="36" name="Text 34"/>
          <p:cNvSpPr/>
          <p:nvPr/>
        </p:nvSpPr>
        <p:spPr>
          <a:xfrm>
            <a:off x="357987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a:t>
            </a:r>
            <a:endParaRPr lang="en-US" sz="900" dirty="0"/>
          </a:p>
        </p:txBody>
      </p:sp>
      <p:sp>
        <p:nvSpPr>
          <p:cNvPr id="37" name="Text 35"/>
          <p:cNvSpPr/>
          <p:nvPr/>
        </p:nvSpPr>
        <p:spPr>
          <a:xfrm>
            <a:off x="5077206" y="2432304"/>
            <a:ext cx="145161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Multi-segments</a:t>
            </a:r>
            <a:endParaRPr lang="en-US" sz="90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a:t>
            </a:r>
            <a:endParaRPr lang="en-US" sz="900" dirty="0"/>
          </a:p>
        </p:txBody>
      </p:sp>
      <p:sp>
        <p:nvSpPr>
          <p:cNvPr id="40" name="Text 38"/>
          <p:cNvSpPr/>
          <p:nvPr/>
        </p:nvSpPr>
        <p:spPr>
          <a:xfrm>
            <a:off x="585216" y="2688336"/>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SOCOPHAR TRANSIT</a:t>
            </a:r>
            <a:endParaRPr lang="en-US" sz="900" dirty="0"/>
          </a:p>
        </p:txBody>
      </p:sp>
      <p:sp>
        <p:nvSpPr>
          <p:cNvPr id="41" name="Text 39"/>
          <p:cNvSpPr/>
          <p:nvPr/>
        </p:nvSpPr>
        <p:spPr>
          <a:xfrm>
            <a:off x="208254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2 640</a:t>
            </a:r>
            <a:endParaRPr lang="en-US" sz="900" dirty="0"/>
          </a:p>
        </p:txBody>
      </p:sp>
      <p:sp>
        <p:nvSpPr>
          <p:cNvPr id="42" name="Text 40"/>
          <p:cNvSpPr/>
          <p:nvPr/>
        </p:nvSpPr>
        <p:spPr>
          <a:xfrm>
            <a:off x="357987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43" name="Text 41"/>
          <p:cNvSpPr/>
          <p:nvPr/>
        </p:nvSpPr>
        <p:spPr>
          <a:xfrm>
            <a:off x="507720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7" name="Text 45"/>
          <p:cNvSpPr/>
          <p:nvPr/>
        </p:nvSpPr>
        <p:spPr>
          <a:xfrm>
            <a:off x="585216" y="3127248"/>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8" name="Text 46"/>
          <p:cNvSpPr/>
          <p:nvPr/>
        </p:nvSpPr>
        <p:spPr>
          <a:xfrm>
            <a:off x="258165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Secteur</a:t>
            </a:r>
            <a:endParaRPr lang="en-US" sz="900" dirty="0"/>
          </a:p>
        </p:txBody>
      </p:sp>
      <p:sp>
        <p:nvSpPr>
          <p:cNvPr id="49" name="Text 47"/>
          <p:cNvSpPr/>
          <p:nvPr/>
        </p:nvSpPr>
        <p:spPr>
          <a:xfrm>
            <a:off x="457809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ORANGE CI (équipements)</a:t>
            </a:r>
            <a:endParaRPr lang="en-US" sz="900" dirty="0"/>
          </a:p>
        </p:txBody>
      </p:sp>
      <p:sp>
        <p:nvSpPr>
          <p:cNvPr id="52" name="Text 50"/>
          <p:cNvSpPr/>
          <p:nvPr/>
        </p:nvSpPr>
        <p:spPr>
          <a:xfrm>
            <a:off x="585216" y="3383280"/>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680</a:t>
            </a:r>
            <a:endParaRPr lang="en-US" sz="900" dirty="0"/>
          </a:p>
        </p:txBody>
      </p:sp>
      <p:sp>
        <p:nvSpPr>
          <p:cNvPr id="53" name="Text 51"/>
          <p:cNvSpPr/>
          <p:nvPr/>
        </p:nvSpPr>
        <p:spPr>
          <a:xfrm>
            <a:off x="2581656" y="338328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4" name="Text 52"/>
          <p:cNvSpPr/>
          <p:nvPr/>
        </p:nvSpPr>
        <p:spPr>
          <a:xfrm>
            <a:off x="4578096" y="3383280"/>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CI</a:t>
            </a:r>
            <a:endParaRPr lang="en-US" sz="900" dirty="0"/>
          </a:p>
        </p:txBody>
      </p:sp>
      <p:sp>
        <p:nvSpPr>
          <p:cNvPr id="57" name="Text 55"/>
          <p:cNvSpPr/>
          <p:nvPr/>
        </p:nvSpPr>
        <p:spPr>
          <a:xfrm>
            <a:off x="585216" y="363931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420</a:t>
            </a:r>
            <a:endParaRPr lang="en-US" sz="900" dirty="0"/>
          </a:p>
        </p:txBody>
      </p:sp>
      <p:sp>
        <p:nvSpPr>
          <p:cNvPr id="58" name="Text 56"/>
          <p:cNvSpPr/>
          <p:nvPr/>
        </p:nvSpPr>
        <p:spPr>
          <a:xfrm>
            <a:off x="258165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industriel</a:t>
            </a:r>
            <a:endParaRPr lang="en-US" sz="900" dirty="0"/>
          </a:p>
        </p:txBody>
      </p:sp>
      <p:sp>
        <p:nvSpPr>
          <p:cNvPr id="59" name="Text 57"/>
          <p:cNvSpPr/>
          <p:nvPr/>
        </p:nvSpPr>
        <p:spPr>
          <a:xfrm>
            <a:off x="457809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2" name="Text 60"/>
          <p:cNvSpPr/>
          <p:nvPr/>
        </p:nvSpPr>
        <p:spPr>
          <a:xfrm>
            <a:off x="585216" y="389534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63" name="Text 61"/>
          <p:cNvSpPr/>
          <p:nvPr/>
        </p:nvSpPr>
        <p:spPr>
          <a:xfrm>
            <a:off x="258165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4" name="Text 62"/>
          <p:cNvSpPr/>
          <p:nvPr/>
        </p:nvSpPr>
        <p:spPr>
          <a:xfrm>
            <a:off x="457809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RE</a:t>
            </a:r>
            <a:endParaRPr lang="en-US" sz="900" dirty="0"/>
          </a:p>
        </p:txBody>
      </p:sp>
      <p:sp>
        <p:nvSpPr>
          <p:cNvPr id="67" name="Text 65"/>
          <p:cNvSpPr/>
          <p:nvPr/>
        </p:nvSpPr>
        <p:spPr>
          <a:xfrm>
            <a:off x="585216" y="415137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290</a:t>
            </a:r>
            <a:endParaRPr lang="en-US" sz="900" dirty="0"/>
          </a:p>
        </p:txBody>
      </p:sp>
      <p:sp>
        <p:nvSpPr>
          <p:cNvPr id="68" name="Text 66"/>
          <p:cNvSpPr/>
          <p:nvPr/>
        </p:nvSpPr>
        <p:spPr>
          <a:xfrm>
            <a:off x="258165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Services</a:t>
            </a:r>
            <a:endParaRPr lang="en-US" sz="900" dirty="0"/>
          </a:p>
        </p:txBody>
      </p:sp>
      <p:sp>
        <p:nvSpPr>
          <p:cNvPr id="69" name="Text 67"/>
          <p:cNvSpPr/>
          <p:nvPr/>
        </p:nvSpPr>
        <p:spPr>
          <a:xfrm>
            <a:off x="457809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72" name="Text 70"/>
          <p:cNvSpPr/>
          <p:nvPr/>
        </p:nvSpPr>
        <p:spPr>
          <a:xfrm>
            <a:off x="585216" y="440740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245</a:t>
            </a:r>
            <a:endParaRPr lang="en-US" sz="900" dirty="0"/>
          </a:p>
        </p:txBody>
      </p:sp>
      <p:sp>
        <p:nvSpPr>
          <p:cNvPr id="73" name="Text 71"/>
          <p:cNvSpPr/>
          <p:nvPr/>
        </p:nvSpPr>
        <p:spPr>
          <a:xfrm>
            <a:off x="258165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74" name="Text 72"/>
          <p:cNvSpPr/>
          <p:nvPr/>
        </p:nvSpPr>
        <p:spPr>
          <a:xfrm>
            <a:off x="457809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30.3%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129375"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433571"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28.8%</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137825"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25.3%</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9843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20.1%</a:t>
            </a:r>
            <a:endParaRPr lang="en-US" sz="12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51" name="Text 49"/>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52" name="Text 50"/>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53" name="Text 51"/>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56" name="Text 54"/>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57" name="Text 55"/>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35 972</a:t>
            </a:r>
            <a:endParaRPr lang="en-US" sz="900" dirty="0"/>
          </a:p>
        </p:txBody>
      </p:sp>
      <p:sp>
        <p:nvSpPr>
          <p:cNvPr id="58" name="Text 56"/>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26,2 %</a:t>
            </a:r>
            <a:endParaRPr lang="en-US" sz="90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61" name="Text 59"/>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62" name="Text 60"/>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7 730</a:t>
            </a:r>
            <a:endParaRPr lang="en-US" sz="900" dirty="0"/>
          </a:p>
        </p:txBody>
      </p:sp>
      <p:sp>
        <p:nvSpPr>
          <p:cNvPr id="63" name="Text 61"/>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6" name="Text 64"/>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MANTRA IVOIRE</a:t>
            </a:r>
            <a:endParaRPr lang="en-US" sz="900" dirty="0"/>
          </a:p>
        </p:txBody>
      </p:sp>
      <p:sp>
        <p:nvSpPr>
          <p:cNvPr id="67" name="Text 65"/>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7 671</a:t>
            </a:r>
            <a:endParaRPr lang="en-US" sz="900" dirty="0"/>
          </a:p>
        </p:txBody>
      </p:sp>
      <p:sp>
        <p:nvSpPr>
          <p:cNvPr id="68" name="Text 66"/>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71" name="Text 69"/>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72" name="Text 70"/>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5 893</a:t>
            </a:r>
            <a:endParaRPr lang="en-US" sz="900" dirty="0"/>
          </a:p>
        </p:txBody>
      </p:sp>
      <p:sp>
        <p:nvSpPr>
          <p:cNvPr id="73" name="Text 71"/>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4,3 %</a:t>
            </a:r>
            <a:endParaRPr lang="en-US" sz="90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76" name="Text 74"/>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OTL</a:t>
            </a:r>
            <a:endParaRPr lang="en-US" sz="900" dirty="0"/>
          </a:p>
        </p:txBody>
      </p:sp>
      <p:sp>
        <p:nvSpPr>
          <p:cNvPr id="77" name="Text 75"/>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5 760</a:t>
            </a:r>
            <a:endParaRPr lang="en-US" sz="900" dirty="0"/>
          </a:p>
        </p:txBody>
      </p:sp>
      <p:sp>
        <p:nvSpPr>
          <p:cNvPr id="78" name="Text 76"/>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81" name="Text 79"/>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82" name="Text 80"/>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4 921</a:t>
            </a:r>
            <a:endParaRPr lang="en-US" sz="900" dirty="0"/>
          </a:p>
        </p:txBody>
      </p:sp>
      <p:sp>
        <p:nvSpPr>
          <p:cNvPr id="83" name="Text 81"/>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86" name="Text 84"/>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87" name="Text 85"/>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4 902</a:t>
            </a:r>
            <a:endParaRPr lang="en-US" sz="900" dirty="0"/>
          </a:p>
        </p:txBody>
      </p:sp>
      <p:sp>
        <p:nvSpPr>
          <p:cNvPr id="88" name="Text 86"/>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91" name="Text 89"/>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PACKING SERVICE INTL</a:t>
            </a:r>
            <a:endParaRPr lang="en-US" sz="900" dirty="0"/>
          </a:p>
        </p:txBody>
      </p:sp>
      <p:sp>
        <p:nvSpPr>
          <p:cNvPr id="92" name="Text 90"/>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4 411</a:t>
            </a:r>
            <a:endParaRPr lang="en-US" sz="900" dirty="0"/>
          </a:p>
        </p:txBody>
      </p:sp>
      <p:sp>
        <p:nvSpPr>
          <p:cNvPr id="93" name="Text 91"/>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96" name="Text 94"/>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MOVIS TRANSIT CI</a:t>
            </a:r>
            <a:endParaRPr lang="en-US" sz="900" dirty="0"/>
          </a:p>
        </p:txBody>
      </p:sp>
      <p:sp>
        <p:nvSpPr>
          <p:cNvPr id="97" name="Text 95"/>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4 067</a:t>
            </a:r>
            <a:endParaRPr lang="en-US" sz="900" dirty="0"/>
          </a:p>
        </p:txBody>
      </p:sp>
      <p:sp>
        <p:nvSpPr>
          <p:cNvPr id="98" name="Text 96"/>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01" name="Text 99"/>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102" name="Text 100"/>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4 010</a:t>
            </a:r>
            <a:endParaRPr lang="en-US" sz="900" dirty="0"/>
          </a:p>
        </p:txBody>
      </p:sp>
      <p:sp>
        <p:nvSpPr>
          <p:cNvPr id="103" name="Text 101"/>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CARGILL WEST AFRICA (CACAO)</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3 219</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9,0%</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JEAN EGLIN (PLANTATION)</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2 500</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6,9%</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SOURCING PRODUCE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2 425</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CARGILL COCOA SA (DÉRIVÉS)</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2 264</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Dérivés cacao</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CYRIAN INTERNATIONAL CI</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2 191</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COCOA PROCESSING</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2 068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5,7%</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KINEDEN COMMODITIES SA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1 256</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AGRI RUBBER</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1 203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SAPH</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1 155</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IVOIRE COTON</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1 092</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a:t>
            </a:r>
            <a:endParaRPr lang="en-US" sz="90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CI-ÉNERGIES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890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 GROUP</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760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Mangue / Fruits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COOPERX CAJOU CI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Noix de Cajou</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SECO INDUSTRIE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520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 usiné</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PALM</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16.4%</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608006"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10.3%</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202101" cy="201168"/>
          </a:xfrm>
          <a:prstGeom prst="rect">
            <a:avLst/>
          </a:prstGeom>
          <a:solidFill>
            <a:srgbClr val="E05A00"/>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7.7%</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1670453" cy="201168"/>
          </a:xfrm>
          <a:prstGeom prst="rect">
            <a:avLst/>
          </a:prstGeom>
          <a:solidFill>
            <a:srgbClr val="E05A00"/>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10.7%</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86064"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10.8%</a:t>
            </a:r>
            <a:endParaRPr lang="en-US" sz="12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UNION CENTER TRANSIT CI</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7 559</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26,6 %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SITRACOM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7 208</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25,3 %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AFRICA GLOBAL LOGISTICS</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3 214</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11,3 %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ECOTRAM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1 249</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1 062</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3,7 %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FM GENERAL SERVICES</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955</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EBURNEENE LOG. TRANSIT.</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928</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SOCOCIB TRANSIT</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886</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3,1 %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855</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SUCRE</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2 701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246888" cy="164592"/>
          </a:xfrm>
          <a:prstGeom prst="rect">
            <a:avLst/>
          </a:prstGeom>
          <a:solidFill>
            <a:srgbClr val="CC22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THÉ ALIMENTAIRE</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928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1 296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MOTOS &amp; BICYCLETTES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1 172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0589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3682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48843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494004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0589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SAHEL TRANSIT</a:t>
            </a:r>
            <a:endParaRPr lang="en-US" sz="900" dirty="0"/>
          </a:p>
        </p:txBody>
      </p:sp>
      <p:sp>
        <p:nvSpPr>
          <p:cNvPr id="17" name="Text 15"/>
          <p:cNvSpPr/>
          <p:nvPr/>
        </p:nvSpPr>
        <p:spPr>
          <a:xfrm>
            <a:off x="203682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620</a:t>
            </a:r>
            <a:endParaRPr lang="en-US" sz="900" dirty="0"/>
          </a:p>
        </p:txBody>
      </p:sp>
      <p:sp>
        <p:nvSpPr>
          <p:cNvPr id="18" name="Text 16"/>
          <p:cNvSpPr/>
          <p:nvPr/>
        </p:nvSpPr>
        <p:spPr>
          <a:xfrm>
            <a:off x="348843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2,2 %</a:t>
            </a:r>
            <a:endParaRPr lang="en-US" sz="900" dirty="0"/>
          </a:p>
        </p:txBody>
      </p:sp>
      <p:sp>
        <p:nvSpPr>
          <p:cNvPr id="19" name="Text 17"/>
          <p:cNvSpPr/>
          <p:nvPr/>
        </p:nvSpPr>
        <p:spPr>
          <a:xfrm>
            <a:off x="4940046" y="1664208"/>
            <a:ext cx="140589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Sucre / Alimentaire</a:t>
            </a:r>
            <a:endParaRPr lang="en-US" sz="90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BURKINATRANS</a:t>
            </a:r>
            <a:endParaRPr lang="en-US" sz="900" dirty="0"/>
          </a:p>
        </p:txBody>
      </p:sp>
      <p:sp>
        <p:nvSpPr>
          <p:cNvPr id="23" name="Text 21"/>
          <p:cNvSpPr/>
          <p:nvPr/>
        </p:nvSpPr>
        <p:spPr>
          <a:xfrm>
            <a:off x="203682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580</a:t>
            </a:r>
            <a:endParaRPr lang="en-US" sz="900" dirty="0"/>
          </a:p>
        </p:txBody>
      </p:sp>
      <p:sp>
        <p:nvSpPr>
          <p:cNvPr id="24" name="Text 22"/>
          <p:cNvSpPr/>
          <p:nvPr/>
        </p:nvSpPr>
        <p:spPr>
          <a:xfrm>
            <a:off x="348843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25" name="Text 23"/>
          <p:cNvSpPr/>
          <p:nvPr/>
        </p:nvSpPr>
        <p:spPr>
          <a:xfrm>
            <a:off x="494004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BTP Burkina</a:t>
            </a:r>
            <a:endParaRPr lang="en-US" sz="90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TRANS-SAHEL LOG.</a:t>
            </a:r>
            <a:endParaRPr lang="en-US" sz="900" dirty="0"/>
          </a:p>
        </p:txBody>
      </p:sp>
      <p:sp>
        <p:nvSpPr>
          <p:cNvPr id="29" name="Text 27"/>
          <p:cNvSpPr/>
          <p:nvPr/>
        </p:nvSpPr>
        <p:spPr>
          <a:xfrm>
            <a:off x="203682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450</a:t>
            </a:r>
            <a:endParaRPr lang="en-US" sz="900" dirty="0"/>
          </a:p>
        </p:txBody>
      </p:sp>
      <p:sp>
        <p:nvSpPr>
          <p:cNvPr id="30" name="Text 28"/>
          <p:cNvSpPr/>
          <p:nvPr/>
        </p:nvSpPr>
        <p:spPr>
          <a:xfrm>
            <a:off x="348843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494004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KARAMOKOTRAKRANSIT</a:t>
            </a:r>
            <a:endParaRPr lang="en-US" sz="900" dirty="0"/>
          </a:p>
        </p:txBody>
      </p:sp>
      <p:sp>
        <p:nvSpPr>
          <p:cNvPr id="35" name="Text 33"/>
          <p:cNvSpPr/>
          <p:nvPr/>
        </p:nvSpPr>
        <p:spPr>
          <a:xfrm>
            <a:off x="203682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36" name="Text 34"/>
          <p:cNvSpPr/>
          <p:nvPr/>
        </p:nvSpPr>
        <p:spPr>
          <a:xfrm>
            <a:off x="348843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a:t>
            </a:r>
            <a:endParaRPr lang="en-US" sz="900" dirty="0"/>
          </a:p>
        </p:txBody>
      </p:sp>
      <p:sp>
        <p:nvSpPr>
          <p:cNvPr id="37" name="Text 35"/>
          <p:cNvSpPr/>
          <p:nvPr/>
        </p:nvSpPr>
        <p:spPr>
          <a:xfrm>
            <a:off x="494004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Alimentation</a:t>
            </a:r>
            <a:endParaRPr lang="en-US" sz="90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1" name="Text 39"/>
          <p:cNvSpPr/>
          <p:nvPr/>
        </p:nvSpPr>
        <p:spPr>
          <a:xfrm>
            <a:off x="585216" y="305409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2" name="Text 40"/>
          <p:cNvSpPr/>
          <p:nvPr/>
        </p:nvSpPr>
        <p:spPr>
          <a:xfrm>
            <a:off x="252069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Destination</a:t>
            </a:r>
            <a:endParaRPr lang="en-US" sz="900" dirty="0"/>
          </a:p>
        </p:txBody>
      </p:sp>
      <p:sp>
        <p:nvSpPr>
          <p:cNvPr id="43" name="Text 41"/>
          <p:cNvSpPr/>
          <p:nvPr/>
        </p:nvSpPr>
        <p:spPr>
          <a:xfrm>
            <a:off x="445617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SOFAO BF (alimentaire)</a:t>
            </a:r>
            <a:endParaRPr lang="en-US" sz="900" dirty="0"/>
          </a:p>
        </p:txBody>
      </p:sp>
      <p:sp>
        <p:nvSpPr>
          <p:cNvPr id="46" name="Text 44"/>
          <p:cNvSpPr/>
          <p:nvPr/>
        </p:nvSpPr>
        <p:spPr>
          <a:xfrm>
            <a:off x="585216" y="331012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926</a:t>
            </a:r>
            <a:endParaRPr lang="en-US" sz="900" dirty="0"/>
          </a:p>
        </p:txBody>
      </p:sp>
      <p:sp>
        <p:nvSpPr>
          <p:cNvPr id="47" name="Text 45"/>
          <p:cNvSpPr/>
          <p:nvPr/>
        </p:nvSpPr>
        <p:spPr>
          <a:xfrm>
            <a:off x="2520696" y="331012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48" name="Text 46"/>
          <p:cNvSpPr/>
          <p:nvPr/>
        </p:nvSpPr>
        <p:spPr>
          <a:xfrm>
            <a:off x="4456176" y="331012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BRAKINA (boissons)</a:t>
            </a:r>
            <a:endParaRPr lang="en-US" sz="900" dirty="0"/>
          </a:p>
        </p:txBody>
      </p:sp>
      <p:sp>
        <p:nvSpPr>
          <p:cNvPr id="51" name="Text 49"/>
          <p:cNvSpPr/>
          <p:nvPr/>
        </p:nvSpPr>
        <p:spPr>
          <a:xfrm>
            <a:off x="585216" y="356616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552</a:t>
            </a:r>
            <a:endParaRPr lang="en-US" sz="900" dirty="0"/>
          </a:p>
        </p:txBody>
      </p:sp>
      <p:sp>
        <p:nvSpPr>
          <p:cNvPr id="52" name="Text 50"/>
          <p:cNvSpPr/>
          <p:nvPr/>
        </p:nvSpPr>
        <p:spPr>
          <a:xfrm>
            <a:off x="252069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Bobo-Dioulasso</a:t>
            </a:r>
            <a:endParaRPr lang="en-US" sz="900" dirty="0"/>
          </a:p>
        </p:txBody>
      </p:sp>
      <p:sp>
        <p:nvSpPr>
          <p:cNvPr id="53" name="Text 51"/>
          <p:cNvSpPr/>
          <p:nvPr/>
        </p:nvSpPr>
        <p:spPr>
          <a:xfrm>
            <a:off x="445617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CODIMEX BF (emballages)</a:t>
            </a:r>
            <a:endParaRPr lang="en-US" sz="900" dirty="0"/>
          </a:p>
        </p:txBody>
      </p:sp>
      <p:sp>
        <p:nvSpPr>
          <p:cNvPr id="56" name="Text 54"/>
          <p:cNvSpPr/>
          <p:nvPr/>
        </p:nvSpPr>
        <p:spPr>
          <a:xfrm>
            <a:off x="585216" y="382219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461</a:t>
            </a:r>
            <a:endParaRPr lang="en-US" sz="900" dirty="0"/>
          </a:p>
        </p:txBody>
      </p:sp>
      <p:sp>
        <p:nvSpPr>
          <p:cNvPr id="57" name="Text 55"/>
          <p:cNvSpPr/>
          <p:nvPr/>
        </p:nvSpPr>
        <p:spPr>
          <a:xfrm>
            <a:off x="252069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58" name="Text 56"/>
          <p:cNvSpPr/>
          <p:nvPr/>
        </p:nvSpPr>
        <p:spPr>
          <a:xfrm>
            <a:off x="445617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ML</a:t>
            </a:r>
            <a:endParaRPr lang="en-US" sz="900" dirty="0"/>
          </a:p>
        </p:txBody>
      </p:sp>
      <p:sp>
        <p:nvSpPr>
          <p:cNvPr id="61" name="Text 59"/>
          <p:cNvSpPr/>
          <p:nvPr/>
        </p:nvSpPr>
        <p:spPr>
          <a:xfrm>
            <a:off x="585216" y="407822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390</a:t>
            </a:r>
            <a:endParaRPr lang="en-US" sz="900" dirty="0"/>
          </a:p>
        </p:txBody>
      </p:sp>
      <p:sp>
        <p:nvSpPr>
          <p:cNvPr id="62" name="Text 60"/>
          <p:cNvSpPr/>
          <p:nvPr/>
        </p:nvSpPr>
        <p:spPr>
          <a:xfrm>
            <a:off x="252069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Bamako</a:t>
            </a:r>
            <a:endParaRPr lang="en-US" sz="900" dirty="0"/>
          </a:p>
        </p:txBody>
      </p:sp>
      <p:sp>
        <p:nvSpPr>
          <p:cNvPr id="63" name="Text 61"/>
          <p:cNvSpPr/>
          <p:nvPr/>
        </p:nvSpPr>
        <p:spPr>
          <a:xfrm>
            <a:off x="445617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ONATEL BF (télécoms)</a:t>
            </a:r>
            <a:endParaRPr lang="en-US" sz="900" dirty="0"/>
          </a:p>
        </p:txBody>
      </p:sp>
      <p:sp>
        <p:nvSpPr>
          <p:cNvPr id="66" name="Text 64"/>
          <p:cNvSpPr/>
          <p:nvPr/>
        </p:nvSpPr>
        <p:spPr>
          <a:xfrm>
            <a:off x="585216" y="433425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a:t>
            </a:r>
            <a:endParaRPr lang="en-US" sz="900" dirty="0"/>
          </a:p>
        </p:txBody>
      </p:sp>
      <p:sp>
        <p:nvSpPr>
          <p:cNvPr id="67" name="Text 65"/>
          <p:cNvSpPr/>
          <p:nvPr/>
        </p:nvSpPr>
        <p:spPr>
          <a:xfrm>
            <a:off x="252069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68" name="Text 66"/>
          <p:cNvSpPr/>
          <p:nvPr/>
        </p:nvSpPr>
        <p:spPr>
          <a:xfrm>
            <a:off x="445617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1780634"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50.7%</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560320"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72.9%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525199"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71.9%</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9173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68.1%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99136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56.7%</a:t>
            </a:r>
            <a:endParaRPr lang="en-US" sz="12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IVOIRE COTON EXPORT</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280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 BURKINA SUD</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195</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SODECOTON ML (Mali)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OIL PALM CI EXPORT</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36" name="Text 34"/>
          <p:cNvSpPr/>
          <p:nvPr/>
        </p:nvSpPr>
        <p:spPr>
          <a:xfrm>
            <a:off x="585216" y="3374136"/>
            <a:ext cx="285750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37" name="Text 35"/>
          <p:cNvSpPr/>
          <p:nvPr/>
        </p:nvSpPr>
        <p:spPr>
          <a:xfrm>
            <a:off x="3488436" y="3374136"/>
            <a:ext cx="28575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Portefeuille</a:t>
            </a:r>
            <a:endParaRPr lang="en-US" sz="90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SOFITEX</a:t>
            </a:r>
            <a:endParaRPr lang="en-US" sz="900" dirty="0"/>
          </a:p>
        </p:txBody>
      </p:sp>
      <p:sp>
        <p:nvSpPr>
          <p:cNvPr id="40" name="Text 38"/>
          <p:cNvSpPr/>
          <p:nvPr/>
        </p:nvSpPr>
        <p:spPr>
          <a:xfrm>
            <a:off x="585216" y="3630168"/>
            <a:ext cx="285750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1 492</a:t>
            </a:r>
            <a:endParaRPr lang="en-US" sz="900" dirty="0"/>
          </a:p>
        </p:txBody>
      </p:sp>
      <p:sp>
        <p:nvSpPr>
          <p:cNvPr id="41" name="Text 39"/>
          <p:cNvSpPr/>
          <p:nvPr/>
        </p:nvSpPr>
        <p:spPr>
          <a:xfrm>
            <a:off x="3488436" y="3630168"/>
            <a:ext cx="285750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52,5 %</a:t>
            </a:r>
            <a:endParaRPr lang="en-US" sz="90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CMDT Bamako</a:t>
            </a:r>
            <a:endParaRPr lang="en-US" sz="900" dirty="0"/>
          </a:p>
        </p:txBody>
      </p:sp>
      <p:sp>
        <p:nvSpPr>
          <p:cNvPr id="44" name="Text 42"/>
          <p:cNvSpPr/>
          <p:nvPr/>
        </p:nvSpPr>
        <p:spPr>
          <a:xfrm>
            <a:off x="585216" y="3886200"/>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1 010</a:t>
            </a:r>
            <a:endParaRPr lang="en-US" sz="900" dirty="0"/>
          </a:p>
        </p:txBody>
      </p:sp>
      <p:sp>
        <p:nvSpPr>
          <p:cNvPr id="45" name="Text 43"/>
          <p:cNvSpPr/>
          <p:nvPr/>
        </p:nvSpPr>
        <p:spPr>
          <a:xfrm>
            <a:off x="3488436" y="3886200"/>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35,6 %</a:t>
            </a:r>
            <a:endParaRPr lang="en-US" sz="90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SAGROCOM BF</a:t>
            </a:r>
            <a:endParaRPr lang="en-US" sz="900" dirty="0"/>
          </a:p>
        </p:txBody>
      </p:sp>
      <p:sp>
        <p:nvSpPr>
          <p:cNvPr id="48" name="Text 46"/>
          <p:cNvSpPr/>
          <p:nvPr/>
        </p:nvSpPr>
        <p:spPr>
          <a:xfrm>
            <a:off x="585216" y="4142232"/>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49" name="Text 47"/>
          <p:cNvSpPr/>
          <p:nvPr/>
        </p:nvSpPr>
        <p:spPr>
          <a:xfrm>
            <a:off x="3488436" y="4142232"/>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8,8 %</a:t>
            </a:r>
            <a:endParaRPr lang="en-US" sz="90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894471"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10.9%</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247335"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838178"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22.4%</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0592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56032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31.2%</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2025</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OEUFS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1 483 700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1 883 317</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+26,9%</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149 783</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255 984</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280 991</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337 882</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BILLETS DE BANQUE</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268 210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330 706</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+23,3%</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113 602</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ÉLECTRIQUE</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64 622</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1 181 203</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942 926</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PRODUITS CHIMIQUES</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207 323</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189 901</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FRUITS &amp; LÉGUMES</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154 253</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115 798</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66" name="Text 64"/>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67" name="Text 65"/>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68" name="Text 66"/>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72" name="Text 70"/>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1 165 994</a:t>
            </a:r>
            <a:endParaRPr lang="en-US" sz="900" dirty="0"/>
          </a:p>
        </p:txBody>
      </p:sp>
      <p:sp>
        <p:nvSpPr>
          <p:cNvPr id="73" name="Text 71"/>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20,8 %</a:t>
            </a:r>
            <a:endParaRPr lang="en-US" sz="90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76" name="Text 74"/>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OSMOZ AFRICA</a:t>
            </a:r>
            <a:endParaRPr lang="en-US" sz="900" dirty="0"/>
          </a:p>
        </p:txBody>
      </p:sp>
      <p:sp>
        <p:nvSpPr>
          <p:cNvPr id="77" name="Text 75"/>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525 506</a:t>
            </a:r>
            <a:endParaRPr lang="en-US" sz="900" dirty="0"/>
          </a:p>
        </p:txBody>
      </p:sp>
      <p:sp>
        <p:nvSpPr>
          <p:cNvPr id="78" name="Text 76"/>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9,4 %</a:t>
            </a:r>
            <a:endParaRPr lang="en-US" sz="90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81" name="Text 79"/>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82" name="Text 80"/>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468 097</a:t>
            </a:r>
            <a:endParaRPr lang="en-US" sz="900" dirty="0"/>
          </a:p>
        </p:txBody>
      </p:sp>
      <p:sp>
        <p:nvSpPr>
          <p:cNvPr id="83" name="Text 81"/>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8,4 %</a:t>
            </a:r>
            <a:endParaRPr lang="en-US" sz="90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86" name="Text 84"/>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INTL TRANSIT</a:t>
            </a:r>
            <a:endParaRPr lang="en-US" sz="900" dirty="0"/>
          </a:p>
        </p:txBody>
      </p:sp>
      <p:sp>
        <p:nvSpPr>
          <p:cNvPr id="87" name="Text 85"/>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333 558</a:t>
            </a:r>
            <a:endParaRPr lang="en-US" sz="900" dirty="0"/>
          </a:p>
        </p:txBody>
      </p:sp>
      <p:sp>
        <p:nvSpPr>
          <p:cNvPr id="88" name="Text 86"/>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6,0 %</a:t>
            </a:r>
            <a:endParaRPr lang="en-US" sz="90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MANUEL</a:t>
            </a:r>
            <a:endParaRPr lang="en-US" sz="900" dirty="0"/>
          </a:p>
        </p:txBody>
      </p:sp>
      <p:sp>
        <p:nvSpPr>
          <p:cNvPr id="92" name="Text 90"/>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292 408</a:t>
            </a:r>
            <a:endParaRPr lang="en-US" sz="900" dirty="0"/>
          </a:p>
        </p:txBody>
      </p:sp>
      <p:sp>
        <p:nvSpPr>
          <p:cNvPr id="93" name="Text 91"/>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5,2 %</a:t>
            </a:r>
            <a:endParaRPr lang="en-US" sz="90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96" name="Text 94"/>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TRANSIT-COSS</a:t>
            </a:r>
            <a:endParaRPr lang="en-US" sz="900" dirty="0"/>
          </a:p>
        </p:txBody>
      </p:sp>
      <p:sp>
        <p:nvSpPr>
          <p:cNvPr id="97" name="Text 95"/>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274 613</a:t>
            </a:r>
            <a:endParaRPr lang="en-US" sz="900" dirty="0"/>
          </a:p>
        </p:txBody>
      </p:sp>
      <p:sp>
        <p:nvSpPr>
          <p:cNvPr id="98" name="Text 96"/>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101" name="Text 99"/>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HANNYYAH ET SAID</a:t>
            </a:r>
            <a:endParaRPr lang="en-US" sz="900" dirty="0"/>
          </a:p>
        </p:txBody>
      </p:sp>
      <p:sp>
        <p:nvSpPr>
          <p:cNvPr id="102" name="Text 100"/>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a:t>
            </a:r>
            <a:endParaRPr lang="en-US" sz="900" dirty="0"/>
          </a:p>
        </p:txBody>
      </p:sp>
      <p:sp>
        <p:nvSpPr>
          <p:cNvPr id="103" name="Text 101"/>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106" name="Text 104"/>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DHL</a:t>
            </a:r>
            <a:endParaRPr lang="en-US" sz="900" dirty="0"/>
          </a:p>
        </p:txBody>
      </p:sp>
      <p:sp>
        <p:nvSpPr>
          <p:cNvPr id="107" name="Text 105"/>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217 874</a:t>
            </a:r>
            <a:endParaRPr lang="en-US" sz="900" dirty="0"/>
          </a:p>
        </p:txBody>
      </p:sp>
      <p:sp>
        <p:nvSpPr>
          <p:cNvPr id="108" name="Text 106"/>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3,9 %</a:t>
            </a:r>
            <a:endParaRPr lang="en-US" sz="90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111" name="Text 109"/>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INTL LOGISTICS SA</a:t>
            </a:r>
            <a:endParaRPr lang="en-US" sz="900" dirty="0"/>
          </a:p>
        </p:txBody>
      </p:sp>
      <p:sp>
        <p:nvSpPr>
          <p:cNvPr id="112" name="Text 110"/>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187 906</a:t>
            </a:r>
            <a:endParaRPr lang="en-US" sz="900" dirty="0"/>
          </a:p>
        </p:txBody>
      </p:sp>
      <p:sp>
        <p:nvSpPr>
          <p:cNvPr id="113" name="Text 111"/>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16" name="Text 114"/>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PHENIX TRANSIT</a:t>
            </a:r>
            <a:endParaRPr lang="en-US" sz="900" dirty="0"/>
          </a:p>
        </p:txBody>
      </p:sp>
      <p:sp>
        <p:nvSpPr>
          <p:cNvPr id="117" name="Text 115"/>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133 527</a:t>
            </a:r>
            <a:endParaRPr lang="en-US" sz="900" dirty="0"/>
          </a:p>
        </p:txBody>
      </p:sp>
      <p:sp>
        <p:nvSpPr>
          <p:cNvPr id="118" name="Text 116"/>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2,4 %</a:t>
            </a:r>
            <a:endParaRPr lang="en-US" sz="90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308 596</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26,5%</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PROSUMA</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268 633</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Alimentaires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23,1%</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61 130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ORANGE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49 988</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CÔTE D'IVOIRE</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38 474</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SIFAAP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24 694</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Animal</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23 535</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ROCHE DIAGNOSTICS CI</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22 633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Labo.</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20 141</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1,7%</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18 721</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a:t>
            </a:r>
            <a:endParaRPr lang="en-US" sz="90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FRET INTER CI</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94 200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SOTRA FRET</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78 400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26" name="Text 24"/>
          <p:cNvSpPr/>
          <p:nvPr/>
        </p:nvSpPr>
        <p:spPr>
          <a:xfrm>
            <a:off x="585216" y="30083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2026 (kg)</a:t>
            </a:r>
            <a:endParaRPr lang="en-US" sz="900" dirty="0"/>
          </a:p>
        </p:txBody>
      </p:sp>
      <p:sp>
        <p:nvSpPr>
          <p:cNvPr id="27" name="Text 25"/>
          <p:cNvSpPr/>
          <p:nvPr/>
        </p:nvSpPr>
        <p:spPr>
          <a:xfrm>
            <a:off x="252069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 %</a:t>
            </a:r>
            <a:endParaRPr lang="en-US" sz="900" dirty="0"/>
          </a:p>
        </p:txBody>
      </p:sp>
      <p:sp>
        <p:nvSpPr>
          <p:cNvPr id="28" name="Text 26"/>
          <p:cNvSpPr/>
          <p:nvPr/>
        </p:nvSpPr>
        <p:spPr>
          <a:xfrm>
            <a:off x="445617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ŒUFS</a:t>
            </a:r>
            <a:endParaRPr lang="en-US" sz="900" dirty="0"/>
          </a:p>
        </p:txBody>
      </p:sp>
      <p:sp>
        <p:nvSpPr>
          <p:cNvPr id="31" name="Text 29"/>
          <p:cNvSpPr/>
          <p:nvPr/>
        </p:nvSpPr>
        <p:spPr>
          <a:xfrm>
            <a:off x="585216" y="32644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1 883 317</a:t>
            </a:r>
            <a:endParaRPr lang="en-US" sz="900" dirty="0"/>
          </a:p>
        </p:txBody>
      </p:sp>
      <p:sp>
        <p:nvSpPr>
          <p:cNvPr id="32" name="Text 30"/>
          <p:cNvSpPr/>
          <p:nvPr/>
        </p:nvSpPr>
        <p:spPr>
          <a:xfrm>
            <a:off x="2520696" y="32644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+26,9 %</a:t>
            </a:r>
            <a:endParaRPr lang="en-US" sz="900" dirty="0"/>
          </a:p>
        </p:txBody>
      </p:sp>
      <p:sp>
        <p:nvSpPr>
          <p:cNvPr id="33" name="Text 31"/>
          <p:cNvSpPr/>
          <p:nvPr/>
        </p:nvSpPr>
        <p:spPr>
          <a:xfrm>
            <a:off x="4456176" y="32644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1 %</a:t>
            </a:r>
            <a:endParaRPr lang="en-US" sz="90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36" name="Text 34"/>
          <p:cNvSpPr/>
          <p:nvPr/>
        </p:nvSpPr>
        <p:spPr>
          <a:xfrm>
            <a:off x="585216" y="35204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37" name="Text 35"/>
          <p:cNvSpPr/>
          <p:nvPr/>
        </p:nvSpPr>
        <p:spPr>
          <a:xfrm>
            <a:off x="252069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+244,3 %</a:t>
            </a:r>
            <a:endParaRPr lang="en-US" sz="900" dirty="0"/>
          </a:p>
        </p:txBody>
      </p:sp>
      <p:sp>
        <p:nvSpPr>
          <p:cNvPr id="38" name="Text 36"/>
          <p:cNvSpPr/>
          <p:nvPr/>
        </p:nvSpPr>
        <p:spPr>
          <a:xfrm>
            <a:off x="445617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61 %</a:t>
            </a:r>
            <a:endParaRPr lang="en-US" sz="90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41" name="Text 39"/>
          <p:cNvSpPr/>
          <p:nvPr/>
        </p:nvSpPr>
        <p:spPr>
          <a:xfrm>
            <a:off x="585216" y="37764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42" name="Text 40"/>
          <p:cNvSpPr/>
          <p:nvPr/>
        </p:nvSpPr>
        <p:spPr>
          <a:xfrm>
            <a:off x="252069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+90,2 %</a:t>
            </a:r>
            <a:endParaRPr lang="en-US" sz="900" dirty="0"/>
          </a:p>
        </p:txBody>
      </p:sp>
      <p:sp>
        <p:nvSpPr>
          <p:cNvPr id="43" name="Text 41"/>
          <p:cNvSpPr/>
          <p:nvPr/>
        </p:nvSpPr>
        <p:spPr>
          <a:xfrm>
            <a:off x="445617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6" name="Text 44"/>
          <p:cNvSpPr/>
          <p:nvPr/>
        </p:nvSpPr>
        <p:spPr>
          <a:xfrm>
            <a:off x="585216" y="40325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7" name="Text 45"/>
          <p:cNvSpPr/>
          <p:nvPr/>
        </p:nvSpPr>
        <p:spPr>
          <a:xfrm>
            <a:off x="252069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+60,3 %</a:t>
            </a:r>
            <a:endParaRPr lang="en-US" sz="900" dirty="0"/>
          </a:p>
        </p:txBody>
      </p:sp>
      <p:sp>
        <p:nvSpPr>
          <p:cNvPr id="48" name="Text 46"/>
          <p:cNvSpPr/>
          <p:nvPr/>
        </p:nvSpPr>
        <p:spPr>
          <a:xfrm>
            <a:off x="445617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 ÉLECTRIQUES</a:t>
            </a:r>
            <a:endParaRPr lang="en-US" sz="900" dirty="0"/>
          </a:p>
        </p:txBody>
      </p:sp>
      <p:sp>
        <p:nvSpPr>
          <p:cNvPr id="51" name="Text 49"/>
          <p:cNvSpPr/>
          <p:nvPr/>
        </p:nvSpPr>
        <p:spPr>
          <a:xfrm>
            <a:off x="585216" y="42885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52" name="Text 50"/>
          <p:cNvSpPr/>
          <p:nvPr/>
        </p:nvSpPr>
        <p:spPr>
          <a:xfrm>
            <a:off x="252069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+145,9 %</a:t>
            </a:r>
            <a:endParaRPr lang="en-US" sz="900" dirty="0"/>
          </a:p>
        </p:txBody>
      </p:sp>
      <p:sp>
        <p:nvSpPr>
          <p:cNvPr id="53" name="Text 51"/>
          <p:cNvSpPr/>
          <p:nvPr/>
        </p:nvSpPr>
        <p:spPr>
          <a:xfrm>
            <a:off x="445617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EN LIGNE RÉGULIÈRE  |  TEU + RoRo</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au B/L  |  Navires en ligne régulière (conteneurs + rouliers)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Armateurs – Lignes régulières (B/L Abidjan)</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Armateur</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 + RoRo</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MSC</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68 400</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16,3 %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52 800</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12,6 %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48 200</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11,5 %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HAPAG-LLOYD</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31 500</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EVERGREEN</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24 800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5,9 %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COSCO</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18 400</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ONE (Ocean Network)</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16 200</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PIL</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14 600</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GRIMALDI (RoRo)</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12 100</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BOLLORÉ AFRICA (feeder)</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9 800</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2,3 %</a:t>
            </a:r>
            <a:endParaRPr lang="en-US" sz="900" dirty="0"/>
          </a:p>
        </p:txBody>
      </p:sp>
      <p:sp>
        <p:nvSpPr>
          <p:cNvPr id="63" name="Shape 61"/>
          <p:cNvSpPr/>
          <p:nvPr/>
        </p:nvSpPr>
        <p:spPr>
          <a:xfrm>
            <a:off x="137160" y="4937760"/>
            <a:ext cx="6217920" cy="777240"/>
          </a:xfrm>
          <a:prstGeom prst="rect">
            <a:avLst/>
          </a:prstGeom>
          <a:solidFill>
            <a:srgbClr val="FFFBEC"/>
          </a:solidFill>
          <a:ln w="6350">
            <a:solidFill>
              <a:srgbClr val="E5C97A"/>
            </a:solidFill>
            <a:prstDash val="solid"/>
          </a:ln>
        </p:spPr>
      </p:sp>
      <p:sp>
        <p:nvSpPr>
          <p:cNvPr id="64" name="Text 62"/>
          <p:cNvSpPr/>
          <p:nvPr/>
        </p:nvSpPr>
        <p:spPr>
          <a:xfrm>
            <a:off x="228600" y="5010912"/>
            <a:ext cx="603504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DSM : MSC + Maersk + CMA CGM = 40,4% du marché lignes régulières. AGL actif sur ces 3 majors + PIL + Grimaldi (RoRo). Cible : consolider contrats de consignation et commissions B/L.</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Couverture AGL par armateur (consignation / B/L)</a:t>
            </a:r>
            <a:endParaRPr lang="en-US" sz="1100" dirty="0"/>
          </a:p>
        </p:txBody>
      </p:sp>
      <p:sp>
        <p:nvSpPr>
          <p:cNvPr id="66" name="Text 64"/>
          <p:cNvSpPr/>
          <p:nvPr/>
        </p:nvSpPr>
        <p:spPr>
          <a:xfrm>
            <a:off x="6492240" y="1417320"/>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MSC</a:t>
            </a:r>
            <a:endParaRPr lang="en-US" sz="900" dirty="0"/>
          </a:p>
        </p:txBody>
      </p:sp>
      <p:sp>
        <p:nvSpPr>
          <p:cNvPr id="67" name="Shape 65"/>
          <p:cNvSpPr/>
          <p:nvPr/>
        </p:nvSpPr>
        <p:spPr>
          <a:xfrm>
            <a:off x="8229600" y="1508760"/>
            <a:ext cx="3200400" cy="182880"/>
          </a:xfrm>
          <a:prstGeom prst="rect">
            <a:avLst/>
          </a:prstGeom>
          <a:solidFill>
            <a:srgbClr val="E5E7EB"/>
          </a:solidFill>
          <a:ln/>
        </p:spPr>
      </p:sp>
      <p:sp>
        <p:nvSpPr>
          <p:cNvPr id="68" name="Shape 66"/>
          <p:cNvSpPr/>
          <p:nvPr/>
        </p:nvSpPr>
        <p:spPr>
          <a:xfrm>
            <a:off x="8229600" y="1508760"/>
            <a:ext cx="2880360" cy="182880"/>
          </a:xfrm>
          <a:prstGeom prst="rect">
            <a:avLst/>
          </a:prstGeom>
          <a:solidFill>
            <a:srgbClr val="1A7C4F"/>
          </a:solidFill>
          <a:ln/>
        </p:spPr>
      </p:sp>
      <p:sp>
        <p:nvSpPr>
          <p:cNvPr id="69" name="Text 67"/>
          <p:cNvSpPr/>
          <p:nvPr/>
        </p:nvSpPr>
        <p:spPr>
          <a:xfrm>
            <a:off x="11521440" y="1417320"/>
            <a:ext cx="594360" cy="365760"/>
          </a:xfrm>
          <a:prstGeom prst="rect">
            <a:avLst/>
          </a:prstGeom>
          <a:noFill/>
          <a:ln/>
        </p:spPr>
        <p:txBody>
          <a:bodyPr wrap="square" rtlCol="0" anchor="ctr"/>
          <a:lstStyle/>
          <a:p>
            <a:pPr algn="r" indent="0" marL="0">
              <a:buNone/>
            </a:pPr>
            <a:r>
              <a:rPr lang="en-US" sz="800" dirty="0">
                <a:solidFill>
                  <a:srgbClr val="1A7C4F"/>
                </a:solidFill>
                <a:latin typeface="Calibri" pitchFamily="34" charset="0"/>
                <a:ea typeface="Calibri" pitchFamily="34" charset="-122"/>
                <a:cs typeface="Calibri" pitchFamily="34" charset="-120"/>
              </a:rPr>
              <a:t>18%  Partenaire actif</a:t>
            </a:r>
            <a:endParaRPr lang="en-US" sz="800" dirty="0"/>
          </a:p>
        </p:txBody>
      </p:sp>
      <p:sp>
        <p:nvSpPr>
          <p:cNvPr id="70" name="Text 68"/>
          <p:cNvSpPr/>
          <p:nvPr/>
        </p:nvSpPr>
        <p:spPr>
          <a:xfrm>
            <a:off x="6492240" y="1892808"/>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MAERSK</a:t>
            </a:r>
            <a:endParaRPr lang="en-US" sz="900" dirty="0"/>
          </a:p>
        </p:txBody>
      </p:sp>
      <p:sp>
        <p:nvSpPr>
          <p:cNvPr id="71" name="Shape 69"/>
          <p:cNvSpPr/>
          <p:nvPr/>
        </p:nvSpPr>
        <p:spPr>
          <a:xfrm>
            <a:off x="8229600" y="1984248"/>
            <a:ext cx="3200400" cy="182880"/>
          </a:xfrm>
          <a:prstGeom prst="rect">
            <a:avLst/>
          </a:prstGeom>
          <a:solidFill>
            <a:srgbClr val="E5E7EB"/>
          </a:solidFill>
          <a:ln/>
        </p:spPr>
      </p:sp>
      <p:sp>
        <p:nvSpPr>
          <p:cNvPr id="72" name="Shape 70"/>
          <p:cNvSpPr/>
          <p:nvPr/>
        </p:nvSpPr>
        <p:spPr>
          <a:xfrm>
            <a:off x="8229600" y="1984248"/>
            <a:ext cx="2400300" cy="182880"/>
          </a:xfrm>
          <a:prstGeom prst="rect">
            <a:avLst/>
          </a:prstGeom>
          <a:solidFill>
            <a:srgbClr val="1A7C4F"/>
          </a:solidFill>
          <a:ln/>
        </p:spPr>
      </p:sp>
      <p:sp>
        <p:nvSpPr>
          <p:cNvPr id="73" name="Text 71"/>
          <p:cNvSpPr/>
          <p:nvPr/>
        </p:nvSpPr>
        <p:spPr>
          <a:xfrm>
            <a:off x="11521440" y="1892808"/>
            <a:ext cx="594360" cy="365760"/>
          </a:xfrm>
          <a:prstGeom prst="rect">
            <a:avLst/>
          </a:prstGeom>
          <a:noFill/>
          <a:ln/>
        </p:spPr>
        <p:txBody>
          <a:bodyPr wrap="square" rtlCol="0" anchor="ctr"/>
          <a:lstStyle/>
          <a:p>
            <a:pPr algn="r" indent="0" marL="0">
              <a:buNone/>
            </a:pPr>
            <a:r>
              <a:rPr lang="en-US" sz="800" dirty="0">
                <a:solidFill>
                  <a:srgbClr val="1A7C4F"/>
                </a:solidFill>
                <a:latin typeface="Calibri" pitchFamily="34" charset="0"/>
                <a:ea typeface="Calibri" pitchFamily="34" charset="-122"/>
                <a:cs typeface="Calibri" pitchFamily="34" charset="-120"/>
              </a:rPr>
              <a:t>15%  Partenaire actif</a:t>
            </a:r>
            <a:endParaRPr lang="en-US" sz="800" dirty="0"/>
          </a:p>
        </p:txBody>
      </p:sp>
      <p:sp>
        <p:nvSpPr>
          <p:cNvPr id="74" name="Text 72"/>
          <p:cNvSpPr/>
          <p:nvPr/>
        </p:nvSpPr>
        <p:spPr>
          <a:xfrm>
            <a:off x="6492240" y="2368296"/>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75" name="Shape 73"/>
          <p:cNvSpPr/>
          <p:nvPr/>
        </p:nvSpPr>
        <p:spPr>
          <a:xfrm>
            <a:off x="8229600" y="2459736"/>
            <a:ext cx="3200400" cy="182880"/>
          </a:xfrm>
          <a:prstGeom prst="rect">
            <a:avLst/>
          </a:prstGeom>
          <a:solidFill>
            <a:srgbClr val="E5E7EB"/>
          </a:solidFill>
          <a:ln/>
        </p:spPr>
      </p:sp>
      <p:sp>
        <p:nvSpPr>
          <p:cNvPr id="76" name="Shape 74"/>
          <p:cNvSpPr/>
          <p:nvPr/>
        </p:nvSpPr>
        <p:spPr>
          <a:xfrm>
            <a:off x="8229600" y="2459736"/>
            <a:ext cx="1920240" cy="182880"/>
          </a:xfrm>
          <a:prstGeom prst="rect">
            <a:avLst/>
          </a:prstGeom>
          <a:solidFill>
            <a:srgbClr val="1A7C4F"/>
          </a:solidFill>
          <a:ln/>
        </p:spPr>
      </p:sp>
      <p:sp>
        <p:nvSpPr>
          <p:cNvPr id="77" name="Text 75"/>
          <p:cNvSpPr/>
          <p:nvPr/>
        </p:nvSpPr>
        <p:spPr>
          <a:xfrm>
            <a:off x="11521440" y="2368296"/>
            <a:ext cx="594360" cy="365760"/>
          </a:xfrm>
          <a:prstGeom prst="rect">
            <a:avLst/>
          </a:prstGeom>
          <a:noFill/>
          <a:ln/>
        </p:spPr>
        <p:txBody>
          <a:bodyPr wrap="square" rtlCol="0" anchor="ctr"/>
          <a:lstStyle/>
          <a:p>
            <a:pPr algn="r" indent="0" marL="0">
              <a:buNone/>
            </a:pPr>
            <a:r>
              <a:rPr lang="en-US" sz="800" dirty="0">
                <a:solidFill>
                  <a:srgbClr val="1A7C4F"/>
                </a:solidFill>
                <a:latin typeface="Calibri" pitchFamily="34" charset="0"/>
                <a:ea typeface="Calibri" pitchFamily="34" charset="-122"/>
                <a:cs typeface="Calibri" pitchFamily="34" charset="-120"/>
              </a:rPr>
              <a:t>12%  Partenaire actif</a:t>
            </a:r>
            <a:endParaRPr lang="en-US" sz="800" dirty="0"/>
          </a:p>
        </p:txBody>
      </p:sp>
      <p:sp>
        <p:nvSpPr>
          <p:cNvPr id="78" name="Text 76"/>
          <p:cNvSpPr/>
          <p:nvPr/>
        </p:nvSpPr>
        <p:spPr>
          <a:xfrm>
            <a:off x="6492240" y="2843784"/>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PIL</a:t>
            </a:r>
            <a:endParaRPr lang="en-US" sz="900" dirty="0"/>
          </a:p>
        </p:txBody>
      </p:sp>
      <p:sp>
        <p:nvSpPr>
          <p:cNvPr id="79" name="Shape 77"/>
          <p:cNvSpPr/>
          <p:nvPr/>
        </p:nvSpPr>
        <p:spPr>
          <a:xfrm>
            <a:off x="8229600" y="2935224"/>
            <a:ext cx="3200400" cy="182880"/>
          </a:xfrm>
          <a:prstGeom prst="rect">
            <a:avLst/>
          </a:prstGeom>
          <a:solidFill>
            <a:srgbClr val="E5E7EB"/>
          </a:solidFill>
          <a:ln/>
        </p:spPr>
      </p:sp>
      <p:sp>
        <p:nvSpPr>
          <p:cNvPr id="80" name="Shape 78"/>
          <p:cNvSpPr/>
          <p:nvPr/>
        </p:nvSpPr>
        <p:spPr>
          <a:xfrm>
            <a:off x="8229600" y="2935224"/>
            <a:ext cx="1440180" cy="182880"/>
          </a:xfrm>
          <a:prstGeom prst="rect">
            <a:avLst/>
          </a:prstGeom>
          <a:solidFill>
            <a:srgbClr val="2563A8"/>
          </a:solidFill>
          <a:ln/>
        </p:spPr>
      </p:sp>
      <p:sp>
        <p:nvSpPr>
          <p:cNvPr id="81" name="Text 79"/>
          <p:cNvSpPr/>
          <p:nvPr/>
        </p:nvSpPr>
        <p:spPr>
          <a:xfrm>
            <a:off x="11521440" y="2843784"/>
            <a:ext cx="594360" cy="365760"/>
          </a:xfrm>
          <a:prstGeom prst="rect">
            <a:avLst/>
          </a:prstGeom>
          <a:noFill/>
          <a:ln/>
        </p:spPr>
        <p:txBody>
          <a:bodyPr wrap="square" rtlCol="0" anchor="ctr"/>
          <a:lstStyle/>
          <a:p>
            <a:pPr algn="r" indent="0" marL="0">
              <a:buNone/>
            </a:pPr>
            <a:r>
              <a:rPr lang="en-US" sz="800" dirty="0">
                <a:solidFill>
                  <a:srgbClr val="2563A8"/>
                </a:solidFill>
                <a:latin typeface="Calibri" pitchFamily="34" charset="0"/>
                <a:ea typeface="Calibri" pitchFamily="34" charset="-122"/>
                <a:cs typeface="Calibri" pitchFamily="34" charset="-120"/>
              </a:rPr>
              <a:t>9%  Partenaire</a:t>
            </a:r>
            <a:endParaRPr lang="en-US" sz="800" dirty="0"/>
          </a:p>
        </p:txBody>
      </p:sp>
      <p:sp>
        <p:nvSpPr>
          <p:cNvPr id="82" name="Text 80"/>
          <p:cNvSpPr/>
          <p:nvPr/>
        </p:nvSpPr>
        <p:spPr>
          <a:xfrm>
            <a:off x="6492240" y="3319272"/>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GRIMALDI – RoRo</a:t>
            </a:r>
            <a:endParaRPr lang="en-US" sz="900" dirty="0"/>
          </a:p>
        </p:txBody>
      </p:sp>
      <p:sp>
        <p:nvSpPr>
          <p:cNvPr id="83" name="Shape 81"/>
          <p:cNvSpPr/>
          <p:nvPr/>
        </p:nvSpPr>
        <p:spPr>
          <a:xfrm>
            <a:off x="8229600" y="3410712"/>
            <a:ext cx="3200400" cy="182880"/>
          </a:xfrm>
          <a:prstGeom prst="rect">
            <a:avLst/>
          </a:prstGeom>
          <a:solidFill>
            <a:srgbClr val="E5E7EB"/>
          </a:solidFill>
          <a:ln/>
        </p:spPr>
      </p:sp>
      <p:sp>
        <p:nvSpPr>
          <p:cNvPr id="84" name="Shape 82"/>
          <p:cNvSpPr/>
          <p:nvPr/>
        </p:nvSpPr>
        <p:spPr>
          <a:xfrm>
            <a:off x="8229600" y="3410712"/>
            <a:ext cx="1280160" cy="182880"/>
          </a:xfrm>
          <a:prstGeom prst="rect">
            <a:avLst/>
          </a:prstGeom>
          <a:solidFill>
            <a:srgbClr val="2563A8"/>
          </a:solidFill>
          <a:ln/>
        </p:spPr>
      </p:sp>
      <p:sp>
        <p:nvSpPr>
          <p:cNvPr id="85" name="Text 83"/>
          <p:cNvSpPr/>
          <p:nvPr/>
        </p:nvSpPr>
        <p:spPr>
          <a:xfrm>
            <a:off x="11521440" y="3319272"/>
            <a:ext cx="594360" cy="365760"/>
          </a:xfrm>
          <a:prstGeom prst="rect">
            <a:avLst/>
          </a:prstGeom>
          <a:noFill/>
          <a:ln/>
        </p:spPr>
        <p:txBody>
          <a:bodyPr wrap="square" rtlCol="0" anchor="ctr"/>
          <a:lstStyle/>
          <a:p>
            <a:pPr algn="r" indent="0" marL="0">
              <a:buNone/>
            </a:pPr>
            <a:r>
              <a:rPr lang="en-US" sz="800" dirty="0">
                <a:solidFill>
                  <a:srgbClr val="2563A8"/>
                </a:solidFill>
                <a:latin typeface="Calibri" pitchFamily="34" charset="0"/>
                <a:ea typeface="Calibri" pitchFamily="34" charset="-122"/>
                <a:cs typeface="Calibri" pitchFamily="34" charset="-120"/>
              </a:rPr>
              <a:t>8%  Partenaire</a:t>
            </a:r>
            <a:endParaRPr lang="en-US" sz="800" dirty="0"/>
          </a:p>
        </p:txBody>
      </p:sp>
      <p:sp>
        <p:nvSpPr>
          <p:cNvPr id="86" name="Text 84"/>
          <p:cNvSpPr/>
          <p:nvPr/>
        </p:nvSpPr>
        <p:spPr>
          <a:xfrm>
            <a:off x="6492240" y="3794760"/>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HAPAG-LLOYD</a:t>
            </a:r>
            <a:endParaRPr lang="en-US" sz="900" dirty="0"/>
          </a:p>
        </p:txBody>
      </p:sp>
      <p:sp>
        <p:nvSpPr>
          <p:cNvPr id="87" name="Shape 85"/>
          <p:cNvSpPr/>
          <p:nvPr/>
        </p:nvSpPr>
        <p:spPr>
          <a:xfrm>
            <a:off x="8229600" y="3886200"/>
            <a:ext cx="3200400" cy="182880"/>
          </a:xfrm>
          <a:prstGeom prst="rect">
            <a:avLst/>
          </a:prstGeom>
          <a:solidFill>
            <a:srgbClr val="E5E7EB"/>
          </a:solidFill>
          <a:ln/>
        </p:spPr>
      </p:sp>
      <p:sp>
        <p:nvSpPr>
          <p:cNvPr id="88" name="Shape 86"/>
          <p:cNvSpPr/>
          <p:nvPr/>
        </p:nvSpPr>
        <p:spPr>
          <a:xfrm>
            <a:off x="8229600" y="3886200"/>
            <a:ext cx="640080" cy="182880"/>
          </a:xfrm>
          <a:prstGeom prst="rect">
            <a:avLst/>
          </a:prstGeom>
          <a:solidFill>
            <a:srgbClr val="E05A00"/>
          </a:solidFill>
          <a:ln/>
        </p:spPr>
      </p:sp>
      <p:sp>
        <p:nvSpPr>
          <p:cNvPr id="89" name="Text 87"/>
          <p:cNvSpPr/>
          <p:nvPr/>
        </p:nvSpPr>
        <p:spPr>
          <a:xfrm>
            <a:off x="11521440" y="3794760"/>
            <a:ext cx="594360" cy="365760"/>
          </a:xfrm>
          <a:prstGeom prst="rect">
            <a:avLst/>
          </a:prstGeom>
          <a:noFill/>
          <a:ln/>
        </p:spPr>
        <p:txBody>
          <a:bodyPr wrap="square" rtlCol="0" anchor="ctr"/>
          <a:lstStyle/>
          <a:p>
            <a:pPr algn="r" indent="0" marL="0">
              <a:buNone/>
            </a:pPr>
            <a:r>
              <a:rPr lang="en-US" sz="800" dirty="0">
                <a:solidFill>
                  <a:srgbClr val="E05A00"/>
                </a:solidFill>
                <a:latin typeface="Calibri" pitchFamily="34" charset="0"/>
                <a:ea typeface="Calibri" pitchFamily="34" charset="-122"/>
                <a:cs typeface="Calibri" pitchFamily="34" charset="-120"/>
              </a:rPr>
              <a:t>4%  Partiel</a:t>
            </a:r>
            <a:endParaRPr lang="en-US" sz="800" dirty="0"/>
          </a:p>
        </p:txBody>
      </p:sp>
      <p:sp>
        <p:nvSpPr>
          <p:cNvPr id="90" name="Text 88"/>
          <p:cNvSpPr/>
          <p:nvPr/>
        </p:nvSpPr>
        <p:spPr>
          <a:xfrm>
            <a:off x="6492240" y="4270248"/>
            <a:ext cx="1645920" cy="3657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EVERGREEN / COSCO</a:t>
            </a:r>
            <a:endParaRPr lang="en-US" sz="900" dirty="0"/>
          </a:p>
        </p:txBody>
      </p:sp>
      <p:sp>
        <p:nvSpPr>
          <p:cNvPr id="91" name="Shape 89"/>
          <p:cNvSpPr/>
          <p:nvPr/>
        </p:nvSpPr>
        <p:spPr>
          <a:xfrm>
            <a:off x="8229600" y="4361688"/>
            <a:ext cx="3200400" cy="182880"/>
          </a:xfrm>
          <a:prstGeom prst="rect">
            <a:avLst/>
          </a:prstGeom>
          <a:solidFill>
            <a:srgbClr val="E5E7EB"/>
          </a:solidFill>
          <a:ln/>
        </p:spPr>
      </p:sp>
      <p:sp>
        <p:nvSpPr>
          <p:cNvPr id="92" name="Text 90"/>
          <p:cNvSpPr/>
          <p:nvPr/>
        </p:nvSpPr>
        <p:spPr>
          <a:xfrm>
            <a:off x="11521440" y="4270248"/>
            <a:ext cx="594360" cy="365760"/>
          </a:xfrm>
          <a:prstGeom prst="rect">
            <a:avLst/>
          </a:prstGeom>
          <a:noFill/>
          <a:ln/>
        </p:spPr>
        <p:txBody>
          <a:bodyPr wrap="square" rtlCol="0" anchor="ctr"/>
          <a:lstStyle/>
          <a:p>
            <a:pPr algn="r" indent="0" marL="0">
              <a:buNone/>
            </a:pPr>
            <a:r>
              <a:rPr lang="en-US" sz="800" dirty="0">
                <a:solidFill>
                  <a:srgbClr val="CC2200"/>
                </a:solidFill>
                <a:latin typeface="Calibri" pitchFamily="34" charset="0"/>
                <a:ea typeface="Calibri" pitchFamily="34" charset="-122"/>
                <a:cs typeface="Calibri" pitchFamily="34" charset="-120"/>
              </a:rPr>
              <a:t>0%  Non couvert</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TRAMPS : BRBK, SAC &amp; VRAC  |  Manutentionnaires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des manutentionnaires au B/L  |  PDM AGL par type de cargaison tramps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Manutentionnaires – Tramps (B/L Abidjan)</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Manutentionnaire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BOLLORÉ LOGISTICS</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~28 000</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30,4 %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SDV-TRANSDEV</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~18 500</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20,1 %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AFRICA GLOBAL LOGISTICS</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~10 100</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11,0 %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SEALOGIS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~8 200</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8,9 %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INTRAMAR 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~7 400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AGEMAR</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~6 100</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6,6 %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CIMLOG CI</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~4 800</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5,2 %</a:t>
            </a:r>
            <a:endParaRPr lang="en-US" sz="900" dirty="0"/>
          </a:p>
        </p:txBody>
      </p:sp>
      <p:sp>
        <p:nvSpPr>
          <p:cNvPr id="48" name="Text 46"/>
          <p:cNvSpPr/>
          <p:nvPr/>
        </p:nvSpPr>
        <p:spPr>
          <a:xfrm>
            <a:off x="137160" y="4206240"/>
            <a:ext cx="621792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Périmètre tramps : ~92 000 T-éq</a:t>
            </a:r>
            <a:endParaRPr lang="en-US" sz="900" dirty="0"/>
          </a:p>
        </p:txBody>
      </p:sp>
      <p:sp>
        <p:nvSpPr>
          <p:cNvPr id="49" name="Text 4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type de cargaison tramps</a:t>
            </a:r>
            <a:endParaRPr lang="en-US" sz="1100" dirty="0"/>
          </a:p>
        </p:txBody>
      </p:sp>
      <p:sp>
        <p:nvSpPr>
          <p:cNvPr id="50" name="Text 4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BRBK – BOIS / ACIER</a:t>
            </a:r>
            <a:endParaRPr lang="en-US" sz="850" dirty="0"/>
          </a:p>
        </p:txBody>
      </p:sp>
      <p:sp>
        <p:nvSpPr>
          <p:cNvPr id="51" name="Text 4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2 280 T</a:t>
            </a:r>
            <a:endParaRPr lang="en-US" sz="850" dirty="0"/>
          </a:p>
        </p:txBody>
      </p:sp>
      <p:sp>
        <p:nvSpPr>
          <p:cNvPr id="52" name="Shape 50"/>
          <p:cNvSpPr/>
          <p:nvPr/>
        </p:nvSpPr>
        <p:spPr>
          <a:xfrm>
            <a:off x="9052560" y="1426464"/>
            <a:ext cx="2743200" cy="164592"/>
          </a:xfrm>
          <a:prstGeom prst="rect">
            <a:avLst/>
          </a:prstGeom>
          <a:solidFill>
            <a:srgbClr val="E5E7EB"/>
          </a:solidFill>
          <a:ln/>
        </p:spPr>
      </p:sp>
      <p:sp>
        <p:nvSpPr>
          <p:cNvPr id="53" name="Shape 51"/>
          <p:cNvSpPr/>
          <p:nvPr/>
        </p:nvSpPr>
        <p:spPr>
          <a:xfrm>
            <a:off x="9052560" y="1426464"/>
            <a:ext cx="493776" cy="164592"/>
          </a:xfrm>
          <a:prstGeom prst="rect">
            <a:avLst/>
          </a:prstGeom>
          <a:solidFill>
            <a:srgbClr val="E05A00"/>
          </a:solidFill>
          <a:ln/>
        </p:spPr>
      </p:sp>
      <p:sp>
        <p:nvSpPr>
          <p:cNvPr id="54" name="Text 5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55" name="Text 5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CIMENT (SAC)</a:t>
            </a:r>
            <a:endParaRPr lang="en-US" sz="850" dirty="0"/>
          </a:p>
        </p:txBody>
      </p:sp>
      <p:sp>
        <p:nvSpPr>
          <p:cNvPr id="56" name="Text 5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2 520 T</a:t>
            </a:r>
            <a:endParaRPr lang="en-US" sz="850" dirty="0"/>
          </a:p>
        </p:txBody>
      </p:sp>
      <p:sp>
        <p:nvSpPr>
          <p:cNvPr id="57" name="Shape 55"/>
          <p:cNvSpPr/>
          <p:nvPr/>
        </p:nvSpPr>
        <p:spPr>
          <a:xfrm>
            <a:off x="9052560" y="1810512"/>
            <a:ext cx="2743200" cy="164592"/>
          </a:xfrm>
          <a:prstGeom prst="rect">
            <a:avLst/>
          </a:prstGeom>
          <a:solidFill>
            <a:srgbClr val="E5E7EB"/>
          </a:solidFill>
          <a:ln/>
        </p:spPr>
      </p:sp>
      <p:sp>
        <p:nvSpPr>
          <p:cNvPr id="58" name="Shape 56"/>
          <p:cNvSpPr/>
          <p:nvPr/>
        </p:nvSpPr>
        <p:spPr>
          <a:xfrm>
            <a:off x="9052560" y="1810512"/>
            <a:ext cx="384048" cy="164592"/>
          </a:xfrm>
          <a:prstGeom prst="rect">
            <a:avLst/>
          </a:prstGeom>
          <a:solidFill>
            <a:srgbClr val="E05A00"/>
          </a:solidFill>
          <a:ln/>
        </p:spPr>
      </p:sp>
      <p:sp>
        <p:nvSpPr>
          <p:cNvPr id="59" name="Text 5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60" name="Text 5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SUCRE (SAC)</a:t>
            </a:r>
            <a:endParaRPr lang="en-US" sz="850" dirty="0"/>
          </a:p>
        </p:txBody>
      </p:sp>
      <p:sp>
        <p:nvSpPr>
          <p:cNvPr id="61" name="Text 5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1 980 T</a:t>
            </a:r>
            <a:endParaRPr lang="en-US" sz="850" dirty="0"/>
          </a:p>
        </p:txBody>
      </p:sp>
      <p:sp>
        <p:nvSpPr>
          <p:cNvPr id="62" name="Shape 60"/>
          <p:cNvSpPr/>
          <p:nvPr/>
        </p:nvSpPr>
        <p:spPr>
          <a:xfrm>
            <a:off x="9052560" y="2194560"/>
            <a:ext cx="2743200" cy="164592"/>
          </a:xfrm>
          <a:prstGeom prst="rect">
            <a:avLst/>
          </a:prstGeom>
          <a:solidFill>
            <a:srgbClr val="E5E7EB"/>
          </a:solidFill>
          <a:ln/>
        </p:spPr>
      </p:sp>
      <p:sp>
        <p:nvSpPr>
          <p:cNvPr id="63" name="Shape 61"/>
          <p:cNvSpPr/>
          <p:nvPr/>
        </p:nvSpPr>
        <p:spPr>
          <a:xfrm>
            <a:off x="9052560" y="2194560"/>
            <a:ext cx="246888" cy="164592"/>
          </a:xfrm>
          <a:prstGeom prst="rect">
            <a:avLst/>
          </a:prstGeom>
          <a:solidFill>
            <a:srgbClr val="CC2200"/>
          </a:solidFill>
          <a:ln/>
        </p:spPr>
      </p:sp>
      <p:sp>
        <p:nvSpPr>
          <p:cNvPr id="64" name="Text 6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65" name="Text 63"/>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 (SAC)</a:t>
            </a:r>
            <a:endParaRPr lang="en-US" sz="850" dirty="0"/>
          </a:p>
        </p:txBody>
      </p:sp>
      <p:sp>
        <p:nvSpPr>
          <p:cNvPr id="66" name="Text 64"/>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3 840 T</a:t>
            </a:r>
            <a:endParaRPr lang="en-US" sz="850" dirty="0"/>
          </a:p>
        </p:txBody>
      </p:sp>
      <p:sp>
        <p:nvSpPr>
          <p:cNvPr id="67" name="Shape 65"/>
          <p:cNvSpPr/>
          <p:nvPr/>
        </p:nvSpPr>
        <p:spPr>
          <a:xfrm>
            <a:off x="9052560" y="2578608"/>
            <a:ext cx="2743200" cy="164592"/>
          </a:xfrm>
          <a:prstGeom prst="rect">
            <a:avLst/>
          </a:prstGeom>
          <a:solidFill>
            <a:srgbClr val="E5E7EB"/>
          </a:solidFill>
          <a:ln/>
        </p:spPr>
      </p:sp>
      <p:sp>
        <p:nvSpPr>
          <p:cNvPr id="68" name="Shape 66"/>
          <p:cNvSpPr/>
          <p:nvPr/>
        </p:nvSpPr>
        <p:spPr>
          <a:xfrm>
            <a:off x="9052560" y="2578608"/>
            <a:ext cx="219456" cy="164592"/>
          </a:xfrm>
          <a:prstGeom prst="rect">
            <a:avLst/>
          </a:prstGeom>
          <a:solidFill>
            <a:srgbClr val="CC2200"/>
          </a:solidFill>
          <a:ln/>
        </p:spPr>
      </p:sp>
      <p:sp>
        <p:nvSpPr>
          <p:cNvPr id="69" name="Text 67"/>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0" name="Text 68"/>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VRAC LIQUIDE</a:t>
            </a:r>
            <a:endParaRPr lang="en-US" sz="850" dirty="0"/>
          </a:p>
        </p:txBody>
      </p:sp>
      <p:sp>
        <p:nvSpPr>
          <p:cNvPr id="71" name="Text 69"/>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1 320 T</a:t>
            </a:r>
            <a:endParaRPr lang="en-US" sz="850" dirty="0"/>
          </a:p>
        </p:txBody>
      </p:sp>
      <p:sp>
        <p:nvSpPr>
          <p:cNvPr id="72" name="Shape 70"/>
          <p:cNvSpPr/>
          <p:nvPr/>
        </p:nvSpPr>
        <p:spPr>
          <a:xfrm>
            <a:off x="9052560" y="2962656"/>
            <a:ext cx="2743200" cy="164592"/>
          </a:xfrm>
          <a:prstGeom prst="rect">
            <a:avLst/>
          </a:prstGeom>
          <a:solidFill>
            <a:srgbClr val="E5E7EB"/>
          </a:solidFill>
          <a:ln/>
        </p:spPr>
      </p:sp>
      <p:sp>
        <p:nvSpPr>
          <p:cNvPr id="73" name="Shape 71"/>
          <p:cNvSpPr/>
          <p:nvPr/>
        </p:nvSpPr>
        <p:spPr>
          <a:xfrm>
            <a:off x="9052560" y="2962656"/>
            <a:ext cx="164592" cy="164592"/>
          </a:xfrm>
          <a:prstGeom prst="rect">
            <a:avLst/>
          </a:prstGeom>
          <a:solidFill>
            <a:srgbClr val="CC2200"/>
          </a:solidFill>
          <a:ln/>
        </p:spPr>
      </p:sp>
      <p:sp>
        <p:nvSpPr>
          <p:cNvPr id="74" name="Text 72"/>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75" name="Text 73"/>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CLINKER (VRAC)</a:t>
            </a:r>
            <a:endParaRPr lang="en-US" sz="850" dirty="0"/>
          </a:p>
        </p:txBody>
      </p:sp>
      <p:sp>
        <p:nvSpPr>
          <p:cNvPr id="76" name="Text 74"/>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1 100 T</a:t>
            </a:r>
            <a:endParaRPr lang="en-US" sz="850" dirty="0"/>
          </a:p>
        </p:txBody>
      </p:sp>
      <p:sp>
        <p:nvSpPr>
          <p:cNvPr id="77" name="Shape 75"/>
          <p:cNvSpPr/>
          <p:nvPr/>
        </p:nvSpPr>
        <p:spPr>
          <a:xfrm>
            <a:off x="9052560" y="3346704"/>
            <a:ext cx="2743200" cy="164592"/>
          </a:xfrm>
          <a:prstGeom prst="rect">
            <a:avLst/>
          </a:prstGeom>
          <a:solidFill>
            <a:srgbClr val="E5E7EB"/>
          </a:solidFill>
          <a:ln/>
        </p:spPr>
      </p:sp>
      <p:sp>
        <p:nvSpPr>
          <p:cNvPr id="78" name="Shape 76"/>
          <p:cNvSpPr/>
          <p:nvPr/>
        </p:nvSpPr>
        <p:spPr>
          <a:xfrm>
            <a:off x="9052560" y="3346704"/>
            <a:ext cx="137160" cy="164592"/>
          </a:xfrm>
          <a:prstGeom prst="rect">
            <a:avLst/>
          </a:prstGeom>
          <a:solidFill>
            <a:srgbClr val="CC2200"/>
          </a:solidFill>
          <a:ln/>
        </p:spPr>
      </p:sp>
      <p:sp>
        <p:nvSpPr>
          <p:cNvPr id="79" name="Text 77"/>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Shape 78"/>
          <p:cNvSpPr/>
          <p:nvPr/>
        </p:nvSpPr>
        <p:spPr>
          <a:xfrm>
            <a:off x="137160" y="4937760"/>
            <a:ext cx="11795760" cy="777240"/>
          </a:xfrm>
          <a:prstGeom prst="rect">
            <a:avLst/>
          </a:prstGeom>
          <a:solidFill>
            <a:srgbClr val="FFFBEC"/>
          </a:solidFill>
          <a:ln w="6350">
            <a:solidFill>
              <a:srgbClr val="E5C97A"/>
            </a:solidFill>
            <a:prstDash val="solid"/>
          </a:ln>
        </p:spPr>
      </p:sp>
      <p:sp>
        <p:nvSpPr>
          <p:cNvPr id="81" name="Text 79"/>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TRAMPS : AGL #3 manutentionnaire (11,0%) derrière Bolloré (30,4%) et SDV (20,1%). Niches solides : BRBK 18% et Ciment 14%. Cible 18% à 12 mois — leviers : clinker BTP (PND 2026–2030) + acier SOCOCE / SETACI + co-consignation vraquiers.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Opérateur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Volume T</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SIR CI (Raffinerie)</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~480 000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brut</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20,0 %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CI</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~320 000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VIVO ENERGY (Shell)</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~280 000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11,7 %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~190 000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 Distrib.</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7,9 %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~160 000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Export offshore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~140 000</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BOLLORÉ ENERGY</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~120 000</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divers</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5,0 %</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Or, Manganèse, Nickel, Lithium  |  Import matériels + Export minerais  |  28 projets actifs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miniers – Flux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Opérateur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Import 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AGL</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1 840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~120 T</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 Client #1</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SMI (Syama)</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 T</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Actif</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ENDEAVOUR MINING</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420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~65 T</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Partiel</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NEWCREST (Bonikro)</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340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~55 T</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Partiel</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SAMA NICKEL (SRG)</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Non</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IVOIRE MANGANÈSE</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230</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~180 T</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Actif</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LITHIUM CÔTE D'IVOIRE</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Non</a:t>
            </a:r>
            <a:endParaRPr lang="en-US" sz="900" dirty="0"/>
          </a:p>
        </p:txBody>
      </p:sp>
      <p:sp>
        <p:nvSpPr>
          <p:cNvPr id="48" name="Shape 46"/>
          <p:cNvSpPr/>
          <p:nvPr/>
        </p:nvSpPr>
        <p:spPr>
          <a:xfrm>
            <a:off x="137160" y="4937760"/>
            <a:ext cx="6217920" cy="777240"/>
          </a:xfrm>
          <a:prstGeom prst="rect">
            <a:avLst/>
          </a:prstGeom>
          <a:solidFill>
            <a:srgbClr val="F0FDF4"/>
          </a:solidFill>
          <a:ln w="6350">
            <a:solidFill>
              <a:srgbClr val="E5C97A"/>
            </a:solidFill>
            <a:prstDash val="solid"/>
          </a:ln>
        </p:spPr>
      </p:sp>
      <p:sp>
        <p:nvSpPr>
          <p:cNvPr id="49" name="Text 47"/>
          <p:cNvSpPr/>
          <p:nvPr/>
        </p:nvSpPr>
        <p:spPr>
          <a:xfrm>
            <a:off x="228600" y="5010912"/>
            <a:ext cx="603504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AGL = prestataire logistique de référence du secteur minier ivoirien (~58% PDM pondéré). K1 Mining = 1 840 TEU répartis sur 3 métiers. Cible : SAMA Nickel + Lithium CI = +440 TEU. Stratégie : package minier intégré TIM + AÉRIEN + DSM + HINTERLAND.</a:t>
            </a:r>
            <a:endParaRPr lang="en-US" sz="90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Matériels Miniers par métier</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TIM – IMPORT MARITIME</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2029968" cy="164592"/>
          </a:xfrm>
          <a:prstGeom prst="rect">
            <a:avLst/>
          </a:prstGeom>
          <a:solidFill>
            <a:srgbClr val="1A7C4F"/>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AÉRIEN IMPORT</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73352" cy="164592"/>
          </a:xfrm>
          <a:prstGeom prst="rect">
            <a:avLst/>
          </a:prstGeom>
          <a:solidFill>
            <a:srgbClr val="1A7C4F"/>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IMPORT</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0" cy="164592"/>
          </a:xfrm>
          <a:prstGeom prst="rect">
            <a:avLst/>
          </a:prstGeom>
          <a:solidFill>
            <a:srgbClr val="1A7C4F"/>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66" name="Text 64"/>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DSM – EXPORT MINERAIS</a:t>
            </a:r>
            <a:endParaRPr lang="en-US" sz="850" dirty="0"/>
          </a:p>
        </p:txBody>
      </p:sp>
      <p:sp>
        <p:nvSpPr>
          <p:cNvPr id="67" name="Text 65"/>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~180 T</a:t>
            </a:r>
            <a:endParaRPr lang="en-US" sz="850" dirty="0"/>
          </a:p>
        </p:txBody>
      </p:sp>
      <p:sp>
        <p:nvSpPr>
          <p:cNvPr id="68" name="Shape 66"/>
          <p:cNvSpPr/>
          <p:nvPr/>
        </p:nvSpPr>
        <p:spPr>
          <a:xfrm>
            <a:off x="9052560" y="2578608"/>
            <a:ext cx="2743200" cy="164592"/>
          </a:xfrm>
          <a:prstGeom prst="rect">
            <a:avLst/>
          </a:prstGeom>
          <a:solidFill>
            <a:srgbClr val="E5E7EB"/>
          </a:solidFill>
          <a:ln/>
        </p:spPr>
      </p:sp>
      <p:sp>
        <p:nvSpPr>
          <p:cNvPr id="69" name="Shape 67"/>
          <p:cNvSpPr/>
          <p:nvPr/>
        </p:nvSpPr>
        <p:spPr>
          <a:xfrm>
            <a:off x="9052560" y="2578608"/>
            <a:ext cx="576072" cy="164592"/>
          </a:xfrm>
          <a:prstGeom prst="rect">
            <a:avLst/>
          </a:prstGeom>
          <a:solidFill>
            <a:srgbClr val="2563A8"/>
          </a:solidFill>
          <a:ln/>
        </p:spPr>
      </p:sp>
      <p:sp>
        <p:nvSpPr>
          <p:cNvPr id="70" name="Text 68"/>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Métier</a:t>
            </a:r>
            <a:endParaRPr lang="en-US" sz="900" dirty="0"/>
          </a:p>
        </p:txBody>
      </p:sp>
      <p:sp>
        <p:nvSpPr>
          <p:cNvPr id="10" name="Text 8"/>
          <p:cNvSpPr/>
          <p:nvPr/>
        </p:nvSpPr>
        <p:spPr>
          <a:xfrm>
            <a:off x="585216" y="1408176"/>
            <a:ext cx="18516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Rang Ayman</a:t>
            </a:r>
            <a:endParaRPr lang="en-US" sz="900" dirty="0"/>
          </a:p>
        </p:txBody>
      </p:sp>
      <p:sp>
        <p:nvSpPr>
          <p:cNvPr id="11" name="Text 9"/>
          <p:cNvSpPr/>
          <p:nvPr/>
        </p:nvSpPr>
        <p:spPr>
          <a:xfrm>
            <a:off x="248259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Volume Ayman</a:t>
            </a:r>
            <a:endParaRPr lang="en-US" sz="900" dirty="0"/>
          </a:p>
        </p:txBody>
      </p:sp>
      <p:sp>
        <p:nvSpPr>
          <p:cNvPr id="12" name="Text 10"/>
          <p:cNvSpPr/>
          <p:nvPr/>
        </p:nvSpPr>
        <p:spPr>
          <a:xfrm>
            <a:off x="437997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Ayman</a:t>
            </a:r>
            <a:endParaRPr lang="en-US" sz="900" dirty="0"/>
          </a:p>
        </p:txBody>
      </p:sp>
      <p:sp>
        <p:nvSpPr>
          <p:cNvPr id="13" name="Text 11"/>
          <p:cNvSpPr/>
          <p:nvPr/>
        </p:nvSpPr>
        <p:spPr>
          <a:xfrm>
            <a:off x="627735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 AGL</a:t>
            </a:r>
            <a:endParaRPr lang="en-US" sz="900" dirty="0"/>
          </a:p>
        </p:txBody>
      </p:sp>
      <p:sp>
        <p:nvSpPr>
          <p:cNvPr id="14" name="Text 12"/>
          <p:cNvSpPr/>
          <p:nvPr/>
        </p:nvSpPr>
        <p:spPr>
          <a:xfrm>
            <a:off x="817473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1007211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Écart AGL</a:t>
            </a:r>
            <a:endParaRPr lang="en-US" sz="90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TIM – Import Maritime</a:t>
            </a:r>
            <a:endParaRPr lang="en-US" sz="900" dirty="0"/>
          </a:p>
        </p:txBody>
      </p:sp>
      <p:sp>
        <p:nvSpPr>
          <p:cNvPr id="18" name="Text 16"/>
          <p:cNvSpPr/>
          <p:nvPr/>
        </p:nvSpPr>
        <p:spPr>
          <a:xfrm>
            <a:off x="585216" y="1664208"/>
            <a:ext cx="18516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248259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 TEU (DJAM DKS)</a:t>
            </a:r>
            <a:endParaRPr lang="en-US" sz="900" dirty="0"/>
          </a:p>
        </p:txBody>
      </p:sp>
      <p:sp>
        <p:nvSpPr>
          <p:cNvPr id="20" name="Text 18"/>
          <p:cNvSpPr/>
          <p:nvPr/>
        </p:nvSpPr>
        <p:spPr>
          <a:xfrm>
            <a:off x="437997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21" name="Text 19"/>
          <p:cNvSpPr/>
          <p:nvPr/>
        </p:nvSpPr>
        <p:spPr>
          <a:xfrm>
            <a:off x="627735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22" name="Text 20"/>
          <p:cNvSpPr/>
          <p:nvPr/>
        </p:nvSpPr>
        <p:spPr>
          <a:xfrm>
            <a:off x="817473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7,8 %</a:t>
            </a:r>
            <a:endParaRPr lang="en-US" sz="900" dirty="0"/>
          </a:p>
        </p:txBody>
      </p:sp>
      <p:sp>
        <p:nvSpPr>
          <p:cNvPr id="23" name="Text 21"/>
          <p:cNvSpPr/>
          <p:nvPr/>
        </p:nvSpPr>
        <p:spPr>
          <a:xfrm>
            <a:off x="10072116" y="1664208"/>
            <a:ext cx="18516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+2,2 pts</a:t>
            </a:r>
            <a:endParaRPr lang="en-US" sz="90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TEM – Export Maritime</a:t>
            </a:r>
            <a:endParaRPr lang="en-US" sz="900" dirty="0"/>
          </a:p>
        </p:txBody>
      </p:sp>
      <p:sp>
        <p:nvSpPr>
          <p:cNvPr id="26" name="Text 24"/>
          <p:cNvSpPr/>
          <p:nvPr/>
        </p:nvSpPr>
        <p:spPr>
          <a:xfrm>
            <a:off x="585216" y="1920240"/>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classé</a:t>
            </a:r>
            <a:endParaRPr lang="en-US" sz="900" dirty="0"/>
          </a:p>
        </p:txBody>
      </p:sp>
      <p:sp>
        <p:nvSpPr>
          <p:cNvPr id="27" name="Text 25"/>
          <p:cNvSpPr/>
          <p:nvPr/>
        </p:nvSpPr>
        <p:spPr>
          <a:xfrm>
            <a:off x="248259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~800 TEU</a:t>
            </a:r>
            <a:endParaRPr lang="en-US" sz="900" dirty="0"/>
          </a:p>
        </p:txBody>
      </p:sp>
      <p:sp>
        <p:nvSpPr>
          <p:cNvPr id="28" name="Text 26"/>
          <p:cNvSpPr/>
          <p:nvPr/>
        </p:nvSpPr>
        <p:spPr>
          <a:xfrm>
            <a:off x="437997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~0,6 %</a:t>
            </a:r>
            <a:endParaRPr lang="en-US" sz="900" dirty="0"/>
          </a:p>
        </p:txBody>
      </p:sp>
      <p:sp>
        <p:nvSpPr>
          <p:cNvPr id="29" name="Text 27"/>
          <p:cNvSpPr/>
          <p:nvPr/>
        </p:nvSpPr>
        <p:spPr>
          <a:xfrm>
            <a:off x="627735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30" name="Text 28"/>
          <p:cNvSpPr/>
          <p:nvPr/>
        </p:nvSpPr>
        <p:spPr>
          <a:xfrm>
            <a:off x="817473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26,2 %</a:t>
            </a:r>
            <a:endParaRPr lang="en-US" sz="900" dirty="0"/>
          </a:p>
        </p:txBody>
      </p:sp>
      <p:sp>
        <p:nvSpPr>
          <p:cNvPr id="31" name="Text 29"/>
          <p:cNvSpPr/>
          <p:nvPr/>
        </p:nvSpPr>
        <p:spPr>
          <a:xfrm>
            <a:off x="1007211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+25,6 pts</a:t>
            </a:r>
            <a:endParaRPr lang="en-US" sz="90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Import</a:t>
            </a:r>
            <a:endParaRPr lang="en-US" sz="900" dirty="0"/>
          </a:p>
        </p:txBody>
      </p:sp>
      <p:sp>
        <p:nvSpPr>
          <p:cNvPr id="34" name="Text 32"/>
          <p:cNvSpPr/>
          <p:nvPr/>
        </p:nvSpPr>
        <p:spPr>
          <a:xfrm>
            <a:off x="585216" y="2176272"/>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35" name="Text 33"/>
          <p:cNvSpPr/>
          <p:nvPr/>
        </p:nvSpPr>
        <p:spPr>
          <a:xfrm>
            <a:off x="248259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~400 TEU</a:t>
            </a:r>
            <a:endParaRPr lang="en-US" sz="900" dirty="0"/>
          </a:p>
        </p:txBody>
      </p:sp>
      <p:sp>
        <p:nvSpPr>
          <p:cNvPr id="36" name="Text 34"/>
          <p:cNvSpPr/>
          <p:nvPr/>
        </p:nvSpPr>
        <p:spPr>
          <a:xfrm>
            <a:off x="437997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37" name="Text 35"/>
          <p:cNvSpPr/>
          <p:nvPr/>
        </p:nvSpPr>
        <p:spPr>
          <a:xfrm>
            <a:off x="627735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38" name="Text 36"/>
          <p:cNvSpPr/>
          <p:nvPr/>
        </p:nvSpPr>
        <p:spPr>
          <a:xfrm>
            <a:off x="817473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11,3 %</a:t>
            </a:r>
            <a:endParaRPr lang="en-US" sz="900" dirty="0"/>
          </a:p>
        </p:txBody>
      </p:sp>
      <p:sp>
        <p:nvSpPr>
          <p:cNvPr id="39" name="Text 37"/>
          <p:cNvSpPr/>
          <p:nvPr/>
        </p:nvSpPr>
        <p:spPr>
          <a:xfrm>
            <a:off x="1007211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+9,9 pts</a:t>
            </a:r>
            <a:endParaRPr lang="en-US" sz="90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Export</a:t>
            </a:r>
            <a:endParaRPr lang="en-US" sz="900" dirty="0"/>
          </a:p>
        </p:txBody>
      </p:sp>
      <p:sp>
        <p:nvSpPr>
          <p:cNvPr id="42" name="Text 40"/>
          <p:cNvSpPr/>
          <p:nvPr/>
        </p:nvSpPr>
        <p:spPr>
          <a:xfrm>
            <a:off x="585216" y="2432304"/>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présent</a:t>
            </a:r>
            <a:endParaRPr lang="en-US" sz="900" dirty="0"/>
          </a:p>
        </p:txBody>
      </p:sp>
      <p:sp>
        <p:nvSpPr>
          <p:cNvPr id="43" name="Text 41"/>
          <p:cNvSpPr/>
          <p:nvPr/>
        </p:nvSpPr>
        <p:spPr>
          <a:xfrm>
            <a:off x="248259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Text 42"/>
          <p:cNvSpPr/>
          <p:nvPr/>
        </p:nvSpPr>
        <p:spPr>
          <a:xfrm>
            <a:off x="437997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627735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46" name="Text 44"/>
          <p:cNvSpPr/>
          <p:nvPr/>
        </p:nvSpPr>
        <p:spPr>
          <a:xfrm>
            <a:off x="817473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66,1 %</a:t>
            </a:r>
            <a:endParaRPr lang="en-US" sz="900" dirty="0"/>
          </a:p>
        </p:txBody>
      </p:sp>
      <p:sp>
        <p:nvSpPr>
          <p:cNvPr id="47" name="Text 45"/>
          <p:cNvSpPr/>
          <p:nvPr/>
        </p:nvSpPr>
        <p:spPr>
          <a:xfrm>
            <a:off x="1007211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Aérien Import</a:t>
            </a:r>
            <a:endParaRPr lang="en-US" sz="900" dirty="0"/>
          </a:p>
        </p:txBody>
      </p:sp>
      <p:sp>
        <p:nvSpPr>
          <p:cNvPr id="50" name="Text 48"/>
          <p:cNvSpPr/>
          <p:nvPr/>
        </p:nvSpPr>
        <p:spPr>
          <a:xfrm>
            <a:off x="585216" y="2688336"/>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51" name="Text 49"/>
          <p:cNvSpPr/>
          <p:nvPr/>
        </p:nvSpPr>
        <p:spPr>
          <a:xfrm>
            <a:off x="248259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 kg (HANNYYAH)</a:t>
            </a:r>
            <a:endParaRPr lang="en-US" sz="900" dirty="0"/>
          </a:p>
        </p:txBody>
      </p:sp>
      <p:sp>
        <p:nvSpPr>
          <p:cNvPr id="52" name="Text 50"/>
          <p:cNvSpPr/>
          <p:nvPr/>
        </p:nvSpPr>
        <p:spPr>
          <a:xfrm>
            <a:off x="437997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53" name="Text 51"/>
          <p:cNvSpPr/>
          <p:nvPr/>
        </p:nvSpPr>
        <p:spPr>
          <a:xfrm>
            <a:off x="627735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54" name="Text 52"/>
          <p:cNvSpPr/>
          <p:nvPr/>
        </p:nvSpPr>
        <p:spPr>
          <a:xfrm>
            <a:off x="817473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20,8 %</a:t>
            </a:r>
            <a:endParaRPr lang="en-US" sz="900" dirty="0"/>
          </a:p>
        </p:txBody>
      </p:sp>
      <p:sp>
        <p:nvSpPr>
          <p:cNvPr id="55" name="Text 53"/>
          <p:cNvSpPr/>
          <p:nvPr/>
        </p:nvSpPr>
        <p:spPr>
          <a:xfrm>
            <a:off x="1007211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+15,9 pts</a:t>
            </a:r>
            <a:endParaRPr lang="en-US" sz="90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DSM – Tramps</a:t>
            </a:r>
            <a:endParaRPr lang="en-US" sz="900" dirty="0"/>
          </a:p>
        </p:txBody>
      </p:sp>
      <p:sp>
        <p:nvSpPr>
          <p:cNvPr id="58" name="Text 56"/>
          <p:cNvSpPr/>
          <p:nvPr/>
        </p:nvSpPr>
        <p:spPr>
          <a:xfrm>
            <a:off x="585216" y="2944368"/>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9" name="Text 57"/>
          <p:cNvSpPr/>
          <p:nvPr/>
        </p:nvSpPr>
        <p:spPr>
          <a:xfrm>
            <a:off x="248259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~3 900 T</a:t>
            </a:r>
            <a:endParaRPr lang="en-US" sz="900" dirty="0"/>
          </a:p>
        </p:txBody>
      </p:sp>
      <p:sp>
        <p:nvSpPr>
          <p:cNvPr id="60" name="Text 58"/>
          <p:cNvSpPr/>
          <p:nvPr/>
        </p:nvSpPr>
        <p:spPr>
          <a:xfrm>
            <a:off x="437997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61" name="Text 59"/>
          <p:cNvSpPr/>
          <p:nvPr/>
        </p:nvSpPr>
        <p:spPr>
          <a:xfrm>
            <a:off x="627735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2" name="Text 60"/>
          <p:cNvSpPr/>
          <p:nvPr/>
        </p:nvSpPr>
        <p:spPr>
          <a:xfrm>
            <a:off x="817473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~11 %</a:t>
            </a:r>
            <a:endParaRPr lang="en-US" sz="900" dirty="0"/>
          </a:p>
        </p:txBody>
      </p:sp>
      <p:sp>
        <p:nvSpPr>
          <p:cNvPr id="63" name="Text 61"/>
          <p:cNvSpPr/>
          <p:nvPr/>
        </p:nvSpPr>
        <p:spPr>
          <a:xfrm>
            <a:off x="1007211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+6,8 pts</a:t>
            </a:r>
            <a:endParaRPr lang="en-US" sz="90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2026-06-18T09:05:13Z</dcterms:created>
  <dcterms:modified xsi:type="dcterms:W3CDTF">2026-06-18T09:05:13Z</dcterms:modified>
</cp:coreProperties>
</file>