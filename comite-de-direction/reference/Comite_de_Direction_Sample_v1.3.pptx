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5.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6.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7.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8.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Marché qualifié</c:v>
                </c:pt>
              </c:strCache>
            </c:strRef>
          </c:tx>
          <c:spPr>
            <a:solidFill>
              <a:srgbClr val="0D2243"/>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Sheet1!$B$2:$B$6</c:f>
              <c:numCache>
                <c:formatCode>General</c:formatCode>
                <c:ptCount val="5"/>
                <c:pt idx="0">
                  <c:v>41800</c:v>
                </c:pt>
                <c:pt idx="1">
                  <c:v>36800</c:v>
                </c:pt>
                <c:pt idx="2">
                  <c:v>43600</c:v>
                </c:pt>
                <c:pt idx="3">
                  <c:v>38500</c:v>
                </c:pt>
                <c:pt idx="4">
                  <c:v>33200</c:v>
                </c:pt>
              </c:numCache>
            </c:numRef>
          </c:val>
        </c:ser>
        <c:ser>
          <c:idx val="1"/>
          <c:order val="1"/>
          <c:tx>
            <c:strRef>
              <c:f>Sheet1!$C$1</c:f>
              <c:strCache>
                <c:ptCount val="1"/>
                <c:pt idx="0">
                  <c:v>AGL</c:v>
                </c:pt>
              </c:strCache>
            </c:strRef>
          </c:tx>
          <c:spPr>
            <a:solidFill>
              <a:srgbClr val="C9A84C"/>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Sheet1!$C$2:$C$6</c:f>
              <c:numCache>
                <c:formatCode>General</c:formatCode>
                <c:ptCount val="5"/>
                <c:pt idx="0">
                  <c:v>3470</c:v>
                </c:pt>
                <c:pt idx="1">
                  <c:v>2544</c:v>
                </c:pt>
                <c:pt idx="2">
                  <c:v>3270</c:v>
                </c:pt>
                <c:pt idx="3">
                  <c:v>3278</c:v>
                </c:pt>
                <c:pt idx="4">
                  <c:v>2571</c:v>
                </c:pt>
              </c:numCache>
            </c:numRef>
          </c:val>
        </c:ser>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Mix</c:v>
                </c:pt>
              </c:strCache>
            </c:strRef>
          </c:tx>
          <c:spPr>
            <a:solidFill>
              <a:schemeClr val="accent1"/>
            </a:solidFill>
            <a:ln w="9525" cap="flat">
              <a:solidFill>
                <a:srgbClr val="F9F9F9"/>
              </a:solidFill>
              <a:prstDash val="solid"/>
              <a:round/>
            </a:ln>
            <a:effectLst/>
          </c:spPr>
          <c:dPt>
            <c:idx val="0"/>
            <c:bubble3D val="0"/>
            <c:spPr>
              <a:solidFill>
                <a:srgbClr val="0D2243"/>
              </a:solidFill>
              <a:effectLst/>
            </c:spPr>
          </c:dPt>
          <c:dPt>
            <c:idx val="1"/>
            <c:bubble3D val="0"/>
            <c:spPr>
              <a:solidFill>
                <a:srgbClr val="C9A84C"/>
              </a:solidFill>
              <a:effectLst/>
            </c:spPr>
          </c:dPt>
          <c:dPt>
            <c:idx val="2"/>
            <c:bubble3D val="0"/>
            <c:spPr>
              <a:solidFill>
                <a:srgbClr val="2563A8"/>
              </a:solidFill>
              <a:effectLst/>
            </c:spPr>
          </c:dPt>
          <c:dPt>
            <c:idx val="3"/>
            <c:bubble3D val="0"/>
            <c:spPr>
              <a:solidFill>
                <a:srgbClr val="1A7C4F"/>
              </a:solidFill>
              <a:effectLst/>
            </c:spPr>
          </c:dPt>
          <c:dPt>
            <c:idx val="4"/>
            <c:bubble3D val="0"/>
            <c:spPr>
              <a:solidFill>
                <a:srgbClr val="E05A00"/>
              </a:solidFill>
              <a:effectLst/>
            </c:spPr>
          </c:dPt>
          <c:dPt>
            <c:idx val="5"/>
            <c:bubble3D val="0"/>
            <c:spPr>
              <a:solidFill>
                <a:srgbClr val="0E7490"/>
              </a:solidFill>
              <a:effectLst/>
            </c:spPr>
          </c:dPt>
          <c:dPt>
            <c:idx val="6"/>
            <c:bubble3D val="0"/>
            <c:spPr>
              <a:solidFill>
                <a:srgbClr val="CC2200"/>
              </a:solidFill>
              <a:effectLst/>
            </c:spPr>
          </c:dPt>
          <c:dPt>
            <c:idx val="7"/>
            <c:bubble3D val="0"/>
            <c:spPr>
              <a:solidFill>
                <a:srgbClr val="9CA3AF"/>
              </a:solidFill>
              <a:effectLst/>
            </c:spPr>
          </c:dPt>
          <c:dPt>
            <c:idx val="8"/>
            <c:bubble3D val="0"/>
            <c:spPr>
              <a:solidFill>
                <a:srgbClr val="D1D5DB"/>
              </a:solidFill>
              <a:effectLst/>
            </c:spPr>
          </c:dPt>
          <c:dLbls>
            <c:dLbl>
              <c:idx val="0"/>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5"/>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6"/>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7"/>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8"/>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Sheet1!$A$2:$A$10</c:f>
              <c:strCache>
                <c:ptCount val="9"/>
                <c:pt idx="0">
                  <c:v>Mat. Miniers</c:v>
                </c:pt>
                <c:pt idx="1">
                  <c:v>Emballages</c:v>
                </c:pt>
                <c:pt idx="2">
                  <c:v>Mat. Construction</c:v>
                </c:pt>
                <c:pt idx="3">
                  <c:v>Médicaments</c:v>
                </c:pt>
                <c:pt idx="4">
                  <c:v>PVC Résine</c:v>
                </c:pt>
                <c:pt idx="5">
                  <c:v>Papier</c:v>
                </c:pt>
                <c:pt idx="6">
                  <c:v>Cigarettes</c:v>
                </c:pt>
                <c:pt idx="7">
                  <c:v>Polyéthylène</c:v>
                </c:pt>
                <c:pt idx="8">
                  <c:v>Autres</c:v>
                </c:pt>
              </c:strCache>
            </c:strRef>
          </c:cat>
          <c:val>
            <c:numRef>
              <c:f>Sheet1!$B$2:$B$10</c:f>
              <c:numCache>
                <c:ptCount val="9"/>
                <c:pt idx="0">
                  <c:v>16</c:v>
                </c:pt>
                <c:pt idx="1">
                  <c:v>10</c:v>
                </c:pt>
                <c:pt idx="2">
                  <c:v>10</c:v>
                </c:pt>
                <c:pt idx="3">
                  <c:v>10</c:v>
                </c:pt>
                <c:pt idx="4">
                  <c:v>9</c:v>
                </c:pt>
                <c:pt idx="5">
                  <c:v>8</c:v>
                </c:pt>
                <c:pt idx="6">
                  <c:v>7</c:v>
                </c:pt>
                <c:pt idx="7">
                  <c:v>6</c:v>
                </c:pt>
                <c:pt idx="8">
                  <c:v>24</c:v>
                </c:pt>
              </c:numCache>
            </c:numRef>
          </c:val>
        </c:ser>
        <c:firstSliceAng val="0"/>
      </c:pieChart>
      <c:spPr>
        <a:noFill/>
        <a:ln>
          <a:noFill/>
        </a:ln>
        <a:effectLst/>
      </c:spPr>
    </c:plotArea>
    <c:legend>
      <c:legendPos val="r"/>
      <c:overlay val="0"/>
      <c:txPr>
        <a:bodyPr/>
        <a:lstStyle/>
        <a:p>
          <a:pPr>
            <a:defRPr sz="8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Marché qualifié</c:v>
                </c:pt>
              </c:strCache>
            </c:strRef>
          </c:tx>
          <c:spPr>
            <a:solidFill>
              <a:srgbClr val="0D2243"/>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Sheet1!$B$2:$B$6</c:f>
              <c:numCache>
                <c:formatCode>General</c:formatCode>
                <c:ptCount val="5"/>
                <c:pt idx="0">
                  <c:v>28900</c:v>
                </c:pt>
                <c:pt idx="1">
                  <c:v>26900</c:v>
                </c:pt>
                <c:pt idx="2">
                  <c:v>28100</c:v>
                </c:pt>
                <c:pt idx="3">
                  <c:v>31200</c:v>
                </c:pt>
                <c:pt idx="4">
                  <c:v>22400</c:v>
                </c:pt>
              </c:numCache>
            </c:numRef>
          </c:val>
        </c:ser>
        <c:ser>
          <c:idx val="1"/>
          <c:order val="1"/>
          <c:tx>
            <c:strRef>
              <c:f>Sheet1!$C$1</c:f>
              <c:strCache>
                <c:ptCount val="1"/>
                <c:pt idx="0">
                  <c:v>AGL</c:v>
                </c:pt>
              </c:strCache>
            </c:strRef>
          </c:tx>
          <c:spPr>
            <a:solidFill>
              <a:srgbClr val="C9A84C"/>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Sheet1!$C$2:$C$6</c:f>
              <c:numCache>
                <c:formatCode>General</c:formatCode>
                <c:ptCount val="5"/>
                <c:pt idx="0">
                  <c:v>8766</c:v>
                </c:pt>
                <c:pt idx="1">
                  <c:v>6778</c:v>
                </c:pt>
                <c:pt idx="2">
                  <c:v>8093</c:v>
                </c:pt>
                <c:pt idx="3">
                  <c:v>7895</c:v>
                </c:pt>
                <c:pt idx="4">
                  <c:v>4518</c:v>
                </c:pt>
              </c:numCache>
            </c:numRef>
          </c:val>
        </c:ser>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Filières TEM</c:v>
                </c:pt>
              </c:strCache>
            </c:strRef>
          </c:tx>
          <c:spPr>
            <a:solidFill>
              <a:schemeClr val="accent1"/>
            </a:solidFill>
            <a:ln w="9525" cap="flat">
              <a:solidFill>
                <a:srgbClr val="F9F9F9"/>
              </a:solidFill>
              <a:prstDash val="solid"/>
              <a:round/>
            </a:ln>
            <a:effectLst/>
          </c:spPr>
          <c:dPt>
            <c:idx val="0"/>
            <c:bubble3D val="0"/>
            <c:spPr>
              <a:solidFill>
                <a:srgbClr val="0D2243"/>
              </a:solidFill>
              <a:effectLst/>
            </c:spPr>
          </c:dPt>
          <c:dPt>
            <c:idx val="1"/>
            <c:bubble3D val="0"/>
            <c:spPr>
              <a:solidFill>
                <a:srgbClr val="1A7C4F"/>
              </a:solidFill>
              <a:effectLst/>
            </c:spPr>
          </c:dPt>
          <c:dPt>
            <c:idx val="2"/>
            <c:bubble3D val="0"/>
            <c:spPr>
              <a:solidFill>
                <a:srgbClr val="C9A84C"/>
              </a:solidFill>
              <a:effectLst/>
            </c:spPr>
          </c:dPt>
          <c:dPt>
            <c:idx val="3"/>
            <c:bubble3D val="0"/>
            <c:spPr>
              <a:solidFill>
                <a:srgbClr val="E05A00"/>
              </a:solidFill>
              <a:effectLst/>
            </c:spPr>
          </c:dPt>
          <c:dPt>
            <c:idx val="4"/>
            <c:bubble3D val="0"/>
            <c:spPr>
              <a:solidFill>
                <a:srgbClr val="2563A8"/>
              </a:solidFill>
              <a:effectLst/>
            </c:spPr>
          </c:dPt>
          <c:dPt>
            <c:idx val="5"/>
            <c:bubble3D val="0"/>
            <c:spPr>
              <a:solidFill>
                <a:srgbClr val="0E7490"/>
              </a:solidFill>
              <a:effectLst/>
            </c:spPr>
          </c:dPt>
          <c:dPt>
            <c:idx val="6"/>
            <c:bubble3D val="0"/>
            <c:spPr>
              <a:solidFill>
                <a:srgbClr val="6B7280"/>
              </a:solidFill>
              <a:effectLst/>
            </c:spPr>
          </c:dPt>
          <c:dLbls>
            <c:dLbl>
              <c:idx val="0"/>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5"/>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6"/>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Sheet1!$A$2:$A$8</c:f>
              <c:strCache>
                <c:ptCount val="7"/>
                <c:pt idx="0">
                  <c:v>Cacao</c:v>
                </c:pt>
                <c:pt idx="1">
                  <c:v>Bananes</c:v>
                </c:pt>
                <c:pt idx="2">
                  <c:v>Caoutchouc</c:v>
                </c:pt>
                <c:pt idx="3">
                  <c:v>Dérivés cacao</c:v>
                </c:pt>
                <c:pt idx="4">
                  <c:v>Coton</c:v>
                </c:pt>
                <c:pt idx="5">
                  <c:v>Cajou</c:v>
                </c:pt>
                <c:pt idx="6">
                  <c:v>Autres</c:v>
                </c:pt>
              </c:strCache>
            </c:strRef>
          </c:cat>
          <c:val>
            <c:numRef>
              <c:f>Sheet1!$B$2:$B$8</c:f>
              <c:numCache>
                <c:ptCount val="7"/>
                <c:pt idx="0">
                  <c:v>36</c:v>
                </c:pt>
                <c:pt idx="1">
                  <c:v>20</c:v>
                </c:pt>
                <c:pt idx="2">
                  <c:v>18</c:v>
                </c:pt>
                <c:pt idx="3">
                  <c:v>13</c:v>
                </c:pt>
                <c:pt idx="4">
                  <c:v>8</c:v>
                </c:pt>
                <c:pt idx="5">
                  <c:v>3</c:v>
                </c:pt>
                <c:pt idx="6">
                  <c:v>2</c:v>
                </c:pt>
              </c:numCache>
            </c:numRef>
          </c:val>
        </c:ser>
        <c:firstSliceAng val="0"/>
      </c:pieChart>
      <c:spPr>
        <a:noFill/>
        <a:ln>
          <a:noFill/>
        </a:ln>
        <a:effectLst/>
      </c:spPr>
    </c:plotArea>
    <c:legend>
      <c:legendPos val="r"/>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Marché qualifié</c:v>
                </c:pt>
              </c:strCache>
            </c:strRef>
          </c:tx>
          <c:spPr>
            <a:solidFill>
              <a:srgbClr val="0D2243"/>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Sheet1!$B$2:$B$6</c:f>
              <c:numCache>
                <c:formatCode>General</c:formatCode>
                <c:ptCount val="5"/>
                <c:pt idx="0">
                  <c:v>5400</c:v>
                </c:pt>
                <c:pt idx="1">
                  <c:v>5800</c:v>
                </c:pt>
                <c:pt idx="2">
                  <c:v>5600</c:v>
                </c:pt>
                <c:pt idx="3">
                  <c:v>6100</c:v>
                </c:pt>
                <c:pt idx="4">
                  <c:v>5550</c:v>
                </c:pt>
              </c:numCache>
            </c:numRef>
          </c:val>
        </c:ser>
        <c:ser>
          <c:idx val="1"/>
          <c:order val="1"/>
          <c:tx>
            <c:strRef>
              <c:f>Sheet1!$C$1</c:f>
              <c:strCache>
                <c:ptCount val="1"/>
                <c:pt idx="0">
                  <c:v>AGL</c:v>
                </c:pt>
              </c:strCache>
            </c:strRef>
          </c:tx>
          <c:spPr>
            <a:solidFill>
              <a:srgbClr val="E05A00"/>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Sheet1!$C$2:$C$6</c:f>
              <c:numCache>
                <c:formatCode>General</c:formatCode>
                <c:ptCount val="5"/>
                <c:pt idx="0">
                  <c:v>886</c:v>
                </c:pt>
                <c:pt idx="1">
                  <c:v>598</c:v>
                </c:pt>
                <c:pt idx="2">
                  <c:v>431</c:v>
                </c:pt>
                <c:pt idx="3">
                  <c:v>652</c:v>
                </c:pt>
                <c:pt idx="4">
                  <c:v>647</c:v>
                </c:pt>
              </c:numCache>
            </c:numRef>
          </c:val>
        </c:ser>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Marché total</c:v>
                </c:pt>
              </c:strCache>
            </c:strRef>
          </c:tx>
          <c:spPr>
            <a:solidFill>
              <a:srgbClr val="0D2243"/>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Sheet1!$B$2:$B$6</c:f>
              <c:numCache>
                <c:formatCode>General</c:formatCode>
                <c:ptCount val="5"/>
                <c:pt idx="0">
                  <c:v>870</c:v>
                </c:pt>
                <c:pt idx="1">
                  <c:v>950</c:v>
                </c:pt>
                <c:pt idx="2">
                  <c:v>900</c:v>
                </c:pt>
                <c:pt idx="3">
                  <c:v>820</c:v>
                </c:pt>
                <c:pt idx="4">
                  <c:v>754</c:v>
                </c:pt>
              </c:numCache>
            </c:numRef>
          </c:val>
        </c:ser>
        <c:ser>
          <c:idx val="1"/>
          <c:order val="1"/>
          <c:tx>
            <c:strRef>
              <c:f>Sheet1!$C$1</c:f>
              <c:strCache>
                <c:ptCount val="1"/>
                <c:pt idx="0">
                  <c:v>AGL</c:v>
                </c:pt>
              </c:strCache>
            </c:strRef>
          </c:tx>
          <c:spPr>
            <a:solidFill>
              <a:srgbClr val="1A7C4F"/>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Sheet1!$C$2:$C$6</c:f>
              <c:numCache>
                <c:formatCode>General</c:formatCode>
                <c:ptCount val="5"/>
                <c:pt idx="0">
                  <c:v>441</c:v>
                </c:pt>
                <c:pt idx="1">
                  <c:v>693</c:v>
                </c:pt>
                <c:pt idx="2">
                  <c:v>647</c:v>
                </c:pt>
                <c:pt idx="3">
                  <c:v>559</c:v>
                </c:pt>
                <c:pt idx="4">
                  <c:v>500</c:v>
                </c:pt>
              </c:numCache>
            </c:numRef>
          </c:val>
        </c:ser>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Marché 2025 (kg)</c:v>
                </c:pt>
              </c:strCache>
            </c:strRef>
          </c:tx>
          <c:spPr>
            <a:solidFill>
              <a:srgbClr val="0D2243"/>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Sheet1!$B$2:$B$6</c:f>
              <c:numCache>
                <c:formatCode>General</c:formatCode>
                <c:ptCount val="5"/>
                <c:pt idx="0">
                  <c:v>1180000</c:v>
                </c:pt>
                <c:pt idx="1">
                  <c:v>1020000</c:v>
                </c:pt>
                <c:pt idx="2">
                  <c:v>1100000</c:v>
                </c:pt>
                <c:pt idx="3">
                  <c:v>1150000</c:v>
                </c:pt>
                <c:pt idx="4">
                  <c:v>1071000</c:v>
                </c:pt>
              </c:numCache>
            </c:numRef>
          </c:val>
        </c:ser>
        <c:ser>
          <c:idx val="1"/>
          <c:order val="1"/>
          <c:tx>
            <c:strRef>
              <c:f>Sheet1!$C$1</c:f>
              <c:strCache>
                <c:ptCount val="1"/>
                <c:pt idx="0">
                  <c:v>Marché 2026 (kg)</c:v>
                </c:pt>
              </c:strCache>
            </c:strRef>
          </c:tx>
          <c:spPr>
            <a:solidFill>
              <a:srgbClr val="C9A84C"/>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Sheet1!$C$2:$C$6</c:f>
              <c:numCache>
                <c:formatCode>General</c:formatCode>
                <c:ptCount val="5"/>
                <c:pt idx="0">
                  <c:v>1220000</c:v>
                </c:pt>
                <c:pt idx="1">
                  <c:v>1050000</c:v>
                </c:pt>
                <c:pt idx="2">
                  <c:v>1130000</c:v>
                </c:pt>
                <c:pt idx="3">
                  <c:v>1050000</c:v>
                </c:pt>
                <c:pt idx="4">
                  <c:v>1153000</c:v>
                </c:pt>
              </c:numCache>
            </c:numRef>
          </c:val>
        </c:ser>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Mix Aérien</c:v>
                </c:pt>
              </c:strCache>
            </c:strRef>
          </c:tx>
          <c:spPr>
            <a:solidFill>
              <a:schemeClr val="accent1"/>
            </a:solidFill>
            <a:ln w="9525" cap="flat">
              <a:solidFill>
                <a:srgbClr val="F9F9F9"/>
              </a:solidFill>
              <a:prstDash val="solid"/>
              <a:round/>
            </a:ln>
            <a:effectLst/>
          </c:spPr>
          <c:dPt>
            <c:idx val="0"/>
            <c:bubble3D val="0"/>
            <c:spPr>
              <a:solidFill>
                <a:srgbClr val="0D2243"/>
              </a:solidFill>
              <a:effectLst/>
            </c:spPr>
          </c:dPt>
          <c:dPt>
            <c:idx val="1"/>
            <c:bubble3D val="0"/>
            <c:spPr>
              <a:solidFill>
                <a:srgbClr val="1A7C4F"/>
              </a:solidFill>
              <a:effectLst/>
            </c:spPr>
          </c:dPt>
          <c:dPt>
            <c:idx val="2"/>
            <c:bubble3D val="0"/>
            <c:spPr>
              <a:solidFill>
                <a:srgbClr val="C9A84C"/>
              </a:solidFill>
              <a:effectLst/>
            </c:spPr>
          </c:dPt>
          <c:dPt>
            <c:idx val="3"/>
            <c:bubble3D val="0"/>
            <c:spPr>
              <a:solidFill>
                <a:srgbClr val="E05A00"/>
              </a:solidFill>
              <a:effectLst/>
            </c:spPr>
          </c:dPt>
          <c:dPt>
            <c:idx val="4"/>
            <c:bubble3D val="0"/>
            <c:spPr>
              <a:solidFill>
                <a:srgbClr val="0E7490"/>
              </a:solidFill>
              <a:effectLst/>
            </c:spPr>
          </c:dPt>
          <c:dPt>
            <c:idx val="5"/>
            <c:bubble3D val="0"/>
            <c:spPr>
              <a:solidFill>
                <a:srgbClr val="6B7280"/>
              </a:solidFill>
              <a:effectLst/>
            </c:spPr>
          </c:dPt>
          <c:dLbls>
            <c:dLbl>
              <c:idx val="0"/>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5"/>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Sheet1!$A$2:$A$7</c:f>
              <c:strCache>
                <c:ptCount val="6"/>
                <c:pt idx="0">
                  <c:v>Mat. Miniers</c:v>
                </c:pt>
                <c:pt idx="1">
                  <c:v>Prod. Alimentaires</c:v>
                </c:pt>
                <c:pt idx="2">
                  <c:v>Médicaments</c:v>
                </c:pt>
                <c:pt idx="3">
                  <c:v>Télécoms</c:v>
                </c:pt>
                <c:pt idx="4">
                  <c:v>Alimentaire</c:v>
                </c:pt>
                <c:pt idx="5">
                  <c:v>Autres</c:v>
                </c:pt>
              </c:strCache>
            </c:strRef>
          </c:cat>
          <c:val>
            <c:numRef>
              <c:f>Sheet1!$B$2:$B$7</c:f>
              <c:numCache>
                <c:ptCount val="6"/>
                <c:pt idx="0">
                  <c:v>27</c:v>
                </c:pt>
                <c:pt idx="1">
                  <c:v>23</c:v>
                </c:pt>
                <c:pt idx="2">
                  <c:v>5</c:v>
                </c:pt>
                <c:pt idx="3">
                  <c:v>6</c:v>
                </c:pt>
                <c:pt idx="4">
                  <c:v>3</c:v>
                </c:pt>
                <c:pt idx="5">
                  <c:v>36</c:v>
                </c:pt>
              </c:numCache>
            </c:numRef>
          </c:val>
        </c:ser>
        <c:firstSliceAng val="0"/>
      </c:pieChart>
      <c:spPr>
        <a:noFill/>
        <a:ln>
          <a:noFill/>
        </a:ln>
        <a:effectLst/>
      </c:spPr>
    </c:plotArea>
    <c:legend>
      <c:legendPos val="r"/>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Shape 1"/>
          <p:cNvSpPr/>
          <p:nvPr/>
        </p:nvSpPr>
        <p:spPr>
          <a:xfrm>
            <a:off x="320040" y="3246120"/>
            <a:ext cx="7772400" cy="54864"/>
          </a:xfrm>
          <a:prstGeom prst="rect">
            <a:avLst/>
          </a:prstGeom>
          <a:solidFill>
            <a:srgbClr val="C9A84C"/>
          </a:solidFill>
          <a:ln/>
        </p:spPr>
      </p:sp>
      <p:sp>
        <p:nvSpPr>
          <p:cNvPr id="4" name="Text 2"/>
          <p:cNvSpPr/>
          <p:nvPr/>
        </p:nvSpPr>
        <p:spPr>
          <a:xfrm>
            <a:off x="320040" y="274320"/>
            <a:ext cx="1828800" cy="54864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AGL</a:t>
            </a:r>
            <a:endParaRPr lang="en-US" sz="3600" dirty="0"/>
          </a:p>
        </p:txBody>
      </p:sp>
      <p:sp>
        <p:nvSpPr>
          <p:cNvPr id="5" name="Text 3"/>
          <p:cNvSpPr/>
          <p:nvPr/>
        </p:nvSpPr>
        <p:spPr>
          <a:xfrm>
            <a:off x="320040" y="804672"/>
            <a:ext cx="3657600" cy="228600"/>
          </a:xfrm>
          <a:prstGeom prst="rect">
            <a:avLst/>
          </a:prstGeom>
          <a:noFill/>
          <a:ln/>
        </p:spPr>
        <p:txBody>
          <a:bodyPr wrap="square" rtlCol="0" anchor="ctr"/>
          <a:lstStyle/>
          <a:p>
            <a:pPr indent="0" marL="0">
              <a:buNone/>
            </a:pPr>
            <a:r>
              <a:rPr lang="en-US" sz="800" spc="100" kern="0" dirty="0">
                <a:solidFill>
                  <a:srgbClr val="FFFFFF"/>
                </a:solidFill>
                <a:latin typeface="Calibri" pitchFamily="34" charset="0"/>
                <a:ea typeface="Calibri" pitchFamily="34" charset="-122"/>
                <a:cs typeface="Calibri" pitchFamily="34" charset="-120"/>
              </a:rPr>
              <a:t>AFRICA GLOBAL LOGISTICS</a:t>
            </a:r>
            <a:endParaRPr lang="en-US" sz="800" dirty="0"/>
          </a:p>
        </p:txBody>
      </p:sp>
      <p:sp>
        <p:nvSpPr>
          <p:cNvPr id="6" name="Text 4"/>
          <p:cNvSpPr/>
          <p:nvPr/>
        </p:nvSpPr>
        <p:spPr>
          <a:xfrm>
            <a:off x="320040" y="1371600"/>
            <a:ext cx="7315200" cy="1645920"/>
          </a:xfrm>
          <a:prstGeom prst="rect">
            <a:avLst/>
          </a:prstGeom>
          <a:noFill/>
          <a:ln/>
        </p:spPr>
        <p:txBody>
          <a:bodyPr wrap="square"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Revue Stratégique &amp;</a:t>
            </a:r>
            <a:endParaRPr lang="en-US" sz="4400" dirty="0"/>
          </a:p>
          <a:p>
            <a:pPr indent="0" marL="0">
              <a:buNone/>
            </a:pPr>
            <a:r>
              <a:rPr lang="en-US" sz="4400" b="1" dirty="0">
                <a:solidFill>
                  <a:srgbClr val="FFFFFF"/>
                </a:solidFill>
                <a:latin typeface="Calibri" pitchFamily="34" charset="0"/>
                <a:ea typeface="Calibri" pitchFamily="34" charset="-122"/>
                <a:cs typeface="Calibri" pitchFamily="34" charset="-120"/>
              </a:rPr>
              <a:t>Marketing</a:t>
            </a:r>
            <a:endParaRPr lang="en-US" sz="4400" dirty="0"/>
          </a:p>
        </p:txBody>
      </p:sp>
      <p:sp>
        <p:nvSpPr>
          <p:cNvPr id="7" name="Text 5"/>
          <p:cNvSpPr/>
          <p:nvPr/>
        </p:nvSpPr>
        <p:spPr>
          <a:xfrm>
            <a:off x="320040" y="3429000"/>
            <a:ext cx="5486400" cy="594360"/>
          </a:xfrm>
          <a:prstGeom prst="rect">
            <a:avLst/>
          </a:prstGeom>
          <a:noFill/>
          <a:ln/>
        </p:spPr>
        <p:txBody>
          <a:bodyPr wrap="square" rtlCol="0" anchor="ctr"/>
          <a:lstStyle/>
          <a:p>
            <a:pPr indent="0" marL="0">
              <a:buNone/>
            </a:pPr>
            <a:r>
              <a:rPr lang="en-US" sz="2400" b="1" dirty="0">
                <a:solidFill>
                  <a:srgbClr val="C9A84C"/>
                </a:solidFill>
                <a:latin typeface="Calibri" pitchFamily="34" charset="0"/>
                <a:ea typeface="Calibri" pitchFamily="34" charset="-122"/>
                <a:cs typeface="Calibri" pitchFamily="34" charset="-120"/>
              </a:rPr>
              <a:t>Reporting 2026</a:t>
            </a:r>
            <a:endParaRPr lang="en-US" sz="2400" dirty="0"/>
          </a:p>
        </p:txBody>
      </p:sp>
      <p:sp>
        <p:nvSpPr>
          <p:cNvPr id="8" name="Text 6"/>
          <p:cNvSpPr/>
          <p:nvPr/>
        </p:nvSpPr>
        <p:spPr>
          <a:xfrm>
            <a:off x="320040" y="4251960"/>
            <a:ext cx="4114800" cy="10972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At the heart</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of Africa's</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transformation</a:t>
            </a:r>
            <a:endParaRPr lang="en-US" sz="1600" dirty="0"/>
          </a:p>
        </p:txBody>
      </p:sp>
      <p:sp>
        <p:nvSpPr>
          <p:cNvPr id="9" name="Text 7"/>
          <p:cNvSpPr/>
          <p:nvPr/>
        </p:nvSpPr>
        <p:spPr>
          <a:xfrm>
            <a:off x="2743200" y="6537960"/>
            <a:ext cx="6400800" cy="256032"/>
          </a:xfrm>
          <a:prstGeom prst="rect">
            <a:avLst/>
          </a:prstGeom>
          <a:noFill/>
          <a:ln/>
        </p:spPr>
        <p:txBody>
          <a:bodyPr wrap="square" rtlCol="0" anchor="ctr"/>
          <a:lstStyle/>
          <a:p>
            <a:pPr algn="ctr" indent="0" marL="0">
              <a:buNone/>
            </a:pPr>
            <a:r>
              <a:rPr lang="en-US" sz="950" dirty="0">
                <a:solidFill>
                  <a:srgbClr val="6B7280"/>
                </a:solidFill>
                <a:latin typeface="Calibri" pitchFamily="34" charset="0"/>
                <a:ea typeface="Calibri" pitchFamily="34" charset="-122"/>
                <a:cs typeface="Calibri" pitchFamily="34" charset="-120"/>
              </a:rPr>
              <a:t>Direction Marketing &amp; RP  |  AGL Abidjan  |  Juin 2026</a:t>
            </a:r>
            <a:endParaRPr lang="en-US" sz="950" dirty="0"/>
          </a:p>
        </p:txBody>
      </p:sp>
      <p:sp>
        <p:nvSpPr>
          <p:cNvPr id="10" name="Text 8"/>
          <p:cNvSpPr/>
          <p:nvPr/>
        </p:nvSpPr>
        <p:spPr>
          <a:xfrm>
            <a:off x="10972800" y="6492240"/>
            <a:ext cx="1097280" cy="320040"/>
          </a:xfrm>
          <a:prstGeom prst="rect">
            <a:avLst/>
          </a:prstGeom>
          <a:noFill/>
          <a:ln/>
        </p:spPr>
        <p:txBody>
          <a:bodyPr wrap="square" rtlCol="0" anchor="ctr"/>
          <a:lstStyle/>
          <a:p>
            <a:pPr algn="r" indent="0" marL="0">
              <a:buNone/>
            </a:pPr>
            <a:r>
              <a:rPr lang="en-US" sz="1800" b="1" dirty="0">
                <a:solidFill>
                  <a:srgbClr val="FFFFFF"/>
                </a:solidFill>
                <a:latin typeface="Calibri" pitchFamily="34" charset="0"/>
                <a:ea typeface="Calibri" pitchFamily="34" charset="-122"/>
                <a:cs typeface="Calibri" pitchFamily="34" charset="-120"/>
              </a:rPr>
              <a:t>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SOMMAIRE</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Analyse par métier – 5 segments + synthèse stratégique</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p.2</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Shape 5"/>
          <p:cNvSpPr/>
          <p:nvPr/>
        </p:nvSpPr>
        <p:spPr>
          <a:xfrm>
            <a:off x="182880" y="1143000"/>
            <a:ext cx="3840480" cy="1828800"/>
          </a:xfrm>
          <a:prstGeom prst="rect">
            <a:avLst/>
          </a:prstGeom>
          <a:solidFill>
            <a:srgbClr val="F0F2F5"/>
          </a:solidFill>
          <a:ln w="6350">
            <a:solidFill>
              <a:srgbClr val="DDE0E4"/>
            </a:solidFill>
            <a:prstDash val="solid"/>
          </a:ln>
        </p:spPr>
      </p:sp>
      <p:sp>
        <p:nvSpPr>
          <p:cNvPr id="8" name="Shape 6"/>
          <p:cNvSpPr/>
          <p:nvPr/>
        </p:nvSpPr>
        <p:spPr>
          <a:xfrm>
            <a:off x="292608" y="1280160"/>
            <a:ext cx="502920" cy="502920"/>
          </a:xfrm>
          <a:prstGeom prst="rect">
            <a:avLst/>
          </a:prstGeom>
          <a:solidFill>
            <a:srgbClr val="0D2243"/>
          </a:solidFill>
          <a:ln/>
        </p:spPr>
      </p:sp>
      <p:sp>
        <p:nvSpPr>
          <p:cNvPr id="9" name="Text 7"/>
          <p:cNvSpPr/>
          <p:nvPr/>
        </p:nvSpPr>
        <p:spPr>
          <a:xfrm>
            <a:off x="292608" y="1280160"/>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10" name="Text 8"/>
          <p:cNvSpPr/>
          <p:nvPr/>
        </p:nvSpPr>
        <p:spPr>
          <a:xfrm>
            <a:off x="292608" y="1892808"/>
            <a:ext cx="3611880" cy="411480"/>
          </a:xfrm>
          <a:prstGeom prst="rect">
            <a:avLst/>
          </a:prstGeom>
          <a:noFill/>
          <a:ln/>
        </p:spPr>
        <p:txBody>
          <a:bodyPr wrap="square" rtlCol="0" anchor="ctr"/>
          <a:lstStyle/>
          <a:p>
            <a:pPr indent="0" marL="0">
              <a:buNone/>
            </a:pPr>
            <a:r>
              <a:rPr lang="en-US" sz="1200" b="1" dirty="0">
                <a:solidFill>
                  <a:srgbClr val="374151"/>
                </a:solidFill>
                <a:latin typeface="Calibri" pitchFamily="34" charset="0"/>
                <a:ea typeface="Calibri" pitchFamily="34" charset="-122"/>
                <a:cs typeface="Calibri" pitchFamily="34" charset="-120"/>
              </a:rPr>
              <a:t>TIM – Transit Import Maritime</a:t>
            </a:r>
            <a:endParaRPr lang="en-US" sz="1200" dirty="0"/>
          </a:p>
        </p:txBody>
      </p:sp>
      <p:sp>
        <p:nvSpPr>
          <p:cNvPr id="11" name="Text 9"/>
          <p:cNvSpPr/>
          <p:nvPr/>
        </p:nvSpPr>
        <p:spPr>
          <a:xfrm>
            <a:off x="292608" y="2313432"/>
            <a:ext cx="3611880" cy="5029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Leader #1 – PDM 7,8% sur 193 989 TEU qualifiés</a:t>
            </a:r>
            <a:endParaRPr lang="en-US" sz="1000" dirty="0"/>
          </a:p>
        </p:txBody>
      </p:sp>
      <p:sp>
        <p:nvSpPr>
          <p:cNvPr id="12" name="Shape 10"/>
          <p:cNvSpPr/>
          <p:nvPr/>
        </p:nvSpPr>
        <p:spPr>
          <a:xfrm>
            <a:off x="4160520" y="1143000"/>
            <a:ext cx="3840480" cy="1828800"/>
          </a:xfrm>
          <a:prstGeom prst="rect">
            <a:avLst/>
          </a:prstGeom>
          <a:solidFill>
            <a:srgbClr val="F0F2F5"/>
          </a:solidFill>
          <a:ln w="6350">
            <a:solidFill>
              <a:srgbClr val="DDE0E4"/>
            </a:solidFill>
            <a:prstDash val="solid"/>
          </a:ln>
        </p:spPr>
      </p:sp>
      <p:sp>
        <p:nvSpPr>
          <p:cNvPr id="13" name="Shape 11"/>
          <p:cNvSpPr/>
          <p:nvPr/>
        </p:nvSpPr>
        <p:spPr>
          <a:xfrm>
            <a:off x="4270248" y="1280160"/>
            <a:ext cx="502920" cy="502920"/>
          </a:xfrm>
          <a:prstGeom prst="rect">
            <a:avLst/>
          </a:prstGeom>
          <a:solidFill>
            <a:srgbClr val="1A7C4F"/>
          </a:solidFill>
          <a:ln/>
        </p:spPr>
      </p:sp>
      <p:sp>
        <p:nvSpPr>
          <p:cNvPr id="14" name="Text 12"/>
          <p:cNvSpPr/>
          <p:nvPr/>
        </p:nvSpPr>
        <p:spPr>
          <a:xfrm>
            <a:off x="4270248" y="1280160"/>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15" name="Text 13"/>
          <p:cNvSpPr/>
          <p:nvPr/>
        </p:nvSpPr>
        <p:spPr>
          <a:xfrm>
            <a:off x="4270248" y="1892808"/>
            <a:ext cx="3611880" cy="411480"/>
          </a:xfrm>
          <a:prstGeom prst="rect">
            <a:avLst/>
          </a:prstGeom>
          <a:noFill/>
          <a:ln/>
        </p:spPr>
        <p:txBody>
          <a:bodyPr wrap="square" rtlCol="0" anchor="ctr"/>
          <a:lstStyle/>
          <a:p>
            <a:pPr indent="0" marL="0">
              <a:buNone/>
            </a:pPr>
            <a:r>
              <a:rPr lang="en-US" sz="1200" b="1" dirty="0">
                <a:solidFill>
                  <a:srgbClr val="374151"/>
                </a:solidFill>
                <a:latin typeface="Calibri" pitchFamily="34" charset="0"/>
                <a:ea typeface="Calibri" pitchFamily="34" charset="-122"/>
                <a:cs typeface="Calibri" pitchFamily="34" charset="-120"/>
              </a:rPr>
              <a:t>TEM – Transit Export Maritime</a:t>
            </a:r>
            <a:endParaRPr lang="en-US" sz="1200" dirty="0"/>
          </a:p>
        </p:txBody>
      </p:sp>
      <p:sp>
        <p:nvSpPr>
          <p:cNvPr id="16" name="Text 14"/>
          <p:cNvSpPr/>
          <p:nvPr/>
        </p:nvSpPr>
        <p:spPr>
          <a:xfrm>
            <a:off x="4270248" y="2313432"/>
            <a:ext cx="3611880" cy="5029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Dominance absolue – 26,2% PDM sur 137 283 TEU</a:t>
            </a:r>
            <a:endParaRPr lang="en-US" sz="1000" dirty="0"/>
          </a:p>
        </p:txBody>
      </p:sp>
      <p:sp>
        <p:nvSpPr>
          <p:cNvPr id="17" name="Shape 15"/>
          <p:cNvSpPr/>
          <p:nvPr/>
        </p:nvSpPr>
        <p:spPr>
          <a:xfrm>
            <a:off x="8138160" y="1143000"/>
            <a:ext cx="3840480" cy="1828800"/>
          </a:xfrm>
          <a:prstGeom prst="rect">
            <a:avLst/>
          </a:prstGeom>
          <a:solidFill>
            <a:srgbClr val="F0F2F5"/>
          </a:solidFill>
          <a:ln w="6350">
            <a:solidFill>
              <a:srgbClr val="DDE0E4"/>
            </a:solidFill>
            <a:prstDash val="solid"/>
          </a:ln>
        </p:spPr>
      </p:sp>
      <p:sp>
        <p:nvSpPr>
          <p:cNvPr id="18" name="Shape 16"/>
          <p:cNvSpPr/>
          <p:nvPr/>
        </p:nvSpPr>
        <p:spPr>
          <a:xfrm>
            <a:off x="8247888" y="1280160"/>
            <a:ext cx="502920" cy="502920"/>
          </a:xfrm>
          <a:prstGeom prst="rect">
            <a:avLst/>
          </a:prstGeom>
          <a:solidFill>
            <a:srgbClr val="E05A00"/>
          </a:solidFill>
          <a:ln/>
        </p:spPr>
      </p:sp>
      <p:sp>
        <p:nvSpPr>
          <p:cNvPr id="19" name="Text 17"/>
          <p:cNvSpPr/>
          <p:nvPr/>
        </p:nvSpPr>
        <p:spPr>
          <a:xfrm>
            <a:off x="8247888" y="1280160"/>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20" name="Text 18"/>
          <p:cNvSpPr/>
          <p:nvPr/>
        </p:nvSpPr>
        <p:spPr>
          <a:xfrm>
            <a:off x="8247888" y="1892808"/>
            <a:ext cx="3611880" cy="411480"/>
          </a:xfrm>
          <a:prstGeom prst="rect">
            <a:avLst/>
          </a:prstGeom>
          <a:noFill/>
          <a:ln/>
        </p:spPr>
        <p:txBody>
          <a:bodyPr wrap="square" rtlCol="0" anchor="ctr"/>
          <a:lstStyle/>
          <a:p>
            <a:pPr indent="0" marL="0">
              <a:buNone/>
            </a:pPr>
            <a:r>
              <a:rPr lang="en-US" sz="1200" b="1" dirty="0">
                <a:solidFill>
                  <a:srgbClr val="374151"/>
                </a:solidFill>
                <a:latin typeface="Calibri" pitchFamily="34" charset="0"/>
                <a:ea typeface="Calibri" pitchFamily="34" charset="-122"/>
                <a:cs typeface="Calibri" pitchFamily="34" charset="-120"/>
              </a:rPr>
              <a:t>Hinterland Import Maritime</a:t>
            </a:r>
            <a:endParaRPr lang="en-US" sz="1200" dirty="0"/>
          </a:p>
        </p:txBody>
      </p:sp>
      <p:sp>
        <p:nvSpPr>
          <p:cNvPr id="21" name="Text 19"/>
          <p:cNvSpPr/>
          <p:nvPr/>
        </p:nvSpPr>
        <p:spPr>
          <a:xfrm>
            <a:off x="8247888" y="2313432"/>
            <a:ext cx="3611880" cy="5029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#3 → objectif #2 : 11,3% PDM sur 28 457 TEU</a:t>
            </a:r>
            <a:endParaRPr lang="en-US" sz="1000" dirty="0"/>
          </a:p>
        </p:txBody>
      </p:sp>
      <p:sp>
        <p:nvSpPr>
          <p:cNvPr id="22" name="Shape 20"/>
          <p:cNvSpPr/>
          <p:nvPr/>
        </p:nvSpPr>
        <p:spPr>
          <a:xfrm>
            <a:off x="182880" y="3063240"/>
            <a:ext cx="3840480" cy="1828800"/>
          </a:xfrm>
          <a:prstGeom prst="rect">
            <a:avLst/>
          </a:prstGeom>
          <a:solidFill>
            <a:srgbClr val="F0F2F5"/>
          </a:solidFill>
          <a:ln w="6350">
            <a:solidFill>
              <a:srgbClr val="DDE0E4"/>
            </a:solidFill>
            <a:prstDash val="solid"/>
          </a:ln>
        </p:spPr>
      </p:sp>
      <p:sp>
        <p:nvSpPr>
          <p:cNvPr id="23" name="Shape 21"/>
          <p:cNvSpPr/>
          <p:nvPr/>
        </p:nvSpPr>
        <p:spPr>
          <a:xfrm>
            <a:off x="292608" y="3200400"/>
            <a:ext cx="502920" cy="502920"/>
          </a:xfrm>
          <a:prstGeom prst="rect">
            <a:avLst/>
          </a:prstGeom>
          <a:solidFill>
            <a:srgbClr val="2563A8"/>
          </a:solidFill>
          <a:ln/>
        </p:spPr>
      </p:sp>
      <p:sp>
        <p:nvSpPr>
          <p:cNvPr id="24" name="Text 22"/>
          <p:cNvSpPr/>
          <p:nvPr/>
        </p:nvSpPr>
        <p:spPr>
          <a:xfrm>
            <a:off x="292608" y="3200400"/>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25" name="Text 23"/>
          <p:cNvSpPr/>
          <p:nvPr/>
        </p:nvSpPr>
        <p:spPr>
          <a:xfrm>
            <a:off x="292608" y="3813048"/>
            <a:ext cx="3611880" cy="411480"/>
          </a:xfrm>
          <a:prstGeom prst="rect">
            <a:avLst/>
          </a:prstGeom>
          <a:noFill/>
          <a:ln/>
        </p:spPr>
        <p:txBody>
          <a:bodyPr wrap="square" rtlCol="0" anchor="ctr"/>
          <a:lstStyle/>
          <a:p>
            <a:pPr indent="0" marL="0">
              <a:buNone/>
            </a:pPr>
            <a:r>
              <a:rPr lang="en-US" sz="1200" b="1" dirty="0">
                <a:solidFill>
                  <a:srgbClr val="374151"/>
                </a:solidFill>
                <a:latin typeface="Calibri" pitchFamily="34" charset="0"/>
                <a:ea typeface="Calibri" pitchFamily="34" charset="-122"/>
                <a:cs typeface="Calibri" pitchFamily="34" charset="-120"/>
              </a:rPr>
              <a:t>Hinterland Export Maritime</a:t>
            </a:r>
            <a:endParaRPr lang="en-US" sz="1200" dirty="0"/>
          </a:p>
        </p:txBody>
      </p:sp>
      <p:sp>
        <p:nvSpPr>
          <p:cNvPr id="26" name="Text 24"/>
          <p:cNvSpPr/>
          <p:nvPr/>
        </p:nvSpPr>
        <p:spPr>
          <a:xfrm>
            <a:off x="292608" y="4233672"/>
            <a:ext cx="3611880" cy="5029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Leader #1 – 66,1% PDM  |  Bamako–Ouagadougou</a:t>
            </a:r>
            <a:endParaRPr lang="en-US" sz="1000" dirty="0"/>
          </a:p>
        </p:txBody>
      </p:sp>
      <p:sp>
        <p:nvSpPr>
          <p:cNvPr id="27" name="Shape 25"/>
          <p:cNvSpPr/>
          <p:nvPr/>
        </p:nvSpPr>
        <p:spPr>
          <a:xfrm>
            <a:off x="4160520" y="3063240"/>
            <a:ext cx="3840480" cy="1828800"/>
          </a:xfrm>
          <a:prstGeom prst="rect">
            <a:avLst/>
          </a:prstGeom>
          <a:solidFill>
            <a:srgbClr val="F0F2F5"/>
          </a:solidFill>
          <a:ln w="6350">
            <a:solidFill>
              <a:srgbClr val="DDE0E4"/>
            </a:solidFill>
            <a:prstDash val="solid"/>
          </a:ln>
        </p:spPr>
      </p:sp>
      <p:sp>
        <p:nvSpPr>
          <p:cNvPr id="28" name="Shape 26"/>
          <p:cNvSpPr/>
          <p:nvPr/>
        </p:nvSpPr>
        <p:spPr>
          <a:xfrm>
            <a:off x="4270248" y="3200400"/>
            <a:ext cx="502920" cy="502920"/>
          </a:xfrm>
          <a:prstGeom prst="rect">
            <a:avLst/>
          </a:prstGeom>
          <a:solidFill>
            <a:srgbClr val="0E7490"/>
          </a:solidFill>
          <a:ln/>
        </p:spPr>
      </p:sp>
      <p:sp>
        <p:nvSpPr>
          <p:cNvPr id="29" name="Text 27"/>
          <p:cNvSpPr/>
          <p:nvPr/>
        </p:nvSpPr>
        <p:spPr>
          <a:xfrm>
            <a:off x="4270248" y="3200400"/>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05</a:t>
            </a:r>
            <a:endParaRPr lang="en-US" sz="1500" dirty="0"/>
          </a:p>
        </p:txBody>
      </p:sp>
      <p:sp>
        <p:nvSpPr>
          <p:cNvPr id="30" name="Text 28"/>
          <p:cNvSpPr/>
          <p:nvPr/>
        </p:nvSpPr>
        <p:spPr>
          <a:xfrm>
            <a:off x="4270248" y="3813048"/>
            <a:ext cx="3611880" cy="411480"/>
          </a:xfrm>
          <a:prstGeom prst="rect">
            <a:avLst/>
          </a:prstGeom>
          <a:noFill/>
          <a:ln/>
        </p:spPr>
        <p:txBody>
          <a:bodyPr wrap="square" rtlCol="0" anchor="ctr"/>
          <a:lstStyle/>
          <a:p>
            <a:pPr indent="0" marL="0">
              <a:buNone/>
            </a:pPr>
            <a:r>
              <a:rPr lang="en-US" sz="1200" b="1" dirty="0">
                <a:solidFill>
                  <a:srgbClr val="374151"/>
                </a:solidFill>
                <a:latin typeface="Calibri" pitchFamily="34" charset="0"/>
                <a:ea typeface="Calibri" pitchFamily="34" charset="-122"/>
                <a:cs typeface="Calibri" pitchFamily="34" charset="-120"/>
              </a:rPr>
              <a:t>Aérien Import</a:t>
            </a:r>
            <a:endParaRPr lang="en-US" sz="1200" dirty="0"/>
          </a:p>
        </p:txBody>
      </p:sp>
      <p:sp>
        <p:nvSpPr>
          <p:cNvPr id="31" name="Text 29"/>
          <p:cNvSpPr/>
          <p:nvPr/>
        </p:nvSpPr>
        <p:spPr>
          <a:xfrm>
            <a:off x="4270248" y="4233672"/>
            <a:ext cx="3611880" cy="5029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#1 ABSOLU – 20,8% PDM  |  Croissance forte Jan→Mai</a:t>
            </a:r>
            <a:endParaRPr lang="en-US" sz="1000" dirty="0"/>
          </a:p>
        </p:txBody>
      </p:sp>
      <p:sp>
        <p:nvSpPr>
          <p:cNvPr id="32" name="Shape 30"/>
          <p:cNvSpPr/>
          <p:nvPr/>
        </p:nvSpPr>
        <p:spPr>
          <a:xfrm>
            <a:off x="8138160" y="3063240"/>
            <a:ext cx="3840480" cy="1828800"/>
          </a:xfrm>
          <a:prstGeom prst="rect">
            <a:avLst/>
          </a:prstGeom>
          <a:solidFill>
            <a:srgbClr val="F0F2F5"/>
          </a:solidFill>
          <a:ln w="6350">
            <a:solidFill>
              <a:srgbClr val="DDE0E4"/>
            </a:solidFill>
            <a:prstDash val="solid"/>
          </a:ln>
        </p:spPr>
      </p:sp>
      <p:sp>
        <p:nvSpPr>
          <p:cNvPr id="33" name="Shape 31"/>
          <p:cNvSpPr/>
          <p:nvPr/>
        </p:nvSpPr>
        <p:spPr>
          <a:xfrm>
            <a:off x="8247888" y="3200400"/>
            <a:ext cx="502920" cy="502920"/>
          </a:xfrm>
          <a:prstGeom prst="rect">
            <a:avLst/>
          </a:prstGeom>
          <a:solidFill>
            <a:srgbClr val="8B6914"/>
          </a:solidFill>
          <a:ln/>
        </p:spPr>
      </p:sp>
      <p:sp>
        <p:nvSpPr>
          <p:cNvPr id="34" name="Text 32"/>
          <p:cNvSpPr/>
          <p:nvPr/>
        </p:nvSpPr>
        <p:spPr>
          <a:xfrm>
            <a:off x="8247888" y="3200400"/>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06</a:t>
            </a:r>
            <a:endParaRPr lang="en-US" sz="1500" dirty="0"/>
          </a:p>
        </p:txBody>
      </p:sp>
      <p:sp>
        <p:nvSpPr>
          <p:cNvPr id="35" name="Text 33"/>
          <p:cNvSpPr/>
          <p:nvPr/>
        </p:nvSpPr>
        <p:spPr>
          <a:xfrm>
            <a:off x="8247888" y="3813048"/>
            <a:ext cx="3611880" cy="411480"/>
          </a:xfrm>
          <a:prstGeom prst="rect">
            <a:avLst/>
          </a:prstGeom>
          <a:noFill/>
          <a:ln/>
        </p:spPr>
        <p:txBody>
          <a:bodyPr wrap="square" rtlCol="0" anchor="ctr"/>
          <a:lstStyle/>
          <a:p>
            <a:pPr indent="0" marL="0">
              <a:buNone/>
            </a:pPr>
            <a:r>
              <a:rPr lang="en-US" sz="1200" b="1" dirty="0">
                <a:solidFill>
                  <a:srgbClr val="374151"/>
                </a:solidFill>
                <a:latin typeface="Calibri" pitchFamily="34" charset="0"/>
                <a:ea typeface="Calibri" pitchFamily="34" charset="-122"/>
                <a:cs typeface="Calibri" pitchFamily="34" charset="-120"/>
              </a:rPr>
              <a:t>Synthèses</a:t>
            </a:r>
            <a:endParaRPr lang="en-US" sz="1200" dirty="0"/>
          </a:p>
        </p:txBody>
      </p:sp>
      <p:sp>
        <p:nvSpPr>
          <p:cNvPr id="36" name="Text 34"/>
          <p:cNvSpPr/>
          <p:nvPr/>
        </p:nvSpPr>
        <p:spPr>
          <a:xfrm>
            <a:off x="8247888" y="4233672"/>
            <a:ext cx="3611880" cy="502920"/>
          </a:xfrm>
          <a:prstGeom prst="rect">
            <a:avLst/>
          </a:prstGeom>
          <a:noFill/>
          <a:ln/>
        </p:spPr>
        <p:txBody>
          <a:bodyPr wrap="square" rtlCol="0" anchor="ctr"/>
          <a:lstStyle/>
          <a:p>
            <a:pPr indent="0" marL="0">
              <a:buNone/>
            </a:pP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Text 1"/>
          <p:cNvSpPr/>
          <p:nvPr/>
        </p:nvSpPr>
        <p:spPr>
          <a:xfrm>
            <a:off x="3200400" y="457200"/>
            <a:ext cx="5486400" cy="3657600"/>
          </a:xfrm>
          <a:prstGeom prst="rect">
            <a:avLst/>
          </a:prstGeom>
          <a:noFill/>
          <a:ln/>
        </p:spPr>
        <p:txBody>
          <a:bodyPr wrap="square" rtlCol="0" anchor="ctr"/>
          <a:lstStyle/>
          <a:p>
            <a:pPr algn="ctr" indent="0" marL="0">
              <a:buNone/>
            </a:pPr>
            <a:r>
              <a:rPr lang="en-US" sz="20000" b="1" dirty="0">
                <a:solidFill>
                  <a:srgbClr val="1A2E4A"/>
                </a:solidFill>
                <a:latin typeface="Calibri" pitchFamily="34" charset="0"/>
                <a:ea typeface="Calibri" pitchFamily="34" charset="-122"/>
                <a:cs typeface="Calibri" pitchFamily="34" charset="-120"/>
              </a:rPr>
              <a:t>01</a:t>
            </a:r>
            <a:endParaRPr lang="en-US" sz="20000" dirty="0"/>
          </a:p>
        </p:txBody>
      </p:sp>
      <p:sp>
        <p:nvSpPr>
          <p:cNvPr id="4" name="Shape 2"/>
          <p:cNvSpPr/>
          <p:nvPr/>
        </p:nvSpPr>
        <p:spPr>
          <a:xfrm>
            <a:off x="1097280" y="3520440"/>
            <a:ext cx="7498080" cy="59436"/>
          </a:xfrm>
          <a:prstGeom prst="rect">
            <a:avLst/>
          </a:prstGeom>
          <a:solidFill>
            <a:srgbClr val="C9A84C"/>
          </a:solidFill>
          <a:ln/>
        </p:spPr>
      </p:sp>
      <p:sp>
        <p:nvSpPr>
          <p:cNvPr id="5" name="Text 3"/>
          <p:cNvSpPr/>
          <p:nvPr/>
        </p:nvSpPr>
        <p:spPr>
          <a:xfrm>
            <a:off x="365760" y="2651760"/>
            <a:ext cx="11430000" cy="91440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TRANSIT IMPORT MARITIME (TIM)</a:t>
            </a:r>
            <a:endParaRPr lang="en-US" sz="3800" dirty="0"/>
          </a:p>
        </p:txBody>
      </p:sp>
      <p:sp>
        <p:nvSpPr>
          <p:cNvPr id="6" name="Text 4"/>
          <p:cNvSpPr/>
          <p:nvPr/>
        </p:nvSpPr>
        <p:spPr>
          <a:xfrm>
            <a:off x="365760" y="3657600"/>
            <a:ext cx="11430000" cy="457200"/>
          </a:xfrm>
          <a:prstGeom prst="rect">
            <a:avLst/>
          </a:prstGeom>
          <a:noFill/>
          <a:ln/>
        </p:spPr>
        <p:txBody>
          <a:bodyPr wrap="square" rtlCol="0" anchor="ctr"/>
          <a:lstStyle/>
          <a:p>
            <a:pPr algn="ctr" indent="0" marL="0">
              <a:buNone/>
            </a:pPr>
            <a:r>
              <a:rPr lang="en-US" sz="1600" i="1" dirty="0">
                <a:solidFill>
                  <a:srgbClr val="C9A84C"/>
                </a:solidFill>
                <a:latin typeface="Calibri" pitchFamily="34" charset="0"/>
                <a:ea typeface="Calibri" pitchFamily="34" charset="-122"/>
                <a:cs typeface="Calibri" pitchFamily="34" charset="-120"/>
              </a:rPr>
              <a:t>193 989 TEU qualifiés  |  PDM AGL : 7,8%  |  Leader #1</a:t>
            </a:r>
            <a:endParaRPr lang="en-US" sz="1600" dirty="0"/>
          </a:p>
        </p:txBody>
      </p:sp>
      <p:sp>
        <p:nvSpPr>
          <p:cNvPr id="7" name="Text 5"/>
          <p:cNvSpPr/>
          <p:nvPr/>
        </p:nvSpPr>
        <p:spPr>
          <a:xfrm>
            <a:off x="1828800" y="6492240"/>
            <a:ext cx="8229600" cy="25603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a:t>
            </a:r>
            <a:endParaRPr lang="en-US" sz="900" dirty="0"/>
          </a:p>
        </p:txBody>
      </p:sp>
      <p:sp>
        <p:nvSpPr>
          <p:cNvPr id="8" name="Text 6"/>
          <p:cNvSpPr/>
          <p:nvPr/>
        </p:nvSpPr>
        <p:spPr>
          <a:xfrm>
            <a:off x="11430000" y="6473952"/>
            <a:ext cx="640080" cy="292608"/>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TIM – VUE D'ENSEMBLE  |  Jan–Mai 2026</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Marché qualifié : 193 989 TEU  |  AGL : 15 133 TEU  |  PDM AGL : 7,8% (Leader #1)</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p.4</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Shape 5"/>
          <p:cNvSpPr/>
          <p:nvPr/>
        </p:nvSpPr>
        <p:spPr>
          <a:xfrm>
            <a:off x="137160" y="1097280"/>
            <a:ext cx="2291486" cy="868680"/>
          </a:xfrm>
          <a:prstGeom prst="rect">
            <a:avLst/>
          </a:prstGeom>
          <a:solidFill>
            <a:srgbClr val="F0F2F5"/>
          </a:solidFill>
          <a:ln w="6350">
            <a:solidFill>
              <a:srgbClr val="D1D5DB"/>
            </a:solidFill>
            <a:prstDash val="solid"/>
          </a:ln>
        </p:spPr>
      </p:sp>
      <p:sp>
        <p:nvSpPr>
          <p:cNvPr id="8" name="Text 6"/>
          <p:cNvSpPr/>
          <p:nvPr/>
        </p:nvSpPr>
        <p:spPr>
          <a:xfrm>
            <a:off x="137160"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MARCHÉ QUALIFIÉ</a:t>
            </a:r>
            <a:endParaRPr lang="en-US" sz="800" dirty="0"/>
          </a:p>
        </p:txBody>
      </p:sp>
      <p:sp>
        <p:nvSpPr>
          <p:cNvPr id="9" name="Text 7"/>
          <p:cNvSpPr/>
          <p:nvPr/>
        </p:nvSpPr>
        <p:spPr>
          <a:xfrm>
            <a:off x="137160"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193 989</a:t>
            </a:r>
            <a:endParaRPr lang="en-US" sz="2200" dirty="0"/>
          </a:p>
        </p:txBody>
      </p:sp>
      <p:sp>
        <p:nvSpPr>
          <p:cNvPr id="10" name="Text 8"/>
          <p:cNvSpPr/>
          <p:nvPr/>
        </p:nvSpPr>
        <p:spPr>
          <a:xfrm>
            <a:off x="137160"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 2026</a:t>
            </a:r>
            <a:endParaRPr lang="en-US" sz="850" dirty="0"/>
          </a:p>
        </p:txBody>
      </p:sp>
      <p:sp>
        <p:nvSpPr>
          <p:cNvPr id="11" name="Shape 9"/>
          <p:cNvSpPr/>
          <p:nvPr/>
        </p:nvSpPr>
        <p:spPr>
          <a:xfrm>
            <a:off x="2520086" y="1097280"/>
            <a:ext cx="2291486" cy="868680"/>
          </a:xfrm>
          <a:prstGeom prst="rect">
            <a:avLst/>
          </a:prstGeom>
          <a:solidFill>
            <a:srgbClr val="F0F2F5"/>
          </a:solidFill>
          <a:ln w="6350">
            <a:solidFill>
              <a:srgbClr val="D1D5DB"/>
            </a:solidFill>
            <a:prstDash val="solid"/>
          </a:ln>
        </p:spPr>
      </p:sp>
      <p:sp>
        <p:nvSpPr>
          <p:cNvPr id="12" name="Text 10"/>
          <p:cNvSpPr/>
          <p:nvPr/>
        </p:nvSpPr>
        <p:spPr>
          <a:xfrm>
            <a:off x="252008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VOLUME AGL</a:t>
            </a:r>
            <a:endParaRPr lang="en-US" sz="800" dirty="0"/>
          </a:p>
        </p:txBody>
      </p:sp>
      <p:sp>
        <p:nvSpPr>
          <p:cNvPr id="13" name="Text 11"/>
          <p:cNvSpPr/>
          <p:nvPr/>
        </p:nvSpPr>
        <p:spPr>
          <a:xfrm>
            <a:off x="2520086"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15 133</a:t>
            </a:r>
            <a:endParaRPr lang="en-US" sz="2200" dirty="0"/>
          </a:p>
        </p:txBody>
      </p:sp>
      <p:sp>
        <p:nvSpPr>
          <p:cNvPr id="14" name="Text 12"/>
          <p:cNvSpPr/>
          <p:nvPr/>
        </p:nvSpPr>
        <p:spPr>
          <a:xfrm>
            <a:off x="252008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 2026</a:t>
            </a:r>
            <a:endParaRPr lang="en-US" sz="850" dirty="0"/>
          </a:p>
        </p:txBody>
      </p:sp>
      <p:sp>
        <p:nvSpPr>
          <p:cNvPr id="15" name="Shape 13"/>
          <p:cNvSpPr/>
          <p:nvPr/>
        </p:nvSpPr>
        <p:spPr>
          <a:xfrm>
            <a:off x="4903013" y="1097280"/>
            <a:ext cx="2291486" cy="868680"/>
          </a:xfrm>
          <a:prstGeom prst="rect">
            <a:avLst/>
          </a:prstGeom>
          <a:solidFill>
            <a:srgbClr val="F0F2F5"/>
          </a:solidFill>
          <a:ln w="6350">
            <a:solidFill>
              <a:srgbClr val="D1D5DB"/>
            </a:solidFill>
            <a:prstDash val="solid"/>
          </a:ln>
        </p:spPr>
      </p:sp>
      <p:sp>
        <p:nvSpPr>
          <p:cNvPr id="16" name="Text 14"/>
          <p:cNvSpPr/>
          <p:nvPr/>
        </p:nvSpPr>
        <p:spPr>
          <a:xfrm>
            <a:off x="4903013"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AGL</a:t>
            </a:r>
            <a:endParaRPr lang="en-US" sz="800" dirty="0"/>
          </a:p>
        </p:txBody>
      </p:sp>
      <p:sp>
        <p:nvSpPr>
          <p:cNvPr id="17" name="Text 15"/>
          <p:cNvSpPr/>
          <p:nvPr/>
        </p:nvSpPr>
        <p:spPr>
          <a:xfrm>
            <a:off x="4903013" y="1316736"/>
            <a:ext cx="2291486" cy="384048"/>
          </a:xfrm>
          <a:prstGeom prst="rect">
            <a:avLst/>
          </a:prstGeom>
          <a:noFill/>
          <a:ln/>
        </p:spPr>
        <p:txBody>
          <a:bodyPr wrap="square" rtlCol="0" anchor="ctr"/>
          <a:lstStyle/>
          <a:p>
            <a:pPr algn="ctr" indent="0" marL="0">
              <a:buNone/>
            </a:pPr>
            <a:r>
              <a:rPr lang="en-US" sz="2600" b="1" dirty="0">
                <a:solidFill>
                  <a:srgbClr val="1A7C4F"/>
                </a:solidFill>
                <a:latin typeface="Calibri" pitchFamily="34" charset="0"/>
                <a:ea typeface="Calibri" pitchFamily="34" charset="-122"/>
                <a:cs typeface="Calibri" pitchFamily="34" charset="-120"/>
              </a:rPr>
              <a:t>7,8 %</a:t>
            </a:r>
            <a:endParaRPr lang="en-US" sz="2600" dirty="0"/>
          </a:p>
        </p:txBody>
      </p:sp>
      <p:sp>
        <p:nvSpPr>
          <p:cNvPr id="18" name="Text 16"/>
          <p:cNvSpPr/>
          <p:nvPr/>
        </p:nvSpPr>
        <p:spPr>
          <a:xfrm>
            <a:off x="4903013"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#1 – Leader</a:t>
            </a:r>
            <a:endParaRPr lang="en-US" sz="850" dirty="0"/>
          </a:p>
        </p:txBody>
      </p:sp>
      <p:sp>
        <p:nvSpPr>
          <p:cNvPr id="19" name="Shape 17"/>
          <p:cNvSpPr/>
          <p:nvPr/>
        </p:nvSpPr>
        <p:spPr>
          <a:xfrm>
            <a:off x="7285939" y="1097280"/>
            <a:ext cx="2291486" cy="868680"/>
          </a:xfrm>
          <a:prstGeom prst="rect">
            <a:avLst/>
          </a:prstGeom>
          <a:solidFill>
            <a:srgbClr val="F0F2F5"/>
          </a:solidFill>
          <a:ln w="6350">
            <a:solidFill>
              <a:srgbClr val="D1D5DB"/>
            </a:solidFill>
            <a:prstDash val="solid"/>
          </a:ln>
        </p:spPr>
      </p:sp>
      <p:sp>
        <p:nvSpPr>
          <p:cNvPr id="20" name="Text 18"/>
          <p:cNvSpPr/>
          <p:nvPr/>
        </p:nvSpPr>
        <p:spPr>
          <a:xfrm>
            <a:off x="7285939"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ÉCART VS #2 STRACOTRANS</a:t>
            </a:r>
            <a:endParaRPr lang="en-US" sz="800" dirty="0"/>
          </a:p>
        </p:txBody>
      </p:sp>
      <p:sp>
        <p:nvSpPr>
          <p:cNvPr id="21" name="Text 19"/>
          <p:cNvSpPr/>
          <p:nvPr/>
        </p:nvSpPr>
        <p:spPr>
          <a:xfrm>
            <a:off x="7285939" y="1316736"/>
            <a:ext cx="2291486" cy="384048"/>
          </a:xfrm>
          <a:prstGeom prst="rect">
            <a:avLst/>
          </a:prstGeom>
          <a:noFill/>
          <a:ln/>
        </p:spPr>
        <p:txBody>
          <a:bodyPr wrap="square" rtlCol="0" anchor="ctr"/>
          <a:lstStyle/>
          <a:p>
            <a:pPr algn="ctr" indent="0" marL="0">
              <a:buNone/>
            </a:pPr>
            <a:r>
              <a:rPr lang="en-US" sz="2200" b="1" dirty="0">
                <a:solidFill>
                  <a:srgbClr val="E05A00"/>
                </a:solidFill>
                <a:latin typeface="Calibri" pitchFamily="34" charset="0"/>
                <a:ea typeface="Calibri" pitchFamily="34" charset="-122"/>
                <a:cs typeface="Calibri" pitchFamily="34" charset="-120"/>
              </a:rPr>
              <a:t>+558</a:t>
            </a:r>
            <a:endParaRPr lang="en-US" sz="2200" dirty="0"/>
          </a:p>
        </p:txBody>
      </p:sp>
      <p:sp>
        <p:nvSpPr>
          <p:cNvPr id="22" name="Text 20"/>
          <p:cNvSpPr/>
          <p:nvPr/>
        </p:nvSpPr>
        <p:spPr>
          <a:xfrm>
            <a:off x="7285939"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d'avance</a:t>
            </a:r>
            <a:endParaRPr lang="en-US" sz="850" dirty="0"/>
          </a:p>
        </p:txBody>
      </p:sp>
      <p:sp>
        <p:nvSpPr>
          <p:cNvPr id="23" name="Shape 21"/>
          <p:cNvSpPr/>
          <p:nvPr/>
        </p:nvSpPr>
        <p:spPr>
          <a:xfrm>
            <a:off x="9668866" y="1097280"/>
            <a:ext cx="2291486" cy="868680"/>
          </a:xfrm>
          <a:prstGeom prst="rect">
            <a:avLst/>
          </a:prstGeom>
          <a:solidFill>
            <a:srgbClr val="F0F2F5"/>
          </a:solidFill>
          <a:ln w="6350">
            <a:solidFill>
              <a:srgbClr val="D1D5DB"/>
            </a:solidFill>
            <a:prstDash val="solid"/>
          </a:ln>
        </p:spPr>
      </p:sp>
      <p:sp>
        <p:nvSpPr>
          <p:cNvPr id="24" name="Text 22"/>
          <p:cNvSpPr/>
          <p:nvPr/>
        </p:nvSpPr>
        <p:spPr>
          <a:xfrm>
            <a:off x="966886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CUMUL PDM TOP 4</a:t>
            </a:r>
            <a:endParaRPr lang="en-US" sz="800" dirty="0"/>
          </a:p>
        </p:txBody>
      </p:sp>
      <p:sp>
        <p:nvSpPr>
          <p:cNvPr id="25" name="Text 23"/>
          <p:cNvSpPr/>
          <p:nvPr/>
        </p:nvSpPr>
        <p:spPr>
          <a:xfrm>
            <a:off x="9668866" y="1316736"/>
            <a:ext cx="2291486" cy="384048"/>
          </a:xfrm>
          <a:prstGeom prst="rect">
            <a:avLst/>
          </a:prstGeom>
          <a:noFill/>
          <a:ln/>
        </p:spPr>
        <p:txBody>
          <a:bodyPr wrap="square" rtlCol="0" anchor="ctr"/>
          <a:lstStyle/>
          <a:p>
            <a:pPr algn="ctr" indent="0" marL="0">
              <a:buNone/>
            </a:pPr>
            <a:r>
              <a:rPr lang="en-US" sz="2200" b="1" dirty="0">
                <a:solidFill>
                  <a:srgbClr val="2563A8"/>
                </a:solidFill>
                <a:latin typeface="Calibri" pitchFamily="34" charset="0"/>
                <a:ea typeface="Calibri" pitchFamily="34" charset="-122"/>
                <a:cs typeface="Calibri" pitchFamily="34" charset="-120"/>
              </a:rPr>
              <a:t>29,1 %</a:t>
            </a:r>
            <a:endParaRPr lang="en-US" sz="2200" dirty="0"/>
          </a:p>
        </p:txBody>
      </p:sp>
      <p:sp>
        <p:nvSpPr>
          <p:cNvPr id="26" name="Text 24"/>
          <p:cNvSpPr/>
          <p:nvPr/>
        </p:nvSpPr>
        <p:spPr>
          <a:xfrm>
            <a:off x="966886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AGL+STRAC+TGR+GTC</a:t>
            </a:r>
            <a:endParaRPr lang="en-US" sz="850" dirty="0"/>
          </a:p>
        </p:txBody>
      </p:sp>
      <p:sp>
        <p:nvSpPr>
          <p:cNvPr id="27" name="Text 25"/>
          <p:cNvSpPr/>
          <p:nvPr/>
        </p:nvSpPr>
        <p:spPr>
          <a:xfrm>
            <a:off x="228600" y="2084832"/>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Évolution mensuelle marché TIM &amp; AGL (TEU)</a:t>
            </a:r>
            <a:endParaRPr lang="en-US" sz="1100" dirty="0"/>
          </a:p>
        </p:txBody>
      </p:sp>
      <p:graphicFrame>
        <p:nvGraphicFramePr>
          <p:cNvPr id="28" name="Chart 0" descr=""/>
          <p:cNvGraphicFramePr/>
          <p:nvPr/>
        </p:nvGraphicFramePr>
        <p:xfrm>
          <a:off x="137160" y="2331720"/>
          <a:ext cx="6217920" cy="393192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p:nvPr/>
        </p:nvSpPr>
        <p:spPr>
          <a:xfrm>
            <a:off x="6492240" y="2084832"/>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par mois – TIM</a:t>
            </a:r>
            <a:endParaRPr lang="en-US" sz="1100" dirty="0"/>
          </a:p>
        </p:txBody>
      </p:sp>
      <p:sp>
        <p:nvSpPr>
          <p:cNvPr id="30" name="Shape 27"/>
          <p:cNvSpPr/>
          <p:nvPr/>
        </p:nvSpPr>
        <p:spPr>
          <a:xfrm>
            <a:off x="6492240" y="2395728"/>
            <a:ext cx="5486400" cy="475488"/>
          </a:xfrm>
          <a:prstGeom prst="rect">
            <a:avLst/>
          </a:prstGeom>
          <a:solidFill>
            <a:srgbClr val="F8FAFC"/>
          </a:solidFill>
          <a:ln w="3810">
            <a:solidFill>
              <a:srgbClr val="E5E7EB"/>
            </a:solidFill>
            <a:prstDash val="solid"/>
          </a:ln>
        </p:spPr>
      </p:sp>
      <p:sp>
        <p:nvSpPr>
          <p:cNvPr id="31" name="Text 28"/>
          <p:cNvSpPr/>
          <p:nvPr/>
        </p:nvSpPr>
        <p:spPr>
          <a:xfrm>
            <a:off x="6601968" y="2523744"/>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Janvier</a:t>
            </a:r>
            <a:endParaRPr lang="en-US" sz="1100" dirty="0"/>
          </a:p>
        </p:txBody>
      </p:sp>
      <p:sp>
        <p:nvSpPr>
          <p:cNvPr id="32" name="Shape 29"/>
          <p:cNvSpPr/>
          <p:nvPr/>
        </p:nvSpPr>
        <p:spPr>
          <a:xfrm>
            <a:off x="7452360" y="2523744"/>
            <a:ext cx="2560320" cy="201168"/>
          </a:xfrm>
          <a:prstGeom prst="rect">
            <a:avLst/>
          </a:prstGeom>
          <a:solidFill>
            <a:srgbClr val="D1D5DB"/>
          </a:solidFill>
          <a:ln/>
        </p:spPr>
      </p:sp>
      <p:sp>
        <p:nvSpPr>
          <p:cNvPr id="33" name="Shape 30"/>
          <p:cNvSpPr/>
          <p:nvPr/>
        </p:nvSpPr>
        <p:spPr>
          <a:xfrm>
            <a:off x="7452360" y="2523744"/>
            <a:ext cx="2500077" cy="201168"/>
          </a:xfrm>
          <a:prstGeom prst="rect">
            <a:avLst/>
          </a:prstGeom>
          <a:solidFill>
            <a:srgbClr val="1A7C4F"/>
          </a:solidFill>
          <a:ln/>
        </p:spPr>
      </p:sp>
      <p:sp>
        <p:nvSpPr>
          <p:cNvPr id="34" name="Text 31"/>
          <p:cNvSpPr/>
          <p:nvPr/>
        </p:nvSpPr>
        <p:spPr>
          <a:xfrm>
            <a:off x="10085832" y="2487168"/>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8,3 %</a:t>
            </a:r>
            <a:endParaRPr lang="en-US" sz="1100" dirty="0"/>
          </a:p>
        </p:txBody>
      </p:sp>
      <p:sp>
        <p:nvSpPr>
          <p:cNvPr id="35" name="Shape 32"/>
          <p:cNvSpPr/>
          <p:nvPr/>
        </p:nvSpPr>
        <p:spPr>
          <a:xfrm>
            <a:off x="6492240" y="2926080"/>
            <a:ext cx="5486400" cy="475488"/>
          </a:xfrm>
          <a:prstGeom prst="rect">
            <a:avLst/>
          </a:prstGeom>
          <a:solidFill>
            <a:srgbClr val="F8FAFC"/>
          </a:solidFill>
          <a:ln w="3810">
            <a:solidFill>
              <a:srgbClr val="E5E7EB"/>
            </a:solidFill>
            <a:prstDash val="solid"/>
          </a:ln>
        </p:spPr>
      </p:sp>
      <p:sp>
        <p:nvSpPr>
          <p:cNvPr id="36" name="Text 33"/>
          <p:cNvSpPr/>
          <p:nvPr/>
        </p:nvSpPr>
        <p:spPr>
          <a:xfrm>
            <a:off x="6601968" y="3054096"/>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Février</a:t>
            </a:r>
            <a:endParaRPr lang="en-US" sz="1100" dirty="0"/>
          </a:p>
        </p:txBody>
      </p:sp>
      <p:sp>
        <p:nvSpPr>
          <p:cNvPr id="37" name="Shape 34"/>
          <p:cNvSpPr/>
          <p:nvPr/>
        </p:nvSpPr>
        <p:spPr>
          <a:xfrm>
            <a:off x="7452360" y="3054096"/>
            <a:ext cx="2560320" cy="201168"/>
          </a:xfrm>
          <a:prstGeom prst="rect">
            <a:avLst/>
          </a:prstGeom>
          <a:solidFill>
            <a:srgbClr val="D1D5DB"/>
          </a:solidFill>
          <a:ln/>
        </p:spPr>
      </p:sp>
      <p:sp>
        <p:nvSpPr>
          <p:cNvPr id="38" name="Shape 35"/>
          <p:cNvSpPr/>
          <p:nvPr/>
        </p:nvSpPr>
        <p:spPr>
          <a:xfrm>
            <a:off x="7452360" y="3054096"/>
            <a:ext cx="2078377" cy="201168"/>
          </a:xfrm>
          <a:prstGeom prst="rect">
            <a:avLst/>
          </a:prstGeom>
          <a:solidFill>
            <a:srgbClr val="E05A00"/>
          </a:solidFill>
          <a:ln/>
        </p:spPr>
      </p:sp>
      <p:sp>
        <p:nvSpPr>
          <p:cNvPr id="39" name="Text 36"/>
          <p:cNvSpPr/>
          <p:nvPr/>
        </p:nvSpPr>
        <p:spPr>
          <a:xfrm>
            <a:off x="10085832" y="3017520"/>
            <a:ext cx="868680" cy="274320"/>
          </a:xfrm>
          <a:prstGeom prst="rect">
            <a:avLst/>
          </a:prstGeom>
          <a:noFill/>
          <a:ln/>
        </p:spPr>
        <p:txBody>
          <a:bodyPr wrap="none" rtlCol="0" anchor="ctr"/>
          <a:lstStyle/>
          <a:p>
            <a:pPr algn="l" indent="0" marL="0">
              <a:buNone/>
            </a:pPr>
            <a:r>
              <a:rPr lang="en-US" sz="1100" b="1" dirty="0">
                <a:solidFill>
                  <a:srgbClr val="E05A00"/>
                </a:solidFill>
                <a:latin typeface="Calibri" pitchFamily="34" charset="0"/>
                <a:ea typeface="Calibri" pitchFamily="34" charset="-122"/>
                <a:cs typeface="Calibri" pitchFamily="34" charset="-120"/>
              </a:rPr>
              <a:t>6,9 %</a:t>
            </a:r>
            <a:endParaRPr lang="en-US" sz="1100" dirty="0"/>
          </a:p>
        </p:txBody>
      </p:sp>
      <p:sp>
        <p:nvSpPr>
          <p:cNvPr id="40" name="Shape 37"/>
          <p:cNvSpPr/>
          <p:nvPr/>
        </p:nvSpPr>
        <p:spPr>
          <a:xfrm>
            <a:off x="6492240" y="3456432"/>
            <a:ext cx="5486400" cy="475488"/>
          </a:xfrm>
          <a:prstGeom prst="rect">
            <a:avLst/>
          </a:prstGeom>
          <a:solidFill>
            <a:srgbClr val="F8FAFC"/>
          </a:solidFill>
          <a:ln w="3810">
            <a:solidFill>
              <a:srgbClr val="E5E7EB"/>
            </a:solidFill>
            <a:prstDash val="solid"/>
          </a:ln>
        </p:spPr>
      </p:sp>
      <p:sp>
        <p:nvSpPr>
          <p:cNvPr id="41" name="Text 38"/>
          <p:cNvSpPr/>
          <p:nvPr/>
        </p:nvSpPr>
        <p:spPr>
          <a:xfrm>
            <a:off x="6601968" y="3584448"/>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Mars</a:t>
            </a:r>
            <a:endParaRPr lang="en-US" sz="1100" dirty="0"/>
          </a:p>
        </p:txBody>
      </p:sp>
      <p:sp>
        <p:nvSpPr>
          <p:cNvPr id="42" name="Shape 39"/>
          <p:cNvSpPr/>
          <p:nvPr/>
        </p:nvSpPr>
        <p:spPr>
          <a:xfrm>
            <a:off x="7452360" y="3584448"/>
            <a:ext cx="2560320" cy="201168"/>
          </a:xfrm>
          <a:prstGeom prst="rect">
            <a:avLst/>
          </a:prstGeom>
          <a:solidFill>
            <a:srgbClr val="D1D5DB"/>
          </a:solidFill>
          <a:ln/>
        </p:spPr>
      </p:sp>
      <p:sp>
        <p:nvSpPr>
          <p:cNvPr id="43" name="Shape 40"/>
          <p:cNvSpPr/>
          <p:nvPr/>
        </p:nvSpPr>
        <p:spPr>
          <a:xfrm>
            <a:off x="7452360" y="3584448"/>
            <a:ext cx="2259106" cy="201168"/>
          </a:xfrm>
          <a:prstGeom prst="rect">
            <a:avLst/>
          </a:prstGeom>
          <a:solidFill>
            <a:srgbClr val="1A7C4F"/>
          </a:solidFill>
          <a:ln/>
        </p:spPr>
      </p:sp>
      <p:sp>
        <p:nvSpPr>
          <p:cNvPr id="44" name="Text 41"/>
          <p:cNvSpPr/>
          <p:nvPr/>
        </p:nvSpPr>
        <p:spPr>
          <a:xfrm>
            <a:off x="10085832" y="3547872"/>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7,5 %</a:t>
            </a:r>
            <a:endParaRPr lang="en-US" sz="1100" dirty="0"/>
          </a:p>
        </p:txBody>
      </p:sp>
      <p:sp>
        <p:nvSpPr>
          <p:cNvPr id="45" name="Shape 42"/>
          <p:cNvSpPr/>
          <p:nvPr/>
        </p:nvSpPr>
        <p:spPr>
          <a:xfrm>
            <a:off x="6492240" y="3986784"/>
            <a:ext cx="5486400" cy="475488"/>
          </a:xfrm>
          <a:prstGeom prst="rect">
            <a:avLst/>
          </a:prstGeom>
          <a:solidFill>
            <a:srgbClr val="F8FAFC"/>
          </a:solidFill>
          <a:ln w="3810">
            <a:solidFill>
              <a:srgbClr val="E5E7EB"/>
            </a:solidFill>
            <a:prstDash val="solid"/>
          </a:ln>
        </p:spPr>
      </p:sp>
      <p:sp>
        <p:nvSpPr>
          <p:cNvPr id="46" name="Text 43"/>
          <p:cNvSpPr/>
          <p:nvPr/>
        </p:nvSpPr>
        <p:spPr>
          <a:xfrm>
            <a:off x="6601968" y="4114800"/>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Avril</a:t>
            </a:r>
            <a:endParaRPr lang="en-US" sz="1100" dirty="0"/>
          </a:p>
        </p:txBody>
      </p:sp>
      <p:sp>
        <p:nvSpPr>
          <p:cNvPr id="47" name="Shape 44"/>
          <p:cNvSpPr/>
          <p:nvPr/>
        </p:nvSpPr>
        <p:spPr>
          <a:xfrm>
            <a:off x="7452360" y="4114800"/>
            <a:ext cx="2560320" cy="201168"/>
          </a:xfrm>
          <a:prstGeom prst="rect">
            <a:avLst/>
          </a:prstGeom>
          <a:solidFill>
            <a:srgbClr val="D1D5DB"/>
          </a:solidFill>
          <a:ln/>
        </p:spPr>
      </p:sp>
      <p:sp>
        <p:nvSpPr>
          <p:cNvPr id="48" name="Shape 45"/>
          <p:cNvSpPr/>
          <p:nvPr/>
        </p:nvSpPr>
        <p:spPr>
          <a:xfrm>
            <a:off x="7452360" y="4114800"/>
            <a:ext cx="2560320" cy="201168"/>
          </a:xfrm>
          <a:prstGeom prst="rect">
            <a:avLst/>
          </a:prstGeom>
          <a:solidFill>
            <a:srgbClr val="1A7C4F"/>
          </a:solidFill>
          <a:ln/>
        </p:spPr>
      </p:sp>
      <p:sp>
        <p:nvSpPr>
          <p:cNvPr id="49" name="Text 46"/>
          <p:cNvSpPr/>
          <p:nvPr/>
        </p:nvSpPr>
        <p:spPr>
          <a:xfrm>
            <a:off x="10085832" y="4078224"/>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8,5 %</a:t>
            </a:r>
            <a:endParaRPr lang="en-US" sz="1100" dirty="0"/>
          </a:p>
        </p:txBody>
      </p:sp>
      <p:sp>
        <p:nvSpPr>
          <p:cNvPr id="50" name="Shape 47"/>
          <p:cNvSpPr/>
          <p:nvPr/>
        </p:nvSpPr>
        <p:spPr>
          <a:xfrm>
            <a:off x="6492240" y="4517136"/>
            <a:ext cx="5486400" cy="475488"/>
          </a:xfrm>
          <a:prstGeom prst="rect">
            <a:avLst/>
          </a:prstGeom>
          <a:solidFill>
            <a:srgbClr val="F8FAFC"/>
          </a:solidFill>
          <a:ln w="3810">
            <a:solidFill>
              <a:srgbClr val="E5E7EB"/>
            </a:solidFill>
            <a:prstDash val="solid"/>
          </a:ln>
        </p:spPr>
      </p:sp>
      <p:sp>
        <p:nvSpPr>
          <p:cNvPr id="51" name="Text 48"/>
          <p:cNvSpPr/>
          <p:nvPr/>
        </p:nvSpPr>
        <p:spPr>
          <a:xfrm>
            <a:off x="6601968" y="4645152"/>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Mai</a:t>
            </a:r>
            <a:endParaRPr lang="en-US" sz="1100" dirty="0"/>
          </a:p>
        </p:txBody>
      </p:sp>
      <p:sp>
        <p:nvSpPr>
          <p:cNvPr id="52" name="Shape 49"/>
          <p:cNvSpPr/>
          <p:nvPr/>
        </p:nvSpPr>
        <p:spPr>
          <a:xfrm>
            <a:off x="7452360" y="4645152"/>
            <a:ext cx="2560320" cy="201168"/>
          </a:xfrm>
          <a:prstGeom prst="rect">
            <a:avLst/>
          </a:prstGeom>
          <a:solidFill>
            <a:srgbClr val="D1D5DB"/>
          </a:solidFill>
          <a:ln/>
        </p:spPr>
      </p:sp>
      <p:sp>
        <p:nvSpPr>
          <p:cNvPr id="53" name="Shape 50"/>
          <p:cNvSpPr/>
          <p:nvPr/>
        </p:nvSpPr>
        <p:spPr>
          <a:xfrm>
            <a:off x="7452360" y="4645152"/>
            <a:ext cx="2349470" cy="201168"/>
          </a:xfrm>
          <a:prstGeom prst="rect">
            <a:avLst/>
          </a:prstGeom>
          <a:solidFill>
            <a:srgbClr val="1A7C4F"/>
          </a:solidFill>
          <a:ln/>
        </p:spPr>
      </p:sp>
      <p:sp>
        <p:nvSpPr>
          <p:cNvPr id="54" name="Text 51"/>
          <p:cNvSpPr/>
          <p:nvPr/>
        </p:nvSpPr>
        <p:spPr>
          <a:xfrm>
            <a:off x="10085832" y="4608576"/>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7,8 %</a:t>
            </a:r>
            <a:endParaRPr lang="en-US" sz="1100" dirty="0"/>
          </a:p>
        </p:txBody>
      </p:sp>
      <p:sp>
        <p:nvSpPr>
          <p:cNvPr id="55" name="Shape 52"/>
          <p:cNvSpPr/>
          <p:nvPr/>
        </p:nvSpPr>
        <p:spPr>
          <a:xfrm>
            <a:off x="6492240" y="5212080"/>
            <a:ext cx="5486400" cy="685800"/>
          </a:xfrm>
          <a:prstGeom prst="rect">
            <a:avLst/>
          </a:prstGeom>
          <a:solidFill>
            <a:srgbClr val="F0FDF4"/>
          </a:solidFill>
          <a:ln w="6350">
            <a:solidFill>
              <a:srgbClr val="E5C97A"/>
            </a:solidFill>
            <a:prstDash val="solid"/>
          </a:ln>
        </p:spPr>
      </p:sp>
      <p:sp>
        <p:nvSpPr>
          <p:cNvPr id="56" name="Text 53"/>
          <p:cNvSpPr/>
          <p:nvPr/>
        </p:nvSpPr>
        <p:spPr>
          <a:xfrm>
            <a:off x="6583680" y="5285232"/>
            <a:ext cx="5303520" cy="5760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PDM réelle (qualifiée) : 7,8% vs 7,3% brut. L'exclusion du Non Apuré révèle la vraie position AGL. Avance sur STRACOTRANS : seulement +558 TEU — position à consolider en urgence.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TIM – ANALYSE CONCURRENTIELLE &amp; SEGMENTS</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Classement PDM qualifié  |  Top marchandises AGL  |  Opportunités</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p.5</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Classement Transitaires – TIM (hors Non Apuré, SIR CI, SMB)</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Rang</a:t>
            </a:r>
            <a:endParaRPr lang="en-US" sz="850" dirty="0"/>
          </a:p>
        </p:txBody>
      </p:sp>
      <p:sp>
        <p:nvSpPr>
          <p:cNvPr id="10" name="Text 8"/>
          <p:cNvSpPr/>
          <p:nvPr/>
        </p:nvSpPr>
        <p:spPr>
          <a:xfrm>
            <a:off x="585216" y="1408176"/>
            <a:ext cx="188976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Transitaire</a:t>
            </a:r>
            <a:endParaRPr lang="en-US" sz="850" dirty="0"/>
          </a:p>
        </p:txBody>
      </p:sp>
      <p:sp>
        <p:nvSpPr>
          <p:cNvPr id="11" name="Text 9"/>
          <p:cNvSpPr/>
          <p:nvPr/>
        </p:nvSpPr>
        <p:spPr>
          <a:xfrm>
            <a:off x="2520696" y="1408176"/>
            <a:ext cx="1889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TEU</a:t>
            </a:r>
            <a:endParaRPr lang="en-US" sz="850" dirty="0"/>
          </a:p>
        </p:txBody>
      </p:sp>
      <p:sp>
        <p:nvSpPr>
          <p:cNvPr id="12" name="Text 10"/>
          <p:cNvSpPr/>
          <p:nvPr/>
        </p:nvSpPr>
        <p:spPr>
          <a:xfrm>
            <a:off x="4456176" y="1408176"/>
            <a:ext cx="1889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PDM</a:t>
            </a:r>
            <a:endParaRPr lang="en-US" sz="850" dirty="0"/>
          </a:p>
        </p:txBody>
      </p:sp>
      <p:sp>
        <p:nvSpPr>
          <p:cNvPr id="13" name="Shape 11"/>
          <p:cNvSpPr/>
          <p:nvPr/>
        </p:nvSpPr>
        <p:spPr>
          <a:xfrm>
            <a:off x="137160" y="1627632"/>
            <a:ext cx="6217920" cy="256032"/>
          </a:xfrm>
          <a:prstGeom prst="rect">
            <a:avLst/>
          </a:prstGeom>
          <a:solidFill>
            <a:srgbClr val="FFF9EC"/>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none" rtlCol="0" anchor="ctr"/>
          <a:lstStyle/>
          <a:p>
            <a:pPr algn="ctr" indent="0" marL="0">
              <a:buNone/>
            </a:pPr>
            <a:r>
              <a:rPr lang="en-US" sz="850" b="1" dirty="0">
                <a:solidFill>
                  <a:srgbClr val="374151"/>
                </a:solidFill>
                <a:latin typeface="Calibri" pitchFamily="34" charset="0"/>
                <a:ea typeface="Calibri" pitchFamily="34" charset="-122"/>
                <a:cs typeface="Calibri" pitchFamily="34" charset="-120"/>
              </a:rPr>
              <a:t>#1</a:t>
            </a:r>
            <a:endParaRPr lang="en-US" sz="850" dirty="0"/>
          </a:p>
        </p:txBody>
      </p:sp>
      <p:sp>
        <p:nvSpPr>
          <p:cNvPr id="15" name="Text 13"/>
          <p:cNvSpPr/>
          <p:nvPr/>
        </p:nvSpPr>
        <p:spPr>
          <a:xfrm>
            <a:off x="585216" y="1664208"/>
            <a:ext cx="188976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AFRICA GLOBAL LOGISTICS</a:t>
            </a:r>
            <a:endParaRPr lang="en-US" sz="850" dirty="0"/>
          </a:p>
        </p:txBody>
      </p:sp>
      <p:sp>
        <p:nvSpPr>
          <p:cNvPr id="16" name="Text 14"/>
          <p:cNvSpPr/>
          <p:nvPr/>
        </p:nvSpPr>
        <p:spPr>
          <a:xfrm>
            <a:off x="2520696" y="166420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15 133</a:t>
            </a:r>
            <a:endParaRPr lang="en-US" sz="850" dirty="0"/>
          </a:p>
        </p:txBody>
      </p:sp>
      <p:sp>
        <p:nvSpPr>
          <p:cNvPr id="17" name="Text 15"/>
          <p:cNvSpPr/>
          <p:nvPr/>
        </p:nvSpPr>
        <p:spPr>
          <a:xfrm>
            <a:off x="4456176" y="1664208"/>
            <a:ext cx="188976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7,8 %</a:t>
            </a:r>
            <a:endParaRPr lang="en-US" sz="85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a:t>
            </a:r>
            <a:endParaRPr lang="en-US" sz="850" dirty="0"/>
          </a:p>
        </p:txBody>
      </p:sp>
      <p:sp>
        <p:nvSpPr>
          <p:cNvPr id="20" name="Text 18"/>
          <p:cNvSpPr/>
          <p:nvPr/>
        </p:nvSpPr>
        <p:spPr>
          <a:xfrm>
            <a:off x="585216" y="1920240"/>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STRACOTRANS CI</a:t>
            </a:r>
            <a:endParaRPr lang="en-US" sz="850" dirty="0"/>
          </a:p>
        </p:txBody>
      </p:sp>
      <p:sp>
        <p:nvSpPr>
          <p:cNvPr id="21" name="Text 19"/>
          <p:cNvSpPr/>
          <p:nvPr/>
        </p:nvSpPr>
        <p:spPr>
          <a:xfrm>
            <a:off x="2520696" y="192024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14 575</a:t>
            </a:r>
            <a:endParaRPr lang="en-US" sz="850" dirty="0"/>
          </a:p>
        </p:txBody>
      </p:sp>
      <p:sp>
        <p:nvSpPr>
          <p:cNvPr id="22" name="Text 20"/>
          <p:cNvSpPr/>
          <p:nvPr/>
        </p:nvSpPr>
        <p:spPr>
          <a:xfrm>
            <a:off x="4456176" y="192024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7,5 %</a:t>
            </a:r>
            <a:endParaRPr lang="en-US" sz="850" dirty="0"/>
          </a:p>
        </p:txBody>
      </p:sp>
      <p:sp>
        <p:nvSpPr>
          <p:cNvPr id="23" name="Shape 21"/>
          <p:cNvSpPr/>
          <p:nvPr/>
        </p:nvSpPr>
        <p:spPr>
          <a:xfrm>
            <a:off x="137160" y="2139696"/>
            <a:ext cx="6217920" cy="256032"/>
          </a:xfrm>
          <a:prstGeom prst="rect">
            <a:avLst/>
          </a:prstGeom>
          <a:solidFill>
            <a:srgbClr val="FFFFFF"/>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a:t>
            </a:r>
            <a:endParaRPr lang="en-US" sz="850" dirty="0"/>
          </a:p>
        </p:txBody>
      </p:sp>
      <p:sp>
        <p:nvSpPr>
          <p:cNvPr id="25" name="Text 23"/>
          <p:cNvSpPr/>
          <p:nvPr/>
        </p:nvSpPr>
        <p:spPr>
          <a:xfrm>
            <a:off x="585216" y="2176272"/>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TGR (Transit Général Rapide)</a:t>
            </a:r>
            <a:endParaRPr lang="en-US" sz="850" dirty="0"/>
          </a:p>
        </p:txBody>
      </p:sp>
      <p:sp>
        <p:nvSpPr>
          <p:cNvPr id="26" name="Text 24"/>
          <p:cNvSpPr/>
          <p:nvPr/>
        </p:nvSpPr>
        <p:spPr>
          <a:xfrm>
            <a:off x="2520696" y="217627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13 663</a:t>
            </a:r>
            <a:endParaRPr lang="en-US" sz="850" dirty="0"/>
          </a:p>
        </p:txBody>
      </p:sp>
      <p:sp>
        <p:nvSpPr>
          <p:cNvPr id="27" name="Text 25"/>
          <p:cNvSpPr/>
          <p:nvPr/>
        </p:nvSpPr>
        <p:spPr>
          <a:xfrm>
            <a:off x="4456176" y="217627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7,0 %</a:t>
            </a:r>
            <a:endParaRPr lang="en-US" sz="85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a:t>
            </a:r>
            <a:endParaRPr lang="en-US" sz="850" dirty="0"/>
          </a:p>
        </p:txBody>
      </p:sp>
      <p:sp>
        <p:nvSpPr>
          <p:cNvPr id="30" name="Text 28"/>
          <p:cNvSpPr/>
          <p:nvPr/>
        </p:nvSpPr>
        <p:spPr>
          <a:xfrm>
            <a:off x="585216" y="2432304"/>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GENERAL TRANSIT CI</a:t>
            </a:r>
            <a:endParaRPr lang="en-US" sz="850" dirty="0"/>
          </a:p>
        </p:txBody>
      </p:sp>
      <p:sp>
        <p:nvSpPr>
          <p:cNvPr id="31" name="Text 29"/>
          <p:cNvSpPr/>
          <p:nvPr/>
        </p:nvSpPr>
        <p:spPr>
          <a:xfrm>
            <a:off x="2520696" y="243230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12 028</a:t>
            </a:r>
            <a:endParaRPr lang="en-US" sz="850" dirty="0"/>
          </a:p>
        </p:txBody>
      </p:sp>
      <p:sp>
        <p:nvSpPr>
          <p:cNvPr id="32" name="Text 30"/>
          <p:cNvSpPr/>
          <p:nvPr/>
        </p:nvSpPr>
        <p:spPr>
          <a:xfrm>
            <a:off x="4456176" y="243230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6,2 %</a:t>
            </a:r>
            <a:endParaRPr lang="en-US" sz="85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a:t>
            </a:r>
            <a:endParaRPr lang="en-US" sz="850" dirty="0"/>
          </a:p>
        </p:txBody>
      </p:sp>
      <p:sp>
        <p:nvSpPr>
          <p:cNvPr id="35" name="Text 33"/>
          <p:cNvSpPr/>
          <p:nvPr/>
        </p:nvSpPr>
        <p:spPr>
          <a:xfrm>
            <a:off x="585216" y="2688336"/>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DJAM DKS TRANSIT</a:t>
            </a:r>
            <a:endParaRPr lang="en-US" sz="850" dirty="0"/>
          </a:p>
        </p:txBody>
      </p:sp>
      <p:sp>
        <p:nvSpPr>
          <p:cNvPr id="36" name="Text 34"/>
          <p:cNvSpPr/>
          <p:nvPr/>
        </p:nvSpPr>
        <p:spPr>
          <a:xfrm>
            <a:off x="2520696" y="268833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10 862</a:t>
            </a:r>
            <a:endParaRPr lang="en-US" sz="850" dirty="0"/>
          </a:p>
        </p:txBody>
      </p:sp>
      <p:sp>
        <p:nvSpPr>
          <p:cNvPr id="37" name="Text 35"/>
          <p:cNvSpPr/>
          <p:nvPr/>
        </p:nvSpPr>
        <p:spPr>
          <a:xfrm>
            <a:off x="4456176" y="268833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5,6 %</a:t>
            </a:r>
            <a:endParaRPr lang="en-US" sz="850" dirty="0"/>
          </a:p>
        </p:txBody>
      </p:sp>
      <p:sp>
        <p:nvSpPr>
          <p:cNvPr id="38" name="Shape 36"/>
          <p:cNvSpPr/>
          <p:nvPr/>
        </p:nvSpPr>
        <p:spPr>
          <a:xfrm>
            <a:off x="137160" y="2907792"/>
            <a:ext cx="621792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a:t>
            </a:r>
            <a:endParaRPr lang="en-US" sz="850" dirty="0"/>
          </a:p>
        </p:txBody>
      </p:sp>
      <p:sp>
        <p:nvSpPr>
          <p:cNvPr id="40" name="Text 38"/>
          <p:cNvSpPr/>
          <p:nvPr/>
        </p:nvSpPr>
        <p:spPr>
          <a:xfrm>
            <a:off x="585216" y="2944368"/>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GLOBAL MANUTENTION CI</a:t>
            </a:r>
            <a:endParaRPr lang="en-US" sz="850" dirty="0"/>
          </a:p>
        </p:txBody>
      </p:sp>
      <p:sp>
        <p:nvSpPr>
          <p:cNvPr id="41" name="Text 39"/>
          <p:cNvSpPr/>
          <p:nvPr/>
        </p:nvSpPr>
        <p:spPr>
          <a:xfrm>
            <a:off x="2520696" y="294436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10 203</a:t>
            </a:r>
            <a:endParaRPr lang="en-US" sz="850" dirty="0"/>
          </a:p>
        </p:txBody>
      </p:sp>
      <p:sp>
        <p:nvSpPr>
          <p:cNvPr id="42" name="Text 40"/>
          <p:cNvSpPr/>
          <p:nvPr/>
        </p:nvSpPr>
        <p:spPr>
          <a:xfrm>
            <a:off x="4456176" y="294436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5,3 %</a:t>
            </a:r>
            <a:endParaRPr lang="en-US" sz="850" dirty="0"/>
          </a:p>
        </p:txBody>
      </p:sp>
      <p:sp>
        <p:nvSpPr>
          <p:cNvPr id="43" name="Shape 41"/>
          <p:cNvSpPr/>
          <p:nvPr/>
        </p:nvSpPr>
        <p:spPr>
          <a:xfrm>
            <a:off x="137160" y="3163824"/>
            <a:ext cx="621792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a:t>
            </a:r>
            <a:endParaRPr lang="en-US" sz="850" dirty="0"/>
          </a:p>
        </p:txBody>
      </p:sp>
      <p:sp>
        <p:nvSpPr>
          <p:cNvPr id="45" name="Text 43"/>
          <p:cNvSpPr/>
          <p:nvPr/>
        </p:nvSpPr>
        <p:spPr>
          <a:xfrm>
            <a:off x="585216" y="3200400"/>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PROFESIONNEL TRANSIT</a:t>
            </a:r>
            <a:endParaRPr lang="en-US" sz="850" dirty="0"/>
          </a:p>
        </p:txBody>
      </p:sp>
      <p:sp>
        <p:nvSpPr>
          <p:cNvPr id="46" name="Text 44"/>
          <p:cNvSpPr/>
          <p:nvPr/>
        </p:nvSpPr>
        <p:spPr>
          <a:xfrm>
            <a:off x="2520696" y="320040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9 479</a:t>
            </a:r>
            <a:endParaRPr lang="en-US" sz="850" dirty="0"/>
          </a:p>
        </p:txBody>
      </p:sp>
      <p:sp>
        <p:nvSpPr>
          <p:cNvPr id="47" name="Text 45"/>
          <p:cNvSpPr/>
          <p:nvPr/>
        </p:nvSpPr>
        <p:spPr>
          <a:xfrm>
            <a:off x="4456176" y="320040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4,9 %</a:t>
            </a:r>
            <a:endParaRPr lang="en-US" sz="850" dirty="0"/>
          </a:p>
        </p:txBody>
      </p:sp>
      <p:sp>
        <p:nvSpPr>
          <p:cNvPr id="48" name="Shape 46"/>
          <p:cNvSpPr/>
          <p:nvPr/>
        </p:nvSpPr>
        <p:spPr>
          <a:xfrm>
            <a:off x="137160" y="3419856"/>
            <a:ext cx="6217920" cy="256032"/>
          </a:xfrm>
          <a:prstGeom prst="rect">
            <a:avLst/>
          </a:prstGeom>
          <a:solidFill>
            <a:srgbClr val="F8F9FA"/>
          </a:solidFill>
          <a:ln w="3810">
            <a:solidFill>
              <a:srgbClr val="E5E7EB"/>
            </a:solidFill>
            <a:prstDash val="solid"/>
          </a:ln>
        </p:spPr>
      </p:sp>
      <p:sp>
        <p:nvSpPr>
          <p:cNvPr id="49" name="Text 47"/>
          <p:cNvSpPr/>
          <p:nvPr/>
        </p:nvSpPr>
        <p:spPr>
          <a:xfrm>
            <a:off x="173736" y="345643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a:t>
            </a:r>
            <a:endParaRPr lang="en-US" sz="850" dirty="0"/>
          </a:p>
        </p:txBody>
      </p:sp>
      <p:sp>
        <p:nvSpPr>
          <p:cNvPr id="50" name="Text 48"/>
          <p:cNvSpPr/>
          <p:nvPr/>
        </p:nvSpPr>
        <p:spPr>
          <a:xfrm>
            <a:off x="585216" y="3456432"/>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AG TRANSIT CI</a:t>
            </a:r>
            <a:endParaRPr lang="en-US" sz="850" dirty="0"/>
          </a:p>
        </p:txBody>
      </p:sp>
      <p:sp>
        <p:nvSpPr>
          <p:cNvPr id="51" name="Text 49"/>
          <p:cNvSpPr/>
          <p:nvPr/>
        </p:nvSpPr>
        <p:spPr>
          <a:xfrm>
            <a:off x="2520696" y="345643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6 137</a:t>
            </a:r>
            <a:endParaRPr lang="en-US" sz="850" dirty="0"/>
          </a:p>
        </p:txBody>
      </p:sp>
      <p:sp>
        <p:nvSpPr>
          <p:cNvPr id="52" name="Text 50"/>
          <p:cNvSpPr/>
          <p:nvPr/>
        </p:nvSpPr>
        <p:spPr>
          <a:xfrm>
            <a:off x="4456176" y="345643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3,2 %</a:t>
            </a:r>
            <a:endParaRPr lang="en-US" sz="850" dirty="0"/>
          </a:p>
        </p:txBody>
      </p:sp>
      <p:sp>
        <p:nvSpPr>
          <p:cNvPr id="53" name="Shape 51"/>
          <p:cNvSpPr/>
          <p:nvPr/>
        </p:nvSpPr>
        <p:spPr>
          <a:xfrm>
            <a:off x="137160" y="3675888"/>
            <a:ext cx="6217920" cy="256032"/>
          </a:xfrm>
          <a:prstGeom prst="rect">
            <a:avLst/>
          </a:prstGeom>
          <a:solidFill>
            <a:srgbClr val="FFFFFF"/>
          </a:solidFill>
          <a:ln w="3810">
            <a:solidFill>
              <a:srgbClr val="E5E7EB"/>
            </a:solidFill>
            <a:prstDash val="solid"/>
          </a:ln>
        </p:spPr>
      </p:sp>
      <p:sp>
        <p:nvSpPr>
          <p:cNvPr id="54" name="Text 52"/>
          <p:cNvSpPr/>
          <p:nvPr/>
        </p:nvSpPr>
        <p:spPr>
          <a:xfrm>
            <a:off x="173736" y="371246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a:t>
            </a:r>
            <a:endParaRPr lang="en-US" sz="850" dirty="0"/>
          </a:p>
        </p:txBody>
      </p:sp>
      <p:sp>
        <p:nvSpPr>
          <p:cNvPr id="55" name="Text 53"/>
          <p:cNvSpPr/>
          <p:nvPr/>
        </p:nvSpPr>
        <p:spPr>
          <a:xfrm>
            <a:off x="585216" y="3712464"/>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SDMA</a:t>
            </a:r>
            <a:endParaRPr lang="en-US" sz="850" dirty="0"/>
          </a:p>
        </p:txBody>
      </p:sp>
      <p:sp>
        <p:nvSpPr>
          <p:cNvPr id="56" name="Text 54"/>
          <p:cNvSpPr/>
          <p:nvPr/>
        </p:nvSpPr>
        <p:spPr>
          <a:xfrm>
            <a:off x="2520696" y="371246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5 680</a:t>
            </a:r>
            <a:endParaRPr lang="en-US" sz="850" dirty="0"/>
          </a:p>
        </p:txBody>
      </p:sp>
      <p:sp>
        <p:nvSpPr>
          <p:cNvPr id="57" name="Text 55"/>
          <p:cNvSpPr/>
          <p:nvPr/>
        </p:nvSpPr>
        <p:spPr>
          <a:xfrm>
            <a:off x="4456176" y="371246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2,9 %</a:t>
            </a:r>
            <a:endParaRPr lang="en-US" sz="850" dirty="0"/>
          </a:p>
        </p:txBody>
      </p:sp>
      <p:sp>
        <p:nvSpPr>
          <p:cNvPr id="58" name="Shape 56"/>
          <p:cNvSpPr/>
          <p:nvPr/>
        </p:nvSpPr>
        <p:spPr>
          <a:xfrm>
            <a:off x="137160" y="3931920"/>
            <a:ext cx="6217920" cy="256032"/>
          </a:xfrm>
          <a:prstGeom prst="rect">
            <a:avLst/>
          </a:prstGeom>
          <a:solidFill>
            <a:srgbClr val="F8F9FA"/>
          </a:solidFill>
          <a:ln w="3810">
            <a:solidFill>
              <a:srgbClr val="E5E7EB"/>
            </a:solidFill>
            <a:prstDash val="solid"/>
          </a:ln>
        </p:spPr>
      </p:sp>
      <p:sp>
        <p:nvSpPr>
          <p:cNvPr id="59" name="Text 57"/>
          <p:cNvSpPr/>
          <p:nvPr/>
        </p:nvSpPr>
        <p:spPr>
          <a:xfrm>
            <a:off x="173736" y="396849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a:t>
            </a:r>
            <a:endParaRPr lang="en-US" sz="850" dirty="0"/>
          </a:p>
        </p:txBody>
      </p:sp>
      <p:sp>
        <p:nvSpPr>
          <p:cNvPr id="60" name="Text 58"/>
          <p:cNvSpPr/>
          <p:nvPr/>
        </p:nvSpPr>
        <p:spPr>
          <a:xfrm>
            <a:off x="585216" y="3968496"/>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SAS TRANSIT</a:t>
            </a:r>
            <a:endParaRPr lang="en-US" sz="850" dirty="0"/>
          </a:p>
        </p:txBody>
      </p:sp>
      <p:sp>
        <p:nvSpPr>
          <p:cNvPr id="61" name="Text 59"/>
          <p:cNvSpPr/>
          <p:nvPr/>
        </p:nvSpPr>
        <p:spPr>
          <a:xfrm>
            <a:off x="2520696" y="396849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5 274</a:t>
            </a:r>
            <a:endParaRPr lang="en-US" sz="850" dirty="0"/>
          </a:p>
        </p:txBody>
      </p:sp>
      <p:sp>
        <p:nvSpPr>
          <p:cNvPr id="62" name="Text 60"/>
          <p:cNvSpPr/>
          <p:nvPr/>
        </p:nvSpPr>
        <p:spPr>
          <a:xfrm>
            <a:off x="4456176" y="396849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2,7 %</a:t>
            </a:r>
            <a:endParaRPr lang="en-US" sz="850" dirty="0"/>
          </a:p>
        </p:txBody>
      </p:sp>
      <p:sp>
        <p:nvSpPr>
          <p:cNvPr id="63" name="Shape 61"/>
          <p:cNvSpPr/>
          <p:nvPr/>
        </p:nvSpPr>
        <p:spPr>
          <a:xfrm>
            <a:off x="137160" y="4983480"/>
            <a:ext cx="6217920" cy="685800"/>
          </a:xfrm>
          <a:prstGeom prst="rect">
            <a:avLst/>
          </a:prstGeom>
          <a:solidFill>
            <a:srgbClr val="FFFBEC"/>
          </a:solidFill>
          <a:ln w="6350">
            <a:solidFill>
              <a:srgbClr val="E5C97A"/>
            </a:solidFill>
            <a:prstDash val="solid"/>
          </a:ln>
        </p:spPr>
      </p:sp>
      <p:sp>
        <p:nvSpPr>
          <p:cNvPr id="64" name="Text 62"/>
          <p:cNvSpPr/>
          <p:nvPr/>
        </p:nvSpPr>
        <p:spPr>
          <a:xfrm>
            <a:off x="228600" y="5056632"/>
            <a:ext cx="6035040" cy="5760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INSIGHT TIM : Leader de justesse (+558 TEU sur STRACOTRANS). Forces : Mat. Miniers (74% PDM), Médicaments (50%), PVC (32%).</a:t>
            </a:r>
            <a:endParaRPr lang="en-US" sz="900" dirty="0"/>
          </a:p>
        </p:txBody>
      </p:sp>
      <p:sp>
        <p:nvSpPr>
          <p:cNvPr id="65" name="Text 63"/>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par segment – TIM</a:t>
            </a:r>
            <a:endParaRPr lang="en-US" sz="1100" dirty="0"/>
          </a:p>
        </p:txBody>
      </p:sp>
      <p:sp>
        <p:nvSpPr>
          <p:cNvPr id="66" name="Text 64"/>
          <p:cNvSpPr/>
          <p:nvPr/>
        </p:nvSpPr>
        <p:spPr>
          <a:xfrm>
            <a:off x="6492240" y="138988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MATÉRIELS MINIERS</a:t>
            </a:r>
            <a:endParaRPr lang="en-US" sz="850" dirty="0"/>
          </a:p>
        </p:txBody>
      </p:sp>
      <p:sp>
        <p:nvSpPr>
          <p:cNvPr id="67" name="Text 65"/>
          <p:cNvSpPr/>
          <p:nvPr/>
        </p:nvSpPr>
        <p:spPr>
          <a:xfrm>
            <a:off x="8156448" y="138988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2 231 TEU</a:t>
            </a:r>
            <a:endParaRPr lang="en-US" sz="850" dirty="0"/>
          </a:p>
        </p:txBody>
      </p:sp>
      <p:sp>
        <p:nvSpPr>
          <p:cNvPr id="68" name="Shape 66"/>
          <p:cNvSpPr/>
          <p:nvPr/>
        </p:nvSpPr>
        <p:spPr>
          <a:xfrm>
            <a:off x="9052560" y="1426464"/>
            <a:ext cx="2743200" cy="164592"/>
          </a:xfrm>
          <a:prstGeom prst="rect">
            <a:avLst/>
          </a:prstGeom>
          <a:solidFill>
            <a:srgbClr val="E5E7EB"/>
          </a:solidFill>
          <a:ln/>
        </p:spPr>
      </p:sp>
      <p:sp>
        <p:nvSpPr>
          <p:cNvPr id="69" name="Shape 67"/>
          <p:cNvSpPr/>
          <p:nvPr/>
        </p:nvSpPr>
        <p:spPr>
          <a:xfrm>
            <a:off x="9052560" y="1426464"/>
            <a:ext cx="2029968" cy="164592"/>
          </a:xfrm>
          <a:prstGeom prst="rect">
            <a:avLst/>
          </a:prstGeom>
          <a:solidFill>
            <a:srgbClr val="1A7C4F"/>
          </a:solidFill>
          <a:ln/>
        </p:spPr>
      </p:sp>
      <p:sp>
        <p:nvSpPr>
          <p:cNvPr id="70" name="Text 68"/>
          <p:cNvSpPr/>
          <p:nvPr/>
        </p:nvSpPr>
        <p:spPr>
          <a:xfrm>
            <a:off x="11841480" y="1389888"/>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74%</a:t>
            </a:r>
            <a:endParaRPr lang="en-US" sz="900" dirty="0"/>
          </a:p>
        </p:txBody>
      </p:sp>
      <p:sp>
        <p:nvSpPr>
          <p:cNvPr id="71" name="Text 69"/>
          <p:cNvSpPr/>
          <p:nvPr/>
        </p:nvSpPr>
        <p:spPr>
          <a:xfrm>
            <a:off x="6492240" y="177393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MÉDICAMENTS</a:t>
            </a:r>
            <a:endParaRPr lang="en-US" sz="850" dirty="0"/>
          </a:p>
        </p:txBody>
      </p:sp>
      <p:sp>
        <p:nvSpPr>
          <p:cNvPr id="72" name="Text 70"/>
          <p:cNvSpPr/>
          <p:nvPr/>
        </p:nvSpPr>
        <p:spPr>
          <a:xfrm>
            <a:off x="8156448" y="177393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1 936 TEU</a:t>
            </a:r>
            <a:endParaRPr lang="en-US" sz="850" dirty="0"/>
          </a:p>
        </p:txBody>
      </p:sp>
      <p:sp>
        <p:nvSpPr>
          <p:cNvPr id="73" name="Shape 71"/>
          <p:cNvSpPr/>
          <p:nvPr/>
        </p:nvSpPr>
        <p:spPr>
          <a:xfrm>
            <a:off x="9052560" y="1810512"/>
            <a:ext cx="2743200" cy="164592"/>
          </a:xfrm>
          <a:prstGeom prst="rect">
            <a:avLst/>
          </a:prstGeom>
          <a:solidFill>
            <a:srgbClr val="E5E7EB"/>
          </a:solidFill>
          <a:ln/>
        </p:spPr>
      </p:sp>
      <p:sp>
        <p:nvSpPr>
          <p:cNvPr id="74" name="Shape 72"/>
          <p:cNvSpPr/>
          <p:nvPr/>
        </p:nvSpPr>
        <p:spPr>
          <a:xfrm>
            <a:off x="9052560" y="1810512"/>
            <a:ext cx="1371600" cy="164592"/>
          </a:xfrm>
          <a:prstGeom prst="rect">
            <a:avLst/>
          </a:prstGeom>
          <a:solidFill>
            <a:srgbClr val="1A7C4F"/>
          </a:solidFill>
          <a:ln/>
        </p:spPr>
      </p:sp>
      <p:sp>
        <p:nvSpPr>
          <p:cNvPr id="75" name="Text 73"/>
          <p:cNvSpPr/>
          <p:nvPr/>
        </p:nvSpPr>
        <p:spPr>
          <a:xfrm>
            <a:off x="11841480" y="1773936"/>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50%</a:t>
            </a:r>
            <a:endParaRPr lang="en-US" sz="900" dirty="0"/>
          </a:p>
        </p:txBody>
      </p:sp>
      <p:sp>
        <p:nvSpPr>
          <p:cNvPr id="76" name="Text 74"/>
          <p:cNvSpPr/>
          <p:nvPr/>
        </p:nvSpPr>
        <p:spPr>
          <a:xfrm>
            <a:off x="6492240" y="215798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PVC RÉSINE</a:t>
            </a:r>
            <a:endParaRPr lang="en-US" sz="850" dirty="0"/>
          </a:p>
        </p:txBody>
      </p:sp>
      <p:sp>
        <p:nvSpPr>
          <p:cNvPr id="77" name="Text 75"/>
          <p:cNvSpPr/>
          <p:nvPr/>
        </p:nvSpPr>
        <p:spPr>
          <a:xfrm>
            <a:off x="8156448" y="215798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2 881 TEU</a:t>
            </a:r>
            <a:endParaRPr lang="en-US" sz="850" dirty="0"/>
          </a:p>
        </p:txBody>
      </p:sp>
      <p:sp>
        <p:nvSpPr>
          <p:cNvPr id="78" name="Shape 76"/>
          <p:cNvSpPr/>
          <p:nvPr/>
        </p:nvSpPr>
        <p:spPr>
          <a:xfrm>
            <a:off x="9052560" y="2194560"/>
            <a:ext cx="2743200" cy="164592"/>
          </a:xfrm>
          <a:prstGeom prst="rect">
            <a:avLst/>
          </a:prstGeom>
          <a:solidFill>
            <a:srgbClr val="E5E7EB"/>
          </a:solidFill>
          <a:ln/>
        </p:spPr>
      </p:sp>
      <p:sp>
        <p:nvSpPr>
          <p:cNvPr id="79" name="Shape 77"/>
          <p:cNvSpPr/>
          <p:nvPr/>
        </p:nvSpPr>
        <p:spPr>
          <a:xfrm>
            <a:off x="9052560" y="2194560"/>
            <a:ext cx="877824" cy="164592"/>
          </a:xfrm>
          <a:prstGeom prst="rect">
            <a:avLst/>
          </a:prstGeom>
          <a:solidFill>
            <a:srgbClr val="2563A8"/>
          </a:solidFill>
          <a:ln/>
        </p:spPr>
      </p:sp>
      <p:sp>
        <p:nvSpPr>
          <p:cNvPr id="80" name="Text 78"/>
          <p:cNvSpPr/>
          <p:nvPr/>
        </p:nvSpPr>
        <p:spPr>
          <a:xfrm>
            <a:off x="11841480" y="2157984"/>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32%</a:t>
            </a:r>
            <a:endParaRPr lang="en-US" sz="900" dirty="0"/>
          </a:p>
        </p:txBody>
      </p:sp>
      <p:sp>
        <p:nvSpPr>
          <p:cNvPr id="81" name="Text 79"/>
          <p:cNvSpPr/>
          <p:nvPr/>
        </p:nvSpPr>
        <p:spPr>
          <a:xfrm>
            <a:off x="6492240" y="2542032"/>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MATÉR. CONSTRUCTION</a:t>
            </a:r>
            <a:endParaRPr lang="en-US" sz="850" dirty="0"/>
          </a:p>
        </p:txBody>
      </p:sp>
      <p:sp>
        <p:nvSpPr>
          <p:cNvPr id="82" name="Text 80"/>
          <p:cNvSpPr/>
          <p:nvPr/>
        </p:nvSpPr>
        <p:spPr>
          <a:xfrm>
            <a:off x="8156448" y="2542032"/>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5 478 TEU</a:t>
            </a:r>
            <a:endParaRPr lang="en-US" sz="850" dirty="0"/>
          </a:p>
        </p:txBody>
      </p:sp>
      <p:sp>
        <p:nvSpPr>
          <p:cNvPr id="83" name="Shape 81"/>
          <p:cNvSpPr/>
          <p:nvPr/>
        </p:nvSpPr>
        <p:spPr>
          <a:xfrm>
            <a:off x="9052560" y="2578608"/>
            <a:ext cx="2743200" cy="164592"/>
          </a:xfrm>
          <a:prstGeom prst="rect">
            <a:avLst/>
          </a:prstGeom>
          <a:solidFill>
            <a:srgbClr val="E5E7EB"/>
          </a:solidFill>
          <a:ln/>
        </p:spPr>
      </p:sp>
      <p:sp>
        <p:nvSpPr>
          <p:cNvPr id="84" name="Shape 82"/>
          <p:cNvSpPr/>
          <p:nvPr/>
        </p:nvSpPr>
        <p:spPr>
          <a:xfrm>
            <a:off x="9052560" y="2578608"/>
            <a:ext cx="493776" cy="164592"/>
          </a:xfrm>
          <a:prstGeom prst="rect">
            <a:avLst/>
          </a:prstGeom>
          <a:solidFill>
            <a:srgbClr val="E05A00"/>
          </a:solidFill>
          <a:ln/>
        </p:spPr>
      </p:sp>
      <p:sp>
        <p:nvSpPr>
          <p:cNvPr id="85" name="Text 83"/>
          <p:cNvSpPr/>
          <p:nvPr/>
        </p:nvSpPr>
        <p:spPr>
          <a:xfrm>
            <a:off x="11841480" y="2542032"/>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18%</a:t>
            </a:r>
            <a:endParaRPr lang="en-US" sz="900" dirty="0"/>
          </a:p>
        </p:txBody>
      </p:sp>
      <p:sp>
        <p:nvSpPr>
          <p:cNvPr id="86" name="Text 84"/>
          <p:cNvSpPr/>
          <p:nvPr/>
        </p:nvSpPr>
        <p:spPr>
          <a:xfrm>
            <a:off x="6492240" y="292608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PAPIER &amp; DÉRIVÉS</a:t>
            </a:r>
            <a:endParaRPr lang="en-US" sz="850" dirty="0"/>
          </a:p>
        </p:txBody>
      </p:sp>
      <p:sp>
        <p:nvSpPr>
          <p:cNvPr id="87" name="Text 85"/>
          <p:cNvSpPr/>
          <p:nvPr/>
        </p:nvSpPr>
        <p:spPr>
          <a:xfrm>
            <a:off x="8156448" y="292608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5 024 TEU</a:t>
            </a:r>
            <a:endParaRPr lang="en-US" sz="850" dirty="0"/>
          </a:p>
        </p:txBody>
      </p:sp>
      <p:sp>
        <p:nvSpPr>
          <p:cNvPr id="88" name="Shape 86"/>
          <p:cNvSpPr/>
          <p:nvPr/>
        </p:nvSpPr>
        <p:spPr>
          <a:xfrm>
            <a:off x="9052560" y="2962656"/>
            <a:ext cx="2743200" cy="164592"/>
          </a:xfrm>
          <a:prstGeom prst="rect">
            <a:avLst/>
          </a:prstGeom>
          <a:solidFill>
            <a:srgbClr val="E5E7EB"/>
          </a:solidFill>
          <a:ln/>
        </p:spPr>
      </p:sp>
      <p:sp>
        <p:nvSpPr>
          <p:cNvPr id="89" name="Shape 87"/>
          <p:cNvSpPr/>
          <p:nvPr/>
        </p:nvSpPr>
        <p:spPr>
          <a:xfrm>
            <a:off x="9052560" y="2962656"/>
            <a:ext cx="411480" cy="164592"/>
          </a:xfrm>
          <a:prstGeom prst="rect">
            <a:avLst/>
          </a:prstGeom>
          <a:solidFill>
            <a:srgbClr val="E05A00"/>
          </a:solidFill>
          <a:ln/>
        </p:spPr>
      </p:sp>
      <p:sp>
        <p:nvSpPr>
          <p:cNvPr id="90" name="Text 88"/>
          <p:cNvSpPr/>
          <p:nvPr/>
        </p:nvSpPr>
        <p:spPr>
          <a:xfrm>
            <a:off x="11841480" y="2926080"/>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15%</a:t>
            </a:r>
            <a:endParaRPr lang="en-US" sz="900" dirty="0"/>
          </a:p>
        </p:txBody>
      </p:sp>
      <p:sp>
        <p:nvSpPr>
          <p:cNvPr id="91" name="Text 89"/>
          <p:cNvSpPr/>
          <p:nvPr/>
        </p:nvSpPr>
        <p:spPr>
          <a:xfrm>
            <a:off x="6492240" y="331012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LAIT EN POUDRE</a:t>
            </a:r>
            <a:endParaRPr lang="en-US" sz="850" dirty="0"/>
          </a:p>
        </p:txBody>
      </p:sp>
      <p:sp>
        <p:nvSpPr>
          <p:cNvPr id="92" name="Text 90"/>
          <p:cNvSpPr/>
          <p:nvPr/>
        </p:nvSpPr>
        <p:spPr>
          <a:xfrm>
            <a:off x="8156448" y="331012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1 121 TEU</a:t>
            </a:r>
            <a:endParaRPr lang="en-US" sz="850" dirty="0"/>
          </a:p>
        </p:txBody>
      </p:sp>
      <p:sp>
        <p:nvSpPr>
          <p:cNvPr id="93" name="Shape 91"/>
          <p:cNvSpPr/>
          <p:nvPr/>
        </p:nvSpPr>
        <p:spPr>
          <a:xfrm>
            <a:off x="9052560" y="3346704"/>
            <a:ext cx="2743200" cy="164592"/>
          </a:xfrm>
          <a:prstGeom prst="rect">
            <a:avLst/>
          </a:prstGeom>
          <a:solidFill>
            <a:srgbClr val="E5E7EB"/>
          </a:solidFill>
          <a:ln/>
        </p:spPr>
      </p:sp>
      <p:sp>
        <p:nvSpPr>
          <p:cNvPr id="94" name="Shape 92"/>
          <p:cNvSpPr/>
          <p:nvPr/>
        </p:nvSpPr>
        <p:spPr>
          <a:xfrm>
            <a:off x="9052560" y="3346704"/>
            <a:ext cx="384048" cy="164592"/>
          </a:xfrm>
          <a:prstGeom prst="rect">
            <a:avLst/>
          </a:prstGeom>
          <a:solidFill>
            <a:srgbClr val="E05A00"/>
          </a:solidFill>
          <a:ln/>
        </p:spPr>
      </p:sp>
      <p:sp>
        <p:nvSpPr>
          <p:cNvPr id="95" name="Text 93"/>
          <p:cNvSpPr/>
          <p:nvPr/>
        </p:nvSpPr>
        <p:spPr>
          <a:xfrm>
            <a:off x="11841480" y="3310128"/>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14%</a:t>
            </a:r>
            <a:endParaRPr lang="en-US" sz="900" dirty="0"/>
          </a:p>
        </p:txBody>
      </p:sp>
      <p:sp>
        <p:nvSpPr>
          <p:cNvPr id="96" name="Text 94"/>
          <p:cNvSpPr/>
          <p:nvPr/>
        </p:nvSpPr>
        <p:spPr>
          <a:xfrm>
            <a:off x="6492240" y="369417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EMBALLAGES</a:t>
            </a:r>
            <a:endParaRPr lang="en-US" sz="850" dirty="0"/>
          </a:p>
        </p:txBody>
      </p:sp>
      <p:sp>
        <p:nvSpPr>
          <p:cNvPr id="97" name="Text 95"/>
          <p:cNvSpPr/>
          <p:nvPr/>
        </p:nvSpPr>
        <p:spPr>
          <a:xfrm>
            <a:off x="8156448" y="369417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8 951 TEU</a:t>
            </a:r>
            <a:endParaRPr lang="en-US" sz="850" dirty="0"/>
          </a:p>
        </p:txBody>
      </p:sp>
      <p:sp>
        <p:nvSpPr>
          <p:cNvPr id="98" name="Shape 96"/>
          <p:cNvSpPr/>
          <p:nvPr/>
        </p:nvSpPr>
        <p:spPr>
          <a:xfrm>
            <a:off x="9052560" y="3730752"/>
            <a:ext cx="2743200" cy="164592"/>
          </a:xfrm>
          <a:prstGeom prst="rect">
            <a:avLst/>
          </a:prstGeom>
          <a:solidFill>
            <a:srgbClr val="E5E7EB"/>
          </a:solidFill>
          <a:ln/>
        </p:spPr>
      </p:sp>
      <p:sp>
        <p:nvSpPr>
          <p:cNvPr id="99" name="Shape 97"/>
          <p:cNvSpPr/>
          <p:nvPr/>
        </p:nvSpPr>
        <p:spPr>
          <a:xfrm>
            <a:off x="9052560" y="3730752"/>
            <a:ext cx="329184" cy="164592"/>
          </a:xfrm>
          <a:prstGeom prst="rect">
            <a:avLst/>
          </a:prstGeom>
          <a:solidFill>
            <a:srgbClr val="E05A00"/>
          </a:solidFill>
          <a:ln/>
        </p:spPr>
      </p:sp>
      <p:sp>
        <p:nvSpPr>
          <p:cNvPr id="100" name="Text 98"/>
          <p:cNvSpPr/>
          <p:nvPr/>
        </p:nvSpPr>
        <p:spPr>
          <a:xfrm>
            <a:off x="11841480" y="3694176"/>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12%</a:t>
            </a:r>
            <a:endParaRPr lang="en-US" sz="900" dirty="0"/>
          </a:p>
        </p:txBody>
      </p:sp>
      <p:sp>
        <p:nvSpPr>
          <p:cNvPr id="101" name="Text 99"/>
          <p:cNvSpPr/>
          <p:nvPr/>
        </p:nvSpPr>
        <p:spPr>
          <a:xfrm>
            <a:off x="6492240" y="407822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MACHINES</a:t>
            </a:r>
            <a:endParaRPr lang="en-US" sz="850" dirty="0"/>
          </a:p>
        </p:txBody>
      </p:sp>
      <p:sp>
        <p:nvSpPr>
          <p:cNvPr id="102" name="Text 100"/>
          <p:cNvSpPr/>
          <p:nvPr/>
        </p:nvSpPr>
        <p:spPr>
          <a:xfrm>
            <a:off x="8156448" y="407822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4 781 TEU</a:t>
            </a:r>
            <a:endParaRPr lang="en-US" sz="850" dirty="0"/>
          </a:p>
        </p:txBody>
      </p:sp>
      <p:sp>
        <p:nvSpPr>
          <p:cNvPr id="103" name="Shape 101"/>
          <p:cNvSpPr/>
          <p:nvPr/>
        </p:nvSpPr>
        <p:spPr>
          <a:xfrm>
            <a:off x="9052560" y="4114800"/>
            <a:ext cx="2743200" cy="164592"/>
          </a:xfrm>
          <a:prstGeom prst="rect">
            <a:avLst/>
          </a:prstGeom>
          <a:solidFill>
            <a:srgbClr val="E5E7EB"/>
          </a:solidFill>
          <a:ln/>
        </p:spPr>
      </p:sp>
      <p:sp>
        <p:nvSpPr>
          <p:cNvPr id="104" name="Shape 102"/>
          <p:cNvSpPr/>
          <p:nvPr/>
        </p:nvSpPr>
        <p:spPr>
          <a:xfrm>
            <a:off x="9052560" y="4114800"/>
            <a:ext cx="301752" cy="164592"/>
          </a:xfrm>
          <a:prstGeom prst="rect">
            <a:avLst/>
          </a:prstGeom>
          <a:solidFill>
            <a:srgbClr val="E05A00"/>
          </a:solidFill>
          <a:ln/>
        </p:spPr>
      </p:sp>
      <p:sp>
        <p:nvSpPr>
          <p:cNvPr id="105" name="Text 103"/>
          <p:cNvSpPr/>
          <p:nvPr/>
        </p:nvSpPr>
        <p:spPr>
          <a:xfrm>
            <a:off x="11841480" y="4078224"/>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11%</a:t>
            </a:r>
            <a:endParaRPr lang="en-US" sz="900" dirty="0"/>
          </a:p>
        </p:txBody>
      </p:sp>
      <p:sp>
        <p:nvSpPr>
          <p:cNvPr id="106" name="Text 104"/>
          <p:cNvSpPr/>
          <p:nvPr/>
        </p:nvSpPr>
        <p:spPr>
          <a:xfrm>
            <a:off x="6492240" y="4462272"/>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PRODUITS MER CONGELÉ</a:t>
            </a:r>
            <a:endParaRPr lang="en-US" sz="850" dirty="0"/>
          </a:p>
        </p:txBody>
      </p:sp>
      <p:sp>
        <p:nvSpPr>
          <p:cNvPr id="107" name="Text 105"/>
          <p:cNvSpPr/>
          <p:nvPr/>
        </p:nvSpPr>
        <p:spPr>
          <a:xfrm>
            <a:off x="8156448" y="4462272"/>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22 915 TEU</a:t>
            </a:r>
            <a:endParaRPr lang="en-US" sz="850" dirty="0"/>
          </a:p>
        </p:txBody>
      </p:sp>
      <p:sp>
        <p:nvSpPr>
          <p:cNvPr id="108" name="Shape 106"/>
          <p:cNvSpPr/>
          <p:nvPr/>
        </p:nvSpPr>
        <p:spPr>
          <a:xfrm>
            <a:off x="9052560" y="4498848"/>
            <a:ext cx="2743200" cy="164592"/>
          </a:xfrm>
          <a:prstGeom prst="rect">
            <a:avLst/>
          </a:prstGeom>
          <a:solidFill>
            <a:srgbClr val="E5E7EB"/>
          </a:solidFill>
          <a:ln/>
        </p:spPr>
      </p:sp>
      <p:sp>
        <p:nvSpPr>
          <p:cNvPr id="109" name="Shape 107"/>
          <p:cNvSpPr/>
          <p:nvPr/>
        </p:nvSpPr>
        <p:spPr>
          <a:xfrm>
            <a:off x="9052560" y="4498848"/>
            <a:ext cx="54864" cy="164592"/>
          </a:xfrm>
          <a:prstGeom prst="rect">
            <a:avLst/>
          </a:prstGeom>
          <a:solidFill>
            <a:srgbClr val="CC2200"/>
          </a:solidFill>
          <a:ln/>
        </p:spPr>
      </p:sp>
      <p:sp>
        <p:nvSpPr>
          <p:cNvPr id="110" name="Text 108"/>
          <p:cNvSpPr/>
          <p:nvPr/>
        </p:nvSpPr>
        <p:spPr>
          <a:xfrm>
            <a:off x="11841480" y="4462272"/>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2%</a:t>
            </a:r>
            <a:endParaRPr lang="en-US" sz="900" dirty="0"/>
          </a:p>
        </p:txBody>
      </p:sp>
      <p:sp>
        <p:nvSpPr>
          <p:cNvPr id="111" name="Text 109"/>
          <p:cNvSpPr/>
          <p:nvPr/>
        </p:nvSpPr>
        <p:spPr>
          <a:xfrm>
            <a:off x="6492240" y="484632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RIZ</a:t>
            </a:r>
            <a:endParaRPr lang="en-US" sz="850" dirty="0"/>
          </a:p>
        </p:txBody>
      </p:sp>
      <p:sp>
        <p:nvSpPr>
          <p:cNvPr id="112" name="Text 110"/>
          <p:cNvSpPr/>
          <p:nvPr/>
        </p:nvSpPr>
        <p:spPr>
          <a:xfrm>
            <a:off x="8156448" y="484632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9 586 TEU</a:t>
            </a:r>
            <a:endParaRPr lang="en-US" sz="850" dirty="0"/>
          </a:p>
        </p:txBody>
      </p:sp>
      <p:sp>
        <p:nvSpPr>
          <p:cNvPr id="113" name="Shape 111"/>
          <p:cNvSpPr/>
          <p:nvPr/>
        </p:nvSpPr>
        <p:spPr>
          <a:xfrm>
            <a:off x="9052560" y="4882896"/>
            <a:ext cx="2743200" cy="164592"/>
          </a:xfrm>
          <a:prstGeom prst="rect">
            <a:avLst/>
          </a:prstGeom>
          <a:solidFill>
            <a:srgbClr val="E5E7EB"/>
          </a:solidFill>
          <a:ln/>
        </p:spPr>
      </p:sp>
      <p:sp>
        <p:nvSpPr>
          <p:cNvPr id="114" name="Shape 112"/>
          <p:cNvSpPr/>
          <p:nvPr/>
        </p:nvSpPr>
        <p:spPr>
          <a:xfrm>
            <a:off x="9052560" y="4882896"/>
            <a:ext cx="54864" cy="164592"/>
          </a:xfrm>
          <a:prstGeom prst="rect">
            <a:avLst/>
          </a:prstGeom>
          <a:solidFill>
            <a:srgbClr val="CC2200"/>
          </a:solidFill>
          <a:ln/>
        </p:spPr>
      </p:sp>
      <p:sp>
        <p:nvSpPr>
          <p:cNvPr id="115" name="Text 113"/>
          <p:cNvSpPr/>
          <p:nvPr/>
        </p:nvSpPr>
        <p:spPr>
          <a:xfrm>
            <a:off x="11841480" y="4846320"/>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0%</a:t>
            </a:r>
            <a:endParaRPr lang="en-US" sz="900" dirty="0"/>
          </a:p>
        </p:txBody>
      </p:sp>
      <p:sp>
        <p:nvSpPr>
          <p:cNvPr id="116" name="Text 114"/>
          <p:cNvSpPr/>
          <p:nvPr/>
        </p:nvSpPr>
        <p:spPr>
          <a:xfrm>
            <a:off x="6492240" y="523036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VIANDES CONGELÉES</a:t>
            </a:r>
            <a:endParaRPr lang="en-US" sz="850" dirty="0"/>
          </a:p>
        </p:txBody>
      </p:sp>
      <p:sp>
        <p:nvSpPr>
          <p:cNvPr id="117" name="Text 115"/>
          <p:cNvSpPr/>
          <p:nvPr/>
        </p:nvSpPr>
        <p:spPr>
          <a:xfrm>
            <a:off x="8156448" y="523036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9 470 TEU</a:t>
            </a:r>
            <a:endParaRPr lang="en-US" sz="850" dirty="0"/>
          </a:p>
        </p:txBody>
      </p:sp>
      <p:sp>
        <p:nvSpPr>
          <p:cNvPr id="118" name="Shape 116"/>
          <p:cNvSpPr/>
          <p:nvPr/>
        </p:nvSpPr>
        <p:spPr>
          <a:xfrm>
            <a:off x="9052560" y="5266944"/>
            <a:ext cx="2743200" cy="164592"/>
          </a:xfrm>
          <a:prstGeom prst="rect">
            <a:avLst/>
          </a:prstGeom>
          <a:solidFill>
            <a:srgbClr val="E5E7EB"/>
          </a:solidFill>
          <a:ln/>
        </p:spPr>
      </p:sp>
      <p:sp>
        <p:nvSpPr>
          <p:cNvPr id="119" name="Shape 117"/>
          <p:cNvSpPr/>
          <p:nvPr/>
        </p:nvSpPr>
        <p:spPr>
          <a:xfrm>
            <a:off x="9052560" y="5266944"/>
            <a:ext cx="54864" cy="164592"/>
          </a:xfrm>
          <a:prstGeom prst="rect">
            <a:avLst/>
          </a:prstGeom>
          <a:solidFill>
            <a:srgbClr val="CC2200"/>
          </a:solidFill>
          <a:ln/>
        </p:spPr>
      </p:sp>
      <p:sp>
        <p:nvSpPr>
          <p:cNvPr id="120" name="Text 118"/>
          <p:cNvSpPr/>
          <p:nvPr/>
        </p:nvSpPr>
        <p:spPr>
          <a:xfrm>
            <a:off x="11841480" y="5230368"/>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TIM – CLIENTÈLE AGL</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Top 10 destinataires  |  Mix marchandises  |  Risques concentration</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p.6</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Top 10 clients AGL – TIM (Destinataires, TEU)</a:t>
            </a:r>
            <a:endParaRPr lang="en-US" sz="1100" dirty="0"/>
          </a:p>
        </p:txBody>
      </p:sp>
      <p:sp>
        <p:nvSpPr>
          <p:cNvPr id="8" name="Shape 6"/>
          <p:cNvSpPr/>
          <p:nvPr/>
        </p:nvSpPr>
        <p:spPr>
          <a:xfrm>
            <a:off x="137160" y="1371600"/>
            <a:ext cx="6400800" cy="256032"/>
          </a:xfrm>
          <a:prstGeom prst="rect">
            <a:avLst/>
          </a:prstGeom>
          <a:solidFill>
            <a:srgbClr val="0D2243"/>
          </a:solidFill>
          <a:ln/>
        </p:spPr>
      </p:sp>
      <p:sp>
        <p:nvSpPr>
          <p:cNvPr id="9" name="Text 7"/>
          <p:cNvSpPr/>
          <p:nvPr/>
        </p:nvSpPr>
        <p:spPr>
          <a:xfrm>
            <a:off x="173736" y="1408176"/>
            <a:ext cx="155448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Client (Destinataire)</a:t>
            </a:r>
            <a:endParaRPr lang="en-US" sz="850" dirty="0"/>
          </a:p>
        </p:txBody>
      </p:sp>
      <p:sp>
        <p:nvSpPr>
          <p:cNvPr id="10" name="Text 8"/>
          <p:cNvSpPr/>
          <p:nvPr/>
        </p:nvSpPr>
        <p:spPr>
          <a:xfrm>
            <a:off x="1773936" y="1408176"/>
            <a:ext cx="15544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TEU</a:t>
            </a:r>
            <a:endParaRPr lang="en-US" sz="850" dirty="0"/>
          </a:p>
        </p:txBody>
      </p:sp>
      <p:sp>
        <p:nvSpPr>
          <p:cNvPr id="11" name="Text 9"/>
          <p:cNvSpPr/>
          <p:nvPr/>
        </p:nvSpPr>
        <p:spPr>
          <a:xfrm>
            <a:off x="3374136" y="1408176"/>
            <a:ext cx="15544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Segment</a:t>
            </a:r>
            <a:endParaRPr lang="en-US" sz="850" dirty="0"/>
          </a:p>
        </p:txBody>
      </p:sp>
      <p:sp>
        <p:nvSpPr>
          <p:cNvPr id="12" name="Text 10"/>
          <p:cNvSpPr/>
          <p:nvPr/>
        </p:nvSpPr>
        <p:spPr>
          <a:xfrm>
            <a:off x="4974336" y="1408176"/>
            <a:ext cx="15544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 Vol. AGL</a:t>
            </a:r>
            <a:endParaRPr lang="en-US" sz="850" dirty="0"/>
          </a:p>
        </p:txBody>
      </p:sp>
      <p:sp>
        <p:nvSpPr>
          <p:cNvPr id="13" name="Shape 11"/>
          <p:cNvSpPr/>
          <p:nvPr/>
        </p:nvSpPr>
        <p:spPr>
          <a:xfrm>
            <a:off x="137160" y="1627632"/>
            <a:ext cx="6400800" cy="256032"/>
          </a:xfrm>
          <a:prstGeom prst="rect">
            <a:avLst/>
          </a:prstGeom>
          <a:solidFill>
            <a:srgbClr val="FFF9EC"/>
          </a:solidFill>
          <a:ln w="3810">
            <a:solidFill>
              <a:srgbClr val="E5E7EB"/>
            </a:solidFill>
            <a:prstDash val="solid"/>
          </a:ln>
        </p:spPr>
      </p:sp>
      <p:sp>
        <p:nvSpPr>
          <p:cNvPr id="14" name="Text 12"/>
          <p:cNvSpPr/>
          <p:nvPr/>
        </p:nvSpPr>
        <p:spPr>
          <a:xfrm>
            <a:off x="173736" y="1664208"/>
            <a:ext cx="155448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K1 MINING SA CI</a:t>
            </a:r>
            <a:endParaRPr lang="en-US" sz="850" dirty="0"/>
          </a:p>
        </p:txBody>
      </p:sp>
      <p:sp>
        <p:nvSpPr>
          <p:cNvPr id="15" name="Text 13"/>
          <p:cNvSpPr/>
          <p:nvPr/>
        </p:nvSpPr>
        <p:spPr>
          <a:xfrm>
            <a:off x="1773936" y="166420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1 531</a:t>
            </a:r>
            <a:endParaRPr lang="en-US" sz="850" dirty="0"/>
          </a:p>
        </p:txBody>
      </p:sp>
      <p:sp>
        <p:nvSpPr>
          <p:cNvPr id="16" name="Text 14"/>
          <p:cNvSpPr/>
          <p:nvPr/>
        </p:nvSpPr>
        <p:spPr>
          <a:xfrm>
            <a:off x="3374136" y="166420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Matériels Miniers</a:t>
            </a:r>
            <a:endParaRPr lang="en-US" sz="850" dirty="0"/>
          </a:p>
        </p:txBody>
      </p:sp>
      <p:sp>
        <p:nvSpPr>
          <p:cNvPr id="17" name="Text 15"/>
          <p:cNvSpPr/>
          <p:nvPr/>
        </p:nvSpPr>
        <p:spPr>
          <a:xfrm>
            <a:off x="4974336" y="1664208"/>
            <a:ext cx="155448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10,1%</a:t>
            </a:r>
            <a:endParaRPr lang="en-US" sz="850" dirty="0"/>
          </a:p>
        </p:txBody>
      </p:sp>
      <p:sp>
        <p:nvSpPr>
          <p:cNvPr id="18" name="Shape 16"/>
          <p:cNvSpPr/>
          <p:nvPr/>
        </p:nvSpPr>
        <p:spPr>
          <a:xfrm>
            <a:off x="137160" y="1883664"/>
            <a:ext cx="6400800" cy="256032"/>
          </a:xfrm>
          <a:prstGeom prst="rect">
            <a:avLst/>
          </a:prstGeom>
          <a:solidFill>
            <a:srgbClr val="F8F9FA"/>
          </a:solidFill>
          <a:ln w="3810">
            <a:solidFill>
              <a:srgbClr val="E5E7EB"/>
            </a:solidFill>
            <a:prstDash val="solid"/>
          </a:ln>
        </p:spPr>
      </p:sp>
      <p:sp>
        <p:nvSpPr>
          <p:cNvPr id="19" name="Text 17"/>
          <p:cNvSpPr/>
          <p:nvPr/>
        </p:nvSpPr>
        <p:spPr>
          <a:xfrm>
            <a:off x="173736" y="1920240"/>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SITAB CI</a:t>
            </a:r>
            <a:endParaRPr lang="en-US" sz="850" dirty="0"/>
          </a:p>
        </p:txBody>
      </p:sp>
      <p:sp>
        <p:nvSpPr>
          <p:cNvPr id="20" name="Text 18"/>
          <p:cNvSpPr/>
          <p:nvPr/>
        </p:nvSpPr>
        <p:spPr>
          <a:xfrm>
            <a:off x="1773936" y="192024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876</a:t>
            </a:r>
            <a:endParaRPr lang="en-US" sz="850" dirty="0"/>
          </a:p>
        </p:txBody>
      </p:sp>
      <p:sp>
        <p:nvSpPr>
          <p:cNvPr id="21" name="Text 19"/>
          <p:cNvSpPr/>
          <p:nvPr/>
        </p:nvSpPr>
        <p:spPr>
          <a:xfrm>
            <a:off x="3374136" y="192024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Cigares/Cigarettes</a:t>
            </a:r>
            <a:endParaRPr lang="en-US" sz="850" dirty="0"/>
          </a:p>
        </p:txBody>
      </p:sp>
      <p:sp>
        <p:nvSpPr>
          <p:cNvPr id="22" name="Text 20"/>
          <p:cNvSpPr/>
          <p:nvPr/>
        </p:nvSpPr>
        <p:spPr>
          <a:xfrm>
            <a:off x="4974336" y="192024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5,8%</a:t>
            </a:r>
            <a:endParaRPr lang="en-US" sz="850" dirty="0"/>
          </a:p>
        </p:txBody>
      </p:sp>
      <p:sp>
        <p:nvSpPr>
          <p:cNvPr id="23" name="Shape 21"/>
          <p:cNvSpPr/>
          <p:nvPr/>
        </p:nvSpPr>
        <p:spPr>
          <a:xfrm>
            <a:off x="137160" y="2139696"/>
            <a:ext cx="6400800" cy="256032"/>
          </a:xfrm>
          <a:prstGeom prst="rect">
            <a:avLst/>
          </a:prstGeom>
          <a:solidFill>
            <a:srgbClr val="FFFFFF"/>
          </a:solidFill>
          <a:ln w="3810">
            <a:solidFill>
              <a:srgbClr val="E5E7EB"/>
            </a:solidFill>
            <a:prstDash val="solid"/>
          </a:ln>
        </p:spPr>
      </p:sp>
      <p:sp>
        <p:nvSpPr>
          <p:cNvPr id="24" name="Text 22"/>
          <p:cNvSpPr/>
          <p:nvPr/>
        </p:nvSpPr>
        <p:spPr>
          <a:xfrm>
            <a:off x="173736" y="2176272"/>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SCCI (PVC Compoundage CI)</a:t>
            </a:r>
            <a:endParaRPr lang="en-US" sz="850" dirty="0"/>
          </a:p>
        </p:txBody>
      </p:sp>
      <p:sp>
        <p:nvSpPr>
          <p:cNvPr id="25" name="Text 23"/>
          <p:cNvSpPr/>
          <p:nvPr/>
        </p:nvSpPr>
        <p:spPr>
          <a:xfrm>
            <a:off x="1773936" y="217627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790</a:t>
            </a:r>
            <a:endParaRPr lang="en-US" sz="850" dirty="0"/>
          </a:p>
        </p:txBody>
      </p:sp>
      <p:sp>
        <p:nvSpPr>
          <p:cNvPr id="26" name="Text 24"/>
          <p:cNvSpPr/>
          <p:nvPr/>
        </p:nvSpPr>
        <p:spPr>
          <a:xfrm>
            <a:off x="3374136" y="217627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PVC Résine</a:t>
            </a:r>
            <a:endParaRPr lang="en-US" sz="850" dirty="0"/>
          </a:p>
        </p:txBody>
      </p:sp>
      <p:sp>
        <p:nvSpPr>
          <p:cNvPr id="27" name="Text 25"/>
          <p:cNvSpPr/>
          <p:nvPr/>
        </p:nvSpPr>
        <p:spPr>
          <a:xfrm>
            <a:off x="4974336" y="217627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5,2%</a:t>
            </a:r>
            <a:endParaRPr lang="en-US" sz="850" dirty="0"/>
          </a:p>
        </p:txBody>
      </p:sp>
      <p:sp>
        <p:nvSpPr>
          <p:cNvPr id="28" name="Shape 26"/>
          <p:cNvSpPr/>
          <p:nvPr/>
        </p:nvSpPr>
        <p:spPr>
          <a:xfrm>
            <a:off x="137160" y="2395728"/>
            <a:ext cx="6400800" cy="256032"/>
          </a:xfrm>
          <a:prstGeom prst="rect">
            <a:avLst/>
          </a:prstGeom>
          <a:solidFill>
            <a:srgbClr val="F8F9FA"/>
          </a:solidFill>
          <a:ln w="3810">
            <a:solidFill>
              <a:srgbClr val="E5E7EB"/>
            </a:solidFill>
            <a:prstDash val="solid"/>
          </a:ln>
        </p:spPr>
      </p:sp>
      <p:sp>
        <p:nvSpPr>
          <p:cNvPr id="29" name="Text 27"/>
          <p:cNvSpPr/>
          <p:nvPr/>
        </p:nvSpPr>
        <p:spPr>
          <a:xfrm>
            <a:off x="173736" y="2432304"/>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ALLIAD CI</a:t>
            </a:r>
            <a:endParaRPr lang="en-US" sz="850" dirty="0"/>
          </a:p>
        </p:txBody>
      </p:sp>
      <p:sp>
        <p:nvSpPr>
          <p:cNvPr id="30" name="Text 28"/>
          <p:cNvSpPr/>
          <p:nvPr/>
        </p:nvSpPr>
        <p:spPr>
          <a:xfrm>
            <a:off x="1773936" y="243230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687</a:t>
            </a:r>
            <a:endParaRPr lang="en-US" sz="850" dirty="0"/>
          </a:p>
        </p:txBody>
      </p:sp>
      <p:sp>
        <p:nvSpPr>
          <p:cNvPr id="31" name="Text 29"/>
          <p:cNvSpPr/>
          <p:nvPr/>
        </p:nvSpPr>
        <p:spPr>
          <a:xfrm>
            <a:off x="3374136" y="243230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Polyéthylène</a:t>
            </a:r>
            <a:endParaRPr lang="en-US" sz="850" dirty="0"/>
          </a:p>
        </p:txBody>
      </p:sp>
      <p:sp>
        <p:nvSpPr>
          <p:cNvPr id="32" name="Text 30"/>
          <p:cNvSpPr/>
          <p:nvPr/>
        </p:nvSpPr>
        <p:spPr>
          <a:xfrm>
            <a:off x="4974336" y="243230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4,5%</a:t>
            </a:r>
            <a:endParaRPr lang="en-US" sz="850" dirty="0"/>
          </a:p>
        </p:txBody>
      </p:sp>
      <p:sp>
        <p:nvSpPr>
          <p:cNvPr id="33" name="Shape 31"/>
          <p:cNvSpPr/>
          <p:nvPr/>
        </p:nvSpPr>
        <p:spPr>
          <a:xfrm>
            <a:off x="137160" y="2651760"/>
            <a:ext cx="6400800" cy="256032"/>
          </a:xfrm>
          <a:prstGeom prst="rect">
            <a:avLst/>
          </a:prstGeom>
          <a:solidFill>
            <a:srgbClr val="FFFFFF"/>
          </a:solidFill>
          <a:ln w="3810">
            <a:solidFill>
              <a:srgbClr val="E5E7EB"/>
            </a:solidFill>
            <a:prstDash val="solid"/>
          </a:ln>
        </p:spPr>
      </p:sp>
      <p:sp>
        <p:nvSpPr>
          <p:cNvPr id="34" name="Text 32"/>
          <p:cNvSpPr/>
          <p:nvPr/>
        </p:nvSpPr>
        <p:spPr>
          <a:xfrm>
            <a:off x="173736" y="2688336"/>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SOCIFAD</a:t>
            </a:r>
            <a:endParaRPr lang="en-US" sz="850" dirty="0"/>
          </a:p>
        </p:txBody>
      </p:sp>
      <p:sp>
        <p:nvSpPr>
          <p:cNvPr id="35" name="Text 33"/>
          <p:cNvSpPr/>
          <p:nvPr/>
        </p:nvSpPr>
        <p:spPr>
          <a:xfrm>
            <a:off x="1773936" y="268833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480</a:t>
            </a:r>
            <a:endParaRPr lang="en-US" sz="850" dirty="0"/>
          </a:p>
        </p:txBody>
      </p:sp>
      <p:sp>
        <p:nvSpPr>
          <p:cNvPr id="36" name="Text 34"/>
          <p:cNvSpPr/>
          <p:nvPr/>
        </p:nvSpPr>
        <p:spPr>
          <a:xfrm>
            <a:off x="3374136" y="268833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Articles Divers</a:t>
            </a:r>
            <a:endParaRPr lang="en-US" sz="850" dirty="0"/>
          </a:p>
        </p:txBody>
      </p:sp>
      <p:sp>
        <p:nvSpPr>
          <p:cNvPr id="37" name="Text 35"/>
          <p:cNvSpPr/>
          <p:nvPr/>
        </p:nvSpPr>
        <p:spPr>
          <a:xfrm>
            <a:off x="4974336" y="268833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3,2%</a:t>
            </a:r>
            <a:endParaRPr lang="en-US" sz="850" dirty="0"/>
          </a:p>
        </p:txBody>
      </p:sp>
      <p:sp>
        <p:nvSpPr>
          <p:cNvPr id="38" name="Shape 36"/>
          <p:cNvSpPr/>
          <p:nvPr/>
        </p:nvSpPr>
        <p:spPr>
          <a:xfrm>
            <a:off x="137160" y="2907792"/>
            <a:ext cx="6400800" cy="256032"/>
          </a:xfrm>
          <a:prstGeom prst="rect">
            <a:avLst/>
          </a:prstGeom>
          <a:solidFill>
            <a:srgbClr val="F8F9FA"/>
          </a:solidFill>
          <a:ln w="3810">
            <a:solidFill>
              <a:srgbClr val="E5E7EB"/>
            </a:solidFill>
            <a:prstDash val="solid"/>
          </a:ln>
        </p:spPr>
      </p:sp>
      <p:sp>
        <p:nvSpPr>
          <p:cNvPr id="39" name="Text 37"/>
          <p:cNvSpPr/>
          <p:nvPr/>
        </p:nvSpPr>
        <p:spPr>
          <a:xfrm>
            <a:off x="173736" y="2944368"/>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STE PROD ALIM CONGELÉ CI</a:t>
            </a:r>
            <a:endParaRPr lang="en-US" sz="850" dirty="0"/>
          </a:p>
        </p:txBody>
      </p:sp>
      <p:sp>
        <p:nvSpPr>
          <p:cNvPr id="40" name="Text 38"/>
          <p:cNvSpPr/>
          <p:nvPr/>
        </p:nvSpPr>
        <p:spPr>
          <a:xfrm>
            <a:off x="1773936" y="294436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418</a:t>
            </a:r>
            <a:endParaRPr lang="en-US" sz="850" dirty="0"/>
          </a:p>
        </p:txBody>
      </p:sp>
      <p:sp>
        <p:nvSpPr>
          <p:cNvPr id="41" name="Text 39"/>
          <p:cNvSpPr/>
          <p:nvPr/>
        </p:nvSpPr>
        <p:spPr>
          <a:xfrm>
            <a:off x="3374136" y="294436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Prod. Mer Congelé</a:t>
            </a:r>
            <a:endParaRPr lang="en-US" sz="850" dirty="0"/>
          </a:p>
        </p:txBody>
      </p:sp>
      <p:sp>
        <p:nvSpPr>
          <p:cNvPr id="42" name="Text 40"/>
          <p:cNvSpPr/>
          <p:nvPr/>
        </p:nvSpPr>
        <p:spPr>
          <a:xfrm>
            <a:off x="4974336" y="294436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2,8%</a:t>
            </a:r>
            <a:endParaRPr lang="en-US" sz="850" dirty="0"/>
          </a:p>
        </p:txBody>
      </p:sp>
      <p:sp>
        <p:nvSpPr>
          <p:cNvPr id="43" name="Shape 41"/>
          <p:cNvSpPr/>
          <p:nvPr/>
        </p:nvSpPr>
        <p:spPr>
          <a:xfrm>
            <a:off x="137160" y="3163824"/>
            <a:ext cx="6400800" cy="256032"/>
          </a:xfrm>
          <a:prstGeom prst="rect">
            <a:avLst/>
          </a:prstGeom>
          <a:solidFill>
            <a:srgbClr val="FFFFFF"/>
          </a:solidFill>
          <a:ln w="3810">
            <a:solidFill>
              <a:srgbClr val="E5E7EB"/>
            </a:solidFill>
            <a:prstDash val="solid"/>
          </a:ln>
        </p:spPr>
      </p:sp>
      <p:sp>
        <p:nvSpPr>
          <p:cNvPr id="44" name="Text 42"/>
          <p:cNvSpPr/>
          <p:nvPr/>
        </p:nvSpPr>
        <p:spPr>
          <a:xfrm>
            <a:off x="173736" y="3200400"/>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SONACO CI</a:t>
            </a:r>
            <a:endParaRPr lang="en-US" sz="850" dirty="0"/>
          </a:p>
        </p:txBody>
      </p:sp>
      <p:sp>
        <p:nvSpPr>
          <p:cNvPr id="45" name="Text 43"/>
          <p:cNvSpPr/>
          <p:nvPr/>
        </p:nvSpPr>
        <p:spPr>
          <a:xfrm>
            <a:off x="1773936" y="320040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417</a:t>
            </a:r>
            <a:endParaRPr lang="en-US" sz="850" dirty="0"/>
          </a:p>
        </p:txBody>
      </p:sp>
      <p:sp>
        <p:nvSpPr>
          <p:cNvPr id="46" name="Text 44"/>
          <p:cNvSpPr/>
          <p:nvPr/>
        </p:nvSpPr>
        <p:spPr>
          <a:xfrm>
            <a:off x="3374136" y="320040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Cigarettes</a:t>
            </a:r>
            <a:endParaRPr lang="en-US" sz="850" dirty="0"/>
          </a:p>
        </p:txBody>
      </p:sp>
      <p:sp>
        <p:nvSpPr>
          <p:cNvPr id="47" name="Text 45"/>
          <p:cNvSpPr/>
          <p:nvPr/>
        </p:nvSpPr>
        <p:spPr>
          <a:xfrm>
            <a:off x="4974336" y="320040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2,8%</a:t>
            </a:r>
            <a:endParaRPr lang="en-US" sz="850" dirty="0"/>
          </a:p>
        </p:txBody>
      </p:sp>
      <p:sp>
        <p:nvSpPr>
          <p:cNvPr id="48" name="Shape 46"/>
          <p:cNvSpPr/>
          <p:nvPr/>
        </p:nvSpPr>
        <p:spPr>
          <a:xfrm>
            <a:off x="137160" y="3419856"/>
            <a:ext cx="6400800" cy="256032"/>
          </a:xfrm>
          <a:prstGeom prst="rect">
            <a:avLst/>
          </a:prstGeom>
          <a:solidFill>
            <a:srgbClr val="F8F9FA"/>
          </a:solidFill>
          <a:ln w="3810">
            <a:solidFill>
              <a:srgbClr val="E5E7EB"/>
            </a:solidFill>
            <a:prstDash val="solid"/>
          </a:ln>
        </p:spPr>
      </p:sp>
      <p:sp>
        <p:nvSpPr>
          <p:cNvPr id="49" name="Text 47"/>
          <p:cNvSpPr/>
          <p:nvPr/>
        </p:nvSpPr>
        <p:spPr>
          <a:xfrm>
            <a:off x="173736" y="3456432"/>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UBIPHARM CÔTE D'IVOIRE</a:t>
            </a:r>
            <a:endParaRPr lang="en-US" sz="850" dirty="0"/>
          </a:p>
        </p:txBody>
      </p:sp>
      <p:sp>
        <p:nvSpPr>
          <p:cNvPr id="50" name="Text 48"/>
          <p:cNvSpPr/>
          <p:nvPr/>
        </p:nvSpPr>
        <p:spPr>
          <a:xfrm>
            <a:off x="1773936" y="345643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399</a:t>
            </a:r>
            <a:endParaRPr lang="en-US" sz="850" dirty="0"/>
          </a:p>
        </p:txBody>
      </p:sp>
      <p:sp>
        <p:nvSpPr>
          <p:cNvPr id="51" name="Text 49"/>
          <p:cNvSpPr/>
          <p:nvPr/>
        </p:nvSpPr>
        <p:spPr>
          <a:xfrm>
            <a:off x="3374136" y="345643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Médicaments</a:t>
            </a:r>
            <a:endParaRPr lang="en-US" sz="850" dirty="0"/>
          </a:p>
        </p:txBody>
      </p:sp>
      <p:sp>
        <p:nvSpPr>
          <p:cNvPr id="52" name="Text 50"/>
          <p:cNvSpPr/>
          <p:nvPr/>
        </p:nvSpPr>
        <p:spPr>
          <a:xfrm>
            <a:off x="4974336" y="345643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2,6%</a:t>
            </a:r>
            <a:endParaRPr lang="en-US" sz="850" dirty="0"/>
          </a:p>
        </p:txBody>
      </p:sp>
      <p:sp>
        <p:nvSpPr>
          <p:cNvPr id="53" name="Shape 51"/>
          <p:cNvSpPr/>
          <p:nvPr/>
        </p:nvSpPr>
        <p:spPr>
          <a:xfrm>
            <a:off x="137160" y="3675888"/>
            <a:ext cx="6400800" cy="256032"/>
          </a:xfrm>
          <a:prstGeom prst="rect">
            <a:avLst/>
          </a:prstGeom>
          <a:solidFill>
            <a:srgbClr val="FFFFFF"/>
          </a:solidFill>
          <a:ln w="3810">
            <a:solidFill>
              <a:srgbClr val="E5E7EB"/>
            </a:solidFill>
            <a:prstDash val="solid"/>
          </a:ln>
        </p:spPr>
      </p:sp>
      <p:sp>
        <p:nvSpPr>
          <p:cNvPr id="54" name="Text 52"/>
          <p:cNvSpPr/>
          <p:nvPr/>
        </p:nvSpPr>
        <p:spPr>
          <a:xfrm>
            <a:off x="173736" y="3712464"/>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SOLIBRA</a:t>
            </a:r>
            <a:endParaRPr lang="en-US" sz="850" dirty="0"/>
          </a:p>
        </p:txBody>
      </p:sp>
      <p:sp>
        <p:nvSpPr>
          <p:cNvPr id="55" name="Text 53"/>
          <p:cNvSpPr/>
          <p:nvPr/>
        </p:nvSpPr>
        <p:spPr>
          <a:xfrm>
            <a:off x="1773936" y="371246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373</a:t>
            </a:r>
            <a:endParaRPr lang="en-US" sz="850" dirty="0"/>
          </a:p>
        </p:txBody>
      </p:sp>
      <p:sp>
        <p:nvSpPr>
          <p:cNvPr id="56" name="Text 54"/>
          <p:cNvSpPr/>
          <p:nvPr/>
        </p:nvSpPr>
        <p:spPr>
          <a:xfrm>
            <a:off x="3374136" y="371246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Boissons</a:t>
            </a:r>
            <a:endParaRPr lang="en-US" sz="850" dirty="0"/>
          </a:p>
        </p:txBody>
      </p:sp>
      <p:sp>
        <p:nvSpPr>
          <p:cNvPr id="57" name="Text 55"/>
          <p:cNvSpPr/>
          <p:nvPr/>
        </p:nvSpPr>
        <p:spPr>
          <a:xfrm>
            <a:off x="4974336" y="371246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2,5%</a:t>
            </a:r>
            <a:endParaRPr lang="en-US" sz="850" dirty="0"/>
          </a:p>
        </p:txBody>
      </p:sp>
      <p:sp>
        <p:nvSpPr>
          <p:cNvPr id="58" name="Shape 56"/>
          <p:cNvSpPr/>
          <p:nvPr/>
        </p:nvSpPr>
        <p:spPr>
          <a:xfrm>
            <a:off x="137160" y="3931920"/>
            <a:ext cx="6400800" cy="256032"/>
          </a:xfrm>
          <a:prstGeom prst="rect">
            <a:avLst/>
          </a:prstGeom>
          <a:solidFill>
            <a:srgbClr val="F8F9FA"/>
          </a:solidFill>
          <a:ln w="3810">
            <a:solidFill>
              <a:srgbClr val="E5E7EB"/>
            </a:solidFill>
            <a:prstDash val="solid"/>
          </a:ln>
        </p:spPr>
      </p:sp>
      <p:sp>
        <p:nvSpPr>
          <p:cNvPr id="59" name="Text 57"/>
          <p:cNvSpPr/>
          <p:nvPr/>
        </p:nvSpPr>
        <p:spPr>
          <a:xfrm>
            <a:off x="173736" y="3968496"/>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STE TRANSFO INDUS CI</a:t>
            </a:r>
            <a:endParaRPr lang="en-US" sz="850" dirty="0"/>
          </a:p>
        </p:txBody>
      </p:sp>
      <p:sp>
        <p:nvSpPr>
          <p:cNvPr id="60" name="Text 58"/>
          <p:cNvSpPr/>
          <p:nvPr/>
        </p:nvSpPr>
        <p:spPr>
          <a:xfrm>
            <a:off x="1773936" y="396849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363</a:t>
            </a:r>
            <a:endParaRPr lang="en-US" sz="850" dirty="0"/>
          </a:p>
        </p:txBody>
      </p:sp>
      <p:sp>
        <p:nvSpPr>
          <p:cNvPr id="61" name="Text 59"/>
          <p:cNvSpPr/>
          <p:nvPr/>
        </p:nvSpPr>
        <p:spPr>
          <a:xfrm>
            <a:off x="3374136" y="396849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Emballages</a:t>
            </a:r>
            <a:endParaRPr lang="en-US" sz="850" dirty="0"/>
          </a:p>
        </p:txBody>
      </p:sp>
      <p:sp>
        <p:nvSpPr>
          <p:cNvPr id="62" name="Text 60"/>
          <p:cNvSpPr/>
          <p:nvPr/>
        </p:nvSpPr>
        <p:spPr>
          <a:xfrm>
            <a:off x="4974336" y="396849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2,4%</a:t>
            </a:r>
            <a:endParaRPr lang="en-US" sz="850" dirty="0"/>
          </a:p>
        </p:txBody>
      </p:sp>
      <p:sp>
        <p:nvSpPr>
          <p:cNvPr id="63" name="Shape 61"/>
          <p:cNvSpPr/>
          <p:nvPr/>
        </p:nvSpPr>
        <p:spPr>
          <a:xfrm>
            <a:off x="137160" y="4892040"/>
            <a:ext cx="6400800" cy="868680"/>
          </a:xfrm>
          <a:prstGeom prst="rect">
            <a:avLst/>
          </a:prstGeom>
          <a:solidFill>
            <a:srgbClr val="FFFBEC"/>
          </a:solidFill>
          <a:ln w="6350">
            <a:solidFill>
              <a:srgbClr val="E5C97A"/>
            </a:solidFill>
            <a:prstDash val="solid"/>
          </a:ln>
        </p:spPr>
      </p:sp>
      <p:sp>
        <p:nvSpPr>
          <p:cNvPr id="64" name="Text 62"/>
          <p:cNvSpPr/>
          <p:nvPr/>
        </p:nvSpPr>
        <p:spPr>
          <a:xfrm>
            <a:off x="228600" y="4965192"/>
            <a:ext cx="6217920" cy="75895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Concentration : K1 Mining seul = 10,1% du volume AGL TIM. Risque client unique.</a:t>
            </a:r>
            <a:endParaRPr lang="en-US" sz="900" dirty="0"/>
          </a:p>
          <a:p>
            <a:pPr indent="0" marL="0">
              <a:buNone/>
            </a:pPr>
            <a:r>
              <a:rPr lang="en-US" sz="900" dirty="0">
                <a:solidFill>
                  <a:srgbClr val="374151"/>
                </a:solidFill>
                <a:latin typeface="Calibri" pitchFamily="34" charset="0"/>
                <a:ea typeface="Calibri" pitchFamily="34" charset="-122"/>
                <a:cs typeface="Calibri" pitchFamily="34" charset="-120"/>
              </a:rPr>
              <a:t>✓ Opportunités cross-sell : SITAB (TIM+AER), UBIPHARM (TIM+AER+HINT IMP), SOLIBRA = clients multi-métiers à développer.</a:t>
            </a:r>
            <a:endParaRPr lang="en-US" sz="900" dirty="0"/>
          </a:p>
        </p:txBody>
      </p:sp>
      <p:sp>
        <p:nvSpPr>
          <p:cNvPr id="65" name="Text 63"/>
          <p:cNvSpPr/>
          <p:nvPr/>
        </p:nvSpPr>
        <p:spPr>
          <a:xfrm>
            <a:off x="6675120" y="1097280"/>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Mix marchandises AGL – TIM</a:t>
            </a:r>
            <a:endParaRPr lang="en-US" sz="1100" dirty="0"/>
          </a:p>
        </p:txBody>
      </p:sp>
      <p:graphicFrame>
        <p:nvGraphicFramePr>
          <p:cNvPr id="66" name="Chart 0" descr=""/>
          <p:cNvGraphicFramePr/>
          <p:nvPr/>
        </p:nvGraphicFramePr>
        <p:xfrm>
          <a:off x="6675120" y="1371600"/>
          <a:ext cx="5303520" cy="41148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TIM – NOUVEAUX ENTRANTS &amp; NOUVEAUX FLUX</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Transitaires entrants (rangs 11–15)  |  Nouvelles marchandises captées  |  Nouveaux destinataires</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p.7</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Nouveaux transitaires TIM (rangs 11–15)</a:t>
            </a:r>
            <a:endParaRPr lang="en-US" sz="1100" dirty="0"/>
          </a:p>
        </p:txBody>
      </p:sp>
      <p:sp>
        <p:nvSpPr>
          <p:cNvPr id="8" name="Shape 6"/>
          <p:cNvSpPr/>
          <p:nvPr/>
        </p:nvSpPr>
        <p:spPr>
          <a:xfrm>
            <a:off x="137160" y="1371600"/>
            <a:ext cx="640080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Rang</a:t>
            </a:r>
            <a:endParaRPr lang="en-US" sz="850" dirty="0"/>
          </a:p>
        </p:txBody>
      </p:sp>
      <p:sp>
        <p:nvSpPr>
          <p:cNvPr id="10" name="Text 8"/>
          <p:cNvSpPr/>
          <p:nvPr/>
        </p:nvSpPr>
        <p:spPr>
          <a:xfrm>
            <a:off x="585216" y="1408176"/>
            <a:ext cx="145161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Transitaire</a:t>
            </a:r>
            <a:endParaRPr lang="en-US" sz="850" dirty="0"/>
          </a:p>
        </p:txBody>
      </p:sp>
      <p:sp>
        <p:nvSpPr>
          <p:cNvPr id="11" name="Text 9"/>
          <p:cNvSpPr/>
          <p:nvPr/>
        </p:nvSpPr>
        <p:spPr>
          <a:xfrm>
            <a:off x="2082546" y="1408176"/>
            <a:ext cx="145161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TEU</a:t>
            </a:r>
            <a:endParaRPr lang="en-US" sz="850" dirty="0"/>
          </a:p>
        </p:txBody>
      </p:sp>
      <p:sp>
        <p:nvSpPr>
          <p:cNvPr id="12" name="Text 10"/>
          <p:cNvSpPr/>
          <p:nvPr/>
        </p:nvSpPr>
        <p:spPr>
          <a:xfrm>
            <a:off x="3579876" y="1408176"/>
            <a:ext cx="145161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PDM</a:t>
            </a:r>
            <a:endParaRPr lang="en-US" sz="850" dirty="0"/>
          </a:p>
        </p:txBody>
      </p:sp>
      <p:sp>
        <p:nvSpPr>
          <p:cNvPr id="13" name="Text 11"/>
          <p:cNvSpPr/>
          <p:nvPr/>
        </p:nvSpPr>
        <p:spPr>
          <a:xfrm>
            <a:off x="5077206" y="1408176"/>
            <a:ext cx="145161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Spécialité</a:t>
            </a:r>
            <a:endParaRPr lang="en-US" sz="850" dirty="0"/>
          </a:p>
        </p:txBody>
      </p:sp>
      <p:sp>
        <p:nvSpPr>
          <p:cNvPr id="14" name="Shape 12"/>
          <p:cNvSpPr/>
          <p:nvPr/>
        </p:nvSpPr>
        <p:spPr>
          <a:xfrm>
            <a:off x="137160" y="1627632"/>
            <a:ext cx="6400800" cy="256032"/>
          </a:xfrm>
          <a:prstGeom prst="rect">
            <a:avLst/>
          </a:prstGeom>
          <a:solidFill>
            <a:srgbClr val="FFFFFF"/>
          </a:solidFill>
          <a:ln w="3810">
            <a:solidFill>
              <a:srgbClr val="E5E7EB"/>
            </a:solidFill>
            <a:prstDash val="solid"/>
          </a:ln>
        </p:spPr>
      </p:sp>
      <p:sp>
        <p:nvSpPr>
          <p:cNvPr id="15" name="Text 13"/>
          <p:cNvSpPr/>
          <p:nvPr/>
        </p:nvSpPr>
        <p:spPr>
          <a:xfrm>
            <a:off x="173736" y="166420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#11</a:t>
            </a:r>
            <a:endParaRPr lang="en-US" sz="850" dirty="0"/>
          </a:p>
        </p:txBody>
      </p:sp>
      <p:sp>
        <p:nvSpPr>
          <p:cNvPr id="16" name="Text 14"/>
          <p:cNvSpPr/>
          <p:nvPr/>
        </p:nvSpPr>
        <p:spPr>
          <a:xfrm>
            <a:off x="585216" y="1664208"/>
            <a:ext cx="1451610" cy="201168"/>
          </a:xfrm>
          <a:prstGeom prst="rect">
            <a:avLst/>
          </a:prstGeom>
          <a:noFill/>
          <a:ln/>
        </p:spPr>
        <p:txBody>
          <a:bodyPr wrap="none" rtlCol="0" anchor="ctr"/>
          <a:lstStyle/>
          <a:p>
            <a:pPr algn="l" indent="0" marL="0">
              <a:buNone/>
            </a:pPr>
            <a:r>
              <a:rPr lang="en-US" sz="850" dirty="0">
                <a:solidFill>
                  <a:srgbClr val="1A7C4F"/>
                </a:solidFill>
                <a:latin typeface="Calibri" pitchFamily="34" charset="0"/>
                <a:ea typeface="Calibri" pitchFamily="34" charset="-122"/>
                <a:cs typeface="Calibri" pitchFamily="34" charset="-120"/>
              </a:rPr>
              <a:t>ATLANTIQUE TRANSIT CI</a:t>
            </a:r>
            <a:endParaRPr lang="en-US" sz="850" dirty="0"/>
          </a:p>
        </p:txBody>
      </p:sp>
      <p:sp>
        <p:nvSpPr>
          <p:cNvPr id="17" name="Text 15"/>
          <p:cNvSpPr/>
          <p:nvPr/>
        </p:nvSpPr>
        <p:spPr>
          <a:xfrm>
            <a:off x="2082546" y="1664208"/>
            <a:ext cx="145161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3 820</a:t>
            </a:r>
            <a:endParaRPr lang="en-US" sz="850" dirty="0"/>
          </a:p>
        </p:txBody>
      </p:sp>
      <p:sp>
        <p:nvSpPr>
          <p:cNvPr id="18" name="Text 16"/>
          <p:cNvSpPr/>
          <p:nvPr/>
        </p:nvSpPr>
        <p:spPr>
          <a:xfrm>
            <a:off x="3579876" y="1664208"/>
            <a:ext cx="145161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2,0 %</a:t>
            </a:r>
            <a:endParaRPr lang="en-US" sz="850" dirty="0"/>
          </a:p>
        </p:txBody>
      </p:sp>
      <p:sp>
        <p:nvSpPr>
          <p:cNvPr id="19" name="Text 17"/>
          <p:cNvSpPr/>
          <p:nvPr/>
        </p:nvSpPr>
        <p:spPr>
          <a:xfrm>
            <a:off x="5077206" y="1664208"/>
            <a:ext cx="145161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Emball. / Plastiques</a:t>
            </a:r>
            <a:endParaRPr lang="en-US" sz="850" dirty="0"/>
          </a:p>
        </p:txBody>
      </p:sp>
      <p:sp>
        <p:nvSpPr>
          <p:cNvPr id="20" name="Shape 18"/>
          <p:cNvSpPr/>
          <p:nvPr/>
        </p:nvSpPr>
        <p:spPr>
          <a:xfrm>
            <a:off x="137160" y="1883664"/>
            <a:ext cx="6400800" cy="256032"/>
          </a:xfrm>
          <a:prstGeom prst="rect">
            <a:avLst/>
          </a:prstGeom>
          <a:solidFill>
            <a:srgbClr val="F8F9FA"/>
          </a:solidFill>
          <a:ln w="3810">
            <a:solidFill>
              <a:srgbClr val="E5E7EB"/>
            </a:solidFill>
            <a:prstDash val="solid"/>
          </a:ln>
        </p:spPr>
      </p:sp>
      <p:sp>
        <p:nvSpPr>
          <p:cNvPr id="21" name="Text 19"/>
          <p:cNvSpPr/>
          <p:nvPr/>
        </p:nvSpPr>
        <p:spPr>
          <a:xfrm>
            <a:off x="173736" y="192024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#12</a:t>
            </a:r>
            <a:endParaRPr lang="en-US" sz="850" dirty="0"/>
          </a:p>
        </p:txBody>
      </p:sp>
      <p:sp>
        <p:nvSpPr>
          <p:cNvPr id="22" name="Text 20"/>
          <p:cNvSpPr/>
          <p:nvPr/>
        </p:nvSpPr>
        <p:spPr>
          <a:xfrm>
            <a:off x="585216" y="1920240"/>
            <a:ext cx="145161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WESTAFRICA LOG. CI</a:t>
            </a:r>
            <a:endParaRPr lang="en-US" sz="850" dirty="0"/>
          </a:p>
        </p:txBody>
      </p:sp>
      <p:sp>
        <p:nvSpPr>
          <p:cNvPr id="23" name="Text 21"/>
          <p:cNvSpPr/>
          <p:nvPr/>
        </p:nvSpPr>
        <p:spPr>
          <a:xfrm>
            <a:off x="2082546" y="1920240"/>
            <a:ext cx="145161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3 410</a:t>
            </a:r>
            <a:endParaRPr lang="en-US" sz="850" dirty="0"/>
          </a:p>
        </p:txBody>
      </p:sp>
      <p:sp>
        <p:nvSpPr>
          <p:cNvPr id="24" name="Text 22"/>
          <p:cNvSpPr/>
          <p:nvPr/>
        </p:nvSpPr>
        <p:spPr>
          <a:xfrm>
            <a:off x="3579876" y="1920240"/>
            <a:ext cx="145161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1,8 %</a:t>
            </a:r>
            <a:endParaRPr lang="en-US" sz="850" dirty="0"/>
          </a:p>
        </p:txBody>
      </p:sp>
      <p:sp>
        <p:nvSpPr>
          <p:cNvPr id="25" name="Text 23"/>
          <p:cNvSpPr/>
          <p:nvPr/>
        </p:nvSpPr>
        <p:spPr>
          <a:xfrm>
            <a:off x="5077206" y="1920240"/>
            <a:ext cx="145161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Machines</a:t>
            </a:r>
            <a:endParaRPr lang="en-US" sz="850" dirty="0"/>
          </a:p>
        </p:txBody>
      </p:sp>
      <p:sp>
        <p:nvSpPr>
          <p:cNvPr id="26" name="Shape 24"/>
          <p:cNvSpPr/>
          <p:nvPr/>
        </p:nvSpPr>
        <p:spPr>
          <a:xfrm>
            <a:off x="137160" y="2139696"/>
            <a:ext cx="6400800" cy="256032"/>
          </a:xfrm>
          <a:prstGeom prst="rect">
            <a:avLst/>
          </a:prstGeom>
          <a:solidFill>
            <a:srgbClr val="FFFFFF"/>
          </a:solidFill>
          <a:ln w="3810">
            <a:solidFill>
              <a:srgbClr val="E5E7EB"/>
            </a:solidFill>
            <a:prstDash val="solid"/>
          </a:ln>
        </p:spPr>
      </p:sp>
      <p:sp>
        <p:nvSpPr>
          <p:cNvPr id="27" name="Text 25"/>
          <p:cNvSpPr/>
          <p:nvPr/>
        </p:nvSpPr>
        <p:spPr>
          <a:xfrm>
            <a:off x="173736" y="217627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#13</a:t>
            </a:r>
            <a:endParaRPr lang="en-US" sz="850" dirty="0"/>
          </a:p>
        </p:txBody>
      </p:sp>
      <p:sp>
        <p:nvSpPr>
          <p:cNvPr id="28" name="Text 26"/>
          <p:cNvSpPr/>
          <p:nvPr/>
        </p:nvSpPr>
        <p:spPr>
          <a:xfrm>
            <a:off x="585216" y="2176272"/>
            <a:ext cx="145161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IVOIRE TRANSIT RAPID</a:t>
            </a:r>
            <a:endParaRPr lang="en-US" sz="850" dirty="0"/>
          </a:p>
        </p:txBody>
      </p:sp>
      <p:sp>
        <p:nvSpPr>
          <p:cNvPr id="29" name="Text 27"/>
          <p:cNvSpPr/>
          <p:nvPr/>
        </p:nvSpPr>
        <p:spPr>
          <a:xfrm>
            <a:off x="2082546" y="2176272"/>
            <a:ext cx="145161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3 180</a:t>
            </a:r>
            <a:endParaRPr lang="en-US" sz="850" dirty="0"/>
          </a:p>
        </p:txBody>
      </p:sp>
      <p:sp>
        <p:nvSpPr>
          <p:cNvPr id="30" name="Text 28"/>
          <p:cNvSpPr/>
          <p:nvPr/>
        </p:nvSpPr>
        <p:spPr>
          <a:xfrm>
            <a:off x="3579876" y="2176272"/>
            <a:ext cx="145161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1,6 %</a:t>
            </a:r>
            <a:endParaRPr lang="en-US" sz="850" dirty="0"/>
          </a:p>
        </p:txBody>
      </p:sp>
      <p:sp>
        <p:nvSpPr>
          <p:cNvPr id="31" name="Text 29"/>
          <p:cNvSpPr/>
          <p:nvPr/>
        </p:nvSpPr>
        <p:spPr>
          <a:xfrm>
            <a:off x="5077206" y="2176272"/>
            <a:ext cx="145161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Chimie / Pharma</a:t>
            </a:r>
            <a:endParaRPr lang="en-US" sz="850" dirty="0"/>
          </a:p>
        </p:txBody>
      </p:sp>
      <p:sp>
        <p:nvSpPr>
          <p:cNvPr id="32" name="Shape 30"/>
          <p:cNvSpPr/>
          <p:nvPr/>
        </p:nvSpPr>
        <p:spPr>
          <a:xfrm>
            <a:off x="137160" y="2395728"/>
            <a:ext cx="6400800" cy="256032"/>
          </a:xfrm>
          <a:prstGeom prst="rect">
            <a:avLst/>
          </a:prstGeom>
          <a:solidFill>
            <a:srgbClr val="FFF9EC"/>
          </a:solidFill>
          <a:ln w="3810">
            <a:solidFill>
              <a:srgbClr val="E5E7EB"/>
            </a:solidFill>
            <a:prstDash val="solid"/>
          </a:ln>
        </p:spPr>
      </p:sp>
      <p:sp>
        <p:nvSpPr>
          <p:cNvPr id="33" name="Text 31"/>
          <p:cNvSpPr/>
          <p:nvPr/>
        </p:nvSpPr>
        <p:spPr>
          <a:xfrm>
            <a:off x="173736" y="2432304"/>
            <a:ext cx="365760" cy="201168"/>
          </a:xfrm>
          <a:prstGeom prst="rect">
            <a:avLst/>
          </a:prstGeom>
          <a:noFill/>
          <a:ln/>
        </p:spPr>
        <p:txBody>
          <a:bodyPr wrap="none" rtlCol="0" anchor="ctr"/>
          <a:lstStyle/>
          <a:p>
            <a:pPr algn="ctr" indent="0" marL="0">
              <a:buNone/>
            </a:pPr>
            <a:r>
              <a:rPr lang="en-US" sz="850" b="1" dirty="0">
                <a:solidFill>
                  <a:srgbClr val="374151"/>
                </a:solidFill>
                <a:latin typeface="Calibri" pitchFamily="34" charset="0"/>
                <a:ea typeface="Calibri" pitchFamily="34" charset="-122"/>
                <a:cs typeface="Calibri" pitchFamily="34" charset="-120"/>
              </a:rPr>
              <a:t>#14</a:t>
            </a:r>
            <a:endParaRPr lang="en-US" sz="850" dirty="0"/>
          </a:p>
        </p:txBody>
      </p:sp>
      <p:sp>
        <p:nvSpPr>
          <p:cNvPr id="34" name="Text 32"/>
          <p:cNvSpPr/>
          <p:nvPr/>
        </p:nvSpPr>
        <p:spPr>
          <a:xfrm>
            <a:off x="585216" y="2432304"/>
            <a:ext cx="1451610" cy="201168"/>
          </a:xfrm>
          <a:prstGeom prst="rect">
            <a:avLst/>
          </a:prstGeom>
          <a:noFill/>
          <a:ln/>
        </p:spPr>
        <p:txBody>
          <a:bodyPr wrap="none" rtlCol="0" anchor="ctr"/>
          <a:lstStyle/>
          <a:p>
            <a:pPr algn="l" indent="0" marL="0">
              <a:buNone/>
            </a:pPr>
            <a:r>
              <a:rPr lang="en-US" sz="850" b="1" dirty="0">
                <a:solidFill>
                  <a:srgbClr val="374151"/>
                </a:solidFill>
                <a:latin typeface="Calibri" pitchFamily="34" charset="0"/>
                <a:ea typeface="Calibri" pitchFamily="34" charset="-122"/>
                <a:cs typeface="Calibri" pitchFamily="34" charset="-120"/>
              </a:rPr>
              <a:t>CEVA LOGISTICS CI</a:t>
            </a:r>
            <a:endParaRPr lang="en-US" sz="850" dirty="0"/>
          </a:p>
        </p:txBody>
      </p:sp>
      <p:sp>
        <p:nvSpPr>
          <p:cNvPr id="35" name="Text 33"/>
          <p:cNvSpPr/>
          <p:nvPr/>
        </p:nvSpPr>
        <p:spPr>
          <a:xfrm>
            <a:off x="2082546" y="2432304"/>
            <a:ext cx="145161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2 950</a:t>
            </a:r>
            <a:endParaRPr lang="en-US" sz="850" dirty="0"/>
          </a:p>
        </p:txBody>
      </p:sp>
      <p:sp>
        <p:nvSpPr>
          <p:cNvPr id="36" name="Text 34"/>
          <p:cNvSpPr/>
          <p:nvPr/>
        </p:nvSpPr>
        <p:spPr>
          <a:xfrm>
            <a:off x="3579876" y="2432304"/>
            <a:ext cx="145161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1,5 %</a:t>
            </a:r>
            <a:endParaRPr lang="en-US" sz="850" dirty="0"/>
          </a:p>
        </p:txBody>
      </p:sp>
      <p:sp>
        <p:nvSpPr>
          <p:cNvPr id="37" name="Text 35"/>
          <p:cNvSpPr/>
          <p:nvPr/>
        </p:nvSpPr>
        <p:spPr>
          <a:xfrm>
            <a:off x="5077206" y="2432304"/>
            <a:ext cx="145161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Multi-segments</a:t>
            </a:r>
            <a:endParaRPr lang="en-US" sz="850" dirty="0"/>
          </a:p>
        </p:txBody>
      </p:sp>
      <p:sp>
        <p:nvSpPr>
          <p:cNvPr id="38" name="Shape 36"/>
          <p:cNvSpPr/>
          <p:nvPr/>
        </p:nvSpPr>
        <p:spPr>
          <a:xfrm>
            <a:off x="137160" y="2651760"/>
            <a:ext cx="6400800" cy="256032"/>
          </a:xfrm>
          <a:prstGeom prst="rect">
            <a:avLst/>
          </a:prstGeom>
          <a:solidFill>
            <a:srgbClr val="FFFFFF"/>
          </a:solidFill>
          <a:ln w="3810">
            <a:solidFill>
              <a:srgbClr val="E5E7EB"/>
            </a:solidFill>
            <a:prstDash val="solid"/>
          </a:ln>
        </p:spPr>
      </p:sp>
      <p:sp>
        <p:nvSpPr>
          <p:cNvPr id="39" name="Text 37"/>
          <p:cNvSpPr/>
          <p:nvPr/>
        </p:nvSpPr>
        <p:spPr>
          <a:xfrm>
            <a:off x="173736" y="268833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#15</a:t>
            </a:r>
            <a:endParaRPr lang="en-US" sz="850" dirty="0"/>
          </a:p>
        </p:txBody>
      </p:sp>
      <p:sp>
        <p:nvSpPr>
          <p:cNvPr id="40" name="Text 38"/>
          <p:cNvSpPr/>
          <p:nvPr/>
        </p:nvSpPr>
        <p:spPr>
          <a:xfrm>
            <a:off x="585216" y="2688336"/>
            <a:ext cx="145161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SOCOPHAR TRANSIT</a:t>
            </a:r>
            <a:endParaRPr lang="en-US" sz="850" dirty="0"/>
          </a:p>
        </p:txBody>
      </p:sp>
      <p:sp>
        <p:nvSpPr>
          <p:cNvPr id="41" name="Text 39"/>
          <p:cNvSpPr/>
          <p:nvPr/>
        </p:nvSpPr>
        <p:spPr>
          <a:xfrm>
            <a:off x="2082546" y="2688336"/>
            <a:ext cx="145161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2 640</a:t>
            </a:r>
            <a:endParaRPr lang="en-US" sz="850" dirty="0"/>
          </a:p>
        </p:txBody>
      </p:sp>
      <p:sp>
        <p:nvSpPr>
          <p:cNvPr id="42" name="Text 40"/>
          <p:cNvSpPr/>
          <p:nvPr/>
        </p:nvSpPr>
        <p:spPr>
          <a:xfrm>
            <a:off x="3579876" y="2688336"/>
            <a:ext cx="145161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1,4 %</a:t>
            </a:r>
            <a:endParaRPr lang="en-US" sz="850" dirty="0"/>
          </a:p>
        </p:txBody>
      </p:sp>
      <p:sp>
        <p:nvSpPr>
          <p:cNvPr id="43" name="Text 41"/>
          <p:cNvSpPr/>
          <p:nvPr/>
        </p:nvSpPr>
        <p:spPr>
          <a:xfrm>
            <a:off x="5077206" y="2688336"/>
            <a:ext cx="145161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Médicaments</a:t>
            </a:r>
            <a:endParaRPr lang="en-US" sz="850" dirty="0"/>
          </a:p>
        </p:txBody>
      </p:sp>
      <p:sp>
        <p:nvSpPr>
          <p:cNvPr id="44" name="Text 42"/>
          <p:cNvSpPr/>
          <p:nvPr/>
        </p:nvSpPr>
        <p:spPr>
          <a:xfrm>
            <a:off x="228600" y="2816352"/>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Nouveaux destinataires AGL – TIM (1er flux 2026)</a:t>
            </a:r>
            <a:endParaRPr lang="en-US" sz="1100" dirty="0"/>
          </a:p>
        </p:txBody>
      </p:sp>
      <p:sp>
        <p:nvSpPr>
          <p:cNvPr id="45" name="Shape 43"/>
          <p:cNvSpPr/>
          <p:nvPr/>
        </p:nvSpPr>
        <p:spPr>
          <a:xfrm>
            <a:off x="137160" y="3090672"/>
            <a:ext cx="6400800" cy="256032"/>
          </a:xfrm>
          <a:prstGeom prst="rect">
            <a:avLst/>
          </a:prstGeom>
          <a:solidFill>
            <a:srgbClr val="0D2243"/>
          </a:solidFill>
          <a:ln/>
        </p:spPr>
      </p:sp>
      <p:sp>
        <p:nvSpPr>
          <p:cNvPr id="46" name="Text 44"/>
          <p:cNvSpPr/>
          <p:nvPr/>
        </p:nvSpPr>
        <p:spPr>
          <a:xfrm>
            <a:off x="173736" y="3127248"/>
            <a:ext cx="155448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Destinataire</a:t>
            </a:r>
            <a:endParaRPr lang="en-US" sz="850" dirty="0"/>
          </a:p>
        </p:txBody>
      </p:sp>
      <p:sp>
        <p:nvSpPr>
          <p:cNvPr id="47" name="Text 45"/>
          <p:cNvSpPr/>
          <p:nvPr/>
        </p:nvSpPr>
        <p:spPr>
          <a:xfrm>
            <a:off x="1773936" y="3127248"/>
            <a:ext cx="15544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TEU</a:t>
            </a:r>
            <a:endParaRPr lang="en-US" sz="850" dirty="0"/>
          </a:p>
        </p:txBody>
      </p:sp>
      <p:sp>
        <p:nvSpPr>
          <p:cNvPr id="48" name="Text 46"/>
          <p:cNvSpPr/>
          <p:nvPr/>
        </p:nvSpPr>
        <p:spPr>
          <a:xfrm>
            <a:off x="3374136" y="3127248"/>
            <a:ext cx="15544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Secteur</a:t>
            </a:r>
            <a:endParaRPr lang="en-US" sz="850" dirty="0"/>
          </a:p>
        </p:txBody>
      </p:sp>
      <p:sp>
        <p:nvSpPr>
          <p:cNvPr id="49" name="Text 47"/>
          <p:cNvSpPr/>
          <p:nvPr/>
        </p:nvSpPr>
        <p:spPr>
          <a:xfrm>
            <a:off x="4974336" y="3127248"/>
            <a:ext cx="15544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Entrée</a:t>
            </a:r>
            <a:endParaRPr lang="en-US" sz="850" dirty="0"/>
          </a:p>
        </p:txBody>
      </p:sp>
      <p:sp>
        <p:nvSpPr>
          <p:cNvPr id="50" name="Shape 48"/>
          <p:cNvSpPr/>
          <p:nvPr/>
        </p:nvSpPr>
        <p:spPr>
          <a:xfrm>
            <a:off x="137160" y="3346704"/>
            <a:ext cx="6400800" cy="256032"/>
          </a:xfrm>
          <a:prstGeom prst="rect">
            <a:avLst/>
          </a:prstGeom>
          <a:solidFill>
            <a:srgbClr val="FFF9EC"/>
          </a:solidFill>
          <a:ln w="3810">
            <a:solidFill>
              <a:srgbClr val="E5E7EB"/>
            </a:solidFill>
            <a:prstDash val="solid"/>
          </a:ln>
        </p:spPr>
      </p:sp>
      <p:sp>
        <p:nvSpPr>
          <p:cNvPr id="51" name="Text 49"/>
          <p:cNvSpPr/>
          <p:nvPr/>
        </p:nvSpPr>
        <p:spPr>
          <a:xfrm>
            <a:off x="173736" y="3383280"/>
            <a:ext cx="155448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ORANGE CI (équipements)</a:t>
            </a:r>
            <a:endParaRPr lang="en-US" sz="850" dirty="0"/>
          </a:p>
        </p:txBody>
      </p:sp>
      <p:sp>
        <p:nvSpPr>
          <p:cNvPr id="52" name="Text 50"/>
          <p:cNvSpPr/>
          <p:nvPr/>
        </p:nvSpPr>
        <p:spPr>
          <a:xfrm>
            <a:off x="1773936" y="338328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680</a:t>
            </a:r>
            <a:endParaRPr lang="en-US" sz="850" dirty="0"/>
          </a:p>
        </p:txBody>
      </p:sp>
      <p:sp>
        <p:nvSpPr>
          <p:cNvPr id="53" name="Text 51"/>
          <p:cNvSpPr/>
          <p:nvPr/>
        </p:nvSpPr>
        <p:spPr>
          <a:xfrm>
            <a:off x="3374136" y="338328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Télécoms</a:t>
            </a:r>
            <a:endParaRPr lang="en-US" sz="850" dirty="0"/>
          </a:p>
        </p:txBody>
      </p:sp>
      <p:sp>
        <p:nvSpPr>
          <p:cNvPr id="54" name="Text 52"/>
          <p:cNvSpPr/>
          <p:nvPr/>
        </p:nvSpPr>
        <p:spPr>
          <a:xfrm>
            <a:off x="4974336" y="3383280"/>
            <a:ext cx="155448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Q1 2026</a:t>
            </a:r>
            <a:endParaRPr lang="en-US" sz="850" dirty="0"/>
          </a:p>
        </p:txBody>
      </p:sp>
      <p:sp>
        <p:nvSpPr>
          <p:cNvPr id="55" name="Shape 53"/>
          <p:cNvSpPr/>
          <p:nvPr/>
        </p:nvSpPr>
        <p:spPr>
          <a:xfrm>
            <a:off x="137160" y="3602736"/>
            <a:ext cx="6400800" cy="256032"/>
          </a:xfrm>
          <a:prstGeom prst="rect">
            <a:avLst/>
          </a:prstGeom>
          <a:solidFill>
            <a:srgbClr val="F8F9FA"/>
          </a:solidFill>
          <a:ln w="3810">
            <a:solidFill>
              <a:srgbClr val="E5E7EB"/>
            </a:solidFill>
            <a:prstDash val="solid"/>
          </a:ln>
        </p:spPr>
      </p:sp>
      <p:sp>
        <p:nvSpPr>
          <p:cNvPr id="56" name="Text 54"/>
          <p:cNvSpPr/>
          <p:nvPr/>
        </p:nvSpPr>
        <p:spPr>
          <a:xfrm>
            <a:off x="173736" y="3639312"/>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NESTLÉ CI</a:t>
            </a:r>
            <a:endParaRPr lang="en-US" sz="850" dirty="0"/>
          </a:p>
        </p:txBody>
      </p:sp>
      <p:sp>
        <p:nvSpPr>
          <p:cNvPr id="57" name="Text 55"/>
          <p:cNvSpPr/>
          <p:nvPr/>
        </p:nvSpPr>
        <p:spPr>
          <a:xfrm>
            <a:off x="1773936" y="363931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420</a:t>
            </a:r>
            <a:endParaRPr lang="en-US" sz="850" dirty="0"/>
          </a:p>
        </p:txBody>
      </p:sp>
      <p:sp>
        <p:nvSpPr>
          <p:cNvPr id="58" name="Text 56"/>
          <p:cNvSpPr/>
          <p:nvPr/>
        </p:nvSpPr>
        <p:spPr>
          <a:xfrm>
            <a:off x="3374136" y="363931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Alim. industriel</a:t>
            </a:r>
            <a:endParaRPr lang="en-US" sz="850" dirty="0"/>
          </a:p>
        </p:txBody>
      </p:sp>
      <p:sp>
        <p:nvSpPr>
          <p:cNvPr id="59" name="Text 57"/>
          <p:cNvSpPr/>
          <p:nvPr/>
        </p:nvSpPr>
        <p:spPr>
          <a:xfrm>
            <a:off x="4974336" y="363931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Q1 2026</a:t>
            </a:r>
            <a:endParaRPr lang="en-US" sz="850" dirty="0"/>
          </a:p>
        </p:txBody>
      </p:sp>
      <p:sp>
        <p:nvSpPr>
          <p:cNvPr id="60" name="Shape 58"/>
          <p:cNvSpPr/>
          <p:nvPr/>
        </p:nvSpPr>
        <p:spPr>
          <a:xfrm>
            <a:off x="137160" y="3858768"/>
            <a:ext cx="6400800" cy="256032"/>
          </a:xfrm>
          <a:prstGeom prst="rect">
            <a:avLst/>
          </a:prstGeom>
          <a:solidFill>
            <a:srgbClr val="FFFFFF"/>
          </a:solidFill>
          <a:ln w="3810">
            <a:solidFill>
              <a:srgbClr val="E5E7EB"/>
            </a:solidFill>
            <a:prstDash val="solid"/>
          </a:ln>
        </p:spPr>
      </p:sp>
      <p:sp>
        <p:nvSpPr>
          <p:cNvPr id="61" name="Text 59"/>
          <p:cNvSpPr/>
          <p:nvPr/>
        </p:nvSpPr>
        <p:spPr>
          <a:xfrm>
            <a:off x="173736" y="3895344"/>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FOXTROT INTERNATIONAL</a:t>
            </a:r>
            <a:endParaRPr lang="en-US" sz="850" dirty="0"/>
          </a:p>
        </p:txBody>
      </p:sp>
      <p:sp>
        <p:nvSpPr>
          <p:cNvPr id="62" name="Text 60"/>
          <p:cNvSpPr/>
          <p:nvPr/>
        </p:nvSpPr>
        <p:spPr>
          <a:xfrm>
            <a:off x="1773936" y="389534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380</a:t>
            </a:r>
            <a:endParaRPr lang="en-US" sz="850" dirty="0"/>
          </a:p>
        </p:txBody>
      </p:sp>
      <p:sp>
        <p:nvSpPr>
          <p:cNvPr id="63" name="Text 61"/>
          <p:cNvSpPr/>
          <p:nvPr/>
        </p:nvSpPr>
        <p:spPr>
          <a:xfrm>
            <a:off x="3374136" y="389534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Pétrole</a:t>
            </a:r>
            <a:endParaRPr lang="en-US" sz="850" dirty="0"/>
          </a:p>
        </p:txBody>
      </p:sp>
      <p:sp>
        <p:nvSpPr>
          <p:cNvPr id="64" name="Text 62"/>
          <p:cNvSpPr/>
          <p:nvPr/>
        </p:nvSpPr>
        <p:spPr>
          <a:xfrm>
            <a:off x="4974336" y="389534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Q2 2026</a:t>
            </a:r>
            <a:endParaRPr lang="en-US" sz="850" dirty="0"/>
          </a:p>
        </p:txBody>
      </p:sp>
      <p:sp>
        <p:nvSpPr>
          <p:cNvPr id="65" name="Shape 63"/>
          <p:cNvSpPr/>
          <p:nvPr/>
        </p:nvSpPr>
        <p:spPr>
          <a:xfrm>
            <a:off x="137160" y="4114800"/>
            <a:ext cx="6400800" cy="256032"/>
          </a:xfrm>
          <a:prstGeom prst="rect">
            <a:avLst/>
          </a:prstGeom>
          <a:solidFill>
            <a:srgbClr val="F8F9FA"/>
          </a:solidFill>
          <a:ln w="3810">
            <a:solidFill>
              <a:srgbClr val="E5E7EB"/>
            </a:solidFill>
            <a:prstDash val="solid"/>
          </a:ln>
        </p:spPr>
      </p:sp>
      <p:sp>
        <p:nvSpPr>
          <p:cNvPr id="66" name="Text 64"/>
          <p:cNvSpPr/>
          <p:nvPr/>
        </p:nvSpPr>
        <p:spPr>
          <a:xfrm>
            <a:off x="173736" y="4151376"/>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AFRICA RE</a:t>
            </a:r>
            <a:endParaRPr lang="en-US" sz="850" dirty="0"/>
          </a:p>
        </p:txBody>
      </p:sp>
      <p:sp>
        <p:nvSpPr>
          <p:cNvPr id="67" name="Text 65"/>
          <p:cNvSpPr/>
          <p:nvPr/>
        </p:nvSpPr>
        <p:spPr>
          <a:xfrm>
            <a:off x="1773936" y="415137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290</a:t>
            </a:r>
            <a:endParaRPr lang="en-US" sz="850" dirty="0"/>
          </a:p>
        </p:txBody>
      </p:sp>
      <p:sp>
        <p:nvSpPr>
          <p:cNvPr id="68" name="Text 66"/>
          <p:cNvSpPr/>
          <p:nvPr/>
        </p:nvSpPr>
        <p:spPr>
          <a:xfrm>
            <a:off x="3374136" y="415137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Services</a:t>
            </a:r>
            <a:endParaRPr lang="en-US" sz="850" dirty="0"/>
          </a:p>
        </p:txBody>
      </p:sp>
      <p:sp>
        <p:nvSpPr>
          <p:cNvPr id="69" name="Text 67"/>
          <p:cNvSpPr/>
          <p:nvPr/>
        </p:nvSpPr>
        <p:spPr>
          <a:xfrm>
            <a:off x="4974336" y="415137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Q2 2026</a:t>
            </a:r>
            <a:endParaRPr lang="en-US" sz="850" dirty="0"/>
          </a:p>
        </p:txBody>
      </p:sp>
      <p:sp>
        <p:nvSpPr>
          <p:cNvPr id="70" name="Shape 68"/>
          <p:cNvSpPr/>
          <p:nvPr/>
        </p:nvSpPr>
        <p:spPr>
          <a:xfrm>
            <a:off x="137160" y="4370832"/>
            <a:ext cx="6400800" cy="256032"/>
          </a:xfrm>
          <a:prstGeom prst="rect">
            <a:avLst/>
          </a:prstGeom>
          <a:solidFill>
            <a:srgbClr val="FFFFFF"/>
          </a:solidFill>
          <a:ln w="3810">
            <a:solidFill>
              <a:srgbClr val="E5E7EB"/>
            </a:solidFill>
            <a:prstDash val="solid"/>
          </a:ln>
        </p:spPr>
      </p:sp>
      <p:sp>
        <p:nvSpPr>
          <p:cNvPr id="71" name="Text 69"/>
          <p:cNvSpPr/>
          <p:nvPr/>
        </p:nvSpPr>
        <p:spPr>
          <a:xfrm>
            <a:off x="173736" y="4407408"/>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MTN CI</a:t>
            </a:r>
            <a:endParaRPr lang="en-US" sz="850" dirty="0"/>
          </a:p>
        </p:txBody>
      </p:sp>
      <p:sp>
        <p:nvSpPr>
          <p:cNvPr id="72" name="Text 70"/>
          <p:cNvSpPr/>
          <p:nvPr/>
        </p:nvSpPr>
        <p:spPr>
          <a:xfrm>
            <a:off x="1773936" y="440740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245</a:t>
            </a:r>
            <a:endParaRPr lang="en-US" sz="850" dirty="0"/>
          </a:p>
        </p:txBody>
      </p:sp>
      <p:sp>
        <p:nvSpPr>
          <p:cNvPr id="73" name="Text 71"/>
          <p:cNvSpPr/>
          <p:nvPr/>
        </p:nvSpPr>
        <p:spPr>
          <a:xfrm>
            <a:off x="3374136" y="440740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Télécoms</a:t>
            </a:r>
            <a:endParaRPr lang="en-US" sz="850" dirty="0"/>
          </a:p>
        </p:txBody>
      </p:sp>
      <p:sp>
        <p:nvSpPr>
          <p:cNvPr id="74" name="Text 72"/>
          <p:cNvSpPr/>
          <p:nvPr/>
        </p:nvSpPr>
        <p:spPr>
          <a:xfrm>
            <a:off x="4974336" y="440740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Q2 2026</a:t>
            </a:r>
            <a:endParaRPr lang="en-US" sz="850" dirty="0"/>
          </a:p>
        </p:txBody>
      </p:sp>
      <p:sp>
        <p:nvSpPr>
          <p:cNvPr id="75" name="Text 73"/>
          <p:cNvSpPr/>
          <p:nvPr/>
        </p:nvSpPr>
        <p:spPr>
          <a:xfrm>
            <a:off x="6675120" y="1097280"/>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Nouvelles marchandises captées par AGL – TIM</a:t>
            </a:r>
            <a:endParaRPr lang="en-US" sz="1100" dirty="0"/>
          </a:p>
        </p:txBody>
      </p:sp>
      <p:sp>
        <p:nvSpPr>
          <p:cNvPr id="76" name="Text 74"/>
          <p:cNvSpPr/>
          <p:nvPr/>
        </p:nvSpPr>
        <p:spPr>
          <a:xfrm>
            <a:off x="6675120" y="141732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TÉLÉCOMMUNICATIONS</a:t>
            </a:r>
            <a:endParaRPr lang="en-US" sz="850" dirty="0"/>
          </a:p>
        </p:txBody>
      </p:sp>
      <p:sp>
        <p:nvSpPr>
          <p:cNvPr id="77" name="Text 75"/>
          <p:cNvSpPr/>
          <p:nvPr/>
        </p:nvSpPr>
        <p:spPr>
          <a:xfrm>
            <a:off x="8339328" y="141732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1 240 TEU</a:t>
            </a:r>
            <a:endParaRPr lang="en-US" sz="850" dirty="0"/>
          </a:p>
        </p:txBody>
      </p:sp>
      <p:sp>
        <p:nvSpPr>
          <p:cNvPr id="78" name="Shape 76"/>
          <p:cNvSpPr/>
          <p:nvPr/>
        </p:nvSpPr>
        <p:spPr>
          <a:xfrm>
            <a:off x="9235440" y="1453896"/>
            <a:ext cx="2743200" cy="164592"/>
          </a:xfrm>
          <a:prstGeom prst="rect">
            <a:avLst/>
          </a:prstGeom>
          <a:solidFill>
            <a:srgbClr val="E5E7EB"/>
          </a:solidFill>
          <a:ln/>
        </p:spPr>
      </p:sp>
      <p:sp>
        <p:nvSpPr>
          <p:cNvPr id="79" name="Shape 77"/>
          <p:cNvSpPr/>
          <p:nvPr/>
        </p:nvSpPr>
        <p:spPr>
          <a:xfrm>
            <a:off x="9235440" y="1453896"/>
            <a:ext cx="246888" cy="164592"/>
          </a:xfrm>
          <a:prstGeom prst="rect">
            <a:avLst/>
          </a:prstGeom>
          <a:solidFill>
            <a:srgbClr val="CC2200"/>
          </a:solidFill>
          <a:ln/>
        </p:spPr>
      </p:sp>
      <p:sp>
        <p:nvSpPr>
          <p:cNvPr id="80" name="Text 78"/>
          <p:cNvSpPr/>
          <p:nvPr/>
        </p:nvSpPr>
        <p:spPr>
          <a:xfrm>
            <a:off x="12024360" y="1417320"/>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9%</a:t>
            </a:r>
            <a:endParaRPr lang="en-US" sz="900" dirty="0"/>
          </a:p>
        </p:txBody>
      </p:sp>
      <p:sp>
        <p:nvSpPr>
          <p:cNvPr id="81" name="Text 79"/>
          <p:cNvSpPr/>
          <p:nvPr/>
        </p:nvSpPr>
        <p:spPr>
          <a:xfrm>
            <a:off x="6675120" y="180136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HUILES VÉGÉTALES</a:t>
            </a:r>
            <a:endParaRPr lang="en-US" sz="850" dirty="0"/>
          </a:p>
        </p:txBody>
      </p:sp>
      <p:sp>
        <p:nvSpPr>
          <p:cNvPr id="82" name="Text 80"/>
          <p:cNvSpPr/>
          <p:nvPr/>
        </p:nvSpPr>
        <p:spPr>
          <a:xfrm>
            <a:off x="8339328" y="180136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890 TEU</a:t>
            </a:r>
            <a:endParaRPr lang="en-US" sz="850" dirty="0"/>
          </a:p>
        </p:txBody>
      </p:sp>
      <p:sp>
        <p:nvSpPr>
          <p:cNvPr id="83" name="Shape 81"/>
          <p:cNvSpPr/>
          <p:nvPr/>
        </p:nvSpPr>
        <p:spPr>
          <a:xfrm>
            <a:off x="9235440" y="1837944"/>
            <a:ext cx="2743200" cy="164592"/>
          </a:xfrm>
          <a:prstGeom prst="rect">
            <a:avLst/>
          </a:prstGeom>
          <a:solidFill>
            <a:srgbClr val="E5E7EB"/>
          </a:solidFill>
          <a:ln/>
        </p:spPr>
      </p:sp>
      <p:sp>
        <p:nvSpPr>
          <p:cNvPr id="84" name="Shape 82"/>
          <p:cNvSpPr/>
          <p:nvPr/>
        </p:nvSpPr>
        <p:spPr>
          <a:xfrm>
            <a:off x="9235440" y="1837944"/>
            <a:ext cx="164592" cy="164592"/>
          </a:xfrm>
          <a:prstGeom prst="rect">
            <a:avLst/>
          </a:prstGeom>
          <a:solidFill>
            <a:srgbClr val="CC2200"/>
          </a:solidFill>
          <a:ln/>
        </p:spPr>
      </p:sp>
      <p:sp>
        <p:nvSpPr>
          <p:cNvPr id="85" name="Text 83"/>
          <p:cNvSpPr/>
          <p:nvPr/>
        </p:nvSpPr>
        <p:spPr>
          <a:xfrm>
            <a:off x="12024360" y="1801368"/>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6%</a:t>
            </a:r>
            <a:endParaRPr lang="en-US" sz="900" dirty="0"/>
          </a:p>
        </p:txBody>
      </p:sp>
      <p:sp>
        <p:nvSpPr>
          <p:cNvPr id="86" name="Text 84"/>
          <p:cNvSpPr/>
          <p:nvPr/>
        </p:nvSpPr>
        <p:spPr>
          <a:xfrm>
            <a:off x="6675120" y="218541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FERTILISANTS</a:t>
            </a:r>
            <a:endParaRPr lang="en-US" sz="850" dirty="0"/>
          </a:p>
        </p:txBody>
      </p:sp>
      <p:sp>
        <p:nvSpPr>
          <p:cNvPr id="87" name="Text 85"/>
          <p:cNvSpPr/>
          <p:nvPr/>
        </p:nvSpPr>
        <p:spPr>
          <a:xfrm>
            <a:off x="8339328" y="218541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650 TEU</a:t>
            </a:r>
            <a:endParaRPr lang="en-US" sz="850" dirty="0"/>
          </a:p>
        </p:txBody>
      </p:sp>
      <p:sp>
        <p:nvSpPr>
          <p:cNvPr id="88" name="Shape 86"/>
          <p:cNvSpPr/>
          <p:nvPr/>
        </p:nvSpPr>
        <p:spPr>
          <a:xfrm>
            <a:off x="9235440" y="2221992"/>
            <a:ext cx="2743200" cy="164592"/>
          </a:xfrm>
          <a:prstGeom prst="rect">
            <a:avLst/>
          </a:prstGeom>
          <a:solidFill>
            <a:srgbClr val="E5E7EB"/>
          </a:solidFill>
          <a:ln/>
        </p:spPr>
      </p:sp>
      <p:sp>
        <p:nvSpPr>
          <p:cNvPr id="89" name="Shape 87"/>
          <p:cNvSpPr/>
          <p:nvPr/>
        </p:nvSpPr>
        <p:spPr>
          <a:xfrm>
            <a:off x="9235440" y="2221992"/>
            <a:ext cx="109728" cy="164592"/>
          </a:xfrm>
          <a:prstGeom prst="rect">
            <a:avLst/>
          </a:prstGeom>
          <a:solidFill>
            <a:srgbClr val="CC2200"/>
          </a:solidFill>
          <a:ln/>
        </p:spPr>
      </p:sp>
      <p:sp>
        <p:nvSpPr>
          <p:cNvPr id="90" name="Text 88"/>
          <p:cNvSpPr/>
          <p:nvPr/>
        </p:nvSpPr>
        <p:spPr>
          <a:xfrm>
            <a:off x="12024360" y="2185416"/>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4%</a:t>
            </a:r>
            <a:endParaRPr lang="en-US" sz="900" dirty="0"/>
          </a:p>
        </p:txBody>
      </p:sp>
      <p:sp>
        <p:nvSpPr>
          <p:cNvPr id="91" name="Text 89"/>
          <p:cNvSpPr/>
          <p:nvPr/>
        </p:nvSpPr>
        <p:spPr>
          <a:xfrm>
            <a:off x="6675120" y="256946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MATÉR. ÉLECTRIQUES</a:t>
            </a:r>
            <a:endParaRPr lang="en-US" sz="850" dirty="0"/>
          </a:p>
        </p:txBody>
      </p:sp>
      <p:sp>
        <p:nvSpPr>
          <p:cNvPr id="92" name="Text 90"/>
          <p:cNvSpPr/>
          <p:nvPr/>
        </p:nvSpPr>
        <p:spPr>
          <a:xfrm>
            <a:off x="8339328" y="256946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580 TEU</a:t>
            </a:r>
            <a:endParaRPr lang="en-US" sz="850" dirty="0"/>
          </a:p>
        </p:txBody>
      </p:sp>
      <p:sp>
        <p:nvSpPr>
          <p:cNvPr id="93" name="Shape 91"/>
          <p:cNvSpPr/>
          <p:nvPr/>
        </p:nvSpPr>
        <p:spPr>
          <a:xfrm>
            <a:off x="9235440" y="2606040"/>
            <a:ext cx="2743200" cy="164592"/>
          </a:xfrm>
          <a:prstGeom prst="rect">
            <a:avLst/>
          </a:prstGeom>
          <a:solidFill>
            <a:srgbClr val="E5E7EB"/>
          </a:solidFill>
          <a:ln/>
        </p:spPr>
      </p:sp>
      <p:sp>
        <p:nvSpPr>
          <p:cNvPr id="94" name="Shape 92"/>
          <p:cNvSpPr/>
          <p:nvPr/>
        </p:nvSpPr>
        <p:spPr>
          <a:xfrm>
            <a:off x="9235440" y="2606040"/>
            <a:ext cx="82296" cy="164592"/>
          </a:xfrm>
          <a:prstGeom prst="rect">
            <a:avLst/>
          </a:prstGeom>
          <a:solidFill>
            <a:srgbClr val="CC2200"/>
          </a:solidFill>
          <a:ln/>
        </p:spPr>
      </p:sp>
      <p:sp>
        <p:nvSpPr>
          <p:cNvPr id="95" name="Text 93"/>
          <p:cNvSpPr/>
          <p:nvPr/>
        </p:nvSpPr>
        <p:spPr>
          <a:xfrm>
            <a:off x="12024360" y="2569464"/>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3%</a:t>
            </a:r>
            <a:endParaRPr lang="en-US" sz="900" dirty="0"/>
          </a:p>
        </p:txBody>
      </p:sp>
      <p:sp>
        <p:nvSpPr>
          <p:cNvPr id="96" name="Shape 94"/>
          <p:cNvSpPr/>
          <p:nvPr/>
        </p:nvSpPr>
        <p:spPr>
          <a:xfrm>
            <a:off x="6675120" y="3840480"/>
            <a:ext cx="5303520" cy="914400"/>
          </a:xfrm>
          <a:prstGeom prst="rect">
            <a:avLst/>
          </a:prstGeom>
          <a:solidFill>
            <a:srgbClr val="FEF2F2"/>
          </a:solidFill>
          <a:ln w="6350">
            <a:solidFill>
              <a:srgbClr val="E5C97A"/>
            </a:solidFill>
            <a:prstDash val="solid"/>
          </a:ln>
        </p:spPr>
      </p:sp>
      <p:sp>
        <p:nvSpPr>
          <p:cNvPr id="97" name="Text 95"/>
          <p:cNvSpPr/>
          <p:nvPr/>
        </p:nvSpPr>
        <p:spPr>
          <a:xfrm>
            <a:off x="6766560" y="3913632"/>
            <a:ext cx="5120640" cy="8046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ALERTE : CEVA Logistics CI (groupe CMA CGM) entre dans le top 15 TIM en quelques mois — déploiement multi-métiers à surveiller en priorité. Télécoms : 9% PDM dès la 1ère année (effet 5G CI).</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Text 1"/>
          <p:cNvSpPr/>
          <p:nvPr/>
        </p:nvSpPr>
        <p:spPr>
          <a:xfrm>
            <a:off x="3200400" y="457200"/>
            <a:ext cx="5486400" cy="3657600"/>
          </a:xfrm>
          <a:prstGeom prst="rect">
            <a:avLst/>
          </a:prstGeom>
          <a:noFill/>
          <a:ln/>
        </p:spPr>
        <p:txBody>
          <a:bodyPr wrap="square" rtlCol="0" anchor="ctr"/>
          <a:lstStyle/>
          <a:p>
            <a:pPr algn="ctr" indent="0" marL="0">
              <a:buNone/>
            </a:pPr>
            <a:r>
              <a:rPr lang="en-US" sz="20000" b="1" dirty="0">
                <a:solidFill>
                  <a:srgbClr val="1A2E4A"/>
                </a:solidFill>
                <a:latin typeface="Calibri" pitchFamily="34" charset="0"/>
                <a:ea typeface="Calibri" pitchFamily="34" charset="-122"/>
                <a:cs typeface="Calibri" pitchFamily="34" charset="-120"/>
              </a:rPr>
              <a:t>02</a:t>
            </a:r>
            <a:endParaRPr lang="en-US" sz="20000" dirty="0"/>
          </a:p>
        </p:txBody>
      </p:sp>
      <p:sp>
        <p:nvSpPr>
          <p:cNvPr id="4" name="Shape 2"/>
          <p:cNvSpPr/>
          <p:nvPr/>
        </p:nvSpPr>
        <p:spPr>
          <a:xfrm>
            <a:off x="1097280" y="3520440"/>
            <a:ext cx="7498080" cy="59436"/>
          </a:xfrm>
          <a:prstGeom prst="rect">
            <a:avLst/>
          </a:prstGeom>
          <a:solidFill>
            <a:srgbClr val="C9A84C"/>
          </a:solidFill>
          <a:ln/>
        </p:spPr>
      </p:sp>
      <p:sp>
        <p:nvSpPr>
          <p:cNvPr id="5" name="Text 3"/>
          <p:cNvSpPr/>
          <p:nvPr/>
        </p:nvSpPr>
        <p:spPr>
          <a:xfrm>
            <a:off x="365760" y="2651760"/>
            <a:ext cx="11430000" cy="91440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TRANSIT EXPORT MARITIME (TEM)</a:t>
            </a:r>
            <a:endParaRPr lang="en-US" sz="3800" dirty="0"/>
          </a:p>
        </p:txBody>
      </p:sp>
      <p:sp>
        <p:nvSpPr>
          <p:cNvPr id="6" name="Text 4"/>
          <p:cNvSpPr/>
          <p:nvPr/>
        </p:nvSpPr>
        <p:spPr>
          <a:xfrm>
            <a:off x="365760" y="3657600"/>
            <a:ext cx="11430000" cy="457200"/>
          </a:xfrm>
          <a:prstGeom prst="rect">
            <a:avLst/>
          </a:prstGeom>
          <a:noFill/>
          <a:ln/>
        </p:spPr>
        <p:txBody>
          <a:bodyPr wrap="square" rtlCol="0" anchor="ctr"/>
          <a:lstStyle/>
          <a:p>
            <a:pPr algn="ctr" indent="0" marL="0">
              <a:buNone/>
            </a:pPr>
            <a:r>
              <a:rPr lang="en-US" sz="1600" i="1" dirty="0">
                <a:solidFill>
                  <a:srgbClr val="C9A84C"/>
                </a:solidFill>
                <a:latin typeface="Calibri" pitchFamily="34" charset="0"/>
                <a:ea typeface="Calibri" pitchFamily="34" charset="-122"/>
                <a:cs typeface="Calibri" pitchFamily="34" charset="-120"/>
              </a:rPr>
              <a:t>137 283 TEU  |  PDM AGL : 26,2%  |  #1 incontesté, ×4,7 le second</a:t>
            </a:r>
            <a:endParaRPr lang="en-US" sz="1600" dirty="0"/>
          </a:p>
        </p:txBody>
      </p:sp>
      <p:sp>
        <p:nvSpPr>
          <p:cNvPr id="7" name="Text 5"/>
          <p:cNvSpPr/>
          <p:nvPr/>
        </p:nvSpPr>
        <p:spPr>
          <a:xfrm>
            <a:off x="1828800" y="6492240"/>
            <a:ext cx="8229600" cy="25603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a:t>
            </a:r>
            <a:endParaRPr lang="en-US" sz="900" dirty="0"/>
          </a:p>
        </p:txBody>
      </p:sp>
      <p:sp>
        <p:nvSpPr>
          <p:cNvPr id="8" name="Text 6"/>
          <p:cNvSpPr/>
          <p:nvPr/>
        </p:nvSpPr>
        <p:spPr>
          <a:xfrm>
            <a:off x="11430000" y="6473952"/>
            <a:ext cx="640080" cy="292608"/>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TEM – VUE D'ENSEMBLE  |  Jan–Mai 2026</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Leader absolu – PDM AGL 26,2%  |  Marché : 137 283 TEU  |  ×4,7 sur le 2ème</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p.8</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Shape 5"/>
          <p:cNvSpPr/>
          <p:nvPr/>
        </p:nvSpPr>
        <p:spPr>
          <a:xfrm>
            <a:off x="137160" y="1097280"/>
            <a:ext cx="2291486" cy="868680"/>
          </a:xfrm>
          <a:prstGeom prst="rect">
            <a:avLst/>
          </a:prstGeom>
          <a:solidFill>
            <a:srgbClr val="F0F2F5"/>
          </a:solidFill>
          <a:ln w="6350">
            <a:solidFill>
              <a:srgbClr val="D1D5DB"/>
            </a:solidFill>
            <a:prstDash val="solid"/>
          </a:ln>
        </p:spPr>
      </p:sp>
      <p:sp>
        <p:nvSpPr>
          <p:cNvPr id="8" name="Text 6"/>
          <p:cNvSpPr/>
          <p:nvPr/>
        </p:nvSpPr>
        <p:spPr>
          <a:xfrm>
            <a:off x="137160"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MARCHÉ QUALIFIÉ</a:t>
            </a:r>
            <a:endParaRPr lang="en-US" sz="800" dirty="0"/>
          </a:p>
        </p:txBody>
      </p:sp>
      <p:sp>
        <p:nvSpPr>
          <p:cNvPr id="9" name="Text 7"/>
          <p:cNvSpPr/>
          <p:nvPr/>
        </p:nvSpPr>
        <p:spPr>
          <a:xfrm>
            <a:off x="137160"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137 283</a:t>
            </a:r>
            <a:endParaRPr lang="en-US" sz="2200" dirty="0"/>
          </a:p>
        </p:txBody>
      </p:sp>
      <p:sp>
        <p:nvSpPr>
          <p:cNvPr id="10" name="Text 8"/>
          <p:cNvSpPr/>
          <p:nvPr/>
        </p:nvSpPr>
        <p:spPr>
          <a:xfrm>
            <a:off x="137160"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a:t>
            </a:r>
            <a:endParaRPr lang="en-US" sz="850" dirty="0"/>
          </a:p>
        </p:txBody>
      </p:sp>
      <p:sp>
        <p:nvSpPr>
          <p:cNvPr id="11" name="Shape 9"/>
          <p:cNvSpPr/>
          <p:nvPr/>
        </p:nvSpPr>
        <p:spPr>
          <a:xfrm>
            <a:off x="2520086" y="1097280"/>
            <a:ext cx="2291486" cy="868680"/>
          </a:xfrm>
          <a:prstGeom prst="rect">
            <a:avLst/>
          </a:prstGeom>
          <a:solidFill>
            <a:srgbClr val="F0F2F5"/>
          </a:solidFill>
          <a:ln w="6350">
            <a:solidFill>
              <a:srgbClr val="D1D5DB"/>
            </a:solidFill>
            <a:prstDash val="solid"/>
          </a:ln>
        </p:spPr>
      </p:sp>
      <p:sp>
        <p:nvSpPr>
          <p:cNvPr id="12" name="Text 10"/>
          <p:cNvSpPr/>
          <p:nvPr/>
        </p:nvSpPr>
        <p:spPr>
          <a:xfrm>
            <a:off x="252008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VOLUME AGL</a:t>
            </a:r>
            <a:endParaRPr lang="en-US" sz="800" dirty="0"/>
          </a:p>
        </p:txBody>
      </p:sp>
      <p:sp>
        <p:nvSpPr>
          <p:cNvPr id="13" name="Text 11"/>
          <p:cNvSpPr/>
          <p:nvPr/>
        </p:nvSpPr>
        <p:spPr>
          <a:xfrm>
            <a:off x="2520086"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35 972</a:t>
            </a:r>
            <a:endParaRPr lang="en-US" sz="2200" dirty="0"/>
          </a:p>
        </p:txBody>
      </p:sp>
      <p:sp>
        <p:nvSpPr>
          <p:cNvPr id="14" name="Text 12"/>
          <p:cNvSpPr/>
          <p:nvPr/>
        </p:nvSpPr>
        <p:spPr>
          <a:xfrm>
            <a:off x="252008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a:t>
            </a:r>
            <a:endParaRPr lang="en-US" sz="850" dirty="0"/>
          </a:p>
        </p:txBody>
      </p:sp>
      <p:sp>
        <p:nvSpPr>
          <p:cNvPr id="15" name="Shape 13"/>
          <p:cNvSpPr/>
          <p:nvPr/>
        </p:nvSpPr>
        <p:spPr>
          <a:xfrm>
            <a:off x="4903013" y="1097280"/>
            <a:ext cx="2291486" cy="868680"/>
          </a:xfrm>
          <a:prstGeom prst="rect">
            <a:avLst/>
          </a:prstGeom>
          <a:solidFill>
            <a:srgbClr val="F0F2F5"/>
          </a:solidFill>
          <a:ln w="6350">
            <a:solidFill>
              <a:srgbClr val="D1D5DB"/>
            </a:solidFill>
            <a:prstDash val="solid"/>
          </a:ln>
        </p:spPr>
      </p:sp>
      <p:sp>
        <p:nvSpPr>
          <p:cNvPr id="16" name="Text 14"/>
          <p:cNvSpPr/>
          <p:nvPr/>
        </p:nvSpPr>
        <p:spPr>
          <a:xfrm>
            <a:off x="4903013"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AGL</a:t>
            </a:r>
            <a:endParaRPr lang="en-US" sz="800" dirty="0"/>
          </a:p>
        </p:txBody>
      </p:sp>
      <p:sp>
        <p:nvSpPr>
          <p:cNvPr id="17" name="Text 15"/>
          <p:cNvSpPr/>
          <p:nvPr/>
        </p:nvSpPr>
        <p:spPr>
          <a:xfrm>
            <a:off x="4903013" y="1316736"/>
            <a:ext cx="2291486" cy="384048"/>
          </a:xfrm>
          <a:prstGeom prst="rect">
            <a:avLst/>
          </a:prstGeom>
          <a:noFill/>
          <a:ln/>
        </p:spPr>
        <p:txBody>
          <a:bodyPr wrap="square" rtlCol="0" anchor="ctr"/>
          <a:lstStyle/>
          <a:p>
            <a:pPr algn="ctr" indent="0" marL="0">
              <a:buNone/>
            </a:pPr>
            <a:r>
              <a:rPr lang="en-US" sz="2600" b="1" dirty="0">
                <a:solidFill>
                  <a:srgbClr val="1A7C4F"/>
                </a:solidFill>
                <a:latin typeface="Calibri" pitchFamily="34" charset="0"/>
                <a:ea typeface="Calibri" pitchFamily="34" charset="-122"/>
                <a:cs typeface="Calibri" pitchFamily="34" charset="-120"/>
              </a:rPr>
              <a:t>26,2 %</a:t>
            </a:r>
            <a:endParaRPr lang="en-US" sz="2600" dirty="0"/>
          </a:p>
        </p:txBody>
      </p:sp>
      <p:sp>
        <p:nvSpPr>
          <p:cNvPr id="18" name="Text 16"/>
          <p:cNvSpPr/>
          <p:nvPr/>
        </p:nvSpPr>
        <p:spPr>
          <a:xfrm>
            <a:off x="4903013"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#1 – Dominance absolue</a:t>
            </a:r>
            <a:endParaRPr lang="en-US" sz="850" dirty="0"/>
          </a:p>
        </p:txBody>
      </p:sp>
      <p:sp>
        <p:nvSpPr>
          <p:cNvPr id="19" name="Shape 17"/>
          <p:cNvSpPr/>
          <p:nvPr/>
        </p:nvSpPr>
        <p:spPr>
          <a:xfrm>
            <a:off x="7285939" y="1097280"/>
            <a:ext cx="2291486" cy="868680"/>
          </a:xfrm>
          <a:prstGeom prst="rect">
            <a:avLst/>
          </a:prstGeom>
          <a:solidFill>
            <a:srgbClr val="F0F2F5"/>
          </a:solidFill>
          <a:ln w="6350">
            <a:solidFill>
              <a:srgbClr val="D1D5DB"/>
            </a:solidFill>
            <a:prstDash val="solid"/>
          </a:ln>
        </p:spPr>
      </p:sp>
      <p:sp>
        <p:nvSpPr>
          <p:cNvPr id="20" name="Text 18"/>
          <p:cNvSpPr/>
          <p:nvPr/>
        </p:nvSpPr>
        <p:spPr>
          <a:xfrm>
            <a:off x="7285939"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ÉCART VS #2 MAERSK</a:t>
            </a:r>
            <a:endParaRPr lang="en-US" sz="800" dirty="0"/>
          </a:p>
        </p:txBody>
      </p:sp>
      <p:sp>
        <p:nvSpPr>
          <p:cNvPr id="21" name="Text 19"/>
          <p:cNvSpPr/>
          <p:nvPr/>
        </p:nvSpPr>
        <p:spPr>
          <a:xfrm>
            <a:off x="7285939" y="1316736"/>
            <a:ext cx="2291486" cy="384048"/>
          </a:xfrm>
          <a:prstGeom prst="rect">
            <a:avLst/>
          </a:prstGeom>
          <a:noFill/>
          <a:ln/>
        </p:spPr>
        <p:txBody>
          <a:bodyPr wrap="square" rtlCol="0" anchor="ctr"/>
          <a:lstStyle/>
          <a:p>
            <a:pPr algn="ctr" indent="0" marL="0">
              <a:buNone/>
            </a:pPr>
            <a:r>
              <a:rPr lang="en-US" sz="2200" b="1" dirty="0">
                <a:solidFill>
                  <a:srgbClr val="1A7C4F"/>
                </a:solidFill>
                <a:latin typeface="Calibri" pitchFamily="34" charset="0"/>
                <a:ea typeface="Calibri" pitchFamily="34" charset="-122"/>
                <a:cs typeface="Calibri" pitchFamily="34" charset="-120"/>
              </a:rPr>
              <a:t>×4,7</a:t>
            </a:r>
            <a:endParaRPr lang="en-US" sz="2200" dirty="0"/>
          </a:p>
        </p:txBody>
      </p:sp>
      <p:sp>
        <p:nvSpPr>
          <p:cNvPr id="22" name="Text 20"/>
          <p:cNvSpPr/>
          <p:nvPr/>
        </p:nvSpPr>
        <p:spPr>
          <a:xfrm>
            <a:off x="7285939"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28 242 TEU d'avance</a:t>
            </a:r>
            <a:endParaRPr lang="en-US" sz="850" dirty="0"/>
          </a:p>
        </p:txBody>
      </p:sp>
      <p:sp>
        <p:nvSpPr>
          <p:cNvPr id="23" name="Shape 21"/>
          <p:cNvSpPr/>
          <p:nvPr/>
        </p:nvSpPr>
        <p:spPr>
          <a:xfrm>
            <a:off x="9668866" y="1097280"/>
            <a:ext cx="2291486" cy="868680"/>
          </a:xfrm>
          <a:prstGeom prst="rect">
            <a:avLst/>
          </a:prstGeom>
          <a:solidFill>
            <a:srgbClr val="F0F2F5"/>
          </a:solidFill>
          <a:ln w="6350">
            <a:solidFill>
              <a:srgbClr val="D1D5DB"/>
            </a:solidFill>
            <a:prstDash val="solid"/>
          </a:ln>
        </p:spPr>
      </p:sp>
      <p:sp>
        <p:nvSpPr>
          <p:cNvPr id="24" name="Text 22"/>
          <p:cNvSpPr/>
          <p:nvPr/>
        </p:nvSpPr>
        <p:spPr>
          <a:xfrm>
            <a:off x="966886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JANV. (PEAK)</a:t>
            </a:r>
            <a:endParaRPr lang="en-US" sz="800" dirty="0"/>
          </a:p>
        </p:txBody>
      </p:sp>
      <p:sp>
        <p:nvSpPr>
          <p:cNvPr id="25" name="Text 23"/>
          <p:cNvSpPr/>
          <p:nvPr/>
        </p:nvSpPr>
        <p:spPr>
          <a:xfrm>
            <a:off x="9668866" y="1316736"/>
            <a:ext cx="2291486" cy="384048"/>
          </a:xfrm>
          <a:prstGeom prst="rect">
            <a:avLst/>
          </a:prstGeom>
          <a:noFill/>
          <a:ln/>
        </p:spPr>
        <p:txBody>
          <a:bodyPr wrap="square" rtlCol="0" anchor="ctr"/>
          <a:lstStyle/>
          <a:p>
            <a:pPr algn="ctr" indent="0" marL="0">
              <a:buNone/>
            </a:pPr>
            <a:r>
              <a:rPr lang="en-US" sz="2200" b="1" dirty="0">
                <a:solidFill>
                  <a:srgbClr val="2563A8"/>
                </a:solidFill>
                <a:latin typeface="Calibri" pitchFamily="34" charset="0"/>
                <a:ea typeface="Calibri" pitchFamily="34" charset="-122"/>
                <a:cs typeface="Calibri" pitchFamily="34" charset="-120"/>
              </a:rPr>
              <a:t>30,3 %</a:t>
            </a:r>
            <a:endParaRPr lang="en-US" sz="2200" dirty="0"/>
          </a:p>
        </p:txBody>
      </p:sp>
      <p:sp>
        <p:nvSpPr>
          <p:cNvPr id="26" name="Text 24"/>
          <p:cNvSpPr/>
          <p:nvPr/>
        </p:nvSpPr>
        <p:spPr>
          <a:xfrm>
            <a:off x="966886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PDM max de la période</a:t>
            </a:r>
            <a:endParaRPr lang="en-US" sz="850" dirty="0"/>
          </a:p>
        </p:txBody>
      </p:sp>
      <p:sp>
        <p:nvSpPr>
          <p:cNvPr id="27" name="Text 25"/>
          <p:cNvSpPr/>
          <p:nvPr/>
        </p:nvSpPr>
        <p:spPr>
          <a:xfrm>
            <a:off x="228600" y="2084832"/>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Évolution mensuelle marché TEM &amp; AGL (TEU)</a:t>
            </a:r>
            <a:endParaRPr lang="en-US" sz="1100" dirty="0"/>
          </a:p>
        </p:txBody>
      </p:sp>
      <p:graphicFrame>
        <p:nvGraphicFramePr>
          <p:cNvPr id="28" name="Chart 0" descr=""/>
          <p:cNvGraphicFramePr/>
          <p:nvPr/>
        </p:nvGraphicFramePr>
        <p:xfrm>
          <a:off x="137160" y="2331720"/>
          <a:ext cx="6217920" cy="393192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p:nvPr/>
        </p:nvSpPr>
        <p:spPr>
          <a:xfrm>
            <a:off x="6492240" y="2084832"/>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par mois – TEM</a:t>
            </a:r>
            <a:endParaRPr lang="en-US" sz="1100" dirty="0"/>
          </a:p>
        </p:txBody>
      </p:sp>
      <p:sp>
        <p:nvSpPr>
          <p:cNvPr id="30" name="Shape 27"/>
          <p:cNvSpPr/>
          <p:nvPr/>
        </p:nvSpPr>
        <p:spPr>
          <a:xfrm>
            <a:off x="6492240" y="2395728"/>
            <a:ext cx="5486400" cy="475488"/>
          </a:xfrm>
          <a:prstGeom prst="rect">
            <a:avLst/>
          </a:prstGeom>
          <a:solidFill>
            <a:srgbClr val="F8FAFC"/>
          </a:solidFill>
          <a:ln w="3810">
            <a:solidFill>
              <a:srgbClr val="E5E7EB"/>
            </a:solidFill>
            <a:prstDash val="solid"/>
          </a:ln>
        </p:spPr>
      </p:sp>
      <p:sp>
        <p:nvSpPr>
          <p:cNvPr id="31" name="Text 28"/>
          <p:cNvSpPr/>
          <p:nvPr/>
        </p:nvSpPr>
        <p:spPr>
          <a:xfrm>
            <a:off x="6601968" y="2523744"/>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Janvier</a:t>
            </a:r>
            <a:endParaRPr lang="en-US" sz="1100" dirty="0"/>
          </a:p>
        </p:txBody>
      </p:sp>
      <p:sp>
        <p:nvSpPr>
          <p:cNvPr id="32" name="Shape 29"/>
          <p:cNvSpPr/>
          <p:nvPr/>
        </p:nvSpPr>
        <p:spPr>
          <a:xfrm>
            <a:off x="7452360" y="2523744"/>
            <a:ext cx="2560320" cy="201168"/>
          </a:xfrm>
          <a:prstGeom prst="rect">
            <a:avLst/>
          </a:prstGeom>
          <a:solidFill>
            <a:srgbClr val="D1D5DB"/>
          </a:solidFill>
          <a:ln/>
        </p:spPr>
      </p:sp>
      <p:sp>
        <p:nvSpPr>
          <p:cNvPr id="33" name="Shape 30"/>
          <p:cNvSpPr/>
          <p:nvPr/>
        </p:nvSpPr>
        <p:spPr>
          <a:xfrm>
            <a:off x="7452360" y="2523744"/>
            <a:ext cx="2560320" cy="201168"/>
          </a:xfrm>
          <a:prstGeom prst="rect">
            <a:avLst/>
          </a:prstGeom>
          <a:solidFill>
            <a:srgbClr val="1A7C4F"/>
          </a:solidFill>
          <a:ln/>
        </p:spPr>
      </p:sp>
      <p:sp>
        <p:nvSpPr>
          <p:cNvPr id="34" name="Text 31"/>
          <p:cNvSpPr/>
          <p:nvPr/>
        </p:nvSpPr>
        <p:spPr>
          <a:xfrm>
            <a:off x="10085832" y="2487168"/>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30,3 %</a:t>
            </a:r>
            <a:endParaRPr lang="en-US" sz="1100" dirty="0"/>
          </a:p>
        </p:txBody>
      </p:sp>
      <p:sp>
        <p:nvSpPr>
          <p:cNvPr id="35" name="Shape 32"/>
          <p:cNvSpPr/>
          <p:nvPr/>
        </p:nvSpPr>
        <p:spPr>
          <a:xfrm>
            <a:off x="6492240" y="2926080"/>
            <a:ext cx="5486400" cy="475488"/>
          </a:xfrm>
          <a:prstGeom prst="rect">
            <a:avLst/>
          </a:prstGeom>
          <a:solidFill>
            <a:srgbClr val="F8FAFC"/>
          </a:solidFill>
          <a:ln w="3810">
            <a:solidFill>
              <a:srgbClr val="E5E7EB"/>
            </a:solidFill>
            <a:prstDash val="solid"/>
          </a:ln>
        </p:spPr>
      </p:sp>
      <p:sp>
        <p:nvSpPr>
          <p:cNvPr id="36" name="Text 33"/>
          <p:cNvSpPr/>
          <p:nvPr/>
        </p:nvSpPr>
        <p:spPr>
          <a:xfrm>
            <a:off x="6601968" y="3054096"/>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Février</a:t>
            </a:r>
            <a:endParaRPr lang="en-US" sz="1100" dirty="0"/>
          </a:p>
        </p:txBody>
      </p:sp>
      <p:sp>
        <p:nvSpPr>
          <p:cNvPr id="37" name="Shape 34"/>
          <p:cNvSpPr/>
          <p:nvPr/>
        </p:nvSpPr>
        <p:spPr>
          <a:xfrm>
            <a:off x="7452360" y="3054096"/>
            <a:ext cx="2560320" cy="201168"/>
          </a:xfrm>
          <a:prstGeom prst="rect">
            <a:avLst/>
          </a:prstGeom>
          <a:solidFill>
            <a:srgbClr val="D1D5DB"/>
          </a:solidFill>
          <a:ln/>
        </p:spPr>
      </p:sp>
      <p:sp>
        <p:nvSpPr>
          <p:cNvPr id="38" name="Shape 35"/>
          <p:cNvSpPr/>
          <p:nvPr/>
        </p:nvSpPr>
        <p:spPr>
          <a:xfrm>
            <a:off x="7452360" y="3054096"/>
            <a:ext cx="2129375" cy="201168"/>
          </a:xfrm>
          <a:prstGeom prst="rect">
            <a:avLst/>
          </a:prstGeom>
          <a:solidFill>
            <a:srgbClr val="1A7C4F"/>
          </a:solidFill>
          <a:ln/>
        </p:spPr>
      </p:sp>
      <p:sp>
        <p:nvSpPr>
          <p:cNvPr id="39" name="Text 36"/>
          <p:cNvSpPr/>
          <p:nvPr/>
        </p:nvSpPr>
        <p:spPr>
          <a:xfrm>
            <a:off x="10085832" y="3017520"/>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25,2 %</a:t>
            </a:r>
            <a:endParaRPr lang="en-US" sz="1100" dirty="0"/>
          </a:p>
        </p:txBody>
      </p:sp>
      <p:sp>
        <p:nvSpPr>
          <p:cNvPr id="40" name="Shape 37"/>
          <p:cNvSpPr/>
          <p:nvPr/>
        </p:nvSpPr>
        <p:spPr>
          <a:xfrm>
            <a:off x="6492240" y="3456432"/>
            <a:ext cx="5486400" cy="475488"/>
          </a:xfrm>
          <a:prstGeom prst="rect">
            <a:avLst/>
          </a:prstGeom>
          <a:solidFill>
            <a:srgbClr val="F8FAFC"/>
          </a:solidFill>
          <a:ln w="3810">
            <a:solidFill>
              <a:srgbClr val="E5E7EB"/>
            </a:solidFill>
            <a:prstDash val="solid"/>
          </a:ln>
        </p:spPr>
      </p:sp>
      <p:sp>
        <p:nvSpPr>
          <p:cNvPr id="41" name="Text 38"/>
          <p:cNvSpPr/>
          <p:nvPr/>
        </p:nvSpPr>
        <p:spPr>
          <a:xfrm>
            <a:off x="6601968" y="3584448"/>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Mars</a:t>
            </a:r>
            <a:endParaRPr lang="en-US" sz="1100" dirty="0"/>
          </a:p>
        </p:txBody>
      </p:sp>
      <p:sp>
        <p:nvSpPr>
          <p:cNvPr id="42" name="Shape 39"/>
          <p:cNvSpPr/>
          <p:nvPr/>
        </p:nvSpPr>
        <p:spPr>
          <a:xfrm>
            <a:off x="7452360" y="3584448"/>
            <a:ext cx="2560320" cy="201168"/>
          </a:xfrm>
          <a:prstGeom prst="rect">
            <a:avLst/>
          </a:prstGeom>
          <a:solidFill>
            <a:srgbClr val="D1D5DB"/>
          </a:solidFill>
          <a:ln/>
        </p:spPr>
      </p:sp>
      <p:sp>
        <p:nvSpPr>
          <p:cNvPr id="43" name="Shape 40"/>
          <p:cNvSpPr/>
          <p:nvPr/>
        </p:nvSpPr>
        <p:spPr>
          <a:xfrm>
            <a:off x="7452360" y="3584448"/>
            <a:ext cx="2433571" cy="201168"/>
          </a:xfrm>
          <a:prstGeom prst="rect">
            <a:avLst/>
          </a:prstGeom>
          <a:solidFill>
            <a:srgbClr val="1A7C4F"/>
          </a:solidFill>
          <a:ln/>
        </p:spPr>
      </p:sp>
      <p:sp>
        <p:nvSpPr>
          <p:cNvPr id="44" name="Text 41"/>
          <p:cNvSpPr/>
          <p:nvPr/>
        </p:nvSpPr>
        <p:spPr>
          <a:xfrm>
            <a:off x="10085832" y="3547872"/>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28,8 %</a:t>
            </a:r>
            <a:endParaRPr lang="en-US" sz="1100" dirty="0"/>
          </a:p>
        </p:txBody>
      </p:sp>
      <p:sp>
        <p:nvSpPr>
          <p:cNvPr id="45" name="Shape 42"/>
          <p:cNvSpPr/>
          <p:nvPr/>
        </p:nvSpPr>
        <p:spPr>
          <a:xfrm>
            <a:off x="6492240" y="3986784"/>
            <a:ext cx="5486400" cy="475488"/>
          </a:xfrm>
          <a:prstGeom prst="rect">
            <a:avLst/>
          </a:prstGeom>
          <a:solidFill>
            <a:srgbClr val="F8FAFC"/>
          </a:solidFill>
          <a:ln w="3810">
            <a:solidFill>
              <a:srgbClr val="E5E7EB"/>
            </a:solidFill>
            <a:prstDash val="solid"/>
          </a:ln>
        </p:spPr>
      </p:sp>
      <p:sp>
        <p:nvSpPr>
          <p:cNvPr id="46" name="Text 43"/>
          <p:cNvSpPr/>
          <p:nvPr/>
        </p:nvSpPr>
        <p:spPr>
          <a:xfrm>
            <a:off x="6601968" y="4114800"/>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Avril</a:t>
            </a:r>
            <a:endParaRPr lang="en-US" sz="1100" dirty="0"/>
          </a:p>
        </p:txBody>
      </p:sp>
      <p:sp>
        <p:nvSpPr>
          <p:cNvPr id="47" name="Shape 44"/>
          <p:cNvSpPr/>
          <p:nvPr/>
        </p:nvSpPr>
        <p:spPr>
          <a:xfrm>
            <a:off x="7452360" y="4114800"/>
            <a:ext cx="2560320" cy="201168"/>
          </a:xfrm>
          <a:prstGeom prst="rect">
            <a:avLst/>
          </a:prstGeom>
          <a:solidFill>
            <a:srgbClr val="D1D5DB"/>
          </a:solidFill>
          <a:ln/>
        </p:spPr>
      </p:sp>
      <p:sp>
        <p:nvSpPr>
          <p:cNvPr id="48" name="Shape 45"/>
          <p:cNvSpPr/>
          <p:nvPr/>
        </p:nvSpPr>
        <p:spPr>
          <a:xfrm>
            <a:off x="7452360" y="4114800"/>
            <a:ext cx="2137825" cy="201168"/>
          </a:xfrm>
          <a:prstGeom prst="rect">
            <a:avLst/>
          </a:prstGeom>
          <a:solidFill>
            <a:srgbClr val="1A7C4F"/>
          </a:solidFill>
          <a:ln/>
        </p:spPr>
      </p:sp>
      <p:sp>
        <p:nvSpPr>
          <p:cNvPr id="49" name="Text 46"/>
          <p:cNvSpPr/>
          <p:nvPr/>
        </p:nvSpPr>
        <p:spPr>
          <a:xfrm>
            <a:off x="10085832" y="4078224"/>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25,3 %</a:t>
            </a:r>
            <a:endParaRPr lang="en-US" sz="1100" dirty="0"/>
          </a:p>
        </p:txBody>
      </p:sp>
      <p:sp>
        <p:nvSpPr>
          <p:cNvPr id="50" name="Shape 47"/>
          <p:cNvSpPr/>
          <p:nvPr/>
        </p:nvSpPr>
        <p:spPr>
          <a:xfrm>
            <a:off x="6492240" y="4517136"/>
            <a:ext cx="5486400" cy="475488"/>
          </a:xfrm>
          <a:prstGeom prst="rect">
            <a:avLst/>
          </a:prstGeom>
          <a:solidFill>
            <a:srgbClr val="F8FAFC"/>
          </a:solidFill>
          <a:ln w="3810">
            <a:solidFill>
              <a:srgbClr val="E5E7EB"/>
            </a:solidFill>
            <a:prstDash val="solid"/>
          </a:ln>
        </p:spPr>
      </p:sp>
      <p:sp>
        <p:nvSpPr>
          <p:cNvPr id="51" name="Text 48"/>
          <p:cNvSpPr/>
          <p:nvPr/>
        </p:nvSpPr>
        <p:spPr>
          <a:xfrm>
            <a:off x="6601968" y="4645152"/>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Mai</a:t>
            </a:r>
            <a:endParaRPr lang="en-US" sz="1100" dirty="0"/>
          </a:p>
        </p:txBody>
      </p:sp>
      <p:sp>
        <p:nvSpPr>
          <p:cNvPr id="52" name="Shape 49"/>
          <p:cNvSpPr/>
          <p:nvPr/>
        </p:nvSpPr>
        <p:spPr>
          <a:xfrm>
            <a:off x="7452360" y="4645152"/>
            <a:ext cx="2560320" cy="201168"/>
          </a:xfrm>
          <a:prstGeom prst="rect">
            <a:avLst/>
          </a:prstGeom>
          <a:solidFill>
            <a:srgbClr val="D1D5DB"/>
          </a:solidFill>
          <a:ln/>
        </p:spPr>
      </p:sp>
      <p:sp>
        <p:nvSpPr>
          <p:cNvPr id="53" name="Shape 50"/>
          <p:cNvSpPr/>
          <p:nvPr/>
        </p:nvSpPr>
        <p:spPr>
          <a:xfrm>
            <a:off x="7452360" y="4645152"/>
            <a:ext cx="1698430" cy="201168"/>
          </a:xfrm>
          <a:prstGeom prst="rect">
            <a:avLst/>
          </a:prstGeom>
          <a:solidFill>
            <a:srgbClr val="E05A00"/>
          </a:solidFill>
          <a:ln/>
        </p:spPr>
      </p:sp>
      <p:sp>
        <p:nvSpPr>
          <p:cNvPr id="54" name="Text 51"/>
          <p:cNvSpPr/>
          <p:nvPr/>
        </p:nvSpPr>
        <p:spPr>
          <a:xfrm>
            <a:off x="10085832" y="4608576"/>
            <a:ext cx="868680" cy="274320"/>
          </a:xfrm>
          <a:prstGeom prst="rect">
            <a:avLst/>
          </a:prstGeom>
          <a:noFill/>
          <a:ln/>
        </p:spPr>
        <p:txBody>
          <a:bodyPr wrap="none" rtlCol="0" anchor="ctr"/>
          <a:lstStyle/>
          <a:p>
            <a:pPr algn="l" indent="0" marL="0">
              <a:buNone/>
            </a:pPr>
            <a:r>
              <a:rPr lang="en-US" sz="1100" b="1" dirty="0">
                <a:solidFill>
                  <a:srgbClr val="E05A00"/>
                </a:solidFill>
                <a:latin typeface="Calibri" pitchFamily="34" charset="0"/>
                <a:ea typeface="Calibri" pitchFamily="34" charset="-122"/>
                <a:cs typeface="Calibri" pitchFamily="34" charset="-120"/>
              </a:rPr>
              <a:t>20,1 %</a:t>
            </a:r>
            <a:endParaRPr lang="en-US" sz="1100" dirty="0"/>
          </a:p>
        </p:txBody>
      </p:sp>
      <p:sp>
        <p:nvSpPr>
          <p:cNvPr id="55" name="Shape 52"/>
          <p:cNvSpPr/>
          <p:nvPr/>
        </p:nvSpPr>
        <p:spPr>
          <a:xfrm>
            <a:off x="6492240" y="5212080"/>
            <a:ext cx="5486400" cy="685800"/>
          </a:xfrm>
          <a:prstGeom prst="rect">
            <a:avLst/>
          </a:prstGeom>
          <a:solidFill>
            <a:srgbClr val="FEF2F2"/>
          </a:solidFill>
          <a:ln w="6350">
            <a:solidFill>
              <a:srgbClr val="E5C97A"/>
            </a:solidFill>
            <a:prstDash val="solid"/>
          </a:ln>
        </p:spPr>
      </p:sp>
      <p:sp>
        <p:nvSpPr>
          <p:cNvPr id="56" name="Text 53"/>
          <p:cNvSpPr/>
          <p:nvPr/>
        </p:nvSpPr>
        <p:spPr>
          <a:xfrm>
            <a:off x="6583680" y="5285232"/>
            <a:ext cx="5303520" cy="5760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ALERTE MAI : PDM chute à 20,1% (–10,2 pts vs Janvier). Marché en recul de –22% (28 586→22 421 TEU). Causes : fin saison cacao, recul cajou. Plan de relance à activer juin–juillet.</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TEM – SEGMENTS &amp; CONCURRENTS</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Matières premières agricoles  |  PDM AGL par filière  |  Corridors</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p.9</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par filière export – TEM</a:t>
            </a:r>
            <a:endParaRPr lang="en-US" sz="1100" dirty="0"/>
          </a:p>
        </p:txBody>
      </p:sp>
      <p:sp>
        <p:nvSpPr>
          <p:cNvPr id="8" name="Text 6"/>
          <p:cNvSpPr/>
          <p:nvPr/>
        </p:nvSpPr>
        <p:spPr>
          <a:xfrm>
            <a:off x="137160" y="138988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BANANES</a:t>
            </a:r>
            <a:endParaRPr lang="en-US" sz="850" dirty="0"/>
          </a:p>
        </p:txBody>
      </p:sp>
      <p:sp>
        <p:nvSpPr>
          <p:cNvPr id="9" name="Text 7"/>
          <p:cNvSpPr/>
          <p:nvPr/>
        </p:nvSpPr>
        <p:spPr>
          <a:xfrm>
            <a:off x="1801368" y="138988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6 908 TEU</a:t>
            </a:r>
            <a:endParaRPr lang="en-US" sz="850" dirty="0"/>
          </a:p>
        </p:txBody>
      </p:sp>
      <p:sp>
        <p:nvSpPr>
          <p:cNvPr id="10" name="Shape 8"/>
          <p:cNvSpPr/>
          <p:nvPr/>
        </p:nvSpPr>
        <p:spPr>
          <a:xfrm>
            <a:off x="2697480" y="1426464"/>
            <a:ext cx="2743200" cy="164592"/>
          </a:xfrm>
          <a:prstGeom prst="rect">
            <a:avLst/>
          </a:prstGeom>
          <a:solidFill>
            <a:srgbClr val="E5E7EB"/>
          </a:solidFill>
          <a:ln/>
        </p:spPr>
      </p:sp>
      <p:sp>
        <p:nvSpPr>
          <p:cNvPr id="11" name="Shape 9"/>
          <p:cNvSpPr/>
          <p:nvPr/>
        </p:nvSpPr>
        <p:spPr>
          <a:xfrm>
            <a:off x="2697480" y="1426464"/>
            <a:ext cx="2029968" cy="164592"/>
          </a:xfrm>
          <a:prstGeom prst="rect">
            <a:avLst/>
          </a:prstGeom>
          <a:solidFill>
            <a:srgbClr val="1A7C4F"/>
          </a:solidFill>
          <a:ln/>
        </p:spPr>
      </p:sp>
      <p:sp>
        <p:nvSpPr>
          <p:cNvPr id="12" name="Text 10"/>
          <p:cNvSpPr/>
          <p:nvPr/>
        </p:nvSpPr>
        <p:spPr>
          <a:xfrm>
            <a:off x="5486400" y="1389888"/>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74%</a:t>
            </a:r>
            <a:endParaRPr lang="en-US" sz="900" dirty="0"/>
          </a:p>
        </p:txBody>
      </p:sp>
      <p:sp>
        <p:nvSpPr>
          <p:cNvPr id="13" name="Text 11"/>
          <p:cNvSpPr/>
          <p:nvPr/>
        </p:nvSpPr>
        <p:spPr>
          <a:xfrm>
            <a:off x="137160" y="177393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DÉRIVÉS DE CACAO</a:t>
            </a:r>
            <a:endParaRPr lang="en-US" sz="850" dirty="0"/>
          </a:p>
        </p:txBody>
      </p:sp>
      <p:sp>
        <p:nvSpPr>
          <p:cNvPr id="14" name="Text 12"/>
          <p:cNvSpPr/>
          <p:nvPr/>
        </p:nvSpPr>
        <p:spPr>
          <a:xfrm>
            <a:off x="1801368" y="177393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11 411 TEU</a:t>
            </a:r>
            <a:endParaRPr lang="en-US" sz="850" dirty="0"/>
          </a:p>
        </p:txBody>
      </p:sp>
      <p:sp>
        <p:nvSpPr>
          <p:cNvPr id="15" name="Shape 13"/>
          <p:cNvSpPr/>
          <p:nvPr/>
        </p:nvSpPr>
        <p:spPr>
          <a:xfrm>
            <a:off x="2697480" y="1810512"/>
            <a:ext cx="2743200" cy="164592"/>
          </a:xfrm>
          <a:prstGeom prst="rect">
            <a:avLst/>
          </a:prstGeom>
          <a:solidFill>
            <a:srgbClr val="E5E7EB"/>
          </a:solidFill>
          <a:ln/>
        </p:spPr>
      </p:sp>
      <p:sp>
        <p:nvSpPr>
          <p:cNvPr id="16" name="Shape 14"/>
          <p:cNvSpPr/>
          <p:nvPr/>
        </p:nvSpPr>
        <p:spPr>
          <a:xfrm>
            <a:off x="2697480" y="1810512"/>
            <a:ext cx="1344168" cy="164592"/>
          </a:xfrm>
          <a:prstGeom prst="rect">
            <a:avLst/>
          </a:prstGeom>
          <a:solidFill>
            <a:srgbClr val="2563A8"/>
          </a:solidFill>
          <a:ln/>
        </p:spPr>
      </p:sp>
      <p:sp>
        <p:nvSpPr>
          <p:cNvPr id="17" name="Text 15"/>
          <p:cNvSpPr/>
          <p:nvPr/>
        </p:nvSpPr>
        <p:spPr>
          <a:xfrm>
            <a:off x="5486400" y="1773936"/>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49%</a:t>
            </a:r>
            <a:endParaRPr lang="en-US" sz="900" dirty="0"/>
          </a:p>
        </p:txBody>
      </p:sp>
      <p:sp>
        <p:nvSpPr>
          <p:cNvPr id="18" name="Text 16"/>
          <p:cNvSpPr/>
          <p:nvPr/>
        </p:nvSpPr>
        <p:spPr>
          <a:xfrm>
            <a:off x="137160" y="215798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CACAO</a:t>
            </a:r>
            <a:endParaRPr lang="en-US" sz="850" dirty="0"/>
          </a:p>
        </p:txBody>
      </p:sp>
      <p:sp>
        <p:nvSpPr>
          <p:cNvPr id="19" name="Text 17"/>
          <p:cNvSpPr/>
          <p:nvPr/>
        </p:nvSpPr>
        <p:spPr>
          <a:xfrm>
            <a:off x="1801368" y="215798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46 407 TEU</a:t>
            </a:r>
            <a:endParaRPr lang="en-US" sz="850" dirty="0"/>
          </a:p>
        </p:txBody>
      </p:sp>
      <p:sp>
        <p:nvSpPr>
          <p:cNvPr id="20" name="Shape 18"/>
          <p:cNvSpPr/>
          <p:nvPr/>
        </p:nvSpPr>
        <p:spPr>
          <a:xfrm>
            <a:off x="2697480" y="2194560"/>
            <a:ext cx="2743200" cy="164592"/>
          </a:xfrm>
          <a:prstGeom prst="rect">
            <a:avLst/>
          </a:prstGeom>
          <a:solidFill>
            <a:srgbClr val="E5E7EB"/>
          </a:solidFill>
          <a:ln/>
        </p:spPr>
      </p:sp>
      <p:sp>
        <p:nvSpPr>
          <p:cNvPr id="21" name="Shape 19"/>
          <p:cNvSpPr/>
          <p:nvPr/>
        </p:nvSpPr>
        <p:spPr>
          <a:xfrm>
            <a:off x="2697480" y="2194560"/>
            <a:ext cx="877824" cy="164592"/>
          </a:xfrm>
          <a:prstGeom prst="rect">
            <a:avLst/>
          </a:prstGeom>
          <a:solidFill>
            <a:srgbClr val="2563A8"/>
          </a:solidFill>
          <a:ln/>
        </p:spPr>
      </p:sp>
      <p:sp>
        <p:nvSpPr>
          <p:cNvPr id="22" name="Text 20"/>
          <p:cNvSpPr/>
          <p:nvPr/>
        </p:nvSpPr>
        <p:spPr>
          <a:xfrm>
            <a:off x="5486400" y="2157984"/>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32%</a:t>
            </a:r>
            <a:endParaRPr lang="en-US" sz="900" dirty="0"/>
          </a:p>
        </p:txBody>
      </p:sp>
      <p:sp>
        <p:nvSpPr>
          <p:cNvPr id="23" name="Text 21"/>
          <p:cNvSpPr/>
          <p:nvPr/>
        </p:nvSpPr>
        <p:spPr>
          <a:xfrm>
            <a:off x="137160" y="2542032"/>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COTON</a:t>
            </a:r>
            <a:endParaRPr lang="en-US" sz="850" dirty="0"/>
          </a:p>
        </p:txBody>
      </p:sp>
      <p:sp>
        <p:nvSpPr>
          <p:cNvPr id="24" name="Text 22"/>
          <p:cNvSpPr/>
          <p:nvPr/>
        </p:nvSpPr>
        <p:spPr>
          <a:xfrm>
            <a:off x="1801368" y="2542032"/>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4 179 TEU</a:t>
            </a:r>
            <a:endParaRPr lang="en-US" sz="850" dirty="0"/>
          </a:p>
        </p:txBody>
      </p:sp>
      <p:sp>
        <p:nvSpPr>
          <p:cNvPr id="25" name="Shape 23"/>
          <p:cNvSpPr/>
          <p:nvPr/>
        </p:nvSpPr>
        <p:spPr>
          <a:xfrm>
            <a:off x="2697480" y="2578608"/>
            <a:ext cx="2743200" cy="164592"/>
          </a:xfrm>
          <a:prstGeom prst="rect">
            <a:avLst/>
          </a:prstGeom>
          <a:solidFill>
            <a:srgbClr val="E5E7EB"/>
          </a:solidFill>
          <a:ln/>
        </p:spPr>
      </p:sp>
      <p:sp>
        <p:nvSpPr>
          <p:cNvPr id="26" name="Shape 24"/>
          <p:cNvSpPr/>
          <p:nvPr/>
        </p:nvSpPr>
        <p:spPr>
          <a:xfrm>
            <a:off x="2697480" y="2578608"/>
            <a:ext cx="795528" cy="164592"/>
          </a:xfrm>
          <a:prstGeom prst="rect">
            <a:avLst/>
          </a:prstGeom>
          <a:solidFill>
            <a:srgbClr val="2563A8"/>
          </a:solidFill>
          <a:ln/>
        </p:spPr>
      </p:sp>
      <p:sp>
        <p:nvSpPr>
          <p:cNvPr id="27" name="Text 25"/>
          <p:cNvSpPr/>
          <p:nvPr/>
        </p:nvSpPr>
        <p:spPr>
          <a:xfrm>
            <a:off x="5486400" y="2542032"/>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29%</a:t>
            </a:r>
            <a:endParaRPr lang="en-US" sz="900" dirty="0"/>
          </a:p>
        </p:txBody>
      </p:sp>
      <p:sp>
        <p:nvSpPr>
          <p:cNvPr id="28" name="Text 26"/>
          <p:cNvSpPr/>
          <p:nvPr/>
        </p:nvSpPr>
        <p:spPr>
          <a:xfrm>
            <a:off x="137160" y="292608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CAOUTCHOUC USINE</a:t>
            </a:r>
            <a:endParaRPr lang="en-US" sz="850" dirty="0"/>
          </a:p>
        </p:txBody>
      </p:sp>
      <p:sp>
        <p:nvSpPr>
          <p:cNvPr id="29" name="Text 27"/>
          <p:cNvSpPr/>
          <p:nvPr/>
        </p:nvSpPr>
        <p:spPr>
          <a:xfrm>
            <a:off x="1801368" y="292608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35 516 TEU</a:t>
            </a:r>
            <a:endParaRPr lang="en-US" sz="850" dirty="0"/>
          </a:p>
        </p:txBody>
      </p:sp>
      <p:sp>
        <p:nvSpPr>
          <p:cNvPr id="30" name="Shape 28"/>
          <p:cNvSpPr/>
          <p:nvPr/>
        </p:nvSpPr>
        <p:spPr>
          <a:xfrm>
            <a:off x="2697480" y="2962656"/>
            <a:ext cx="2743200" cy="164592"/>
          </a:xfrm>
          <a:prstGeom prst="rect">
            <a:avLst/>
          </a:prstGeom>
          <a:solidFill>
            <a:srgbClr val="E5E7EB"/>
          </a:solidFill>
          <a:ln/>
        </p:spPr>
      </p:sp>
      <p:sp>
        <p:nvSpPr>
          <p:cNvPr id="31" name="Shape 29"/>
          <p:cNvSpPr/>
          <p:nvPr/>
        </p:nvSpPr>
        <p:spPr>
          <a:xfrm>
            <a:off x="2697480" y="2962656"/>
            <a:ext cx="493776" cy="164592"/>
          </a:xfrm>
          <a:prstGeom prst="rect">
            <a:avLst/>
          </a:prstGeom>
          <a:solidFill>
            <a:srgbClr val="E05A00"/>
          </a:solidFill>
          <a:ln/>
        </p:spPr>
      </p:sp>
      <p:sp>
        <p:nvSpPr>
          <p:cNvPr id="32" name="Text 30"/>
          <p:cNvSpPr/>
          <p:nvPr/>
        </p:nvSpPr>
        <p:spPr>
          <a:xfrm>
            <a:off x="5486400" y="2926080"/>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18%</a:t>
            </a:r>
            <a:endParaRPr lang="en-US" sz="900" dirty="0"/>
          </a:p>
        </p:txBody>
      </p:sp>
      <p:sp>
        <p:nvSpPr>
          <p:cNvPr id="33" name="Text 31"/>
          <p:cNvSpPr/>
          <p:nvPr/>
        </p:nvSpPr>
        <p:spPr>
          <a:xfrm>
            <a:off x="137160" y="331012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MANGUE</a:t>
            </a:r>
            <a:endParaRPr lang="en-US" sz="850" dirty="0"/>
          </a:p>
        </p:txBody>
      </p:sp>
      <p:sp>
        <p:nvSpPr>
          <p:cNvPr id="34" name="Text 32"/>
          <p:cNvSpPr/>
          <p:nvPr/>
        </p:nvSpPr>
        <p:spPr>
          <a:xfrm>
            <a:off x="1801368" y="331012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3 777 TEU</a:t>
            </a:r>
            <a:endParaRPr lang="en-US" sz="850" dirty="0"/>
          </a:p>
        </p:txBody>
      </p:sp>
      <p:sp>
        <p:nvSpPr>
          <p:cNvPr id="35" name="Shape 33"/>
          <p:cNvSpPr/>
          <p:nvPr/>
        </p:nvSpPr>
        <p:spPr>
          <a:xfrm>
            <a:off x="2697480" y="3346704"/>
            <a:ext cx="2743200" cy="164592"/>
          </a:xfrm>
          <a:prstGeom prst="rect">
            <a:avLst/>
          </a:prstGeom>
          <a:solidFill>
            <a:srgbClr val="E5E7EB"/>
          </a:solidFill>
          <a:ln/>
        </p:spPr>
      </p:sp>
      <p:sp>
        <p:nvSpPr>
          <p:cNvPr id="36" name="Shape 34"/>
          <p:cNvSpPr/>
          <p:nvPr/>
        </p:nvSpPr>
        <p:spPr>
          <a:xfrm>
            <a:off x="2697480" y="3346704"/>
            <a:ext cx="356616" cy="164592"/>
          </a:xfrm>
          <a:prstGeom prst="rect">
            <a:avLst/>
          </a:prstGeom>
          <a:solidFill>
            <a:srgbClr val="E05A00"/>
          </a:solidFill>
          <a:ln/>
        </p:spPr>
      </p:sp>
      <p:sp>
        <p:nvSpPr>
          <p:cNvPr id="37" name="Text 35"/>
          <p:cNvSpPr/>
          <p:nvPr/>
        </p:nvSpPr>
        <p:spPr>
          <a:xfrm>
            <a:off x="5486400" y="3310128"/>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13%</a:t>
            </a:r>
            <a:endParaRPr lang="en-US" sz="900" dirty="0"/>
          </a:p>
        </p:txBody>
      </p:sp>
      <p:sp>
        <p:nvSpPr>
          <p:cNvPr id="38" name="Text 36"/>
          <p:cNvSpPr/>
          <p:nvPr/>
        </p:nvSpPr>
        <p:spPr>
          <a:xfrm>
            <a:off x="137160" y="369417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AMANDE DE CAJOU</a:t>
            </a:r>
            <a:endParaRPr lang="en-US" sz="850" dirty="0"/>
          </a:p>
        </p:txBody>
      </p:sp>
      <p:sp>
        <p:nvSpPr>
          <p:cNvPr id="39" name="Text 37"/>
          <p:cNvSpPr/>
          <p:nvPr/>
        </p:nvSpPr>
        <p:spPr>
          <a:xfrm>
            <a:off x="1801368" y="369417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2 744 TEU</a:t>
            </a:r>
            <a:endParaRPr lang="en-US" sz="850" dirty="0"/>
          </a:p>
        </p:txBody>
      </p:sp>
      <p:sp>
        <p:nvSpPr>
          <p:cNvPr id="40" name="Shape 38"/>
          <p:cNvSpPr/>
          <p:nvPr/>
        </p:nvSpPr>
        <p:spPr>
          <a:xfrm>
            <a:off x="2697480" y="3730752"/>
            <a:ext cx="2743200" cy="164592"/>
          </a:xfrm>
          <a:prstGeom prst="rect">
            <a:avLst/>
          </a:prstGeom>
          <a:solidFill>
            <a:srgbClr val="E5E7EB"/>
          </a:solidFill>
          <a:ln/>
        </p:spPr>
      </p:sp>
      <p:sp>
        <p:nvSpPr>
          <p:cNvPr id="41" name="Shape 39"/>
          <p:cNvSpPr/>
          <p:nvPr/>
        </p:nvSpPr>
        <p:spPr>
          <a:xfrm>
            <a:off x="2697480" y="3730752"/>
            <a:ext cx="192024" cy="164592"/>
          </a:xfrm>
          <a:prstGeom prst="rect">
            <a:avLst/>
          </a:prstGeom>
          <a:solidFill>
            <a:srgbClr val="CC2200"/>
          </a:solidFill>
          <a:ln/>
        </p:spPr>
      </p:sp>
      <p:sp>
        <p:nvSpPr>
          <p:cNvPr id="42" name="Text 40"/>
          <p:cNvSpPr/>
          <p:nvPr/>
        </p:nvSpPr>
        <p:spPr>
          <a:xfrm>
            <a:off x="5486400" y="3694176"/>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7%</a:t>
            </a:r>
            <a:endParaRPr lang="en-US" sz="900" dirty="0"/>
          </a:p>
        </p:txBody>
      </p:sp>
      <p:sp>
        <p:nvSpPr>
          <p:cNvPr id="43" name="Text 41"/>
          <p:cNvSpPr/>
          <p:nvPr/>
        </p:nvSpPr>
        <p:spPr>
          <a:xfrm>
            <a:off x="137160" y="407822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NOIX DE CAJOU</a:t>
            </a:r>
            <a:endParaRPr lang="en-US" sz="850" dirty="0"/>
          </a:p>
        </p:txBody>
      </p:sp>
      <p:sp>
        <p:nvSpPr>
          <p:cNvPr id="44" name="Text 42"/>
          <p:cNvSpPr/>
          <p:nvPr/>
        </p:nvSpPr>
        <p:spPr>
          <a:xfrm>
            <a:off x="1801368" y="407822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13 129 TEU</a:t>
            </a:r>
            <a:endParaRPr lang="en-US" sz="850" dirty="0"/>
          </a:p>
        </p:txBody>
      </p:sp>
      <p:sp>
        <p:nvSpPr>
          <p:cNvPr id="45" name="Shape 43"/>
          <p:cNvSpPr/>
          <p:nvPr/>
        </p:nvSpPr>
        <p:spPr>
          <a:xfrm>
            <a:off x="2697480" y="4114800"/>
            <a:ext cx="2743200" cy="164592"/>
          </a:xfrm>
          <a:prstGeom prst="rect">
            <a:avLst/>
          </a:prstGeom>
          <a:solidFill>
            <a:srgbClr val="E5E7EB"/>
          </a:solidFill>
          <a:ln/>
        </p:spPr>
      </p:sp>
      <p:sp>
        <p:nvSpPr>
          <p:cNvPr id="46" name="Shape 44"/>
          <p:cNvSpPr/>
          <p:nvPr/>
        </p:nvSpPr>
        <p:spPr>
          <a:xfrm>
            <a:off x="2697480" y="4114800"/>
            <a:ext cx="137160" cy="164592"/>
          </a:xfrm>
          <a:prstGeom prst="rect">
            <a:avLst/>
          </a:prstGeom>
          <a:solidFill>
            <a:srgbClr val="CC2200"/>
          </a:solidFill>
          <a:ln/>
        </p:spPr>
      </p:sp>
      <p:sp>
        <p:nvSpPr>
          <p:cNvPr id="47" name="Text 45"/>
          <p:cNvSpPr/>
          <p:nvPr/>
        </p:nvSpPr>
        <p:spPr>
          <a:xfrm>
            <a:off x="5486400" y="4078224"/>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5%</a:t>
            </a:r>
            <a:endParaRPr lang="en-US" sz="900" dirty="0"/>
          </a:p>
        </p:txBody>
      </p:sp>
      <p:sp>
        <p:nvSpPr>
          <p:cNvPr id="48" name="Text 46"/>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Classement concurrentiel – TEM</a:t>
            </a:r>
            <a:endParaRPr lang="en-US" sz="1100" dirty="0"/>
          </a:p>
        </p:txBody>
      </p:sp>
      <p:sp>
        <p:nvSpPr>
          <p:cNvPr id="49" name="Shape 47"/>
          <p:cNvSpPr/>
          <p:nvPr/>
        </p:nvSpPr>
        <p:spPr>
          <a:xfrm>
            <a:off x="6400800" y="1371600"/>
            <a:ext cx="5669280" cy="256032"/>
          </a:xfrm>
          <a:prstGeom prst="rect">
            <a:avLst/>
          </a:prstGeom>
          <a:solidFill>
            <a:srgbClr val="0D2243"/>
          </a:solidFill>
          <a:ln/>
        </p:spPr>
      </p:sp>
      <p:sp>
        <p:nvSpPr>
          <p:cNvPr id="50" name="Text 48"/>
          <p:cNvSpPr/>
          <p:nvPr/>
        </p:nvSpPr>
        <p:spPr>
          <a:xfrm>
            <a:off x="6437376" y="1408176"/>
            <a:ext cx="365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Rang</a:t>
            </a:r>
            <a:endParaRPr lang="en-US" sz="850" dirty="0"/>
          </a:p>
        </p:txBody>
      </p:sp>
      <p:sp>
        <p:nvSpPr>
          <p:cNvPr id="51" name="Text 49"/>
          <p:cNvSpPr/>
          <p:nvPr/>
        </p:nvSpPr>
        <p:spPr>
          <a:xfrm>
            <a:off x="6848856" y="1408176"/>
            <a:ext cx="170688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Transitaire</a:t>
            </a:r>
            <a:endParaRPr lang="en-US" sz="850" dirty="0"/>
          </a:p>
        </p:txBody>
      </p:sp>
      <p:sp>
        <p:nvSpPr>
          <p:cNvPr id="52" name="Text 50"/>
          <p:cNvSpPr/>
          <p:nvPr/>
        </p:nvSpPr>
        <p:spPr>
          <a:xfrm>
            <a:off x="8601456" y="1408176"/>
            <a:ext cx="17068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TEU</a:t>
            </a:r>
            <a:endParaRPr lang="en-US" sz="850" dirty="0"/>
          </a:p>
        </p:txBody>
      </p:sp>
      <p:sp>
        <p:nvSpPr>
          <p:cNvPr id="53" name="Text 51"/>
          <p:cNvSpPr/>
          <p:nvPr/>
        </p:nvSpPr>
        <p:spPr>
          <a:xfrm>
            <a:off x="10354056" y="1408176"/>
            <a:ext cx="17068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PDM</a:t>
            </a:r>
            <a:endParaRPr lang="en-US" sz="850" dirty="0"/>
          </a:p>
        </p:txBody>
      </p:sp>
      <p:sp>
        <p:nvSpPr>
          <p:cNvPr id="54" name="Shape 52"/>
          <p:cNvSpPr/>
          <p:nvPr/>
        </p:nvSpPr>
        <p:spPr>
          <a:xfrm>
            <a:off x="6400800" y="1627632"/>
            <a:ext cx="5669280" cy="256032"/>
          </a:xfrm>
          <a:prstGeom prst="rect">
            <a:avLst/>
          </a:prstGeom>
          <a:solidFill>
            <a:srgbClr val="FFF9EC"/>
          </a:solidFill>
          <a:ln w="3810">
            <a:solidFill>
              <a:srgbClr val="E5E7EB"/>
            </a:solidFill>
            <a:prstDash val="solid"/>
          </a:ln>
        </p:spPr>
      </p:sp>
      <p:sp>
        <p:nvSpPr>
          <p:cNvPr id="55" name="Text 53"/>
          <p:cNvSpPr/>
          <p:nvPr/>
        </p:nvSpPr>
        <p:spPr>
          <a:xfrm>
            <a:off x="6437376" y="1664208"/>
            <a:ext cx="365760" cy="201168"/>
          </a:xfrm>
          <a:prstGeom prst="rect">
            <a:avLst/>
          </a:prstGeom>
          <a:noFill/>
          <a:ln/>
        </p:spPr>
        <p:txBody>
          <a:bodyPr wrap="none" rtlCol="0" anchor="ctr"/>
          <a:lstStyle/>
          <a:p>
            <a:pPr algn="ctr" indent="0" marL="0">
              <a:buNone/>
            </a:pPr>
            <a:r>
              <a:rPr lang="en-US" sz="850" b="1" dirty="0">
                <a:solidFill>
                  <a:srgbClr val="374151"/>
                </a:solidFill>
                <a:latin typeface="Calibri" pitchFamily="34" charset="0"/>
                <a:ea typeface="Calibri" pitchFamily="34" charset="-122"/>
                <a:cs typeface="Calibri" pitchFamily="34" charset="-120"/>
              </a:rPr>
              <a:t>#1</a:t>
            </a:r>
            <a:endParaRPr lang="en-US" sz="850" dirty="0"/>
          </a:p>
        </p:txBody>
      </p:sp>
      <p:sp>
        <p:nvSpPr>
          <p:cNvPr id="56" name="Text 54"/>
          <p:cNvSpPr/>
          <p:nvPr/>
        </p:nvSpPr>
        <p:spPr>
          <a:xfrm>
            <a:off x="6848856" y="1664208"/>
            <a:ext cx="170688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AFRICA GLOBAL LOGISTICS</a:t>
            </a:r>
            <a:endParaRPr lang="en-US" sz="850" dirty="0"/>
          </a:p>
        </p:txBody>
      </p:sp>
      <p:sp>
        <p:nvSpPr>
          <p:cNvPr id="57" name="Text 55"/>
          <p:cNvSpPr/>
          <p:nvPr/>
        </p:nvSpPr>
        <p:spPr>
          <a:xfrm>
            <a:off x="8601456" y="1664208"/>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35 972</a:t>
            </a:r>
            <a:endParaRPr lang="en-US" sz="850" dirty="0"/>
          </a:p>
        </p:txBody>
      </p:sp>
      <p:sp>
        <p:nvSpPr>
          <p:cNvPr id="58" name="Text 56"/>
          <p:cNvSpPr/>
          <p:nvPr/>
        </p:nvSpPr>
        <p:spPr>
          <a:xfrm>
            <a:off x="10354056" y="1664208"/>
            <a:ext cx="170688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26,2 %</a:t>
            </a:r>
            <a:endParaRPr lang="en-US" sz="850" dirty="0"/>
          </a:p>
        </p:txBody>
      </p:sp>
      <p:sp>
        <p:nvSpPr>
          <p:cNvPr id="59" name="Shape 57"/>
          <p:cNvSpPr/>
          <p:nvPr/>
        </p:nvSpPr>
        <p:spPr>
          <a:xfrm>
            <a:off x="6400800" y="1883664"/>
            <a:ext cx="5669280" cy="256032"/>
          </a:xfrm>
          <a:prstGeom prst="rect">
            <a:avLst/>
          </a:prstGeom>
          <a:solidFill>
            <a:srgbClr val="F8F9FA"/>
          </a:solidFill>
          <a:ln w="3810">
            <a:solidFill>
              <a:srgbClr val="E5E7EB"/>
            </a:solidFill>
            <a:prstDash val="solid"/>
          </a:ln>
        </p:spPr>
      </p:sp>
      <p:sp>
        <p:nvSpPr>
          <p:cNvPr id="60" name="Text 58"/>
          <p:cNvSpPr/>
          <p:nvPr/>
        </p:nvSpPr>
        <p:spPr>
          <a:xfrm>
            <a:off x="6437376" y="192024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a:t>
            </a:r>
            <a:endParaRPr lang="en-US" sz="850" dirty="0"/>
          </a:p>
        </p:txBody>
      </p:sp>
      <p:sp>
        <p:nvSpPr>
          <p:cNvPr id="61" name="Text 59"/>
          <p:cNvSpPr/>
          <p:nvPr/>
        </p:nvSpPr>
        <p:spPr>
          <a:xfrm>
            <a:off x="6848856" y="1920240"/>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MAERSK LOGISTIC</a:t>
            </a:r>
            <a:endParaRPr lang="en-US" sz="850" dirty="0"/>
          </a:p>
        </p:txBody>
      </p:sp>
      <p:sp>
        <p:nvSpPr>
          <p:cNvPr id="62" name="Text 60"/>
          <p:cNvSpPr/>
          <p:nvPr/>
        </p:nvSpPr>
        <p:spPr>
          <a:xfrm>
            <a:off x="8601456" y="1920240"/>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7 730</a:t>
            </a:r>
            <a:endParaRPr lang="en-US" sz="850" dirty="0"/>
          </a:p>
        </p:txBody>
      </p:sp>
      <p:sp>
        <p:nvSpPr>
          <p:cNvPr id="63" name="Text 61"/>
          <p:cNvSpPr/>
          <p:nvPr/>
        </p:nvSpPr>
        <p:spPr>
          <a:xfrm>
            <a:off x="10354056" y="1920240"/>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5,6 %</a:t>
            </a:r>
            <a:endParaRPr lang="en-US" sz="850" dirty="0"/>
          </a:p>
        </p:txBody>
      </p:sp>
      <p:sp>
        <p:nvSpPr>
          <p:cNvPr id="64" name="Shape 62"/>
          <p:cNvSpPr/>
          <p:nvPr/>
        </p:nvSpPr>
        <p:spPr>
          <a:xfrm>
            <a:off x="6400800" y="2139696"/>
            <a:ext cx="5669280" cy="256032"/>
          </a:xfrm>
          <a:prstGeom prst="rect">
            <a:avLst/>
          </a:prstGeom>
          <a:solidFill>
            <a:srgbClr val="FFFFFF"/>
          </a:solidFill>
          <a:ln w="3810">
            <a:solidFill>
              <a:srgbClr val="E5E7EB"/>
            </a:solidFill>
            <a:prstDash val="solid"/>
          </a:ln>
        </p:spPr>
      </p:sp>
      <p:sp>
        <p:nvSpPr>
          <p:cNvPr id="65" name="Text 63"/>
          <p:cNvSpPr/>
          <p:nvPr/>
        </p:nvSpPr>
        <p:spPr>
          <a:xfrm>
            <a:off x="6437376" y="217627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a:t>
            </a:r>
            <a:endParaRPr lang="en-US" sz="850" dirty="0"/>
          </a:p>
        </p:txBody>
      </p:sp>
      <p:sp>
        <p:nvSpPr>
          <p:cNvPr id="66" name="Text 64"/>
          <p:cNvSpPr/>
          <p:nvPr/>
        </p:nvSpPr>
        <p:spPr>
          <a:xfrm>
            <a:off x="6848856" y="2176272"/>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MANTRA IVOIRE</a:t>
            </a:r>
            <a:endParaRPr lang="en-US" sz="850" dirty="0"/>
          </a:p>
        </p:txBody>
      </p:sp>
      <p:sp>
        <p:nvSpPr>
          <p:cNvPr id="67" name="Text 65"/>
          <p:cNvSpPr/>
          <p:nvPr/>
        </p:nvSpPr>
        <p:spPr>
          <a:xfrm>
            <a:off x="8601456" y="2176272"/>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7 671</a:t>
            </a:r>
            <a:endParaRPr lang="en-US" sz="850" dirty="0"/>
          </a:p>
        </p:txBody>
      </p:sp>
      <p:sp>
        <p:nvSpPr>
          <p:cNvPr id="68" name="Text 66"/>
          <p:cNvSpPr/>
          <p:nvPr/>
        </p:nvSpPr>
        <p:spPr>
          <a:xfrm>
            <a:off x="10354056" y="2176272"/>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5,6 %</a:t>
            </a:r>
            <a:endParaRPr lang="en-US" sz="850" dirty="0"/>
          </a:p>
        </p:txBody>
      </p:sp>
      <p:sp>
        <p:nvSpPr>
          <p:cNvPr id="69" name="Shape 67"/>
          <p:cNvSpPr/>
          <p:nvPr/>
        </p:nvSpPr>
        <p:spPr>
          <a:xfrm>
            <a:off x="6400800" y="2395728"/>
            <a:ext cx="5669280" cy="256032"/>
          </a:xfrm>
          <a:prstGeom prst="rect">
            <a:avLst/>
          </a:prstGeom>
          <a:solidFill>
            <a:srgbClr val="F8F9FA"/>
          </a:solidFill>
          <a:ln w="3810">
            <a:solidFill>
              <a:srgbClr val="E5E7EB"/>
            </a:solidFill>
            <a:prstDash val="solid"/>
          </a:ln>
        </p:spPr>
      </p:sp>
      <p:sp>
        <p:nvSpPr>
          <p:cNvPr id="70" name="Text 68"/>
          <p:cNvSpPr/>
          <p:nvPr/>
        </p:nvSpPr>
        <p:spPr>
          <a:xfrm>
            <a:off x="6437376" y="243230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a:t>
            </a:r>
            <a:endParaRPr lang="en-US" sz="850" dirty="0"/>
          </a:p>
        </p:txBody>
      </p:sp>
      <p:sp>
        <p:nvSpPr>
          <p:cNvPr id="71" name="Text 69"/>
          <p:cNvSpPr/>
          <p:nvPr/>
        </p:nvSpPr>
        <p:spPr>
          <a:xfrm>
            <a:off x="6848856" y="2432304"/>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GLOBAL MANUTENTION CI</a:t>
            </a:r>
            <a:endParaRPr lang="en-US" sz="850" dirty="0"/>
          </a:p>
        </p:txBody>
      </p:sp>
      <p:sp>
        <p:nvSpPr>
          <p:cNvPr id="72" name="Text 70"/>
          <p:cNvSpPr/>
          <p:nvPr/>
        </p:nvSpPr>
        <p:spPr>
          <a:xfrm>
            <a:off x="8601456" y="2432304"/>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5 893</a:t>
            </a:r>
            <a:endParaRPr lang="en-US" sz="850" dirty="0"/>
          </a:p>
        </p:txBody>
      </p:sp>
      <p:sp>
        <p:nvSpPr>
          <p:cNvPr id="73" name="Text 71"/>
          <p:cNvSpPr/>
          <p:nvPr/>
        </p:nvSpPr>
        <p:spPr>
          <a:xfrm>
            <a:off x="10354056" y="2432304"/>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4,3 %</a:t>
            </a:r>
            <a:endParaRPr lang="en-US" sz="850" dirty="0"/>
          </a:p>
        </p:txBody>
      </p:sp>
      <p:sp>
        <p:nvSpPr>
          <p:cNvPr id="74" name="Shape 72"/>
          <p:cNvSpPr/>
          <p:nvPr/>
        </p:nvSpPr>
        <p:spPr>
          <a:xfrm>
            <a:off x="6400800" y="2651760"/>
            <a:ext cx="5669280" cy="256032"/>
          </a:xfrm>
          <a:prstGeom prst="rect">
            <a:avLst/>
          </a:prstGeom>
          <a:solidFill>
            <a:srgbClr val="FFFFFF"/>
          </a:solidFill>
          <a:ln w="3810">
            <a:solidFill>
              <a:srgbClr val="E5E7EB"/>
            </a:solidFill>
            <a:prstDash val="solid"/>
          </a:ln>
        </p:spPr>
      </p:sp>
      <p:sp>
        <p:nvSpPr>
          <p:cNvPr id="75" name="Text 73"/>
          <p:cNvSpPr/>
          <p:nvPr/>
        </p:nvSpPr>
        <p:spPr>
          <a:xfrm>
            <a:off x="6437376" y="268833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a:t>
            </a:r>
            <a:endParaRPr lang="en-US" sz="850" dirty="0"/>
          </a:p>
        </p:txBody>
      </p:sp>
      <p:sp>
        <p:nvSpPr>
          <p:cNvPr id="76" name="Text 74"/>
          <p:cNvSpPr/>
          <p:nvPr/>
        </p:nvSpPr>
        <p:spPr>
          <a:xfrm>
            <a:off x="6848856" y="2688336"/>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OTL</a:t>
            </a:r>
            <a:endParaRPr lang="en-US" sz="850" dirty="0"/>
          </a:p>
        </p:txBody>
      </p:sp>
      <p:sp>
        <p:nvSpPr>
          <p:cNvPr id="77" name="Text 75"/>
          <p:cNvSpPr/>
          <p:nvPr/>
        </p:nvSpPr>
        <p:spPr>
          <a:xfrm>
            <a:off x="8601456" y="2688336"/>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5 760</a:t>
            </a:r>
            <a:endParaRPr lang="en-US" sz="850" dirty="0"/>
          </a:p>
        </p:txBody>
      </p:sp>
      <p:sp>
        <p:nvSpPr>
          <p:cNvPr id="78" name="Text 76"/>
          <p:cNvSpPr/>
          <p:nvPr/>
        </p:nvSpPr>
        <p:spPr>
          <a:xfrm>
            <a:off x="10354056" y="2688336"/>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4,2 %</a:t>
            </a:r>
            <a:endParaRPr lang="en-US" sz="850" dirty="0"/>
          </a:p>
        </p:txBody>
      </p:sp>
      <p:sp>
        <p:nvSpPr>
          <p:cNvPr id="79" name="Shape 77"/>
          <p:cNvSpPr/>
          <p:nvPr/>
        </p:nvSpPr>
        <p:spPr>
          <a:xfrm>
            <a:off x="6400800" y="2907792"/>
            <a:ext cx="5669280" cy="256032"/>
          </a:xfrm>
          <a:prstGeom prst="rect">
            <a:avLst/>
          </a:prstGeom>
          <a:solidFill>
            <a:srgbClr val="F8F9FA"/>
          </a:solidFill>
          <a:ln w="3810">
            <a:solidFill>
              <a:srgbClr val="E5E7EB"/>
            </a:solidFill>
            <a:prstDash val="solid"/>
          </a:ln>
        </p:spPr>
      </p:sp>
      <p:sp>
        <p:nvSpPr>
          <p:cNvPr id="80" name="Text 78"/>
          <p:cNvSpPr/>
          <p:nvPr/>
        </p:nvSpPr>
        <p:spPr>
          <a:xfrm>
            <a:off x="6437376" y="294436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a:t>
            </a:r>
            <a:endParaRPr lang="en-US" sz="850" dirty="0"/>
          </a:p>
        </p:txBody>
      </p:sp>
      <p:sp>
        <p:nvSpPr>
          <p:cNvPr id="81" name="Text 79"/>
          <p:cNvSpPr/>
          <p:nvPr/>
        </p:nvSpPr>
        <p:spPr>
          <a:xfrm>
            <a:off x="6848856" y="2944368"/>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MEDLOG CI</a:t>
            </a:r>
            <a:endParaRPr lang="en-US" sz="850" dirty="0"/>
          </a:p>
        </p:txBody>
      </p:sp>
      <p:sp>
        <p:nvSpPr>
          <p:cNvPr id="82" name="Text 80"/>
          <p:cNvSpPr/>
          <p:nvPr/>
        </p:nvSpPr>
        <p:spPr>
          <a:xfrm>
            <a:off x="8601456" y="2944368"/>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4 921</a:t>
            </a:r>
            <a:endParaRPr lang="en-US" sz="850" dirty="0"/>
          </a:p>
        </p:txBody>
      </p:sp>
      <p:sp>
        <p:nvSpPr>
          <p:cNvPr id="83" name="Text 81"/>
          <p:cNvSpPr/>
          <p:nvPr/>
        </p:nvSpPr>
        <p:spPr>
          <a:xfrm>
            <a:off x="10354056" y="2944368"/>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3,6 %</a:t>
            </a:r>
            <a:endParaRPr lang="en-US" sz="850" dirty="0"/>
          </a:p>
        </p:txBody>
      </p:sp>
      <p:sp>
        <p:nvSpPr>
          <p:cNvPr id="84" name="Shape 82"/>
          <p:cNvSpPr/>
          <p:nvPr/>
        </p:nvSpPr>
        <p:spPr>
          <a:xfrm>
            <a:off x="6400800" y="3163824"/>
            <a:ext cx="5669280" cy="256032"/>
          </a:xfrm>
          <a:prstGeom prst="rect">
            <a:avLst/>
          </a:prstGeom>
          <a:solidFill>
            <a:srgbClr val="FFFFFF"/>
          </a:solidFill>
          <a:ln w="3810">
            <a:solidFill>
              <a:srgbClr val="E5E7EB"/>
            </a:solidFill>
            <a:prstDash val="solid"/>
          </a:ln>
        </p:spPr>
      </p:sp>
      <p:sp>
        <p:nvSpPr>
          <p:cNvPr id="85" name="Text 83"/>
          <p:cNvSpPr/>
          <p:nvPr/>
        </p:nvSpPr>
        <p:spPr>
          <a:xfrm>
            <a:off x="6437376" y="320040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a:t>
            </a:r>
            <a:endParaRPr lang="en-US" sz="850" dirty="0"/>
          </a:p>
        </p:txBody>
      </p:sp>
      <p:sp>
        <p:nvSpPr>
          <p:cNvPr id="86" name="Text 84"/>
          <p:cNvSpPr/>
          <p:nvPr/>
        </p:nvSpPr>
        <p:spPr>
          <a:xfrm>
            <a:off x="6848856" y="3200400"/>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SDMA</a:t>
            </a:r>
            <a:endParaRPr lang="en-US" sz="850" dirty="0"/>
          </a:p>
        </p:txBody>
      </p:sp>
      <p:sp>
        <p:nvSpPr>
          <p:cNvPr id="87" name="Text 85"/>
          <p:cNvSpPr/>
          <p:nvPr/>
        </p:nvSpPr>
        <p:spPr>
          <a:xfrm>
            <a:off x="8601456" y="3200400"/>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4 902</a:t>
            </a:r>
            <a:endParaRPr lang="en-US" sz="850" dirty="0"/>
          </a:p>
        </p:txBody>
      </p:sp>
      <p:sp>
        <p:nvSpPr>
          <p:cNvPr id="88" name="Text 86"/>
          <p:cNvSpPr/>
          <p:nvPr/>
        </p:nvSpPr>
        <p:spPr>
          <a:xfrm>
            <a:off x="10354056" y="3200400"/>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3,6 %</a:t>
            </a:r>
            <a:endParaRPr lang="en-US" sz="850" dirty="0"/>
          </a:p>
        </p:txBody>
      </p:sp>
      <p:sp>
        <p:nvSpPr>
          <p:cNvPr id="89" name="Shape 87"/>
          <p:cNvSpPr/>
          <p:nvPr/>
        </p:nvSpPr>
        <p:spPr>
          <a:xfrm>
            <a:off x="6400800" y="3419856"/>
            <a:ext cx="5669280" cy="256032"/>
          </a:xfrm>
          <a:prstGeom prst="rect">
            <a:avLst/>
          </a:prstGeom>
          <a:solidFill>
            <a:srgbClr val="F8F9FA"/>
          </a:solidFill>
          <a:ln w="3810">
            <a:solidFill>
              <a:srgbClr val="E5E7EB"/>
            </a:solidFill>
            <a:prstDash val="solid"/>
          </a:ln>
        </p:spPr>
      </p:sp>
      <p:sp>
        <p:nvSpPr>
          <p:cNvPr id="90" name="Text 88"/>
          <p:cNvSpPr/>
          <p:nvPr/>
        </p:nvSpPr>
        <p:spPr>
          <a:xfrm>
            <a:off x="6437376" y="345643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a:t>
            </a:r>
            <a:endParaRPr lang="en-US" sz="850" dirty="0"/>
          </a:p>
        </p:txBody>
      </p:sp>
      <p:sp>
        <p:nvSpPr>
          <p:cNvPr id="91" name="Text 89"/>
          <p:cNvSpPr/>
          <p:nvPr/>
        </p:nvSpPr>
        <p:spPr>
          <a:xfrm>
            <a:off x="6848856" y="3456432"/>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PACKING SERVICE INTL</a:t>
            </a:r>
            <a:endParaRPr lang="en-US" sz="850" dirty="0"/>
          </a:p>
        </p:txBody>
      </p:sp>
      <p:sp>
        <p:nvSpPr>
          <p:cNvPr id="92" name="Text 90"/>
          <p:cNvSpPr/>
          <p:nvPr/>
        </p:nvSpPr>
        <p:spPr>
          <a:xfrm>
            <a:off x="8601456" y="3456432"/>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4 411</a:t>
            </a:r>
            <a:endParaRPr lang="en-US" sz="850" dirty="0"/>
          </a:p>
        </p:txBody>
      </p:sp>
      <p:sp>
        <p:nvSpPr>
          <p:cNvPr id="93" name="Text 91"/>
          <p:cNvSpPr/>
          <p:nvPr/>
        </p:nvSpPr>
        <p:spPr>
          <a:xfrm>
            <a:off x="10354056" y="3456432"/>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3,2 %</a:t>
            </a:r>
            <a:endParaRPr lang="en-US" sz="850" dirty="0"/>
          </a:p>
        </p:txBody>
      </p:sp>
      <p:sp>
        <p:nvSpPr>
          <p:cNvPr id="94" name="Shape 92"/>
          <p:cNvSpPr/>
          <p:nvPr/>
        </p:nvSpPr>
        <p:spPr>
          <a:xfrm>
            <a:off x="6400800" y="3675888"/>
            <a:ext cx="5669280" cy="256032"/>
          </a:xfrm>
          <a:prstGeom prst="rect">
            <a:avLst/>
          </a:prstGeom>
          <a:solidFill>
            <a:srgbClr val="FFFFFF"/>
          </a:solidFill>
          <a:ln w="3810">
            <a:solidFill>
              <a:srgbClr val="E5E7EB"/>
            </a:solidFill>
            <a:prstDash val="solid"/>
          </a:ln>
        </p:spPr>
      </p:sp>
      <p:sp>
        <p:nvSpPr>
          <p:cNvPr id="95" name="Text 93"/>
          <p:cNvSpPr/>
          <p:nvPr/>
        </p:nvSpPr>
        <p:spPr>
          <a:xfrm>
            <a:off x="6437376" y="371246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a:t>
            </a:r>
            <a:endParaRPr lang="en-US" sz="850" dirty="0"/>
          </a:p>
        </p:txBody>
      </p:sp>
      <p:sp>
        <p:nvSpPr>
          <p:cNvPr id="96" name="Text 94"/>
          <p:cNvSpPr/>
          <p:nvPr/>
        </p:nvSpPr>
        <p:spPr>
          <a:xfrm>
            <a:off x="6848856" y="3712464"/>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MOVIS TRANSIT CI</a:t>
            </a:r>
            <a:endParaRPr lang="en-US" sz="850" dirty="0"/>
          </a:p>
        </p:txBody>
      </p:sp>
      <p:sp>
        <p:nvSpPr>
          <p:cNvPr id="97" name="Text 95"/>
          <p:cNvSpPr/>
          <p:nvPr/>
        </p:nvSpPr>
        <p:spPr>
          <a:xfrm>
            <a:off x="8601456" y="3712464"/>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4 067</a:t>
            </a:r>
            <a:endParaRPr lang="en-US" sz="850" dirty="0"/>
          </a:p>
        </p:txBody>
      </p:sp>
      <p:sp>
        <p:nvSpPr>
          <p:cNvPr id="98" name="Text 96"/>
          <p:cNvSpPr/>
          <p:nvPr/>
        </p:nvSpPr>
        <p:spPr>
          <a:xfrm>
            <a:off x="10354056" y="3712464"/>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3,0 %</a:t>
            </a:r>
            <a:endParaRPr lang="en-US" sz="850" dirty="0"/>
          </a:p>
        </p:txBody>
      </p:sp>
      <p:sp>
        <p:nvSpPr>
          <p:cNvPr id="99" name="Shape 97"/>
          <p:cNvSpPr/>
          <p:nvPr/>
        </p:nvSpPr>
        <p:spPr>
          <a:xfrm>
            <a:off x="6400800" y="3931920"/>
            <a:ext cx="5669280" cy="256032"/>
          </a:xfrm>
          <a:prstGeom prst="rect">
            <a:avLst/>
          </a:prstGeom>
          <a:solidFill>
            <a:srgbClr val="F8F9FA"/>
          </a:solidFill>
          <a:ln w="3810">
            <a:solidFill>
              <a:srgbClr val="E5E7EB"/>
            </a:solidFill>
            <a:prstDash val="solid"/>
          </a:ln>
        </p:spPr>
      </p:sp>
      <p:sp>
        <p:nvSpPr>
          <p:cNvPr id="100" name="Text 98"/>
          <p:cNvSpPr/>
          <p:nvPr/>
        </p:nvSpPr>
        <p:spPr>
          <a:xfrm>
            <a:off x="6437376" y="396849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a:t>
            </a:r>
            <a:endParaRPr lang="en-US" sz="850" dirty="0"/>
          </a:p>
        </p:txBody>
      </p:sp>
      <p:sp>
        <p:nvSpPr>
          <p:cNvPr id="101" name="Text 99"/>
          <p:cNvSpPr/>
          <p:nvPr/>
        </p:nvSpPr>
        <p:spPr>
          <a:xfrm>
            <a:off x="6848856" y="3968496"/>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GTS CI</a:t>
            </a:r>
            <a:endParaRPr lang="en-US" sz="850" dirty="0"/>
          </a:p>
        </p:txBody>
      </p:sp>
      <p:sp>
        <p:nvSpPr>
          <p:cNvPr id="102" name="Text 100"/>
          <p:cNvSpPr/>
          <p:nvPr/>
        </p:nvSpPr>
        <p:spPr>
          <a:xfrm>
            <a:off x="8601456" y="3968496"/>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4 010</a:t>
            </a:r>
            <a:endParaRPr lang="en-US" sz="850" dirty="0"/>
          </a:p>
        </p:txBody>
      </p:sp>
      <p:sp>
        <p:nvSpPr>
          <p:cNvPr id="103" name="Text 101"/>
          <p:cNvSpPr/>
          <p:nvPr/>
        </p:nvSpPr>
        <p:spPr>
          <a:xfrm>
            <a:off x="10354056" y="3968496"/>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2,9 %</a:t>
            </a:r>
            <a:endParaRPr lang="en-US" sz="850" dirty="0"/>
          </a:p>
        </p:txBody>
      </p:sp>
      <p:sp>
        <p:nvSpPr>
          <p:cNvPr id="104" name="Shape 102"/>
          <p:cNvSpPr/>
          <p:nvPr/>
        </p:nvSpPr>
        <p:spPr>
          <a:xfrm>
            <a:off x="137160" y="4937760"/>
            <a:ext cx="11795760" cy="685800"/>
          </a:xfrm>
          <a:prstGeom prst="rect">
            <a:avLst/>
          </a:prstGeom>
          <a:solidFill>
            <a:srgbClr val="FFFBEC"/>
          </a:solidFill>
          <a:ln w="6350">
            <a:solidFill>
              <a:srgbClr val="E5C97A"/>
            </a:solidFill>
            <a:prstDash val="solid"/>
          </a:ln>
        </p:spPr>
      </p:sp>
      <p:sp>
        <p:nvSpPr>
          <p:cNvPr id="105" name="Text 103"/>
          <p:cNvSpPr/>
          <p:nvPr/>
        </p:nvSpPr>
        <p:spPr>
          <a:xfrm>
            <a:off x="228600" y="5010912"/>
            <a:ext cx="11612880" cy="5760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POSITION TEM : AGL détient 26,2% du marché qualifié – soit 4,7x le 2ème acteur. Forces : Bananes (74% PDM), Dérivés cacao (49%), Cacao (32%). Levier : Noix de Cajou (13 129 TEU marché, seulement 5,4% PDM AGL) = +860 TEU si PDM portée à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TEM – CLIENTÈLE CHARGEURS AGL</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Top 10 chargeurs  |  Répartition filières  |  Risques &amp; opportunités</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p.10</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64008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Top 10 chargeurs AGL – TEM (TEU)</a:t>
            </a:r>
            <a:endParaRPr lang="en-US" sz="1100" dirty="0"/>
          </a:p>
        </p:txBody>
      </p:sp>
      <p:sp>
        <p:nvSpPr>
          <p:cNvPr id="8" name="Shape 6"/>
          <p:cNvSpPr/>
          <p:nvPr/>
        </p:nvSpPr>
        <p:spPr>
          <a:xfrm>
            <a:off x="137160" y="1371600"/>
            <a:ext cx="6400800" cy="256032"/>
          </a:xfrm>
          <a:prstGeom prst="rect">
            <a:avLst/>
          </a:prstGeom>
          <a:solidFill>
            <a:srgbClr val="0D2243"/>
          </a:solidFill>
          <a:ln/>
        </p:spPr>
      </p:sp>
      <p:sp>
        <p:nvSpPr>
          <p:cNvPr id="9" name="Text 7"/>
          <p:cNvSpPr/>
          <p:nvPr/>
        </p:nvSpPr>
        <p:spPr>
          <a:xfrm>
            <a:off x="173736" y="1408176"/>
            <a:ext cx="155448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Chargeur</a:t>
            </a:r>
            <a:endParaRPr lang="en-US" sz="850" dirty="0"/>
          </a:p>
        </p:txBody>
      </p:sp>
      <p:sp>
        <p:nvSpPr>
          <p:cNvPr id="10" name="Text 8"/>
          <p:cNvSpPr/>
          <p:nvPr/>
        </p:nvSpPr>
        <p:spPr>
          <a:xfrm>
            <a:off x="1773936" y="1408176"/>
            <a:ext cx="15544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TEU</a:t>
            </a:r>
            <a:endParaRPr lang="en-US" sz="850" dirty="0"/>
          </a:p>
        </p:txBody>
      </p:sp>
      <p:sp>
        <p:nvSpPr>
          <p:cNvPr id="11" name="Text 9"/>
          <p:cNvSpPr/>
          <p:nvPr/>
        </p:nvSpPr>
        <p:spPr>
          <a:xfrm>
            <a:off x="3374136" y="1408176"/>
            <a:ext cx="15544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Filière</a:t>
            </a:r>
            <a:endParaRPr lang="en-US" sz="850" dirty="0"/>
          </a:p>
        </p:txBody>
      </p:sp>
      <p:sp>
        <p:nvSpPr>
          <p:cNvPr id="12" name="Text 10"/>
          <p:cNvSpPr/>
          <p:nvPr/>
        </p:nvSpPr>
        <p:spPr>
          <a:xfrm>
            <a:off x="4974336" y="1408176"/>
            <a:ext cx="15544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 Vol. AGL</a:t>
            </a:r>
            <a:endParaRPr lang="en-US" sz="850" dirty="0"/>
          </a:p>
        </p:txBody>
      </p:sp>
      <p:sp>
        <p:nvSpPr>
          <p:cNvPr id="13" name="Shape 11"/>
          <p:cNvSpPr/>
          <p:nvPr/>
        </p:nvSpPr>
        <p:spPr>
          <a:xfrm>
            <a:off x="137160" y="1627632"/>
            <a:ext cx="6400800" cy="256032"/>
          </a:xfrm>
          <a:prstGeom prst="rect">
            <a:avLst/>
          </a:prstGeom>
          <a:solidFill>
            <a:srgbClr val="FFF9EC"/>
          </a:solidFill>
          <a:ln w="3810">
            <a:solidFill>
              <a:srgbClr val="E5E7EB"/>
            </a:solidFill>
            <a:prstDash val="solid"/>
          </a:ln>
        </p:spPr>
      </p:sp>
      <p:sp>
        <p:nvSpPr>
          <p:cNvPr id="14" name="Text 12"/>
          <p:cNvSpPr/>
          <p:nvPr/>
        </p:nvSpPr>
        <p:spPr>
          <a:xfrm>
            <a:off x="173736" y="1664208"/>
            <a:ext cx="155448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CARGILL WEST AFRICA (CACAO)</a:t>
            </a:r>
            <a:endParaRPr lang="en-US" sz="850" dirty="0"/>
          </a:p>
        </p:txBody>
      </p:sp>
      <p:sp>
        <p:nvSpPr>
          <p:cNvPr id="15" name="Text 13"/>
          <p:cNvSpPr/>
          <p:nvPr/>
        </p:nvSpPr>
        <p:spPr>
          <a:xfrm>
            <a:off x="1773936" y="166420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3 219</a:t>
            </a:r>
            <a:endParaRPr lang="en-US" sz="850" dirty="0"/>
          </a:p>
        </p:txBody>
      </p:sp>
      <p:sp>
        <p:nvSpPr>
          <p:cNvPr id="16" name="Text 14"/>
          <p:cNvSpPr/>
          <p:nvPr/>
        </p:nvSpPr>
        <p:spPr>
          <a:xfrm>
            <a:off x="3374136" y="166420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Cacao</a:t>
            </a:r>
            <a:endParaRPr lang="en-US" sz="850" dirty="0"/>
          </a:p>
        </p:txBody>
      </p:sp>
      <p:sp>
        <p:nvSpPr>
          <p:cNvPr id="17" name="Text 15"/>
          <p:cNvSpPr/>
          <p:nvPr/>
        </p:nvSpPr>
        <p:spPr>
          <a:xfrm>
            <a:off x="4974336" y="1664208"/>
            <a:ext cx="155448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9,0%</a:t>
            </a:r>
            <a:endParaRPr lang="en-US" sz="850" dirty="0"/>
          </a:p>
        </p:txBody>
      </p:sp>
      <p:sp>
        <p:nvSpPr>
          <p:cNvPr id="18" name="Shape 16"/>
          <p:cNvSpPr/>
          <p:nvPr/>
        </p:nvSpPr>
        <p:spPr>
          <a:xfrm>
            <a:off x="137160" y="1883664"/>
            <a:ext cx="6400800" cy="256032"/>
          </a:xfrm>
          <a:prstGeom prst="rect">
            <a:avLst/>
          </a:prstGeom>
          <a:solidFill>
            <a:srgbClr val="F8F9FA"/>
          </a:solidFill>
          <a:ln w="3810">
            <a:solidFill>
              <a:srgbClr val="E5E7EB"/>
            </a:solidFill>
            <a:prstDash val="solid"/>
          </a:ln>
        </p:spPr>
      </p:sp>
      <p:sp>
        <p:nvSpPr>
          <p:cNvPr id="19" name="Text 17"/>
          <p:cNvSpPr/>
          <p:nvPr/>
        </p:nvSpPr>
        <p:spPr>
          <a:xfrm>
            <a:off x="173736" y="1920240"/>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JEAN EGLIN (PLANTATION)</a:t>
            </a:r>
            <a:endParaRPr lang="en-US" sz="850" dirty="0"/>
          </a:p>
        </p:txBody>
      </p:sp>
      <p:sp>
        <p:nvSpPr>
          <p:cNvPr id="20" name="Text 18"/>
          <p:cNvSpPr/>
          <p:nvPr/>
        </p:nvSpPr>
        <p:spPr>
          <a:xfrm>
            <a:off x="1773936" y="192024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2 500</a:t>
            </a:r>
            <a:endParaRPr lang="en-US" sz="850" dirty="0"/>
          </a:p>
        </p:txBody>
      </p:sp>
      <p:sp>
        <p:nvSpPr>
          <p:cNvPr id="21" name="Text 19"/>
          <p:cNvSpPr/>
          <p:nvPr/>
        </p:nvSpPr>
        <p:spPr>
          <a:xfrm>
            <a:off x="3374136" y="192024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Bananes</a:t>
            </a:r>
            <a:endParaRPr lang="en-US" sz="850" dirty="0"/>
          </a:p>
        </p:txBody>
      </p:sp>
      <p:sp>
        <p:nvSpPr>
          <p:cNvPr id="22" name="Text 20"/>
          <p:cNvSpPr/>
          <p:nvPr/>
        </p:nvSpPr>
        <p:spPr>
          <a:xfrm>
            <a:off x="4974336" y="192024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6,9%</a:t>
            </a:r>
            <a:endParaRPr lang="en-US" sz="850" dirty="0"/>
          </a:p>
        </p:txBody>
      </p:sp>
      <p:sp>
        <p:nvSpPr>
          <p:cNvPr id="23" name="Shape 21"/>
          <p:cNvSpPr/>
          <p:nvPr/>
        </p:nvSpPr>
        <p:spPr>
          <a:xfrm>
            <a:off x="137160" y="2139696"/>
            <a:ext cx="6400800" cy="256032"/>
          </a:xfrm>
          <a:prstGeom prst="rect">
            <a:avLst/>
          </a:prstGeom>
          <a:solidFill>
            <a:srgbClr val="FFFFFF"/>
          </a:solidFill>
          <a:ln w="3810">
            <a:solidFill>
              <a:srgbClr val="E5E7EB"/>
            </a:solidFill>
            <a:prstDash val="solid"/>
          </a:ln>
        </p:spPr>
      </p:sp>
      <p:sp>
        <p:nvSpPr>
          <p:cNvPr id="24" name="Text 22"/>
          <p:cNvSpPr/>
          <p:nvPr/>
        </p:nvSpPr>
        <p:spPr>
          <a:xfrm>
            <a:off x="173736" y="2176272"/>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AFRICA SOURCING PRODUCE CI</a:t>
            </a:r>
            <a:endParaRPr lang="en-US" sz="850" dirty="0"/>
          </a:p>
        </p:txBody>
      </p:sp>
      <p:sp>
        <p:nvSpPr>
          <p:cNvPr id="25" name="Text 23"/>
          <p:cNvSpPr/>
          <p:nvPr/>
        </p:nvSpPr>
        <p:spPr>
          <a:xfrm>
            <a:off x="1773936" y="217627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2 425</a:t>
            </a:r>
            <a:endParaRPr lang="en-US" sz="850" dirty="0"/>
          </a:p>
        </p:txBody>
      </p:sp>
      <p:sp>
        <p:nvSpPr>
          <p:cNvPr id="26" name="Text 24"/>
          <p:cNvSpPr/>
          <p:nvPr/>
        </p:nvSpPr>
        <p:spPr>
          <a:xfrm>
            <a:off x="3374136" y="217627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Bananes</a:t>
            </a:r>
            <a:endParaRPr lang="en-US" sz="850" dirty="0"/>
          </a:p>
        </p:txBody>
      </p:sp>
      <p:sp>
        <p:nvSpPr>
          <p:cNvPr id="27" name="Text 25"/>
          <p:cNvSpPr/>
          <p:nvPr/>
        </p:nvSpPr>
        <p:spPr>
          <a:xfrm>
            <a:off x="4974336" y="217627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6,7%</a:t>
            </a:r>
            <a:endParaRPr lang="en-US" sz="850" dirty="0"/>
          </a:p>
        </p:txBody>
      </p:sp>
      <p:sp>
        <p:nvSpPr>
          <p:cNvPr id="28" name="Shape 26"/>
          <p:cNvSpPr/>
          <p:nvPr/>
        </p:nvSpPr>
        <p:spPr>
          <a:xfrm>
            <a:off x="137160" y="2395728"/>
            <a:ext cx="6400800" cy="256032"/>
          </a:xfrm>
          <a:prstGeom prst="rect">
            <a:avLst/>
          </a:prstGeom>
          <a:solidFill>
            <a:srgbClr val="F8F9FA"/>
          </a:solidFill>
          <a:ln w="3810">
            <a:solidFill>
              <a:srgbClr val="E5E7EB"/>
            </a:solidFill>
            <a:prstDash val="solid"/>
          </a:ln>
        </p:spPr>
      </p:sp>
      <p:sp>
        <p:nvSpPr>
          <p:cNvPr id="29" name="Text 27"/>
          <p:cNvSpPr/>
          <p:nvPr/>
        </p:nvSpPr>
        <p:spPr>
          <a:xfrm>
            <a:off x="173736" y="2432304"/>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CARGILL COCOA SA (DÉRIVÉS)</a:t>
            </a:r>
            <a:endParaRPr lang="en-US" sz="850" dirty="0"/>
          </a:p>
        </p:txBody>
      </p:sp>
      <p:sp>
        <p:nvSpPr>
          <p:cNvPr id="30" name="Text 28"/>
          <p:cNvSpPr/>
          <p:nvPr/>
        </p:nvSpPr>
        <p:spPr>
          <a:xfrm>
            <a:off x="1773936" y="243230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2 264</a:t>
            </a:r>
            <a:endParaRPr lang="en-US" sz="850" dirty="0"/>
          </a:p>
        </p:txBody>
      </p:sp>
      <p:sp>
        <p:nvSpPr>
          <p:cNvPr id="31" name="Text 29"/>
          <p:cNvSpPr/>
          <p:nvPr/>
        </p:nvSpPr>
        <p:spPr>
          <a:xfrm>
            <a:off x="3374136" y="243230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Dérivés cacao</a:t>
            </a:r>
            <a:endParaRPr lang="en-US" sz="850" dirty="0"/>
          </a:p>
        </p:txBody>
      </p:sp>
      <p:sp>
        <p:nvSpPr>
          <p:cNvPr id="32" name="Text 30"/>
          <p:cNvSpPr/>
          <p:nvPr/>
        </p:nvSpPr>
        <p:spPr>
          <a:xfrm>
            <a:off x="4974336" y="243230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6,3%</a:t>
            </a:r>
            <a:endParaRPr lang="en-US" sz="850" dirty="0"/>
          </a:p>
        </p:txBody>
      </p:sp>
      <p:sp>
        <p:nvSpPr>
          <p:cNvPr id="33" name="Shape 31"/>
          <p:cNvSpPr/>
          <p:nvPr/>
        </p:nvSpPr>
        <p:spPr>
          <a:xfrm>
            <a:off x="137160" y="2651760"/>
            <a:ext cx="6400800" cy="256032"/>
          </a:xfrm>
          <a:prstGeom prst="rect">
            <a:avLst/>
          </a:prstGeom>
          <a:solidFill>
            <a:srgbClr val="FFFFFF"/>
          </a:solidFill>
          <a:ln w="3810">
            <a:solidFill>
              <a:srgbClr val="E5E7EB"/>
            </a:solidFill>
            <a:prstDash val="solid"/>
          </a:ln>
        </p:spPr>
      </p:sp>
      <p:sp>
        <p:nvSpPr>
          <p:cNvPr id="34" name="Text 32"/>
          <p:cNvSpPr/>
          <p:nvPr/>
        </p:nvSpPr>
        <p:spPr>
          <a:xfrm>
            <a:off x="173736" y="2688336"/>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CYRIAN INTERNATIONAL CI</a:t>
            </a:r>
            <a:endParaRPr lang="en-US" sz="850" dirty="0"/>
          </a:p>
        </p:txBody>
      </p:sp>
      <p:sp>
        <p:nvSpPr>
          <p:cNvPr id="35" name="Text 33"/>
          <p:cNvSpPr/>
          <p:nvPr/>
        </p:nvSpPr>
        <p:spPr>
          <a:xfrm>
            <a:off x="1773936" y="268833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2 191</a:t>
            </a:r>
            <a:endParaRPr lang="en-US" sz="850" dirty="0"/>
          </a:p>
        </p:txBody>
      </p:sp>
      <p:sp>
        <p:nvSpPr>
          <p:cNvPr id="36" name="Text 34"/>
          <p:cNvSpPr/>
          <p:nvPr/>
        </p:nvSpPr>
        <p:spPr>
          <a:xfrm>
            <a:off x="3374136" y="268833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Bananes</a:t>
            </a:r>
            <a:endParaRPr lang="en-US" sz="850" dirty="0"/>
          </a:p>
        </p:txBody>
      </p:sp>
      <p:sp>
        <p:nvSpPr>
          <p:cNvPr id="37" name="Text 35"/>
          <p:cNvSpPr/>
          <p:nvPr/>
        </p:nvSpPr>
        <p:spPr>
          <a:xfrm>
            <a:off x="4974336" y="268833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6,1%</a:t>
            </a:r>
            <a:endParaRPr lang="en-US" sz="850" dirty="0"/>
          </a:p>
        </p:txBody>
      </p:sp>
      <p:sp>
        <p:nvSpPr>
          <p:cNvPr id="38" name="Shape 36"/>
          <p:cNvSpPr/>
          <p:nvPr/>
        </p:nvSpPr>
        <p:spPr>
          <a:xfrm>
            <a:off x="137160" y="2907792"/>
            <a:ext cx="6400800" cy="256032"/>
          </a:xfrm>
          <a:prstGeom prst="rect">
            <a:avLst/>
          </a:prstGeom>
          <a:solidFill>
            <a:srgbClr val="F8F9FA"/>
          </a:solidFill>
          <a:ln w="3810">
            <a:solidFill>
              <a:srgbClr val="E5E7EB"/>
            </a:solidFill>
            <a:prstDash val="solid"/>
          </a:ln>
        </p:spPr>
      </p:sp>
      <p:sp>
        <p:nvSpPr>
          <p:cNvPr id="39" name="Text 37"/>
          <p:cNvSpPr/>
          <p:nvPr/>
        </p:nvSpPr>
        <p:spPr>
          <a:xfrm>
            <a:off x="173736" y="2944368"/>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OLAM COCOA PROCESSING</a:t>
            </a:r>
            <a:endParaRPr lang="en-US" sz="850" dirty="0"/>
          </a:p>
        </p:txBody>
      </p:sp>
      <p:sp>
        <p:nvSpPr>
          <p:cNvPr id="40" name="Text 38"/>
          <p:cNvSpPr/>
          <p:nvPr/>
        </p:nvSpPr>
        <p:spPr>
          <a:xfrm>
            <a:off x="1773936" y="294436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2 068</a:t>
            </a:r>
            <a:endParaRPr lang="en-US" sz="850" dirty="0"/>
          </a:p>
        </p:txBody>
      </p:sp>
      <p:sp>
        <p:nvSpPr>
          <p:cNvPr id="41" name="Text 39"/>
          <p:cNvSpPr/>
          <p:nvPr/>
        </p:nvSpPr>
        <p:spPr>
          <a:xfrm>
            <a:off x="3374136" y="294436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Cacao</a:t>
            </a:r>
            <a:endParaRPr lang="en-US" sz="850" dirty="0"/>
          </a:p>
        </p:txBody>
      </p:sp>
      <p:sp>
        <p:nvSpPr>
          <p:cNvPr id="42" name="Text 40"/>
          <p:cNvSpPr/>
          <p:nvPr/>
        </p:nvSpPr>
        <p:spPr>
          <a:xfrm>
            <a:off x="4974336" y="294436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5,7%</a:t>
            </a:r>
            <a:endParaRPr lang="en-US" sz="850" dirty="0"/>
          </a:p>
        </p:txBody>
      </p:sp>
      <p:sp>
        <p:nvSpPr>
          <p:cNvPr id="43" name="Shape 41"/>
          <p:cNvSpPr/>
          <p:nvPr/>
        </p:nvSpPr>
        <p:spPr>
          <a:xfrm>
            <a:off x="137160" y="3163824"/>
            <a:ext cx="6400800" cy="256032"/>
          </a:xfrm>
          <a:prstGeom prst="rect">
            <a:avLst/>
          </a:prstGeom>
          <a:solidFill>
            <a:srgbClr val="FFFFFF"/>
          </a:solidFill>
          <a:ln w="3810">
            <a:solidFill>
              <a:srgbClr val="E5E7EB"/>
            </a:solidFill>
            <a:prstDash val="solid"/>
          </a:ln>
        </p:spPr>
      </p:sp>
      <p:sp>
        <p:nvSpPr>
          <p:cNvPr id="44" name="Text 42"/>
          <p:cNvSpPr/>
          <p:nvPr/>
        </p:nvSpPr>
        <p:spPr>
          <a:xfrm>
            <a:off x="173736" y="3200400"/>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KINEDEN COMMODITIES SA CI</a:t>
            </a:r>
            <a:endParaRPr lang="en-US" sz="850" dirty="0"/>
          </a:p>
        </p:txBody>
      </p:sp>
      <p:sp>
        <p:nvSpPr>
          <p:cNvPr id="45" name="Text 43"/>
          <p:cNvSpPr/>
          <p:nvPr/>
        </p:nvSpPr>
        <p:spPr>
          <a:xfrm>
            <a:off x="1773936" y="320040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1 256</a:t>
            </a:r>
            <a:endParaRPr lang="en-US" sz="850" dirty="0"/>
          </a:p>
        </p:txBody>
      </p:sp>
      <p:sp>
        <p:nvSpPr>
          <p:cNvPr id="46" name="Text 44"/>
          <p:cNvSpPr/>
          <p:nvPr/>
        </p:nvSpPr>
        <p:spPr>
          <a:xfrm>
            <a:off x="3374136" y="320040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Cacao</a:t>
            </a:r>
            <a:endParaRPr lang="en-US" sz="850" dirty="0"/>
          </a:p>
        </p:txBody>
      </p:sp>
      <p:sp>
        <p:nvSpPr>
          <p:cNvPr id="47" name="Text 45"/>
          <p:cNvSpPr/>
          <p:nvPr/>
        </p:nvSpPr>
        <p:spPr>
          <a:xfrm>
            <a:off x="4974336" y="320040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3,5%</a:t>
            </a:r>
            <a:endParaRPr lang="en-US" sz="850" dirty="0"/>
          </a:p>
        </p:txBody>
      </p:sp>
      <p:sp>
        <p:nvSpPr>
          <p:cNvPr id="48" name="Shape 46"/>
          <p:cNvSpPr/>
          <p:nvPr/>
        </p:nvSpPr>
        <p:spPr>
          <a:xfrm>
            <a:off x="137160" y="3419856"/>
            <a:ext cx="6400800" cy="256032"/>
          </a:xfrm>
          <a:prstGeom prst="rect">
            <a:avLst/>
          </a:prstGeom>
          <a:solidFill>
            <a:srgbClr val="F8F9FA"/>
          </a:solidFill>
          <a:ln w="3810">
            <a:solidFill>
              <a:srgbClr val="E5E7EB"/>
            </a:solidFill>
            <a:prstDash val="solid"/>
          </a:ln>
        </p:spPr>
      </p:sp>
      <p:sp>
        <p:nvSpPr>
          <p:cNvPr id="49" name="Text 47"/>
          <p:cNvSpPr/>
          <p:nvPr/>
        </p:nvSpPr>
        <p:spPr>
          <a:xfrm>
            <a:off x="173736" y="3456432"/>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OLAM AGRI RUBBER</a:t>
            </a:r>
            <a:endParaRPr lang="en-US" sz="850" dirty="0"/>
          </a:p>
        </p:txBody>
      </p:sp>
      <p:sp>
        <p:nvSpPr>
          <p:cNvPr id="50" name="Text 48"/>
          <p:cNvSpPr/>
          <p:nvPr/>
        </p:nvSpPr>
        <p:spPr>
          <a:xfrm>
            <a:off x="1773936" y="345643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1 203</a:t>
            </a:r>
            <a:endParaRPr lang="en-US" sz="850" dirty="0"/>
          </a:p>
        </p:txBody>
      </p:sp>
      <p:sp>
        <p:nvSpPr>
          <p:cNvPr id="51" name="Text 49"/>
          <p:cNvSpPr/>
          <p:nvPr/>
        </p:nvSpPr>
        <p:spPr>
          <a:xfrm>
            <a:off x="3374136" y="345643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Caoutchouc</a:t>
            </a:r>
            <a:endParaRPr lang="en-US" sz="850" dirty="0"/>
          </a:p>
        </p:txBody>
      </p:sp>
      <p:sp>
        <p:nvSpPr>
          <p:cNvPr id="52" name="Text 50"/>
          <p:cNvSpPr/>
          <p:nvPr/>
        </p:nvSpPr>
        <p:spPr>
          <a:xfrm>
            <a:off x="4974336" y="345643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3,3%</a:t>
            </a:r>
            <a:endParaRPr lang="en-US" sz="850" dirty="0"/>
          </a:p>
        </p:txBody>
      </p:sp>
      <p:sp>
        <p:nvSpPr>
          <p:cNvPr id="53" name="Shape 51"/>
          <p:cNvSpPr/>
          <p:nvPr/>
        </p:nvSpPr>
        <p:spPr>
          <a:xfrm>
            <a:off x="137160" y="3675888"/>
            <a:ext cx="6400800" cy="256032"/>
          </a:xfrm>
          <a:prstGeom prst="rect">
            <a:avLst/>
          </a:prstGeom>
          <a:solidFill>
            <a:srgbClr val="FFFFFF"/>
          </a:solidFill>
          <a:ln w="3810">
            <a:solidFill>
              <a:srgbClr val="E5E7EB"/>
            </a:solidFill>
            <a:prstDash val="solid"/>
          </a:ln>
        </p:spPr>
      </p:sp>
      <p:sp>
        <p:nvSpPr>
          <p:cNvPr id="54" name="Text 52"/>
          <p:cNvSpPr/>
          <p:nvPr/>
        </p:nvSpPr>
        <p:spPr>
          <a:xfrm>
            <a:off x="173736" y="3712464"/>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SAPH</a:t>
            </a:r>
            <a:endParaRPr lang="en-US" sz="850" dirty="0"/>
          </a:p>
        </p:txBody>
      </p:sp>
      <p:sp>
        <p:nvSpPr>
          <p:cNvPr id="55" name="Text 53"/>
          <p:cNvSpPr/>
          <p:nvPr/>
        </p:nvSpPr>
        <p:spPr>
          <a:xfrm>
            <a:off x="1773936" y="371246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1 155</a:t>
            </a:r>
            <a:endParaRPr lang="en-US" sz="850" dirty="0"/>
          </a:p>
        </p:txBody>
      </p:sp>
      <p:sp>
        <p:nvSpPr>
          <p:cNvPr id="56" name="Text 54"/>
          <p:cNvSpPr/>
          <p:nvPr/>
        </p:nvSpPr>
        <p:spPr>
          <a:xfrm>
            <a:off x="3374136" y="371246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Caoutchouc</a:t>
            </a:r>
            <a:endParaRPr lang="en-US" sz="850" dirty="0"/>
          </a:p>
        </p:txBody>
      </p:sp>
      <p:sp>
        <p:nvSpPr>
          <p:cNvPr id="57" name="Text 55"/>
          <p:cNvSpPr/>
          <p:nvPr/>
        </p:nvSpPr>
        <p:spPr>
          <a:xfrm>
            <a:off x="4974336" y="371246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3,2%</a:t>
            </a:r>
            <a:endParaRPr lang="en-US" sz="850" dirty="0"/>
          </a:p>
        </p:txBody>
      </p:sp>
      <p:sp>
        <p:nvSpPr>
          <p:cNvPr id="58" name="Shape 56"/>
          <p:cNvSpPr/>
          <p:nvPr/>
        </p:nvSpPr>
        <p:spPr>
          <a:xfrm>
            <a:off x="137160" y="3931920"/>
            <a:ext cx="6400800" cy="256032"/>
          </a:xfrm>
          <a:prstGeom prst="rect">
            <a:avLst/>
          </a:prstGeom>
          <a:solidFill>
            <a:srgbClr val="F8F9FA"/>
          </a:solidFill>
          <a:ln w="3810">
            <a:solidFill>
              <a:srgbClr val="E5E7EB"/>
            </a:solidFill>
            <a:prstDash val="solid"/>
          </a:ln>
        </p:spPr>
      </p:sp>
      <p:sp>
        <p:nvSpPr>
          <p:cNvPr id="59" name="Text 57"/>
          <p:cNvSpPr/>
          <p:nvPr/>
        </p:nvSpPr>
        <p:spPr>
          <a:xfrm>
            <a:off x="173736" y="3968496"/>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IVOIRE COTON</a:t>
            </a:r>
            <a:endParaRPr lang="en-US" sz="850" dirty="0"/>
          </a:p>
        </p:txBody>
      </p:sp>
      <p:sp>
        <p:nvSpPr>
          <p:cNvPr id="60" name="Text 58"/>
          <p:cNvSpPr/>
          <p:nvPr/>
        </p:nvSpPr>
        <p:spPr>
          <a:xfrm>
            <a:off x="1773936" y="396849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1 092</a:t>
            </a:r>
            <a:endParaRPr lang="en-US" sz="850" dirty="0"/>
          </a:p>
        </p:txBody>
      </p:sp>
      <p:sp>
        <p:nvSpPr>
          <p:cNvPr id="61" name="Text 59"/>
          <p:cNvSpPr/>
          <p:nvPr/>
        </p:nvSpPr>
        <p:spPr>
          <a:xfrm>
            <a:off x="3374136" y="396849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Coton</a:t>
            </a:r>
            <a:endParaRPr lang="en-US" sz="850" dirty="0"/>
          </a:p>
        </p:txBody>
      </p:sp>
      <p:sp>
        <p:nvSpPr>
          <p:cNvPr id="62" name="Text 60"/>
          <p:cNvSpPr/>
          <p:nvPr/>
        </p:nvSpPr>
        <p:spPr>
          <a:xfrm>
            <a:off x="4974336" y="396849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3,0%</a:t>
            </a:r>
            <a:endParaRPr lang="en-US" sz="850" dirty="0"/>
          </a:p>
        </p:txBody>
      </p:sp>
      <p:sp>
        <p:nvSpPr>
          <p:cNvPr id="63" name="Shape 61"/>
          <p:cNvSpPr/>
          <p:nvPr/>
        </p:nvSpPr>
        <p:spPr>
          <a:xfrm>
            <a:off x="137160" y="4892040"/>
            <a:ext cx="6400800" cy="914400"/>
          </a:xfrm>
          <a:prstGeom prst="rect">
            <a:avLst/>
          </a:prstGeom>
          <a:solidFill>
            <a:srgbClr val="FFFBEC"/>
          </a:solidFill>
          <a:ln w="6350">
            <a:solidFill>
              <a:srgbClr val="E5C97A"/>
            </a:solidFill>
            <a:prstDash val="solid"/>
          </a:ln>
        </p:spPr>
      </p:sp>
      <p:sp>
        <p:nvSpPr>
          <p:cNvPr id="64" name="Text 62"/>
          <p:cNvSpPr/>
          <p:nvPr/>
        </p:nvSpPr>
        <p:spPr>
          <a:xfrm>
            <a:off x="228600" y="4965192"/>
            <a:ext cx="6217920" cy="8046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Cargill groupe (Cacao + Dérivés) = 15,3% du volume AGL TEM. Concentration filière cacao à surveiller.</a:t>
            </a:r>
            <a:endParaRPr lang="en-US" sz="900" dirty="0"/>
          </a:p>
          <a:p>
            <a:pPr indent="0" marL="0">
              <a:buNone/>
            </a:pPr>
            <a:r>
              <a:rPr lang="en-US" sz="900" dirty="0">
                <a:solidFill>
                  <a:srgbClr val="374151"/>
                </a:solidFill>
                <a:latin typeface="Calibri" pitchFamily="34" charset="0"/>
                <a:ea typeface="Calibri" pitchFamily="34" charset="-122"/>
                <a:cs typeface="Calibri" pitchFamily="34" charset="-120"/>
              </a:rPr>
              <a:t>✓ Bananes (74% PDM) : JEAN EGLIN, AFRICA SOURCING, CYRIAN = 3 chargeurs = 23,1% du volume. Fidélisation critique.</a:t>
            </a:r>
            <a:endParaRPr lang="en-US" sz="900" dirty="0"/>
          </a:p>
          <a:p>
            <a:pPr indent="0" marL="0">
              <a:buNone/>
            </a:pPr>
            <a:r>
              <a:rPr lang="en-US" sz="900" dirty="0">
                <a:solidFill>
                  <a:srgbClr val="374151"/>
                </a:solidFill>
                <a:latin typeface="Calibri" pitchFamily="34" charset="0"/>
                <a:ea typeface="Calibri" pitchFamily="34" charset="-122"/>
                <a:cs typeface="Calibri" pitchFamily="34" charset="-120"/>
              </a:rPr>
              <a:t>▶ Cajou (5,4% PDM, 13 129 TEU marché) : objectif +860 TEU via approche commerciale OUTSPAN CI, STE IVOIRIENNE NOIX.</a:t>
            </a:r>
            <a:endParaRPr lang="en-US" sz="900" dirty="0"/>
          </a:p>
        </p:txBody>
      </p:sp>
      <p:sp>
        <p:nvSpPr>
          <p:cNvPr id="65" name="Text 63"/>
          <p:cNvSpPr/>
          <p:nvPr/>
        </p:nvSpPr>
        <p:spPr>
          <a:xfrm>
            <a:off x="6675120" y="1097280"/>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Répartition AGL par filière export – TEM</a:t>
            </a:r>
            <a:endParaRPr lang="en-US" sz="1100" dirty="0"/>
          </a:p>
        </p:txBody>
      </p:sp>
      <p:graphicFrame>
        <p:nvGraphicFramePr>
          <p:cNvPr id="66" name="Chart 0" descr=""/>
          <p:cNvGraphicFramePr/>
          <p:nvPr/>
        </p:nvGraphicFramePr>
        <p:xfrm>
          <a:off x="6675120" y="1371600"/>
          <a:ext cx="5303520" cy="41148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TEM – NOUVEAUX CHARGEURS &amp; NOUVELLES FILIÈRES</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Chargeurs entrés en 2026  |  Nouvelles filières export AGL  |  Opportunité Cajou</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p.11</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Nouveaux chargeurs AGL – TEM 2026</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150876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Chargeur</a:t>
            </a:r>
            <a:endParaRPr lang="en-US" sz="850" dirty="0"/>
          </a:p>
        </p:txBody>
      </p:sp>
      <p:sp>
        <p:nvSpPr>
          <p:cNvPr id="10" name="Text 8"/>
          <p:cNvSpPr/>
          <p:nvPr/>
        </p:nvSpPr>
        <p:spPr>
          <a:xfrm>
            <a:off x="172821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TEU</a:t>
            </a:r>
            <a:endParaRPr lang="en-US" sz="850" dirty="0"/>
          </a:p>
        </p:txBody>
      </p:sp>
      <p:sp>
        <p:nvSpPr>
          <p:cNvPr id="11" name="Text 9"/>
          <p:cNvSpPr/>
          <p:nvPr/>
        </p:nvSpPr>
        <p:spPr>
          <a:xfrm>
            <a:off x="328269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Filière</a:t>
            </a:r>
            <a:endParaRPr lang="en-US" sz="850" dirty="0"/>
          </a:p>
        </p:txBody>
      </p:sp>
      <p:sp>
        <p:nvSpPr>
          <p:cNvPr id="12" name="Text 10"/>
          <p:cNvSpPr/>
          <p:nvPr/>
        </p:nvSpPr>
        <p:spPr>
          <a:xfrm>
            <a:off x="483717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Entrée</a:t>
            </a:r>
            <a:endParaRPr lang="en-US" sz="850" dirty="0"/>
          </a:p>
        </p:txBody>
      </p:sp>
      <p:sp>
        <p:nvSpPr>
          <p:cNvPr id="13" name="Shape 11"/>
          <p:cNvSpPr/>
          <p:nvPr/>
        </p:nvSpPr>
        <p:spPr>
          <a:xfrm>
            <a:off x="137160" y="1627632"/>
            <a:ext cx="6217920" cy="256032"/>
          </a:xfrm>
          <a:prstGeom prst="rect">
            <a:avLst/>
          </a:prstGeom>
          <a:solidFill>
            <a:srgbClr val="FFF9EC"/>
          </a:solidFill>
          <a:ln w="3810">
            <a:solidFill>
              <a:srgbClr val="E5E7EB"/>
            </a:solidFill>
            <a:prstDash val="solid"/>
          </a:ln>
        </p:spPr>
      </p:sp>
      <p:sp>
        <p:nvSpPr>
          <p:cNvPr id="14" name="Text 12"/>
          <p:cNvSpPr/>
          <p:nvPr/>
        </p:nvSpPr>
        <p:spPr>
          <a:xfrm>
            <a:off x="173736" y="1664208"/>
            <a:ext cx="150876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CI-ÉNERGIES</a:t>
            </a:r>
            <a:endParaRPr lang="en-US" sz="850" dirty="0"/>
          </a:p>
        </p:txBody>
      </p:sp>
      <p:sp>
        <p:nvSpPr>
          <p:cNvPr id="15" name="Text 13"/>
          <p:cNvSpPr/>
          <p:nvPr/>
        </p:nvSpPr>
        <p:spPr>
          <a:xfrm>
            <a:off x="1728216" y="166420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890</a:t>
            </a:r>
            <a:endParaRPr lang="en-US" sz="850" dirty="0"/>
          </a:p>
        </p:txBody>
      </p:sp>
      <p:sp>
        <p:nvSpPr>
          <p:cNvPr id="16" name="Text 14"/>
          <p:cNvSpPr/>
          <p:nvPr/>
        </p:nvSpPr>
        <p:spPr>
          <a:xfrm>
            <a:off x="3282696" y="166420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Caoutchouc</a:t>
            </a:r>
            <a:endParaRPr lang="en-US" sz="850" dirty="0"/>
          </a:p>
        </p:txBody>
      </p:sp>
      <p:sp>
        <p:nvSpPr>
          <p:cNvPr id="17" name="Text 15"/>
          <p:cNvSpPr/>
          <p:nvPr/>
        </p:nvSpPr>
        <p:spPr>
          <a:xfrm>
            <a:off x="4837176" y="1664208"/>
            <a:ext cx="150876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Q1 2026</a:t>
            </a:r>
            <a:endParaRPr lang="en-US" sz="85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SITA GROUP</a:t>
            </a:r>
            <a:endParaRPr lang="en-US" sz="850" dirty="0"/>
          </a:p>
        </p:txBody>
      </p:sp>
      <p:sp>
        <p:nvSpPr>
          <p:cNvPr id="20" name="Text 18"/>
          <p:cNvSpPr/>
          <p:nvPr/>
        </p:nvSpPr>
        <p:spPr>
          <a:xfrm>
            <a:off x="172821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760</a:t>
            </a:r>
            <a:endParaRPr lang="en-US" sz="850" dirty="0"/>
          </a:p>
        </p:txBody>
      </p:sp>
      <p:sp>
        <p:nvSpPr>
          <p:cNvPr id="21" name="Text 19"/>
          <p:cNvSpPr/>
          <p:nvPr/>
        </p:nvSpPr>
        <p:spPr>
          <a:xfrm>
            <a:off x="328269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Mangue / Fruits</a:t>
            </a:r>
            <a:endParaRPr lang="en-US" sz="850" dirty="0"/>
          </a:p>
        </p:txBody>
      </p:sp>
      <p:sp>
        <p:nvSpPr>
          <p:cNvPr id="22" name="Text 20"/>
          <p:cNvSpPr/>
          <p:nvPr/>
        </p:nvSpPr>
        <p:spPr>
          <a:xfrm>
            <a:off x="483717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Q1 2026</a:t>
            </a:r>
            <a:endParaRPr lang="en-US" sz="850" dirty="0"/>
          </a:p>
        </p:txBody>
      </p:sp>
      <p:sp>
        <p:nvSpPr>
          <p:cNvPr id="23" name="Shape 21"/>
          <p:cNvSpPr/>
          <p:nvPr/>
        </p:nvSpPr>
        <p:spPr>
          <a:xfrm>
            <a:off x="137160" y="2139696"/>
            <a:ext cx="6217920" cy="256032"/>
          </a:xfrm>
          <a:prstGeom prst="rect">
            <a:avLst/>
          </a:prstGeom>
          <a:solidFill>
            <a:srgbClr val="FFFFFF"/>
          </a:solidFill>
          <a:ln w="3810">
            <a:solidFill>
              <a:srgbClr val="E5E7EB"/>
            </a:solidFill>
            <a:prstDash val="solid"/>
          </a:ln>
        </p:spPr>
      </p:sp>
      <p:sp>
        <p:nvSpPr>
          <p:cNvPr id="24" name="Text 22"/>
          <p:cNvSpPr/>
          <p:nvPr/>
        </p:nvSpPr>
        <p:spPr>
          <a:xfrm>
            <a:off x="173736" y="2176272"/>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COOPERX CAJOU CI</a:t>
            </a:r>
            <a:endParaRPr lang="en-US" sz="850" dirty="0"/>
          </a:p>
        </p:txBody>
      </p:sp>
      <p:sp>
        <p:nvSpPr>
          <p:cNvPr id="25" name="Text 23"/>
          <p:cNvSpPr/>
          <p:nvPr/>
        </p:nvSpPr>
        <p:spPr>
          <a:xfrm>
            <a:off x="1728216" y="21762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640</a:t>
            </a:r>
            <a:endParaRPr lang="en-US" sz="850" dirty="0"/>
          </a:p>
        </p:txBody>
      </p:sp>
      <p:sp>
        <p:nvSpPr>
          <p:cNvPr id="26" name="Text 24"/>
          <p:cNvSpPr/>
          <p:nvPr/>
        </p:nvSpPr>
        <p:spPr>
          <a:xfrm>
            <a:off x="3282696" y="21762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Noix de Cajou</a:t>
            </a:r>
            <a:endParaRPr lang="en-US" sz="850" dirty="0"/>
          </a:p>
        </p:txBody>
      </p:sp>
      <p:sp>
        <p:nvSpPr>
          <p:cNvPr id="27" name="Text 25"/>
          <p:cNvSpPr/>
          <p:nvPr/>
        </p:nvSpPr>
        <p:spPr>
          <a:xfrm>
            <a:off x="4837176" y="21762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Q2 2026</a:t>
            </a:r>
            <a:endParaRPr lang="en-US" sz="85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SECO INDUSTRIE</a:t>
            </a:r>
            <a:endParaRPr lang="en-US" sz="850" dirty="0"/>
          </a:p>
        </p:txBody>
      </p:sp>
      <p:sp>
        <p:nvSpPr>
          <p:cNvPr id="30" name="Text 28"/>
          <p:cNvSpPr/>
          <p:nvPr/>
        </p:nvSpPr>
        <p:spPr>
          <a:xfrm>
            <a:off x="1728216" y="24323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520</a:t>
            </a:r>
            <a:endParaRPr lang="en-US" sz="850" dirty="0"/>
          </a:p>
        </p:txBody>
      </p:sp>
      <p:sp>
        <p:nvSpPr>
          <p:cNvPr id="31" name="Text 29"/>
          <p:cNvSpPr/>
          <p:nvPr/>
        </p:nvSpPr>
        <p:spPr>
          <a:xfrm>
            <a:off x="3282696" y="24323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Caoutchouc usiné</a:t>
            </a:r>
            <a:endParaRPr lang="en-US" sz="850" dirty="0"/>
          </a:p>
        </p:txBody>
      </p:sp>
      <p:sp>
        <p:nvSpPr>
          <p:cNvPr id="32" name="Text 30"/>
          <p:cNvSpPr/>
          <p:nvPr/>
        </p:nvSpPr>
        <p:spPr>
          <a:xfrm>
            <a:off x="4837176" y="24323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Q2 2026</a:t>
            </a:r>
            <a:endParaRPr lang="en-US" sz="85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OLAM PALM</a:t>
            </a:r>
            <a:endParaRPr lang="en-US" sz="850" dirty="0"/>
          </a:p>
        </p:txBody>
      </p:sp>
      <p:sp>
        <p:nvSpPr>
          <p:cNvPr id="35" name="Text 33"/>
          <p:cNvSpPr/>
          <p:nvPr/>
        </p:nvSpPr>
        <p:spPr>
          <a:xfrm>
            <a:off x="1728216" y="268833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410</a:t>
            </a:r>
            <a:endParaRPr lang="en-US" sz="850" dirty="0"/>
          </a:p>
        </p:txBody>
      </p:sp>
      <p:sp>
        <p:nvSpPr>
          <p:cNvPr id="36" name="Text 34"/>
          <p:cNvSpPr/>
          <p:nvPr/>
        </p:nvSpPr>
        <p:spPr>
          <a:xfrm>
            <a:off x="3282696" y="268833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Huile de Palme</a:t>
            </a:r>
            <a:endParaRPr lang="en-US" sz="850" dirty="0"/>
          </a:p>
        </p:txBody>
      </p:sp>
      <p:sp>
        <p:nvSpPr>
          <p:cNvPr id="37" name="Text 35"/>
          <p:cNvSpPr/>
          <p:nvPr/>
        </p:nvSpPr>
        <p:spPr>
          <a:xfrm>
            <a:off x="4837176" y="268833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Q1 2026</a:t>
            </a:r>
            <a:endParaRPr lang="en-US" sz="850" dirty="0"/>
          </a:p>
        </p:txBody>
      </p:sp>
      <p:sp>
        <p:nvSpPr>
          <p:cNvPr id="38" name="Text 36"/>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Nouvelles filières export – PDM AGL</a:t>
            </a:r>
            <a:endParaRPr lang="en-US" sz="1100" dirty="0"/>
          </a:p>
        </p:txBody>
      </p:sp>
      <p:sp>
        <p:nvSpPr>
          <p:cNvPr id="39" name="Text 37"/>
          <p:cNvSpPr/>
          <p:nvPr/>
        </p:nvSpPr>
        <p:spPr>
          <a:xfrm>
            <a:off x="6492240" y="138988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HUILE DE PALME</a:t>
            </a:r>
            <a:endParaRPr lang="en-US" sz="850" dirty="0"/>
          </a:p>
        </p:txBody>
      </p:sp>
      <p:sp>
        <p:nvSpPr>
          <p:cNvPr id="40" name="Text 38"/>
          <p:cNvSpPr/>
          <p:nvPr/>
        </p:nvSpPr>
        <p:spPr>
          <a:xfrm>
            <a:off x="8156448" y="138988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1 420 TEU</a:t>
            </a:r>
            <a:endParaRPr lang="en-US" sz="850" dirty="0"/>
          </a:p>
        </p:txBody>
      </p:sp>
      <p:sp>
        <p:nvSpPr>
          <p:cNvPr id="41" name="Shape 39"/>
          <p:cNvSpPr/>
          <p:nvPr/>
        </p:nvSpPr>
        <p:spPr>
          <a:xfrm>
            <a:off x="9052560" y="1426464"/>
            <a:ext cx="2743200" cy="164592"/>
          </a:xfrm>
          <a:prstGeom prst="rect">
            <a:avLst/>
          </a:prstGeom>
          <a:solidFill>
            <a:srgbClr val="E5E7EB"/>
          </a:solidFill>
          <a:ln/>
        </p:spPr>
      </p:sp>
      <p:sp>
        <p:nvSpPr>
          <p:cNvPr id="42" name="Shape 40"/>
          <p:cNvSpPr/>
          <p:nvPr/>
        </p:nvSpPr>
        <p:spPr>
          <a:xfrm>
            <a:off x="9052560" y="1426464"/>
            <a:ext cx="219456" cy="164592"/>
          </a:xfrm>
          <a:prstGeom prst="rect">
            <a:avLst/>
          </a:prstGeom>
          <a:solidFill>
            <a:srgbClr val="CC2200"/>
          </a:solidFill>
          <a:ln/>
        </p:spPr>
      </p:sp>
      <p:sp>
        <p:nvSpPr>
          <p:cNvPr id="43" name="Text 41"/>
          <p:cNvSpPr/>
          <p:nvPr/>
        </p:nvSpPr>
        <p:spPr>
          <a:xfrm>
            <a:off x="11841480" y="1389888"/>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8%</a:t>
            </a:r>
            <a:endParaRPr lang="en-US" sz="900" dirty="0"/>
          </a:p>
        </p:txBody>
      </p:sp>
      <p:sp>
        <p:nvSpPr>
          <p:cNvPr id="44" name="Text 42"/>
          <p:cNvSpPr/>
          <p:nvPr/>
        </p:nvSpPr>
        <p:spPr>
          <a:xfrm>
            <a:off x="6492240" y="177393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COLA</a:t>
            </a:r>
            <a:endParaRPr lang="en-US" sz="850" dirty="0"/>
          </a:p>
        </p:txBody>
      </p:sp>
      <p:sp>
        <p:nvSpPr>
          <p:cNvPr id="45" name="Text 43"/>
          <p:cNvSpPr/>
          <p:nvPr/>
        </p:nvSpPr>
        <p:spPr>
          <a:xfrm>
            <a:off x="8156448" y="177393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980 TEU</a:t>
            </a:r>
            <a:endParaRPr lang="en-US" sz="850" dirty="0"/>
          </a:p>
        </p:txBody>
      </p:sp>
      <p:sp>
        <p:nvSpPr>
          <p:cNvPr id="46" name="Shape 44"/>
          <p:cNvSpPr/>
          <p:nvPr/>
        </p:nvSpPr>
        <p:spPr>
          <a:xfrm>
            <a:off x="9052560" y="1810512"/>
            <a:ext cx="2743200" cy="164592"/>
          </a:xfrm>
          <a:prstGeom prst="rect">
            <a:avLst/>
          </a:prstGeom>
          <a:solidFill>
            <a:srgbClr val="E5E7EB"/>
          </a:solidFill>
          <a:ln/>
        </p:spPr>
      </p:sp>
      <p:sp>
        <p:nvSpPr>
          <p:cNvPr id="47" name="Shape 45"/>
          <p:cNvSpPr/>
          <p:nvPr/>
        </p:nvSpPr>
        <p:spPr>
          <a:xfrm>
            <a:off x="9052560" y="1810512"/>
            <a:ext cx="329184" cy="164592"/>
          </a:xfrm>
          <a:prstGeom prst="rect">
            <a:avLst/>
          </a:prstGeom>
          <a:solidFill>
            <a:srgbClr val="E05A00"/>
          </a:solidFill>
          <a:ln/>
        </p:spPr>
      </p:sp>
      <p:sp>
        <p:nvSpPr>
          <p:cNvPr id="48" name="Text 46"/>
          <p:cNvSpPr/>
          <p:nvPr/>
        </p:nvSpPr>
        <p:spPr>
          <a:xfrm>
            <a:off x="11841480" y="1773936"/>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Text 1"/>
          <p:cNvSpPr/>
          <p:nvPr/>
        </p:nvSpPr>
        <p:spPr>
          <a:xfrm>
            <a:off x="3200400" y="457200"/>
            <a:ext cx="5486400" cy="3657600"/>
          </a:xfrm>
          <a:prstGeom prst="rect">
            <a:avLst/>
          </a:prstGeom>
          <a:noFill/>
          <a:ln/>
        </p:spPr>
        <p:txBody>
          <a:bodyPr wrap="square" rtlCol="0" anchor="ctr"/>
          <a:lstStyle/>
          <a:p>
            <a:pPr algn="ctr" indent="0" marL="0">
              <a:buNone/>
            </a:pPr>
            <a:r>
              <a:rPr lang="en-US" sz="20000" b="1" dirty="0">
                <a:solidFill>
                  <a:srgbClr val="1A2E4A"/>
                </a:solidFill>
                <a:latin typeface="Calibri" pitchFamily="34" charset="0"/>
                <a:ea typeface="Calibri" pitchFamily="34" charset="-122"/>
                <a:cs typeface="Calibri" pitchFamily="34" charset="-120"/>
              </a:rPr>
              <a:t>03</a:t>
            </a:r>
            <a:endParaRPr lang="en-US" sz="20000" dirty="0"/>
          </a:p>
        </p:txBody>
      </p:sp>
      <p:sp>
        <p:nvSpPr>
          <p:cNvPr id="4" name="Shape 2"/>
          <p:cNvSpPr/>
          <p:nvPr/>
        </p:nvSpPr>
        <p:spPr>
          <a:xfrm>
            <a:off x="1097280" y="3520440"/>
            <a:ext cx="7498080" cy="59436"/>
          </a:xfrm>
          <a:prstGeom prst="rect">
            <a:avLst/>
          </a:prstGeom>
          <a:solidFill>
            <a:srgbClr val="C9A84C"/>
          </a:solidFill>
          <a:ln/>
        </p:spPr>
      </p:sp>
      <p:sp>
        <p:nvSpPr>
          <p:cNvPr id="5" name="Text 3"/>
          <p:cNvSpPr/>
          <p:nvPr/>
        </p:nvSpPr>
        <p:spPr>
          <a:xfrm>
            <a:off x="365760" y="2651760"/>
            <a:ext cx="11430000" cy="91440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HINTERLAND IMPORT MARITIME</a:t>
            </a:r>
            <a:endParaRPr lang="en-US" sz="3800" dirty="0"/>
          </a:p>
        </p:txBody>
      </p:sp>
      <p:sp>
        <p:nvSpPr>
          <p:cNvPr id="6" name="Text 4"/>
          <p:cNvSpPr/>
          <p:nvPr/>
        </p:nvSpPr>
        <p:spPr>
          <a:xfrm>
            <a:off x="365760" y="3657600"/>
            <a:ext cx="11430000" cy="457200"/>
          </a:xfrm>
          <a:prstGeom prst="rect">
            <a:avLst/>
          </a:prstGeom>
          <a:noFill/>
          <a:ln/>
        </p:spPr>
        <p:txBody>
          <a:bodyPr wrap="square" rtlCol="0" anchor="ctr"/>
          <a:lstStyle/>
          <a:p>
            <a:pPr algn="ctr" indent="0" marL="0">
              <a:buNone/>
            </a:pPr>
            <a:r>
              <a:rPr lang="en-US" sz="1600" i="1" dirty="0">
                <a:solidFill>
                  <a:srgbClr val="C9A84C"/>
                </a:solidFill>
                <a:latin typeface="Calibri" pitchFamily="34" charset="0"/>
                <a:ea typeface="Calibri" pitchFamily="34" charset="-122"/>
                <a:cs typeface="Calibri" pitchFamily="34" charset="-120"/>
              </a:rPr>
              <a:t>28 457 TEU qualifiés  |  AGL #3 – PDM 11,3%  |  Objectif : rang #2</a:t>
            </a:r>
            <a:endParaRPr lang="en-US" sz="1600" dirty="0"/>
          </a:p>
        </p:txBody>
      </p:sp>
      <p:sp>
        <p:nvSpPr>
          <p:cNvPr id="7" name="Text 5"/>
          <p:cNvSpPr/>
          <p:nvPr/>
        </p:nvSpPr>
        <p:spPr>
          <a:xfrm>
            <a:off x="1828800" y="6492240"/>
            <a:ext cx="8229600" cy="25603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a:t>
            </a:r>
            <a:endParaRPr lang="en-US" sz="900" dirty="0"/>
          </a:p>
        </p:txBody>
      </p:sp>
      <p:sp>
        <p:nvSpPr>
          <p:cNvPr id="8" name="Text 6"/>
          <p:cNvSpPr/>
          <p:nvPr/>
        </p:nvSpPr>
        <p:spPr>
          <a:xfrm>
            <a:off x="11430000" y="6473952"/>
            <a:ext cx="640080" cy="292608"/>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HINTERLAND IMPORT – VUE D'ENSEMBLE  |  Jan–Mai 2026</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Marché qualifié : 28 457 TEU  |  AGL : 3 214 TEU  |  PDM : 11,3%  |  Rang : #3</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p.12</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Shape 5"/>
          <p:cNvSpPr/>
          <p:nvPr/>
        </p:nvSpPr>
        <p:spPr>
          <a:xfrm>
            <a:off x="137160" y="1097280"/>
            <a:ext cx="2291486" cy="868680"/>
          </a:xfrm>
          <a:prstGeom prst="rect">
            <a:avLst/>
          </a:prstGeom>
          <a:solidFill>
            <a:srgbClr val="F0F2F5"/>
          </a:solidFill>
          <a:ln w="6350">
            <a:solidFill>
              <a:srgbClr val="D1D5DB"/>
            </a:solidFill>
            <a:prstDash val="solid"/>
          </a:ln>
        </p:spPr>
      </p:sp>
      <p:sp>
        <p:nvSpPr>
          <p:cNvPr id="8" name="Text 6"/>
          <p:cNvSpPr/>
          <p:nvPr/>
        </p:nvSpPr>
        <p:spPr>
          <a:xfrm>
            <a:off x="137160"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MARCHÉ QUALIFIÉ</a:t>
            </a:r>
            <a:endParaRPr lang="en-US" sz="800" dirty="0"/>
          </a:p>
        </p:txBody>
      </p:sp>
      <p:sp>
        <p:nvSpPr>
          <p:cNvPr id="9" name="Text 7"/>
          <p:cNvSpPr/>
          <p:nvPr/>
        </p:nvSpPr>
        <p:spPr>
          <a:xfrm>
            <a:off x="137160"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28 457</a:t>
            </a:r>
            <a:endParaRPr lang="en-US" sz="2200" dirty="0"/>
          </a:p>
        </p:txBody>
      </p:sp>
      <p:sp>
        <p:nvSpPr>
          <p:cNvPr id="10" name="Text 8"/>
          <p:cNvSpPr/>
          <p:nvPr/>
        </p:nvSpPr>
        <p:spPr>
          <a:xfrm>
            <a:off x="137160"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a:t>
            </a:r>
            <a:endParaRPr lang="en-US" sz="850" dirty="0"/>
          </a:p>
        </p:txBody>
      </p:sp>
      <p:sp>
        <p:nvSpPr>
          <p:cNvPr id="11" name="Shape 9"/>
          <p:cNvSpPr/>
          <p:nvPr/>
        </p:nvSpPr>
        <p:spPr>
          <a:xfrm>
            <a:off x="2520086" y="1097280"/>
            <a:ext cx="2291486" cy="868680"/>
          </a:xfrm>
          <a:prstGeom prst="rect">
            <a:avLst/>
          </a:prstGeom>
          <a:solidFill>
            <a:srgbClr val="F0F2F5"/>
          </a:solidFill>
          <a:ln w="6350">
            <a:solidFill>
              <a:srgbClr val="D1D5DB"/>
            </a:solidFill>
            <a:prstDash val="solid"/>
          </a:ln>
        </p:spPr>
      </p:sp>
      <p:sp>
        <p:nvSpPr>
          <p:cNvPr id="12" name="Text 10"/>
          <p:cNvSpPr/>
          <p:nvPr/>
        </p:nvSpPr>
        <p:spPr>
          <a:xfrm>
            <a:off x="252008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VOLUME AGL</a:t>
            </a:r>
            <a:endParaRPr lang="en-US" sz="800" dirty="0"/>
          </a:p>
        </p:txBody>
      </p:sp>
      <p:sp>
        <p:nvSpPr>
          <p:cNvPr id="13" name="Text 11"/>
          <p:cNvSpPr/>
          <p:nvPr/>
        </p:nvSpPr>
        <p:spPr>
          <a:xfrm>
            <a:off x="2520086"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3 214</a:t>
            </a:r>
            <a:endParaRPr lang="en-US" sz="2200" dirty="0"/>
          </a:p>
        </p:txBody>
      </p:sp>
      <p:sp>
        <p:nvSpPr>
          <p:cNvPr id="14" name="Text 12"/>
          <p:cNvSpPr/>
          <p:nvPr/>
        </p:nvSpPr>
        <p:spPr>
          <a:xfrm>
            <a:off x="252008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a:t>
            </a:r>
            <a:endParaRPr lang="en-US" sz="850" dirty="0"/>
          </a:p>
        </p:txBody>
      </p:sp>
      <p:sp>
        <p:nvSpPr>
          <p:cNvPr id="15" name="Shape 13"/>
          <p:cNvSpPr/>
          <p:nvPr/>
        </p:nvSpPr>
        <p:spPr>
          <a:xfrm>
            <a:off x="4903013" y="1097280"/>
            <a:ext cx="2291486" cy="868680"/>
          </a:xfrm>
          <a:prstGeom prst="rect">
            <a:avLst/>
          </a:prstGeom>
          <a:solidFill>
            <a:srgbClr val="F0F2F5"/>
          </a:solidFill>
          <a:ln w="6350">
            <a:solidFill>
              <a:srgbClr val="D1D5DB"/>
            </a:solidFill>
            <a:prstDash val="solid"/>
          </a:ln>
        </p:spPr>
      </p:sp>
      <p:sp>
        <p:nvSpPr>
          <p:cNvPr id="16" name="Text 14"/>
          <p:cNvSpPr/>
          <p:nvPr/>
        </p:nvSpPr>
        <p:spPr>
          <a:xfrm>
            <a:off x="4903013"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AGL</a:t>
            </a:r>
            <a:endParaRPr lang="en-US" sz="800" dirty="0"/>
          </a:p>
        </p:txBody>
      </p:sp>
      <p:sp>
        <p:nvSpPr>
          <p:cNvPr id="17" name="Text 15"/>
          <p:cNvSpPr/>
          <p:nvPr/>
        </p:nvSpPr>
        <p:spPr>
          <a:xfrm>
            <a:off x="4903013" y="1316736"/>
            <a:ext cx="2291486" cy="384048"/>
          </a:xfrm>
          <a:prstGeom prst="rect">
            <a:avLst/>
          </a:prstGeom>
          <a:noFill/>
          <a:ln/>
        </p:spPr>
        <p:txBody>
          <a:bodyPr wrap="square" rtlCol="0" anchor="ctr"/>
          <a:lstStyle/>
          <a:p>
            <a:pPr algn="ctr" indent="0" marL="0">
              <a:buNone/>
            </a:pPr>
            <a:r>
              <a:rPr lang="en-US" sz="2600" b="1" dirty="0">
                <a:solidFill>
                  <a:srgbClr val="E05A00"/>
                </a:solidFill>
                <a:latin typeface="Calibri" pitchFamily="34" charset="0"/>
                <a:ea typeface="Calibri" pitchFamily="34" charset="-122"/>
                <a:cs typeface="Calibri" pitchFamily="34" charset="-120"/>
              </a:rPr>
              <a:t>11,3 %</a:t>
            </a:r>
            <a:endParaRPr lang="en-US" sz="2600" dirty="0"/>
          </a:p>
        </p:txBody>
      </p:sp>
      <p:sp>
        <p:nvSpPr>
          <p:cNvPr id="18" name="Text 16"/>
          <p:cNvSpPr/>
          <p:nvPr/>
        </p:nvSpPr>
        <p:spPr>
          <a:xfrm>
            <a:off x="4903013"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#3 – Progression vs brut</a:t>
            </a:r>
            <a:endParaRPr lang="en-US" sz="850" dirty="0"/>
          </a:p>
        </p:txBody>
      </p:sp>
      <p:sp>
        <p:nvSpPr>
          <p:cNvPr id="19" name="Shape 17"/>
          <p:cNvSpPr/>
          <p:nvPr/>
        </p:nvSpPr>
        <p:spPr>
          <a:xfrm>
            <a:off x="7285939" y="1097280"/>
            <a:ext cx="2291486" cy="868680"/>
          </a:xfrm>
          <a:prstGeom prst="rect">
            <a:avLst/>
          </a:prstGeom>
          <a:solidFill>
            <a:srgbClr val="F0F2F5"/>
          </a:solidFill>
          <a:ln w="6350">
            <a:solidFill>
              <a:srgbClr val="D1D5DB"/>
            </a:solidFill>
            <a:prstDash val="solid"/>
          </a:ln>
        </p:spPr>
      </p:sp>
      <p:sp>
        <p:nvSpPr>
          <p:cNvPr id="20" name="Text 18"/>
          <p:cNvSpPr/>
          <p:nvPr/>
        </p:nvSpPr>
        <p:spPr>
          <a:xfrm>
            <a:off x="7285939"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LEADER UCT</a:t>
            </a:r>
            <a:endParaRPr lang="en-US" sz="800" dirty="0"/>
          </a:p>
        </p:txBody>
      </p:sp>
      <p:sp>
        <p:nvSpPr>
          <p:cNvPr id="21" name="Text 19"/>
          <p:cNvSpPr/>
          <p:nvPr/>
        </p:nvSpPr>
        <p:spPr>
          <a:xfrm>
            <a:off x="7285939" y="1316736"/>
            <a:ext cx="2291486" cy="384048"/>
          </a:xfrm>
          <a:prstGeom prst="rect">
            <a:avLst/>
          </a:prstGeom>
          <a:noFill/>
          <a:ln/>
        </p:spPr>
        <p:txBody>
          <a:bodyPr wrap="square" rtlCol="0" anchor="ctr"/>
          <a:lstStyle/>
          <a:p>
            <a:pPr algn="ctr" indent="0" marL="0">
              <a:buNone/>
            </a:pPr>
            <a:r>
              <a:rPr lang="en-US" sz="2200" b="1" dirty="0">
                <a:solidFill>
                  <a:srgbClr val="CC2200"/>
                </a:solidFill>
                <a:latin typeface="Calibri" pitchFamily="34" charset="0"/>
                <a:ea typeface="Calibri" pitchFamily="34" charset="-122"/>
                <a:cs typeface="Calibri" pitchFamily="34" charset="-120"/>
              </a:rPr>
              <a:t>26,6 %</a:t>
            </a:r>
            <a:endParaRPr lang="en-US" sz="2200" dirty="0"/>
          </a:p>
        </p:txBody>
      </p:sp>
      <p:sp>
        <p:nvSpPr>
          <p:cNvPr id="22" name="Text 20"/>
          <p:cNvSpPr/>
          <p:nvPr/>
        </p:nvSpPr>
        <p:spPr>
          <a:xfrm>
            <a:off x="7285939"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7 559 TEU – Écart ×2,4</a:t>
            </a:r>
            <a:endParaRPr lang="en-US" sz="850" dirty="0"/>
          </a:p>
        </p:txBody>
      </p:sp>
      <p:sp>
        <p:nvSpPr>
          <p:cNvPr id="23" name="Shape 21"/>
          <p:cNvSpPr/>
          <p:nvPr/>
        </p:nvSpPr>
        <p:spPr>
          <a:xfrm>
            <a:off x="9668866" y="1097280"/>
            <a:ext cx="2291486" cy="868680"/>
          </a:xfrm>
          <a:prstGeom prst="rect">
            <a:avLst/>
          </a:prstGeom>
          <a:solidFill>
            <a:srgbClr val="F0F2F5"/>
          </a:solidFill>
          <a:ln w="6350">
            <a:solidFill>
              <a:srgbClr val="D1D5DB"/>
            </a:solidFill>
            <a:prstDash val="solid"/>
          </a:ln>
        </p:spPr>
      </p:sp>
      <p:sp>
        <p:nvSpPr>
          <p:cNvPr id="24" name="Text 22"/>
          <p:cNvSpPr/>
          <p:nvPr/>
        </p:nvSpPr>
        <p:spPr>
          <a:xfrm>
            <a:off x="966886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JANV. (PEAK)</a:t>
            </a:r>
            <a:endParaRPr lang="en-US" sz="800" dirty="0"/>
          </a:p>
        </p:txBody>
      </p:sp>
      <p:sp>
        <p:nvSpPr>
          <p:cNvPr id="25" name="Text 23"/>
          <p:cNvSpPr/>
          <p:nvPr/>
        </p:nvSpPr>
        <p:spPr>
          <a:xfrm>
            <a:off x="9668866" y="1316736"/>
            <a:ext cx="2291486" cy="384048"/>
          </a:xfrm>
          <a:prstGeom prst="rect">
            <a:avLst/>
          </a:prstGeom>
          <a:noFill/>
          <a:ln/>
        </p:spPr>
        <p:txBody>
          <a:bodyPr wrap="square" rtlCol="0" anchor="ctr"/>
          <a:lstStyle/>
          <a:p>
            <a:pPr algn="ctr" indent="0" marL="0">
              <a:buNone/>
            </a:pPr>
            <a:r>
              <a:rPr lang="en-US" sz="2200" b="1" dirty="0">
                <a:solidFill>
                  <a:srgbClr val="2563A8"/>
                </a:solidFill>
                <a:latin typeface="Calibri" pitchFamily="34" charset="0"/>
                <a:ea typeface="Calibri" pitchFamily="34" charset="-122"/>
                <a:cs typeface="Calibri" pitchFamily="34" charset="-120"/>
              </a:rPr>
              <a:t>16,4 %</a:t>
            </a:r>
            <a:endParaRPr lang="en-US" sz="2200" dirty="0"/>
          </a:p>
        </p:txBody>
      </p:sp>
      <p:sp>
        <p:nvSpPr>
          <p:cNvPr id="26" name="Text 24"/>
          <p:cNvSpPr/>
          <p:nvPr/>
        </p:nvSpPr>
        <p:spPr>
          <a:xfrm>
            <a:off x="966886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Meilleure PDM période</a:t>
            </a:r>
            <a:endParaRPr lang="en-US" sz="850" dirty="0"/>
          </a:p>
        </p:txBody>
      </p:sp>
      <p:sp>
        <p:nvSpPr>
          <p:cNvPr id="27" name="Text 25"/>
          <p:cNvSpPr/>
          <p:nvPr/>
        </p:nvSpPr>
        <p:spPr>
          <a:xfrm>
            <a:off x="228600" y="2084832"/>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Évolution mensuelle marché qualifié &amp; AGL – Hinterland Import</a:t>
            </a:r>
            <a:endParaRPr lang="en-US" sz="1100" dirty="0"/>
          </a:p>
        </p:txBody>
      </p:sp>
      <p:graphicFrame>
        <p:nvGraphicFramePr>
          <p:cNvPr id="28" name="Chart 0" descr=""/>
          <p:cNvGraphicFramePr/>
          <p:nvPr/>
        </p:nvGraphicFramePr>
        <p:xfrm>
          <a:off x="137160" y="2331720"/>
          <a:ext cx="6217920" cy="347472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p:nvPr/>
        </p:nvSpPr>
        <p:spPr>
          <a:xfrm>
            <a:off x="6492240" y="2084832"/>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par mois – Hinterland Import</a:t>
            </a:r>
            <a:endParaRPr lang="en-US" sz="1100" dirty="0"/>
          </a:p>
        </p:txBody>
      </p:sp>
      <p:sp>
        <p:nvSpPr>
          <p:cNvPr id="30" name="Shape 27"/>
          <p:cNvSpPr/>
          <p:nvPr/>
        </p:nvSpPr>
        <p:spPr>
          <a:xfrm>
            <a:off x="6492240" y="2395728"/>
            <a:ext cx="5486400" cy="475488"/>
          </a:xfrm>
          <a:prstGeom prst="rect">
            <a:avLst/>
          </a:prstGeom>
          <a:solidFill>
            <a:srgbClr val="F8FAFC"/>
          </a:solidFill>
          <a:ln w="3810">
            <a:solidFill>
              <a:srgbClr val="E5E7EB"/>
            </a:solidFill>
            <a:prstDash val="solid"/>
          </a:ln>
        </p:spPr>
      </p:sp>
      <p:sp>
        <p:nvSpPr>
          <p:cNvPr id="31" name="Text 28"/>
          <p:cNvSpPr/>
          <p:nvPr/>
        </p:nvSpPr>
        <p:spPr>
          <a:xfrm>
            <a:off x="6601968" y="2523744"/>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Janvier</a:t>
            </a:r>
            <a:endParaRPr lang="en-US" sz="1100" dirty="0"/>
          </a:p>
        </p:txBody>
      </p:sp>
      <p:sp>
        <p:nvSpPr>
          <p:cNvPr id="32" name="Shape 29"/>
          <p:cNvSpPr/>
          <p:nvPr/>
        </p:nvSpPr>
        <p:spPr>
          <a:xfrm>
            <a:off x="7452360" y="2523744"/>
            <a:ext cx="2560320" cy="201168"/>
          </a:xfrm>
          <a:prstGeom prst="rect">
            <a:avLst/>
          </a:prstGeom>
          <a:solidFill>
            <a:srgbClr val="D1D5DB"/>
          </a:solidFill>
          <a:ln/>
        </p:spPr>
      </p:sp>
      <p:sp>
        <p:nvSpPr>
          <p:cNvPr id="33" name="Shape 30"/>
          <p:cNvSpPr/>
          <p:nvPr/>
        </p:nvSpPr>
        <p:spPr>
          <a:xfrm>
            <a:off x="7452360" y="2523744"/>
            <a:ext cx="2560320" cy="201168"/>
          </a:xfrm>
          <a:prstGeom prst="rect">
            <a:avLst/>
          </a:prstGeom>
          <a:solidFill>
            <a:srgbClr val="1A7C4F"/>
          </a:solidFill>
          <a:ln/>
        </p:spPr>
      </p:sp>
      <p:sp>
        <p:nvSpPr>
          <p:cNvPr id="34" name="Text 31"/>
          <p:cNvSpPr/>
          <p:nvPr/>
        </p:nvSpPr>
        <p:spPr>
          <a:xfrm>
            <a:off x="10085832" y="2487168"/>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16,4 %</a:t>
            </a:r>
            <a:endParaRPr lang="en-US" sz="1100" dirty="0"/>
          </a:p>
        </p:txBody>
      </p:sp>
      <p:sp>
        <p:nvSpPr>
          <p:cNvPr id="35" name="Shape 32"/>
          <p:cNvSpPr/>
          <p:nvPr/>
        </p:nvSpPr>
        <p:spPr>
          <a:xfrm>
            <a:off x="6492240" y="2926080"/>
            <a:ext cx="5486400" cy="475488"/>
          </a:xfrm>
          <a:prstGeom prst="rect">
            <a:avLst/>
          </a:prstGeom>
          <a:solidFill>
            <a:srgbClr val="F8FAFC"/>
          </a:solidFill>
          <a:ln w="3810">
            <a:solidFill>
              <a:srgbClr val="E5E7EB"/>
            </a:solidFill>
            <a:prstDash val="solid"/>
          </a:ln>
        </p:spPr>
      </p:sp>
      <p:sp>
        <p:nvSpPr>
          <p:cNvPr id="36" name="Text 33"/>
          <p:cNvSpPr/>
          <p:nvPr/>
        </p:nvSpPr>
        <p:spPr>
          <a:xfrm>
            <a:off x="6601968" y="3054096"/>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Février</a:t>
            </a:r>
            <a:endParaRPr lang="en-US" sz="1100" dirty="0"/>
          </a:p>
        </p:txBody>
      </p:sp>
      <p:sp>
        <p:nvSpPr>
          <p:cNvPr id="37" name="Shape 34"/>
          <p:cNvSpPr/>
          <p:nvPr/>
        </p:nvSpPr>
        <p:spPr>
          <a:xfrm>
            <a:off x="7452360" y="3054096"/>
            <a:ext cx="2560320" cy="201168"/>
          </a:xfrm>
          <a:prstGeom prst="rect">
            <a:avLst/>
          </a:prstGeom>
          <a:solidFill>
            <a:srgbClr val="D1D5DB"/>
          </a:solidFill>
          <a:ln/>
        </p:spPr>
      </p:sp>
      <p:sp>
        <p:nvSpPr>
          <p:cNvPr id="38" name="Shape 35"/>
          <p:cNvSpPr/>
          <p:nvPr/>
        </p:nvSpPr>
        <p:spPr>
          <a:xfrm>
            <a:off x="7452360" y="3054096"/>
            <a:ext cx="1608006" cy="201168"/>
          </a:xfrm>
          <a:prstGeom prst="rect">
            <a:avLst/>
          </a:prstGeom>
          <a:solidFill>
            <a:srgbClr val="E05A00"/>
          </a:solidFill>
          <a:ln/>
        </p:spPr>
      </p:sp>
      <p:sp>
        <p:nvSpPr>
          <p:cNvPr id="39" name="Text 36"/>
          <p:cNvSpPr/>
          <p:nvPr/>
        </p:nvSpPr>
        <p:spPr>
          <a:xfrm>
            <a:off x="10085832" y="3017520"/>
            <a:ext cx="868680" cy="274320"/>
          </a:xfrm>
          <a:prstGeom prst="rect">
            <a:avLst/>
          </a:prstGeom>
          <a:noFill/>
          <a:ln/>
        </p:spPr>
        <p:txBody>
          <a:bodyPr wrap="none" rtlCol="0" anchor="ctr"/>
          <a:lstStyle/>
          <a:p>
            <a:pPr algn="l" indent="0" marL="0">
              <a:buNone/>
            </a:pPr>
            <a:r>
              <a:rPr lang="en-US" sz="1100" b="1" dirty="0">
                <a:solidFill>
                  <a:srgbClr val="E05A00"/>
                </a:solidFill>
                <a:latin typeface="Calibri" pitchFamily="34" charset="0"/>
                <a:ea typeface="Calibri" pitchFamily="34" charset="-122"/>
                <a:cs typeface="Calibri" pitchFamily="34" charset="-120"/>
              </a:rPr>
              <a:t>10,3 %</a:t>
            </a:r>
            <a:endParaRPr lang="en-US" sz="1100" dirty="0"/>
          </a:p>
        </p:txBody>
      </p:sp>
      <p:sp>
        <p:nvSpPr>
          <p:cNvPr id="40" name="Shape 37"/>
          <p:cNvSpPr/>
          <p:nvPr/>
        </p:nvSpPr>
        <p:spPr>
          <a:xfrm>
            <a:off x="6492240" y="3456432"/>
            <a:ext cx="5486400" cy="475488"/>
          </a:xfrm>
          <a:prstGeom prst="rect">
            <a:avLst/>
          </a:prstGeom>
          <a:solidFill>
            <a:srgbClr val="F8FAFC"/>
          </a:solidFill>
          <a:ln w="3810">
            <a:solidFill>
              <a:srgbClr val="E5E7EB"/>
            </a:solidFill>
            <a:prstDash val="solid"/>
          </a:ln>
        </p:spPr>
      </p:sp>
      <p:sp>
        <p:nvSpPr>
          <p:cNvPr id="41" name="Text 38"/>
          <p:cNvSpPr/>
          <p:nvPr/>
        </p:nvSpPr>
        <p:spPr>
          <a:xfrm>
            <a:off x="6601968" y="3584448"/>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Mars</a:t>
            </a:r>
            <a:endParaRPr lang="en-US" sz="1100" dirty="0"/>
          </a:p>
        </p:txBody>
      </p:sp>
      <p:sp>
        <p:nvSpPr>
          <p:cNvPr id="42" name="Shape 39"/>
          <p:cNvSpPr/>
          <p:nvPr/>
        </p:nvSpPr>
        <p:spPr>
          <a:xfrm>
            <a:off x="7452360" y="3584448"/>
            <a:ext cx="2560320" cy="201168"/>
          </a:xfrm>
          <a:prstGeom prst="rect">
            <a:avLst/>
          </a:prstGeom>
          <a:solidFill>
            <a:srgbClr val="D1D5DB"/>
          </a:solidFill>
          <a:ln/>
        </p:spPr>
      </p:sp>
      <p:sp>
        <p:nvSpPr>
          <p:cNvPr id="43" name="Shape 40"/>
          <p:cNvSpPr/>
          <p:nvPr/>
        </p:nvSpPr>
        <p:spPr>
          <a:xfrm>
            <a:off x="7452360" y="3584448"/>
            <a:ext cx="1202101" cy="201168"/>
          </a:xfrm>
          <a:prstGeom prst="rect">
            <a:avLst/>
          </a:prstGeom>
          <a:solidFill>
            <a:srgbClr val="E05A00"/>
          </a:solidFill>
          <a:ln/>
        </p:spPr>
      </p:sp>
      <p:sp>
        <p:nvSpPr>
          <p:cNvPr id="44" name="Text 41"/>
          <p:cNvSpPr/>
          <p:nvPr/>
        </p:nvSpPr>
        <p:spPr>
          <a:xfrm>
            <a:off x="10085832" y="3547872"/>
            <a:ext cx="868680" cy="274320"/>
          </a:xfrm>
          <a:prstGeom prst="rect">
            <a:avLst/>
          </a:prstGeom>
          <a:noFill/>
          <a:ln/>
        </p:spPr>
        <p:txBody>
          <a:bodyPr wrap="none" rtlCol="0" anchor="ctr"/>
          <a:lstStyle/>
          <a:p>
            <a:pPr algn="l" indent="0" marL="0">
              <a:buNone/>
            </a:pPr>
            <a:r>
              <a:rPr lang="en-US" sz="1100" b="1" dirty="0">
                <a:solidFill>
                  <a:srgbClr val="E05A00"/>
                </a:solidFill>
                <a:latin typeface="Calibri" pitchFamily="34" charset="0"/>
                <a:ea typeface="Calibri" pitchFamily="34" charset="-122"/>
                <a:cs typeface="Calibri" pitchFamily="34" charset="-120"/>
              </a:rPr>
              <a:t>7,7 %</a:t>
            </a:r>
            <a:endParaRPr lang="en-US" sz="1100" dirty="0"/>
          </a:p>
        </p:txBody>
      </p:sp>
      <p:sp>
        <p:nvSpPr>
          <p:cNvPr id="45" name="Shape 42"/>
          <p:cNvSpPr/>
          <p:nvPr/>
        </p:nvSpPr>
        <p:spPr>
          <a:xfrm>
            <a:off x="6492240" y="3986784"/>
            <a:ext cx="5486400" cy="475488"/>
          </a:xfrm>
          <a:prstGeom prst="rect">
            <a:avLst/>
          </a:prstGeom>
          <a:solidFill>
            <a:srgbClr val="F8FAFC"/>
          </a:solidFill>
          <a:ln w="3810">
            <a:solidFill>
              <a:srgbClr val="E5E7EB"/>
            </a:solidFill>
            <a:prstDash val="solid"/>
          </a:ln>
        </p:spPr>
      </p:sp>
      <p:sp>
        <p:nvSpPr>
          <p:cNvPr id="46" name="Text 43"/>
          <p:cNvSpPr/>
          <p:nvPr/>
        </p:nvSpPr>
        <p:spPr>
          <a:xfrm>
            <a:off x="6601968" y="4114800"/>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Avril</a:t>
            </a:r>
            <a:endParaRPr lang="en-US" sz="1100" dirty="0"/>
          </a:p>
        </p:txBody>
      </p:sp>
      <p:sp>
        <p:nvSpPr>
          <p:cNvPr id="47" name="Shape 44"/>
          <p:cNvSpPr/>
          <p:nvPr/>
        </p:nvSpPr>
        <p:spPr>
          <a:xfrm>
            <a:off x="7452360" y="4114800"/>
            <a:ext cx="2560320" cy="201168"/>
          </a:xfrm>
          <a:prstGeom prst="rect">
            <a:avLst/>
          </a:prstGeom>
          <a:solidFill>
            <a:srgbClr val="D1D5DB"/>
          </a:solidFill>
          <a:ln/>
        </p:spPr>
      </p:sp>
      <p:sp>
        <p:nvSpPr>
          <p:cNvPr id="48" name="Shape 45"/>
          <p:cNvSpPr/>
          <p:nvPr/>
        </p:nvSpPr>
        <p:spPr>
          <a:xfrm>
            <a:off x="7452360" y="4114800"/>
            <a:ext cx="1670453" cy="201168"/>
          </a:xfrm>
          <a:prstGeom prst="rect">
            <a:avLst/>
          </a:prstGeom>
          <a:solidFill>
            <a:srgbClr val="E05A00"/>
          </a:solidFill>
          <a:ln/>
        </p:spPr>
      </p:sp>
      <p:sp>
        <p:nvSpPr>
          <p:cNvPr id="49" name="Text 46"/>
          <p:cNvSpPr/>
          <p:nvPr/>
        </p:nvSpPr>
        <p:spPr>
          <a:xfrm>
            <a:off x="10085832" y="4078224"/>
            <a:ext cx="868680" cy="274320"/>
          </a:xfrm>
          <a:prstGeom prst="rect">
            <a:avLst/>
          </a:prstGeom>
          <a:noFill/>
          <a:ln/>
        </p:spPr>
        <p:txBody>
          <a:bodyPr wrap="none" rtlCol="0" anchor="ctr"/>
          <a:lstStyle/>
          <a:p>
            <a:pPr algn="l" indent="0" marL="0">
              <a:buNone/>
            </a:pPr>
            <a:r>
              <a:rPr lang="en-US" sz="1100" b="1" dirty="0">
                <a:solidFill>
                  <a:srgbClr val="E05A00"/>
                </a:solidFill>
                <a:latin typeface="Calibri" pitchFamily="34" charset="0"/>
                <a:ea typeface="Calibri" pitchFamily="34" charset="-122"/>
                <a:cs typeface="Calibri" pitchFamily="34" charset="-120"/>
              </a:rPr>
              <a:t>10,7 %</a:t>
            </a:r>
            <a:endParaRPr lang="en-US" sz="1100" dirty="0"/>
          </a:p>
        </p:txBody>
      </p:sp>
      <p:sp>
        <p:nvSpPr>
          <p:cNvPr id="50" name="Shape 47"/>
          <p:cNvSpPr/>
          <p:nvPr/>
        </p:nvSpPr>
        <p:spPr>
          <a:xfrm>
            <a:off x="6492240" y="4517136"/>
            <a:ext cx="5486400" cy="475488"/>
          </a:xfrm>
          <a:prstGeom prst="rect">
            <a:avLst/>
          </a:prstGeom>
          <a:solidFill>
            <a:srgbClr val="F8FAFC"/>
          </a:solidFill>
          <a:ln w="3810">
            <a:solidFill>
              <a:srgbClr val="E5E7EB"/>
            </a:solidFill>
            <a:prstDash val="solid"/>
          </a:ln>
        </p:spPr>
      </p:sp>
      <p:sp>
        <p:nvSpPr>
          <p:cNvPr id="51" name="Text 48"/>
          <p:cNvSpPr/>
          <p:nvPr/>
        </p:nvSpPr>
        <p:spPr>
          <a:xfrm>
            <a:off x="6601968" y="4645152"/>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Mai</a:t>
            </a:r>
            <a:endParaRPr lang="en-US" sz="1100" dirty="0"/>
          </a:p>
        </p:txBody>
      </p:sp>
      <p:sp>
        <p:nvSpPr>
          <p:cNvPr id="52" name="Shape 49"/>
          <p:cNvSpPr/>
          <p:nvPr/>
        </p:nvSpPr>
        <p:spPr>
          <a:xfrm>
            <a:off x="7452360" y="4645152"/>
            <a:ext cx="2560320" cy="201168"/>
          </a:xfrm>
          <a:prstGeom prst="rect">
            <a:avLst/>
          </a:prstGeom>
          <a:solidFill>
            <a:srgbClr val="D1D5DB"/>
          </a:solidFill>
          <a:ln/>
        </p:spPr>
      </p:sp>
      <p:sp>
        <p:nvSpPr>
          <p:cNvPr id="53" name="Shape 50"/>
          <p:cNvSpPr/>
          <p:nvPr/>
        </p:nvSpPr>
        <p:spPr>
          <a:xfrm>
            <a:off x="7452360" y="4645152"/>
            <a:ext cx="1686064" cy="201168"/>
          </a:xfrm>
          <a:prstGeom prst="rect">
            <a:avLst/>
          </a:prstGeom>
          <a:solidFill>
            <a:srgbClr val="E05A00"/>
          </a:solidFill>
          <a:ln/>
        </p:spPr>
      </p:sp>
      <p:sp>
        <p:nvSpPr>
          <p:cNvPr id="54" name="Text 51"/>
          <p:cNvSpPr/>
          <p:nvPr/>
        </p:nvSpPr>
        <p:spPr>
          <a:xfrm>
            <a:off x="10085832" y="4608576"/>
            <a:ext cx="868680" cy="274320"/>
          </a:xfrm>
          <a:prstGeom prst="rect">
            <a:avLst/>
          </a:prstGeom>
          <a:noFill/>
          <a:ln/>
        </p:spPr>
        <p:txBody>
          <a:bodyPr wrap="none" rtlCol="0" anchor="ctr"/>
          <a:lstStyle/>
          <a:p>
            <a:pPr algn="l" indent="0" marL="0">
              <a:buNone/>
            </a:pPr>
            <a:r>
              <a:rPr lang="en-US" sz="1100" b="1" dirty="0">
                <a:solidFill>
                  <a:srgbClr val="E05A00"/>
                </a:solidFill>
                <a:latin typeface="Calibri" pitchFamily="34" charset="0"/>
                <a:ea typeface="Calibri" pitchFamily="34" charset="-122"/>
                <a:cs typeface="Calibri" pitchFamily="34" charset="-120"/>
              </a:rPr>
              <a:t>10,8 %</a:t>
            </a:r>
            <a:endParaRPr lang="en-US" sz="1100" dirty="0"/>
          </a:p>
        </p:txBody>
      </p:sp>
      <p:sp>
        <p:nvSpPr>
          <p:cNvPr id="55" name="Text 52"/>
          <p:cNvSpPr/>
          <p:nvPr/>
        </p:nvSpPr>
        <p:spPr>
          <a:xfrm>
            <a:off x="137160" y="5897880"/>
            <a:ext cx="11887200" cy="22860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Destinations : Bamako 55,5% (17 407 TEU) | Ouagadougou 40,0% (12 549 TEU) | Bobo-Dioulasso 2,1%</a:t>
            </a:r>
            <a:endParaRPr lang="en-US" sz="900" dirty="0"/>
          </a:p>
        </p:txBody>
      </p:sp>
      <p:sp>
        <p:nvSpPr>
          <p:cNvPr id="56" name="Text 53"/>
          <p:cNvSpPr/>
          <p:nvPr/>
        </p:nvSpPr>
        <p:spPr>
          <a:xfrm>
            <a:off x="137160" y="6126480"/>
            <a:ext cx="11887200" cy="22860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Origines : Chine 55,5% | Indonésie 7,1% | Inde 6,8%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HINTERLAND IMPORT – CONCURRENTS &amp; SEGMENTS</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UCT &amp; Sitracom dominent  |  AGL en reconquête  |  Cibles prioritaires</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p.13</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Classement transitaires – Hinterland Import (qualifié)</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Rang</a:t>
            </a:r>
            <a:endParaRPr lang="en-US" sz="850" dirty="0"/>
          </a:p>
        </p:txBody>
      </p:sp>
      <p:sp>
        <p:nvSpPr>
          <p:cNvPr id="10" name="Text 8"/>
          <p:cNvSpPr/>
          <p:nvPr/>
        </p:nvSpPr>
        <p:spPr>
          <a:xfrm>
            <a:off x="585216" y="1408176"/>
            <a:ext cx="188976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Transitaire</a:t>
            </a:r>
            <a:endParaRPr lang="en-US" sz="850" dirty="0"/>
          </a:p>
        </p:txBody>
      </p:sp>
      <p:sp>
        <p:nvSpPr>
          <p:cNvPr id="11" name="Text 9"/>
          <p:cNvSpPr/>
          <p:nvPr/>
        </p:nvSpPr>
        <p:spPr>
          <a:xfrm>
            <a:off x="2520696" y="1408176"/>
            <a:ext cx="1889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TEU</a:t>
            </a:r>
            <a:endParaRPr lang="en-US" sz="850" dirty="0"/>
          </a:p>
        </p:txBody>
      </p:sp>
      <p:sp>
        <p:nvSpPr>
          <p:cNvPr id="12" name="Text 10"/>
          <p:cNvSpPr/>
          <p:nvPr/>
        </p:nvSpPr>
        <p:spPr>
          <a:xfrm>
            <a:off x="4456176" y="1408176"/>
            <a:ext cx="1889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PDM</a:t>
            </a:r>
            <a:endParaRPr lang="en-US" sz="850" dirty="0"/>
          </a:p>
        </p:txBody>
      </p:sp>
      <p:sp>
        <p:nvSpPr>
          <p:cNvPr id="13" name="Shape 11"/>
          <p:cNvSpPr/>
          <p:nvPr/>
        </p:nvSpPr>
        <p:spPr>
          <a:xfrm>
            <a:off x="137160" y="1627632"/>
            <a:ext cx="6217920" cy="256032"/>
          </a:xfrm>
          <a:prstGeom prst="rect">
            <a:avLst/>
          </a:prstGeom>
          <a:solidFill>
            <a:srgbClr val="FFFFFF"/>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a:t>
            </a:r>
            <a:endParaRPr lang="en-US" sz="850" dirty="0"/>
          </a:p>
        </p:txBody>
      </p:sp>
      <p:sp>
        <p:nvSpPr>
          <p:cNvPr id="15" name="Text 13"/>
          <p:cNvSpPr/>
          <p:nvPr/>
        </p:nvSpPr>
        <p:spPr>
          <a:xfrm>
            <a:off x="585216" y="1664208"/>
            <a:ext cx="1889760" cy="201168"/>
          </a:xfrm>
          <a:prstGeom prst="rect">
            <a:avLst/>
          </a:prstGeom>
          <a:noFill/>
          <a:ln/>
        </p:spPr>
        <p:txBody>
          <a:bodyPr wrap="none" rtlCol="0" anchor="ctr"/>
          <a:lstStyle/>
          <a:p>
            <a:pPr algn="l" indent="0" marL="0">
              <a:buNone/>
            </a:pPr>
            <a:r>
              <a:rPr lang="en-US" sz="850" dirty="0">
                <a:solidFill>
                  <a:srgbClr val="1A7C4F"/>
                </a:solidFill>
                <a:latin typeface="Calibri" pitchFamily="34" charset="0"/>
                <a:ea typeface="Calibri" pitchFamily="34" charset="-122"/>
                <a:cs typeface="Calibri" pitchFamily="34" charset="-120"/>
              </a:rPr>
              <a:t>UNION CENTER TRANSIT CI</a:t>
            </a:r>
            <a:endParaRPr lang="en-US" sz="850" dirty="0"/>
          </a:p>
        </p:txBody>
      </p:sp>
      <p:sp>
        <p:nvSpPr>
          <p:cNvPr id="16" name="Text 14"/>
          <p:cNvSpPr/>
          <p:nvPr/>
        </p:nvSpPr>
        <p:spPr>
          <a:xfrm>
            <a:off x="2520696" y="166420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7 559</a:t>
            </a:r>
            <a:endParaRPr lang="en-US" sz="850" dirty="0"/>
          </a:p>
        </p:txBody>
      </p:sp>
      <p:sp>
        <p:nvSpPr>
          <p:cNvPr id="17" name="Text 15"/>
          <p:cNvSpPr/>
          <p:nvPr/>
        </p:nvSpPr>
        <p:spPr>
          <a:xfrm>
            <a:off x="4456176" y="166420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26,6 %</a:t>
            </a:r>
            <a:endParaRPr lang="en-US" sz="85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a:t>
            </a:r>
            <a:endParaRPr lang="en-US" sz="850" dirty="0"/>
          </a:p>
        </p:txBody>
      </p:sp>
      <p:sp>
        <p:nvSpPr>
          <p:cNvPr id="20" name="Text 18"/>
          <p:cNvSpPr/>
          <p:nvPr/>
        </p:nvSpPr>
        <p:spPr>
          <a:xfrm>
            <a:off x="585216" y="1920240"/>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SITRACOM CI</a:t>
            </a:r>
            <a:endParaRPr lang="en-US" sz="850" dirty="0"/>
          </a:p>
        </p:txBody>
      </p:sp>
      <p:sp>
        <p:nvSpPr>
          <p:cNvPr id="21" name="Text 19"/>
          <p:cNvSpPr/>
          <p:nvPr/>
        </p:nvSpPr>
        <p:spPr>
          <a:xfrm>
            <a:off x="2520696" y="192024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7 208</a:t>
            </a:r>
            <a:endParaRPr lang="en-US" sz="850" dirty="0"/>
          </a:p>
        </p:txBody>
      </p:sp>
      <p:sp>
        <p:nvSpPr>
          <p:cNvPr id="22" name="Text 20"/>
          <p:cNvSpPr/>
          <p:nvPr/>
        </p:nvSpPr>
        <p:spPr>
          <a:xfrm>
            <a:off x="4456176" y="192024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25,3 %</a:t>
            </a:r>
            <a:endParaRPr lang="en-US" sz="850" dirty="0"/>
          </a:p>
        </p:txBody>
      </p:sp>
      <p:sp>
        <p:nvSpPr>
          <p:cNvPr id="23" name="Shape 21"/>
          <p:cNvSpPr/>
          <p:nvPr/>
        </p:nvSpPr>
        <p:spPr>
          <a:xfrm>
            <a:off x="137160" y="2139696"/>
            <a:ext cx="6217920" cy="256032"/>
          </a:xfrm>
          <a:prstGeom prst="rect">
            <a:avLst/>
          </a:prstGeom>
          <a:solidFill>
            <a:srgbClr val="FFF9EC"/>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none" rtlCol="0" anchor="ctr"/>
          <a:lstStyle/>
          <a:p>
            <a:pPr algn="ctr" indent="0" marL="0">
              <a:buNone/>
            </a:pPr>
            <a:r>
              <a:rPr lang="en-US" sz="850" b="1" dirty="0">
                <a:solidFill>
                  <a:srgbClr val="374151"/>
                </a:solidFill>
                <a:latin typeface="Calibri" pitchFamily="34" charset="0"/>
                <a:ea typeface="Calibri" pitchFamily="34" charset="-122"/>
                <a:cs typeface="Calibri" pitchFamily="34" charset="-120"/>
              </a:rPr>
              <a:t>#3</a:t>
            </a:r>
            <a:endParaRPr lang="en-US" sz="850" dirty="0"/>
          </a:p>
        </p:txBody>
      </p:sp>
      <p:sp>
        <p:nvSpPr>
          <p:cNvPr id="25" name="Text 23"/>
          <p:cNvSpPr/>
          <p:nvPr/>
        </p:nvSpPr>
        <p:spPr>
          <a:xfrm>
            <a:off x="585216" y="2176272"/>
            <a:ext cx="1889760" cy="201168"/>
          </a:xfrm>
          <a:prstGeom prst="rect">
            <a:avLst/>
          </a:prstGeom>
          <a:noFill/>
          <a:ln/>
        </p:spPr>
        <p:txBody>
          <a:bodyPr wrap="none" rtlCol="0" anchor="ctr"/>
          <a:lstStyle/>
          <a:p>
            <a:pPr algn="l" indent="0" marL="0">
              <a:buNone/>
            </a:pPr>
            <a:r>
              <a:rPr lang="en-US" sz="850" b="1" dirty="0">
                <a:solidFill>
                  <a:srgbClr val="374151"/>
                </a:solidFill>
                <a:latin typeface="Calibri" pitchFamily="34" charset="0"/>
                <a:ea typeface="Calibri" pitchFamily="34" charset="-122"/>
                <a:cs typeface="Calibri" pitchFamily="34" charset="-120"/>
              </a:rPr>
              <a:t>AFRICA GLOBAL LOGISTICS</a:t>
            </a:r>
            <a:endParaRPr lang="en-US" sz="850" dirty="0"/>
          </a:p>
        </p:txBody>
      </p:sp>
      <p:sp>
        <p:nvSpPr>
          <p:cNvPr id="26" name="Text 24"/>
          <p:cNvSpPr/>
          <p:nvPr/>
        </p:nvSpPr>
        <p:spPr>
          <a:xfrm>
            <a:off x="2520696" y="217627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3 214</a:t>
            </a:r>
            <a:endParaRPr lang="en-US" sz="850" dirty="0"/>
          </a:p>
        </p:txBody>
      </p:sp>
      <p:sp>
        <p:nvSpPr>
          <p:cNvPr id="27" name="Text 25"/>
          <p:cNvSpPr/>
          <p:nvPr/>
        </p:nvSpPr>
        <p:spPr>
          <a:xfrm>
            <a:off x="4456176" y="2176272"/>
            <a:ext cx="188976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11,3 %</a:t>
            </a:r>
            <a:endParaRPr lang="en-US" sz="85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a:t>
            </a:r>
            <a:endParaRPr lang="en-US" sz="850" dirty="0"/>
          </a:p>
        </p:txBody>
      </p:sp>
      <p:sp>
        <p:nvSpPr>
          <p:cNvPr id="30" name="Text 28"/>
          <p:cNvSpPr/>
          <p:nvPr/>
        </p:nvSpPr>
        <p:spPr>
          <a:xfrm>
            <a:off x="585216" y="2432304"/>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ECOTRAM CI</a:t>
            </a:r>
            <a:endParaRPr lang="en-US" sz="850" dirty="0"/>
          </a:p>
        </p:txBody>
      </p:sp>
      <p:sp>
        <p:nvSpPr>
          <p:cNvPr id="31" name="Text 29"/>
          <p:cNvSpPr/>
          <p:nvPr/>
        </p:nvSpPr>
        <p:spPr>
          <a:xfrm>
            <a:off x="2520696" y="243230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1 249</a:t>
            </a:r>
            <a:endParaRPr lang="en-US" sz="850" dirty="0"/>
          </a:p>
        </p:txBody>
      </p:sp>
      <p:sp>
        <p:nvSpPr>
          <p:cNvPr id="32" name="Text 30"/>
          <p:cNvSpPr/>
          <p:nvPr/>
        </p:nvSpPr>
        <p:spPr>
          <a:xfrm>
            <a:off x="4456176" y="243230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4,4 %</a:t>
            </a:r>
            <a:endParaRPr lang="en-US" sz="85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a:t>
            </a:r>
            <a:endParaRPr lang="en-US" sz="850" dirty="0"/>
          </a:p>
        </p:txBody>
      </p:sp>
      <p:sp>
        <p:nvSpPr>
          <p:cNvPr id="35" name="Text 33"/>
          <p:cNvSpPr/>
          <p:nvPr/>
        </p:nvSpPr>
        <p:spPr>
          <a:xfrm>
            <a:off x="585216" y="2688336"/>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CEVA LOGISTICS CI</a:t>
            </a:r>
            <a:endParaRPr lang="en-US" sz="850" dirty="0"/>
          </a:p>
        </p:txBody>
      </p:sp>
      <p:sp>
        <p:nvSpPr>
          <p:cNvPr id="36" name="Text 34"/>
          <p:cNvSpPr/>
          <p:nvPr/>
        </p:nvSpPr>
        <p:spPr>
          <a:xfrm>
            <a:off x="2520696" y="268833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1 242</a:t>
            </a:r>
            <a:endParaRPr lang="en-US" sz="850" dirty="0"/>
          </a:p>
        </p:txBody>
      </p:sp>
      <p:sp>
        <p:nvSpPr>
          <p:cNvPr id="37" name="Text 35"/>
          <p:cNvSpPr/>
          <p:nvPr/>
        </p:nvSpPr>
        <p:spPr>
          <a:xfrm>
            <a:off x="4456176" y="268833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4,4 %</a:t>
            </a:r>
            <a:endParaRPr lang="en-US" sz="850" dirty="0"/>
          </a:p>
        </p:txBody>
      </p:sp>
      <p:sp>
        <p:nvSpPr>
          <p:cNvPr id="38" name="Shape 36"/>
          <p:cNvSpPr/>
          <p:nvPr/>
        </p:nvSpPr>
        <p:spPr>
          <a:xfrm>
            <a:off x="137160" y="2907792"/>
            <a:ext cx="621792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a:t>
            </a:r>
            <a:endParaRPr lang="en-US" sz="850" dirty="0"/>
          </a:p>
        </p:txBody>
      </p:sp>
      <p:sp>
        <p:nvSpPr>
          <p:cNvPr id="40" name="Text 38"/>
          <p:cNvSpPr/>
          <p:nvPr/>
        </p:nvSpPr>
        <p:spPr>
          <a:xfrm>
            <a:off x="585216" y="2944368"/>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MAERSK LOGISTIC</a:t>
            </a:r>
            <a:endParaRPr lang="en-US" sz="850" dirty="0"/>
          </a:p>
        </p:txBody>
      </p:sp>
      <p:sp>
        <p:nvSpPr>
          <p:cNvPr id="41" name="Text 39"/>
          <p:cNvSpPr/>
          <p:nvPr/>
        </p:nvSpPr>
        <p:spPr>
          <a:xfrm>
            <a:off x="2520696" y="294436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1 062</a:t>
            </a:r>
            <a:endParaRPr lang="en-US" sz="850" dirty="0"/>
          </a:p>
        </p:txBody>
      </p:sp>
      <p:sp>
        <p:nvSpPr>
          <p:cNvPr id="42" name="Text 40"/>
          <p:cNvSpPr/>
          <p:nvPr/>
        </p:nvSpPr>
        <p:spPr>
          <a:xfrm>
            <a:off x="4456176" y="294436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3,7 %</a:t>
            </a:r>
            <a:endParaRPr lang="en-US" sz="850" dirty="0"/>
          </a:p>
        </p:txBody>
      </p:sp>
      <p:sp>
        <p:nvSpPr>
          <p:cNvPr id="43" name="Shape 41"/>
          <p:cNvSpPr/>
          <p:nvPr/>
        </p:nvSpPr>
        <p:spPr>
          <a:xfrm>
            <a:off x="137160" y="3163824"/>
            <a:ext cx="621792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a:t>
            </a:r>
            <a:endParaRPr lang="en-US" sz="850" dirty="0"/>
          </a:p>
        </p:txBody>
      </p:sp>
      <p:sp>
        <p:nvSpPr>
          <p:cNvPr id="45" name="Text 43"/>
          <p:cNvSpPr/>
          <p:nvPr/>
        </p:nvSpPr>
        <p:spPr>
          <a:xfrm>
            <a:off x="585216" y="3200400"/>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FM GENERAL SERVICES</a:t>
            </a:r>
            <a:endParaRPr lang="en-US" sz="850" dirty="0"/>
          </a:p>
        </p:txBody>
      </p:sp>
      <p:sp>
        <p:nvSpPr>
          <p:cNvPr id="46" name="Text 44"/>
          <p:cNvSpPr/>
          <p:nvPr/>
        </p:nvSpPr>
        <p:spPr>
          <a:xfrm>
            <a:off x="2520696" y="320040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955</a:t>
            </a:r>
            <a:endParaRPr lang="en-US" sz="850" dirty="0"/>
          </a:p>
        </p:txBody>
      </p:sp>
      <p:sp>
        <p:nvSpPr>
          <p:cNvPr id="47" name="Text 45"/>
          <p:cNvSpPr/>
          <p:nvPr/>
        </p:nvSpPr>
        <p:spPr>
          <a:xfrm>
            <a:off x="4456176" y="320040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3,4 %</a:t>
            </a:r>
            <a:endParaRPr lang="en-US" sz="850" dirty="0"/>
          </a:p>
        </p:txBody>
      </p:sp>
      <p:sp>
        <p:nvSpPr>
          <p:cNvPr id="48" name="Shape 46"/>
          <p:cNvSpPr/>
          <p:nvPr/>
        </p:nvSpPr>
        <p:spPr>
          <a:xfrm>
            <a:off x="137160" y="3419856"/>
            <a:ext cx="6217920" cy="256032"/>
          </a:xfrm>
          <a:prstGeom prst="rect">
            <a:avLst/>
          </a:prstGeom>
          <a:solidFill>
            <a:srgbClr val="F8F9FA"/>
          </a:solidFill>
          <a:ln w="3810">
            <a:solidFill>
              <a:srgbClr val="E5E7EB"/>
            </a:solidFill>
            <a:prstDash val="solid"/>
          </a:ln>
        </p:spPr>
      </p:sp>
      <p:sp>
        <p:nvSpPr>
          <p:cNvPr id="49" name="Text 47"/>
          <p:cNvSpPr/>
          <p:nvPr/>
        </p:nvSpPr>
        <p:spPr>
          <a:xfrm>
            <a:off x="173736" y="345643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a:t>
            </a:r>
            <a:endParaRPr lang="en-US" sz="850" dirty="0"/>
          </a:p>
        </p:txBody>
      </p:sp>
      <p:sp>
        <p:nvSpPr>
          <p:cNvPr id="50" name="Text 48"/>
          <p:cNvSpPr/>
          <p:nvPr/>
        </p:nvSpPr>
        <p:spPr>
          <a:xfrm>
            <a:off x="585216" y="3456432"/>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EBURNEENE LOG. TRANSIT.</a:t>
            </a:r>
            <a:endParaRPr lang="en-US" sz="850" dirty="0"/>
          </a:p>
        </p:txBody>
      </p:sp>
      <p:sp>
        <p:nvSpPr>
          <p:cNvPr id="51" name="Text 49"/>
          <p:cNvSpPr/>
          <p:nvPr/>
        </p:nvSpPr>
        <p:spPr>
          <a:xfrm>
            <a:off x="2520696" y="345643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928</a:t>
            </a:r>
            <a:endParaRPr lang="en-US" sz="850" dirty="0"/>
          </a:p>
        </p:txBody>
      </p:sp>
      <p:sp>
        <p:nvSpPr>
          <p:cNvPr id="52" name="Text 50"/>
          <p:cNvSpPr/>
          <p:nvPr/>
        </p:nvSpPr>
        <p:spPr>
          <a:xfrm>
            <a:off x="4456176" y="345643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3,3 %</a:t>
            </a:r>
            <a:endParaRPr lang="en-US" sz="850" dirty="0"/>
          </a:p>
        </p:txBody>
      </p:sp>
      <p:sp>
        <p:nvSpPr>
          <p:cNvPr id="53" name="Shape 51"/>
          <p:cNvSpPr/>
          <p:nvPr/>
        </p:nvSpPr>
        <p:spPr>
          <a:xfrm>
            <a:off x="137160" y="3675888"/>
            <a:ext cx="6217920" cy="256032"/>
          </a:xfrm>
          <a:prstGeom prst="rect">
            <a:avLst/>
          </a:prstGeom>
          <a:solidFill>
            <a:srgbClr val="FFFFFF"/>
          </a:solidFill>
          <a:ln w="3810">
            <a:solidFill>
              <a:srgbClr val="E5E7EB"/>
            </a:solidFill>
            <a:prstDash val="solid"/>
          </a:ln>
        </p:spPr>
      </p:sp>
      <p:sp>
        <p:nvSpPr>
          <p:cNvPr id="54" name="Text 52"/>
          <p:cNvSpPr/>
          <p:nvPr/>
        </p:nvSpPr>
        <p:spPr>
          <a:xfrm>
            <a:off x="173736" y="371246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a:t>
            </a:r>
            <a:endParaRPr lang="en-US" sz="850" dirty="0"/>
          </a:p>
        </p:txBody>
      </p:sp>
      <p:sp>
        <p:nvSpPr>
          <p:cNvPr id="55" name="Text 53"/>
          <p:cNvSpPr/>
          <p:nvPr/>
        </p:nvSpPr>
        <p:spPr>
          <a:xfrm>
            <a:off x="585216" y="3712464"/>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SOCOCIB TRANSIT</a:t>
            </a:r>
            <a:endParaRPr lang="en-US" sz="850" dirty="0"/>
          </a:p>
        </p:txBody>
      </p:sp>
      <p:sp>
        <p:nvSpPr>
          <p:cNvPr id="56" name="Text 54"/>
          <p:cNvSpPr/>
          <p:nvPr/>
        </p:nvSpPr>
        <p:spPr>
          <a:xfrm>
            <a:off x="2520696" y="371246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886</a:t>
            </a:r>
            <a:endParaRPr lang="en-US" sz="850" dirty="0"/>
          </a:p>
        </p:txBody>
      </p:sp>
      <p:sp>
        <p:nvSpPr>
          <p:cNvPr id="57" name="Text 55"/>
          <p:cNvSpPr/>
          <p:nvPr/>
        </p:nvSpPr>
        <p:spPr>
          <a:xfrm>
            <a:off x="4456176" y="371246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3,1 %</a:t>
            </a:r>
            <a:endParaRPr lang="en-US" sz="850" dirty="0"/>
          </a:p>
        </p:txBody>
      </p:sp>
      <p:sp>
        <p:nvSpPr>
          <p:cNvPr id="58" name="Shape 56"/>
          <p:cNvSpPr/>
          <p:nvPr/>
        </p:nvSpPr>
        <p:spPr>
          <a:xfrm>
            <a:off x="137160" y="3931920"/>
            <a:ext cx="6217920" cy="256032"/>
          </a:xfrm>
          <a:prstGeom prst="rect">
            <a:avLst/>
          </a:prstGeom>
          <a:solidFill>
            <a:srgbClr val="F8F9FA"/>
          </a:solidFill>
          <a:ln w="3810">
            <a:solidFill>
              <a:srgbClr val="E5E7EB"/>
            </a:solidFill>
            <a:prstDash val="solid"/>
          </a:ln>
        </p:spPr>
      </p:sp>
      <p:sp>
        <p:nvSpPr>
          <p:cNvPr id="59" name="Text 57"/>
          <p:cNvSpPr/>
          <p:nvPr/>
        </p:nvSpPr>
        <p:spPr>
          <a:xfrm>
            <a:off x="173736" y="396849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a:t>
            </a:r>
            <a:endParaRPr lang="en-US" sz="850" dirty="0"/>
          </a:p>
        </p:txBody>
      </p:sp>
      <p:sp>
        <p:nvSpPr>
          <p:cNvPr id="60" name="Text 58"/>
          <p:cNvSpPr/>
          <p:nvPr/>
        </p:nvSpPr>
        <p:spPr>
          <a:xfrm>
            <a:off x="585216" y="3968496"/>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MEDLOG CI</a:t>
            </a:r>
            <a:endParaRPr lang="en-US" sz="850" dirty="0"/>
          </a:p>
        </p:txBody>
      </p:sp>
      <p:sp>
        <p:nvSpPr>
          <p:cNvPr id="61" name="Text 59"/>
          <p:cNvSpPr/>
          <p:nvPr/>
        </p:nvSpPr>
        <p:spPr>
          <a:xfrm>
            <a:off x="2520696" y="396849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855</a:t>
            </a:r>
            <a:endParaRPr lang="en-US" sz="850" dirty="0"/>
          </a:p>
        </p:txBody>
      </p:sp>
      <p:sp>
        <p:nvSpPr>
          <p:cNvPr id="62" name="Text 60"/>
          <p:cNvSpPr/>
          <p:nvPr/>
        </p:nvSpPr>
        <p:spPr>
          <a:xfrm>
            <a:off x="4456176" y="396849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3,0 %</a:t>
            </a:r>
            <a:endParaRPr lang="en-US" sz="850" dirty="0"/>
          </a:p>
        </p:txBody>
      </p:sp>
      <p:sp>
        <p:nvSpPr>
          <p:cNvPr id="63" name="Shape 61"/>
          <p:cNvSpPr/>
          <p:nvPr/>
        </p:nvSpPr>
        <p:spPr>
          <a:xfrm>
            <a:off x="137160" y="4892040"/>
            <a:ext cx="6217920" cy="868680"/>
          </a:xfrm>
          <a:prstGeom prst="rect">
            <a:avLst/>
          </a:prstGeom>
          <a:solidFill>
            <a:srgbClr val="FFFBEC"/>
          </a:solidFill>
          <a:ln w="6350">
            <a:solidFill>
              <a:srgbClr val="E5C97A"/>
            </a:solidFill>
            <a:prstDash val="solid"/>
          </a:ln>
        </p:spPr>
      </p:sp>
      <p:sp>
        <p:nvSpPr>
          <p:cNvPr id="64" name="Text 62"/>
          <p:cNvSpPr/>
          <p:nvPr/>
        </p:nvSpPr>
        <p:spPr>
          <a:xfrm>
            <a:off x="228600" y="4965192"/>
            <a:ext cx="6035040" cy="75895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STRATÉGIE HINT IMP : Écart de 3 994 TEU avec Sitracom (#2). Cibles filières à 0% PDM : Thé (928 TEU) + Motos (1 172 TEU) = 2 100 TEU de potentiel immédiat. Clients têtes de pont : SOFAO BF (926 TEU), BRAKINA (552 TEU), CODIMEX BF (461 TEU). Commercial dédié Ouagadougou requis.</a:t>
            </a:r>
            <a:endParaRPr lang="en-US" sz="900" dirty="0"/>
          </a:p>
        </p:txBody>
      </p:sp>
      <p:sp>
        <p:nvSpPr>
          <p:cNvPr id="65" name="Text 63"/>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par marchandise – Hinterland Import</a:t>
            </a:r>
            <a:endParaRPr lang="en-US" sz="1100" dirty="0"/>
          </a:p>
        </p:txBody>
      </p:sp>
      <p:sp>
        <p:nvSpPr>
          <p:cNvPr id="66" name="Text 64"/>
          <p:cNvSpPr/>
          <p:nvPr/>
        </p:nvSpPr>
        <p:spPr>
          <a:xfrm>
            <a:off x="6492240" y="138988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MALT</a:t>
            </a:r>
            <a:endParaRPr lang="en-US" sz="850" dirty="0"/>
          </a:p>
        </p:txBody>
      </p:sp>
      <p:sp>
        <p:nvSpPr>
          <p:cNvPr id="67" name="Text 65"/>
          <p:cNvSpPr/>
          <p:nvPr/>
        </p:nvSpPr>
        <p:spPr>
          <a:xfrm>
            <a:off x="8156448" y="138988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439 TEU</a:t>
            </a:r>
            <a:endParaRPr lang="en-US" sz="850" dirty="0"/>
          </a:p>
        </p:txBody>
      </p:sp>
      <p:sp>
        <p:nvSpPr>
          <p:cNvPr id="68" name="Shape 66"/>
          <p:cNvSpPr/>
          <p:nvPr/>
        </p:nvSpPr>
        <p:spPr>
          <a:xfrm>
            <a:off x="9052560" y="1426464"/>
            <a:ext cx="2743200" cy="164592"/>
          </a:xfrm>
          <a:prstGeom prst="rect">
            <a:avLst/>
          </a:prstGeom>
          <a:solidFill>
            <a:srgbClr val="E5E7EB"/>
          </a:solidFill>
          <a:ln/>
        </p:spPr>
      </p:sp>
      <p:sp>
        <p:nvSpPr>
          <p:cNvPr id="69" name="Shape 67"/>
          <p:cNvSpPr/>
          <p:nvPr/>
        </p:nvSpPr>
        <p:spPr>
          <a:xfrm>
            <a:off x="9052560" y="1426464"/>
            <a:ext cx="2002536" cy="164592"/>
          </a:xfrm>
          <a:prstGeom prst="rect">
            <a:avLst/>
          </a:prstGeom>
          <a:solidFill>
            <a:srgbClr val="1A7C4F"/>
          </a:solidFill>
          <a:ln/>
        </p:spPr>
      </p:sp>
      <p:sp>
        <p:nvSpPr>
          <p:cNvPr id="70" name="Text 68"/>
          <p:cNvSpPr/>
          <p:nvPr/>
        </p:nvSpPr>
        <p:spPr>
          <a:xfrm>
            <a:off x="11841480" y="1389888"/>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73%</a:t>
            </a:r>
            <a:endParaRPr lang="en-US" sz="900" dirty="0"/>
          </a:p>
        </p:txBody>
      </p:sp>
      <p:sp>
        <p:nvSpPr>
          <p:cNvPr id="71" name="Text 69"/>
          <p:cNvSpPr/>
          <p:nvPr/>
        </p:nvSpPr>
        <p:spPr>
          <a:xfrm>
            <a:off x="6492240" y="177393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MATÉRIELS MINIERS</a:t>
            </a:r>
            <a:endParaRPr lang="en-US" sz="850" dirty="0"/>
          </a:p>
        </p:txBody>
      </p:sp>
      <p:sp>
        <p:nvSpPr>
          <p:cNvPr id="72" name="Text 70"/>
          <p:cNvSpPr/>
          <p:nvPr/>
        </p:nvSpPr>
        <p:spPr>
          <a:xfrm>
            <a:off x="8156448" y="177393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600 TEU</a:t>
            </a:r>
            <a:endParaRPr lang="en-US" sz="850" dirty="0"/>
          </a:p>
        </p:txBody>
      </p:sp>
      <p:sp>
        <p:nvSpPr>
          <p:cNvPr id="73" name="Shape 71"/>
          <p:cNvSpPr/>
          <p:nvPr/>
        </p:nvSpPr>
        <p:spPr>
          <a:xfrm>
            <a:off x="9052560" y="1810512"/>
            <a:ext cx="2743200" cy="164592"/>
          </a:xfrm>
          <a:prstGeom prst="rect">
            <a:avLst/>
          </a:prstGeom>
          <a:solidFill>
            <a:srgbClr val="E5E7EB"/>
          </a:solidFill>
          <a:ln/>
        </p:spPr>
      </p:sp>
      <p:sp>
        <p:nvSpPr>
          <p:cNvPr id="74" name="Shape 72"/>
          <p:cNvSpPr/>
          <p:nvPr/>
        </p:nvSpPr>
        <p:spPr>
          <a:xfrm>
            <a:off x="9052560" y="1810512"/>
            <a:ext cx="1371600" cy="164592"/>
          </a:xfrm>
          <a:prstGeom prst="rect">
            <a:avLst/>
          </a:prstGeom>
          <a:solidFill>
            <a:srgbClr val="1A7C4F"/>
          </a:solidFill>
          <a:ln/>
        </p:spPr>
      </p:sp>
      <p:sp>
        <p:nvSpPr>
          <p:cNvPr id="75" name="Text 73"/>
          <p:cNvSpPr/>
          <p:nvPr/>
        </p:nvSpPr>
        <p:spPr>
          <a:xfrm>
            <a:off x="11841480" y="1773936"/>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50%</a:t>
            </a:r>
            <a:endParaRPr lang="en-US" sz="900" dirty="0"/>
          </a:p>
        </p:txBody>
      </p:sp>
      <p:sp>
        <p:nvSpPr>
          <p:cNvPr id="76" name="Text 74"/>
          <p:cNvSpPr/>
          <p:nvPr/>
        </p:nvSpPr>
        <p:spPr>
          <a:xfrm>
            <a:off x="6492240" y="215798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PÂTES ALIMENTAIRES</a:t>
            </a:r>
            <a:endParaRPr lang="en-US" sz="850" dirty="0"/>
          </a:p>
        </p:txBody>
      </p:sp>
      <p:sp>
        <p:nvSpPr>
          <p:cNvPr id="77" name="Text 75"/>
          <p:cNvSpPr/>
          <p:nvPr/>
        </p:nvSpPr>
        <p:spPr>
          <a:xfrm>
            <a:off x="8156448" y="215798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528 TEU</a:t>
            </a:r>
            <a:endParaRPr lang="en-US" sz="850" dirty="0"/>
          </a:p>
        </p:txBody>
      </p:sp>
      <p:sp>
        <p:nvSpPr>
          <p:cNvPr id="78" name="Shape 76"/>
          <p:cNvSpPr/>
          <p:nvPr/>
        </p:nvSpPr>
        <p:spPr>
          <a:xfrm>
            <a:off x="9052560" y="2194560"/>
            <a:ext cx="2743200" cy="164592"/>
          </a:xfrm>
          <a:prstGeom prst="rect">
            <a:avLst/>
          </a:prstGeom>
          <a:solidFill>
            <a:srgbClr val="E5E7EB"/>
          </a:solidFill>
          <a:ln/>
        </p:spPr>
      </p:sp>
      <p:sp>
        <p:nvSpPr>
          <p:cNvPr id="79" name="Shape 77"/>
          <p:cNvSpPr/>
          <p:nvPr/>
        </p:nvSpPr>
        <p:spPr>
          <a:xfrm>
            <a:off x="9052560" y="2194560"/>
            <a:ext cx="850392" cy="164592"/>
          </a:xfrm>
          <a:prstGeom prst="rect">
            <a:avLst/>
          </a:prstGeom>
          <a:solidFill>
            <a:srgbClr val="2563A8"/>
          </a:solidFill>
          <a:ln/>
        </p:spPr>
      </p:sp>
      <p:sp>
        <p:nvSpPr>
          <p:cNvPr id="80" name="Text 78"/>
          <p:cNvSpPr/>
          <p:nvPr/>
        </p:nvSpPr>
        <p:spPr>
          <a:xfrm>
            <a:off x="11841480" y="2157984"/>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31%</a:t>
            </a:r>
            <a:endParaRPr lang="en-US" sz="900" dirty="0"/>
          </a:p>
        </p:txBody>
      </p:sp>
      <p:sp>
        <p:nvSpPr>
          <p:cNvPr id="81" name="Text 79"/>
          <p:cNvSpPr/>
          <p:nvPr/>
        </p:nvSpPr>
        <p:spPr>
          <a:xfrm>
            <a:off x="6492240" y="2542032"/>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HUILE ALIMENTAIRE</a:t>
            </a:r>
            <a:endParaRPr lang="en-US" sz="850" dirty="0"/>
          </a:p>
        </p:txBody>
      </p:sp>
      <p:sp>
        <p:nvSpPr>
          <p:cNvPr id="82" name="Text 80"/>
          <p:cNvSpPr/>
          <p:nvPr/>
        </p:nvSpPr>
        <p:spPr>
          <a:xfrm>
            <a:off x="8156448" y="2542032"/>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3 069 TEU</a:t>
            </a:r>
            <a:endParaRPr lang="en-US" sz="850" dirty="0"/>
          </a:p>
        </p:txBody>
      </p:sp>
      <p:sp>
        <p:nvSpPr>
          <p:cNvPr id="83" name="Shape 81"/>
          <p:cNvSpPr/>
          <p:nvPr/>
        </p:nvSpPr>
        <p:spPr>
          <a:xfrm>
            <a:off x="9052560" y="2578608"/>
            <a:ext cx="2743200" cy="164592"/>
          </a:xfrm>
          <a:prstGeom prst="rect">
            <a:avLst/>
          </a:prstGeom>
          <a:solidFill>
            <a:srgbClr val="E5E7EB"/>
          </a:solidFill>
          <a:ln/>
        </p:spPr>
      </p:sp>
      <p:sp>
        <p:nvSpPr>
          <p:cNvPr id="84" name="Shape 82"/>
          <p:cNvSpPr/>
          <p:nvPr/>
        </p:nvSpPr>
        <p:spPr>
          <a:xfrm>
            <a:off x="9052560" y="2578608"/>
            <a:ext cx="768096" cy="164592"/>
          </a:xfrm>
          <a:prstGeom prst="rect">
            <a:avLst/>
          </a:prstGeom>
          <a:solidFill>
            <a:srgbClr val="2563A8"/>
          </a:solidFill>
          <a:ln/>
        </p:spPr>
      </p:sp>
      <p:sp>
        <p:nvSpPr>
          <p:cNvPr id="85" name="Text 83"/>
          <p:cNvSpPr/>
          <p:nvPr/>
        </p:nvSpPr>
        <p:spPr>
          <a:xfrm>
            <a:off x="11841480" y="2542032"/>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28%</a:t>
            </a:r>
            <a:endParaRPr lang="en-US" sz="900" dirty="0"/>
          </a:p>
        </p:txBody>
      </p:sp>
      <p:sp>
        <p:nvSpPr>
          <p:cNvPr id="86" name="Text 84"/>
          <p:cNvSpPr/>
          <p:nvPr/>
        </p:nvSpPr>
        <p:spPr>
          <a:xfrm>
            <a:off x="6492240" y="292608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RIZ</a:t>
            </a:r>
            <a:endParaRPr lang="en-US" sz="850" dirty="0"/>
          </a:p>
        </p:txBody>
      </p:sp>
      <p:sp>
        <p:nvSpPr>
          <p:cNvPr id="87" name="Text 85"/>
          <p:cNvSpPr/>
          <p:nvPr/>
        </p:nvSpPr>
        <p:spPr>
          <a:xfrm>
            <a:off x="8156448" y="292608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736 TEU</a:t>
            </a:r>
            <a:endParaRPr lang="en-US" sz="850" dirty="0"/>
          </a:p>
        </p:txBody>
      </p:sp>
      <p:sp>
        <p:nvSpPr>
          <p:cNvPr id="88" name="Shape 86"/>
          <p:cNvSpPr/>
          <p:nvPr/>
        </p:nvSpPr>
        <p:spPr>
          <a:xfrm>
            <a:off x="9052560" y="2962656"/>
            <a:ext cx="2743200" cy="164592"/>
          </a:xfrm>
          <a:prstGeom prst="rect">
            <a:avLst/>
          </a:prstGeom>
          <a:solidFill>
            <a:srgbClr val="E5E7EB"/>
          </a:solidFill>
          <a:ln/>
        </p:spPr>
      </p:sp>
      <p:sp>
        <p:nvSpPr>
          <p:cNvPr id="89" name="Shape 87"/>
          <p:cNvSpPr/>
          <p:nvPr/>
        </p:nvSpPr>
        <p:spPr>
          <a:xfrm>
            <a:off x="9052560" y="2962656"/>
            <a:ext cx="548640" cy="164592"/>
          </a:xfrm>
          <a:prstGeom prst="rect">
            <a:avLst/>
          </a:prstGeom>
          <a:solidFill>
            <a:srgbClr val="2563A8"/>
          </a:solidFill>
          <a:ln/>
        </p:spPr>
      </p:sp>
      <p:sp>
        <p:nvSpPr>
          <p:cNvPr id="90" name="Text 88"/>
          <p:cNvSpPr/>
          <p:nvPr/>
        </p:nvSpPr>
        <p:spPr>
          <a:xfrm>
            <a:off x="11841480" y="2926080"/>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20%</a:t>
            </a:r>
            <a:endParaRPr lang="en-US" sz="900" dirty="0"/>
          </a:p>
        </p:txBody>
      </p:sp>
      <p:sp>
        <p:nvSpPr>
          <p:cNvPr id="91" name="Text 89"/>
          <p:cNvSpPr/>
          <p:nvPr/>
        </p:nvSpPr>
        <p:spPr>
          <a:xfrm>
            <a:off x="6492240" y="331012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EMBALLAGES</a:t>
            </a:r>
            <a:endParaRPr lang="en-US" sz="850" dirty="0"/>
          </a:p>
        </p:txBody>
      </p:sp>
      <p:sp>
        <p:nvSpPr>
          <p:cNvPr id="92" name="Text 90"/>
          <p:cNvSpPr/>
          <p:nvPr/>
        </p:nvSpPr>
        <p:spPr>
          <a:xfrm>
            <a:off x="8156448" y="331012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1 151 TEU</a:t>
            </a:r>
            <a:endParaRPr lang="en-US" sz="850" dirty="0"/>
          </a:p>
        </p:txBody>
      </p:sp>
      <p:sp>
        <p:nvSpPr>
          <p:cNvPr id="93" name="Shape 91"/>
          <p:cNvSpPr/>
          <p:nvPr/>
        </p:nvSpPr>
        <p:spPr>
          <a:xfrm>
            <a:off x="9052560" y="3346704"/>
            <a:ext cx="2743200" cy="164592"/>
          </a:xfrm>
          <a:prstGeom prst="rect">
            <a:avLst/>
          </a:prstGeom>
          <a:solidFill>
            <a:srgbClr val="E5E7EB"/>
          </a:solidFill>
          <a:ln/>
        </p:spPr>
      </p:sp>
      <p:sp>
        <p:nvSpPr>
          <p:cNvPr id="94" name="Shape 92"/>
          <p:cNvSpPr/>
          <p:nvPr/>
        </p:nvSpPr>
        <p:spPr>
          <a:xfrm>
            <a:off x="9052560" y="3346704"/>
            <a:ext cx="548640" cy="164592"/>
          </a:xfrm>
          <a:prstGeom prst="rect">
            <a:avLst/>
          </a:prstGeom>
          <a:solidFill>
            <a:srgbClr val="2563A8"/>
          </a:solidFill>
          <a:ln/>
        </p:spPr>
      </p:sp>
      <p:sp>
        <p:nvSpPr>
          <p:cNvPr id="95" name="Text 93"/>
          <p:cNvSpPr/>
          <p:nvPr/>
        </p:nvSpPr>
        <p:spPr>
          <a:xfrm>
            <a:off x="11841480" y="3310128"/>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20%</a:t>
            </a:r>
            <a:endParaRPr lang="en-US" sz="900" dirty="0"/>
          </a:p>
        </p:txBody>
      </p:sp>
      <p:sp>
        <p:nvSpPr>
          <p:cNvPr id="96" name="Text 94"/>
          <p:cNvSpPr/>
          <p:nvPr/>
        </p:nvSpPr>
        <p:spPr>
          <a:xfrm>
            <a:off x="6492240" y="369417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MATÉR. CONSTRUCTION</a:t>
            </a:r>
            <a:endParaRPr lang="en-US" sz="850" dirty="0"/>
          </a:p>
        </p:txBody>
      </p:sp>
      <p:sp>
        <p:nvSpPr>
          <p:cNvPr id="97" name="Text 95"/>
          <p:cNvSpPr/>
          <p:nvPr/>
        </p:nvSpPr>
        <p:spPr>
          <a:xfrm>
            <a:off x="8156448" y="369417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645 TEU</a:t>
            </a:r>
            <a:endParaRPr lang="en-US" sz="850" dirty="0"/>
          </a:p>
        </p:txBody>
      </p:sp>
      <p:sp>
        <p:nvSpPr>
          <p:cNvPr id="98" name="Shape 96"/>
          <p:cNvSpPr/>
          <p:nvPr/>
        </p:nvSpPr>
        <p:spPr>
          <a:xfrm>
            <a:off x="9052560" y="3730752"/>
            <a:ext cx="2743200" cy="164592"/>
          </a:xfrm>
          <a:prstGeom prst="rect">
            <a:avLst/>
          </a:prstGeom>
          <a:solidFill>
            <a:srgbClr val="E5E7EB"/>
          </a:solidFill>
          <a:ln/>
        </p:spPr>
      </p:sp>
      <p:sp>
        <p:nvSpPr>
          <p:cNvPr id="99" name="Shape 97"/>
          <p:cNvSpPr/>
          <p:nvPr/>
        </p:nvSpPr>
        <p:spPr>
          <a:xfrm>
            <a:off x="9052560" y="3730752"/>
            <a:ext cx="438912" cy="164592"/>
          </a:xfrm>
          <a:prstGeom prst="rect">
            <a:avLst/>
          </a:prstGeom>
          <a:solidFill>
            <a:srgbClr val="E05A00"/>
          </a:solidFill>
          <a:ln/>
        </p:spPr>
      </p:sp>
      <p:sp>
        <p:nvSpPr>
          <p:cNvPr id="100" name="Text 98"/>
          <p:cNvSpPr/>
          <p:nvPr/>
        </p:nvSpPr>
        <p:spPr>
          <a:xfrm>
            <a:off x="11841480" y="3694176"/>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16%</a:t>
            </a:r>
            <a:endParaRPr lang="en-US" sz="900" dirty="0"/>
          </a:p>
        </p:txBody>
      </p:sp>
      <p:sp>
        <p:nvSpPr>
          <p:cNvPr id="101" name="Text 99"/>
          <p:cNvSpPr/>
          <p:nvPr/>
        </p:nvSpPr>
        <p:spPr>
          <a:xfrm>
            <a:off x="6492240" y="407822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SUCRE</a:t>
            </a:r>
            <a:endParaRPr lang="en-US" sz="850" dirty="0"/>
          </a:p>
        </p:txBody>
      </p:sp>
      <p:sp>
        <p:nvSpPr>
          <p:cNvPr id="102" name="Text 100"/>
          <p:cNvSpPr/>
          <p:nvPr/>
        </p:nvSpPr>
        <p:spPr>
          <a:xfrm>
            <a:off x="8156448" y="407822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2 701 TEU</a:t>
            </a:r>
            <a:endParaRPr lang="en-US" sz="850" dirty="0"/>
          </a:p>
        </p:txBody>
      </p:sp>
      <p:sp>
        <p:nvSpPr>
          <p:cNvPr id="103" name="Shape 101"/>
          <p:cNvSpPr/>
          <p:nvPr/>
        </p:nvSpPr>
        <p:spPr>
          <a:xfrm>
            <a:off x="9052560" y="4114800"/>
            <a:ext cx="2743200" cy="164592"/>
          </a:xfrm>
          <a:prstGeom prst="rect">
            <a:avLst/>
          </a:prstGeom>
          <a:solidFill>
            <a:srgbClr val="E5E7EB"/>
          </a:solidFill>
          <a:ln/>
        </p:spPr>
      </p:sp>
      <p:sp>
        <p:nvSpPr>
          <p:cNvPr id="104" name="Shape 102"/>
          <p:cNvSpPr/>
          <p:nvPr/>
        </p:nvSpPr>
        <p:spPr>
          <a:xfrm>
            <a:off x="9052560" y="4114800"/>
            <a:ext cx="246888" cy="164592"/>
          </a:xfrm>
          <a:prstGeom prst="rect">
            <a:avLst/>
          </a:prstGeom>
          <a:solidFill>
            <a:srgbClr val="CC2200"/>
          </a:solidFill>
          <a:ln/>
        </p:spPr>
      </p:sp>
      <p:sp>
        <p:nvSpPr>
          <p:cNvPr id="105" name="Text 103"/>
          <p:cNvSpPr/>
          <p:nvPr/>
        </p:nvSpPr>
        <p:spPr>
          <a:xfrm>
            <a:off x="11841480" y="4078224"/>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9%</a:t>
            </a:r>
            <a:endParaRPr lang="en-US" sz="900" dirty="0"/>
          </a:p>
        </p:txBody>
      </p:sp>
      <p:sp>
        <p:nvSpPr>
          <p:cNvPr id="106" name="Text 104"/>
          <p:cNvSpPr/>
          <p:nvPr/>
        </p:nvSpPr>
        <p:spPr>
          <a:xfrm>
            <a:off x="6492240" y="4462272"/>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THÉ ALIMENTAIRE</a:t>
            </a:r>
            <a:endParaRPr lang="en-US" sz="850" dirty="0"/>
          </a:p>
        </p:txBody>
      </p:sp>
      <p:sp>
        <p:nvSpPr>
          <p:cNvPr id="107" name="Text 105"/>
          <p:cNvSpPr/>
          <p:nvPr/>
        </p:nvSpPr>
        <p:spPr>
          <a:xfrm>
            <a:off x="8156448" y="4462272"/>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928 TEU</a:t>
            </a:r>
            <a:endParaRPr lang="en-US" sz="850" dirty="0"/>
          </a:p>
        </p:txBody>
      </p:sp>
      <p:sp>
        <p:nvSpPr>
          <p:cNvPr id="108" name="Shape 106"/>
          <p:cNvSpPr/>
          <p:nvPr/>
        </p:nvSpPr>
        <p:spPr>
          <a:xfrm>
            <a:off x="9052560" y="4498848"/>
            <a:ext cx="2743200" cy="164592"/>
          </a:xfrm>
          <a:prstGeom prst="rect">
            <a:avLst/>
          </a:prstGeom>
          <a:solidFill>
            <a:srgbClr val="E5E7EB"/>
          </a:solidFill>
          <a:ln/>
        </p:spPr>
      </p:sp>
      <p:sp>
        <p:nvSpPr>
          <p:cNvPr id="109" name="Shape 107"/>
          <p:cNvSpPr/>
          <p:nvPr/>
        </p:nvSpPr>
        <p:spPr>
          <a:xfrm>
            <a:off x="9052560" y="4498848"/>
            <a:ext cx="54864" cy="164592"/>
          </a:xfrm>
          <a:prstGeom prst="rect">
            <a:avLst/>
          </a:prstGeom>
          <a:solidFill>
            <a:srgbClr val="CC2200"/>
          </a:solidFill>
          <a:ln/>
        </p:spPr>
      </p:sp>
      <p:sp>
        <p:nvSpPr>
          <p:cNvPr id="110" name="Text 108"/>
          <p:cNvSpPr/>
          <p:nvPr/>
        </p:nvSpPr>
        <p:spPr>
          <a:xfrm>
            <a:off x="11841480" y="4462272"/>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0%</a:t>
            </a:r>
            <a:endParaRPr lang="en-US" sz="900" dirty="0"/>
          </a:p>
        </p:txBody>
      </p:sp>
      <p:sp>
        <p:nvSpPr>
          <p:cNvPr id="111" name="Text 109"/>
          <p:cNvSpPr/>
          <p:nvPr/>
        </p:nvSpPr>
        <p:spPr>
          <a:xfrm>
            <a:off x="6492240" y="484632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PROD. MER CONGELÉ</a:t>
            </a:r>
            <a:endParaRPr lang="en-US" sz="850" dirty="0"/>
          </a:p>
        </p:txBody>
      </p:sp>
      <p:sp>
        <p:nvSpPr>
          <p:cNvPr id="112" name="Text 110"/>
          <p:cNvSpPr/>
          <p:nvPr/>
        </p:nvSpPr>
        <p:spPr>
          <a:xfrm>
            <a:off x="8156448" y="484632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1 296 TEU</a:t>
            </a:r>
            <a:endParaRPr lang="en-US" sz="850" dirty="0"/>
          </a:p>
        </p:txBody>
      </p:sp>
      <p:sp>
        <p:nvSpPr>
          <p:cNvPr id="113" name="Shape 111"/>
          <p:cNvSpPr/>
          <p:nvPr/>
        </p:nvSpPr>
        <p:spPr>
          <a:xfrm>
            <a:off x="9052560" y="4882896"/>
            <a:ext cx="2743200" cy="164592"/>
          </a:xfrm>
          <a:prstGeom prst="rect">
            <a:avLst/>
          </a:prstGeom>
          <a:solidFill>
            <a:srgbClr val="E5E7EB"/>
          </a:solidFill>
          <a:ln/>
        </p:spPr>
      </p:sp>
      <p:sp>
        <p:nvSpPr>
          <p:cNvPr id="114" name="Shape 112"/>
          <p:cNvSpPr/>
          <p:nvPr/>
        </p:nvSpPr>
        <p:spPr>
          <a:xfrm>
            <a:off x="9052560" y="4882896"/>
            <a:ext cx="54864" cy="164592"/>
          </a:xfrm>
          <a:prstGeom prst="rect">
            <a:avLst/>
          </a:prstGeom>
          <a:solidFill>
            <a:srgbClr val="CC2200"/>
          </a:solidFill>
          <a:ln/>
        </p:spPr>
      </p:sp>
      <p:sp>
        <p:nvSpPr>
          <p:cNvPr id="115" name="Text 113"/>
          <p:cNvSpPr/>
          <p:nvPr/>
        </p:nvSpPr>
        <p:spPr>
          <a:xfrm>
            <a:off x="11841480" y="4846320"/>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0%</a:t>
            </a:r>
            <a:endParaRPr lang="en-US" sz="900" dirty="0"/>
          </a:p>
        </p:txBody>
      </p:sp>
      <p:sp>
        <p:nvSpPr>
          <p:cNvPr id="116" name="Text 114"/>
          <p:cNvSpPr/>
          <p:nvPr/>
        </p:nvSpPr>
        <p:spPr>
          <a:xfrm>
            <a:off x="6492240" y="523036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MOTOS &amp; BICYCLETTES</a:t>
            </a:r>
            <a:endParaRPr lang="en-US" sz="850" dirty="0"/>
          </a:p>
        </p:txBody>
      </p:sp>
      <p:sp>
        <p:nvSpPr>
          <p:cNvPr id="117" name="Text 115"/>
          <p:cNvSpPr/>
          <p:nvPr/>
        </p:nvSpPr>
        <p:spPr>
          <a:xfrm>
            <a:off x="8156448" y="523036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1 172 TEU</a:t>
            </a:r>
            <a:endParaRPr lang="en-US" sz="850" dirty="0"/>
          </a:p>
        </p:txBody>
      </p:sp>
      <p:sp>
        <p:nvSpPr>
          <p:cNvPr id="118" name="Shape 116"/>
          <p:cNvSpPr/>
          <p:nvPr/>
        </p:nvSpPr>
        <p:spPr>
          <a:xfrm>
            <a:off x="9052560" y="5266944"/>
            <a:ext cx="2743200" cy="164592"/>
          </a:xfrm>
          <a:prstGeom prst="rect">
            <a:avLst/>
          </a:prstGeom>
          <a:solidFill>
            <a:srgbClr val="E5E7EB"/>
          </a:solidFill>
          <a:ln/>
        </p:spPr>
      </p:sp>
      <p:sp>
        <p:nvSpPr>
          <p:cNvPr id="119" name="Shape 117"/>
          <p:cNvSpPr/>
          <p:nvPr/>
        </p:nvSpPr>
        <p:spPr>
          <a:xfrm>
            <a:off x="9052560" y="5266944"/>
            <a:ext cx="54864" cy="164592"/>
          </a:xfrm>
          <a:prstGeom prst="rect">
            <a:avLst/>
          </a:prstGeom>
          <a:solidFill>
            <a:srgbClr val="CC2200"/>
          </a:solidFill>
          <a:ln/>
        </p:spPr>
      </p:sp>
      <p:sp>
        <p:nvSpPr>
          <p:cNvPr id="120" name="Text 118"/>
          <p:cNvSpPr/>
          <p:nvPr/>
        </p:nvSpPr>
        <p:spPr>
          <a:xfrm>
            <a:off x="11841480" y="5230368"/>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HINTERLAND IMPORT – NOUVEAUX ENTRANTS &amp; NOUVEAUX FLUX</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Transitaires entrants  |  Nouvelles marchandises  |  Nouveaux destinataires Bamako–Ouagadougou</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p.16</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Nouveaux transitaires – Hinterland Import</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Rang</a:t>
            </a:r>
            <a:endParaRPr lang="en-US" sz="850" dirty="0"/>
          </a:p>
        </p:txBody>
      </p:sp>
      <p:sp>
        <p:nvSpPr>
          <p:cNvPr id="10" name="Text 8"/>
          <p:cNvSpPr/>
          <p:nvPr/>
        </p:nvSpPr>
        <p:spPr>
          <a:xfrm>
            <a:off x="585216" y="1408176"/>
            <a:ext cx="140589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Transitaire</a:t>
            </a:r>
            <a:endParaRPr lang="en-US" sz="850" dirty="0"/>
          </a:p>
        </p:txBody>
      </p:sp>
      <p:sp>
        <p:nvSpPr>
          <p:cNvPr id="11" name="Text 9"/>
          <p:cNvSpPr/>
          <p:nvPr/>
        </p:nvSpPr>
        <p:spPr>
          <a:xfrm>
            <a:off x="2036826" y="1408176"/>
            <a:ext cx="140589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TEU</a:t>
            </a:r>
            <a:endParaRPr lang="en-US" sz="850" dirty="0"/>
          </a:p>
        </p:txBody>
      </p:sp>
      <p:sp>
        <p:nvSpPr>
          <p:cNvPr id="12" name="Text 10"/>
          <p:cNvSpPr/>
          <p:nvPr/>
        </p:nvSpPr>
        <p:spPr>
          <a:xfrm>
            <a:off x="3488436" y="1408176"/>
            <a:ext cx="140589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PDM</a:t>
            </a:r>
            <a:endParaRPr lang="en-US" sz="850" dirty="0"/>
          </a:p>
        </p:txBody>
      </p:sp>
      <p:sp>
        <p:nvSpPr>
          <p:cNvPr id="13" name="Text 11"/>
          <p:cNvSpPr/>
          <p:nvPr/>
        </p:nvSpPr>
        <p:spPr>
          <a:xfrm>
            <a:off x="4940046" y="1408176"/>
            <a:ext cx="140589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Spécialité</a:t>
            </a:r>
            <a:endParaRPr lang="en-US" sz="850" dirty="0"/>
          </a:p>
        </p:txBody>
      </p:sp>
      <p:sp>
        <p:nvSpPr>
          <p:cNvPr id="14" name="Shape 12"/>
          <p:cNvSpPr/>
          <p:nvPr/>
        </p:nvSpPr>
        <p:spPr>
          <a:xfrm>
            <a:off x="137160" y="1627632"/>
            <a:ext cx="6217920" cy="256032"/>
          </a:xfrm>
          <a:prstGeom prst="rect">
            <a:avLst/>
          </a:prstGeom>
          <a:solidFill>
            <a:srgbClr val="FFF9EC"/>
          </a:solidFill>
          <a:ln w="3810">
            <a:solidFill>
              <a:srgbClr val="E5E7EB"/>
            </a:solidFill>
            <a:prstDash val="solid"/>
          </a:ln>
        </p:spPr>
      </p:sp>
      <p:sp>
        <p:nvSpPr>
          <p:cNvPr id="15" name="Text 13"/>
          <p:cNvSpPr/>
          <p:nvPr/>
        </p:nvSpPr>
        <p:spPr>
          <a:xfrm>
            <a:off x="173736" y="1664208"/>
            <a:ext cx="365760" cy="201168"/>
          </a:xfrm>
          <a:prstGeom prst="rect">
            <a:avLst/>
          </a:prstGeom>
          <a:noFill/>
          <a:ln/>
        </p:spPr>
        <p:txBody>
          <a:bodyPr wrap="none" rtlCol="0" anchor="ctr"/>
          <a:lstStyle/>
          <a:p>
            <a:pPr algn="ctr" indent="0" marL="0">
              <a:buNone/>
            </a:pPr>
            <a:r>
              <a:rPr lang="en-US" sz="850" b="1" dirty="0">
                <a:solidFill>
                  <a:srgbClr val="374151"/>
                </a:solidFill>
                <a:latin typeface="Calibri" pitchFamily="34" charset="0"/>
                <a:ea typeface="Calibri" pitchFamily="34" charset="-122"/>
                <a:cs typeface="Calibri" pitchFamily="34" charset="-120"/>
              </a:rPr>
              <a:t>#11</a:t>
            </a:r>
            <a:endParaRPr lang="en-US" sz="850" dirty="0"/>
          </a:p>
        </p:txBody>
      </p:sp>
      <p:sp>
        <p:nvSpPr>
          <p:cNvPr id="16" name="Text 14"/>
          <p:cNvSpPr/>
          <p:nvPr/>
        </p:nvSpPr>
        <p:spPr>
          <a:xfrm>
            <a:off x="585216" y="1664208"/>
            <a:ext cx="140589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SAHEL TRANSIT</a:t>
            </a:r>
            <a:endParaRPr lang="en-US" sz="850" dirty="0"/>
          </a:p>
        </p:txBody>
      </p:sp>
      <p:sp>
        <p:nvSpPr>
          <p:cNvPr id="17" name="Text 15"/>
          <p:cNvSpPr/>
          <p:nvPr/>
        </p:nvSpPr>
        <p:spPr>
          <a:xfrm>
            <a:off x="2036826" y="1664208"/>
            <a:ext cx="140589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620</a:t>
            </a:r>
            <a:endParaRPr lang="en-US" sz="850" dirty="0"/>
          </a:p>
        </p:txBody>
      </p:sp>
      <p:sp>
        <p:nvSpPr>
          <p:cNvPr id="18" name="Text 16"/>
          <p:cNvSpPr/>
          <p:nvPr/>
        </p:nvSpPr>
        <p:spPr>
          <a:xfrm>
            <a:off x="3488436" y="1664208"/>
            <a:ext cx="140589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2,2 %</a:t>
            </a:r>
            <a:endParaRPr lang="en-US" sz="850" dirty="0"/>
          </a:p>
        </p:txBody>
      </p:sp>
      <p:sp>
        <p:nvSpPr>
          <p:cNvPr id="19" name="Text 17"/>
          <p:cNvSpPr/>
          <p:nvPr/>
        </p:nvSpPr>
        <p:spPr>
          <a:xfrm>
            <a:off x="4940046" y="1664208"/>
            <a:ext cx="140589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Sucre / Alimentaire</a:t>
            </a:r>
            <a:endParaRPr lang="en-US" sz="850" dirty="0"/>
          </a:p>
        </p:txBody>
      </p:sp>
      <p:sp>
        <p:nvSpPr>
          <p:cNvPr id="20" name="Shape 18"/>
          <p:cNvSpPr/>
          <p:nvPr/>
        </p:nvSpPr>
        <p:spPr>
          <a:xfrm>
            <a:off x="137160" y="1883664"/>
            <a:ext cx="6217920" cy="256032"/>
          </a:xfrm>
          <a:prstGeom prst="rect">
            <a:avLst/>
          </a:prstGeom>
          <a:solidFill>
            <a:srgbClr val="F8F9FA"/>
          </a:solidFill>
          <a:ln w="3810">
            <a:solidFill>
              <a:srgbClr val="E5E7EB"/>
            </a:solidFill>
            <a:prstDash val="solid"/>
          </a:ln>
        </p:spPr>
      </p:sp>
      <p:sp>
        <p:nvSpPr>
          <p:cNvPr id="21" name="Text 19"/>
          <p:cNvSpPr/>
          <p:nvPr/>
        </p:nvSpPr>
        <p:spPr>
          <a:xfrm>
            <a:off x="173736" y="192024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#12</a:t>
            </a:r>
            <a:endParaRPr lang="en-US" sz="850" dirty="0"/>
          </a:p>
        </p:txBody>
      </p:sp>
      <p:sp>
        <p:nvSpPr>
          <p:cNvPr id="22" name="Text 20"/>
          <p:cNvSpPr/>
          <p:nvPr/>
        </p:nvSpPr>
        <p:spPr>
          <a:xfrm>
            <a:off x="585216" y="1920240"/>
            <a:ext cx="140589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BURKINATRANS</a:t>
            </a:r>
            <a:endParaRPr lang="en-US" sz="850" dirty="0"/>
          </a:p>
        </p:txBody>
      </p:sp>
      <p:sp>
        <p:nvSpPr>
          <p:cNvPr id="23" name="Text 21"/>
          <p:cNvSpPr/>
          <p:nvPr/>
        </p:nvSpPr>
        <p:spPr>
          <a:xfrm>
            <a:off x="2036826" y="1920240"/>
            <a:ext cx="140589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580</a:t>
            </a:r>
            <a:endParaRPr lang="en-US" sz="850" dirty="0"/>
          </a:p>
        </p:txBody>
      </p:sp>
      <p:sp>
        <p:nvSpPr>
          <p:cNvPr id="24" name="Text 22"/>
          <p:cNvSpPr/>
          <p:nvPr/>
        </p:nvSpPr>
        <p:spPr>
          <a:xfrm>
            <a:off x="3488436" y="1920240"/>
            <a:ext cx="140589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2,0 %</a:t>
            </a:r>
            <a:endParaRPr lang="en-US" sz="850" dirty="0"/>
          </a:p>
        </p:txBody>
      </p:sp>
      <p:sp>
        <p:nvSpPr>
          <p:cNvPr id="25" name="Text 23"/>
          <p:cNvSpPr/>
          <p:nvPr/>
        </p:nvSpPr>
        <p:spPr>
          <a:xfrm>
            <a:off x="4940046" y="1920240"/>
            <a:ext cx="140589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BTP Burkina</a:t>
            </a:r>
            <a:endParaRPr lang="en-US" sz="850" dirty="0"/>
          </a:p>
        </p:txBody>
      </p:sp>
      <p:sp>
        <p:nvSpPr>
          <p:cNvPr id="26" name="Shape 24"/>
          <p:cNvSpPr/>
          <p:nvPr/>
        </p:nvSpPr>
        <p:spPr>
          <a:xfrm>
            <a:off x="137160" y="2139696"/>
            <a:ext cx="6217920" cy="256032"/>
          </a:xfrm>
          <a:prstGeom prst="rect">
            <a:avLst/>
          </a:prstGeom>
          <a:solidFill>
            <a:srgbClr val="FFFFFF"/>
          </a:solidFill>
          <a:ln w="3810">
            <a:solidFill>
              <a:srgbClr val="E5E7EB"/>
            </a:solidFill>
            <a:prstDash val="solid"/>
          </a:ln>
        </p:spPr>
      </p:sp>
      <p:sp>
        <p:nvSpPr>
          <p:cNvPr id="27" name="Text 25"/>
          <p:cNvSpPr/>
          <p:nvPr/>
        </p:nvSpPr>
        <p:spPr>
          <a:xfrm>
            <a:off x="173736" y="217627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#13</a:t>
            </a:r>
            <a:endParaRPr lang="en-US" sz="850" dirty="0"/>
          </a:p>
        </p:txBody>
      </p:sp>
      <p:sp>
        <p:nvSpPr>
          <p:cNvPr id="28" name="Text 26"/>
          <p:cNvSpPr/>
          <p:nvPr/>
        </p:nvSpPr>
        <p:spPr>
          <a:xfrm>
            <a:off x="585216" y="2176272"/>
            <a:ext cx="140589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TRANS-SAHEL LOG.</a:t>
            </a:r>
            <a:endParaRPr lang="en-US" sz="850" dirty="0"/>
          </a:p>
        </p:txBody>
      </p:sp>
      <p:sp>
        <p:nvSpPr>
          <p:cNvPr id="29" name="Text 27"/>
          <p:cNvSpPr/>
          <p:nvPr/>
        </p:nvSpPr>
        <p:spPr>
          <a:xfrm>
            <a:off x="2036826" y="2176272"/>
            <a:ext cx="140589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450</a:t>
            </a:r>
            <a:endParaRPr lang="en-US" sz="850" dirty="0"/>
          </a:p>
        </p:txBody>
      </p:sp>
      <p:sp>
        <p:nvSpPr>
          <p:cNvPr id="30" name="Text 28"/>
          <p:cNvSpPr/>
          <p:nvPr/>
        </p:nvSpPr>
        <p:spPr>
          <a:xfrm>
            <a:off x="3488436" y="2176272"/>
            <a:ext cx="140589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1,6 %</a:t>
            </a:r>
            <a:endParaRPr lang="en-US" sz="850" dirty="0"/>
          </a:p>
        </p:txBody>
      </p:sp>
      <p:sp>
        <p:nvSpPr>
          <p:cNvPr id="31" name="Text 29"/>
          <p:cNvSpPr/>
          <p:nvPr/>
        </p:nvSpPr>
        <p:spPr>
          <a:xfrm>
            <a:off x="4940046" y="2176272"/>
            <a:ext cx="140589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Machines</a:t>
            </a:r>
            <a:endParaRPr lang="en-US" sz="850" dirty="0"/>
          </a:p>
        </p:txBody>
      </p:sp>
      <p:sp>
        <p:nvSpPr>
          <p:cNvPr id="32" name="Shape 30"/>
          <p:cNvSpPr/>
          <p:nvPr/>
        </p:nvSpPr>
        <p:spPr>
          <a:xfrm>
            <a:off x="137160" y="2395728"/>
            <a:ext cx="6217920" cy="256032"/>
          </a:xfrm>
          <a:prstGeom prst="rect">
            <a:avLst/>
          </a:prstGeom>
          <a:solidFill>
            <a:srgbClr val="F8F9FA"/>
          </a:solidFill>
          <a:ln w="3810">
            <a:solidFill>
              <a:srgbClr val="E5E7EB"/>
            </a:solidFill>
            <a:prstDash val="solid"/>
          </a:ln>
        </p:spPr>
      </p:sp>
      <p:sp>
        <p:nvSpPr>
          <p:cNvPr id="33" name="Text 31"/>
          <p:cNvSpPr/>
          <p:nvPr/>
        </p:nvSpPr>
        <p:spPr>
          <a:xfrm>
            <a:off x="173736" y="243230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#14</a:t>
            </a:r>
            <a:endParaRPr lang="en-US" sz="850" dirty="0"/>
          </a:p>
        </p:txBody>
      </p:sp>
      <p:sp>
        <p:nvSpPr>
          <p:cNvPr id="34" name="Text 32"/>
          <p:cNvSpPr/>
          <p:nvPr/>
        </p:nvSpPr>
        <p:spPr>
          <a:xfrm>
            <a:off x="585216" y="2432304"/>
            <a:ext cx="140589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KARAMOKOTRAKRANSIT</a:t>
            </a:r>
            <a:endParaRPr lang="en-US" sz="850" dirty="0"/>
          </a:p>
        </p:txBody>
      </p:sp>
      <p:sp>
        <p:nvSpPr>
          <p:cNvPr id="35" name="Text 33"/>
          <p:cNvSpPr/>
          <p:nvPr/>
        </p:nvSpPr>
        <p:spPr>
          <a:xfrm>
            <a:off x="2036826" y="2432304"/>
            <a:ext cx="140589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380</a:t>
            </a:r>
            <a:endParaRPr lang="en-US" sz="850" dirty="0"/>
          </a:p>
        </p:txBody>
      </p:sp>
      <p:sp>
        <p:nvSpPr>
          <p:cNvPr id="36" name="Text 34"/>
          <p:cNvSpPr/>
          <p:nvPr/>
        </p:nvSpPr>
        <p:spPr>
          <a:xfrm>
            <a:off x="3488436" y="2432304"/>
            <a:ext cx="140589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1,3 %</a:t>
            </a:r>
            <a:endParaRPr lang="en-US" sz="850" dirty="0"/>
          </a:p>
        </p:txBody>
      </p:sp>
      <p:sp>
        <p:nvSpPr>
          <p:cNvPr id="37" name="Text 35"/>
          <p:cNvSpPr/>
          <p:nvPr/>
        </p:nvSpPr>
        <p:spPr>
          <a:xfrm>
            <a:off x="4940046" y="2432304"/>
            <a:ext cx="140589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Alimentation</a:t>
            </a:r>
            <a:endParaRPr lang="en-US" sz="850" dirty="0"/>
          </a:p>
        </p:txBody>
      </p:sp>
      <p:sp>
        <p:nvSpPr>
          <p:cNvPr id="38" name="Text 36"/>
          <p:cNvSpPr/>
          <p:nvPr/>
        </p:nvSpPr>
        <p:spPr>
          <a:xfrm>
            <a:off x="228600" y="274320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Nouveaux destinataires AGL – Hinterland Import</a:t>
            </a:r>
            <a:endParaRPr lang="en-US" sz="1100" dirty="0"/>
          </a:p>
        </p:txBody>
      </p:sp>
      <p:sp>
        <p:nvSpPr>
          <p:cNvPr id="39" name="Shape 37"/>
          <p:cNvSpPr/>
          <p:nvPr/>
        </p:nvSpPr>
        <p:spPr>
          <a:xfrm>
            <a:off x="137160" y="3017520"/>
            <a:ext cx="6217920" cy="256032"/>
          </a:xfrm>
          <a:prstGeom prst="rect">
            <a:avLst/>
          </a:prstGeom>
          <a:solidFill>
            <a:srgbClr val="0D2243"/>
          </a:solidFill>
          <a:ln/>
        </p:spPr>
      </p:sp>
      <p:sp>
        <p:nvSpPr>
          <p:cNvPr id="40" name="Text 38"/>
          <p:cNvSpPr/>
          <p:nvPr/>
        </p:nvSpPr>
        <p:spPr>
          <a:xfrm>
            <a:off x="173736" y="3054096"/>
            <a:ext cx="150876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Destinataire</a:t>
            </a:r>
            <a:endParaRPr lang="en-US" sz="850" dirty="0"/>
          </a:p>
        </p:txBody>
      </p:sp>
      <p:sp>
        <p:nvSpPr>
          <p:cNvPr id="41" name="Text 39"/>
          <p:cNvSpPr/>
          <p:nvPr/>
        </p:nvSpPr>
        <p:spPr>
          <a:xfrm>
            <a:off x="1728216" y="305409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TEU</a:t>
            </a:r>
            <a:endParaRPr lang="en-US" sz="850" dirty="0"/>
          </a:p>
        </p:txBody>
      </p:sp>
      <p:sp>
        <p:nvSpPr>
          <p:cNvPr id="42" name="Text 40"/>
          <p:cNvSpPr/>
          <p:nvPr/>
        </p:nvSpPr>
        <p:spPr>
          <a:xfrm>
            <a:off x="3282696" y="305409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Destination</a:t>
            </a:r>
            <a:endParaRPr lang="en-US" sz="850" dirty="0"/>
          </a:p>
        </p:txBody>
      </p:sp>
      <p:sp>
        <p:nvSpPr>
          <p:cNvPr id="43" name="Text 41"/>
          <p:cNvSpPr/>
          <p:nvPr/>
        </p:nvSpPr>
        <p:spPr>
          <a:xfrm>
            <a:off x="4837176" y="305409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Entrée</a:t>
            </a:r>
            <a:endParaRPr lang="en-US" sz="850" dirty="0"/>
          </a:p>
        </p:txBody>
      </p:sp>
      <p:sp>
        <p:nvSpPr>
          <p:cNvPr id="44" name="Shape 42"/>
          <p:cNvSpPr/>
          <p:nvPr/>
        </p:nvSpPr>
        <p:spPr>
          <a:xfrm>
            <a:off x="137160" y="3273552"/>
            <a:ext cx="6217920" cy="256032"/>
          </a:xfrm>
          <a:prstGeom prst="rect">
            <a:avLst/>
          </a:prstGeom>
          <a:solidFill>
            <a:srgbClr val="FFF9EC"/>
          </a:solidFill>
          <a:ln w="3810">
            <a:solidFill>
              <a:srgbClr val="E5E7EB"/>
            </a:solidFill>
            <a:prstDash val="solid"/>
          </a:ln>
        </p:spPr>
      </p:sp>
      <p:sp>
        <p:nvSpPr>
          <p:cNvPr id="45" name="Text 43"/>
          <p:cNvSpPr/>
          <p:nvPr/>
        </p:nvSpPr>
        <p:spPr>
          <a:xfrm>
            <a:off x="173736" y="3310128"/>
            <a:ext cx="150876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SOFAO BF (alimentaire)</a:t>
            </a:r>
            <a:endParaRPr lang="en-US" sz="850" dirty="0"/>
          </a:p>
        </p:txBody>
      </p:sp>
      <p:sp>
        <p:nvSpPr>
          <p:cNvPr id="46" name="Text 44"/>
          <p:cNvSpPr/>
          <p:nvPr/>
        </p:nvSpPr>
        <p:spPr>
          <a:xfrm>
            <a:off x="1728216" y="331012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926</a:t>
            </a:r>
            <a:endParaRPr lang="en-US" sz="850" dirty="0"/>
          </a:p>
        </p:txBody>
      </p:sp>
      <p:sp>
        <p:nvSpPr>
          <p:cNvPr id="47" name="Text 45"/>
          <p:cNvSpPr/>
          <p:nvPr/>
        </p:nvSpPr>
        <p:spPr>
          <a:xfrm>
            <a:off x="3282696" y="331012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Ouagadougou</a:t>
            </a:r>
            <a:endParaRPr lang="en-US" sz="850" dirty="0"/>
          </a:p>
        </p:txBody>
      </p:sp>
      <p:sp>
        <p:nvSpPr>
          <p:cNvPr id="48" name="Text 46"/>
          <p:cNvSpPr/>
          <p:nvPr/>
        </p:nvSpPr>
        <p:spPr>
          <a:xfrm>
            <a:off x="4837176" y="3310128"/>
            <a:ext cx="150876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Q1 2026</a:t>
            </a:r>
            <a:endParaRPr lang="en-US" sz="850" dirty="0"/>
          </a:p>
        </p:txBody>
      </p:sp>
      <p:sp>
        <p:nvSpPr>
          <p:cNvPr id="49" name="Shape 47"/>
          <p:cNvSpPr/>
          <p:nvPr/>
        </p:nvSpPr>
        <p:spPr>
          <a:xfrm>
            <a:off x="137160" y="3529584"/>
            <a:ext cx="6217920" cy="256032"/>
          </a:xfrm>
          <a:prstGeom prst="rect">
            <a:avLst/>
          </a:prstGeom>
          <a:solidFill>
            <a:srgbClr val="F8F9FA"/>
          </a:solidFill>
          <a:ln w="3810">
            <a:solidFill>
              <a:srgbClr val="E5E7EB"/>
            </a:solidFill>
            <a:prstDash val="solid"/>
          </a:ln>
        </p:spPr>
      </p:sp>
      <p:sp>
        <p:nvSpPr>
          <p:cNvPr id="50" name="Text 48"/>
          <p:cNvSpPr/>
          <p:nvPr/>
        </p:nvSpPr>
        <p:spPr>
          <a:xfrm>
            <a:off x="173736" y="3566160"/>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BRAKINA (boissons)</a:t>
            </a:r>
            <a:endParaRPr lang="en-US" sz="850" dirty="0"/>
          </a:p>
        </p:txBody>
      </p:sp>
      <p:sp>
        <p:nvSpPr>
          <p:cNvPr id="51" name="Text 49"/>
          <p:cNvSpPr/>
          <p:nvPr/>
        </p:nvSpPr>
        <p:spPr>
          <a:xfrm>
            <a:off x="1728216" y="356616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552</a:t>
            </a:r>
            <a:endParaRPr lang="en-US" sz="850" dirty="0"/>
          </a:p>
        </p:txBody>
      </p:sp>
      <p:sp>
        <p:nvSpPr>
          <p:cNvPr id="52" name="Text 50"/>
          <p:cNvSpPr/>
          <p:nvPr/>
        </p:nvSpPr>
        <p:spPr>
          <a:xfrm>
            <a:off x="3282696" y="356616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Bobo-Dioulasso</a:t>
            </a:r>
            <a:endParaRPr lang="en-US" sz="850" dirty="0"/>
          </a:p>
        </p:txBody>
      </p:sp>
      <p:sp>
        <p:nvSpPr>
          <p:cNvPr id="53" name="Text 51"/>
          <p:cNvSpPr/>
          <p:nvPr/>
        </p:nvSpPr>
        <p:spPr>
          <a:xfrm>
            <a:off x="4837176" y="356616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Q1 2026</a:t>
            </a:r>
            <a:endParaRPr lang="en-US" sz="850" dirty="0"/>
          </a:p>
        </p:txBody>
      </p:sp>
      <p:sp>
        <p:nvSpPr>
          <p:cNvPr id="54" name="Shape 52"/>
          <p:cNvSpPr/>
          <p:nvPr/>
        </p:nvSpPr>
        <p:spPr>
          <a:xfrm>
            <a:off x="137160" y="3785616"/>
            <a:ext cx="6217920" cy="256032"/>
          </a:xfrm>
          <a:prstGeom prst="rect">
            <a:avLst/>
          </a:prstGeom>
          <a:solidFill>
            <a:srgbClr val="FFFFFF"/>
          </a:solidFill>
          <a:ln w="3810">
            <a:solidFill>
              <a:srgbClr val="E5E7EB"/>
            </a:solidFill>
            <a:prstDash val="solid"/>
          </a:ln>
        </p:spPr>
      </p:sp>
      <p:sp>
        <p:nvSpPr>
          <p:cNvPr id="55" name="Text 53"/>
          <p:cNvSpPr/>
          <p:nvPr/>
        </p:nvSpPr>
        <p:spPr>
          <a:xfrm>
            <a:off x="173736" y="3822192"/>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CODIMEX BF (emballages)</a:t>
            </a:r>
            <a:endParaRPr lang="en-US" sz="850" dirty="0"/>
          </a:p>
        </p:txBody>
      </p:sp>
      <p:sp>
        <p:nvSpPr>
          <p:cNvPr id="56" name="Text 54"/>
          <p:cNvSpPr/>
          <p:nvPr/>
        </p:nvSpPr>
        <p:spPr>
          <a:xfrm>
            <a:off x="1728216" y="382219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461</a:t>
            </a:r>
            <a:endParaRPr lang="en-US" sz="850" dirty="0"/>
          </a:p>
        </p:txBody>
      </p:sp>
      <p:sp>
        <p:nvSpPr>
          <p:cNvPr id="57" name="Text 55"/>
          <p:cNvSpPr/>
          <p:nvPr/>
        </p:nvSpPr>
        <p:spPr>
          <a:xfrm>
            <a:off x="3282696" y="382219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Ouagadougou</a:t>
            </a:r>
            <a:endParaRPr lang="en-US" sz="850" dirty="0"/>
          </a:p>
        </p:txBody>
      </p:sp>
      <p:sp>
        <p:nvSpPr>
          <p:cNvPr id="58" name="Text 56"/>
          <p:cNvSpPr/>
          <p:nvPr/>
        </p:nvSpPr>
        <p:spPr>
          <a:xfrm>
            <a:off x="4837176" y="382219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Q2 2026</a:t>
            </a:r>
            <a:endParaRPr lang="en-US" sz="850" dirty="0"/>
          </a:p>
        </p:txBody>
      </p:sp>
      <p:sp>
        <p:nvSpPr>
          <p:cNvPr id="59" name="Shape 57"/>
          <p:cNvSpPr/>
          <p:nvPr/>
        </p:nvSpPr>
        <p:spPr>
          <a:xfrm>
            <a:off x="137160" y="4041648"/>
            <a:ext cx="6217920" cy="256032"/>
          </a:xfrm>
          <a:prstGeom prst="rect">
            <a:avLst/>
          </a:prstGeom>
          <a:solidFill>
            <a:srgbClr val="F8F9FA"/>
          </a:solidFill>
          <a:ln w="3810">
            <a:solidFill>
              <a:srgbClr val="E5E7EB"/>
            </a:solidFill>
            <a:prstDash val="solid"/>
          </a:ln>
        </p:spPr>
      </p:sp>
      <p:sp>
        <p:nvSpPr>
          <p:cNvPr id="60" name="Text 58"/>
          <p:cNvSpPr/>
          <p:nvPr/>
        </p:nvSpPr>
        <p:spPr>
          <a:xfrm>
            <a:off x="173736" y="4078224"/>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TOTAL ENERGIES ML</a:t>
            </a:r>
            <a:endParaRPr lang="en-US" sz="850" dirty="0"/>
          </a:p>
        </p:txBody>
      </p:sp>
      <p:sp>
        <p:nvSpPr>
          <p:cNvPr id="61" name="Text 59"/>
          <p:cNvSpPr/>
          <p:nvPr/>
        </p:nvSpPr>
        <p:spPr>
          <a:xfrm>
            <a:off x="1728216" y="407822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390</a:t>
            </a:r>
            <a:endParaRPr lang="en-US" sz="850" dirty="0"/>
          </a:p>
        </p:txBody>
      </p:sp>
      <p:sp>
        <p:nvSpPr>
          <p:cNvPr id="62" name="Text 60"/>
          <p:cNvSpPr/>
          <p:nvPr/>
        </p:nvSpPr>
        <p:spPr>
          <a:xfrm>
            <a:off x="3282696" y="407822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Bamako</a:t>
            </a:r>
            <a:endParaRPr lang="en-US" sz="850" dirty="0"/>
          </a:p>
        </p:txBody>
      </p:sp>
      <p:sp>
        <p:nvSpPr>
          <p:cNvPr id="63" name="Text 61"/>
          <p:cNvSpPr/>
          <p:nvPr/>
        </p:nvSpPr>
        <p:spPr>
          <a:xfrm>
            <a:off x="4837176" y="407822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Q1 2026</a:t>
            </a:r>
            <a:endParaRPr lang="en-US" sz="850" dirty="0"/>
          </a:p>
        </p:txBody>
      </p:sp>
      <p:sp>
        <p:nvSpPr>
          <p:cNvPr id="64" name="Shape 62"/>
          <p:cNvSpPr/>
          <p:nvPr/>
        </p:nvSpPr>
        <p:spPr>
          <a:xfrm>
            <a:off x="137160" y="4297680"/>
            <a:ext cx="6217920" cy="256032"/>
          </a:xfrm>
          <a:prstGeom prst="rect">
            <a:avLst/>
          </a:prstGeom>
          <a:solidFill>
            <a:srgbClr val="FFFFFF"/>
          </a:solidFill>
          <a:ln w="3810">
            <a:solidFill>
              <a:srgbClr val="E5E7EB"/>
            </a:solidFill>
            <a:prstDash val="solid"/>
          </a:ln>
        </p:spPr>
      </p:sp>
      <p:sp>
        <p:nvSpPr>
          <p:cNvPr id="65" name="Text 63"/>
          <p:cNvSpPr/>
          <p:nvPr/>
        </p:nvSpPr>
        <p:spPr>
          <a:xfrm>
            <a:off x="173736" y="4334256"/>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ONATEL BF (télécoms)</a:t>
            </a:r>
            <a:endParaRPr lang="en-US" sz="850" dirty="0"/>
          </a:p>
        </p:txBody>
      </p:sp>
      <p:sp>
        <p:nvSpPr>
          <p:cNvPr id="66" name="Text 64"/>
          <p:cNvSpPr/>
          <p:nvPr/>
        </p:nvSpPr>
        <p:spPr>
          <a:xfrm>
            <a:off x="1728216" y="433425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320</a:t>
            </a:r>
            <a:endParaRPr lang="en-US" sz="850" dirty="0"/>
          </a:p>
        </p:txBody>
      </p:sp>
      <p:sp>
        <p:nvSpPr>
          <p:cNvPr id="67" name="Text 65"/>
          <p:cNvSpPr/>
          <p:nvPr/>
        </p:nvSpPr>
        <p:spPr>
          <a:xfrm>
            <a:off x="3282696" y="433425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Ouagadougou</a:t>
            </a:r>
            <a:endParaRPr lang="en-US" sz="850" dirty="0"/>
          </a:p>
        </p:txBody>
      </p:sp>
      <p:sp>
        <p:nvSpPr>
          <p:cNvPr id="68" name="Text 66"/>
          <p:cNvSpPr/>
          <p:nvPr/>
        </p:nvSpPr>
        <p:spPr>
          <a:xfrm>
            <a:off x="4837176" y="433425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Q2 2026</a:t>
            </a:r>
            <a:endParaRPr lang="en-US" sz="850" dirty="0"/>
          </a:p>
        </p:txBody>
      </p:sp>
      <p:sp>
        <p:nvSpPr>
          <p:cNvPr id="69" name="Text 67"/>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Nouvelles marchandises hinterland – PDM AGL</a:t>
            </a:r>
            <a:endParaRPr lang="en-US" sz="1100" dirty="0"/>
          </a:p>
        </p:txBody>
      </p:sp>
      <p:sp>
        <p:nvSpPr>
          <p:cNvPr id="70" name="Text 68"/>
          <p:cNvSpPr/>
          <p:nvPr/>
        </p:nvSpPr>
        <p:spPr>
          <a:xfrm>
            <a:off x="6492240" y="138988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MATÉRIEL AGRICOLE</a:t>
            </a:r>
            <a:endParaRPr lang="en-US" sz="850" dirty="0"/>
          </a:p>
        </p:txBody>
      </p:sp>
      <p:sp>
        <p:nvSpPr>
          <p:cNvPr id="71" name="Text 69"/>
          <p:cNvSpPr/>
          <p:nvPr/>
        </p:nvSpPr>
        <p:spPr>
          <a:xfrm>
            <a:off x="8156448" y="138988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520 TEU</a:t>
            </a:r>
            <a:endParaRPr lang="en-US" sz="850" dirty="0"/>
          </a:p>
        </p:txBody>
      </p:sp>
      <p:sp>
        <p:nvSpPr>
          <p:cNvPr id="72" name="Shape 70"/>
          <p:cNvSpPr/>
          <p:nvPr/>
        </p:nvSpPr>
        <p:spPr>
          <a:xfrm>
            <a:off x="9052560" y="1426464"/>
            <a:ext cx="2743200" cy="164592"/>
          </a:xfrm>
          <a:prstGeom prst="rect">
            <a:avLst/>
          </a:prstGeom>
          <a:solidFill>
            <a:srgbClr val="E5E7EB"/>
          </a:solidFill>
          <a:ln/>
        </p:spPr>
      </p:sp>
      <p:sp>
        <p:nvSpPr>
          <p:cNvPr id="73" name="Shape 71"/>
          <p:cNvSpPr/>
          <p:nvPr/>
        </p:nvSpPr>
        <p:spPr>
          <a:xfrm>
            <a:off x="9052560" y="1426464"/>
            <a:ext cx="219456" cy="164592"/>
          </a:xfrm>
          <a:prstGeom prst="rect">
            <a:avLst/>
          </a:prstGeom>
          <a:solidFill>
            <a:srgbClr val="CC2200"/>
          </a:solidFill>
          <a:ln/>
        </p:spPr>
      </p:sp>
      <p:sp>
        <p:nvSpPr>
          <p:cNvPr id="74" name="Text 72"/>
          <p:cNvSpPr/>
          <p:nvPr/>
        </p:nvSpPr>
        <p:spPr>
          <a:xfrm>
            <a:off x="11841480" y="1389888"/>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8%</a:t>
            </a:r>
            <a:endParaRPr lang="en-US" sz="900" dirty="0"/>
          </a:p>
        </p:txBody>
      </p:sp>
      <p:sp>
        <p:nvSpPr>
          <p:cNvPr id="75" name="Text 73"/>
          <p:cNvSpPr/>
          <p:nvPr/>
        </p:nvSpPr>
        <p:spPr>
          <a:xfrm>
            <a:off x="6492240" y="177393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VÉHICULES BTP</a:t>
            </a:r>
            <a:endParaRPr lang="en-US" sz="850" dirty="0"/>
          </a:p>
        </p:txBody>
      </p:sp>
      <p:sp>
        <p:nvSpPr>
          <p:cNvPr id="76" name="Text 74"/>
          <p:cNvSpPr/>
          <p:nvPr/>
        </p:nvSpPr>
        <p:spPr>
          <a:xfrm>
            <a:off x="8156448" y="177393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380 TEU</a:t>
            </a:r>
            <a:endParaRPr lang="en-US" sz="850" dirty="0"/>
          </a:p>
        </p:txBody>
      </p:sp>
      <p:sp>
        <p:nvSpPr>
          <p:cNvPr id="77" name="Shape 75"/>
          <p:cNvSpPr/>
          <p:nvPr/>
        </p:nvSpPr>
        <p:spPr>
          <a:xfrm>
            <a:off x="9052560" y="1810512"/>
            <a:ext cx="2743200" cy="164592"/>
          </a:xfrm>
          <a:prstGeom prst="rect">
            <a:avLst/>
          </a:prstGeom>
          <a:solidFill>
            <a:srgbClr val="E5E7EB"/>
          </a:solidFill>
          <a:ln/>
        </p:spPr>
      </p:sp>
      <p:sp>
        <p:nvSpPr>
          <p:cNvPr id="78" name="Shape 76"/>
          <p:cNvSpPr/>
          <p:nvPr/>
        </p:nvSpPr>
        <p:spPr>
          <a:xfrm>
            <a:off x="9052560" y="1810512"/>
            <a:ext cx="137160" cy="164592"/>
          </a:xfrm>
          <a:prstGeom prst="rect">
            <a:avLst/>
          </a:prstGeom>
          <a:solidFill>
            <a:srgbClr val="CC2200"/>
          </a:solidFill>
          <a:ln/>
        </p:spPr>
      </p:sp>
      <p:sp>
        <p:nvSpPr>
          <p:cNvPr id="79" name="Text 77"/>
          <p:cNvSpPr/>
          <p:nvPr/>
        </p:nvSpPr>
        <p:spPr>
          <a:xfrm>
            <a:off x="11841480" y="1773936"/>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5%</a:t>
            </a:r>
            <a:endParaRPr lang="en-US" sz="900" dirty="0"/>
          </a:p>
        </p:txBody>
      </p:sp>
      <p:sp>
        <p:nvSpPr>
          <p:cNvPr id="80" name="Text 78"/>
          <p:cNvSpPr/>
          <p:nvPr/>
        </p:nvSpPr>
        <p:spPr>
          <a:xfrm>
            <a:off x="6492240" y="215798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INTRANTS PHARMA</a:t>
            </a:r>
            <a:endParaRPr lang="en-US" sz="850" dirty="0"/>
          </a:p>
        </p:txBody>
      </p:sp>
      <p:sp>
        <p:nvSpPr>
          <p:cNvPr id="81" name="Text 79"/>
          <p:cNvSpPr/>
          <p:nvPr/>
        </p:nvSpPr>
        <p:spPr>
          <a:xfrm>
            <a:off x="8156448" y="215798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290 TEU</a:t>
            </a:r>
            <a:endParaRPr lang="en-US" sz="850" dirty="0"/>
          </a:p>
        </p:txBody>
      </p:sp>
      <p:sp>
        <p:nvSpPr>
          <p:cNvPr id="82" name="Shape 80"/>
          <p:cNvSpPr/>
          <p:nvPr/>
        </p:nvSpPr>
        <p:spPr>
          <a:xfrm>
            <a:off x="9052560" y="2194560"/>
            <a:ext cx="2743200" cy="164592"/>
          </a:xfrm>
          <a:prstGeom prst="rect">
            <a:avLst/>
          </a:prstGeom>
          <a:solidFill>
            <a:srgbClr val="E5E7EB"/>
          </a:solidFill>
          <a:ln/>
        </p:spPr>
      </p:sp>
      <p:sp>
        <p:nvSpPr>
          <p:cNvPr id="83" name="Shape 81"/>
          <p:cNvSpPr/>
          <p:nvPr/>
        </p:nvSpPr>
        <p:spPr>
          <a:xfrm>
            <a:off x="9052560" y="2194560"/>
            <a:ext cx="329184" cy="164592"/>
          </a:xfrm>
          <a:prstGeom prst="rect">
            <a:avLst/>
          </a:prstGeom>
          <a:solidFill>
            <a:srgbClr val="E05A00"/>
          </a:solidFill>
          <a:ln/>
        </p:spPr>
      </p:sp>
      <p:sp>
        <p:nvSpPr>
          <p:cNvPr id="84" name="Text 82"/>
          <p:cNvSpPr/>
          <p:nvPr/>
        </p:nvSpPr>
        <p:spPr>
          <a:xfrm>
            <a:off x="11841480" y="2157984"/>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12%</a:t>
            </a:r>
            <a:endParaRPr lang="en-US" sz="900" dirty="0"/>
          </a:p>
        </p:txBody>
      </p:sp>
      <p:sp>
        <p:nvSpPr>
          <p:cNvPr id="85" name="Shape 83"/>
          <p:cNvSpPr/>
          <p:nvPr/>
        </p:nvSpPr>
        <p:spPr>
          <a:xfrm>
            <a:off x="6492240" y="3840480"/>
            <a:ext cx="5486400" cy="685800"/>
          </a:xfrm>
          <a:prstGeom prst="rect">
            <a:avLst/>
          </a:prstGeom>
          <a:solidFill>
            <a:srgbClr val="FFFBEC"/>
          </a:solidFill>
          <a:ln w="6350">
            <a:solidFill>
              <a:srgbClr val="E5C97A"/>
            </a:solidFill>
            <a:prstDash val="solid"/>
          </a:ln>
        </p:spPr>
      </p:sp>
      <p:sp>
        <p:nvSpPr>
          <p:cNvPr id="86" name="Text 84"/>
          <p:cNvSpPr/>
          <p:nvPr/>
        </p:nvSpPr>
        <p:spPr>
          <a:xfrm>
            <a:off x="6583680" y="3913632"/>
            <a:ext cx="5303520" cy="5760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CIBLES : Thé (928 TEU) + Motos (1 172 TEU) à 0–1% PDM = 2 100 TEU de potentiel immédiat. Commercial dédié Ouagadougou recommandé (40% du marché hinterland).</a:t>
            </a:r>
            <a:endParaRPr lang="en-US" sz="900" dirty="0"/>
          </a:p>
        </p:txBody>
      </p:sp>
      <p:sp>
        <p:nvSpPr>
          <p:cNvPr id="87" name="Shape 85"/>
          <p:cNvSpPr/>
          <p:nvPr/>
        </p:nvSpPr>
        <p:spPr>
          <a:xfrm>
            <a:off x="6492240" y="4663440"/>
            <a:ext cx="5486400" cy="685800"/>
          </a:xfrm>
          <a:prstGeom prst="rect">
            <a:avLst/>
          </a:prstGeom>
          <a:solidFill>
            <a:srgbClr val="FEF2F2"/>
          </a:solidFill>
          <a:ln w="6350">
            <a:solidFill>
              <a:srgbClr val="E5C97A"/>
            </a:solidFill>
            <a:prstDash val="solid"/>
          </a:ln>
        </p:spPr>
      </p:sp>
      <p:sp>
        <p:nvSpPr>
          <p:cNvPr id="88" name="Text 86"/>
          <p:cNvSpPr/>
          <p:nvPr/>
        </p:nvSpPr>
        <p:spPr>
          <a:xfrm>
            <a:off x="6583680" y="4736592"/>
            <a:ext cx="5303520" cy="5760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MENACE : CEVA Logistics déjà #5 (4,4%) en quelques mois. UCT + Sitracom verrouillent 51,9% du marché — l'écart vers le rang #2 est de 3 994 TEU.</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Text 1"/>
          <p:cNvSpPr/>
          <p:nvPr/>
        </p:nvSpPr>
        <p:spPr>
          <a:xfrm>
            <a:off x="3200400" y="457200"/>
            <a:ext cx="5486400" cy="3657600"/>
          </a:xfrm>
          <a:prstGeom prst="rect">
            <a:avLst/>
          </a:prstGeom>
          <a:noFill/>
          <a:ln/>
        </p:spPr>
        <p:txBody>
          <a:bodyPr wrap="square" rtlCol="0" anchor="ctr"/>
          <a:lstStyle/>
          <a:p>
            <a:pPr algn="ctr" indent="0" marL="0">
              <a:buNone/>
            </a:pPr>
            <a:r>
              <a:rPr lang="en-US" sz="20000" b="1" dirty="0">
                <a:solidFill>
                  <a:srgbClr val="1A2E4A"/>
                </a:solidFill>
                <a:latin typeface="Calibri" pitchFamily="34" charset="0"/>
                <a:ea typeface="Calibri" pitchFamily="34" charset="-122"/>
                <a:cs typeface="Calibri" pitchFamily="34" charset="-120"/>
              </a:rPr>
              <a:t>04</a:t>
            </a:r>
            <a:endParaRPr lang="en-US" sz="20000" dirty="0"/>
          </a:p>
        </p:txBody>
      </p:sp>
      <p:sp>
        <p:nvSpPr>
          <p:cNvPr id="4" name="Shape 2"/>
          <p:cNvSpPr/>
          <p:nvPr/>
        </p:nvSpPr>
        <p:spPr>
          <a:xfrm>
            <a:off x="1097280" y="3520440"/>
            <a:ext cx="7498080" cy="59436"/>
          </a:xfrm>
          <a:prstGeom prst="rect">
            <a:avLst/>
          </a:prstGeom>
          <a:solidFill>
            <a:srgbClr val="C9A84C"/>
          </a:solidFill>
          <a:ln/>
        </p:spPr>
      </p:sp>
      <p:sp>
        <p:nvSpPr>
          <p:cNvPr id="5" name="Text 3"/>
          <p:cNvSpPr/>
          <p:nvPr/>
        </p:nvSpPr>
        <p:spPr>
          <a:xfrm>
            <a:off x="365760" y="2651760"/>
            <a:ext cx="11430000" cy="91440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HINTERLAND EXPORT MARITIME</a:t>
            </a:r>
            <a:endParaRPr lang="en-US" sz="3800" dirty="0"/>
          </a:p>
        </p:txBody>
      </p:sp>
      <p:sp>
        <p:nvSpPr>
          <p:cNvPr id="6" name="Text 4"/>
          <p:cNvSpPr/>
          <p:nvPr/>
        </p:nvSpPr>
        <p:spPr>
          <a:xfrm>
            <a:off x="365760" y="3657600"/>
            <a:ext cx="11430000" cy="457200"/>
          </a:xfrm>
          <a:prstGeom prst="rect">
            <a:avLst/>
          </a:prstGeom>
          <a:noFill/>
          <a:ln/>
        </p:spPr>
        <p:txBody>
          <a:bodyPr wrap="square" rtlCol="0" anchor="ctr"/>
          <a:lstStyle/>
          <a:p>
            <a:pPr algn="ctr" indent="0" marL="0">
              <a:buNone/>
            </a:pPr>
            <a:r>
              <a:rPr lang="en-US" sz="1600" i="1" dirty="0">
                <a:solidFill>
                  <a:srgbClr val="C9A84C"/>
                </a:solidFill>
                <a:latin typeface="Calibri" pitchFamily="34" charset="0"/>
                <a:ea typeface="Calibri" pitchFamily="34" charset="-122"/>
                <a:cs typeface="Calibri" pitchFamily="34" charset="-120"/>
              </a:rPr>
              <a:t>4 294 TEU  |  PDM AGL : 66,1%  |  Dominance absolue</a:t>
            </a:r>
            <a:endParaRPr lang="en-US" sz="1600" dirty="0"/>
          </a:p>
        </p:txBody>
      </p:sp>
      <p:sp>
        <p:nvSpPr>
          <p:cNvPr id="7" name="Text 5"/>
          <p:cNvSpPr/>
          <p:nvPr/>
        </p:nvSpPr>
        <p:spPr>
          <a:xfrm>
            <a:off x="1828800" y="6492240"/>
            <a:ext cx="8229600" cy="25603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a:t>
            </a:r>
            <a:endParaRPr lang="en-US" sz="900" dirty="0"/>
          </a:p>
        </p:txBody>
      </p:sp>
      <p:sp>
        <p:nvSpPr>
          <p:cNvPr id="8" name="Text 6"/>
          <p:cNvSpPr/>
          <p:nvPr/>
        </p:nvSpPr>
        <p:spPr>
          <a:xfrm>
            <a:off x="11430000" y="6473952"/>
            <a:ext cx="640080" cy="292608"/>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HINTERLAND EXPORT – VUE D'ENSEMBLE  |  Jan–Mai 2026</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AGL #1 ABSOLU – PDM 66,1%  |  Marché : 4 294 TEU  |  Coton dominant</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p.15</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Shape 5"/>
          <p:cNvSpPr/>
          <p:nvPr/>
        </p:nvSpPr>
        <p:spPr>
          <a:xfrm>
            <a:off x="137160" y="1097280"/>
            <a:ext cx="2291486" cy="868680"/>
          </a:xfrm>
          <a:prstGeom prst="rect">
            <a:avLst/>
          </a:prstGeom>
          <a:solidFill>
            <a:srgbClr val="F0F2F5"/>
          </a:solidFill>
          <a:ln w="6350">
            <a:solidFill>
              <a:srgbClr val="D1D5DB"/>
            </a:solidFill>
            <a:prstDash val="solid"/>
          </a:ln>
        </p:spPr>
      </p:sp>
      <p:sp>
        <p:nvSpPr>
          <p:cNvPr id="8" name="Text 6"/>
          <p:cNvSpPr/>
          <p:nvPr/>
        </p:nvSpPr>
        <p:spPr>
          <a:xfrm>
            <a:off x="137160"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MARCHÉ TOTAL</a:t>
            </a:r>
            <a:endParaRPr lang="en-US" sz="800" dirty="0"/>
          </a:p>
        </p:txBody>
      </p:sp>
      <p:sp>
        <p:nvSpPr>
          <p:cNvPr id="9" name="Text 7"/>
          <p:cNvSpPr/>
          <p:nvPr/>
        </p:nvSpPr>
        <p:spPr>
          <a:xfrm>
            <a:off x="137160"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4 294</a:t>
            </a:r>
            <a:endParaRPr lang="en-US" sz="2200" dirty="0"/>
          </a:p>
        </p:txBody>
      </p:sp>
      <p:sp>
        <p:nvSpPr>
          <p:cNvPr id="10" name="Text 8"/>
          <p:cNvSpPr/>
          <p:nvPr/>
        </p:nvSpPr>
        <p:spPr>
          <a:xfrm>
            <a:off x="137160"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a:t>
            </a:r>
            <a:endParaRPr lang="en-US" sz="850" dirty="0"/>
          </a:p>
        </p:txBody>
      </p:sp>
      <p:sp>
        <p:nvSpPr>
          <p:cNvPr id="11" name="Shape 9"/>
          <p:cNvSpPr/>
          <p:nvPr/>
        </p:nvSpPr>
        <p:spPr>
          <a:xfrm>
            <a:off x="2520086" y="1097280"/>
            <a:ext cx="2291486" cy="868680"/>
          </a:xfrm>
          <a:prstGeom prst="rect">
            <a:avLst/>
          </a:prstGeom>
          <a:solidFill>
            <a:srgbClr val="F0F2F5"/>
          </a:solidFill>
          <a:ln w="6350">
            <a:solidFill>
              <a:srgbClr val="D1D5DB"/>
            </a:solidFill>
            <a:prstDash val="solid"/>
          </a:ln>
        </p:spPr>
      </p:sp>
      <p:sp>
        <p:nvSpPr>
          <p:cNvPr id="12" name="Text 10"/>
          <p:cNvSpPr/>
          <p:nvPr/>
        </p:nvSpPr>
        <p:spPr>
          <a:xfrm>
            <a:off x="252008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VOLUME AGL</a:t>
            </a:r>
            <a:endParaRPr lang="en-US" sz="800" dirty="0"/>
          </a:p>
        </p:txBody>
      </p:sp>
      <p:sp>
        <p:nvSpPr>
          <p:cNvPr id="13" name="Text 11"/>
          <p:cNvSpPr/>
          <p:nvPr/>
        </p:nvSpPr>
        <p:spPr>
          <a:xfrm>
            <a:off x="2520086"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2 840</a:t>
            </a:r>
            <a:endParaRPr lang="en-US" sz="2200" dirty="0"/>
          </a:p>
        </p:txBody>
      </p:sp>
      <p:sp>
        <p:nvSpPr>
          <p:cNvPr id="14" name="Text 12"/>
          <p:cNvSpPr/>
          <p:nvPr/>
        </p:nvSpPr>
        <p:spPr>
          <a:xfrm>
            <a:off x="252008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a:t>
            </a:r>
            <a:endParaRPr lang="en-US" sz="850" dirty="0"/>
          </a:p>
        </p:txBody>
      </p:sp>
      <p:sp>
        <p:nvSpPr>
          <p:cNvPr id="15" name="Shape 13"/>
          <p:cNvSpPr/>
          <p:nvPr/>
        </p:nvSpPr>
        <p:spPr>
          <a:xfrm>
            <a:off x="4903013" y="1097280"/>
            <a:ext cx="2291486" cy="868680"/>
          </a:xfrm>
          <a:prstGeom prst="rect">
            <a:avLst/>
          </a:prstGeom>
          <a:solidFill>
            <a:srgbClr val="F0F2F5"/>
          </a:solidFill>
          <a:ln w="6350">
            <a:solidFill>
              <a:srgbClr val="D1D5DB"/>
            </a:solidFill>
            <a:prstDash val="solid"/>
          </a:ln>
        </p:spPr>
      </p:sp>
      <p:sp>
        <p:nvSpPr>
          <p:cNvPr id="16" name="Text 14"/>
          <p:cNvSpPr/>
          <p:nvPr/>
        </p:nvSpPr>
        <p:spPr>
          <a:xfrm>
            <a:off x="4903013"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AGL</a:t>
            </a:r>
            <a:endParaRPr lang="en-US" sz="800" dirty="0"/>
          </a:p>
        </p:txBody>
      </p:sp>
      <p:sp>
        <p:nvSpPr>
          <p:cNvPr id="17" name="Text 15"/>
          <p:cNvSpPr/>
          <p:nvPr/>
        </p:nvSpPr>
        <p:spPr>
          <a:xfrm>
            <a:off x="4903013" y="1316736"/>
            <a:ext cx="2291486" cy="384048"/>
          </a:xfrm>
          <a:prstGeom prst="rect">
            <a:avLst/>
          </a:prstGeom>
          <a:noFill/>
          <a:ln/>
        </p:spPr>
        <p:txBody>
          <a:bodyPr wrap="square" rtlCol="0" anchor="ctr"/>
          <a:lstStyle/>
          <a:p>
            <a:pPr algn="ctr" indent="0" marL="0">
              <a:buNone/>
            </a:pPr>
            <a:r>
              <a:rPr lang="en-US" sz="2600" b="1" dirty="0">
                <a:solidFill>
                  <a:srgbClr val="1A7C4F"/>
                </a:solidFill>
                <a:latin typeface="Calibri" pitchFamily="34" charset="0"/>
                <a:ea typeface="Calibri" pitchFamily="34" charset="-122"/>
                <a:cs typeface="Calibri" pitchFamily="34" charset="-120"/>
              </a:rPr>
              <a:t>66,1 %</a:t>
            </a:r>
            <a:endParaRPr lang="en-US" sz="2600" dirty="0"/>
          </a:p>
        </p:txBody>
      </p:sp>
      <p:sp>
        <p:nvSpPr>
          <p:cNvPr id="18" name="Text 16"/>
          <p:cNvSpPr/>
          <p:nvPr/>
        </p:nvSpPr>
        <p:spPr>
          <a:xfrm>
            <a:off x="4903013"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#1 ABSOLU</a:t>
            </a:r>
            <a:endParaRPr lang="en-US" sz="850" dirty="0"/>
          </a:p>
        </p:txBody>
      </p:sp>
      <p:sp>
        <p:nvSpPr>
          <p:cNvPr id="19" name="Shape 17"/>
          <p:cNvSpPr/>
          <p:nvPr/>
        </p:nvSpPr>
        <p:spPr>
          <a:xfrm>
            <a:off x="7285939" y="1097280"/>
            <a:ext cx="2291486" cy="868680"/>
          </a:xfrm>
          <a:prstGeom prst="rect">
            <a:avLst/>
          </a:prstGeom>
          <a:solidFill>
            <a:srgbClr val="F0F2F5"/>
          </a:solidFill>
          <a:ln w="6350">
            <a:solidFill>
              <a:srgbClr val="D1D5DB"/>
            </a:solidFill>
            <a:prstDash val="solid"/>
          </a:ln>
        </p:spPr>
      </p:sp>
      <p:sp>
        <p:nvSpPr>
          <p:cNvPr id="20" name="Text 18"/>
          <p:cNvSpPr/>
          <p:nvPr/>
        </p:nvSpPr>
        <p:spPr>
          <a:xfrm>
            <a:off x="7285939"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COTON AGL</a:t>
            </a:r>
            <a:endParaRPr lang="en-US" sz="800" dirty="0"/>
          </a:p>
        </p:txBody>
      </p:sp>
      <p:sp>
        <p:nvSpPr>
          <p:cNvPr id="21" name="Text 19"/>
          <p:cNvSpPr/>
          <p:nvPr/>
        </p:nvSpPr>
        <p:spPr>
          <a:xfrm>
            <a:off x="7285939"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2 522</a:t>
            </a:r>
            <a:endParaRPr lang="en-US" sz="2200" dirty="0"/>
          </a:p>
        </p:txBody>
      </p:sp>
      <p:sp>
        <p:nvSpPr>
          <p:cNvPr id="22" name="Text 20"/>
          <p:cNvSpPr/>
          <p:nvPr/>
        </p:nvSpPr>
        <p:spPr>
          <a:xfrm>
            <a:off x="7285939"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 88,8% du portef.</a:t>
            </a:r>
            <a:endParaRPr lang="en-US" sz="850" dirty="0"/>
          </a:p>
        </p:txBody>
      </p:sp>
      <p:sp>
        <p:nvSpPr>
          <p:cNvPr id="23" name="Shape 21"/>
          <p:cNvSpPr/>
          <p:nvPr/>
        </p:nvSpPr>
        <p:spPr>
          <a:xfrm>
            <a:off x="9668866" y="1097280"/>
            <a:ext cx="2291486" cy="868680"/>
          </a:xfrm>
          <a:prstGeom prst="rect">
            <a:avLst/>
          </a:prstGeom>
          <a:solidFill>
            <a:srgbClr val="F0F2F5"/>
          </a:solidFill>
          <a:ln w="6350">
            <a:solidFill>
              <a:srgbClr val="D1D5DB"/>
            </a:solidFill>
            <a:prstDash val="solid"/>
          </a:ln>
        </p:spPr>
      </p:sp>
      <p:sp>
        <p:nvSpPr>
          <p:cNvPr id="24" name="Text 22"/>
          <p:cNvSpPr/>
          <p:nvPr/>
        </p:nvSpPr>
        <p:spPr>
          <a:xfrm>
            <a:off x="966886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FÉV. (PEAK)</a:t>
            </a:r>
            <a:endParaRPr lang="en-US" sz="800" dirty="0"/>
          </a:p>
        </p:txBody>
      </p:sp>
      <p:sp>
        <p:nvSpPr>
          <p:cNvPr id="25" name="Text 23"/>
          <p:cNvSpPr/>
          <p:nvPr/>
        </p:nvSpPr>
        <p:spPr>
          <a:xfrm>
            <a:off x="9668866" y="1316736"/>
            <a:ext cx="2291486" cy="384048"/>
          </a:xfrm>
          <a:prstGeom prst="rect">
            <a:avLst/>
          </a:prstGeom>
          <a:noFill/>
          <a:ln/>
        </p:spPr>
        <p:txBody>
          <a:bodyPr wrap="square" rtlCol="0" anchor="ctr"/>
          <a:lstStyle/>
          <a:p>
            <a:pPr algn="ctr" indent="0" marL="0">
              <a:buNone/>
            </a:pPr>
            <a:r>
              <a:rPr lang="en-US" sz="2200" b="1" dirty="0">
                <a:solidFill>
                  <a:srgbClr val="2563A8"/>
                </a:solidFill>
                <a:latin typeface="Calibri" pitchFamily="34" charset="0"/>
                <a:ea typeface="Calibri" pitchFamily="34" charset="-122"/>
                <a:cs typeface="Calibri" pitchFamily="34" charset="-120"/>
              </a:rPr>
              <a:t>72,9 %</a:t>
            </a:r>
            <a:endParaRPr lang="en-US" sz="2200" dirty="0"/>
          </a:p>
        </p:txBody>
      </p:sp>
      <p:sp>
        <p:nvSpPr>
          <p:cNvPr id="26" name="Text 24"/>
          <p:cNvSpPr/>
          <p:nvPr/>
        </p:nvSpPr>
        <p:spPr>
          <a:xfrm>
            <a:off x="966886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Meilleure PDM période</a:t>
            </a:r>
            <a:endParaRPr lang="en-US" sz="850" dirty="0"/>
          </a:p>
        </p:txBody>
      </p:sp>
      <p:sp>
        <p:nvSpPr>
          <p:cNvPr id="27" name="Text 25"/>
          <p:cNvSpPr/>
          <p:nvPr/>
        </p:nvSpPr>
        <p:spPr>
          <a:xfrm>
            <a:off x="228600" y="2084832"/>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Évolution mensuelle – Hinterland Export</a:t>
            </a:r>
            <a:endParaRPr lang="en-US" sz="1100" dirty="0"/>
          </a:p>
        </p:txBody>
      </p:sp>
      <p:graphicFrame>
        <p:nvGraphicFramePr>
          <p:cNvPr id="28" name="Chart 0" descr=""/>
          <p:cNvGraphicFramePr/>
          <p:nvPr/>
        </p:nvGraphicFramePr>
        <p:xfrm>
          <a:off x="137160" y="2331720"/>
          <a:ext cx="6217920" cy="393192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p:nvPr/>
        </p:nvSpPr>
        <p:spPr>
          <a:xfrm>
            <a:off x="6492240" y="2084832"/>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par mois – Hinterland Export</a:t>
            </a:r>
            <a:endParaRPr lang="en-US" sz="1100" dirty="0"/>
          </a:p>
        </p:txBody>
      </p:sp>
      <p:sp>
        <p:nvSpPr>
          <p:cNvPr id="30" name="Shape 27"/>
          <p:cNvSpPr/>
          <p:nvPr/>
        </p:nvSpPr>
        <p:spPr>
          <a:xfrm>
            <a:off x="6492240" y="2395728"/>
            <a:ext cx="5486400" cy="475488"/>
          </a:xfrm>
          <a:prstGeom prst="rect">
            <a:avLst/>
          </a:prstGeom>
          <a:solidFill>
            <a:srgbClr val="F8FAFC"/>
          </a:solidFill>
          <a:ln w="3810">
            <a:solidFill>
              <a:srgbClr val="E5E7EB"/>
            </a:solidFill>
            <a:prstDash val="solid"/>
          </a:ln>
        </p:spPr>
      </p:sp>
      <p:sp>
        <p:nvSpPr>
          <p:cNvPr id="31" name="Text 28"/>
          <p:cNvSpPr/>
          <p:nvPr/>
        </p:nvSpPr>
        <p:spPr>
          <a:xfrm>
            <a:off x="6601968" y="2523744"/>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Janvier</a:t>
            </a:r>
            <a:endParaRPr lang="en-US" sz="1100" dirty="0"/>
          </a:p>
        </p:txBody>
      </p:sp>
      <p:sp>
        <p:nvSpPr>
          <p:cNvPr id="32" name="Shape 29"/>
          <p:cNvSpPr/>
          <p:nvPr/>
        </p:nvSpPr>
        <p:spPr>
          <a:xfrm>
            <a:off x="7452360" y="2523744"/>
            <a:ext cx="2560320" cy="201168"/>
          </a:xfrm>
          <a:prstGeom prst="rect">
            <a:avLst/>
          </a:prstGeom>
          <a:solidFill>
            <a:srgbClr val="D1D5DB"/>
          </a:solidFill>
          <a:ln/>
        </p:spPr>
      </p:sp>
      <p:sp>
        <p:nvSpPr>
          <p:cNvPr id="33" name="Shape 30"/>
          <p:cNvSpPr/>
          <p:nvPr/>
        </p:nvSpPr>
        <p:spPr>
          <a:xfrm>
            <a:off x="7452360" y="2523744"/>
            <a:ext cx="1780634" cy="201168"/>
          </a:xfrm>
          <a:prstGeom prst="rect">
            <a:avLst/>
          </a:prstGeom>
          <a:solidFill>
            <a:srgbClr val="E05A00"/>
          </a:solidFill>
          <a:ln/>
        </p:spPr>
      </p:sp>
      <p:sp>
        <p:nvSpPr>
          <p:cNvPr id="34" name="Text 31"/>
          <p:cNvSpPr/>
          <p:nvPr/>
        </p:nvSpPr>
        <p:spPr>
          <a:xfrm>
            <a:off x="10085832" y="2487168"/>
            <a:ext cx="868680" cy="274320"/>
          </a:xfrm>
          <a:prstGeom prst="rect">
            <a:avLst/>
          </a:prstGeom>
          <a:noFill/>
          <a:ln/>
        </p:spPr>
        <p:txBody>
          <a:bodyPr wrap="none" rtlCol="0" anchor="ctr"/>
          <a:lstStyle/>
          <a:p>
            <a:pPr algn="l" indent="0" marL="0">
              <a:buNone/>
            </a:pPr>
            <a:r>
              <a:rPr lang="en-US" sz="1100" b="1" dirty="0">
                <a:solidFill>
                  <a:srgbClr val="E05A00"/>
                </a:solidFill>
                <a:latin typeface="Calibri" pitchFamily="34" charset="0"/>
                <a:ea typeface="Calibri" pitchFamily="34" charset="-122"/>
                <a:cs typeface="Calibri" pitchFamily="34" charset="-120"/>
              </a:rPr>
              <a:t>50,7 %</a:t>
            </a:r>
            <a:endParaRPr lang="en-US" sz="1100" dirty="0"/>
          </a:p>
        </p:txBody>
      </p:sp>
      <p:sp>
        <p:nvSpPr>
          <p:cNvPr id="35" name="Shape 32"/>
          <p:cNvSpPr/>
          <p:nvPr/>
        </p:nvSpPr>
        <p:spPr>
          <a:xfrm>
            <a:off x="6492240" y="2926080"/>
            <a:ext cx="5486400" cy="475488"/>
          </a:xfrm>
          <a:prstGeom prst="rect">
            <a:avLst/>
          </a:prstGeom>
          <a:solidFill>
            <a:srgbClr val="F8FAFC"/>
          </a:solidFill>
          <a:ln w="3810">
            <a:solidFill>
              <a:srgbClr val="E5E7EB"/>
            </a:solidFill>
            <a:prstDash val="solid"/>
          </a:ln>
        </p:spPr>
      </p:sp>
      <p:sp>
        <p:nvSpPr>
          <p:cNvPr id="36" name="Text 33"/>
          <p:cNvSpPr/>
          <p:nvPr/>
        </p:nvSpPr>
        <p:spPr>
          <a:xfrm>
            <a:off x="6601968" y="3054096"/>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Février</a:t>
            </a:r>
            <a:endParaRPr lang="en-US" sz="1100" dirty="0"/>
          </a:p>
        </p:txBody>
      </p:sp>
      <p:sp>
        <p:nvSpPr>
          <p:cNvPr id="37" name="Shape 34"/>
          <p:cNvSpPr/>
          <p:nvPr/>
        </p:nvSpPr>
        <p:spPr>
          <a:xfrm>
            <a:off x="7452360" y="3054096"/>
            <a:ext cx="2560320" cy="201168"/>
          </a:xfrm>
          <a:prstGeom prst="rect">
            <a:avLst/>
          </a:prstGeom>
          <a:solidFill>
            <a:srgbClr val="D1D5DB"/>
          </a:solidFill>
          <a:ln/>
        </p:spPr>
      </p:sp>
      <p:sp>
        <p:nvSpPr>
          <p:cNvPr id="38" name="Shape 35"/>
          <p:cNvSpPr/>
          <p:nvPr/>
        </p:nvSpPr>
        <p:spPr>
          <a:xfrm>
            <a:off x="7452360" y="3054096"/>
            <a:ext cx="2560320" cy="201168"/>
          </a:xfrm>
          <a:prstGeom prst="rect">
            <a:avLst/>
          </a:prstGeom>
          <a:solidFill>
            <a:srgbClr val="1A7C4F"/>
          </a:solidFill>
          <a:ln/>
        </p:spPr>
      </p:sp>
      <p:sp>
        <p:nvSpPr>
          <p:cNvPr id="39" name="Text 36"/>
          <p:cNvSpPr/>
          <p:nvPr/>
        </p:nvSpPr>
        <p:spPr>
          <a:xfrm>
            <a:off x="10085832" y="3017520"/>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72,9 %</a:t>
            </a:r>
            <a:endParaRPr lang="en-US" sz="1100" dirty="0"/>
          </a:p>
        </p:txBody>
      </p:sp>
      <p:sp>
        <p:nvSpPr>
          <p:cNvPr id="40" name="Shape 37"/>
          <p:cNvSpPr/>
          <p:nvPr/>
        </p:nvSpPr>
        <p:spPr>
          <a:xfrm>
            <a:off x="6492240" y="3456432"/>
            <a:ext cx="5486400" cy="475488"/>
          </a:xfrm>
          <a:prstGeom prst="rect">
            <a:avLst/>
          </a:prstGeom>
          <a:solidFill>
            <a:srgbClr val="F8FAFC"/>
          </a:solidFill>
          <a:ln w="3810">
            <a:solidFill>
              <a:srgbClr val="E5E7EB"/>
            </a:solidFill>
            <a:prstDash val="solid"/>
          </a:ln>
        </p:spPr>
      </p:sp>
      <p:sp>
        <p:nvSpPr>
          <p:cNvPr id="41" name="Text 38"/>
          <p:cNvSpPr/>
          <p:nvPr/>
        </p:nvSpPr>
        <p:spPr>
          <a:xfrm>
            <a:off x="6601968" y="3584448"/>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Mars</a:t>
            </a:r>
            <a:endParaRPr lang="en-US" sz="1100" dirty="0"/>
          </a:p>
        </p:txBody>
      </p:sp>
      <p:sp>
        <p:nvSpPr>
          <p:cNvPr id="42" name="Shape 39"/>
          <p:cNvSpPr/>
          <p:nvPr/>
        </p:nvSpPr>
        <p:spPr>
          <a:xfrm>
            <a:off x="7452360" y="3584448"/>
            <a:ext cx="2560320" cy="201168"/>
          </a:xfrm>
          <a:prstGeom prst="rect">
            <a:avLst/>
          </a:prstGeom>
          <a:solidFill>
            <a:srgbClr val="D1D5DB"/>
          </a:solidFill>
          <a:ln/>
        </p:spPr>
      </p:sp>
      <p:sp>
        <p:nvSpPr>
          <p:cNvPr id="43" name="Shape 40"/>
          <p:cNvSpPr/>
          <p:nvPr/>
        </p:nvSpPr>
        <p:spPr>
          <a:xfrm>
            <a:off x="7452360" y="3584448"/>
            <a:ext cx="2525199" cy="201168"/>
          </a:xfrm>
          <a:prstGeom prst="rect">
            <a:avLst/>
          </a:prstGeom>
          <a:solidFill>
            <a:srgbClr val="1A7C4F"/>
          </a:solidFill>
          <a:ln/>
        </p:spPr>
      </p:sp>
      <p:sp>
        <p:nvSpPr>
          <p:cNvPr id="44" name="Text 41"/>
          <p:cNvSpPr/>
          <p:nvPr/>
        </p:nvSpPr>
        <p:spPr>
          <a:xfrm>
            <a:off x="10085832" y="3547872"/>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71,9 %</a:t>
            </a:r>
            <a:endParaRPr lang="en-US" sz="1100" dirty="0"/>
          </a:p>
        </p:txBody>
      </p:sp>
      <p:sp>
        <p:nvSpPr>
          <p:cNvPr id="45" name="Shape 42"/>
          <p:cNvSpPr/>
          <p:nvPr/>
        </p:nvSpPr>
        <p:spPr>
          <a:xfrm>
            <a:off x="6492240" y="3986784"/>
            <a:ext cx="5486400" cy="475488"/>
          </a:xfrm>
          <a:prstGeom prst="rect">
            <a:avLst/>
          </a:prstGeom>
          <a:solidFill>
            <a:srgbClr val="F8FAFC"/>
          </a:solidFill>
          <a:ln w="3810">
            <a:solidFill>
              <a:srgbClr val="E5E7EB"/>
            </a:solidFill>
            <a:prstDash val="solid"/>
          </a:ln>
        </p:spPr>
      </p:sp>
      <p:sp>
        <p:nvSpPr>
          <p:cNvPr id="46" name="Text 43"/>
          <p:cNvSpPr/>
          <p:nvPr/>
        </p:nvSpPr>
        <p:spPr>
          <a:xfrm>
            <a:off x="6601968" y="4114800"/>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Avril</a:t>
            </a:r>
            <a:endParaRPr lang="en-US" sz="1100" dirty="0"/>
          </a:p>
        </p:txBody>
      </p:sp>
      <p:sp>
        <p:nvSpPr>
          <p:cNvPr id="47" name="Shape 44"/>
          <p:cNvSpPr/>
          <p:nvPr/>
        </p:nvSpPr>
        <p:spPr>
          <a:xfrm>
            <a:off x="7452360" y="4114800"/>
            <a:ext cx="2560320" cy="201168"/>
          </a:xfrm>
          <a:prstGeom prst="rect">
            <a:avLst/>
          </a:prstGeom>
          <a:solidFill>
            <a:srgbClr val="D1D5DB"/>
          </a:solidFill>
          <a:ln/>
        </p:spPr>
      </p:sp>
      <p:sp>
        <p:nvSpPr>
          <p:cNvPr id="48" name="Shape 45"/>
          <p:cNvSpPr/>
          <p:nvPr/>
        </p:nvSpPr>
        <p:spPr>
          <a:xfrm>
            <a:off x="7452360" y="4114800"/>
            <a:ext cx="2391739" cy="201168"/>
          </a:xfrm>
          <a:prstGeom prst="rect">
            <a:avLst/>
          </a:prstGeom>
          <a:solidFill>
            <a:srgbClr val="1A7C4F"/>
          </a:solidFill>
          <a:ln/>
        </p:spPr>
      </p:sp>
      <p:sp>
        <p:nvSpPr>
          <p:cNvPr id="49" name="Text 46"/>
          <p:cNvSpPr/>
          <p:nvPr/>
        </p:nvSpPr>
        <p:spPr>
          <a:xfrm>
            <a:off x="10085832" y="4078224"/>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68,1 %</a:t>
            </a:r>
            <a:endParaRPr lang="en-US" sz="1100" dirty="0"/>
          </a:p>
        </p:txBody>
      </p:sp>
      <p:sp>
        <p:nvSpPr>
          <p:cNvPr id="50" name="Shape 47"/>
          <p:cNvSpPr/>
          <p:nvPr/>
        </p:nvSpPr>
        <p:spPr>
          <a:xfrm>
            <a:off x="6492240" y="4517136"/>
            <a:ext cx="5486400" cy="475488"/>
          </a:xfrm>
          <a:prstGeom prst="rect">
            <a:avLst/>
          </a:prstGeom>
          <a:solidFill>
            <a:srgbClr val="F8FAFC"/>
          </a:solidFill>
          <a:ln w="3810">
            <a:solidFill>
              <a:srgbClr val="E5E7EB"/>
            </a:solidFill>
            <a:prstDash val="solid"/>
          </a:ln>
        </p:spPr>
      </p:sp>
      <p:sp>
        <p:nvSpPr>
          <p:cNvPr id="51" name="Text 48"/>
          <p:cNvSpPr/>
          <p:nvPr/>
        </p:nvSpPr>
        <p:spPr>
          <a:xfrm>
            <a:off x="6601968" y="4645152"/>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Mai</a:t>
            </a:r>
            <a:endParaRPr lang="en-US" sz="1100" dirty="0"/>
          </a:p>
        </p:txBody>
      </p:sp>
      <p:sp>
        <p:nvSpPr>
          <p:cNvPr id="52" name="Shape 49"/>
          <p:cNvSpPr/>
          <p:nvPr/>
        </p:nvSpPr>
        <p:spPr>
          <a:xfrm>
            <a:off x="7452360" y="4645152"/>
            <a:ext cx="2560320" cy="201168"/>
          </a:xfrm>
          <a:prstGeom prst="rect">
            <a:avLst/>
          </a:prstGeom>
          <a:solidFill>
            <a:srgbClr val="D1D5DB"/>
          </a:solidFill>
          <a:ln/>
        </p:spPr>
      </p:sp>
      <p:sp>
        <p:nvSpPr>
          <p:cNvPr id="53" name="Shape 50"/>
          <p:cNvSpPr/>
          <p:nvPr/>
        </p:nvSpPr>
        <p:spPr>
          <a:xfrm>
            <a:off x="7452360" y="4645152"/>
            <a:ext cx="1991360" cy="201168"/>
          </a:xfrm>
          <a:prstGeom prst="rect">
            <a:avLst/>
          </a:prstGeom>
          <a:solidFill>
            <a:srgbClr val="E05A00"/>
          </a:solidFill>
          <a:ln/>
        </p:spPr>
      </p:sp>
      <p:sp>
        <p:nvSpPr>
          <p:cNvPr id="54" name="Text 51"/>
          <p:cNvSpPr/>
          <p:nvPr/>
        </p:nvSpPr>
        <p:spPr>
          <a:xfrm>
            <a:off x="10085832" y="4608576"/>
            <a:ext cx="868680" cy="274320"/>
          </a:xfrm>
          <a:prstGeom prst="rect">
            <a:avLst/>
          </a:prstGeom>
          <a:noFill/>
          <a:ln/>
        </p:spPr>
        <p:txBody>
          <a:bodyPr wrap="none" rtlCol="0" anchor="ctr"/>
          <a:lstStyle/>
          <a:p>
            <a:pPr algn="l" indent="0" marL="0">
              <a:buNone/>
            </a:pPr>
            <a:r>
              <a:rPr lang="en-US" sz="1100" b="1" dirty="0">
                <a:solidFill>
                  <a:srgbClr val="E05A00"/>
                </a:solidFill>
                <a:latin typeface="Calibri" pitchFamily="34" charset="0"/>
                <a:ea typeface="Calibri" pitchFamily="34" charset="-122"/>
                <a:cs typeface="Calibri" pitchFamily="34" charset="-120"/>
              </a:rPr>
              <a:t>56,7 %</a:t>
            </a:r>
            <a:endParaRPr lang="en-US" sz="1100" dirty="0"/>
          </a:p>
        </p:txBody>
      </p:sp>
      <p:sp>
        <p:nvSpPr>
          <p:cNvPr id="55" name="Text 52"/>
          <p:cNvSpPr/>
          <p:nvPr/>
        </p:nvSpPr>
        <p:spPr>
          <a:xfrm>
            <a:off x="137160" y="5943600"/>
            <a:ext cx="11887200" cy="22860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Concurrents : FM General Services 12,1% (518 TEU)  |  Movis Transit 5,8% (251 TEU)  |  CEVA Logistics 5,1% (220 TEU)</a:t>
            </a:r>
            <a:endParaRPr lang="en-US" sz="900" dirty="0"/>
          </a:p>
        </p:txBody>
      </p:sp>
      <p:sp>
        <p:nvSpPr>
          <p:cNvPr id="56" name="Text 53"/>
          <p:cNvSpPr/>
          <p:nvPr/>
        </p:nvSpPr>
        <p:spPr>
          <a:xfrm>
            <a:off x="137160" y="6172200"/>
            <a:ext cx="11887200" cy="22860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Chargeurs AGL : SOFITEX 1 492 TEU  |  CMDT Bamako 1 010 TEU  |  SAGROCOM BF 249 TEU</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HINTERLAND EXPORT – NOUVEAUX CHARGEURS</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Chargeurs entrés en 2026  |  Sécurisation du portefeuille coton  |  Nouvelle filière huile de palme</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p.19</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Nouveaux chargeurs AGL – Hinterland Export 2026</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150876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Chargeur</a:t>
            </a:r>
            <a:endParaRPr lang="en-US" sz="850" dirty="0"/>
          </a:p>
        </p:txBody>
      </p:sp>
      <p:sp>
        <p:nvSpPr>
          <p:cNvPr id="10" name="Text 8"/>
          <p:cNvSpPr/>
          <p:nvPr/>
        </p:nvSpPr>
        <p:spPr>
          <a:xfrm>
            <a:off x="172821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TEU</a:t>
            </a:r>
            <a:endParaRPr lang="en-US" sz="850" dirty="0"/>
          </a:p>
        </p:txBody>
      </p:sp>
      <p:sp>
        <p:nvSpPr>
          <p:cNvPr id="11" name="Text 9"/>
          <p:cNvSpPr/>
          <p:nvPr/>
        </p:nvSpPr>
        <p:spPr>
          <a:xfrm>
            <a:off x="328269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Filière</a:t>
            </a:r>
            <a:endParaRPr lang="en-US" sz="850" dirty="0"/>
          </a:p>
        </p:txBody>
      </p:sp>
      <p:sp>
        <p:nvSpPr>
          <p:cNvPr id="12" name="Text 10"/>
          <p:cNvSpPr/>
          <p:nvPr/>
        </p:nvSpPr>
        <p:spPr>
          <a:xfrm>
            <a:off x="483717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Entrée</a:t>
            </a:r>
            <a:endParaRPr lang="en-US" sz="850" dirty="0"/>
          </a:p>
        </p:txBody>
      </p:sp>
      <p:sp>
        <p:nvSpPr>
          <p:cNvPr id="13" name="Shape 11"/>
          <p:cNvSpPr/>
          <p:nvPr/>
        </p:nvSpPr>
        <p:spPr>
          <a:xfrm>
            <a:off x="137160" y="1627632"/>
            <a:ext cx="6217920" cy="256032"/>
          </a:xfrm>
          <a:prstGeom prst="rect">
            <a:avLst/>
          </a:prstGeom>
          <a:solidFill>
            <a:srgbClr val="FFF9EC"/>
          </a:solidFill>
          <a:ln w="3810">
            <a:solidFill>
              <a:srgbClr val="E5E7EB"/>
            </a:solidFill>
            <a:prstDash val="solid"/>
          </a:ln>
        </p:spPr>
      </p:sp>
      <p:sp>
        <p:nvSpPr>
          <p:cNvPr id="14" name="Text 12"/>
          <p:cNvSpPr/>
          <p:nvPr/>
        </p:nvSpPr>
        <p:spPr>
          <a:xfrm>
            <a:off x="173736" y="1664208"/>
            <a:ext cx="150876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IVOIRE COTON EXPORT</a:t>
            </a:r>
            <a:endParaRPr lang="en-US" sz="850" dirty="0"/>
          </a:p>
        </p:txBody>
      </p:sp>
      <p:sp>
        <p:nvSpPr>
          <p:cNvPr id="15" name="Text 13"/>
          <p:cNvSpPr/>
          <p:nvPr/>
        </p:nvSpPr>
        <p:spPr>
          <a:xfrm>
            <a:off x="1728216" y="166420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280</a:t>
            </a:r>
            <a:endParaRPr lang="en-US" sz="850" dirty="0"/>
          </a:p>
        </p:txBody>
      </p:sp>
      <p:sp>
        <p:nvSpPr>
          <p:cNvPr id="16" name="Text 14"/>
          <p:cNvSpPr/>
          <p:nvPr/>
        </p:nvSpPr>
        <p:spPr>
          <a:xfrm>
            <a:off x="3282696" y="166420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Coton</a:t>
            </a:r>
            <a:endParaRPr lang="en-US" sz="850" dirty="0"/>
          </a:p>
        </p:txBody>
      </p:sp>
      <p:sp>
        <p:nvSpPr>
          <p:cNvPr id="17" name="Text 15"/>
          <p:cNvSpPr/>
          <p:nvPr/>
        </p:nvSpPr>
        <p:spPr>
          <a:xfrm>
            <a:off x="4837176" y="1664208"/>
            <a:ext cx="150876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Q1 2026</a:t>
            </a:r>
            <a:endParaRPr lang="en-US" sz="85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COTON BURKINA SUD</a:t>
            </a:r>
            <a:endParaRPr lang="en-US" sz="850" dirty="0"/>
          </a:p>
        </p:txBody>
      </p:sp>
      <p:sp>
        <p:nvSpPr>
          <p:cNvPr id="20" name="Text 18"/>
          <p:cNvSpPr/>
          <p:nvPr/>
        </p:nvSpPr>
        <p:spPr>
          <a:xfrm>
            <a:off x="172821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195</a:t>
            </a:r>
            <a:endParaRPr lang="en-US" sz="850" dirty="0"/>
          </a:p>
        </p:txBody>
      </p:sp>
      <p:sp>
        <p:nvSpPr>
          <p:cNvPr id="21" name="Text 19"/>
          <p:cNvSpPr/>
          <p:nvPr/>
        </p:nvSpPr>
        <p:spPr>
          <a:xfrm>
            <a:off x="328269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Coton</a:t>
            </a:r>
            <a:endParaRPr lang="en-US" sz="850" dirty="0"/>
          </a:p>
        </p:txBody>
      </p:sp>
      <p:sp>
        <p:nvSpPr>
          <p:cNvPr id="22" name="Text 20"/>
          <p:cNvSpPr/>
          <p:nvPr/>
        </p:nvSpPr>
        <p:spPr>
          <a:xfrm>
            <a:off x="483717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Q2 2026</a:t>
            </a:r>
            <a:endParaRPr lang="en-US" sz="850" dirty="0"/>
          </a:p>
        </p:txBody>
      </p:sp>
      <p:sp>
        <p:nvSpPr>
          <p:cNvPr id="23" name="Shape 21"/>
          <p:cNvSpPr/>
          <p:nvPr/>
        </p:nvSpPr>
        <p:spPr>
          <a:xfrm>
            <a:off x="137160" y="2139696"/>
            <a:ext cx="6217920" cy="256032"/>
          </a:xfrm>
          <a:prstGeom prst="rect">
            <a:avLst/>
          </a:prstGeom>
          <a:solidFill>
            <a:srgbClr val="FFFFFF"/>
          </a:solidFill>
          <a:ln w="3810">
            <a:solidFill>
              <a:srgbClr val="E5E7EB"/>
            </a:solidFill>
            <a:prstDash val="solid"/>
          </a:ln>
        </p:spPr>
      </p:sp>
      <p:sp>
        <p:nvSpPr>
          <p:cNvPr id="24" name="Text 22"/>
          <p:cNvSpPr/>
          <p:nvPr/>
        </p:nvSpPr>
        <p:spPr>
          <a:xfrm>
            <a:off x="173736" y="2176272"/>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SODECOTON ML (Mali)</a:t>
            </a:r>
            <a:endParaRPr lang="en-US" sz="850" dirty="0"/>
          </a:p>
        </p:txBody>
      </p:sp>
      <p:sp>
        <p:nvSpPr>
          <p:cNvPr id="25" name="Text 23"/>
          <p:cNvSpPr/>
          <p:nvPr/>
        </p:nvSpPr>
        <p:spPr>
          <a:xfrm>
            <a:off x="1728216" y="21762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160</a:t>
            </a:r>
            <a:endParaRPr lang="en-US" sz="850" dirty="0"/>
          </a:p>
        </p:txBody>
      </p:sp>
      <p:sp>
        <p:nvSpPr>
          <p:cNvPr id="26" name="Text 24"/>
          <p:cNvSpPr/>
          <p:nvPr/>
        </p:nvSpPr>
        <p:spPr>
          <a:xfrm>
            <a:off x="3282696" y="21762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Coton</a:t>
            </a:r>
            <a:endParaRPr lang="en-US" sz="850" dirty="0"/>
          </a:p>
        </p:txBody>
      </p:sp>
      <p:sp>
        <p:nvSpPr>
          <p:cNvPr id="27" name="Text 25"/>
          <p:cNvSpPr/>
          <p:nvPr/>
        </p:nvSpPr>
        <p:spPr>
          <a:xfrm>
            <a:off x="4837176" y="21762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Q2 2026</a:t>
            </a:r>
            <a:endParaRPr lang="en-US" sz="85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OIL PALM CI EXPORT</a:t>
            </a:r>
            <a:endParaRPr lang="en-US" sz="850" dirty="0"/>
          </a:p>
        </p:txBody>
      </p:sp>
      <p:sp>
        <p:nvSpPr>
          <p:cNvPr id="30" name="Text 28"/>
          <p:cNvSpPr/>
          <p:nvPr/>
        </p:nvSpPr>
        <p:spPr>
          <a:xfrm>
            <a:off x="1728216" y="24323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140</a:t>
            </a:r>
            <a:endParaRPr lang="en-US" sz="850" dirty="0"/>
          </a:p>
        </p:txBody>
      </p:sp>
      <p:sp>
        <p:nvSpPr>
          <p:cNvPr id="31" name="Text 29"/>
          <p:cNvSpPr/>
          <p:nvPr/>
        </p:nvSpPr>
        <p:spPr>
          <a:xfrm>
            <a:off x="3282696" y="24323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Huile de Palme</a:t>
            </a:r>
            <a:endParaRPr lang="en-US" sz="850" dirty="0"/>
          </a:p>
        </p:txBody>
      </p:sp>
      <p:sp>
        <p:nvSpPr>
          <p:cNvPr id="32" name="Text 30"/>
          <p:cNvSpPr/>
          <p:nvPr/>
        </p:nvSpPr>
        <p:spPr>
          <a:xfrm>
            <a:off x="4837176" y="24323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Q1 2026</a:t>
            </a:r>
            <a:endParaRPr lang="en-US" sz="850" dirty="0"/>
          </a:p>
        </p:txBody>
      </p:sp>
      <p:sp>
        <p:nvSpPr>
          <p:cNvPr id="33" name="Text 31"/>
          <p:cNvSpPr/>
          <p:nvPr/>
        </p:nvSpPr>
        <p:spPr>
          <a:xfrm>
            <a:off x="228600" y="306324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Portefeuille existant à sécuriser</a:t>
            </a:r>
            <a:endParaRPr lang="en-US" sz="1100" dirty="0"/>
          </a:p>
        </p:txBody>
      </p:sp>
      <p:sp>
        <p:nvSpPr>
          <p:cNvPr id="34" name="Shape 32"/>
          <p:cNvSpPr/>
          <p:nvPr/>
        </p:nvSpPr>
        <p:spPr>
          <a:xfrm>
            <a:off x="137160" y="3337560"/>
            <a:ext cx="6217920" cy="256032"/>
          </a:xfrm>
          <a:prstGeom prst="rect">
            <a:avLst/>
          </a:prstGeom>
          <a:solidFill>
            <a:srgbClr val="0D2243"/>
          </a:solidFill>
          <a:ln/>
        </p:spPr>
      </p:sp>
      <p:sp>
        <p:nvSpPr>
          <p:cNvPr id="35" name="Text 33"/>
          <p:cNvSpPr/>
          <p:nvPr/>
        </p:nvSpPr>
        <p:spPr>
          <a:xfrm>
            <a:off x="173736" y="3374136"/>
            <a:ext cx="202692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Chargeur</a:t>
            </a:r>
            <a:endParaRPr lang="en-US" sz="850" dirty="0"/>
          </a:p>
        </p:txBody>
      </p:sp>
      <p:sp>
        <p:nvSpPr>
          <p:cNvPr id="36" name="Text 34"/>
          <p:cNvSpPr/>
          <p:nvPr/>
        </p:nvSpPr>
        <p:spPr>
          <a:xfrm>
            <a:off x="2246376" y="3374136"/>
            <a:ext cx="202692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TEU</a:t>
            </a:r>
            <a:endParaRPr lang="en-US" sz="850" dirty="0"/>
          </a:p>
        </p:txBody>
      </p:sp>
      <p:sp>
        <p:nvSpPr>
          <p:cNvPr id="37" name="Text 35"/>
          <p:cNvSpPr/>
          <p:nvPr/>
        </p:nvSpPr>
        <p:spPr>
          <a:xfrm>
            <a:off x="4319016" y="3374136"/>
            <a:ext cx="202692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 Portefeuille</a:t>
            </a:r>
            <a:endParaRPr lang="en-US" sz="850" dirty="0"/>
          </a:p>
        </p:txBody>
      </p:sp>
      <p:sp>
        <p:nvSpPr>
          <p:cNvPr id="38" name="Shape 36"/>
          <p:cNvSpPr/>
          <p:nvPr/>
        </p:nvSpPr>
        <p:spPr>
          <a:xfrm>
            <a:off x="137160" y="3593592"/>
            <a:ext cx="6217920" cy="256032"/>
          </a:xfrm>
          <a:prstGeom prst="rect">
            <a:avLst/>
          </a:prstGeom>
          <a:solidFill>
            <a:srgbClr val="FFF9EC"/>
          </a:solidFill>
          <a:ln w="3810">
            <a:solidFill>
              <a:srgbClr val="E5E7EB"/>
            </a:solidFill>
            <a:prstDash val="solid"/>
          </a:ln>
        </p:spPr>
      </p:sp>
      <p:sp>
        <p:nvSpPr>
          <p:cNvPr id="39" name="Text 37"/>
          <p:cNvSpPr/>
          <p:nvPr/>
        </p:nvSpPr>
        <p:spPr>
          <a:xfrm>
            <a:off x="173736" y="3630168"/>
            <a:ext cx="202692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SOFITEX</a:t>
            </a:r>
            <a:endParaRPr lang="en-US" sz="850" dirty="0"/>
          </a:p>
        </p:txBody>
      </p:sp>
      <p:sp>
        <p:nvSpPr>
          <p:cNvPr id="40" name="Text 38"/>
          <p:cNvSpPr/>
          <p:nvPr/>
        </p:nvSpPr>
        <p:spPr>
          <a:xfrm>
            <a:off x="2246376" y="3630168"/>
            <a:ext cx="2026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1 492</a:t>
            </a:r>
            <a:endParaRPr lang="en-US" sz="850" dirty="0"/>
          </a:p>
        </p:txBody>
      </p:sp>
      <p:sp>
        <p:nvSpPr>
          <p:cNvPr id="41" name="Text 39"/>
          <p:cNvSpPr/>
          <p:nvPr/>
        </p:nvSpPr>
        <p:spPr>
          <a:xfrm>
            <a:off x="4319016" y="3630168"/>
            <a:ext cx="202692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52,5 %</a:t>
            </a:r>
            <a:endParaRPr lang="en-US" sz="850" dirty="0"/>
          </a:p>
        </p:txBody>
      </p:sp>
      <p:sp>
        <p:nvSpPr>
          <p:cNvPr id="42" name="Shape 40"/>
          <p:cNvSpPr/>
          <p:nvPr/>
        </p:nvSpPr>
        <p:spPr>
          <a:xfrm>
            <a:off x="137160" y="3849624"/>
            <a:ext cx="6217920" cy="256032"/>
          </a:xfrm>
          <a:prstGeom prst="rect">
            <a:avLst/>
          </a:prstGeom>
          <a:solidFill>
            <a:srgbClr val="F8F9FA"/>
          </a:solidFill>
          <a:ln w="3810">
            <a:solidFill>
              <a:srgbClr val="E5E7EB"/>
            </a:solidFill>
            <a:prstDash val="solid"/>
          </a:ln>
        </p:spPr>
      </p:sp>
      <p:sp>
        <p:nvSpPr>
          <p:cNvPr id="43" name="Text 41"/>
          <p:cNvSpPr/>
          <p:nvPr/>
        </p:nvSpPr>
        <p:spPr>
          <a:xfrm>
            <a:off x="173736" y="3886200"/>
            <a:ext cx="202692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CMDT Bamako</a:t>
            </a:r>
            <a:endParaRPr lang="en-US" sz="850" dirty="0"/>
          </a:p>
        </p:txBody>
      </p:sp>
      <p:sp>
        <p:nvSpPr>
          <p:cNvPr id="44" name="Text 42"/>
          <p:cNvSpPr/>
          <p:nvPr/>
        </p:nvSpPr>
        <p:spPr>
          <a:xfrm>
            <a:off x="2246376" y="3886200"/>
            <a:ext cx="2026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1 010</a:t>
            </a:r>
            <a:endParaRPr lang="en-US" sz="850" dirty="0"/>
          </a:p>
        </p:txBody>
      </p:sp>
      <p:sp>
        <p:nvSpPr>
          <p:cNvPr id="45" name="Text 43"/>
          <p:cNvSpPr/>
          <p:nvPr/>
        </p:nvSpPr>
        <p:spPr>
          <a:xfrm>
            <a:off x="4319016" y="3886200"/>
            <a:ext cx="2026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35,6 %</a:t>
            </a:r>
            <a:endParaRPr lang="en-US" sz="850" dirty="0"/>
          </a:p>
        </p:txBody>
      </p:sp>
      <p:sp>
        <p:nvSpPr>
          <p:cNvPr id="46" name="Shape 44"/>
          <p:cNvSpPr/>
          <p:nvPr/>
        </p:nvSpPr>
        <p:spPr>
          <a:xfrm>
            <a:off x="137160" y="4105656"/>
            <a:ext cx="6217920" cy="256032"/>
          </a:xfrm>
          <a:prstGeom prst="rect">
            <a:avLst/>
          </a:prstGeom>
          <a:solidFill>
            <a:srgbClr val="FFFFFF"/>
          </a:solidFill>
          <a:ln w="3810">
            <a:solidFill>
              <a:srgbClr val="E5E7EB"/>
            </a:solidFill>
            <a:prstDash val="solid"/>
          </a:ln>
        </p:spPr>
      </p:sp>
      <p:sp>
        <p:nvSpPr>
          <p:cNvPr id="47" name="Text 45"/>
          <p:cNvSpPr/>
          <p:nvPr/>
        </p:nvSpPr>
        <p:spPr>
          <a:xfrm>
            <a:off x="173736" y="4142232"/>
            <a:ext cx="202692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SAGROCOM BF</a:t>
            </a:r>
            <a:endParaRPr lang="en-US" sz="850" dirty="0"/>
          </a:p>
        </p:txBody>
      </p:sp>
      <p:sp>
        <p:nvSpPr>
          <p:cNvPr id="48" name="Text 46"/>
          <p:cNvSpPr/>
          <p:nvPr/>
        </p:nvSpPr>
        <p:spPr>
          <a:xfrm>
            <a:off x="2246376" y="4142232"/>
            <a:ext cx="2026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249</a:t>
            </a:r>
            <a:endParaRPr lang="en-US" sz="850" dirty="0"/>
          </a:p>
        </p:txBody>
      </p:sp>
      <p:sp>
        <p:nvSpPr>
          <p:cNvPr id="49" name="Text 47"/>
          <p:cNvSpPr/>
          <p:nvPr/>
        </p:nvSpPr>
        <p:spPr>
          <a:xfrm>
            <a:off x="4319016" y="4142232"/>
            <a:ext cx="2026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8,8 %</a:t>
            </a:r>
            <a:endParaRPr lang="en-US" sz="850" dirty="0"/>
          </a:p>
        </p:txBody>
      </p:sp>
      <p:sp>
        <p:nvSpPr>
          <p:cNvPr id="50" name="Text 48"/>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Contexte concurrentiel – PDM concurrents</a:t>
            </a:r>
            <a:endParaRPr lang="en-US" sz="1100" dirty="0"/>
          </a:p>
        </p:txBody>
      </p:sp>
      <p:sp>
        <p:nvSpPr>
          <p:cNvPr id="51" name="Text 49"/>
          <p:cNvSpPr/>
          <p:nvPr/>
        </p:nvSpPr>
        <p:spPr>
          <a:xfrm>
            <a:off x="6492240" y="138988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FM GENERAL SERVICES</a:t>
            </a:r>
            <a:endParaRPr lang="en-US" sz="850" dirty="0"/>
          </a:p>
        </p:txBody>
      </p:sp>
      <p:sp>
        <p:nvSpPr>
          <p:cNvPr id="52" name="Text 50"/>
          <p:cNvSpPr/>
          <p:nvPr/>
        </p:nvSpPr>
        <p:spPr>
          <a:xfrm>
            <a:off x="8156448" y="138988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518 TEU</a:t>
            </a:r>
            <a:endParaRPr lang="en-US" sz="850" dirty="0"/>
          </a:p>
        </p:txBody>
      </p:sp>
      <p:sp>
        <p:nvSpPr>
          <p:cNvPr id="53" name="Shape 51"/>
          <p:cNvSpPr/>
          <p:nvPr/>
        </p:nvSpPr>
        <p:spPr>
          <a:xfrm>
            <a:off x="9052560" y="1426464"/>
            <a:ext cx="2743200" cy="164592"/>
          </a:xfrm>
          <a:prstGeom prst="rect">
            <a:avLst/>
          </a:prstGeom>
          <a:solidFill>
            <a:srgbClr val="E5E7EB"/>
          </a:solidFill>
          <a:ln/>
        </p:spPr>
      </p:sp>
      <p:sp>
        <p:nvSpPr>
          <p:cNvPr id="54" name="Shape 52"/>
          <p:cNvSpPr/>
          <p:nvPr/>
        </p:nvSpPr>
        <p:spPr>
          <a:xfrm>
            <a:off x="9052560" y="1426464"/>
            <a:ext cx="329184" cy="164592"/>
          </a:xfrm>
          <a:prstGeom prst="rect">
            <a:avLst/>
          </a:prstGeom>
          <a:solidFill>
            <a:srgbClr val="E05A00"/>
          </a:solidFill>
          <a:ln/>
        </p:spPr>
      </p:sp>
      <p:sp>
        <p:nvSpPr>
          <p:cNvPr id="55" name="Text 53"/>
          <p:cNvSpPr/>
          <p:nvPr/>
        </p:nvSpPr>
        <p:spPr>
          <a:xfrm>
            <a:off x="11841480" y="1389888"/>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12%</a:t>
            </a:r>
            <a:endParaRPr lang="en-US" sz="900" dirty="0"/>
          </a:p>
        </p:txBody>
      </p:sp>
      <p:sp>
        <p:nvSpPr>
          <p:cNvPr id="56" name="Text 54"/>
          <p:cNvSpPr/>
          <p:nvPr/>
        </p:nvSpPr>
        <p:spPr>
          <a:xfrm>
            <a:off x="6492240" y="177393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MOVIS TRANSIT CI</a:t>
            </a:r>
            <a:endParaRPr lang="en-US" sz="850" dirty="0"/>
          </a:p>
        </p:txBody>
      </p:sp>
      <p:sp>
        <p:nvSpPr>
          <p:cNvPr id="57" name="Text 55"/>
          <p:cNvSpPr/>
          <p:nvPr/>
        </p:nvSpPr>
        <p:spPr>
          <a:xfrm>
            <a:off x="8156448" y="177393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251 TEU</a:t>
            </a:r>
            <a:endParaRPr lang="en-US" sz="850" dirty="0"/>
          </a:p>
        </p:txBody>
      </p:sp>
      <p:sp>
        <p:nvSpPr>
          <p:cNvPr id="58" name="Shape 56"/>
          <p:cNvSpPr/>
          <p:nvPr/>
        </p:nvSpPr>
        <p:spPr>
          <a:xfrm>
            <a:off x="9052560" y="1810512"/>
            <a:ext cx="2743200" cy="164592"/>
          </a:xfrm>
          <a:prstGeom prst="rect">
            <a:avLst/>
          </a:prstGeom>
          <a:solidFill>
            <a:srgbClr val="E5E7EB"/>
          </a:solidFill>
          <a:ln/>
        </p:spPr>
      </p:sp>
      <p:sp>
        <p:nvSpPr>
          <p:cNvPr id="59" name="Shape 57"/>
          <p:cNvSpPr/>
          <p:nvPr/>
        </p:nvSpPr>
        <p:spPr>
          <a:xfrm>
            <a:off x="9052560" y="1810512"/>
            <a:ext cx="164592" cy="164592"/>
          </a:xfrm>
          <a:prstGeom prst="rect">
            <a:avLst/>
          </a:prstGeom>
          <a:solidFill>
            <a:srgbClr val="CC2200"/>
          </a:solidFill>
          <a:ln/>
        </p:spPr>
      </p:sp>
      <p:sp>
        <p:nvSpPr>
          <p:cNvPr id="60" name="Text 58"/>
          <p:cNvSpPr/>
          <p:nvPr/>
        </p:nvSpPr>
        <p:spPr>
          <a:xfrm>
            <a:off x="11841480" y="1773936"/>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6%</a:t>
            </a:r>
            <a:endParaRPr lang="en-US" sz="900" dirty="0"/>
          </a:p>
        </p:txBody>
      </p:sp>
      <p:sp>
        <p:nvSpPr>
          <p:cNvPr id="61" name="Text 59"/>
          <p:cNvSpPr/>
          <p:nvPr/>
        </p:nvSpPr>
        <p:spPr>
          <a:xfrm>
            <a:off x="6492240" y="215798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CEVA LOGISTICS CI</a:t>
            </a:r>
            <a:endParaRPr lang="en-US" sz="850" dirty="0"/>
          </a:p>
        </p:txBody>
      </p:sp>
      <p:sp>
        <p:nvSpPr>
          <p:cNvPr id="62" name="Text 60"/>
          <p:cNvSpPr/>
          <p:nvPr/>
        </p:nvSpPr>
        <p:spPr>
          <a:xfrm>
            <a:off x="8156448" y="215798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220 TEU</a:t>
            </a:r>
            <a:endParaRPr lang="en-US" sz="850" dirty="0"/>
          </a:p>
        </p:txBody>
      </p:sp>
      <p:sp>
        <p:nvSpPr>
          <p:cNvPr id="63" name="Shape 61"/>
          <p:cNvSpPr/>
          <p:nvPr/>
        </p:nvSpPr>
        <p:spPr>
          <a:xfrm>
            <a:off x="9052560" y="2194560"/>
            <a:ext cx="2743200" cy="164592"/>
          </a:xfrm>
          <a:prstGeom prst="rect">
            <a:avLst/>
          </a:prstGeom>
          <a:solidFill>
            <a:srgbClr val="E5E7EB"/>
          </a:solidFill>
          <a:ln/>
        </p:spPr>
      </p:sp>
      <p:sp>
        <p:nvSpPr>
          <p:cNvPr id="64" name="Shape 62"/>
          <p:cNvSpPr/>
          <p:nvPr/>
        </p:nvSpPr>
        <p:spPr>
          <a:xfrm>
            <a:off x="9052560" y="2194560"/>
            <a:ext cx="137160" cy="164592"/>
          </a:xfrm>
          <a:prstGeom prst="rect">
            <a:avLst/>
          </a:prstGeom>
          <a:solidFill>
            <a:srgbClr val="CC2200"/>
          </a:solidFill>
          <a:ln/>
        </p:spPr>
      </p:sp>
      <p:sp>
        <p:nvSpPr>
          <p:cNvPr id="65" name="Text 63"/>
          <p:cNvSpPr/>
          <p:nvPr/>
        </p:nvSpPr>
        <p:spPr>
          <a:xfrm>
            <a:off x="11841480" y="2157984"/>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5%</a:t>
            </a:r>
            <a:endParaRPr lang="en-US" sz="900" dirty="0"/>
          </a:p>
        </p:txBody>
      </p:sp>
      <p:sp>
        <p:nvSpPr>
          <p:cNvPr id="66" name="Shape 64"/>
          <p:cNvSpPr/>
          <p:nvPr/>
        </p:nvSpPr>
        <p:spPr>
          <a:xfrm>
            <a:off x="6492240" y="3200400"/>
            <a:ext cx="5486400" cy="777240"/>
          </a:xfrm>
          <a:prstGeom prst="rect">
            <a:avLst/>
          </a:prstGeom>
          <a:solidFill>
            <a:srgbClr val="FEF2F2"/>
          </a:solidFill>
          <a:ln w="6350">
            <a:solidFill>
              <a:srgbClr val="E5C97A"/>
            </a:solidFill>
            <a:prstDash val="solid"/>
          </a:ln>
        </p:spPr>
      </p:sp>
      <p:sp>
        <p:nvSpPr>
          <p:cNvPr id="67" name="Text 65"/>
          <p:cNvSpPr/>
          <p:nvPr/>
        </p:nvSpPr>
        <p:spPr>
          <a:xfrm>
            <a:off x="6583680" y="3273552"/>
            <a:ext cx="5303520" cy="66751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MENACE CEVA : CEVA Logistics (CMA CGM, bureau Abidjan avril 2026) capte déjà 5,1% du marché. Risque direct sur les flux coton Bamako–Ouagadougou.</a:t>
            </a:r>
            <a:endParaRPr lang="en-US" sz="900" dirty="0"/>
          </a:p>
        </p:txBody>
      </p:sp>
      <p:sp>
        <p:nvSpPr>
          <p:cNvPr id="68" name="Shape 66"/>
          <p:cNvSpPr/>
          <p:nvPr/>
        </p:nvSpPr>
        <p:spPr>
          <a:xfrm>
            <a:off x="6492240" y="4114800"/>
            <a:ext cx="5486400" cy="777240"/>
          </a:xfrm>
          <a:prstGeom prst="rect">
            <a:avLst/>
          </a:prstGeom>
          <a:solidFill>
            <a:srgbClr val="FFFBEC"/>
          </a:solidFill>
          <a:ln w="6350">
            <a:solidFill>
              <a:srgbClr val="E5C97A"/>
            </a:solidFill>
            <a:prstDash val="solid"/>
          </a:ln>
        </p:spPr>
      </p:sp>
      <p:sp>
        <p:nvSpPr>
          <p:cNvPr id="69" name="Text 67"/>
          <p:cNvSpPr/>
          <p:nvPr/>
        </p:nvSpPr>
        <p:spPr>
          <a:xfrm>
            <a:off x="6583680" y="4187952"/>
            <a:ext cx="5303520" cy="66751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ACTION : Sécuriser SOFITEX (52,5% du portefeuille) et CMDT par contrats pluriannuels avant la campagne coton 2026–2027. Développer la filière huile de palme (140 TEU dès Q1).</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Text 1"/>
          <p:cNvSpPr/>
          <p:nvPr/>
        </p:nvSpPr>
        <p:spPr>
          <a:xfrm>
            <a:off x="3200400" y="457200"/>
            <a:ext cx="5486400" cy="3657600"/>
          </a:xfrm>
          <a:prstGeom prst="rect">
            <a:avLst/>
          </a:prstGeom>
          <a:noFill/>
          <a:ln/>
        </p:spPr>
        <p:txBody>
          <a:bodyPr wrap="square" rtlCol="0" anchor="ctr"/>
          <a:lstStyle/>
          <a:p>
            <a:pPr algn="ctr" indent="0" marL="0">
              <a:buNone/>
            </a:pPr>
            <a:r>
              <a:rPr lang="en-US" sz="20000" b="1" dirty="0">
                <a:solidFill>
                  <a:srgbClr val="1A2E4A"/>
                </a:solidFill>
                <a:latin typeface="Calibri" pitchFamily="34" charset="0"/>
                <a:ea typeface="Calibri" pitchFamily="34" charset="-122"/>
                <a:cs typeface="Calibri" pitchFamily="34" charset="-120"/>
              </a:rPr>
              <a:t>05</a:t>
            </a:r>
            <a:endParaRPr lang="en-US" sz="20000" dirty="0"/>
          </a:p>
        </p:txBody>
      </p:sp>
      <p:sp>
        <p:nvSpPr>
          <p:cNvPr id="4" name="Shape 2"/>
          <p:cNvSpPr/>
          <p:nvPr/>
        </p:nvSpPr>
        <p:spPr>
          <a:xfrm>
            <a:off x="1097280" y="3520440"/>
            <a:ext cx="7498080" cy="59436"/>
          </a:xfrm>
          <a:prstGeom prst="rect">
            <a:avLst/>
          </a:prstGeom>
          <a:solidFill>
            <a:srgbClr val="C9A84C"/>
          </a:solidFill>
          <a:ln/>
        </p:spPr>
      </p:sp>
      <p:sp>
        <p:nvSpPr>
          <p:cNvPr id="5" name="Text 3"/>
          <p:cNvSpPr/>
          <p:nvPr/>
        </p:nvSpPr>
        <p:spPr>
          <a:xfrm>
            <a:off x="365760" y="2651760"/>
            <a:ext cx="11430000" cy="91440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AÉRIEN IMPORT</a:t>
            </a:r>
            <a:endParaRPr lang="en-US" sz="3800" dirty="0"/>
          </a:p>
        </p:txBody>
      </p:sp>
      <p:sp>
        <p:nvSpPr>
          <p:cNvPr id="6" name="Text 4"/>
          <p:cNvSpPr/>
          <p:nvPr/>
        </p:nvSpPr>
        <p:spPr>
          <a:xfrm>
            <a:off x="365760" y="3657600"/>
            <a:ext cx="11430000" cy="457200"/>
          </a:xfrm>
          <a:prstGeom prst="rect">
            <a:avLst/>
          </a:prstGeom>
          <a:noFill/>
          <a:ln/>
        </p:spPr>
        <p:txBody>
          <a:bodyPr wrap="square" rtlCol="0" anchor="ctr"/>
          <a:lstStyle/>
          <a:p>
            <a:pPr algn="ctr" indent="0" marL="0">
              <a:buNone/>
            </a:pPr>
            <a:r>
              <a:rPr lang="en-US" sz="1600" i="1" dirty="0">
                <a:solidFill>
                  <a:srgbClr val="C9A84C"/>
                </a:solidFill>
                <a:latin typeface="Calibri" pitchFamily="34" charset="0"/>
                <a:ea typeface="Calibri" pitchFamily="34" charset="-122"/>
                <a:cs typeface="Calibri" pitchFamily="34" charset="-120"/>
              </a:rPr>
              <a:t>5 603 T qualifiées  |  PDM AGL : 20,8%  |  #1 ABSOLU</a:t>
            </a:r>
            <a:endParaRPr lang="en-US" sz="1600" dirty="0"/>
          </a:p>
        </p:txBody>
      </p:sp>
      <p:sp>
        <p:nvSpPr>
          <p:cNvPr id="7" name="Text 5"/>
          <p:cNvSpPr/>
          <p:nvPr/>
        </p:nvSpPr>
        <p:spPr>
          <a:xfrm>
            <a:off x="1828800" y="6492240"/>
            <a:ext cx="8229600" cy="25603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a:t>
            </a:r>
            <a:endParaRPr lang="en-US" sz="900" dirty="0"/>
          </a:p>
        </p:txBody>
      </p:sp>
      <p:sp>
        <p:nvSpPr>
          <p:cNvPr id="8" name="Text 6"/>
          <p:cNvSpPr/>
          <p:nvPr/>
        </p:nvSpPr>
        <p:spPr>
          <a:xfrm>
            <a:off x="11430000" y="6473952"/>
            <a:ext cx="640080" cy="292608"/>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AÉRIEN IMPORT – VUE D'ENSEMBLE  |  Jan–Mai 2025 vs 2026</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Marché qualifié : +1,5% vs 2025  |  AGL #1 ABSOLU – PDM 20,8%  |  Montée en puissance Jan→Mai</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p.17</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Shape 5"/>
          <p:cNvSpPr/>
          <p:nvPr/>
        </p:nvSpPr>
        <p:spPr>
          <a:xfrm>
            <a:off x="137160" y="1097280"/>
            <a:ext cx="2291486" cy="868680"/>
          </a:xfrm>
          <a:prstGeom prst="rect">
            <a:avLst/>
          </a:prstGeom>
          <a:solidFill>
            <a:srgbClr val="F0F2F5"/>
          </a:solidFill>
          <a:ln w="6350">
            <a:solidFill>
              <a:srgbClr val="D1D5DB"/>
            </a:solidFill>
            <a:prstDash val="solid"/>
          </a:ln>
        </p:spPr>
      </p:sp>
      <p:sp>
        <p:nvSpPr>
          <p:cNvPr id="8" name="Text 6"/>
          <p:cNvSpPr/>
          <p:nvPr/>
        </p:nvSpPr>
        <p:spPr>
          <a:xfrm>
            <a:off x="137160"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MARCHÉ QUALIFIÉ 2025</a:t>
            </a:r>
            <a:endParaRPr lang="en-US" sz="800" dirty="0"/>
          </a:p>
        </p:txBody>
      </p:sp>
      <p:sp>
        <p:nvSpPr>
          <p:cNvPr id="9" name="Text 7"/>
          <p:cNvSpPr/>
          <p:nvPr/>
        </p:nvSpPr>
        <p:spPr>
          <a:xfrm>
            <a:off x="137160"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5 521 T</a:t>
            </a:r>
            <a:endParaRPr lang="en-US" sz="2200" dirty="0"/>
          </a:p>
        </p:txBody>
      </p:sp>
      <p:sp>
        <p:nvSpPr>
          <p:cNvPr id="10" name="Text 8"/>
          <p:cNvSpPr/>
          <p:nvPr/>
        </p:nvSpPr>
        <p:spPr>
          <a:xfrm>
            <a:off x="137160"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Jan–Mai 2025</a:t>
            </a:r>
            <a:endParaRPr lang="en-US" sz="850" dirty="0"/>
          </a:p>
        </p:txBody>
      </p:sp>
      <p:sp>
        <p:nvSpPr>
          <p:cNvPr id="11" name="Shape 9"/>
          <p:cNvSpPr/>
          <p:nvPr/>
        </p:nvSpPr>
        <p:spPr>
          <a:xfrm>
            <a:off x="2520086" y="1097280"/>
            <a:ext cx="2291486" cy="868680"/>
          </a:xfrm>
          <a:prstGeom prst="rect">
            <a:avLst/>
          </a:prstGeom>
          <a:solidFill>
            <a:srgbClr val="F0F2F5"/>
          </a:solidFill>
          <a:ln w="6350">
            <a:solidFill>
              <a:srgbClr val="D1D5DB"/>
            </a:solidFill>
            <a:prstDash val="solid"/>
          </a:ln>
        </p:spPr>
      </p:sp>
      <p:sp>
        <p:nvSpPr>
          <p:cNvPr id="12" name="Text 10"/>
          <p:cNvSpPr/>
          <p:nvPr/>
        </p:nvSpPr>
        <p:spPr>
          <a:xfrm>
            <a:off x="252008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MARCHÉ QUALIFIÉ 2026</a:t>
            </a:r>
            <a:endParaRPr lang="en-US" sz="800" dirty="0"/>
          </a:p>
        </p:txBody>
      </p:sp>
      <p:sp>
        <p:nvSpPr>
          <p:cNvPr id="13" name="Text 11"/>
          <p:cNvSpPr/>
          <p:nvPr/>
        </p:nvSpPr>
        <p:spPr>
          <a:xfrm>
            <a:off x="2520086"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5 603 T</a:t>
            </a:r>
            <a:endParaRPr lang="en-US" sz="2200" dirty="0"/>
          </a:p>
        </p:txBody>
      </p:sp>
      <p:sp>
        <p:nvSpPr>
          <p:cNvPr id="14" name="Text 12"/>
          <p:cNvSpPr/>
          <p:nvPr/>
        </p:nvSpPr>
        <p:spPr>
          <a:xfrm>
            <a:off x="252008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+1,5% vs 2025</a:t>
            </a:r>
            <a:endParaRPr lang="en-US" sz="850" dirty="0"/>
          </a:p>
        </p:txBody>
      </p:sp>
      <p:sp>
        <p:nvSpPr>
          <p:cNvPr id="15" name="Shape 13"/>
          <p:cNvSpPr/>
          <p:nvPr/>
        </p:nvSpPr>
        <p:spPr>
          <a:xfrm>
            <a:off x="4903013" y="1097280"/>
            <a:ext cx="2291486" cy="868680"/>
          </a:xfrm>
          <a:prstGeom prst="rect">
            <a:avLst/>
          </a:prstGeom>
          <a:solidFill>
            <a:srgbClr val="F0F2F5"/>
          </a:solidFill>
          <a:ln w="6350">
            <a:solidFill>
              <a:srgbClr val="D1D5DB"/>
            </a:solidFill>
            <a:prstDash val="solid"/>
          </a:ln>
        </p:spPr>
      </p:sp>
      <p:sp>
        <p:nvSpPr>
          <p:cNvPr id="16" name="Text 14"/>
          <p:cNvSpPr/>
          <p:nvPr/>
        </p:nvSpPr>
        <p:spPr>
          <a:xfrm>
            <a:off x="4903013"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AGL 2026</a:t>
            </a:r>
            <a:endParaRPr lang="en-US" sz="800" dirty="0"/>
          </a:p>
        </p:txBody>
      </p:sp>
      <p:sp>
        <p:nvSpPr>
          <p:cNvPr id="17" name="Text 15"/>
          <p:cNvSpPr/>
          <p:nvPr/>
        </p:nvSpPr>
        <p:spPr>
          <a:xfrm>
            <a:off x="4903013" y="1316736"/>
            <a:ext cx="2291486" cy="384048"/>
          </a:xfrm>
          <a:prstGeom prst="rect">
            <a:avLst/>
          </a:prstGeom>
          <a:noFill/>
          <a:ln/>
        </p:spPr>
        <p:txBody>
          <a:bodyPr wrap="square" rtlCol="0" anchor="ctr"/>
          <a:lstStyle/>
          <a:p>
            <a:pPr algn="ctr" indent="0" marL="0">
              <a:buNone/>
            </a:pPr>
            <a:r>
              <a:rPr lang="en-US" sz="2200" b="1" dirty="0">
                <a:solidFill>
                  <a:srgbClr val="1A7C4F"/>
                </a:solidFill>
                <a:latin typeface="Calibri" pitchFamily="34" charset="0"/>
                <a:ea typeface="Calibri" pitchFamily="34" charset="-122"/>
                <a:cs typeface="Calibri" pitchFamily="34" charset="-120"/>
              </a:rPr>
              <a:t>1 166 T</a:t>
            </a:r>
            <a:endParaRPr lang="en-US" sz="2200" dirty="0"/>
          </a:p>
        </p:txBody>
      </p:sp>
      <p:sp>
        <p:nvSpPr>
          <p:cNvPr id="18" name="Text 16"/>
          <p:cNvSpPr/>
          <p:nvPr/>
        </p:nvSpPr>
        <p:spPr>
          <a:xfrm>
            <a:off x="4903013"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#1 ABSOLU</a:t>
            </a:r>
            <a:endParaRPr lang="en-US" sz="850" dirty="0"/>
          </a:p>
        </p:txBody>
      </p:sp>
      <p:sp>
        <p:nvSpPr>
          <p:cNvPr id="19" name="Shape 17"/>
          <p:cNvSpPr/>
          <p:nvPr/>
        </p:nvSpPr>
        <p:spPr>
          <a:xfrm>
            <a:off x="7285939" y="1097280"/>
            <a:ext cx="2291486" cy="868680"/>
          </a:xfrm>
          <a:prstGeom prst="rect">
            <a:avLst/>
          </a:prstGeom>
          <a:solidFill>
            <a:srgbClr val="F0F2F5"/>
          </a:solidFill>
          <a:ln w="6350">
            <a:solidFill>
              <a:srgbClr val="D1D5DB"/>
            </a:solidFill>
            <a:prstDash val="solid"/>
          </a:ln>
        </p:spPr>
      </p:sp>
      <p:sp>
        <p:nvSpPr>
          <p:cNvPr id="20" name="Text 18"/>
          <p:cNvSpPr/>
          <p:nvPr/>
        </p:nvSpPr>
        <p:spPr>
          <a:xfrm>
            <a:off x="7285939"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AGL 2026</a:t>
            </a:r>
            <a:endParaRPr lang="en-US" sz="800" dirty="0"/>
          </a:p>
        </p:txBody>
      </p:sp>
      <p:sp>
        <p:nvSpPr>
          <p:cNvPr id="21" name="Text 19"/>
          <p:cNvSpPr/>
          <p:nvPr/>
        </p:nvSpPr>
        <p:spPr>
          <a:xfrm>
            <a:off x="7285939" y="1316736"/>
            <a:ext cx="2291486" cy="384048"/>
          </a:xfrm>
          <a:prstGeom prst="rect">
            <a:avLst/>
          </a:prstGeom>
          <a:noFill/>
          <a:ln/>
        </p:spPr>
        <p:txBody>
          <a:bodyPr wrap="square" rtlCol="0" anchor="ctr"/>
          <a:lstStyle/>
          <a:p>
            <a:pPr algn="ctr" indent="0" marL="0">
              <a:buNone/>
            </a:pPr>
            <a:r>
              <a:rPr lang="en-US" sz="2600" b="1" dirty="0">
                <a:solidFill>
                  <a:srgbClr val="1A7C4F"/>
                </a:solidFill>
                <a:latin typeface="Calibri" pitchFamily="34" charset="0"/>
                <a:ea typeface="Calibri" pitchFamily="34" charset="-122"/>
                <a:cs typeface="Calibri" pitchFamily="34" charset="-120"/>
              </a:rPr>
              <a:t>20,8 %</a:t>
            </a:r>
            <a:endParaRPr lang="en-US" sz="2600" dirty="0"/>
          </a:p>
        </p:txBody>
      </p:sp>
      <p:sp>
        <p:nvSpPr>
          <p:cNvPr id="22" name="Text 20"/>
          <p:cNvSpPr/>
          <p:nvPr/>
        </p:nvSpPr>
        <p:spPr>
          <a:xfrm>
            <a:off x="7285939"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vs ~18% estimé 2025</a:t>
            </a:r>
            <a:endParaRPr lang="en-US" sz="850" dirty="0"/>
          </a:p>
        </p:txBody>
      </p:sp>
      <p:sp>
        <p:nvSpPr>
          <p:cNvPr id="23" name="Shape 21"/>
          <p:cNvSpPr/>
          <p:nvPr/>
        </p:nvSpPr>
        <p:spPr>
          <a:xfrm>
            <a:off x="9668866" y="1097280"/>
            <a:ext cx="2291486" cy="868680"/>
          </a:xfrm>
          <a:prstGeom prst="rect">
            <a:avLst/>
          </a:prstGeom>
          <a:solidFill>
            <a:srgbClr val="F0F2F5"/>
          </a:solidFill>
          <a:ln w="6350">
            <a:solidFill>
              <a:srgbClr val="D1D5DB"/>
            </a:solidFill>
            <a:prstDash val="solid"/>
          </a:ln>
        </p:spPr>
      </p:sp>
      <p:sp>
        <p:nvSpPr>
          <p:cNvPr id="24" name="Text 22"/>
          <p:cNvSpPr/>
          <p:nvPr/>
        </p:nvSpPr>
        <p:spPr>
          <a:xfrm>
            <a:off x="966886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MAI 2026</a:t>
            </a:r>
            <a:endParaRPr lang="en-US" sz="800" dirty="0"/>
          </a:p>
        </p:txBody>
      </p:sp>
      <p:sp>
        <p:nvSpPr>
          <p:cNvPr id="25" name="Text 23"/>
          <p:cNvSpPr/>
          <p:nvPr/>
        </p:nvSpPr>
        <p:spPr>
          <a:xfrm>
            <a:off x="9668866" y="1316736"/>
            <a:ext cx="2291486" cy="384048"/>
          </a:xfrm>
          <a:prstGeom prst="rect">
            <a:avLst/>
          </a:prstGeom>
          <a:noFill/>
          <a:ln/>
        </p:spPr>
        <p:txBody>
          <a:bodyPr wrap="square" rtlCol="0" anchor="ctr"/>
          <a:lstStyle/>
          <a:p>
            <a:pPr algn="ctr" indent="0" marL="0">
              <a:buNone/>
            </a:pPr>
            <a:r>
              <a:rPr lang="en-US" sz="2200" b="1" dirty="0">
                <a:solidFill>
                  <a:srgbClr val="2563A8"/>
                </a:solidFill>
                <a:latin typeface="Calibri" pitchFamily="34" charset="0"/>
                <a:ea typeface="Calibri" pitchFamily="34" charset="-122"/>
                <a:cs typeface="Calibri" pitchFamily="34" charset="-120"/>
              </a:rPr>
              <a:t>31,2 %</a:t>
            </a:r>
            <a:endParaRPr lang="en-US" sz="2200" dirty="0"/>
          </a:p>
        </p:txBody>
      </p:sp>
      <p:sp>
        <p:nvSpPr>
          <p:cNvPr id="26" name="Text 24"/>
          <p:cNvSpPr/>
          <p:nvPr/>
        </p:nvSpPr>
        <p:spPr>
          <a:xfrm>
            <a:off x="966886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Record de la période</a:t>
            </a:r>
            <a:endParaRPr lang="en-US" sz="850" dirty="0"/>
          </a:p>
        </p:txBody>
      </p:sp>
      <p:sp>
        <p:nvSpPr>
          <p:cNvPr id="27" name="Text 25"/>
          <p:cNvSpPr/>
          <p:nvPr/>
        </p:nvSpPr>
        <p:spPr>
          <a:xfrm>
            <a:off x="228600" y="2084832"/>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Marché aérien import qualifié (kg) – 2025 vs 2026</a:t>
            </a:r>
            <a:endParaRPr lang="en-US" sz="1100" dirty="0"/>
          </a:p>
        </p:txBody>
      </p:sp>
      <p:graphicFrame>
        <p:nvGraphicFramePr>
          <p:cNvPr id="28" name="Chart 0" descr=""/>
          <p:cNvGraphicFramePr/>
          <p:nvPr/>
        </p:nvGraphicFramePr>
        <p:xfrm>
          <a:off x="137160" y="2331720"/>
          <a:ext cx="6217920" cy="393192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p:nvPr/>
        </p:nvSpPr>
        <p:spPr>
          <a:xfrm>
            <a:off x="6492240" y="2084832"/>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aérien – Progression Jan→Mai 2026 (%)</a:t>
            </a:r>
            <a:endParaRPr lang="en-US" sz="1100" dirty="0"/>
          </a:p>
        </p:txBody>
      </p:sp>
      <p:sp>
        <p:nvSpPr>
          <p:cNvPr id="30" name="Shape 27"/>
          <p:cNvSpPr/>
          <p:nvPr/>
        </p:nvSpPr>
        <p:spPr>
          <a:xfrm>
            <a:off x="6492240" y="2395728"/>
            <a:ext cx="5486400" cy="475488"/>
          </a:xfrm>
          <a:prstGeom prst="rect">
            <a:avLst/>
          </a:prstGeom>
          <a:solidFill>
            <a:srgbClr val="F8FAFC"/>
          </a:solidFill>
          <a:ln w="3810">
            <a:solidFill>
              <a:srgbClr val="E5E7EB"/>
            </a:solidFill>
            <a:prstDash val="solid"/>
          </a:ln>
        </p:spPr>
      </p:sp>
      <p:sp>
        <p:nvSpPr>
          <p:cNvPr id="31" name="Text 28"/>
          <p:cNvSpPr/>
          <p:nvPr/>
        </p:nvSpPr>
        <p:spPr>
          <a:xfrm>
            <a:off x="6601968" y="2523744"/>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Janvier</a:t>
            </a:r>
            <a:endParaRPr lang="en-US" sz="1100" dirty="0"/>
          </a:p>
        </p:txBody>
      </p:sp>
      <p:sp>
        <p:nvSpPr>
          <p:cNvPr id="32" name="Shape 29"/>
          <p:cNvSpPr/>
          <p:nvPr/>
        </p:nvSpPr>
        <p:spPr>
          <a:xfrm>
            <a:off x="7452360" y="2523744"/>
            <a:ext cx="2560320" cy="201168"/>
          </a:xfrm>
          <a:prstGeom prst="rect">
            <a:avLst/>
          </a:prstGeom>
          <a:solidFill>
            <a:srgbClr val="D1D5DB"/>
          </a:solidFill>
          <a:ln/>
        </p:spPr>
      </p:sp>
      <p:sp>
        <p:nvSpPr>
          <p:cNvPr id="33" name="Shape 30"/>
          <p:cNvSpPr/>
          <p:nvPr/>
        </p:nvSpPr>
        <p:spPr>
          <a:xfrm>
            <a:off x="7452360" y="2523744"/>
            <a:ext cx="894471" cy="201168"/>
          </a:xfrm>
          <a:prstGeom prst="rect">
            <a:avLst/>
          </a:prstGeom>
          <a:solidFill>
            <a:srgbClr val="E05A00"/>
          </a:solidFill>
          <a:ln/>
        </p:spPr>
      </p:sp>
      <p:sp>
        <p:nvSpPr>
          <p:cNvPr id="34" name="Text 31"/>
          <p:cNvSpPr/>
          <p:nvPr/>
        </p:nvSpPr>
        <p:spPr>
          <a:xfrm>
            <a:off x="10085832" y="2487168"/>
            <a:ext cx="868680" cy="274320"/>
          </a:xfrm>
          <a:prstGeom prst="rect">
            <a:avLst/>
          </a:prstGeom>
          <a:noFill/>
          <a:ln/>
        </p:spPr>
        <p:txBody>
          <a:bodyPr wrap="none" rtlCol="0" anchor="ctr"/>
          <a:lstStyle/>
          <a:p>
            <a:pPr algn="l" indent="0" marL="0">
              <a:buNone/>
            </a:pPr>
            <a:r>
              <a:rPr lang="en-US" sz="1100" b="1" dirty="0">
                <a:solidFill>
                  <a:srgbClr val="E05A00"/>
                </a:solidFill>
                <a:latin typeface="Calibri" pitchFamily="34" charset="0"/>
                <a:ea typeface="Calibri" pitchFamily="34" charset="-122"/>
                <a:cs typeface="Calibri" pitchFamily="34" charset="-120"/>
              </a:rPr>
              <a:t>10,9 %</a:t>
            </a:r>
            <a:endParaRPr lang="en-US" sz="1100" dirty="0"/>
          </a:p>
        </p:txBody>
      </p:sp>
      <p:sp>
        <p:nvSpPr>
          <p:cNvPr id="35" name="Shape 32"/>
          <p:cNvSpPr/>
          <p:nvPr/>
        </p:nvSpPr>
        <p:spPr>
          <a:xfrm>
            <a:off x="6492240" y="2926080"/>
            <a:ext cx="5486400" cy="475488"/>
          </a:xfrm>
          <a:prstGeom prst="rect">
            <a:avLst/>
          </a:prstGeom>
          <a:solidFill>
            <a:srgbClr val="F8FAFC"/>
          </a:solidFill>
          <a:ln w="3810">
            <a:solidFill>
              <a:srgbClr val="E5E7EB"/>
            </a:solidFill>
            <a:prstDash val="solid"/>
          </a:ln>
        </p:spPr>
      </p:sp>
      <p:sp>
        <p:nvSpPr>
          <p:cNvPr id="36" name="Text 33"/>
          <p:cNvSpPr/>
          <p:nvPr/>
        </p:nvSpPr>
        <p:spPr>
          <a:xfrm>
            <a:off x="6601968" y="3054096"/>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Février</a:t>
            </a:r>
            <a:endParaRPr lang="en-US" sz="1100" dirty="0"/>
          </a:p>
        </p:txBody>
      </p:sp>
      <p:sp>
        <p:nvSpPr>
          <p:cNvPr id="37" name="Shape 34"/>
          <p:cNvSpPr/>
          <p:nvPr/>
        </p:nvSpPr>
        <p:spPr>
          <a:xfrm>
            <a:off x="7452360" y="3054096"/>
            <a:ext cx="2560320" cy="201168"/>
          </a:xfrm>
          <a:prstGeom prst="rect">
            <a:avLst/>
          </a:prstGeom>
          <a:solidFill>
            <a:srgbClr val="D1D5DB"/>
          </a:solidFill>
          <a:ln/>
        </p:spPr>
      </p:sp>
      <p:sp>
        <p:nvSpPr>
          <p:cNvPr id="38" name="Shape 35"/>
          <p:cNvSpPr/>
          <p:nvPr/>
        </p:nvSpPr>
        <p:spPr>
          <a:xfrm>
            <a:off x="7452360" y="3054096"/>
            <a:ext cx="1247335" cy="201168"/>
          </a:xfrm>
          <a:prstGeom prst="rect">
            <a:avLst/>
          </a:prstGeom>
          <a:solidFill>
            <a:srgbClr val="E05A00"/>
          </a:solidFill>
          <a:ln/>
        </p:spPr>
      </p:sp>
      <p:sp>
        <p:nvSpPr>
          <p:cNvPr id="39" name="Text 36"/>
          <p:cNvSpPr/>
          <p:nvPr/>
        </p:nvSpPr>
        <p:spPr>
          <a:xfrm>
            <a:off x="10085832" y="3017520"/>
            <a:ext cx="868680" cy="274320"/>
          </a:xfrm>
          <a:prstGeom prst="rect">
            <a:avLst/>
          </a:prstGeom>
          <a:noFill/>
          <a:ln/>
        </p:spPr>
        <p:txBody>
          <a:bodyPr wrap="none" rtlCol="0" anchor="ctr"/>
          <a:lstStyle/>
          <a:p>
            <a:pPr algn="l" indent="0" marL="0">
              <a:buNone/>
            </a:pPr>
            <a:r>
              <a:rPr lang="en-US" sz="1100" b="1" dirty="0">
                <a:solidFill>
                  <a:srgbClr val="E05A00"/>
                </a:solidFill>
                <a:latin typeface="Calibri" pitchFamily="34" charset="0"/>
                <a:ea typeface="Calibri" pitchFamily="34" charset="-122"/>
                <a:cs typeface="Calibri" pitchFamily="34" charset="-120"/>
              </a:rPr>
              <a:t>15,2 %</a:t>
            </a:r>
            <a:endParaRPr lang="en-US" sz="1100" dirty="0"/>
          </a:p>
        </p:txBody>
      </p:sp>
      <p:sp>
        <p:nvSpPr>
          <p:cNvPr id="40" name="Shape 37"/>
          <p:cNvSpPr/>
          <p:nvPr/>
        </p:nvSpPr>
        <p:spPr>
          <a:xfrm>
            <a:off x="6492240" y="3456432"/>
            <a:ext cx="5486400" cy="475488"/>
          </a:xfrm>
          <a:prstGeom prst="rect">
            <a:avLst/>
          </a:prstGeom>
          <a:solidFill>
            <a:srgbClr val="F8FAFC"/>
          </a:solidFill>
          <a:ln w="3810">
            <a:solidFill>
              <a:srgbClr val="E5E7EB"/>
            </a:solidFill>
            <a:prstDash val="solid"/>
          </a:ln>
        </p:spPr>
      </p:sp>
      <p:sp>
        <p:nvSpPr>
          <p:cNvPr id="41" name="Text 38"/>
          <p:cNvSpPr/>
          <p:nvPr/>
        </p:nvSpPr>
        <p:spPr>
          <a:xfrm>
            <a:off x="6601968" y="3584448"/>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Mars</a:t>
            </a:r>
            <a:endParaRPr lang="en-US" sz="1100" dirty="0"/>
          </a:p>
        </p:txBody>
      </p:sp>
      <p:sp>
        <p:nvSpPr>
          <p:cNvPr id="42" name="Shape 39"/>
          <p:cNvSpPr/>
          <p:nvPr/>
        </p:nvSpPr>
        <p:spPr>
          <a:xfrm>
            <a:off x="7452360" y="3584448"/>
            <a:ext cx="2560320" cy="201168"/>
          </a:xfrm>
          <a:prstGeom prst="rect">
            <a:avLst/>
          </a:prstGeom>
          <a:solidFill>
            <a:srgbClr val="D1D5DB"/>
          </a:solidFill>
          <a:ln/>
        </p:spPr>
      </p:sp>
      <p:sp>
        <p:nvSpPr>
          <p:cNvPr id="43" name="Shape 40"/>
          <p:cNvSpPr/>
          <p:nvPr/>
        </p:nvSpPr>
        <p:spPr>
          <a:xfrm>
            <a:off x="7452360" y="3584448"/>
            <a:ext cx="1838178" cy="201168"/>
          </a:xfrm>
          <a:prstGeom prst="rect">
            <a:avLst/>
          </a:prstGeom>
          <a:solidFill>
            <a:srgbClr val="1A7C4F"/>
          </a:solidFill>
          <a:ln/>
        </p:spPr>
      </p:sp>
      <p:sp>
        <p:nvSpPr>
          <p:cNvPr id="44" name="Text 41"/>
          <p:cNvSpPr/>
          <p:nvPr/>
        </p:nvSpPr>
        <p:spPr>
          <a:xfrm>
            <a:off x="10085832" y="3547872"/>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22,4 %</a:t>
            </a:r>
            <a:endParaRPr lang="en-US" sz="1100" dirty="0"/>
          </a:p>
        </p:txBody>
      </p:sp>
      <p:sp>
        <p:nvSpPr>
          <p:cNvPr id="45" name="Shape 42"/>
          <p:cNvSpPr/>
          <p:nvPr/>
        </p:nvSpPr>
        <p:spPr>
          <a:xfrm>
            <a:off x="6492240" y="3986784"/>
            <a:ext cx="5486400" cy="475488"/>
          </a:xfrm>
          <a:prstGeom prst="rect">
            <a:avLst/>
          </a:prstGeom>
          <a:solidFill>
            <a:srgbClr val="F8FAFC"/>
          </a:solidFill>
          <a:ln w="3810">
            <a:solidFill>
              <a:srgbClr val="E5E7EB"/>
            </a:solidFill>
            <a:prstDash val="solid"/>
          </a:ln>
        </p:spPr>
      </p:sp>
      <p:sp>
        <p:nvSpPr>
          <p:cNvPr id="46" name="Text 43"/>
          <p:cNvSpPr/>
          <p:nvPr/>
        </p:nvSpPr>
        <p:spPr>
          <a:xfrm>
            <a:off x="6601968" y="4114800"/>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Avril</a:t>
            </a:r>
            <a:endParaRPr lang="en-US" sz="1100" dirty="0"/>
          </a:p>
        </p:txBody>
      </p:sp>
      <p:sp>
        <p:nvSpPr>
          <p:cNvPr id="47" name="Shape 44"/>
          <p:cNvSpPr/>
          <p:nvPr/>
        </p:nvSpPr>
        <p:spPr>
          <a:xfrm>
            <a:off x="7452360" y="4114800"/>
            <a:ext cx="2560320" cy="201168"/>
          </a:xfrm>
          <a:prstGeom prst="rect">
            <a:avLst/>
          </a:prstGeom>
          <a:solidFill>
            <a:srgbClr val="D1D5DB"/>
          </a:solidFill>
          <a:ln/>
        </p:spPr>
      </p:sp>
      <p:sp>
        <p:nvSpPr>
          <p:cNvPr id="48" name="Shape 45"/>
          <p:cNvSpPr/>
          <p:nvPr/>
        </p:nvSpPr>
        <p:spPr>
          <a:xfrm>
            <a:off x="7452360" y="4114800"/>
            <a:ext cx="2305929" cy="201168"/>
          </a:xfrm>
          <a:prstGeom prst="rect">
            <a:avLst/>
          </a:prstGeom>
          <a:solidFill>
            <a:srgbClr val="1A7C4F"/>
          </a:solidFill>
          <a:ln/>
        </p:spPr>
      </p:sp>
      <p:sp>
        <p:nvSpPr>
          <p:cNvPr id="49" name="Text 46"/>
          <p:cNvSpPr/>
          <p:nvPr/>
        </p:nvSpPr>
        <p:spPr>
          <a:xfrm>
            <a:off x="10085832" y="4078224"/>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28,1 %</a:t>
            </a:r>
            <a:endParaRPr lang="en-US" sz="1100" dirty="0"/>
          </a:p>
        </p:txBody>
      </p:sp>
      <p:sp>
        <p:nvSpPr>
          <p:cNvPr id="50" name="Shape 47"/>
          <p:cNvSpPr/>
          <p:nvPr/>
        </p:nvSpPr>
        <p:spPr>
          <a:xfrm>
            <a:off x="6492240" y="4517136"/>
            <a:ext cx="5486400" cy="475488"/>
          </a:xfrm>
          <a:prstGeom prst="rect">
            <a:avLst/>
          </a:prstGeom>
          <a:solidFill>
            <a:srgbClr val="F8FAFC"/>
          </a:solidFill>
          <a:ln w="3810">
            <a:solidFill>
              <a:srgbClr val="E5E7EB"/>
            </a:solidFill>
            <a:prstDash val="solid"/>
          </a:ln>
        </p:spPr>
      </p:sp>
      <p:sp>
        <p:nvSpPr>
          <p:cNvPr id="51" name="Text 48"/>
          <p:cNvSpPr/>
          <p:nvPr/>
        </p:nvSpPr>
        <p:spPr>
          <a:xfrm>
            <a:off x="6601968" y="4645152"/>
            <a:ext cx="777240" cy="274320"/>
          </a:xfrm>
          <a:prstGeom prst="rect">
            <a:avLst/>
          </a:prstGeom>
          <a:noFill/>
          <a:ln/>
        </p:spPr>
        <p:txBody>
          <a:bodyPr wrap="non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Mai</a:t>
            </a:r>
            <a:endParaRPr lang="en-US" sz="1100" dirty="0"/>
          </a:p>
        </p:txBody>
      </p:sp>
      <p:sp>
        <p:nvSpPr>
          <p:cNvPr id="52" name="Shape 49"/>
          <p:cNvSpPr/>
          <p:nvPr/>
        </p:nvSpPr>
        <p:spPr>
          <a:xfrm>
            <a:off x="7452360" y="4645152"/>
            <a:ext cx="2560320" cy="201168"/>
          </a:xfrm>
          <a:prstGeom prst="rect">
            <a:avLst/>
          </a:prstGeom>
          <a:solidFill>
            <a:srgbClr val="D1D5DB"/>
          </a:solidFill>
          <a:ln/>
        </p:spPr>
      </p:sp>
      <p:sp>
        <p:nvSpPr>
          <p:cNvPr id="53" name="Shape 50"/>
          <p:cNvSpPr/>
          <p:nvPr/>
        </p:nvSpPr>
        <p:spPr>
          <a:xfrm>
            <a:off x="7452360" y="4645152"/>
            <a:ext cx="2560320" cy="201168"/>
          </a:xfrm>
          <a:prstGeom prst="rect">
            <a:avLst/>
          </a:prstGeom>
          <a:solidFill>
            <a:srgbClr val="1A7C4F"/>
          </a:solidFill>
          <a:ln/>
        </p:spPr>
      </p:sp>
      <p:sp>
        <p:nvSpPr>
          <p:cNvPr id="54" name="Text 51"/>
          <p:cNvSpPr/>
          <p:nvPr/>
        </p:nvSpPr>
        <p:spPr>
          <a:xfrm>
            <a:off x="10085832" y="4608576"/>
            <a:ext cx="868680" cy="274320"/>
          </a:xfrm>
          <a:prstGeom prst="rect">
            <a:avLst/>
          </a:prstGeom>
          <a:noFill/>
          <a:ln/>
        </p:spPr>
        <p:txBody>
          <a:bodyPr wrap="none" rtlCol="0" anchor="ctr"/>
          <a:lstStyle/>
          <a:p>
            <a:pPr algn="l" indent="0" marL="0">
              <a:buNone/>
            </a:pPr>
            <a:r>
              <a:rPr lang="en-US" sz="1100" b="1" dirty="0">
                <a:solidFill>
                  <a:srgbClr val="1A7C4F"/>
                </a:solidFill>
                <a:latin typeface="Calibri" pitchFamily="34" charset="0"/>
                <a:ea typeface="Calibri" pitchFamily="34" charset="-122"/>
                <a:cs typeface="Calibri" pitchFamily="34" charset="-120"/>
              </a:rPr>
              <a:t>31,2 %</a:t>
            </a:r>
            <a:endParaRPr lang="en-US" sz="1100" dirty="0"/>
          </a:p>
        </p:txBody>
      </p:sp>
      <p:sp>
        <p:nvSpPr>
          <p:cNvPr id="55" name="Shape 52"/>
          <p:cNvSpPr/>
          <p:nvPr/>
        </p:nvSpPr>
        <p:spPr>
          <a:xfrm>
            <a:off x="6492240" y="5212080"/>
            <a:ext cx="5486400" cy="685800"/>
          </a:xfrm>
          <a:prstGeom prst="rect">
            <a:avLst/>
          </a:prstGeom>
          <a:solidFill>
            <a:srgbClr val="F0FDF4"/>
          </a:solidFill>
          <a:ln w="6350">
            <a:solidFill>
              <a:srgbClr val="E5C97A"/>
            </a:solidFill>
            <a:prstDash val="solid"/>
          </a:ln>
        </p:spPr>
      </p:sp>
      <p:sp>
        <p:nvSpPr>
          <p:cNvPr id="56" name="Text 53"/>
          <p:cNvSpPr/>
          <p:nvPr/>
        </p:nvSpPr>
        <p:spPr>
          <a:xfrm>
            <a:off x="6583680" y="5285232"/>
            <a:ext cx="5303520" cy="5760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AGL #1 ABSOLU aérien import (qualifié) : 20,8% de PDM sur 5 603 tonnes. Progression remarquable : 10,9% en Janvier → 31,2% en Mai, soit +20,3 pts en 5 mois.</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AÉRIEN IMPORT – SEGMENTS &amp; CONCURRENTS  |  2025 vs 2026</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Évolution marchandises  |  Classement transitaires qualifiés  |  PDM AGL par filière</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p.18</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Top marchandises – évolution 2025 vs 2026 (kg)</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150876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Marchandise</a:t>
            </a:r>
            <a:endParaRPr lang="en-US" sz="850" dirty="0"/>
          </a:p>
        </p:txBody>
      </p:sp>
      <p:sp>
        <p:nvSpPr>
          <p:cNvPr id="10" name="Text 8"/>
          <p:cNvSpPr/>
          <p:nvPr/>
        </p:nvSpPr>
        <p:spPr>
          <a:xfrm>
            <a:off x="172821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2025</a:t>
            </a:r>
            <a:endParaRPr lang="en-US" sz="850" dirty="0"/>
          </a:p>
        </p:txBody>
      </p:sp>
      <p:sp>
        <p:nvSpPr>
          <p:cNvPr id="11" name="Text 9"/>
          <p:cNvSpPr/>
          <p:nvPr/>
        </p:nvSpPr>
        <p:spPr>
          <a:xfrm>
            <a:off x="328269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2026</a:t>
            </a:r>
            <a:endParaRPr lang="en-US" sz="850" dirty="0"/>
          </a:p>
        </p:txBody>
      </p:sp>
      <p:sp>
        <p:nvSpPr>
          <p:cNvPr id="12" name="Text 10"/>
          <p:cNvSpPr/>
          <p:nvPr/>
        </p:nvSpPr>
        <p:spPr>
          <a:xfrm>
            <a:off x="483717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Var.%</a:t>
            </a:r>
            <a:endParaRPr lang="en-US" sz="850" dirty="0"/>
          </a:p>
        </p:txBody>
      </p:sp>
      <p:sp>
        <p:nvSpPr>
          <p:cNvPr id="13" name="Shape 11"/>
          <p:cNvSpPr/>
          <p:nvPr/>
        </p:nvSpPr>
        <p:spPr>
          <a:xfrm>
            <a:off x="137160" y="1627632"/>
            <a:ext cx="6217920" cy="256032"/>
          </a:xfrm>
          <a:prstGeom prst="rect">
            <a:avLst/>
          </a:prstGeom>
          <a:solidFill>
            <a:srgbClr val="FFF9EC"/>
          </a:solidFill>
          <a:ln w="3810">
            <a:solidFill>
              <a:srgbClr val="E5E7EB"/>
            </a:solidFill>
            <a:prstDash val="solid"/>
          </a:ln>
        </p:spPr>
      </p:sp>
      <p:sp>
        <p:nvSpPr>
          <p:cNvPr id="14" name="Text 12"/>
          <p:cNvSpPr/>
          <p:nvPr/>
        </p:nvSpPr>
        <p:spPr>
          <a:xfrm>
            <a:off x="173736" y="1664208"/>
            <a:ext cx="150876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OEUFS</a:t>
            </a:r>
            <a:endParaRPr lang="en-US" sz="850" dirty="0"/>
          </a:p>
        </p:txBody>
      </p:sp>
      <p:sp>
        <p:nvSpPr>
          <p:cNvPr id="15" name="Text 13"/>
          <p:cNvSpPr/>
          <p:nvPr/>
        </p:nvSpPr>
        <p:spPr>
          <a:xfrm>
            <a:off x="1728216" y="166420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1 483 700</a:t>
            </a:r>
            <a:endParaRPr lang="en-US" sz="850" dirty="0"/>
          </a:p>
        </p:txBody>
      </p:sp>
      <p:sp>
        <p:nvSpPr>
          <p:cNvPr id="16" name="Text 14"/>
          <p:cNvSpPr/>
          <p:nvPr/>
        </p:nvSpPr>
        <p:spPr>
          <a:xfrm>
            <a:off x="3282696" y="166420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1 883 317</a:t>
            </a:r>
            <a:endParaRPr lang="en-US" sz="850" dirty="0"/>
          </a:p>
        </p:txBody>
      </p:sp>
      <p:sp>
        <p:nvSpPr>
          <p:cNvPr id="17" name="Text 15"/>
          <p:cNvSpPr/>
          <p:nvPr/>
        </p:nvSpPr>
        <p:spPr>
          <a:xfrm>
            <a:off x="4837176" y="1664208"/>
            <a:ext cx="150876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+26,9%</a:t>
            </a:r>
            <a:endParaRPr lang="en-US" sz="85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MATÉRIELS MINIERS</a:t>
            </a:r>
            <a:endParaRPr lang="en-US" sz="850" dirty="0"/>
          </a:p>
        </p:txBody>
      </p:sp>
      <p:sp>
        <p:nvSpPr>
          <p:cNvPr id="20" name="Text 18"/>
          <p:cNvSpPr/>
          <p:nvPr/>
        </p:nvSpPr>
        <p:spPr>
          <a:xfrm>
            <a:off x="172821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149 783</a:t>
            </a:r>
            <a:endParaRPr lang="en-US" sz="850" dirty="0"/>
          </a:p>
        </p:txBody>
      </p:sp>
      <p:sp>
        <p:nvSpPr>
          <p:cNvPr id="21" name="Text 19"/>
          <p:cNvSpPr/>
          <p:nvPr/>
        </p:nvSpPr>
        <p:spPr>
          <a:xfrm>
            <a:off x="328269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515 776</a:t>
            </a:r>
            <a:endParaRPr lang="en-US" sz="850" dirty="0"/>
          </a:p>
        </p:txBody>
      </p:sp>
      <p:sp>
        <p:nvSpPr>
          <p:cNvPr id="22" name="Text 20"/>
          <p:cNvSpPr/>
          <p:nvPr/>
        </p:nvSpPr>
        <p:spPr>
          <a:xfrm>
            <a:off x="483717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+244,3%</a:t>
            </a:r>
            <a:endParaRPr lang="en-US" sz="850" dirty="0"/>
          </a:p>
        </p:txBody>
      </p:sp>
      <p:sp>
        <p:nvSpPr>
          <p:cNvPr id="23" name="Shape 21"/>
          <p:cNvSpPr/>
          <p:nvPr/>
        </p:nvSpPr>
        <p:spPr>
          <a:xfrm>
            <a:off x="137160" y="2139696"/>
            <a:ext cx="6217920" cy="256032"/>
          </a:xfrm>
          <a:prstGeom prst="rect">
            <a:avLst/>
          </a:prstGeom>
          <a:solidFill>
            <a:srgbClr val="FFFFFF"/>
          </a:solidFill>
          <a:ln w="3810">
            <a:solidFill>
              <a:srgbClr val="E5E7EB"/>
            </a:solidFill>
            <a:prstDash val="solid"/>
          </a:ln>
        </p:spPr>
      </p:sp>
      <p:sp>
        <p:nvSpPr>
          <p:cNvPr id="24" name="Text 22"/>
          <p:cNvSpPr/>
          <p:nvPr/>
        </p:nvSpPr>
        <p:spPr>
          <a:xfrm>
            <a:off x="173736" y="2176272"/>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MACHINES</a:t>
            </a:r>
            <a:endParaRPr lang="en-US" sz="850" dirty="0"/>
          </a:p>
        </p:txBody>
      </p:sp>
      <p:sp>
        <p:nvSpPr>
          <p:cNvPr id="25" name="Text 23"/>
          <p:cNvSpPr/>
          <p:nvPr/>
        </p:nvSpPr>
        <p:spPr>
          <a:xfrm>
            <a:off x="1728216" y="21762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255 984</a:t>
            </a:r>
            <a:endParaRPr lang="en-US" sz="850" dirty="0"/>
          </a:p>
        </p:txBody>
      </p:sp>
      <p:sp>
        <p:nvSpPr>
          <p:cNvPr id="26" name="Text 24"/>
          <p:cNvSpPr/>
          <p:nvPr/>
        </p:nvSpPr>
        <p:spPr>
          <a:xfrm>
            <a:off x="3282696" y="21762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486 785</a:t>
            </a:r>
            <a:endParaRPr lang="en-US" sz="850" dirty="0"/>
          </a:p>
        </p:txBody>
      </p:sp>
      <p:sp>
        <p:nvSpPr>
          <p:cNvPr id="27" name="Text 25"/>
          <p:cNvSpPr/>
          <p:nvPr/>
        </p:nvSpPr>
        <p:spPr>
          <a:xfrm>
            <a:off x="4837176" y="21762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+90,2%</a:t>
            </a:r>
            <a:endParaRPr lang="en-US" sz="85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MÉDICAMENTS</a:t>
            </a:r>
            <a:endParaRPr lang="en-US" sz="850" dirty="0"/>
          </a:p>
        </p:txBody>
      </p:sp>
      <p:sp>
        <p:nvSpPr>
          <p:cNvPr id="30" name="Text 28"/>
          <p:cNvSpPr/>
          <p:nvPr/>
        </p:nvSpPr>
        <p:spPr>
          <a:xfrm>
            <a:off x="1728216" y="24323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280 991</a:t>
            </a:r>
            <a:endParaRPr lang="en-US" sz="850" dirty="0"/>
          </a:p>
        </p:txBody>
      </p:sp>
      <p:sp>
        <p:nvSpPr>
          <p:cNvPr id="31" name="Text 29"/>
          <p:cNvSpPr/>
          <p:nvPr/>
        </p:nvSpPr>
        <p:spPr>
          <a:xfrm>
            <a:off x="3282696" y="24323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337 882</a:t>
            </a:r>
            <a:endParaRPr lang="en-US" sz="850" dirty="0"/>
          </a:p>
        </p:txBody>
      </p:sp>
      <p:sp>
        <p:nvSpPr>
          <p:cNvPr id="32" name="Text 30"/>
          <p:cNvSpPr/>
          <p:nvPr/>
        </p:nvSpPr>
        <p:spPr>
          <a:xfrm>
            <a:off x="4837176" y="24323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+20,2%</a:t>
            </a:r>
            <a:endParaRPr lang="en-US" sz="85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BILLETS DE BANQUE</a:t>
            </a:r>
            <a:endParaRPr lang="en-US" sz="850" dirty="0"/>
          </a:p>
        </p:txBody>
      </p:sp>
      <p:sp>
        <p:nvSpPr>
          <p:cNvPr id="35" name="Text 33"/>
          <p:cNvSpPr/>
          <p:nvPr/>
        </p:nvSpPr>
        <p:spPr>
          <a:xfrm>
            <a:off x="1728216" y="268833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268 210</a:t>
            </a:r>
            <a:endParaRPr lang="en-US" sz="850" dirty="0"/>
          </a:p>
        </p:txBody>
      </p:sp>
      <p:sp>
        <p:nvSpPr>
          <p:cNvPr id="36" name="Text 34"/>
          <p:cNvSpPr/>
          <p:nvPr/>
        </p:nvSpPr>
        <p:spPr>
          <a:xfrm>
            <a:off x="3282696" y="268833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330 706</a:t>
            </a:r>
            <a:endParaRPr lang="en-US" sz="850" dirty="0"/>
          </a:p>
        </p:txBody>
      </p:sp>
      <p:sp>
        <p:nvSpPr>
          <p:cNvPr id="37" name="Text 35"/>
          <p:cNvSpPr/>
          <p:nvPr/>
        </p:nvSpPr>
        <p:spPr>
          <a:xfrm>
            <a:off x="4837176" y="268833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+23,3%</a:t>
            </a:r>
            <a:endParaRPr lang="en-US" sz="850" dirty="0"/>
          </a:p>
        </p:txBody>
      </p:sp>
      <p:sp>
        <p:nvSpPr>
          <p:cNvPr id="38" name="Shape 36"/>
          <p:cNvSpPr/>
          <p:nvPr/>
        </p:nvSpPr>
        <p:spPr>
          <a:xfrm>
            <a:off x="137160" y="2907792"/>
            <a:ext cx="6217920" cy="256032"/>
          </a:xfrm>
          <a:prstGeom prst="rect">
            <a:avLst/>
          </a:prstGeom>
          <a:solidFill>
            <a:srgbClr val="F8F9FA"/>
          </a:solidFill>
          <a:ln w="3810">
            <a:solidFill>
              <a:srgbClr val="E5E7EB"/>
            </a:solidFill>
            <a:prstDash val="solid"/>
          </a:ln>
        </p:spPr>
      </p:sp>
      <p:sp>
        <p:nvSpPr>
          <p:cNvPr id="39" name="Text 37"/>
          <p:cNvSpPr/>
          <p:nvPr/>
        </p:nvSpPr>
        <p:spPr>
          <a:xfrm>
            <a:off x="173736" y="2944368"/>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TÉLÉCOMS</a:t>
            </a:r>
            <a:endParaRPr lang="en-US" sz="850" dirty="0"/>
          </a:p>
        </p:txBody>
      </p:sp>
      <p:sp>
        <p:nvSpPr>
          <p:cNvPr id="40" name="Text 38"/>
          <p:cNvSpPr/>
          <p:nvPr/>
        </p:nvSpPr>
        <p:spPr>
          <a:xfrm>
            <a:off x="1728216" y="294436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113 602</a:t>
            </a:r>
            <a:endParaRPr lang="en-US" sz="850" dirty="0"/>
          </a:p>
        </p:txBody>
      </p:sp>
      <p:sp>
        <p:nvSpPr>
          <p:cNvPr id="41" name="Text 39"/>
          <p:cNvSpPr/>
          <p:nvPr/>
        </p:nvSpPr>
        <p:spPr>
          <a:xfrm>
            <a:off x="3282696" y="294436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182 071</a:t>
            </a:r>
            <a:endParaRPr lang="en-US" sz="850" dirty="0"/>
          </a:p>
        </p:txBody>
      </p:sp>
      <p:sp>
        <p:nvSpPr>
          <p:cNvPr id="42" name="Text 40"/>
          <p:cNvSpPr/>
          <p:nvPr/>
        </p:nvSpPr>
        <p:spPr>
          <a:xfrm>
            <a:off x="4837176" y="294436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+60,3%</a:t>
            </a:r>
            <a:endParaRPr lang="en-US" sz="850" dirty="0"/>
          </a:p>
        </p:txBody>
      </p:sp>
      <p:sp>
        <p:nvSpPr>
          <p:cNvPr id="43" name="Shape 41"/>
          <p:cNvSpPr/>
          <p:nvPr/>
        </p:nvSpPr>
        <p:spPr>
          <a:xfrm>
            <a:off x="137160" y="3163824"/>
            <a:ext cx="6217920" cy="256032"/>
          </a:xfrm>
          <a:prstGeom prst="rect">
            <a:avLst/>
          </a:prstGeom>
          <a:solidFill>
            <a:srgbClr val="FFFFFF"/>
          </a:solidFill>
          <a:ln w="3810">
            <a:solidFill>
              <a:srgbClr val="E5E7EB"/>
            </a:solidFill>
            <a:prstDash val="solid"/>
          </a:ln>
        </p:spPr>
      </p:sp>
      <p:sp>
        <p:nvSpPr>
          <p:cNvPr id="44" name="Text 42"/>
          <p:cNvSpPr/>
          <p:nvPr/>
        </p:nvSpPr>
        <p:spPr>
          <a:xfrm>
            <a:off x="173736" y="3200400"/>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MATÉRIELS ÉLECTRIQUE</a:t>
            </a:r>
            <a:endParaRPr lang="en-US" sz="850" dirty="0"/>
          </a:p>
        </p:txBody>
      </p:sp>
      <p:sp>
        <p:nvSpPr>
          <p:cNvPr id="45" name="Text 43"/>
          <p:cNvSpPr/>
          <p:nvPr/>
        </p:nvSpPr>
        <p:spPr>
          <a:xfrm>
            <a:off x="1728216" y="320040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64 622</a:t>
            </a:r>
            <a:endParaRPr lang="en-US" sz="850" dirty="0"/>
          </a:p>
        </p:txBody>
      </p:sp>
      <p:sp>
        <p:nvSpPr>
          <p:cNvPr id="46" name="Text 44"/>
          <p:cNvSpPr/>
          <p:nvPr/>
        </p:nvSpPr>
        <p:spPr>
          <a:xfrm>
            <a:off x="3282696" y="320040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158 887</a:t>
            </a:r>
            <a:endParaRPr lang="en-US" sz="850" dirty="0"/>
          </a:p>
        </p:txBody>
      </p:sp>
      <p:sp>
        <p:nvSpPr>
          <p:cNvPr id="47" name="Text 45"/>
          <p:cNvSpPr/>
          <p:nvPr/>
        </p:nvSpPr>
        <p:spPr>
          <a:xfrm>
            <a:off x="4837176" y="320040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+145,9%</a:t>
            </a:r>
            <a:endParaRPr lang="en-US" sz="850" dirty="0"/>
          </a:p>
        </p:txBody>
      </p:sp>
      <p:sp>
        <p:nvSpPr>
          <p:cNvPr id="48" name="Shape 46"/>
          <p:cNvSpPr/>
          <p:nvPr/>
        </p:nvSpPr>
        <p:spPr>
          <a:xfrm>
            <a:off x="137160" y="3419856"/>
            <a:ext cx="6217920" cy="256032"/>
          </a:xfrm>
          <a:prstGeom prst="rect">
            <a:avLst/>
          </a:prstGeom>
          <a:solidFill>
            <a:srgbClr val="F8F9FA"/>
          </a:solidFill>
          <a:ln w="3810">
            <a:solidFill>
              <a:srgbClr val="E5E7EB"/>
            </a:solidFill>
            <a:prstDash val="solid"/>
          </a:ln>
        </p:spPr>
      </p:sp>
      <p:sp>
        <p:nvSpPr>
          <p:cNvPr id="49" name="Text 47"/>
          <p:cNvSpPr/>
          <p:nvPr/>
        </p:nvSpPr>
        <p:spPr>
          <a:xfrm>
            <a:off x="173736" y="3456432"/>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PIÈCES DÉTACHÉES</a:t>
            </a:r>
            <a:endParaRPr lang="en-US" sz="850" dirty="0"/>
          </a:p>
        </p:txBody>
      </p:sp>
      <p:sp>
        <p:nvSpPr>
          <p:cNvPr id="50" name="Text 48"/>
          <p:cNvSpPr/>
          <p:nvPr/>
        </p:nvSpPr>
        <p:spPr>
          <a:xfrm>
            <a:off x="1728216" y="345643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1 181 203</a:t>
            </a:r>
            <a:endParaRPr lang="en-US" sz="850" dirty="0"/>
          </a:p>
        </p:txBody>
      </p:sp>
      <p:sp>
        <p:nvSpPr>
          <p:cNvPr id="51" name="Text 49"/>
          <p:cNvSpPr/>
          <p:nvPr/>
        </p:nvSpPr>
        <p:spPr>
          <a:xfrm>
            <a:off x="3282696" y="345643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942 926</a:t>
            </a:r>
            <a:endParaRPr lang="en-US" sz="850" dirty="0"/>
          </a:p>
        </p:txBody>
      </p:sp>
      <p:sp>
        <p:nvSpPr>
          <p:cNvPr id="52" name="Text 50"/>
          <p:cNvSpPr/>
          <p:nvPr/>
        </p:nvSpPr>
        <p:spPr>
          <a:xfrm>
            <a:off x="4837176" y="345643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–20,2%</a:t>
            </a:r>
            <a:endParaRPr lang="en-US" sz="850" dirty="0"/>
          </a:p>
        </p:txBody>
      </p:sp>
      <p:sp>
        <p:nvSpPr>
          <p:cNvPr id="53" name="Shape 51"/>
          <p:cNvSpPr/>
          <p:nvPr/>
        </p:nvSpPr>
        <p:spPr>
          <a:xfrm>
            <a:off x="137160" y="3675888"/>
            <a:ext cx="6217920" cy="256032"/>
          </a:xfrm>
          <a:prstGeom prst="rect">
            <a:avLst/>
          </a:prstGeom>
          <a:solidFill>
            <a:srgbClr val="FFFFFF"/>
          </a:solidFill>
          <a:ln w="3810">
            <a:solidFill>
              <a:srgbClr val="E5E7EB"/>
            </a:solidFill>
            <a:prstDash val="solid"/>
          </a:ln>
        </p:spPr>
      </p:sp>
      <p:sp>
        <p:nvSpPr>
          <p:cNvPr id="54" name="Text 52"/>
          <p:cNvSpPr/>
          <p:nvPr/>
        </p:nvSpPr>
        <p:spPr>
          <a:xfrm>
            <a:off x="173736" y="3712464"/>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PRODUITS CHIMIQUES</a:t>
            </a:r>
            <a:endParaRPr lang="en-US" sz="850" dirty="0"/>
          </a:p>
        </p:txBody>
      </p:sp>
      <p:sp>
        <p:nvSpPr>
          <p:cNvPr id="55" name="Text 53"/>
          <p:cNvSpPr/>
          <p:nvPr/>
        </p:nvSpPr>
        <p:spPr>
          <a:xfrm>
            <a:off x="1728216" y="371246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207 323</a:t>
            </a:r>
            <a:endParaRPr lang="en-US" sz="850" dirty="0"/>
          </a:p>
        </p:txBody>
      </p:sp>
      <p:sp>
        <p:nvSpPr>
          <p:cNvPr id="56" name="Text 54"/>
          <p:cNvSpPr/>
          <p:nvPr/>
        </p:nvSpPr>
        <p:spPr>
          <a:xfrm>
            <a:off x="3282696" y="371246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189 901</a:t>
            </a:r>
            <a:endParaRPr lang="en-US" sz="850" dirty="0"/>
          </a:p>
        </p:txBody>
      </p:sp>
      <p:sp>
        <p:nvSpPr>
          <p:cNvPr id="57" name="Text 55"/>
          <p:cNvSpPr/>
          <p:nvPr/>
        </p:nvSpPr>
        <p:spPr>
          <a:xfrm>
            <a:off x="4837176" y="371246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–8,4%</a:t>
            </a:r>
            <a:endParaRPr lang="en-US" sz="850" dirty="0"/>
          </a:p>
        </p:txBody>
      </p:sp>
      <p:sp>
        <p:nvSpPr>
          <p:cNvPr id="58" name="Shape 56"/>
          <p:cNvSpPr/>
          <p:nvPr/>
        </p:nvSpPr>
        <p:spPr>
          <a:xfrm>
            <a:off x="137160" y="3931920"/>
            <a:ext cx="6217920" cy="256032"/>
          </a:xfrm>
          <a:prstGeom prst="rect">
            <a:avLst/>
          </a:prstGeom>
          <a:solidFill>
            <a:srgbClr val="F8F9FA"/>
          </a:solidFill>
          <a:ln w="3810">
            <a:solidFill>
              <a:srgbClr val="E5E7EB"/>
            </a:solidFill>
            <a:prstDash val="solid"/>
          </a:ln>
        </p:spPr>
      </p:sp>
      <p:sp>
        <p:nvSpPr>
          <p:cNvPr id="59" name="Text 57"/>
          <p:cNvSpPr/>
          <p:nvPr/>
        </p:nvSpPr>
        <p:spPr>
          <a:xfrm>
            <a:off x="173736" y="3968496"/>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FRUITS &amp; LÉGUMES</a:t>
            </a:r>
            <a:endParaRPr lang="en-US" sz="850" dirty="0"/>
          </a:p>
        </p:txBody>
      </p:sp>
      <p:sp>
        <p:nvSpPr>
          <p:cNvPr id="60" name="Text 58"/>
          <p:cNvSpPr/>
          <p:nvPr/>
        </p:nvSpPr>
        <p:spPr>
          <a:xfrm>
            <a:off x="1728216" y="396849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154 253</a:t>
            </a:r>
            <a:endParaRPr lang="en-US" sz="850" dirty="0"/>
          </a:p>
        </p:txBody>
      </p:sp>
      <p:sp>
        <p:nvSpPr>
          <p:cNvPr id="61" name="Text 59"/>
          <p:cNvSpPr/>
          <p:nvPr/>
        </p:nvSpPr>
        <p:spPr>
          <a:xfrm>
            <a:off x="3282696" y="396849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115 798</a:t>
            </a:r>
            <a:endParaRPr lang="en-US" sz="850" dirty="0"/>
          </a:p>
        </p:txBody>
      </p:sp>
      <p:sp>
        <p:nvSpPr>
          <p:cNvPr id="62" name="Text 60"/>
          <p:cNvSpPr/>
          <p:nvPr/>
        </p:nvSpPr>
        <p:spPr>
          <a:xfrm>
            <a:off x="4837176" y="396849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–24,9%</a:t>
            </a:r>
            <a:endParaRPr lang="en-US" sz="850" dirty="0"/>
          </a:p>
        </p:txBody>
      </p:sp>
      <p:sp>
        <p:nvSpPr>
          <p:cNvPr id="63" name="Text 61"/>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Classement transitaires – Aérien Import 2026 (qualifié)</a:t>
            </a:r>
            <a:endParaRPr lang="en-US" sz="1100" dirty="0"/>
          </a:p>
        </p:txBody>
      </p:sp>
      <p:sp>
        <p:nvSpPr>
          <p:cNvPr id="64" name="Shape 62"/>
          <p:cNvSpPr/>
          <p:nvPr/>
        </p:nvSpPr>
        <p:spPr>
          <a:xfrm>
            <a:off x="6400800" y="1371600"/>
            <a:ext cx="5669280" cy="256032"/>
          </a:xfrm>
          <a:prstGeom prst="rect">
            <a:avLst/>
          </a:prstGeom>
          <a:solidFill>
            <a:srgbClr val="0D2243"/>
          </a:solidFill>
          <a:ln/>
        </p:spPr>
      </p:sp>
      <p:sp>
        <p:nvSpPr>
          <p:cNvPr id="65" name="Text 63"/>
          <p:cNvSpPr/>
          <p:nvPr/>
        </p:nvSpPr>
        <p:spPr>
          <a:xfrm>
            <a:off x="6437376" y="1408176"/>
            <a:ext cx="365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Rang</a:t>
            </a:r>
            <a:endParaRPr lang="en-US" sz="850" dirty="0"/>
          </a:p>
        </p:txBody>
      </p:sp>
      <p:sp>
        <p:nvSpPr>
          <p:cNvPr id="66" name="Text 64"/>
          <p:cNvSpPr/>
          <p:nvPr/>
        </p:nvSpPr>
        <p:spPr>
          <a:xfrm>
            <a:off x="6848856" y="1408176"/>
            <a:ext cx="170688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Transitaire</a:t>
            </a:r>
            <a:endParaRPr lang="en-US" sz="850" dirty="0"/>
          </a:p>
        </p:txBody>
      </p:sp>
      <p:sp>
        <p:nvSpPr>
          <p:cNvPr id="67" name="Text 65"/>
          <p:cNvSpPr/>
          <p:nvPr/>
        </p:nvSpPr>
        <p:spPr>
          <a:xfrm>
            <a:off x="8601456" y="1408176"/>
            <a:ext cx="17068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Poids kg</a:t>
            </a:r>
            <a:endParaRPr lang="en-US" sz="850" dirty="0"/>
          </a:p>
        </p:txBody>
      </p:sp>
      <p:sp>
        <p:nvSpPr>
          <p:cNvPr id="68" name="Text 66"/>
          <p:cNvSpPr/>
          <p:nvPr/>
        </p:nvSpPr>
        <p:spPr>
          <a:xfrm>
            <a:off x="10354056" y="1408176"/>
            <a:ext cx="17068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PDM</a:t>
            </a:r>
            <a:endParaRPr lang="en-US" sz="850" dirty="0"/>
          </a:p>
        </p:txBody>
      </p:sp>
      <p:sp>
        <p:nvSpPr>
          <p:cNvPr id="69" name="Shape 67"/>
          <p:cNvSpPr/>
          <p:nvPr/>
        </p:nvSpPr>
        <p:spPr>
          <a:xfrm>
            <a:off x="6400800" y="1627632"/>
            <a:ext cx="5669280" cy="256032"/>
          </a:xfrm>
          <a:prstGeom prst="rect">
            <a:avLst/>
          </a:prstGeom>
          <a:solidFill>
            <a:srgbClr val="FFF9EC"/>
          </a:solidFill>
          <a:ln w="3810">
            <a:solidFill>
              <a:srgbClr val="E5E7EB"/>
            </a:solidFill>
            <a:prstDash val="solid"/>
          </a:ln>
        </p:spPr>
      </p:sp>
      <p:sp>
        <p:nvSpPr>
          <p:cNvPr id="70" name="Text 68"/>
          <p:cNvSpPr/>
          <p:nvPr/>
        </p:nvSpPr>
        <p:spPr>
          <a:xfrm>
            <a:off x="6437376" y="1664208"/>
            <a:ext cx="365760" cy="201168"/>
          </a:xfrm>
          <a:prstGeom prst="rect">
            <a:avLst/>
          </a:prstGeom>
          <a:noFill/>
          <a:ln/>
        </p:spPr>
        <p:txBody>
          <a:bodyPr wrap="none" rtlCol="0" anchor="ctr"/>
          <a:lstStyle/>
          <a:p>
            <a:pPr algn="ctr" indent="0" marL="0">
              <a:buNone/>
            </a:pPr>
            <a:r>
              <a:rPr lang="en-US" sz="850" b="1" dirty="0">
                <a:solidFill>
                  <a:srgbClr val="374151"/>
                </a:solidFill>
                <a:latin typeface="Calibri" pitchFamily="34" charset="0"/>
                <a:ea typeface="Calibri" pitchFamily="34" charset="-122"/>
                <a:cs typeface="Calibri" pitchFamily="34" charset="-120"/>
              </a:rPr>
              <a:t>#1</a:t>
            </a:r>
            <a:endParaRPr lang="en-US" sz="850" dirty="0"/>
          </a:p>
        </p:txBody>
      </p:sp>
      <p:sp>
        <p:nvSpPr>
          <p:cNvPr id="71" name="Text 69"/>
          <p:cNvSpPr/>
          <p:nvPr/>
        </p:nvSpPr>
        <p:spPr>
          <a:xfrm>
            <a:off x="6848856" y="1664208"/>
            <a:ext cx="170688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AFRICA GLOBAL LOGISTICS</a:t>
            </a:r>
            <a:endParaRPr lang="en-US" sz="850" dirty="0"/>
          </a:p>
        </p:txBody>
      </p:sp>
      <p:sp>
        <p:nvSpPr>
          <p:cNvPr id="72" name="Text 70"/>
          <p:cNvSpPr/>
          <p:nvPr/>
        </p:nvSpPr>
        <p:spPr>
          <a:xfrm>
            <a:off x="8601456" y="1664208"/>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1 165 994</a:t>
            </a:r>
            <a:endParaRPr lang="en-US" sz="850" dirty="0"/>
          </a:p>
        </p:txBody>
      </p:sp>
      <p:sp>
        <p:nvSpPr>
          <p:cNvPr id="73" name="Text 71"/>
          <p:cNvSpPr/>
          <p:nvPr/>
        </p:nvSpPr>
        <p:spPr>
          <a:xfrm>
            <a:off x="10354056" y="1664208"/>
            <a:ext cx="170688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20,8 %</a:t>
            </a:r>
            <a:endParaRPr lang="en-US" sz="850" dirty="0"/>
          </a:p>
        </p:txBody>
      </p:sp>
      <p:sp>
        <p:nvSpPr>
          <p:cNvPr id="74" name="Shape 72"/>
          <p:cNvSpPr/>
          <p:nvPr/>
        </p:nvSpPr>
        <p:spPr>
          <a:xfrm>
            <a:off x="6400800" y="1883664"/>
            <a:ext cx="5669280" cy="256032"/>
          </a:xfrm>
          <a:prstGeom prst="rect">
            <a:avLst/>
          </a:prstGeom>
          <a:solidFill>
            <a:srgbClr val="F8F9FA"/>
          </a:solidFill>
          <a:ln w="3810">
            <a:solidFill>
              <a:srgbClr val="E5E7EB"/>
            </a:solidFill>
            <a:prstDash val="solid"/>
          </a:ln>
        </p:spPr>
      </p:sp>
      <p:sp>
        <p:nvSpPr>
          <p:cNvPr id="75" name="Text 73"/>
          <p:cNvSpPr/>
          <p:nvPr/>
        </p:nvSpPr>
        <p:spPr>
          <a:xfrm>
            <a:off x="6437376" y="192024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a:t>
            </a:r>
            <a:endParaRPr lang="en-US" sz="850" dirty="0"/>
          </a:p>
        </p:txBody>
      </p:sp>
      <p:sp>
        <p:nvSpPr>
          <p:cNvPr id="76" name="Text 74"/>
          <p:cNvSpPr/>
          <p:nvPr/>
        </p:nvSpPr>
        <p:spPr>
          <a:xfrm>
            <a:off x="6848856" y="1920240"/>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OSMOZ AFRICA</a:t>
            </a:r>
            <a:endParaRPr lang="en-US" sz="850" dirty="0"/>
          </a:p>
        </p:txBody>
      </p:sp>
      <p:sp>
        <p:nvSpPr>
          <p:cNvPr id="77" name="Text 75"/>
          <p:cNvSpPr/>
          <p:nvPr/>
        </p:nvSpPr>
        <p:spPr>
          <a:xfrm>
            <a:off x="8601456" y="1920240"/>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525 506</a:t>
            </a:r>
            <a:endParaRPr lang="en-US" sz="850" dirty="0"/>
          </a:p>
        </p:txBody>
      </p:sp>
      <p:sp>
        <p:nvSpPr>
          <p:cNvPr id="78" name="Text 76"/>
          <p:cNvSpPr/>
          <p:nvPr/>
        </p:nvSpPr>
        <p:spPr>
          <a:xfrm>
            <a:off x="10354056" y="1920240"/>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9,4 %</a:t>
            </a:r>
            <a:endParaRPr lang="en-US" sz="850" dirty="0"/>
          </a:p>
        </p:txBody>
      </p:sp>
      <p:sp>
        <p:nvSpPr>
          <p:cNvPr id="79" name="Shape 77"/>
          <p:cNvSpPr/>
          <p:nvPr/>
        </p:nvSpPr>
        <p:spPr>
          <a:xfrm>
            <a:off x="6400800" y="2139696"/>
            <a:ext cx="5669280" cy="256032"/>
          </a:xfrm>
          <a:prstGeom prst="rect">
            <a:avLst/>
          </a:prstGeom>
          <a:solidFill>
            <a:srgbClr val="FFFFFF"/>
          </a:solidFill>
          <a:ln w="3810">
            <a:solidFill>
              <a:srgbClr val="E5E7EB"/>
            </a:solidFill>
            <a:prstDash val="solid"/>
          </a:ln>
        </p:spPr>
      </p:sp>
      <p:sp>
        <p:nvSpPr>
          <p:cNvPr id="80" name="Text 78"/>
          <p:cNvSpPr/>
          <p:nvPr/>
        </p:nvSpPr>
        <p:spPr>
          <a:xfrm>
            <a:off x="6437376" y="217627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a:t>
            </a:r>
            <a:endParaRPr lang="en-US" sz="850" dirty="0"/>
          </a:p>
        </p:txBody>
      </p:sp>
      <p:sp>
        <p:nvSpPr>
          <p:cNvPr id="81" name="Text 79"/>
          <p:cNvSpPr/>
          <p:nvPr/>
        </p:nvSpPr>
        <p:spPr>
          <a:xfrm>
            <a:off x="6848856" y="2176272"/>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GTS CI</a:t>
            </a:r>
            <a:endParaRPr lang="en-US" sz="850" dirty="0"/>
          </a:p>
        </p:txBody>
      </p:sp>
      <p:sp>
        <p:nvSpPr>
          <p:cNvPr id="82" name="Text 80"/>
          <p:cNvSpPr/>
          <p:nvPr/>
        </p:nvSpPr>
        <p:spPr>
          <a:xfrm>
            <a:off x="8601456" y="2176272"/>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468 097</a:t>
            </a:r>
            <a:endParaRPr lang="en-US" sz="850" dirty="0"/>
          </a:p>
        </p:txBody>
      </p:sp>
      <p:sp>
        <p:nvSpPr>
          <p:cNvPr id="83" name="Text 81"/>
          <p:cNvSpPr/>
          <p:nvPr/>
        </p:nvSpPr>
        <p:spPr>
          <a:xfrm>
            <a:off x="10354056" y="2176272"/>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8,4 %</a:t>
            </a:r>
            <a:endParaRPr lang="en-US" sz="850" dirty="0"/>
          </a:p>
        </p:txBody>
      </p:sp>
      <p:sp>
        <p:nvSpPr>
          <p:cNvPr id="84" name="Shape 82"/>
          <p:cNvSpPr/>
          <p:nvPr/>
        </p:nvSpPr>
        <p:spPr>
          <a:xfrm>
            <a:off x="6400800" y="2395728"/>
            <a:ext cx="5669280" cy="256032"/>
          </a:xfrm>
          <a:prstGeom prst="rect">
            <a:avLst/>
          </a:prstGeom>
          <a:solidFill>
            <a:srgbClr val="F8F9FA"/>
          </a:solidFill>
          <a:ln w="3810">
            <a:solidFill>
              <a:srgbClr val="E5E7EB"/>
            </a:solidFill>
            <a:prstDash val="solid"/>
          </a:ln>
        </p:spPr>
      </p:sp>
      <p:sp>
        <p:nvSpPr>
          <p:cNvPr id="85" name="Text 83"/>
          <p:cNvSpPr/>
          <p:nvPr/>
        </p:nvSpPr>
        <p:spPr>
          <a:xfrm>
            <a:off x="6437376" y="243230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a:t>
            </a:r>
            <a:endParaRPr lang="en-US" sz="850" dirty="0"/>
          </a:p>
        </p:txBody>
      </p:sp>
      <p:sp>
        <p:nvSpPr>
          <p:cNvPr id="86" name="Text 84"/>
          <p:cNvSpPr/>
          <p:nvPr/>
        </p:nvSpPr>
        <p:spPr>
          <a:xfrm>
            <a:off x="6848856" y="2432304"/>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IVOIRE INTL TRANSIT</a:t>
            </a:r>
            <a:endParaRPr lang="en-US" sz="850" dirty="0"/>
          </a:p>
        </p:txBody>
      </p:sp>
      <p:sp>
        <p:nvSpPr>
          <p:cNvPr id="87" name="Text 85"/>
          <p:cNvSpPr/>
          <p:nvPr/>
        </p:nvSpPr>
        <p:spPr>
          <a:xfrm>
            <a:off x="8601456" y="2432304"/>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333 558</a:t>
            </a:r>
            <a:endParaRPr lang="en-US" sz="850" dirty="0"/>
          </a:p>
        </p:txBody>
      </p:sp>
      <p:sp>
        <p:nvSpPr>
          <p:cNvPr id="88" name="Text 86"/>
          <p:cNvSpPr/>
          <p:nvPr/>
        </p:nvSpPr>
        <p:spPr>
          <a:xfrm>
            <a:off x="10354056" y="2432304"/>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6,0 %</a:t>
            </a:r>
            <a:endParaRPr lang="en-US" sz="850" dirty="0"/>
          </a:p>
        </p:txBody>
      </p:sp>
      <p:sp>
        <p:nvSpPr>
          <p:cNvPr id="89" name="Shape 87"/>
          <p:cNvSpPr/>
          <p:nvPr/>
        </p:nvSpPr>
        <p:spPr>
          <a:xfrm>
            <a:off x="6400800" y="2651760"/>
            <a:ext cx="5669280" cy="256032"/>
          </a:xfrm>
          <a:prstGeom prst="rect">
            <a:avLst/>
          </a:prstGeom>
          <a:solidFill>
            <a:srgbClr val="FFFFFF"/>
          </a:solidFill>
          <a:ln w="3810">
            <a:solidFill>
              <a:srgbClr val="E5E7EB"/>
            </a:solidFill>
            <a:prstDash val="solid"/>
          </a:ln>
        </p:spPr>
      </p:sp>
      <p:sp>
        <p:nvSpPr>
          <p:cNvPr id="90" name="Text 88"/>
          <p:cNvSpPr/>
          <p:nvPr/>
        </p:nvSpPr>
        <p:spPr>
          <a:xfrm>
            <a:off x="6437376" y="268833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a:t>
            </a:r>
            <a:endParaRPr lang="en-US" sz="850" dirty="0"/>
          </a:p>
        </p:txBody>
      </p:sp>
      <p:sp>
        <p:nvSpPr>
          <p:cNvPr id="91" name="Text 89"/>
          <p:cNvSpPr/>
          <p:nvPr/>
        </p:nvSpPr>
        <p:spPr>
          <a:xfrm>
            <a:off x="6848856" y="2688336"/>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MANUEL</a:t>
            </a:r>
            <a:endParaRPr lang="en-US" sz="850" dirty="0"/>
          </a:p>
        </p:txBody>
      </p:sp>
      <p:sp>
        <p:nvSpPr>
          <p:cNvPr id="92" name="Text 90"/>
          <p:cNvSpPr/>
          <p:nvPr/>
        </p:nvSpPr>
        <p:spPr>
          <a:xfrm>
            <a:off x="8601456" y="2688336"/>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292 408</a:t>
            </a:r>
            <a:endParaRPr lang="en-US" sz="850" dirty="0"/>
          </a:p>
        </p:txBody>
      </p:sp>
      <p:sp>
        <p:nvSpPr>
          <p:cNvPr id="93" name="Text 91"/>
          <p:cNvSpPr/>
          <p:nvPr/>
        </p:nvSpPr>
        <p:spPr>
          <a:xfrm>
            <a:off x="10354056" y="2688336"/>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5,2 %</a:t>
            </a:r>
            <a:endParaRPr lang="en-US" sz="850" dirty="0"/>
          </a:p>
        </p:txBody>
      </p:sp>
      <p:sp>
        <p:nvSpPr>
          <p:cNvPr id="94" name="Shape 92"/>
          <p:cNvSpPr/>
          <p:nvPr/>
        </p:nvSpPr>
        <p:spPr>
          <a:xfrm>
            <a:off x="6400800" y="2907792"/>
            <a:ext cx="5669280" cy="256032"/>
          </a:xfrm>
          <a:prstGeom prst="rect">
            <a:avLst/>
          </a:prstGeom>
          <a:solidFill>
            <a:srgbClr val="F8F9FA"/>
          </a:solidFill>
          <a:ln w="3810">
            <a:solidFill>
              <a:srgbClr val="E5E7EB"/>
            </a:solidFill>
            <a:prstDash val="solid"/>
          </a:ln>
        </p:spPr>
      </p:sp>
      <p:sp>
        <p:nvSpPr>
          <p:cNvPr id="95" name="Text 93"/>
          <p:cNvSpPr/>
          <p:nvPr/>
        </p:nvSpPr>
        <p:spPr>
          <a:xfrm>
            <a:off x="6437376" y="294436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a:t>
            </a:r>
            <a:endParaRPr lang="en-US" sz="850" dirty="0"/>
          </a:p>
        </p:txBody>
      </p:sp>
      <p:sp>
        <p:nvSpPr>
          <p:cNvPr id="96" name="Text 94"/>
          <p:cNvSpPr/>
          <p:nvPr/>
        </p:nvSpPr>
        <p:spPr>
          <a:xfrm>
            <a:off x="6848856" y="2944368"/>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TRANSIT-COSS</a:t>
            </a:r>
            <a:endParaRPr lang="en-US" sz="850" dirty="0"/>
          </a:p>
        </p:txBody>
      </p:sp>
      <p:sp>
        <p:nvSpPr>
          <p:cNvPr id="97" name="Text 95"/>
          <p:cNvSpPr/>
          <p:nvPr/>
        </p:nvSpPr>
        <p:spPr>
          <a:xfrm>
            <a:off x="8601456" y="2944368"/>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274 613</a:t>
            </a:r>
            <a:endParaRPr lang="en-US" sz="850" dirty="0"/>
          </a:p>
        </p:txBody>
      </p:sp>
      <p:sp>
        <p:nvSpPr>
          <p:cNvPr id="98" name="Text 96"/>
          <p:cNvSpPr/>
          <p:nvPr/>
        </p:nvSpPr>
        <p:spPr>
          <a:xfrm>
            <a:off x="10354056" y="2944368"/>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4,9 %</a:t>
            </a:r>
            <a:endParaRPr lang="en-US" sz="850" dirty="0"/>
          </a:p>
        </p:txBody>
      </p:sp>
      <p:sp>
        <p:nvSpPr>
          <p:cNvPr id="99" name="Shape 97"/>
          <p:cNvSpPr/>
          <p:nvPr/>
        </p:nvSpPr>
        <p:spPr>
          <a:xfrm>
            <a:off x="6400800" y="3163824"/>
            <a:ext cx="5669280" cy="256032"/>
          </a:xfrm>
          <a:prstGeom prst="rect">
            <a:avLst/>
          </a:prstGeom>
          <a:solidFill>
            <a:srgbClr val="FFFFFF"/>
          </a:solidFill>
          <a:ln w="3810">
            <a:solidFill>
              <a:srgbClr val="E5E7EB"/>
            </a:solidFill>
            <a:prstDash val="solid"/>
          </a:ln>
        </p:spPr>
      </p:sp>
      <p:sp>
        <p:nvSpPr>
          <p:cNvPr id="100" name="Text 98"/>
          <p:cNvSpPr/>
          <p:nvPr/>
        </p:nvSpPr>
        <p:spPr>
          <a:xfrm>
            <a:off x="6437376" y="320040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a:t>
            </a:r>
            <a:endParaRPr lang="en-US" sz="850" dirty="0"/>
          </a:p>
        </p:txBody>
      </p:sp>
      <p:sp>
        <p:nvSpPr>
          <p:cNvPr id="101" name="Text 99"/>
          <p:cNvSpPr/>
          <p:nvPr/>
        </p:nvSpPr>
        <p:spPr>
          <a:xfrm>
            <a:off x="6848856" y="3200400"/>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HANNYYAH ET SAID</a:t>
            </a:r>
            <a:endParaRPr lang="en-US" sz="850" dirty="0"/>
          </a:p>
        </p:txBody>
      </p:sp>
      <p:sp>
        <p:nvSpPr>
          <p:cNvPr id="102" name="Text 100"/>
          <p:cNvSpPr/>
          <p:nvPr/>
        </p:nvSpPr>
        <p:spPr>
          <a:xfrm>
            <a:off x="8601456" y="3200400"/>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273 092</a:t>
            </a:r>
            <a:endParaRPr lang="en-US" sz="850" dirty="0"/>
          </a:p>
        </p:txBody>
      </p:sp>
      <p:sp>
        <p:nvSpPr>
          <p:cNvPr id="103" name="Text 101"/>
          <p:cNvSpPr/>
          <p:nvPr/>
        </p:nvSpPr>
        <p:spPr>
          <a:xfrm>
            <a:off x="10354056" y="3200400"/>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4,9 %</a:t>
            </a:r>
            <a:endParaRPr lang="en-US" sz="850" dirty="0"/>
          </a:p>
        </p:txBody>
      </p:sp>
      <p:sp>
        <p:nvSpPr>
          <p:cNvPr id="104" name="Shape 102"/>
          <p:cNvSpPr/>
          <p:nvPr/>
        </p:nvSpPr>
        <p:spPr>
          <a:xfrm>
            <a:off x="6400800" y="3419856"/>
            <a:ext cx="5669280" cy="256032"/>
          </a:xfrm>
          <a:prstGeom prst="rect">
            <a:avLst/>
          </a:prstGeom>
          <a:solidFill>
            <a:srgbClr val="F8F9FA"/>
          </a:solidFill>
          <a:ln w="3810">
            <a:solidFill>
              <a:srgbClr val="E5E7EB"/>
            </a:solidFill>
            <a:prstDash val="solid"/>
          </a:ln>
        </p:spPr>
      </p:sp>
      <p:sp>
        <p:nvSpPr>
          <p:cNvPr id="105" name="Text 103"/>
          <p:cNvSpPr/>
          <p:nvPr/>
        </p:nvSpPr>
        <p:spPr>
          <a:xfrm>
            <a:off x="6437376" y="345643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a:t>
            </a:r>
            <a:endParaRPr lang="en-US" sz="850" dirty="0"/>
          </a:p>
        </p:txBody>
      </p:sp>
      <p:sp>
        <p:nvSpPr>
          <p:cNvPr id="106" name="Text 104"/>
          <p:cNvSpPr/>
          <p:nvPr/>
        </p:nvSpPr>
        <p:spPr>
          <a:xfrm>
            <a:off x="6848856" y="3456432"/>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DHL</a:t>
            </a:r>
            <a:endParaRPr lang="en-US" sz="850" dirty="0"/>
          </a:p>
        </p:txBody>
      </p:sp>
      <p:sp>
        <p:nvSpPr>
          <p:cNvPr id="107" name="Text 105"/>
          <p:cNvSpPr/>
          <p:nvPr/>
        </p:nvSpPr>
        <p:spPr>
          <a:xfrm>
            <a:off x="8601456" y="3456432"/>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217 874</a:t>
            </a:r>
            <a:endParaRPr lang="en-US" sz="850" dirty="0"/>
          </a:p>
        </p:txBody>
      </p:sp>
      <p:sp>
        <p:nvSpPr>
          <p:cNvPr id="108" name="Text 106"/>
          <p:cNvSpPr/>
          <p:nvPr/>
        </p:nvSpPr>
        <p:spPr>
          <a:xfrm>
            <a:off x="10354056" y="3456432"/>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3,9 %</a:t>
            </a:r>
            <a:endParaRPr lang="en-US" sz="850" dirty="0"/>
          </a:p>
        </p:txBody>
      </p:sp>
      <p:sp>
        <p:nvSpPr>
          <p:cNvPr id="109" name="Shape 107"/>
          <p:cNvSpPr/>
          <p:nvPr/>
        </p:nvSpPr>
        <p:spPr>
          <a:xfrm>
            <a:off x="6400800" y="3675888"/>
            <a:ext cx="5669280" cy="256032"/>
          </a:xfrm>
          <a:prstGeom prst="rect">
            <a:avLst/>
          </a:prstGeom>
          <a:solidFill>
            <a:srgbClr val="FFFFFF"/>
          </a:solidFill>
          <a:ln w="3810">
            <a:solidFill>
              <a:srgbClr val="E5E7EB"/>
            </a:solidFill>
            <a:prstDash val="solid"/>
          </a:ln>
        </p:spPr>
      </p:sp>
      <p:sp>
        <p:nvSpPr>
          <p:cNvPr id="110" name="Text 108"/>
          <p:cNvSpPr/>
          <p:nvPr/>
        </p:nvSpPr>
        <p:spPr>
          <a:xfrm>
            <a:off x="6437376" y="371246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a:t>
            </a:r>
            <a:endParaRPr lang="en-US" sz="850" dirty="0"/>
          </a:p>
        </p:txBody>
      </p:sp>
      <p:sp>
        <p:nvSpPr>
          <p:cNvPr id="111" name="Text 109"/>
          <p:cNvSpPr/>
          <p:nvPr/>
        </p:nvSpPr>
        <p:spPr>
          <a:xfrm>
            <a:off x="6848856" y="3712464"/>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INTL LOGISTICS SA</a:t>
            </a:r>
            <a:endParaRPr lang="en-US" sz="850" dirty="0"/>
          </a:p>
        </p:txBody>
      </p:sp>
      <p:sp>
        <p:nvSpPr>
          <p:cNvPr id="112" name="Text 110"/>
          <p:cNvSpPr/>
          <p:nvPr/>
        </p:nvSpPr>
        <p:spPr>
          <a:xfrm>
            <a:off x="8601456" y="3712464"/>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187 906</a:t>
            </a:r>
            <a:endParaRPr lang="en-US" sz="850" dirty="0"/>
          </a:p>
        </p:txBody>
      </p:sp>
      <p:sp>
        <p:nvSpPr>
          <p:cNvPr id="113" name="Text 111"/>
          <p:cNvSpPr/>
          <p:nvPr/>
        </p:nvSpPr>
        <p:spPr>
          <a:xfrm>
            <a:off x="10354056" y="3712464"/>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3,4 %</a:t>
            </a:r>
            <a:endParaRPr lang="en-US" sz="850" dirty="0"/>
          </a:p>
        </p:txBody>
      </p:sp>
      <p:sp>
        <p:nvSpPr>
          <p:cNvPr id="114" name="Shape 112"/>
          <p:cNvSpPr/>
          <p:nvPr/>
        </p:nvSpPr>
        <p:spPr>
          <a:xfrm>
            <a:off x="6400800" y="3931920"/>
            <a:ext cx="5669280" cy="256032"/>
          </a:xfrm>
          <a:prstGeom prst="rect">
            <a:avLst/>
          </a:prstGeom>
          <a:solidFill>
            <a:srgbClr val="F8F9FA"/>
          </a:solidFill>
          <a:ln w="3810">
            <a:solidFill>
              <a:srgbClr val="E5E7EB"/>
            </a:solidFill>
            <a:prstDash val="solid"/>
          </a:ln>
        </p:spPr>
      </p:sp>
      <p:sp>
        <p:nvSpPr>
          <p:cNvPr id="115" name="Text 113"/>
          <p:cNvSpPr/>
          <p:nvPr/>
        </p:nvSpPr>
        <p:spPr>
          <a:xfrm>
            <a:off x="6437376" y="396849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a:t>
            </a:r>
            <a:endParaRPr lang="en-US" sz="850" dirty="0"/>
          </a:p>
        </p:txBody>
      </p:sp>
      <p:sp>
        <p:nvSpPr>
          <p:cNvPr id="116" name="Text 114"/>
          <p:cNvSpPr/>
          <p:nvPr/>
        </p:nvSpPr>
        <p:spPr>
          <a:xfrm>
            <a:off x="6848856" y="3968496"/>
            <a:ext cx="17068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IVOIRE PHENIX TRANSIT</a:t>
            </a:r>
            <a:endParaRPr lang="en-US" sz="850" dirty="0"/>
          </a:p>
        </p:txBody>
      </p:sp>
      <p:sp>
        <p:nvSpPr>
          <p:cNvPr id="117" name="Text 115"/>
          <p:cNvSpPr/>
          <p:nvPr/>
        </p:nvSpPr>
        <p:spPr>
          <a:xfrm>
            <a:off x="8601456" y="3968496"/>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133 527</a:t>
            </a:r>
            <a:endParaRPr lang="en-US" sz="850" dirty="0"/>
          </a:p>
        </p:txBody>
      </p:sp>
      <p:sp>
        <p:nvSpPr>
          <p:cNvPr id="118" name="Text 116"/>
          <p:cNvSpPr/>
          <p:nvPr/>
        </p:nvSpPr>
        <p:spPr>
          <a:xfrm>
            <a:off x="10354056" y="3968496"/>
            <a:ext cx="17068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2,4 %</a:t>
            </a:r>
            <a:endParaRPr lang="en-US" sz="850" dirty="0"/>
          </a:p>
        </p:txBody>
      </p:sp>
      <p:sp>
        <p:nvSpPr>
          <p:cNvPr id="119" name="Shape 117"/>
          <p:cNvSpPr/>
          <p:nvPr/>
        </p:nvSpPr>
        <p:spPr>
          <a:xfrm>
            <a:off x="137160" y="4919472"/>
            <a:ext cx="11795760" cy="777240"/>
          </a:xfrm>
          <a:prstGeom prst="rect">
            <a:avLst/>
          </a:prstGeom>
          <a:solidFill>
            <a:srgbClr val="FFFBEC"/>
          </a:solidFill>
          <a:ln w="6350">
            <a:solidFill>
              <a:srgbClr val="E5C97A"/>
            </a:solidFill>
            <a:prstDash val="solid"/>
          </a:ln>
        </p:spPr>
      </p:sp>
      <p:sp>
        <p:nvSpPr>
          <p:cNvPr id="120" name="Text 118"/>
          <p:cNvSpPr/>
          <p:nvPr/>
        </p:nvSpPr>
        <p:spPr>
          <a:xfrm>
            <a:off x="228600" y="4992624"/>
            <a:ext cx="11612880" cy="66751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AGL #1 : 20,8% PDM sur marché qualifié. Progression continue Jan→Mai (+20 pts). ⚠ Transit-Coss : –60% (696K→274K kg). Clients récupérés partiellement par AGL. 🎯 Cibles : GTS CI (#3, 8,4%) à surveiller. Osmoz Africa (#2, 9,4%) à challenger sur Matériels Miniers.</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AÉRIEN IMPORT – CLIENTÈLE AGL</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Top 10 destinataires  |  Mix produits  |  Risques &amp; leviers de croissance</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p.19</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64008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Top 10 clients AGL – Aérien Import (Destinataires, kg)</a:t>
            </a:r>
            <a:endParaRPr lang="en-US" sz="1100" dirty="0"/>
          </a:p>
        </p:txBody>
      </p:sp>
      <p:sp>
        <p:nvSpPr>
          <p:cNvPr id="8" name="Shape 6"/>
          <p:cNvSpPr/>
          <p:nvPr/>
        </p:nvSpPr>
        <p:spPr>
          <a:xfrm>
            <a:off x="137160" y="1371600"/>
            <a:ext cx="6400800" cy="256032"/>
          </a:xfrm>
          <a:prstGeom prst="rect">
            <a:avLst/>
          </a:prstGeom>
          <a:solidFill>
            <a:srgbClr val="0D2243"/>
          </a:solidFill>
          <a:ln/>
        </p:spPr>
      </p:sp>
      <p:sp>
        <p:nvSpPr>
          <p:cNvPr id="9" name="Text 7"/>
          <p:cNvSpPr/>
          <p:nvPr/>
        </p:nvSpPr>
        <p:spPr>
          <a:xfrm>
            <a:off x="173736" y="1408176"/>
            <a:ext cx="155448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Client (Destinataire)</a:t>
            </a:r>
            <a:endParaRPr lang="en-US" sz="850" dirty="0"/>
          </a:p>
        </p:txBody>
      </p:sp>
      <p:sp>
        <p:nvSpPr>
          <p:cNvPr id="10" name="Text 8"/>
          <p:cNvSpPr/>
          <p:nvPr/>
        </p:nvSpPr>
        <p:spPr>
          <a:xfrm>
            <a:off x="1773936" y="1408176"/>
            <a:ext cx="15544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Poids (kg)</a:t>
            </a:r>
            <a:endParaRPr lang="en-US" sz="850" dirty="0"/>
          </a:p>
        </p:txBody>
      </p:sp>
      <p:sp>
        <p:nvSpPr>
          <p:cNvPr id="11" name="Text 9"/>
          <p:cNvSpPr/>
          <p:nvPr/>
        </p:nvSpPr>
        <p:spPr>
          <a:xfrm>
            <a:off x="3374136" y="1408176"/>
            <a:ext cx="15544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Segment</a:t>
            </a:r>
            <a:endParaRPr lang="en-US" sz="850" dirty="0"/>
          </a:p>
        </p:txBody>
      </p:sp>
      <p:sp>
        <p:nvSpPr>
          <p:cNvPr id="12" name="Text 10"/>
          <p:cNvSpPr/>
          <p:nvPr/>
        </p:nvSpPr>
        <p:spPr>
          <a:xfrm>
            <a:off x="4974336" y="1408176"/>
            <a:ext cx="155448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 Vol. AGL</a:t>
            </a:r>
            <a:endParaRPr lang="en-US" sz="850" dirty="0"/>
          </a:p>
        </p:txBody>
      </p:sp>
      <p:sp>
        <p:nvSpPr>
          <p:cNvPr id="13" name="Shape 11"/>
          <p:cNvSpPr/>
          <p:nvPr/>
        </p:nvSpPr>
        <p:spPr>
          <a:xfrm>
            <a:off x="137160" y="1627632"/>
            <a:ext cx="6400800" cy="256032"/>
          </a:xfrm>
          <a:prstGeom prst="rect">
            <a:avLst/>
          </a:prstGeom>
          <a:solidFill>
            <a:srgbClr val="FFF9EC"/>
          </a:solidFill>
          <a:ln w="3810">
            <a:solidFill>
              <a:srgbClr val="E5E7EB"/>
            </a:solidFill>
            <a:prstDash val="solid"/>
          </a:ln>
        </p:spPr>
      </p:sp>
      <p:sp>
        <p:nvSpPr>
          <p:cNvPr id="14" name="Text 12"/>
          <p:cNvSpPr/>
          <p:nvPr/>
        </p:nvSpPr>
        <p:spPr>
          <a:xfrm>
            <a:off x="173736" y="1664208"/>
            <a:ext cx="155448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K1 MINING SA CI</a:t>
            </a:r>
            <a:endParaRPr lang="en-US" sz="850" dirty="0"/>
          </a:p>
        </p:txBody>
      </p:sp>
      <p:sp>
        <p:nvSpPr>
          <p:cNvPr id="15" name="Text 13"/>
          <p:cNvSpPr/>
          <p:nvPr/>
        </p:nvSpPr>
        <p:spPr>
          <a:xfrm>
            <a:off x="1773936" y="166420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308 596</a:t>
            </a:r>
            <a:endParaRPr lang="en-US" sz="850" dirty="0"/>
          </a:p>
        </p:txBody>
      </p:sp>
      <p:sp>
        <p:nvSpPr>
          <p:cNvPr id="16" name="Text 14"/>
          <p:cNvSpPr/>
          <p:nvPr/>
        </p:nvSpPr>
        <p:spPr>
          <a:xfrm>
            <a:off x="3374136" y="166420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Mat. Miniers</a:t>
            </a:r>
            <a:endParaRPr lang="en-US" sz="850" dirty="0"/>
          </a:p>
        </p:txBody>
      </p:sp>
      <p:sp>
        <p:nvSpPr>
          <p:cNvPr id="17" name="Text 15"/>
          <p:cNvSpPr/>
          <p:nvPr/>
        </p:nvSpPr>
        <p:spPr>
          <a:xfrm>
            <a:off x="4974336" y="1664208"/>
            <a:ext cx="155448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26,5%</a:t>
            </a:r>
            <a:endParaRPr lang="en-US" sz="850" dirty="0"/>
          </a:p>
        </p:txBody>
      </p:sp>
      <p:sp>
        <p:nvSpPr>
          <p:cNvPr id="18" name="Shape 16"/>
          <p:cNvSpPr/>
          <p:nvPr/>
        </p:nvSpPr>
        <p:spPr>
          <a:xfrm>
            <a:off x="137160" y="1883664"/>
            <a:ext cx="6400800" cy="256032"/>
          </a:xfrm>
          <a:prstGeom prst="rect">
            <a:avLst/>
          </a:prstGeom>
          <a:solidFill>
            <a:srgbClr val="F8F9FA"/>
          </a:solidFill>
          <a:ln w="3810">
            <a:solidFill>
              <a:srgbClr val="E5E7EB"/>
            </a:solidFill>
            <a:prstDash val="solid"/>
          </a:ln>
        </p:spPr>
      </p:sp>
      <p:sp>
        <p:nvSpPr>
          <p:cNvPr id="19" name="Text 17"/>
          <p:cNvSpPr/>
          <p:nvPr/>
        </p:nvSpPr>
        <p:spPr>
          <a:xfrm>
            <a:off x="173736" y="1920240"/>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PROSUMA</a:t>
            </a:r>
            <a:endParaRPr lang="en-US" sz="850" dirty="0"/>
          </a:p>
        </p:txBody>
      </p:sp>
      <p:sp>
        <p:nvSpPr>
          <p:cNvPr id="20" name="Text 18"/>
          <p:cNvSpPr/>
          <p:nvPr/>
        </p:nvSpPr>
        <p:spPr>
          <a:xfrm>
            <a:off x="1773936" y="192024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268 633</a:t>
            </a:r>
            <a:endParaRPr lang="en-US" sz="850" dirty="0"/>
          </a:p>
        </p:txBody>
      </p:sp>
      <p:sp>
        <p:nvSpPr>
          <p:cNvPr id="21" name="Text 19"/>
          <p:cNvSpPr/>
          <p:nvPr/>
        </p:nvSpPr>
        <p:spPr>
          <a:xfrm>
            <a:off x="3374136" y="192024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Prod. Alimentaires</a:t>
            </a:r>
            <a:endParaRPr lang="en-US" sz="850" dirty="0"/>
          </a:p>
        </p:txBody>
      </p:sp>
      <p:sp>
        <p:nvSpPr>
          <p:cNvPr id="22" name="Text 20"/>
          <p:cNvSpPr/>
          <p:nvPr/>
        </p:nvSpPr>
        <p:spPr>
          <a:xfrm>
            <a:off x="4974336" y="192024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23,1%</a:t>
            </a:r>
            <a:endParaRPr lang="en-US" sz="850" dirty="0"/>
          </a:p>
        </p:txBody>
      </p:sp>
      <p:sp>
        <p:nvSpPr>
          <p:cNvPr id="23" name="Shape 21"/>
          <p:cNvSpPr/>
          <p:nvPr/>
        </p:nvSpPr>
        <p:spPr>
          <a:xfrm>
            <a:off x="137160" y="2139696"/>
            <a:ext cx="6400800" cy="256032"/>
          </a:xfrm>
          <a:prstGeom prst="rect">
            <a:avLst/>
          </a:prstGeom>
          <a:solidFill>
            <a:srgbClr val="FFFFFF"/>
          </a:solidFill>
          <a:ln w="3810">
            <a:solidFill>
              <a:srgbClr val="E5E7EB"/>
            </a:solidFill>
            <a:prstDash val="solid"/>
          </a:ln>
        </p:spPr>
      </p:sp>
      <p:sp>
        <p:nvSpPr>
          <p:cNvPr id="24" name="Text 22"/>
          <p:cNvSpPr/>
          <p:nvPr/>
        </p:nvSpPr>
        <p:spPr>
          <a:xfrm>
            <a:off x="173736" y="2176272"/>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UBIPHARM CÔTE D'IVOIRE</a:t>
            </a:r>
            <a:endParaRPr lang="en-US" sz="850" dirty="0"/>
          </a:p>
        </p:txBody>
      </p:sp>
      <p:sp>
        <p:nvSpPr>
          <p:cNvPr id="25" name="Text 23"/>
          <p:cNvSpPr/>
          <p:nvPr/>
        </p:nvSpPr>
        <p:spPr>
          <a:xfrm>
            <a:off x="1773936" y="217627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61 130</a:t>
            </a:r>
            <a:endParaRPr lang="en-US" sz="850" dirty="0"/>
          </a:p>
        </p:txBody>
      </p:sp>
      <p:sp>
        <p:nvSpPr>
          <p:cNvPr id="26" name="Text 24"/>
          <p:cNvSpPr/>
          <p:nvPr/>
        </p:nvSpPr>
        <p:spPr>
          <a:xfrm>
            <a:off x="3374136" y="217627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Médicaments</a:t>
            </a:r>
            <a:endParaRPr lang="en-US" sz="850" dirty="0"/>
          </a:p>
        </p:txBody>
      </p:sp>
      <p:sp>
        <p:nvSpPr>
          <p:cNvPr id="27" name="Text 25"/>
          <p:cNvSpPr/>
          <p:nvPr/>
        </p:nvSpPr>
        <p:spPr>
          <a:xfrm>
            <a:off x="4974336" y="217627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5,2%</a:t>
            </a:r>
            <a:endParaRPr lang="en-US" sz="850" dirty="0"/>
          </a:p>
        </p:txBody>
      </p:sp>
      <p:sp>
        <p:nvSpPr>
          <p:cNvPr id="28" name="Shape 26"/>
          <p:cNvSpPr/>
          <p:nvPr/>
        </p:nvSpPr>
        <p:spPr>
          <a:xfrm>
            <a:off x="137160" y="2395728"/>
            <a:ext cx="6400800" cy="256032"/>
          </a:xfrm>
          <a:prstGeom prst="rect">
            <a:avLst/>
          </a:prstGeom>
          <a:solidFill>
            <a:srgbClr val="F8F9FA"/>
          </a:solidFill>
          <a:ln w="3810">
            <a:solidFill>
              <a:srgbClr val="E5E7EB"/>
            </a:solidFill>
            <a:prstDash val="solid"/>
          </a:ln>
        </p:spPr>
      </p:sp>
      <p:sp>
        <p:nvSpPr>
          <p:cNvPr id="29" name="Text 27"/>
          <p:cNvSpPr/>
          <p:nvPr/>
        </p:nvSpPr>
        <p:spPr>
          <a:xfrm>
            <a:off x="173736" y="2432304"/>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ORANGE CI</a:t>
            </a:r>
            <a:endParaRPr lang="en-US" sz="850" dirty="0"/>
          </a:p>
        </p:txBody>
      </p:sp>
      <p:sp>
        <p:nvSpPr>
          <p:cNvPr id="30" name="Text 28"/>
          <p:cNvSpPr/>
          <p:nvPr/>
        </p:nvSpPr>
        <p:spPr>
          <a:xfrm>
            <a:off x="1773936" y="243230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49 988</a:t>
            </a:r>
            <a:endParaRPr lang="en-US" sz="850" dirty="0"/>
          </a:p>
        </p:txBody>
      </p:sp>
      <p:sp>
        <p:nvSpPr>
          <p:cNvPr id="31" name="Text 29"/>
          <p:cNvSpPr/>
          <p:nvPr/>
        </p:nvSpPr>
        <p:spPr>
          <a:xfrm>
            <a:off x="3374136" y="243230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Télécoms</a:t>
            </a:r>
            <a:endParaRPr lang="en-US" sz="850" dirty="0"/>
          </a:p>
        </p:txBody>
      </p:sp>
      <p:sp>
        <p:nvSpPr>
          <p:cNvPr id="32" name="Text 30"/>
          <p:cNvSpPr/>
          <p:nvPr/>
        </p:nvSpPr>
        <p:spPr>
          <a:xfrm>
            <a:off x="4974336" y="243230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4,3%</a:t>
            </a:r>
            <a:endParaRPr lang="en-US" sz="850" dirty="0"/>
          </a:p>
        </p:txBody>
      </p:sp>
      <p:sp>
        <p:nvSpPr>
          <p:cNvPr id="33" name="Shape 31"/>
          <p:cNvSpPr/>
          <p:nvPr/>
        </p:nvSpPr>
        <p:spPr>
          <a:xfrm>
            <a:off x="137160" y="2651760"/>
            <a:ext cx="6400800" cy="256032"/>
          </a:xfrm>
          <a:prstGeom prst="rect">
            <a:avLst/>
          </a:prstGeom>
          <a:solidFill>
            <a:srgbClr val="FFFFFF"/>
          </a:solidFill>
          <a:ln w="3810">
            <a:solidFill>
              <a:srgbClr val="E5E7EB"/>
            </a:solidFill>
            <a:prstDash val="solid"/>
          </a:ln>
        </p:spPr>
      </p:sp>
      <p:sp>
        <p:nvSpPr>
          <p:cNvPr id="34" name="Text 32"/>
          <p:cNvSpPr/>
          <p:nvPr/>
        </p:nvSpPr>
        <p:spPr>
          <a:xfrm>
            <a:off x="173736" y="2688336"/>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NESTLÉ CÔTE D'IVOIRE</a:t>
            </a:r>
            <a:endParaRPr lang="en-US" sz="850" dirty="0"/>
          </a:p>
        </p:txBody>
      </p:sp>
      <p:sp>
        <p:nvSpPr>
          <p:cNvPr id="35" name="Text 33"/>
          <p:cNvSpPr/>
          <p:nvPr/>
        </p:nvSpPr>
        <p:spPr>
          <a:xfrm>
            <a:off x="1773936" y="268833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38 474</a:t>
            </a:r>
            <a:endParaRPr lang="en-US" sz="850" dirty="0"/>
          </a:p>
        </p:txBody>
      </p:sp>
      <p:sp>
        <p:nvSpPr>
          <p:cNvPr id="36" name="Text 34"/>
          <p:cNvSpPr/>
          <p:nvPr/>
        </p:nvSpPr>
        <p:spPr>
          <a:xfrm>
            <a:off x="3374136" y="268833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Alimentaire</a:t>
            </a:r>
            <a:endParaRPr lang="en-US" sz="850" dirty="0"/>
          </a:p>
        </p:txBody>
      </p:sp>
      <p:sp>
        <p:nvSpPr>
          <p:cNvPr id="37" name="Text 35"/>
          <p:cNvSpPr/>
          <p:nvPr/>
        </p:nvSpPr>
        <p:spPr>
          <a:xfrm>
            <a:off x="4974336" y="268833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3,3%</a:t>
            </a:r>
            <a:endParaRPr lang="en-US" sz="850" dirty="0"/>
          </a:p>
        </p:txBody>
      </p:sp>
      <p:sp>
        <p:nvSpPr>
          <p:cNvPr id="38" name="Shape 36"/>
          <p:cNvSpPr/>
          <p:nvPr/>
        </p:nvSpPr>
        <p:spPr>
          <a:xfrm>
            <a:off x="137160" y="2907792"/>
            <a:ext cx="6400800" cy="256032"/>
          </a:xfrm>
          <a:prstGeom prst="rect">
            <a:avLst/>
          </a:prstGeom>
          <a:solidFill>
            <a:srgbClr val="F8F9FA"/>
          </a:solidFill>
          <a:ln w="3810">
            <a:solidFill>
              <a:srgbClr val="E5E7EB"/>
            </a:solidFill>
            <a:prstDash val="solid"/>
          </a:ln>
        </p:spPr>
      </p:sp>
      <p:sp>
        <p:nvSpPr>
          <p:cNvPr id="39" name="Text 37"/>
          <p:cNvSpPr/>
          <p:nvPr/>
        </p:nvSpPr>
        <p:spPr>
          <a:xfrm>
            <a:off x="173736" y="2944368"/>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SIFAAP CI</a:t>
            </a:r>
            <a:endParaRPr lang="en-US" sz="850" dirty="0"/>
          </a:p>
        </p:txBody>
      </p:sp>
      <p:sp>
        <p:nvSpPr>
          <p:cNvPr id="40" name="Text 38"/>
          <p:cNvSpPr/>
          <p:nvPr/>
        </p:nvSpPr>
        <p:spPr>
          <a:xfrm>
            <a:off x="1773936" y="294436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24 694</a:t>
            </a:r>
            <a:endParaRPr lang="en-US" sz="850" dirty="0"/>
          </a:p>
        </p:txBody>
      </p:sp>
      <p:sp>
        <p:nvSpPr>
          <p:cNvPr id="41" name="Text 39"/>
          <p:cNvSpPr/>
          <p:nvPr/>
        </p:nvSpPr>
        <p:spPr>
          <a:xfrm>
            <a:off x="3374136" y="294436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Alim. Animal</a:t>
            </a:r>
            <a:endParaRPr lang="en-US" sz="850" dirty="0"/>
          </a:p>
        </p:txBody>
      </p:sp>
      <p:sp>
        <p:nvSpPr>
          <p:cNvPr id="42" name="Text 40"/>
          <p:cNvSpPr/>
          <p:nvPr/>
        </p:nvSpPr>
        <p:spPr>
          <a:xfrm>
            <a:off x="4974336" y="2944368"/>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2,1%</a:t>
            </a:r>
            <a:endParaRPr lang="en-US" sz="850" dirty="0"/>
          </a:p>
        </p:txBody>
      </p:sp>
      <p:sp>
        <p:nvSpPr>
          <p:cNvPr id="43" name="Shape 41"/>
          <p:cNvSpPr/>
          <p:nvPr/>
        </p:nvSpPr>
        <p:spPr>
          <a:xfrm>
            <a:off x="137160" y="3163824"/>
            <a:ext cx="6400800" cy="256032"/>
          </a:xfrm>
          <a:prstGeom prst="rect">
            <a:avLst/>
          </a:prstGeom>
          <a:solidFill>
            <a:srgbClr val="FFFFFF"/>
          </a:solidFill>
          <a:ln w="3810">
            <a:solidFill>
              <a:srgbClr val="E5E7EB"/>
            </a:solidFill>
            <a:prstDash val="solid"/>
          </a:ln>
        </p:spPr>
      </p:sp>
      <p:sp>
        <p:nvSpPr>
          <p:cNvPr id="44" name="Text 42"/>
          <p:cNvSpPr/>
          <p:nvPr/>
        </p:nvSpPr>
        <p:spPr>
          <a:xfrm>
            <a:off x="173736" y="3200400"/>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SITAB CI</a:t>
            </a:r>
            <a:endParaRPr lang="en-US" sz="850" dirty="0"/>
          </a:p>
        </p:txBody>
      </p:sp>
      <p:sp>
        <p:nvSpPr>
          <p:cNvPr id="45" name="Text 43"/>
          <p:cNvSpPr/>
          <p:nvPr/>
        </p:nvSpPr>
        <p:spPr>
          <a:xfrm>
            <a:off x="1773936" y="320040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23 535</a:t>
            </a:r>
            <a:endParaRPr lang="en-US" sz="850" dirty="0"/>
          </a:p>
        </p:txBody>
      </p:sp>
      <p:sp>
        <p:nvSpPr>
          <p:cNvPr id="46" name="Text 44"/>
          <p:cNvSpPr/>
          <p:nvPr/>
        </p:nvSpPr>
        <p:spPr>
          <a:xfrm>
            <a:off x="3374136" y="320040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Cigarettes</a:t>
            </a:r>
            <a:endParaRPr lang="en-US" sz="850" dirty="0"/>
          </a:p>
        </p:txBody>
      </p:sp>
      <p:sp>
        <p:nvSpPr>
          <p:cNvPr id="47" name="Text 45"/>
          <p:cNvSpPr/>
          <p:nvPr/>
        </p:nvSpPr>
        <p:spPr>
          <a:xfrm>
            <a:off x="4974336" y="3200400"/>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2,0%</a:t>
            </a:r>
            <a:endParaRPr lang="en-US" sz="850" dirty="0"/>
          </a:p>
        </p:txBody>
      </p:sp>
      <p:sp>
        <p:nvSpPr>
          <p:cNvPr id="48" name="Shape 46"/>
          <p:cNvSpPr/>
          <p:nvPr/>
        </p:nvSpPr>
        <p:spPr>
          <a:xfrm>
            <a:off x="137160" y="3419856"/>
            <a:ext cx="6400800" cy="256032"/>
          </a:xfrm>
          <a:prstGeom prst="rect">
            <a:avLst/>
          </a:prstGeom>
          <a:solidFill>
            <a:srgbClr val="F8F9FA"/>
          </a:solidFill>
          <a:ln w="3810">
            <a:solidFill>
              <a:srgbClr val="E5E7EB"/>
            </a:solidFill>
            <a:prstDash val="solid"/>
          </a:ln>
        </p:spPr>
      </p:sp>
      <p:sp>
        <p:nvSpPr>
          <p:cNvPr id="49" name="Text 47"/>
          <p:cNvSpPr/>
          <p:nvPr/>
        </p:nvSpPr>
        <p:spPr>
          <a:xfrm>
            <a:off x="173736" y="3456432"/>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ROCHE DIAGNOSTICS CI</a:t>
            </a:r>
            <a:endParaRPr lang="en-US" sz="850" dirty="0"/>
          </a:p>
        </p:txBody>
      </p:sp>
      <p:sp>
        <p:nvSpPr>
          <p:cNvPr id="50" name="Text 48"/>
          <p:cNvSpPr/>
          <p:nvPr/>
        </p:nvSpPr>
        <p:spPr>
          <a:xfrm>
            <a:off x="1773936" y="345643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22 633</a:t>
            </a:r>
            <a:endParaRPr lang="en-US" sz="850" dirty="0"/>
          </a:p>
        </p:txBody>
      </p:sp>
      <p:sp>
        <p:nvSpPr>
          <p:cNvPr id="51" name="Text 49"/>
          <p:cNvSpPr/>
          <p:nvPr/>
        </p:nvSpPr>
        <p:spPr>
          <a:xfrm>
            <a:off x="3374136" y="345643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Mat. Labo.</a:t>
            </a:r>
            <a:endParaRPr lang="en-US" sz="850" dirty="0"/>
          </a:p>
        </p:txBody>
      </p:sp>
      <p:sp>
        <p:nvSpPr>
          <p:cNvPr id="52" name="Text 50"/>
          <p:cNvSpPr/>
          <p:nvPr/>
        </p:nvSpPr>
        <p:spPr>
          <a:xfrm>
            <a:off x="4974336" y="3456432"/>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1,9%</a:t>
            </a:r>
            <a:endParaRPr lang="en-US" sz="850" dirty="0"/>
          </a:p>
        </p:txBody>
      </p:sp>
      <p:sp>
        <p:nvSpPr>
          <p:cNvPr id="53" name="Shape 51"/>
          <p:cNvSpPr/>
          <p:nvPr/>
        </p:nvSpPr>
        <p:spPr>
          <a:xfrm>
            <a:off x="137160" y="3675888"/>
            <a:ext cx="6400800" cy="256032"/>
          </a:xfrm>
          <a:prstGeom prst="rect">
            <a:avLst/>
          </a:prstGeom>
          <a:solidFill>
            <a:srgbClr val="FFFFFF"/>
          </a:solidFill>
          <a:ln w="3810">
            <a:solidFill>
              <a:srgbClr val="E5E7EB"/>
            </a:solidFill>
            <a:prstDash val="solid"/>
          </a:ln>
        </p:spPr>
      </p:sp>
      <p:sp>
        <p:nvSpPr>
          <p:cNvPr id="54" name="Text 52"/>
          <p:cNvSpPr/>
          <p:nvPr/>
        </p:nvSpPr>
        <p:spPr>
          <a:xfrm>
            <a:off x="173736" y="3712464"/>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MTN CI</a:t>
            </a:r>
            <a:endParaRPr lang="en-US" sz="850" dirty="0"/>
          </a:p>
        </p:txBody>
      </p:sp>
      <p:sp>
        <p:nvSpPr>
          <p:cNvPr id="55" name="Text 53"/>
          <p:cNvSpPr/>
          <p:nvPr/>
        </p:nvSpPr>
        <p:spPr>
          <a:xfrm>
            <a:off x="1773936" y="371246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20 141</a:t>
            </a:r>
            <a:endParaRPr lang="en-US" sz="850" dirty="0"/>
          </a:p>
        </p:txBody>
      </p:sp>
      <p:sp>
        <p:nvSpPr>
          <p:cNvPr id="56" name="Text 54"/>
          <p:cNvSpPr/>
          <p:nvPr/>
        </p:nvSpPr>
        <p:spPr>
          <a:xfrm>
            <a:off x="3374136" y="371246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Télécoms</a:t>
            </a:r>
            <a:endParaRPr lang="en-US" sz="850" dirty="0"/>
          </a:p>
        </p:txBody>
      </p:sp>
      <p:sp>
        <p:nvSpPr>
          <p:cNvPr id="57" name="Text 55"/>
          <p:cNvSpPr/>
          <p:nvPr/>
        </p:nvSpPr>
        <p:spPr>
          <a:xfrm>
            <a:off x="4974336" y="3712464"/>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1,7%</a:t>
            </a:r>
            <a:endParaRPr lang="en-US" sz="850" dirty="0"/>
          </a:p>
        </p:txBody>
      </p:sp>
      <p:sp>
        <p:nvSpPr>
          <p:cNvPr id="58" name="Shape 56"/>
          <p:cNvSpPr/>
          <p:nvPr/>
        </p:nvSpPr>
        <p:spPr>
          <a:xfrm>
            <a:off x="137160" y="3931920"/>
            <a:ext cx="6400800" cy="256032"/>
          </a:xfrm>
          <a:prstGeom prst="rect">
            <a:avLst/>
          </a:prstGeom>
          <a:solidFill>
            <a:srgbClr val="F8F9FA"/>
          </a:solidFill>
          <a:ln w="3810">
            <a:solidFill>
              <a:srgbClr val="E5E7EB"/>
            </a:solidFill>
            <a:prstDash val="solid"/>
          </a:ln>
        </p:spPr>
      </p:sp>
      <p:sp>
        <p:nvSpPr>
          <p:cNvPr id="59" name="Text 57"/>
          <p:cNvSpPr/>
          <p:nvPr/>
        </p:nvSpPr>
        <p:spPr>
          <a:xfrm>
            <a:off x="173736" y="3968496"/>
            <a:ext cx="155448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FOXTROT INTERNATIONAL</a:t>
            </a:r>
            <a:endParaRPr lang="en-US" sz="850" dirty="0"/>
          </a:p>
        </p:txBody>
      </p:sp>
      <p:sp>
        <p:nvSpPr>
          <p:cNvPr id="60" name="Text 58"/>
          <p:cNvSpPr/>
          <p:nvPr/>
        </p:nvSpPr>
        <p:spPr>
          <a:xfrm>
            <a:off x="1773936" y="396849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18 721</a:t>
            </a:r>
            <a:endParaRPr lang="en-US" sz="850" dirty="0"/>
          </a:p>
        </p:txBody>
      </p:sp>
      <p:sp>
        <p:nvSpPr>
          <p:cNvPr id="61" name="Text 59"/>
          <p:cNvSpPr/>
          <p:nvPr/>
        </p:nvSpPr>
        <p:spPr>
          <a:xfrm>
            <a:off x="3374136" y="396849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Pétrole</a:t>
            </a:r>
            <a:endParaRPr lang="en-US" sz="850" dirty="0"/>
          </a:p>
        </p:txBody>
      </p:sp>
      <p:sp>
        <p:nvSpPr>
          <p:cNvPr id="62" name="Text 60"/>
          <p:cNvSpPr/>
          <p:nvPr/>
        </p:nvSpPr>
        <p:spPr>
          <a:xfrm>
            <a:off x="4974336" y="3968496"/>
            <a:ext cx="155448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1,6%</a:t>
            </a:r>
            <a:endParaRPr lang="en-US" sz="850" dirty="0"/>
          </a:p>
        </p:txBody>
      </p:sp>
      <p:sp>
        <p:nvSpPr>
          <p:cNvPr id="63" name="Shape 61"/>
          <p:cNvSpPr/>
          <p:nvPr/>
        </p:nvSpPr>
        <p:spPr>
          <a:xfrm>
            <a:off x="137160" y="4846320"/>
            <a:ext cx="6400800" cy="960120"/>
          </a:xfrm>
          <a:prstGeom prst="rect">
            <a:avLst/>
          </a:prstGeom>
          <a:solidFill>
            <a:srgbClr val="FFFBEC"/>
          </a:solidFill>
          <a:ln w="6350">
            <a:solidFill>
              <a:srgbClr val="E5C97A"/>
            </a:solidFill>
            <a:prstDash val="solid"/>
          </a:ln>
        </p:spPr>
      </p:sp>
      <p:sp>
        <p:nvSpPr>
          <p:cNvPr id="64" name="Text 62"/>
          <p:cNvSpPr/>
          <p:nvPr/>
        </p:nvSpPr>
        <p:spPr>
          <a:xfrm>
            <a:off x="228600" y="4919472"/>
            <a:ext cx="6217920" cy="85039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Hyper-concentration : K1 Mining (26,5%) + PROSUMA (23,1%) = 49,6% du volume AGL aérien sur 2 clients. Risque élevé.</a:t>
            </a:r>
            <a:endParaRPr lang="en-US" sz="900" dirty="0"/>
          </a:p>
          <a:p>
            <a:pPr indent="0" marL="0">
              <a:buNone/>
            </a:pPr>
            <a:r>
              <a:rPr lang="en-US" sz="900" dirty="0">
                <a:solidFill>
                  <a:srgbClr val="374151"/>
                </a:solidFill>
                <a:latin typeface="Calibri" pitchFamily="34" charset="0"/>
                <a:ea typeface="Calibri" pitchFamily="34" charset="-122"/>
                <a:cs typeface="Calibri" pitchFamily="34" charset="-120"/>
              </a:rPr>
              <a:t>✓ Télécoms (Orange + MTN) : 70 129 kg – Secteur en forte croissance. Contrats cadres 2026/2027 à signer.</a:t>
            </a:r>
            <a:endParaRPr lang="en-US" sz="900" dirty="0"/>
          </a:p>
          <a:p>
            <a:pPr indent="0" marL="0">
              <a:buNone/>
            </a:pPr>
            <a:r>
              <a:rPr lang="en-US" sz="900" dirty="0">
                <a:solidFill>
                  <a:srgbClr val="374151"/>
                </a:solidFill>
                <a:latin typeface="Calibri" pitchFamily="34" charset="0"/>
                <a:ea typeface="Calibri" pitchFamily="34" charset="-122"/>
                <a:cs typeface="Calibri" pitchFamily="34" charset="-120"/>
              </a:rPr>
              <a:t>▶ Nestlé + SIFAAP = 63 168 kg (filière agro-alim). Ubipharm = pont TIM/AER. Développer offre multi-métiers.</a:t>
            </a:r>
            <a:endParaRPr lang="en-US" sz="900" dirty="0"/>
          </a:p>
        </p:txBody>
      </p:sp>
      <p:sp>
        <p:nvSpPr>
          <p:cNvPr id="65" name="Text 63"/>
          <p:cNvSpPr/>
          <p:nvPr/>
        </p:nvSpPr>
        <p:spPr>
          <a:xfrm>
            <a:off x="6675120" y="1097280"/>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Mix produits AGL – Aérien Import</a:t>
            </a:r>
            <a:endParaRPr lang="en-US" sz="1100" dirty="0"/>
          </a:p>
        </p:txBody>
      </p:sp>
      <p:graphicFrame>
        <p:nvGraphicFramePr>
          <p:cNvPr id="66" name="Chart 0" descr=""/>
          <p:cNvGraphicFramePr/>
          <p:nvPr/>
        </p:nvGraphicFramePr>
        <p:xfrm>
          <a:off x="6675120" y="1371600"/>
          <a:ext cx="5303520" cy="41148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AÉRIEN IMPORT – NOUVEAUX ENTRANTS &amp; NOUVEAUX FLUX</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Transitaires entrants  |  Nouvelles marchandises en croissance  |  Récupération clients Transit-Coss</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p.24</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Nouveaux transitaires – Aérien Import 2026</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150876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Transitaire</a:t>
            </a:r>
            <a:endParaRPr lang="en-US" sz="850" dirty="0"/>
          </a:p>
        </p:txBody>
      </p:sp>
      <p:sp>
        <p:nvSpPr>
          <p:cNvPr id="10" name="Text 8"/>
          <p:cNvSpPr/>
          <p:nvPr/>
        </p:nvSpPr>
        <p:spPr>
          <a:xfrm>
            <a:off x="172821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Poids kg</a:t>
            </a:r>
            <a:endParaRPr lang="en-US" sz="850" dirty="0"/>
          </a:p>
        </p:txBody>
      </p:sp>
      <p:sp>
        <p:nvSpPr>
          <p:cNvPr id="11" name="Text 9"/>
          <p:cNvSpPr/>
          <p:nvPr/>
        </p:nvSpPr>
        <p:spPr>
          <a:xfrm>
            <a:off x="328269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Spécialité</a:t>
            </a:r>
            <a:endParaRPr lang="en-US" sz="850" dirty="0"/>
          </a:p>
        </p:txBody>
      </p:sp>
      <p:sp>
        <p:nvSpPr>
          <p:cNvPr id="12" name="Text 10"/>
          <p:cNvSpPr/>
          <p:nvPr/>
        </p:nvSpPr>
        <p:spPr>
          <a:xfrm>
            <a:off x="483717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Entrée</a:t>
            </a:r>
            <a:endParaRPr lang="en-US" sz="850" dirty="0"/>
          </a:p>
        </p:txBody>
      </p:sp>
      <p:sp>
        <p:nvSpPr>
          <p:cNvPr id="13" name="Shape 11"/>
          <p:cNvSpPr/>
          <p:nvPr/>
        </p:nvSpPr>
        <p:spPr>
          <a:xfrm>
            <a:off x="137160" y="1627632"/>
            <a:ext cx="6217920" cy="256032"/>
          </a:xfrm>
          <a:prstGeom prst="rect">
            <a:avLst/>
          </a:prstGeom>
          <a:solidFill>
            <a:srgbClr val="FFF9EC"/>
          </a:solidFill>
          <a:ln w="3810">
            <a:solidFill>
              <a:srgbClr val="E5E7EB"/>
            </a:solidFill>
            <a:prstDash val="solid"/>
          </a:ln>
        </p:spPr>
      </p:sp>
      <p:sp>
        <p:nvSpPr>
          <p:cNvPr id="14" name="Text 12"/>
          <p:cNvSpPr/>
          <p:nvPr/>
        </p:nvSpPr>
        <p:spPr>
          <a:xfrm>
            <a:off x="173736" y="1664208"/>
            <a:ext cx="150876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FRET INTER CI</a:t>
            </a:r>
            <a:endParaRPr lang="en-US" sz="850" dirty="0"/>
          </a:p>
        </p:txBody>
      </p:sp>
      <p:sp>
        <p:nvSpPr>
          <p:cNvPr id="15" name="Text 13"/>
          <p:cNvSpPr/>
          <p:nvPr/>
        </p:nvSpPr>
        <p:spPr>
          <a:xfrm>
            <a:off x="1728216" y="166420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94 200</a:t>
            </a:r>
            <a:endParaRPr lang="en-US" sz="850" dirty="0"/>
          </a:p>
        </p:txBody>
      </p:sp>
      <p:sp>
        <p:nvSpPr>
          <p:cNvPr id="16" name="Text 14"/>
          <p:cNvSpPr/>
          <p:nvPr/>
        </p:nvSpPr>
        <p:spPr>
          <a:xfrm>
            <a:off x="3282696" y="166420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Alimentaire</a:t>
            </a:r>
            <a:endParaRPr lang="en-US" sz="850" dirty="0"/>
          </a:p>
        </p:txBody>
      </p:sp>
      <p:sp>
        <p:nvSpPr>
          <p:cNvPr id="17" name="Text 15"/>
          <p:cNvSpPr/>
          <p:nvPr/>
        </p:nvSpPr>
        <p:spPr>
          <a:xfrm>
            <a:off x="4837176" y="1664208"/>
            <a:ext cx="150876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Q1 2026</a:t>
            </a:r>
            <a:endParaRPr lang="en-US" sz="85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SOTRA FRET</a:t>
            </a:r>
            <a:endParaRPr lang="en-US" sz="850" dirty="0"/>
          </a:p>
        </p:txBody>
      </p:sp>
      <p:sp>
        <p:nvSpPr>
          <p:cNvPr id="20" name="Text 18"/>
          <p:cNvSpPr/>
          <p:nvPr/>
        </p:nvSpPr>
        <p:spPr>
          <a:xfrm>
            <a:off x="172821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78 400</a:t>
            </a:r>
            <a:endParaRPr lang="en-US" sz="850" dirty="0"/>
          </a:p>
        </p:txBody>
      </p:sp>
      <p:sp>
        <p:nvSpPr>
          <p:cNvPr id="21" name="Text 19"/>
          <p:cNvSpPr/>
          <p:nvPr/>
        </p:nvSpPr>
        <p:spPr>
          <a:xfrm>
            <a:off x="328269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Pièces détachées</a:t>
            </a:r>
            <a:endParaRPr lang="en-US" sz="850" dirty="0"/>
          </a:p>
        </p:txBody>
      </p:sp>
      <p:sp>
        <p:nvSpPr>
          <p:cNvPr id="22" name="Text 20"/>
          <p:cNvSpPr/>
          <p:nvPr/>
        </p:nvSpPr>
        <p:spPr>
          <a:xfrm>
            <a:off x="483717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Q2 2026</a:t>
            </a:r>
            <a:endParaRPr lang="en-US" sz="850" dirty="0"/>
          </a:p>
        </p:txBody>
      </p:sp>
      <p:sp>
        <p:nvSpPr>
          <p:cNvPr id="23" name="Text 21"/>
          <p:cNvSpPr/>
          <p:nvPr/>
        </p:nvSpPr>
        <p:spPr>
          <a:xfrm>
            <a:off x="228600" y="26974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Marchandises en forte croissance 2025 → 2026</a:t>
            </a:r>
            <a:endParaRPr lang="en-US" sz="1100" dirty="0"/>
          </a:p>
        </p:txBody>
      </p:sp>
      <p:sp>
        <p:nvSpPr>
          <p:cNvPr id="24" name="Shape 22"/>
          <p:cNvSpPr/>
          <p:nvPr/>
        </p:nvSpPr>
        <p:spPr>
          <a:xfrm>
            <a:off x="137160" y="2971800"/>
            <a:ext cx="6217920" cy="256032"/>
          </a:xfrm>
          <a:prstGeom prst="rect">
            <a:avLst/>
          </a:prstGeom>
          <a:solidFill>
            <a:srgbClr val="0D2243"/>
          </a:solidFill>
          <a:ln/>
        </p:spPr>
      </p:sp>
      <p:sp>
        <p:nvSpPr>
          <p:cNvPr id="25" name="Text 23"/>
          <p:cNvSpPr/>
          <p:nvPr/>
        </p:nvSpPr>
        <p:spPr>
          <a:xfrm>
            <a:off x="173736" y="3008376"/>
            <a:ext cx="150876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Marchandise</a:t>
            </a:r>
            <a:endParaRPr lang="en-US" sz="850" dirty="0"/>
          </a:p>
        </p:txBody>
      </p:sp>
      <p:sp>
        <p:nvSpPr>
          <p:cNvPr id="26" name="Text 24"/>
          <p:cNvSpPr/>
          <p:nvPr/>
        </p:nvSpPr>
        <p:spPr>
          <a:xfrm>
            <a:off x="1728216" y="30083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2026 (kg)</a:t>
            </a:r>
            <a:endParaRPr lang="en-US" sz="850" dirty="0"/>
          </a:p>
        </p:txBody>
      </p:sp>
      <p:sp>
        <p:nvSpPr>
          <p:cNvPr id="27" name="Text 25"/>
          <p:cNvSpPr/>
          <p:nvPr/>
        </p:nvSpPr>
        <p:spPr>
          <a:xfrm>
            <a:off x="3282696" y="30083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Var. %</a:t>
            </a:r>
            <a:endParaRPr lang="en-US" sz="850" dirty="0"/>
          </a:p>
        </p:txBody>
      </p:sp>
      <p:sp>
        <p:nvSpPr>
          <p:cNvPr id="28" name="Text 26"/>
          <p:cNvSpPr/>
          <p:nvPr/>
        </p:nvSpPr>
        <p:spPr>
          <a:xfrm>
            <a:off x="4837176" y="30083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PDM AGL</a:t>
            </a:r>
            <a:endParaRPr lang="en-US" sz="850" dirty="0"/>
          </a:p>
        </p:txBody>
      </p:sp>
      <p:sp>
        <p:nvSpPr>
          <p:cNvPr id="29" name="Shape 27"/>
          <p:cNvSpPr/>
          <p:nvPr/>
        </p:nvSpPr>
        <p:spPr>
          <a:xfrm>
            <a:off x="137160" y="3227832"/>
            <a:ext cx="6217920" cy="256032"/>
          </a:xfrm>
          <a:prstGeom prst="rect">
            <a:avLst/>
          </a:prstGeom>
          <a:solidFill>
            <a:srgbClr val="FFF9EC"/>
          </a:solidFill>
          <a:ln w="3810">
            <a:solidFill>
              <a:srgbClr val="E5E7EB"/>
            </a:solidFill>
            <a:prstDash val="solid"/>
          </a:ln>
        </p:spPr>
      </p:sp>
      <p:sp>
        <p:nvSpPr>
          <p:cNvPr id="30" name="Text 28"/>
          <p:cNvSpPr/>
          <p:nvPr/>
        </p:nvSpPr>
        <p:spPr>
          <a:xfrm>
            <a:off x="173736" y="3264408"/>
            <a:ext cx="150876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ŒUFS</a:t>
            </a:r>
            <a:endParaRPr lang="en-US" sz="850" dirty="0"/>
          </a:p>
        </p:txBody>
      </p:sp>
      <p:sp>
        <p:nvSpPr>
          <p:cNvPr id="31" name="Text 29"/>
          <p:cNvSpPr/>
          <p:nvPr/>
        </p:nvSpPr>
        <p:spPr>
          <a:xfrm>
            <a:off x="1728216" y="326440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1 883 317</a:t>
            </a:r>
            <a:endParaRPr lang="en-US" sz="850" dirty="0"/>
          </a:p>
        </p:txBody>
      </p:sp>
      <p:sp>
        <p:nvSpPr>
          <p:cNvPr id="32" name="Text 30"/>
          <p:cNvSpPr/>
          <p:nvPr/>
        </p:nvSpPr>
        <p:spPr>
          <a:xfrm>
            <a:off x="3282696" y="326440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+26,9 %</a:t>
            </a:r>
            <a:endParaRPr lang="en-US" sz="850" dirty="0"/>
          </a:p>
        </p:txBody>
      </p:sp>
      <p:sp>
        <p:nvSpPr>
          <p:cNvPr id="33" name="Text 31"/>
          <p:cNvSpPr/>
          <p:nvPr/>
        </p:nvSpPr>
        <p:spPr>
          <a:xfrm>
            <a:off x="4837176" y="3264408"/>
            <a:ext cx="150876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1 %</a:t>
            </a:r>
            <a:endParaRPr lang="en-US" sz="850" dirty="0"/>
          </a:p>
        </p:txBody>
      </p:sp>
      <p:sp>
        <p:nvSpPr>
          <p:cNvPr id="34" name="Shape 32"/>
          <p:cNvSpPr/>
          <p:nvPr/>
        </p:nvSpPr>
        <p:spPr>
          <a:xfrm>
            <a:off x="137160" y="3483864"/>
            <a:ext cx="6217920" cy="256032"/>
          </a:xfrm>
          <a:prstGeom prst="rect">
            <a:avLst/>
          </a:prstGeom>
          <a:solidFill>
            <a:srgbClr val="F8F9FA"/>
          </a:solidFill>
          <a:ln w="3810">
            <a:solidFill>
              <a:srgbClr val="E5E7EB"/>
            </a:solidFill>
            <a:prstDash val="solid"/>
          </a:ln>
        </p:spPr>
      </p:sp>
      <p:sp>
        <p:nvSpPr>
          <p:cNvPr id="35" name="Text 33"/>
          <p:cNvSpPr/>
          <p:nvPr/>
        </p:nvSpPr>
        <p:spPr>
          <a:xfrm>
            <a:off x="173736" y="3520440"/>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MATÉRIELS MINIERS</a:t>
            </a:r>
            <a:endParaRPr lang="en-US" sz="850" dirty="0"/>
          </a:p>
        </p:txBody>
      </p:sp>
      <p:sp>
        <p:nvSpPr>
          <p:cNvPr id="36" name="Text 34"/>
          <p:cNvSpPr/>
          <p:nvPr/>
        </p:nvSpPr>
        <p:spPr>
          <a:xfrm>
            <a:off x="1728216" y="35204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515 776</a:t>
            </a:r>
            <a:endParaRPr lang="en-US" sz="850" dirty="0"/>
          </a:p>
        </p:txBody>
      </p:sp>
      <p:sp>
        <p:nvSpPr>
          <p:cNvPr id="37" name="Text 35"/>
          <p:cNvSpPr/>
          <p:nvPr/>
        </p:nvSpPr>
        <p:spPr>
          <a:xfrm>
            <a:off x="3282696" y="35204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+244,3 %</a:t>
            </a:r>
            <a:endParaRPr lang="en-US" sz="850" dirty="0"/>
          </a:p>
        </p:txBody>
      </p:sp>
      <p:sp>
        <p:nvSpPr>
          <p:cNvPr id="38" name="Text 36"/>
          <p:cNvSpPr/>
          <p:nvPr/>
        </p:nvSpPr>
        <p:spPr>
          <a:xfrm>
            <a:off x="4837176" y="35204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61 %</a:t>
            </a:r>
            <a:endParaRPr lang="en-US" sz="850" dirty="0"/>
          </a:p>
        </p:txBody>
      </p:sp>
      <p:sp>
        <p:nvSpPr>
          <p:cNvPr id="39" name="Shape 37"/>
          <p:cNvSpPr/>
          <p:nvPr/>
        </p:nvSpPr>
        <p:spPr>
          <a:xfrm>
            <a:off x="137160" y="3739896"/>
            <a:ext cx="6217920" cy="256032"/>
          </a:xfrm>
          <a:prstGeom prst="rect">
            <a:avLst/>
          </a:prstGeom>
          <a:solidFill>
            <a:srgbClr val="FFFFFF"/>
          </a:solidFill>
          <a:ln w="3810">
            <a:solidFill>
              <a:srgbClr val="E5E7EB"/>
            </a:solidFill>
            <a:prstDash val="solid"/>
          </a:ln>
        </p:spPr>
      </p:sp>
      <p:sp>
        <p:nvSpPr>
          <p:cNvPr id="40" name="Text 38"/>
          <p:cNvSpPr/>
          <p:nvPr/>
        </p:nvSpPr>
        <p:spPr>
          <a:xfrm>
            <a:off x="173736" y="3776472"/>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MACHINES</a:t>
            </a:r>
            <a:endParaRPr lang="en-US" sz="850" dirty="0"/>
          </a:p>
        </p:txBody>
      </p:sp>
      <p:sp>
        <p:nvSpPr>
          <p:cNvPr id="41" name="Text 39"/>
          <p:cNvSpPr/>
          <p:nvPr/>
        </p:nvSpPr>
        <p:spPr>
          <a:xfrm>
            <a:off x="1728216" y="37764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486 785</a:t>
            </a:r>
            <a:endParaRPr lang="en-US" sz="850" dirty="0"/>
          </a:p>
        </p:txBody>
      </p:sp>
      <p:sp>
        <p:nvSpPr>
          <p:cNvPr id="42" name="Text 40"/>
          <p:cNvSpPr/>
          <p:nvPr/>
        </p:nvSpPr>
        <p:spPr>
          <a:xfrm>
            <a:off x="3282696" y="37764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+90,2 %</a:t>
            </a:r>
            <a:endParaRPr lang="en-US" sz="850" dirty="0"/>
          </a:p>
        </p:txBody>
      </p:sp>
      <p:sp>
        <p:nvSpPr>
          <p:cNvPr id="43" name="Text 41"/>
          <p:cNvSpPr/>
          <p:nvPr/>
        </p:nvSpPr>
        <p:spPr>
          <a:xfrm>
            <a:off x="4837176" y="37764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a:t>
            </a:r>
            <a:endParaRPr lang="en-US" sz="850" dirty="0"/>
          </a:p>
        </p:txBody>
      </p:sp>
      <p:sp>
        <p:nvSpPr>
          <p:cNvPr id="44" name="Shape 42"/>
          <p:cNvSpPr/>
          <p:nvPr/>
        </p:nvSpPr>
        <p:spPr>
          <a:xfrm>
            <a:off x="137160" y="3995928"/>
            <a:ext cx="6217920" cy="256032"/>
          </a:xfrm>
          <a:prstGeom prst="rect">
            <a:avLst/>
          </a:prstGeom>
          <a:solidFill>
            <a:srgbClr val="F8F9FA"/>
          </a:solidFill>
          <a:ln w="3810">
            <a:solidFill>
              <a:srgbClr val="E5E7EB"/>
            </a:solidFill>
            <a:prstDash val="solid"/>
          </a:ln>
        </p:spPr>
      </p:sp>
      <p:sp>
        <p:nvSpPr>
          <p:cNvPr id="45" name="Text 43"/>
          <p:cNvSpPr/>
          <p:nvPr/>
        </p:nvSpPr>
        <p:spPr>
          <a:xfrm>
            <a:off x="173736" y="4032504"/>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TÉLÉCOMS</a:t>
            </a:r>
            <a:endParaRPr lang="en-US" sz="850" dirty="0"/>
          </a:p>
        </p:txBody>
      </p:sp>
      <p:sp>
        <p:nvSpPr>
          <p:cNvPr id="46" name="Text 44"/>
          <p:cNvSpPr/>
          <p:nvPr/>
        </p:nvSpPr>
        <p:spPr>
          <a:xfrm>
            <a:off x="1728216" y="40325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182 071</a:t>
            </a:r>
            <a:endParaRPr lang="en-US" sz="850" dirty="0"/>
          </a:p>
        </p:txBody>
      </p:sp>
      <p:sp>
        <p:nvSpPr>
          <p:cNvPr id="47" name="Text 45"/>
          <p:cNvSpPr/>
          <p:nvPr/>
        </p:nvSpPr>
        <p:spPr>
          <a:xfrm>
            <a:off x="3282696" y="40325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+60,3 %</a:t>
            </a:r>
            <a:endParaRPr lang="en-US" sz="850" dirty="0"/>
          </a:p>
        </p:txBody>
      </p:sp>
      <p:sp>
        <p:nvSpPr>
          <p:cNvPr id="48" name="Text 46"/>
          <p:cNvSpPr/>
          <p:nvPr/>
        </p:nvSpPr>
        <p:spPr>
          <a:xfrm>
            <a:off x="4837176" y="40325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33 %</a:t>
            </a:r>
            <a:endParaRPr lang="en-US" sz="850" dirty="0"/>
          </a:p>
        </p:txBody>
      </p:sp>
      <p:sp>
        <p:nvSpPr>
          <p:cNvPr id="49" name="Shape 47"/>
          <p:cNvSpPr/>
          <p:nvPr/>
        </p:nvSpPr>
        <p:spPr>
          <a:xfrm>
            <a:off x="137160" y="4251960"/>
            <a:ext cx="6217920" cy="256032"/>
          </a:xfrm>
          <a:prstGeom prst="rect">
            <a:avLst/>
          </a:prstGeom>
          <a:solidFill>
            <a:srgbClr val="FFFFFF"/>
          </a:solidFill>
          <a:ln w="3810">
            <a:solidFill>
              <a:srgbClr val="E5E7EB"/>
            </a:solidFill>
            <a:prstDash val="solid"/>
          </a:ln>
        </p:spPr>
      </p:sp>
      <p:sp>
        <p:nvSpPr>
          <p:cNvPr id="50" name="Text 48"/>
          <p:cNvSpPr/>
          <p:nvPr/>
        </p:nvSpPr>
        <p:spPr>
          <a:xfrm>
            <a:off x="173736" y="4288536"/>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MATÉR. ÉLECTRIQUES</a:t>
            </a:r>
            <a:endParaRPr lang="en-US" sz="850" dirty="0"/>
          </a:p>
        </p:txBody>
      </p:sp>
      <p:sp>
        <p:nvSpPr>
          <p:cNvPr id="51" name="Text 49"/>
          <p:cNvSpPr/>
          <p:nvPr/>
        </p:nvSpPr>
        <p:spPr>
          <a:xfrm>
            <a:off x="1728216" y="428853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158 887</a:t>
            </a:r>
            <a:endParaRPr lang="en-US" sz="850" dirty="0"/>
          </a:p>
        </p:txBody>
      </p:sp>
      <p:sp>
        <p:nvSpPr>
          <p:cNvPr id="52" name="Text 50"/>
          <p:cNvSpPr/>
          <p:nvPr/>
        </p:nvSpPr>
        <p:spPr>
          <a:xfrm>
            <a:off x="3282696" y="428853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+145,9 %</a:t>
            </a:r>
            <a:endParaRPr lang="en-US" sz="850" dirty="0"/>
          </a:p>
        </p:txBody>
      </p:sp>
      <p:sp>
        <p:nvSpPr>
          <p:cNvPr id="53" name="Text 51"/>
          <p:cNvSpPr/>
          <p:nvPr/>
        </p:nvSpPr>
        <p:spPr>
          <a:xfrm>
            <a:off x="4837176" y="428853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a:t>
            </a:r>
            <a:endParaRPr lang="en-US" sz="850" dirty="0"/>
          </a:p>
        </p:txBody>
      </p:sp>
      <p:sp>
        <p:nvSpPr>
          <p:cNvPr id="54" name="Text 52"/>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Opportunités prioritaires – PDM AGL actuelle</a:t>
            </a:r>
            <a:endParaRPr lang="en-US" sz="1100" dirty="0"/>
          </a:p>
        </p:txBody>
      </p:sp>
      <p:sp>
        <p:nvSpPr>
          <p:cNvPr id="55" name="Text 53"/>
          <p:cNvSpPr/>
          <p:nvPr/>
        </p:nvSpPr>
        <p:spPr>
          <a:xfrm>
            <a:off x="6492240" y="141732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ŒUFS (CIBLE 8%)</a:t>
            </a:r>
            <a:endParaRPr lang="en-US" sz="850" dirty="0"/>
          </a:p>
        </p:txBody>
      </p:sp>
      <p:sp>
        <p:nvSpPr>
          <p:cNvPr id="56" name="Text 54"/>
          <p:cNvSpPr/>
          <p:nvPr/>
        </p:nvSpPr>
        <p:spPr>
          <a:xfrm>
            <a:off x="8156448" y="141732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1 883 317 kg</a:t>
            </a:r>
            <a:endParaRPr lang="en-US" sz="850" dirty="0"/>
          </a:p>
        </p:txBody>
      </p:sp>
      <p:sp>
        <p:nvSpPr>
          <p:cNvPr id="57" name="Shape 55"/>
          <p:cNvSpPr/>
          <p:nvPr/>
        </p:nvSpPr>
        <p:spPr>
          <a:xfrm>
            <a:off x="9052560" y="1453896"/>
            <a:ext cx="2743200" cy="164592"/>
          </a:xfrm>
          <a:prstGeom prst="rect">
            <a:avLst/>
          </a:prstGeom>
          <a:solidFill>
            <a:srgbClr val="E5E7EB"/>
          </a:solidFill>
          <a:ln/>
        </p:spPr>
      </p:sp>
      <p:sp>
        <p:nvSpPr>
          <p:cNvPr id="58" name="Shape 56"/>
          <p:cNvSpPr/>
          <p:nvPr/>
        </p:nvSpPr>
        <p:spPr>
          <a:xfrm>
            <a:off x="9052560" y="1453896"/>
            <a:ext cx="54864" cy="164592"/>
          </a:xfrm>
          <a:prstGeom prst="rect">
            <a:avLst/>
          </a:prstGeom>
          <a:solidFill>
            <a:srgbClr val="CC2200"/>
          </a:solidFill>
          <a:ln/>
        </p:spPr>
      </p:sp>
      <p:sp>
        <p:nvSpPr>
          <p:cNvPr id="59" name="Text 57"/>
          <p:cNvSpPr/>
          <p:nvPr/>
        </p:nvSpPr>
        <p:spPr>
          <a:xfrm>
            <a:off x="11841480" y="1417320"/>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1%</a:t>
            </a:r>
            <a:endParaRPr lang="en-US" sz="900" dirty="0"/>
          </a:p>
        </p:txBody>
      </p:sp>
      <p:sp>
        <p:nvSpPr>
          <p:cNvPr id="60" name="Text 58"/>
          <p:cNvSpPr/>
          <p:nvPr/>
        </p:nvSpPr>
        <p:spPr>
          <a:xfrm>
            <a:off x="6492240" y="180136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TÉLÉCOMS (ORANGE+MTN)</a:t>
            </a:r>
            <a:endParaRPr lang="en-US" sz="850" dirty="0"/>
          </a:p>
        </p:txBody>
      </p:sp>
      <p:sp>
        <p:nvSpPr>
          <p:cNvPr id="61" name="Text 59"/>
          <p:cNvSpPr/>
          <p:nvPr/>
        </p:nvSpPr>
        <p:spPr>
          <a:xfrm>
            <a:off x="8156448" y="180136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182 071 kg</a:t>
            </a:r>
            <a:endParaRPr lang="en-US" sz="850" dirty="0"/>
          </a:p>
        </p:txBody>
      </p:sp>
      <p:sp>
        <p:nvSpPr>
          <p:cNvPr id="62" name="Shape 60"/>
          <p:cNvSpPr/>
          <p:nvPr/>
        </p:nvSpPr>
        <p:spPr>
          <a:xfrm>
            <a:off x="9052560" y="1837944"/>
            <a:ext cx="2743200" cy="164592"/>
          </a:xfrm>
          <a:prstGeom prst="rect">
            <a:avLst/>
          </a:prstGeom>
          <a:solidFill>
            <a:srgbClr val="E5E7EB"/>
          </a:solidFill>
          <a:ln/>
        </p:spPr>
      </p:sp>
      <p:sp>
        <p:nvSpPr>
          <p:cNvPr id="63" name="Shape 61"/>
          <p:cNvSpPr/>
          <p:nvPr/>
        </p:nvSpPr>
        <p:spPr>
          <a:xfrm>
            <a:off x="9052560" y="1837944"/>
            <a:ext cx="905256" cy="164592"/>
          </a:xfrm>
          <a:prstGeom prst="rect">
            <a:avLst/>
          </a:prstGeom>
          <a:solidFill>
            <a:srgbClr val="2563A8"/>
          </a:solidFill>
          <a:ln/>
        </p:spPr>
      </p:sp>
      <p:sp>
        <p:nvSpPr>
          <p:cNvPr id="64" name="Text 62"/>
          <p:cNvSpPr/>
          <p:nvPr/>
        </p:nvSpPr>
        <p:spPr>
          <a:xfrm>
            <a:off x="11841480" y="1801368"/>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33%</a:t>
            </a:r>
            <a:endParaRPr lang="en-US" sz="900" dirty="0"/>
          </a:p>
        </p:txBody>
      </p:sp>
      <p:sp>
        <p:nvSpPr>
          <p:cNvPr id="65" name="Text 63"/>
          <p:cNvSpPr/>
          <p:nvPr/>
        </p:nvSpPr>
        <p:spPr>
          <a:xfrm>
            <a:off x="6492240" y="218541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MAT. MINIERS (K1)</a:t>
            </a:r>
            <a:endParaRPr lang="en-US" sz="850" dirty="0"/>
          </a:p>
        </p:txBody>
      </p:sp>
      <p:sp>
        <p:nvSpPr>
          <p:cNvPr id="66" name="Text 64"/>
          <p:cNvSpPr/>
          <p:nvPr/>
        </p:nvSpPr>
        <p:spPr>
          <a:xfrm>
            <a:off x="8156448" y="218541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515 776 kg</a:t>
            </a:r>
            <a:endParaRPr lang="en-US" sz="850" dirty="0"/>
          </a:p>
        </p:txBody>
      </p:sp>
      <p:sp>
        <p:nvSpPr>
          <p:cNvPr id="67" name="Shape 65"/>
          <p:cNvSpPr/>
          <p:nvPr/>
        </p:nvSpPr>
        <p:spPr>
          <a:xfrm>
            <a:off x="9052560" y="2221992"/>
            <a:ext cx="2743200" cy="164592"/>
          </a:xfrm>
          <a:prstGeom prst="rect">
            <a:avLst/>
          </a:prstGeom>
          <a:solidFill>
            <a:srgbClr val="E5E7EB"/>
          </a:solidFill>
          <a:ln/>
        </p:spPr>
      </p:sp>
      <p:sp>
        <p:nvSpPr>
          <p:cNvPr id="68" name="Shape 66"/>
          <p:cNvSpPr/>
          <p:nvPr/>
        </p:nvSpPr>
        <p:spPr>
          <a:xfrm>
            <a:off x="9052560" y="2221992"/>
            <a:ext cx="1673352" cy="164592"/>
          </a:xfrm>
          <a:prstGeom prst="rect">
            <a:avLst/>
          </a:prstGeom>
          <a:solidFill>
            <a:srgbClr val="1A7C4F"/>
          </a:solidFill>
          <a:ln/>
        </p:spPr>
      </p:sp>
      <p:sp>
        <p:nvSpPr>
          <p:cNvPr id="69" name="Text 67"/>
          <p:cNvSpPr/>
          <p:nvPr/>
        </p:nvSpPr>
        <p:spPr>
          <a:xfrm>
            <a:off x="11841480" y="2185416"/>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61%</a:t>
            </a:r>
            <a:endParaRPr lang="en-US" sz="900" dirty="0"/>
          </a:p>
        </p:txBody>
      </p:sp>
      <p:sp>
        <p:nvSpPr>
          <p:cNvPr id="70" name="Text 68"/>
          <p:cNvSpPr/>
          <p:nvPr/>
        </p:nvSpPr>
        <p:spPr>
          <a:xfrm>
            <a:off x="6492240" y="256946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PIÈCES DÉTACHÉES</a:t>
            </a:r>
            <a:endParaRPr lang="en-US" sz="850" dirty="0"/>
          </a:p>
        </p:txBody>
      </p:sp>
      <p:sp>
        <p:nvSpPr>
          <p:cNvPr id="71" name="Text 69"/>
          <p:cNvSpPr/>
          <p:nvPr/>
        </p:nvSpPr>
        <p:spPr>
          <a:xfrm>
            <a:off x="8156448" y="256946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942 926 kg</a:t>
            </a:r>
            <a:endParaRPr lang="en-US" sz="850" dirty="0"/>
          </a:p>
        </p:txBody>
      </p:sp>
      <p:sp>
        <p:nvSpPr>
          <p:cNvPr id="72" name="Shape 70"/>
          <p:cNvSpPr/>
          <p:nvPr/>
        </p:nvSpPr>
        <p:spPr>
          <a:xfrm>
            <a:off x="9052560" y="2606040"/>
            <a:ext cx="2743200" cy="164592"/>
          </a:xfrm>
          <a:prstGeom prst="rect">
            <a:avLst/>
          </a:prstGeom>
          <a:solidFill>
            <a:srgbClr val="E5E7EB"/>
          </a:solidFill>
          <a:ln/>
        </p:spPr>
      </p:sp>
      <p:sp>
        <p:nvSpPr>
          <p:cNvPr id="73" name="Shape 71"/>
          <p:cNvSpPr/>
          <p:nvPr/>
        </p:nvSpPr>
        <p:spPr>
          <a:xfrm>
            <a:off x="9052560" y="2606040"/>
            <a:ext cx="219456" cy="164592"/>
          </a:xfrm>
          <a:prstGeom prst="rect">
            <a:avLst/>
          </a:prstGeom>
          <a:solidFill>
            <a:srgbClr val="CC2200"/>
          </a:solidFill>
          <a:ln/>
        </p:spPr>
      </p:sp>
      <p:sp>
        <p:nvSpPr>
          <p:cNvPr id="74" name="Text 72"/>
          <p:cNvSpPr/>
          <p:nvPr/>
        </p:nvSpPr>
        <p:spPr>
          <a:xfrm>
            <a:off x="11841480" y="2569464"/>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8%</a:t>
            </a:r>
            <a:endParaRPr lang="en-US" sz="900" dirty="0"/>
          </a:p>
        </p:txBody>
      </p:sp>
      <p:sp>
        <p:nvSpPr>
          <p:cNvPr id="75" name="Shape 73"/>
          <p:cNvSpPr/>
          <p:nvPr/>
        </p:nvSpPr>
        <p:spPr>
          <a:xfrm>
            <a:off x="6492240" y="3840480"/>
            <a:ext cx="5486400" cy="960120"/>
          </a:xfrm>
          <a:prstGeom prst="rect">
            <a:avLst/>
          </a:prstGeom>
          <a:solidFill>
            <a:srgbClr val="FFFBEC"/>
          </a:solidFill>
          <a:ln w="6350">
            <a:solidFill>
              <a:srgbClr val="E5C97A"/>
            </a:solidFill>
            <a:prstDash val="solid"/>
          </a:ln>
        </p:spPr>
      </p:sp>
      <p:sp>
        <p:nvSpPr>
          <p:cNvPr id="76" name="Text 74"/>
          <p:cNvSpPr/>
          <p:nvPr/>
        </p:nvSpPr>
        <p:spPr>
          <a:xfrm>
            <a:off x="6583680" y="3913632"/>
            <a:ext cx="5303520" cy="85039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LEVIERS : Œufs : +26,9% de marché, AGL à 1% → cible 8% = +130 T/an. Transit-Coss en chute de –60% (696K→274K kg) : accélérer la captation de ses clients. Contrats cadres Télécoms 2027 à sécuriser dès maintenant.</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Shape 1"/>
          <p:cNvSpPr/>
          <p:nvPr/>
        </p:nvSpPr>
        <p:spPr>
          <a:xfrm>
            <a:off x="1097280" y="3520440"/>
            <a:ext cx="7498080" cy="59436"/>
          </a:xfrm>
          <a:prstGeom prst="rect">
            <a:avLst/>
          </a:prstGeom>
          <a:solidFill>
            <a:srgbClr val="C9A84C"/>
          </a:solidFill>
          <a:ln/>
        </p:spPr>
      </p:sp>
      <p:sp>
        <p:nvSpPr>
          <p:cNvPr id="4" name="Text 2"/>
          <p:cNvSpPr/>
          <p:nvPr/>
        </p:nvSpPr>
        <p:spPr>
          <a:xfrm>
            <a:off x="365760" y="2011680"/>
            <a:ext cx="11430000" cy="914400"/>
          </a:xfrm>
          <a:prstGeom prst="rect">
            <a:avLst/>
          </a:prstGeom>
          <a:noFill/>
          <a:ln/>
        </p:spPr>
        <p:txBody>
          <a:bodyPr wrap="square" rtlCol="0" anchor="ctr"/>
          <a:lstStyle/>
          <a:p>
            <a:pPr algn="ctr" indent="0" marL="0">
              <a:buNone/>
            </a:pPr>
            <a:r>
              <a:rPr lang="en-US" sz="7200" b="1" dirty="0">
                <a:solidFill>
                  <a:srgbClr val="1A2E4A"/>
                </a:solidFill>
                <a:latin typeface="Calibri" pitchFamily="34" charset="0"/>
                <a:ea typeface="Calibri" pitchFamily="34" charset="-122"/>
                <a:cs typeface="Calibri" pitchFamily="34" charset="-120"/>
              </a:rPr>
              <a:t>DSM</a:t>
            </a:r>
            <a:endParaRPr lang="en-US" sz="7200" dirty="0"/>
          </a:p>
        </p:txBody>
      </p:sp>
      <p:sp>
        <p:nvSpPr>
          <p:cNvPr id="5" name="Text 3"/>
          <p:cNvSpPr/>
          <p:nvPr/>
        </p:nvSpPr>
        <p:spPr>
          <a:xfrm>
            <a:off x="365760" y="2651760"/>
            <a:ext cx="11430000" cy="9144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DIRECTION DES SOLUTIONS MARITIMES</a:t>
            </a:r>
            <a:endParaRPr lang="en-US" sz="2800" dirty="0"/>
          </a:p>
        </p:txBody>
      </p:sp>
      <p:sp>
        <p:nvSpPr>
          <p:cNvPr id="6" name="Text 4"/>
          <p:cNvSpPr/>
          <p:nvPr/>
        </p:nvSpPr>
        <p:spPr>
          <a:xfrm>
            <a:off x="365760" y="3703320"/>
            <a:ext cx="11430000" cy="457200"/>
          </a:xfrm>
          <a:prstGeom prst="rect">
            <a:avLst/>
          </a:prstGeom>
          <a:noFill/>
          <a:ln/>
        </p:spPr>
        <p:txBody>
          <a:bodyPr wrap="square" rtlCol="0" anchor="ctr"/>
          <a:lstStyle/>
          <a:p>
            <a:pPr algn="ctr" indent="0" marL="0">
              <a:buNone/>
            </a:pPr>
            <a:r>
              <a:rPr lang="en-US" sz="1400" i="1" dirty="0">
                <a:solidFill>
                  <a:srgbClr val="C9A84C"/>
                </a:solidFill>
                <a:latin typeface="Calibri" pitchFamily="34" charset="0"/>
                <a:ea typeface="Calibri" pitchFamily="34" charset="-122"/>
                <a:cs typeface="Calibri" pitchFamily="34" charset="-120"/>
              </a:rPr>
              <a:t>Étude des armateurs au B/L  |  Lignes régulières (TEU + RoRo)  |  Tramps : BRBK, Sac, Vrac</a:t>
            </a:r>
            <a:endParaRPr lang="en-US" sz="1400" dirty="0"/>
          </a:p>
        </p:txBody>
      </p:sp>
      <p:sp>
        <p:nvSpPr>
          <p:cNvPr id="7" name="Text 5"/>
          <p:cNvSpPr/>
          <p:nvPr/>
        </p:nvSpPr>
        <p:spPr>
          <a:xfrm>
            <a:off x="1828800" y="6492240"/>
            <a:ext cx="8229600" cy="25603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a:t>
            </a:r>
            <a:endParaRPr lang="en-US" sz="900" dirty="0"/>
          </a:p>
        </p:txBody>
      </p:sp>
      <p:sp>
        <p:nvSpPr>
          <p:cNvPr id="8" name="Text 6"/>
          <p:cNvSpPr/>
          <p:nvPr/>
        </p:nvSpPr>
        <p:spPr>
          <a:xfrm>
            <a:off x="11430000" y="6473952"/>
            <a:ext cx="640080" cy="292608"/>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DSM – ARMATEURS AU B/L  |  Tonnage Import 2025</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Classement annuel tonnage tous conditionnements  |  Marché : 23 557 176 T  |  Hors PP</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p.26</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Top 10 Armateurs au B/L (Import 2025)</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Rang</a:t>
            </a:r>
            <a:endParaRPr lang="en-US" sz="850" dirty="0"/>
          </a:p>
        </p:txBody>
      </p:sp>
      <p:sp>
        <p:nvSpPr>
          <p:cNvPr id="10" name="Text 8"/>
          <p:cNvSpPr/>
          <p:nvPr/>
        </p:nvSpPr>
        <p:spPr>
          <a:xfrm>
            <a:off x="585216" y="1408176"/>
            <a:ext cx="188976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Armateur</a:t>
            </a:r>
            <a:endParaRPr lang="en-US" sz="850" dirty="0"/>
          </a:p>
        </p:txBody>
      </p:sp>
      <p:sp>
        <p:nvSpPr>
          <p:cNvPr id="11" name="Text 9"/>
          <p:cNvSpPr/>
          <p:nvPr/>
        </p:nvSpPr>
        <p:spPr>
          <a:xfrm>
            <a:off x="2520696" y="1408176"/>
            <a:ext cx="1889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Tonnage</a:t>
            </a:r>
            <a:endParaRPr lang="en-US" sz="850" dirty="0"/>
          </a:p>
        </p:txBody>
      </p:sp>
      <p:sp>
        <p:nvSpPr>
          <p:cNvPr id="12" name="Text 10"/>
          <p:cNvSpPr/>
          <p:nvPr/>
        </p:nvSpPr>
        <p:spPr>
          <a:xfrm>
            <a:off x="4456176" y="1408176"/>
            <a:ext cx="1889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PDM</a:t>
            </a:r>
            <a:endParaRPr lang="en-US" sz="850" dirty="0"/>
          </a:p>
        </p:txBody>
      </p:sp>
      <p:sp>
        <p:nvSpPr>
          <p:cNvPr id="13" name="Shape 11"/>
          <p:cNvSpPr/>
          <p:nvPr/>
        </p:nvSpPr>
        <p:spPr>
          <a:xfrm>
            <a:off x="137160" y="1627632"/>
            <a:ext cx="6217920" cy="256032"/>
          </a:xfrm>
          <a:prstGeom prst="rect">
            <a:avLst/>
          </a:prstGeom>
          <a:solidFill>
            <a:srgbClr val="FFF9EC"/>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none" rtlCol="0" anchor="ctr"/>
          <a:lstStyle/>
          <a:p>
            <a:pPr algn="ctr" indent="0" marL="0">
              <a:buNone/>
            </a:pPr>
            <a:r>
              <a:rPr lang="en-US" sz="850" b="1" dirty="0">
                <a:solidFill>
                  <a:srgbClr val="374151"/>
                </a:solidFill>
                <a:latin typeface="Calibri" pitchFamily="34" charset="0"/>
                <a:ea typeface="Calibri" pitchFamily="34" charset="-122"/>
                <a:cs typeface="Calibri" pitchFamily="34" charset="-120"/>
              </a:rPr>
              <a:t>#1</a:t>
            </a:r>
            <a:endParaRPr lang="en-US" sz="850" dirty="0"/>
          </a:p>
        </p:txBody>
      </p:sp>
      <p:sp>
        <p:nvSpPr>
          <p:cNvPr id="15" name="Text 13"/>
          <p:cNvSpPr/>
          <p:nvPr/>
        </p:nvSpPr>
        <p:spPr>
          <a:xfrm>
            <a:off x="585216" y="1664208"/>
            <a:ext cx="188976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AFFRETE   CLINKER</a:t>
            </a:r>
            <a:endParaRPr lang="en-US" sz="850" dirty="0"/>
          </a:p>
        </p:txBody>
      </p:sp>
      <p:sp>
        <p:nvSpPr>
          <p:cNvPr id="16" name="Text 14"/>
          <p:cNvSpPr/>
          <p:nvPr/>
        </p:nvSpPr>
        <p:spPr>
          <a:xfrm>
            <a:off x="2520696" y="166420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8 483 253</a:t>
            </a:r>
            <a:endParaRPr lang="en-US" sz="850" dirty="0"/>
          </a:p>
        </p:txBody>
      </p:sp>
      <p:sp>
        <p:nvSpPr>
          <p:cNvPr id="17" name="Text 15"/>
          <p:cNvSpPr/>
          <p:nvPr/>
        </p:nvSpPr>
        <p:spPr>
          <a:xfrm>
            <a:off x="4456176" y="1664208"/>
            <a:ext cx="188976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36,01 %</a:t>
            </a:r>
            <a:endParaRPr lang="en-US" sz="85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a:t>
            </a:r>
            <a:endParaRPr lang="en-US" sz="850" dirty="0"/>
          </a:p>
        </p:txBody>
      </p:sp>
      <p:sp>
        <p:nvSpPr>
          <p:cNvPr id="20" name="Text 18"/>
          <p:cNvSpPr/>
          <p:nvPr/>
        </p:nvSpPr>
        <p:spPr>
          <a:xfrm>
            <a:off x="585216" y="1920240"/>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ARMATEUR DIVERS</a:t>
            </a:r>
            <a:endParaRPr lang="en-US" sz="850" dirty="0"/>
          </a:p>
        </p:txBody>
      </p:sp>
      <p:sp>
        <p:nvSpPr>
          <p:cNvPr id="21" name="Text 19"/>
          <p:cNvSpPr/>
          <p:nvPr/>
        </p:nvSpPr>
        <p:spPr>
          <a:xfrm>
            <a:off x="2520696" y="192024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2 611 451</a:t>
            </a:r>
            <a:endParaRPr lang="en-US" sz="850" dirty="0"/>
          </a:p>
        </p:txBody>
      </p:sp>
      <p:sp>
        <p:nvSpPr>
          <p:cNvPr id="22" name="Text 20"/>
          <p:cNvSpPr/>
          <p:nvPr/>
        </p:nvSpPr>
        <p:spPr>
          <a:xfrm>
            <a:off x="4456176" y="192024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11,09 %</a:t>
            </a:r>
            <a:endParaRPr lang="en-US" sz="850" dirty="0"/>
          </a:p>
        </p:txBody>
      </p:sp>
      <p:sp>
        <p:nvSpPr>
          <p:cNvPr id="23" name="Shape 21"/>
          <p:cNvSpPr/>
          <p:nvPr/>
        </p:nvSpPr>
        <p:spPr>
          <a:xfrm>
            <a:off x="137160" y="2139696"/>
            <a:ext cx="6217920" cy="256032"/>
          </a:xfrm>
          <a:prstGeom prst="rect">
            <a:avLst/>
          </a:prstGeom>
          <a:solidFill>
            <a:srgbClr val="FFFFFF"/>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a:t>
            </a:r>
            <a:endParaRPr lang="en-US" sz="850" dirty="0"/>
          </a:p>
        </p:txBody>
      </p:sp>
      <p:sp>
        <p:nvSpPr>
          <p:cNvPr id="25" name="Text 23"/>
          <p:cNvSpPr/>
          <p:nvPr/>
        </p:nvSpPr>
        <p:spPr>
          <a:xfrm>
            <a:off x="585216" y="2176272"/>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MSC</a:t>
            </a:r>
            <a:endParaRPr lang="en-US" sz="850" dirty="0"/>
          </a:p>
        </p:txBody>
      </p:sp>
      <p:sp>
        <p:nvSpPr>
          <p:cNvPr id="26" name="Text 24"/>
          <p:cNvSpPr/>
          <p:nvPr/>
        </p:nvSpPr>
        <p:spPr>
          <a:xfrm>
            <a:off x="2520696" y="217627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2 575 251</a:t>
            </a:r>
            <a:endParaRPr lang="en-US" sz="850" dirty="0"/>
          </a:p>
        </p:txBody>
      </p:sp>
      <p:sp>
        <p:nvSpPr>
          <p:cNvPr id="27" name="Text 25"/>
          <p:cNvSpPr/>
          <p:nvPr/>
        </p:nvSpPr>
        <p:spPr>
          <a:xfrm>
            <a:off x="4456176" y="217627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10,93 %</a:t>
            </a:r>
            <a:endParaRPr lang="en-US" sz="85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a:t>
            </a:r>
            <a:endParaRPr lang="en-US" sz="850" dirty="0"/>
          </a:p>
        </p:txBody>
      </p:sp>
      <p:sp>
        <p:nvSpPr>
          <p:cNvPr id="30" name="Text 28"/>
          <p:cNvSpPr/>
          <p:nvPr/>
        </p:nvSpPr>
        <p:spPr>
          <a:xfrm>
            <a:off x="585216" y="2432304"/>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ARMATEURS DIVERS RIZ</a:t>
            </a:r>
            <a:endParaRPr lang="en-US" sz="850" dirty="0"/>
          </a:p>
        </p:txBody>
      </p:sp>
      <p:sp>
        <p:nvSpPr>
          <p:cNvPr id="31" name="Text 29"/>
          <p:cNvSpPr/>
          <p:nvPr/>
        </p:nvSpPr>
        <p:spPr>
          <a:xfrm>
            <a:off x="2520696" y="243230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2 055 812</a:t>
            </a:r>
            <a:endParaRPr lang="en-US" sz="850" dirty="0"/>
          </a:p>
        </p:txBody>
      </p:sp>
      <p:sp>
        <p:nvSpPr>
          <p:cNvPr id="32" name="Text 30"/>
          <p:cNvSpPr/>
          <p:nvPr/>
        </p:nvSpPr>
        <p:spPr>
          <a:xfrm>
            <a:off x="4456176" y="243230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8,73 %</a:t>
            </a:r>
            <a:endParaRPr lang="en-US" sz="85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a:t>
            </a:r>
            <a:endParaRPr lang="en-US" sz="850" dirty="0"/>
          </a:p>
        </p:txBody>
      </p:sp>
      <p:sp>
        <p:nvSpPr>
          <p:cNvPr id="35" name="Text 33"/>
          <p:cNvSpPr/>
          <p:nvPr/>
        </p:nvSpPr>
        <p:spPr>
          <a:xfrm>
            <a:off x="585216" y="2688336"/>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CMA CGM</a:t>
            </a:r>
            <a:endParaRPr lang="en-US" sz="850" dirty="0"/>
          </a:p>
        </p:txBody>
      </p:sp>
      <p:sp>
        <p:nvSpPr>
          <p:cNvPr id="36" name="Text 34"/>
          <p:cNvSpPr/>
          <p:nvPr/>
        </p:nvSpPr>
        <p:spPr>
          <a:xfrm>
            <a:off x="2520696" y="268833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1 589 395</a:t>
            </a:r>
            <a:endParaRPr lang="en-US" sz="850" dirty="0"/>
          </a:p>
        </p:txBody>
      </p:sp>
      <p:sp>
        <p:nvSpPr>
          <p:cNvPr id="37" name="Text 35"/>
          <p:cNvSpPr/>
          <p:nvPr/>
        </p:nvSpPr>
        <p:spPr>
          <a:xfrm>
            <a:off x="4456176" y="268833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6,75 %</a:t>
            </a:r>
            <a:endParaRPr lang="en-US" sz="850" dirty="0"/>
          </a:p>
        </p:txBody>
      </p:sp>
      <p:sp>
        <p:nvSpPr>
          <p:cNvPr id="38" name="Shape 36"/>
          <p:cNvSpPr/>
          <p:nvPr/>
        </p:nvSpPr>
        <p:spPr>
          <a:xfrm>
            <a:off x="137160" y="2907792"/>
            <a:ext cx="621792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a:t>
            </a:r>
            <a:endParaRPr lang="en-US" sz="850" dirty="0"/>
          </a:p>
        </p:txBody>
      </p:sp>
      <p:sp>
        <p:nvSpPr>
          <p:cNvPr id="40" name="Text 38"/>
          <p:cNvSpPr/>
          <p:nvPr/>
        </p:nvSpPr>
        <p:spPr>
          <a:xfrm>
            <a:off x="585216" y="2944368"/>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AFFRETES  BLE</a:t>
            </a:r>
            <a:endParaRPr lang="en-US" sz="850" dirty="0"/>
          </a:p>
        </p:txBody>
      </p:sp>
      <p:sp>
        <p:nvSpPr>
          <p:cNvPr id="41" name="Text 39"/>
          <p:cNvSpPr/>
          <p:nvPr/>
        </p:nvSpPr>
        <p:spPr>
          <a:xfrm>
            <a:off x="2520696" y="294436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1 531 565</a:t>
            </a:r>
            <a:endParaRPr lang="en-US" sz="850" dirty="0"/>
          </a:p>
        </p:txBody>
      </p:sp>
      <p:sp>
        <p:nvSpPr>
          <p:cNvPr id="42" name="Text 40"/>
          <p:cNvSpPr/>
          <p:nvPr/>
        </p:nvSpPr>
        <p:spPr>
          <a:xfrm>
            <a:off x="4456176" y="294436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6,50 %</a:t>
            </a:r>
            <a:endParaRPr lang="en-US" sz="850" dirty="0"/>
          </a:p>
        </p:txBody>
      </p:sp>
      <p:sp>
        <p:nvSpPr>
          <p:cNvPr id="43" name="Shape 41"/>
          <p:cNvSpPr/>
          <p:nvPr/>
        </p:nvSpPr>
        <p:spPr>
          <a:xfrm>
            <a:off x="137160" y="3163824"/>
            <a:ext cx="621792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a:t>
            </a:r>
            <a:endParaRPr lang="en-US" sz="850" dirty="0"/>
          </a:p>
        </p:txBody>
      </p:sp>
      <p:sp>
        <p:nvSpPr>
          <p:cNvPr id="45" name="Text 43"/>
          <p:cNvSpPr/>
          <p:nvPr/>
        </p:nvSpPr>
        <p:spPr>
          <a:xfrm>
            <a:off x="585216" y="3200400"/>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MAERSK LINE</a:t>
            </a:r>
            <a:endParaRPr lang="en-US" sz="850" dirty="0"/>
          </a:p>
        </p:txBody>
      </p:sp>
      <p:sp>
        <p:nvSpPr>
          <p:cNvPr id="46" name="Text 44"/>
          <p:cNvSpPr/>
          <p:nvPr/>
        </p:nvSpPr>
        <p:spPr>
          <a:xfrm>
            <a:off x="2520696" y="320040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1 386 832</a:t>
            </a:r>
            <a:endParaRPr lang="en-US" sz="850" dirty="0"/>
          </a:p>
        </p:txBody>
      </p:sp>
      <p:sp>
        <p:nvSpPr>
          <p:cNvPr id="47" name="Text 45"/>
          <p:cNvSpPr/>
          <p:nvPr/>
        </p:nvSpPr>
        <p:spPr>
          <a:xfrm>
            <a:off x="4456176" y="320040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5,89 %</a:t>
            </a:r>
            <a:endParaRPr lang="en-US" sz="850" dirty="0"/>
          </a:p>
        </p:txBody>
      </p:sp>
      <p:sp>
        <p:nvSpPr>
          <p:cNvPr id="48" name="Shape 46"/>
          <p:cNvSpPr/>
          <p:nvPr/>
        </p:nvSpPr>
        <p:spPr>
          <a:xfrm>
            <a:off x="137160" y="3419856"/>
            <a:ext cx="6217920" cy="256032"/>
          </a:xfrm>
          <a:prstGeom prst="rect">
            <a:avLst/>
          </a:prstGeom>
          <a:solidFill>
            <a:srgbClr val="F8F9FA"/>
          </a:solidFill>
          <a:ln w="3810">
            <a:solidFill>
              <a:srgbClr val="E5E7EB"/>
            </a:solidFill>
            <a:prstDash val="solid"/>
          </a:ln>
        </p:spPr>
      </p:sp>
      <p:sp>
        <p:nvSpPr>
          <p:cNvPr id="49" name="Text 47"/>
          <p:cNvSpPr/>
          <p:nvPr/>
        </p:nvSpPr>
        <p:spPr>
          <a:xfrm>
            <a:off x="173736" y="345643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a:t>
            </a:r>
            <a:endParaRPr lang="en-US" sz="850" dirty="0"/>
          </a:p>
        </p:txBody>
      </p:sp>
      <p:sp>
        <p:nvSpPr>
          <p:cNvPr id="50" name="Text 48"/>
          <p:cNvSpPr/>
          <p:nvPr/>
        </p:nvSpPr>
        <p:spPr>
          <a:xfrm>
            <a:off x="585216" y="3456432"/>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ARMATEUR DIVERS ENGRAIS</a:t>
            </a:r>
            <a:endParaRPr lang="en-US" sz="850" dirty="0"/>
          </a:p>
        </p:txBody>
      </p:sp>
      <p:sp>
        <p:nvSpPr>
          <p:cNvPr id="51" name="Text 49"/>
          <p:cNvSpPr/>
          <p:nvPr/>
        </p:nvSpPr>
        <p:spPr>
          <a:xfrm>
            <a:off x="2520696" y="345643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1 043 989</a:t>
            </a:r>
            <a:endParaRPr lang="en-US" sz="850" dirty="0"/>
          </a:p>
        </p:txBody>
      </p:sp>
      <p:sp>
        <p:nvSpPr>
          <p:cNvPr id="52" name="Text 50"/>
          <p:cNvSpPr/>
          <p:nvPr/>
        </p:nvSpPr>
        <p:spPr>
          <a:xfrm>
            <a:off x="4456176" y="345643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4,43 %</a:t>
            </a:r>
            <a:endParaRPr lang="en-US" sz="850" dirty="0"/>
          </a:p>
        </p:txBody>
      </p:sp>
      <p:sp>
        <p:nvSpPr>
          <p:cNvPr id="53" name="Shape 51"/>
          <p:cNvSpPr/>
          <p:nvPr/>
        </p:nvSpPr>
        <p:spPr>
          <a:xfrm>
            <a:off x="137160" y="3675888"/>
            <a:ext cx="6217920" cy="256032"/>
          </a:xfrm>
          <a:prstGeom prst="rect">
            <a:avLst/>
          </a:prstGeom>
          <a:solidFill>
            <a:srgbClr val="FFFFFF"/>
          </a:solidFill>
          <a:ln w="3810">
            <a:solidFill>
              <a:srgbClr val="E5E7EB"/>
            </a:solidFill>
            <a:prstDash val="solid"/>
          </a:ln>
        </p:spPr>
      </p:sp>
      <p:sp>
        <p:nvSpPr>
          <p:cNvPr id="54" name="Text 52"/>
          <p:cNvSpPr/>
          <p:nvPr/>
        </p:nvSpPr>
        <p:spPr>
          <a:xfrm>
            <a:off x="173736" y="371246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a:t>
            </a:r>
            <a:endParaRPr lang="en-US" sz="850" dirty="0"/>
          </a:p>
        </p:txBody>
      </p:sp>
      <p:sp>
        <p:nvSpPr>
          <p:cNvPr id="55" name="Text 53"/>
          <p:cNvSpPr/>
          <p:nvPr/>
        </p:nvSpPr>
        <p:spPr>
          <a:xfrm>
            <a:off x="585216" y="3712464"/>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HAPAG LLOYD</a:t>
            </a:r>
            <a:endParaRPr lang="en-US" sz="850" dirty="0"/>
          </a:p>
        </p:txBody>
      </p:sp>
      <p:sp>
        <p:nvSpPr>
          <p:cNvPr id="56" name="Text 54"/>
          <p:cNvSpPr/>
          <p:nvPr/>
        </p:nvSpPr>
        <p:spPr>
          <a:xfrm>
            <a:off x="2520696" y="371246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495 099</a:t>
            </a:r>
            <a:endParaRPr lang="en-US" sz="850" dirty="0"/>
          </a:p>
        </p:txBody>
      </p:sp>
      <p:sp>
        <p:nvSpPr>
          <p:cNvPr id="57" name="Text 55"/>
          <p:cNvSpPr/>
          <p:nvPr/>
        </p:nvSpPr>
        <p:spPr>
          <a:xfrm>
            <a:off x="4456176" y="371246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2,10 %</a:t>
            </a:r>
            <a:endParaRPr lang="en-US" sz="850" dirty="0"/>
          </a:p>
        </p:txBody>
      </p:sp>
      <p:sp>
        <p:nvSpPr>
          <p:cNvPr id="58" name="Shape 56"/>
          <p:cNvSpPr/>
          <p:nvPr/>
        </p:nvSpPr>
        <p:spPr>
          <a:xfrm>
            <a:off x="137160" y="3931920"/>
            <a:ext cx="6217920" cy="256032"/>
          </a:xfrm>
          <a:prstGeom prst="rect">
            <a:avLst/>
          </a:prstGeom>
          <a:solidFill>
            <a:srgbClr val="F8F9FA"/>
          </a:solidFill>
          <a:ln w="3810">
            <a:solidFill>
              <a:srgbClr val="E5E7EB"/>
            </a:solidFill>
            <a:prstDash val="solid"/>
          </a:ln>
        </p:spPr>
      </p:sp>
      <p:sp>
        <p:nvSpPr>
          <p:cNvPr id="59" name="Text 57"/>
          <p:cNvSpPr/>
          <p:nvPr/>
        </p:nvSpPr>
        <p:spPr>
          <a:xfrm>
            <a:off x="173736" y="396849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a:t>
            </a:r>
            <a:endParaRPr lang="en-US" sz="850" dirty="0"/>
          </a:p>
        </p:txBody>
      </p:sp>
      <p:sp>
        <p:nvSpPr>
          <p:cNvPr id="60" name="Text 58"/>
          <p:cNvSpPr/>
          <p:nvPr/>
        </p:nvSpPr>
        <p:spPr>
          <a:xfrm>
            <a:off x="585216" y="3968496"/>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AFRICA EXPRESS LINE</a:t>
            </a:r>
            <a:endParaRPr lang="en-US" sz="850" dirty="0"/>
          </a:p>
        </p:txBody>
      </p:sp>
      <p:sp>
        <p:nvSpPr>
          <p:cNvPr id="61" name="Text 59"/>
          <p:cNvSpPr/>
          <p:nvPr/>
        </p:nvSpPr>
        <p:spPr>
          <a:xfrm>
            <a:off x="2520696" y="396849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373 880</a:t>
            </a:r>
            <a:endParaRPr lang="en-US" sz="850" dirty="0"/>
          </a:p>
        </p:txBody>
      </p:sp>
      <p:sp>
        <p:nvSpPr>
          <p:cNvPr id="62" name="Text 60"/>
          <p:cNvSpPr/>
          <p:nvPr/>
        </p:nvSpPr>
        <p:spPr>
          <a:xfrm>
            <a:off x="4456176" y="396849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1,59 %</a:t>
            </a:r>
            <a:endParaRPr lang="en-US" sz="850" dirty="0"/>
          </a:p>
        </p:txBody>
      </p:sp>
      <p:sp>
        <p:nvSpPr>
          <p:cNvPr id="63" name="Text 61"/>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Évolution mensuelle Top 5 armateurs (% du marché mensuel)</a:t>
            </a:r>
            <a:endParaRPr lang="en-US" sz="11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492240" y="1371600"/>
          <a:ext cx="5486400" cy="914400"/>
        </p:xfrm>
        <a:graphic>
          <a:graphicData uri="http://schemas.openxmlformats.org/drawingml/2006/table">
            <a:tbl>
              <a:tblPr/>
              <a:tblGrid>
                <a:gridCol w="1280160"/>
                <a:gridCol w="292608"/>
                <a:gridCol w="292608"/>
                <a:gridCol w="292608"/>
                <a:gridCol w="292608"/>
                <a:gridCol w="292608"/>
                <a:gridCol w="292608"/>
                <a:gridCol w="292608"/>
                <a:gridCol w="292608"/>
                <a:gridCol w="292608"/>
                <a:gridCol w="292608"/>
                <a:gridCol w="292608"/>
                <a:gridCol w="292608"/>
                <a:gridCol w="512064"/>
              </a:tblGrid>
              <a:tr h="256032">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Armateur</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Jan</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Fév</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Mar</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Avr</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Mai</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Jun</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Jul</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Aoû</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Sep</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Oct</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Nov</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Déc</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Tot</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r>
              <a:tr h="256032">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AFFRETE   CLINKER</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26%</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34%</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41%</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34%</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49%</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44%</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34%</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47%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40%</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47%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29%</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28%</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36,01 %</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r>
              <a:tr h="256032">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ARMATEUR DIVERS</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10%</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12%</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8%</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13%</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9%</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12%</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16%</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8%</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10%</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13%</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13%</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11,09 %</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r>
              <a:tr h="256032">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MSC</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13%</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10%</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11%</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10%</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9%</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14%</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11%</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10%</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14%</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10%</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14%</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16%</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10,93 %</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r>
              <a:tr h="256032">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ARMATEURS DIVERS R…</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21%</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8%</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14%</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10%</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9%</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8%</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12%</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9%</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8,73 %</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r>
              <a:tr h="256032">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CMA CGM</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6%</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9%</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5%</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11%</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6,75 %</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r>
            </a:tbl>
          </a:graphicData>
        </a:graphic>
      </p:graphicFrame>
      <p:sp>
        <p:nvSpPr>
          <p:cNvPr id="65" name="Shape 62"/>
          <p:cNvSpPr/>
          <p:nvPr/>
        </p:nvSpPr>
        <p:spPr>
          <a:xfrm>
            <a:off x="137160" y="5029200"/>
            <a:ext cx="11795760" cy="868680"/>
          </a:xfrm>
          <a:prstGeom prst="rect">
            <a:avLst/>
          </a:prstGeom>
          <a:solidFill>
            <a:srgbClr val="FFFBEC"/>
          </a:solidFill>
          <a:ln w="6350">
            <a:solidFill>
              <a:srgbClr val="E5C97A"/>
            </a:solidFill>
            <a:prstDash val="solid"/>
          </a:ln>
        </p:spPr>
      </p:sp>
      <p:sp>
        <p:nvSpPr>
          <p:cNvPr id="66" name="Text 63"/>
          <p:cNvSpPr/>
          <p:nvPr/>
        </p:nvSpPr>
        <p:spPr>
          <a:xfrm>
            <a:off x="228600" y="5102352"/>
            <a:ext cx="11612880" cy="75895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INSIGHT ARMATEURS : Affrètement clinker (36,01 %) domine le tonnage import — flux cimenteries CIM-CI / SCA / SOCOCIM via CAM PHA, PORT SAID, MINA SAQR. Hors affrètement, MSC (10,93 %) + CMA CGM (6,75 %) + Maersk = ~16% sur lignes régulières. Cible AGL : consolider commission B/L sur ces 3 majors + capter armateurs riz/blé/engrais (vraquiers spot).</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DSM – MANUTENTIONNAIRES  |  Position AGL CI</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Classement annuel tonnage manutention  |  AGL CI : #8 avec 801 440 T (3,40 % PDM)</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p.27</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Top 10 Manutentionnaires (Import 2025)</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Rang</a:t>
            </a:r>
            <a:endParaRPr lang="en-US" sz="850" dirty="0"/>
          </a:p>
        </p:txBody>
      </p:sp>
      <p:sp>
        <p:nvSpPr>
          <p:cNvPr id="10" name="Text 8"/>
          <p:cNvSpPr/>
          <p:nvPr/>
        </p:nvSpPr>
        <p:spPr>
          <a:xfrm>
            <a:off x="585216" y="1408176"/>
            <a:ext cx="188976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Manutentionnaire</a:t>
            </a:r>
            <a:endParaRPr lang="en-US" sz="850" dirty="0"/>
          </a:p>
        </p:txBody>
      </p:sp>
      <p:sp>
        <p:nvSpPr>
          <p:cNvPr id="11" name="Text 9"/>
          <p:cNvSpPr/>
          <p:nvPr/>
        </p:nvSpPr>
        <p:spPr>
          <a:xfrm>
            <a:off x="2520696" y="1408176"/>
            <a:ext cx="1889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Tonnage</a:t>
            </a:r>
            <a:endParaRPr lang="en-US" sz="850" dirty="0"/>
          </a:p>
        </p:txBody>
      </p:sp>
      <p:sp>
        <p:nvSpPr>
          <p:cNvPr id="12" name="Text 10"/>
          <p:cNvSpPr/>
          <p:nvPr/>
        </p:nvSpPr>
        <p:spPr>
          <a:xfrm>
            <a:off x="4456176" y="1408176"/>
            <a:ext cx="1889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PDM</a:t>
            </a:r>
            <a:endParaRPr lang="en-US" sz="850" dirty="0"/>
          </a:p>
        </p:txBody>
      </p:sp>
      <p:sp>
        <p:nvSpPr>
          <p:cNvPr id="13" name="Shape 11"/>
          <p:cNvSpPr/>
          <p:nvPr/>
        </p:nvSpPr>
        <p:spPr>
          <a:xfrm>
            <a:off x="137160" y="1627632"/>
            <a:ext cx="6217920" cy="256032"/>
          </a:xfrm>
          <a:prstGeom prst="rect">
            <a:avLst/>
          </a:prstGeom>
          <a:solidFill>
            <a:srgbClr val="FFFFFF"/>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a:t>
            </a:r>
            <a:endParaRPr lang="en-US" sz="850" dirty="0"/>
          </a:p>
        </p:txBody>
      </p:sp>
      <p:sp>
        <p:nvSpPr>
          <p:cNvPr id="15" name="Text 13"/>
          <p:cNvSpPr/>
          <p:nvPr/>
        </p:nvSpPr>
        <p:spPr>
          <a:xfrm>
            <a:off x="585216" y="1664208"/>
            <a:ext cx="1889760" cy="201168"/>
          </a:xfrm>
          <a:prstGeom prst="rect">
            <a:avLst/>
          </a:prstGeom>
          <a:noFill/>
          <a:ln/>
        </p:spPr>
        <p:txBody>
          <a:bodyPr wrap="none" rtlCol="0" anchor="ctr"/>
          <a:lstStyle/>
          <a:p>
            <a:pPr algn="l" indent="0" marL="0">
              <a:buNone/>
            </a:pPr>
            <a:r>
              <a:rPr lang="en-US" sz="850" dirty="0">
                <a:solidFill>
                  <a:srgbClr val="1A7C4F"/>
                </a:solidFill>
                <a:latin typeface="Calibri" pitchFamily="34" charset="0"/>
                <a:ea typeface="Calibri" pitchFamily="34" charset="-122"/>
                <a:cs typeface="Calibri" pitchFamily="34" charset="-120"/>
              </a:rPr>
              <a:t>SEA-INVEST SHIPPING AGENCY CI</a:t>
            </a:r>
            <a:endParaRPr lang="en-US" sz="850" dirty="0"/>
          </a:p>
        </p:txBody>
      </p:sp>
      <p:sp>
        <p:nvSpPr>
          <p:cNvPr id="16" name="Text 14"/>
          <p:cNvSpPr/>
          <p:nvPr/>
        </p:nvSpPr>
        <p:spPr>
          <a:xfrm>
            <a:off x="2520696" y="166420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7 842 206</a:t>
            </a:r>
            <a:endParaRPr lang="en-US" sz="850" dirty="0"/>
          </a:p>
        </p:txBody>
      </p:sp>
      <p:sp>
        <p:nvSpPr>
          <p:cNvPr id="17" name="Text 15"/>
          <p:cNvSpPr/>
          <p:nvPr/>
        </p:nvSpPr>
        <p:spPr>
          <a:xfrm>
            <a:off x="4456176" y="166420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33,29 %</a:t>
            </a:r>
            <a:endParaRPr lang="en-US" sz="85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a:t>
            </a:r>
            <a:endParaRPr lang="en-US" sz="850" dirty="0"/>
          </a:p>
        </p:txBody>
      </p:sp>
      <p:sp>
        <p:nvSpPr>
          <p:cNvPr id="20" name="Text 18"/>
          <p:cNvSpPr/>
          <p:nvPr/>
        </p:nvSpPr>
        <p:spPr>
          <a:xfrm>
            <a:off x="585216" y="1920240"/>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Cote d'Ivoire Terminal</a:t>
            </a:r>
            <a:endParaRPr lang="en-US" sz="850" dirty="0"/>
          </a:p>
        </p:txBody>
      </p:sp>
      <p:sp>
        <p:nvSpPr>
          <p:cNvPr id="21" name="Text 19"/>
          <p:cNvSpPr/>
          <p:nvPr/>
        </p:nvSpPr>
        <p:spPr>
          <a:xfrm>
            <a:off x="2520696" y="192024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4 334 309</a:t>
            </a:r>
            <a:endParaRPr lang="en-US" sz="850" dirty="0"/>
          </a:p>
        </p:txBody>
      </p:sp>
      <p:sp>
        <p:nvSpPr>
          <p:cNvPr id="22" name="Text 20"/>
          <p:cNvSpPr/>
          <p:nvPr/>
        </p:nvSpPr>
        <p:spPr>
          <a:xfrm>
            <a:off x="4456176" y="192024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18,40 %</a:t>
            </a:r>
            <a:endParaRPr lang="en-US" sz="850" dirty="0"/>
          </a:p>
        </p:txBody>
      </p:sp>
      <p:sp>
        <p:nvSpPr>
          <p:cNvPr id="23" name="Shape 21"/>
          <p:cNvSpPr/>
          <p:nvPr/>
        </p:nvSpPr>
        <p:spPr>
          <a:xfrm>
            <a:off x="137160" y="2139696"/>
            <a:ext cx="6217920" cy="256032"/>
          </a:xfrm>
          <a:prstGeom prst="rect">
            <a:avLst/>
          </a:prstGeom>
          <a:solidFill>
            <a:srgbClr val="FFFFFF"/>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a:t>
            </a:r>
            <a:endParaRPr lang="en-US" sz="850" dirty="0"/>
          </a:p>
        </p:txBody>
      </p:sp>
      <p:sp>
        <p:nvSpPr>
          <p:cNvPr id="25" name="Text 23"/>
          <p:cNvSpPr/>
          <p:nvPr/>
        </p:nvSpPr>
        <p:spPr>
          <a:xfrm>
            <a:off x="585216" y="2176272"/>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Abidjan Terminal</a:t>
            </a:r>
            <a:endParaRPr lang="en-US" sz="850" dirty="0"/>
          </a:p>
        </p:txBody>
      </p:sp>
      <p:sp>
        <p:nvSpPr>
          <p:cNvPr id="26" name="Text 24"/>
          <p:cNvSpPr/>
          <p:nvPr/>
        </p:nvSpPr>
        <p:spPr>
          <a:xfrm>
            <a:off x="2520696" y="217627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2 429 041</a:t>
            </a:r>
            <a:endParaRPr lang="en-US" sz="850" dirty="0"/>
          </a:p>
        </p:txBody>
      </p:sp>
      <p:sp>
        <p:nvSpPr>
          <p:cNvPr id="27" name="Text 25"/>
          <p:cNvSpPr/>
          <p:nvPr/>
        </p:nvSpPr>
        <p:spPr>
          <a:xfrm>
            <a:off x="4456176" y="217627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10,31 %</a:t>
            </a:r>
            <a:endParaRPr lang="en-US" sz="85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a:t>
            </a:r>
            <a:endParaRPr lang="en-US" sz="850" dirty="0"/>
          </a:p>
        </p:txBody>
      </p:sp>
      <p:sp>
        <p:nvSpPr>
          <p:cNvPr id="30" name="Text 28"/>
          <p:cNvSpPr/>
          <p:nvPr/>
        </p:nvSpPr>
        <p:spPr>
          <a:xfrm>
            <a:off x="585216" y="2432304"/>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GLOBAL MANUTENTION</a:t>
            </a:r>
            <a:endParaRPr lang="en-US" sz="850" dirty="0"/>
          </a:p>
        </p:txBody>
      </p:sp>
      <p:sp>
        <p:nvSpPr>
          <p:cNvPr id="31" name="Text 29"/>
          <p:cNvSpPr/>
          <p:nvPr/>
        </p:nvSpPr>
        <p:spPr>
          <a:xfrm>
            <a:off x="2520696" y="243230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1 448 303</a:t>
            </a:r>
            <a:endParaRPr lang="en-US" sz="850" dirty="0"/>
          </a:p>
        </p:txBody>
      </p:sp>
      <p:sp>
        <p:nvSpPr>
          <p:cNvPr id="32" name="Text 30"/>
          <p:cNvSpPr/>
          <p:nvPr/>
        </p:nvSpPr>
        <p:spPr>
          <a:xfrm>
            <a:off x="4456176" y="243230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6,15 %</a:t>
            </a:r>
            <a:endParaRPr lang="en-US" sz="85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a:t>
            </a:r>
            <a:endParaRPr lang="en-US" sz="850" dirty="0"/>
          </a:p>
        </p:txBody>
      </p:sp>
      <p:sp>
        <p:nvSpPr>
          <p:cNvPr id="35" name="Text 33"/>
          <p:cNvSpPr/>
          <p:nvPr/>
        </p:nvSpPr>
        <p:spPr>
          <a:xfrm>
            <a:off x="585216" y="2688336"/>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TERMINAL INDUSTRIEL POLYVAL.SP</a:t>
            </a:r>
            <a:endParaRPr lang="en-US" sz="850" dirty="0"/>
          </a:p>
        </p:txBody>
      </p:sp>
      <p:sp>
        <p:nvSpPr>
          <p:cNvPr id="36" name="Text 34"/>
          <p:cNvSpPr/>
          <p:nvPr/>
        </p:nvSpPr>
        <p:spPr>
          <a:xfrm>
            <a:off x="2520696" y="268833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1 385 420</a:t>
            </a:r>
            <a:endParaRPr lang="en-US" sz="850" dirty="0"/>
          </a:p>
        </p:txBody>
      </p:sp>
      <p:sp>
        <p:nvSpPr>
          <p:cNvPr id="37" name="Text 35"/>
          <p:cNvSpPr/>
          <p:nvPr/>
        </p:nvSpPr>
        <p:spPr>
          <a:xfrm>
            <a:off x="4456176" y="268833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5,88 %</a:t>
            </a:r>
            <a:endParaRPr lang="en-US" sz="850" dirty="0"/>
          </a:p>
        </p:txBody>
      </p:sp>
      <p:sp>
        <p:nvSpPr>
          <p:cNvPr id="38" name="Shape 36"/>
          <p:cNvSpPr/>
          <p:nvPr/>
        </p:nvSpPr>
        <p:spPr>
          <a:xfrm>
            <a:off x="137160" y="2907792"/>
            <a:ext cx="621792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a:t>
            </a:r>
            <a:endParaRPr lang="en-US" sz="850" dirty="0"/>
          </a:p>
        </p:txBody>
      </p:sp>
      <p:sp>
        <p:nvSpPr>
          <p:cNvPr id="40" name="Text 38"/>
          <p:cNvSpPr/>
          <p:nvPr/>
        </p:nvSpPr>
        <p:spPr>
          <a:xfrm>
            <a:off x="585216" y="2944368"/>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SOGENA</a:t>
            </a:r>
            <a:endParaRPr lang="en-US" sz="850" dirty="0"/>
          </a:p>
        </p:txBody>
      </p:sp>
      <p:sp>
        <p:nvSpPr>
          <p:cNvPr id="41" name="Text 39"/>
          <p:cNvSpPr/>
          <p:nvPr/>
        </p:nvSpPr>
        <p:spPr>
          <a:xfrm>
            <a:off x="2520696" y="294436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950 828</a:t>
            </a:r>
            <a:endParaRPr lang="en-US" sz="850" dirty="0"/>
          </a:p>
        </p:txBody>
      </p:sp>
      <p:sp>
        <p:nvSpPr>
          <p:cNvPr id="42" name="Text 40"/>
          <p:cNvSpPr/>
          <p:nvPr/>
        </p:nvSpPr>
        <p:spPr>
          <a:xfrm>
            <a:off x="4456176" y="294436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4,04 %</a:t>
            </a:r>
            <a:endParaRPr lang="en-US" sz="850" dirty="0"/>
          </a:p>
        </p:txBody>
      </p:sp>
      <p:sp>
        <p:nvSpPr>
          <p:cNvPr id="43" name="Shape 41"/>
          <p:cNvSpPr/>
          <p:nvPr/>
        </p:nvSpPr>
        <p:spPr>
          <a:xfrm>
            <a:off x="137160" y="3163824"/>
            <a:ext cx="621792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a:t>
            </a:r>
            <a:endParaRPr lang="en-US" sz="850" dirty="0"/>
          </a:p>
        </p:txBody>
      </p:sp>
      <p:sp>
        <p:nvSpPr>
          <p:cNvPr id="45" name="Text 43"/>
          <p:cNvSpPr/>
          <p:nvPr/>
        </p:nvSpPr>
        <p:spPr>
          <a:xfrm>
            <a:off x="585216" y="3200400"/>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PETROCI</a:t>
            </a:r>
            <a:endParaRPr lang="en-US" sz="850" dirty="0"/>
          </a:p>
        </p:txBody>
      </p:sp>
      <p:sp>
        <p:nvSpPr>
          <p:cNvPr id="46" name="Text 44"/>
          <p:cNvSpPr/>
          <p:nvPr/>
        </p:nvSpPr>
        <p:spPr>
          <a:xfrm>
            <a:off x="2520696" y="320040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818 059</a:t>
            </a:r>
            <a:endParaRPr lang="en-US" sz="850" dirty="0"/>
          </a:p>
        </p:txBody>
      </p:sp>
      <p:sp>
        <p:nvSpPr>
          <p:cNvPr id="47" name="Text 45"/>
          <p:cNvSpPr/>
          <p:nvPr/>
        </p:nvSpPr>
        <p:spPr>
          <a:xfrm>
            <a:off x="4456176" y="320040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3,47 %</a:t>
            </a:r>
            <a:endParaRPr lang="en-US" sz="850" dirty="0"/>
          </a:p>
        </p:txBody>
      </p:sp>
      <p:sp>
        <p:nvSpPr>
          <p:cNvPr id="48" name="Shape 46"/>
          <p:cNvSpPr/>
          <p:nvPr/>
        </p:nvSpPr>
        <p:spPr>
          <a:xfrm>
            <a:off x="137160" y="3419856"/>
            <a:ext cx="6217920" cy="256032"/>
          </a:xfrm>
          <a:prstGeom prst="rect">
            <a:avLst/>
          </a:prstGeom>
          <a:solidFill>
            <a:srgbClr val="F8F9FA"/>
          </a:solidFill>
          <a:ln w="3810">
            <a:solidFill>
              <a:srgbClr val="E5E7EB"/>
            </a:solidFill>
            <a:prstDash val="solid"/>
          </a:ln>
        </p:spPr>
      </p:sp>
      <p:sp>
        <p:nvSpPr>
          <p:cNvPr id="49" name="Text 47"/>
          <p:cNvSpPr/>
          <p:nvPr/>
        </p:nvSpPr>
        <p:spPr>
          <a:xfrm>
            <a:off x="173736" y="345643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a:t>
            </a:r>
            <a:endParaRPr lang="en-US" sz="850" dirty="0"/>
          </a:p>
        </p:txBody>
      </p:sp>
      <p:sp>
        <p:nvSpPr>
          <p:cNvPr id="50" name="Text 48"/>
          <p:cNvSpPr/>
          <p:nvPr/>
        </p:nvSpPr>
        <p:spPr>
          <a:xfrm>
            <a:off x="585216" y="3456432"/>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AGL CI</a:t>
            </a:r>
            <a:endParaRPr lang="en-US" sz="850" dirty="0"/>
          </a:p>
        </p:txBody>
      </p:sp>
      <p:sp>
        <p:nvSpPr>
          <p:cNvPr id="51" name="Text 49"/>
          <p:cNvSpPr/>
          <p:nvPr/>
        </p:nvSpPr>
        <p:spPr>
          <a:xfrm>
            <a:off x="2520696" y="345643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801 440</a:t>
            </a:r>
            <a:endParaRPr lang="en-US" sz="850" dirty="0"/>
          </a:p>
        </p:txBody>
      </p:sp>
      <p:sp>
        <p:nvSpPr>
          <p:cNvPr id="52" name="Text 50"/>
          <p:cNvSpPr/>
          <p:nvPr/>
        </p:nvSpPr>
        <p:spPr>
          <a:xfrm>
            <a:off x="4456176" y="345643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3,40 %</a:t>
            </a:r>
            <a:endParaRPr lang="en-US" sz="850" dirty="0"/>
          </a:p>
        </p:txBody>
      </p:sp>
      <p:sp>
        <p:nvSpPr>
          <p:cNvPr id="53" name="Shape 51"/>
          <p:cNvSpPr/>
          <p:nvPr/>
        </p:nvSpPr>
        <p:spPr>
          <a:xfrm>
            <a:off x="137160" y="3675888"/>
            <a:ext cx="6217920" cy="256032"/>
          </a:xfrm>
          <a:prstGeom prst="rect">
            <a:avLst/>
          </a:prstGeom>
          <a:solidFill>
            <a:srgbClr val="FFF9EC"/>
          </a:solidFill>
          <a:ln w="3810">
            <a:solidFill>
              <a:srgbClr val="E5E7EB"/>
            </a:solidFill>
            <a:prstDash val="solid"/>
          </a:ln>
        </p:spPr>
      </p:sp>
      <p:sp>
        <p:nvSpPr>
          <p:cNvPr id="54" name="Text 52"/>
          <p:cNvSpPr/>
          <p:nvPr/>
        </p:nvSpPr>
        <p:spPr>
          <a:xfrm>
            <a:off x="173736" y="3712464"/>
            <a:ext cx="365760" cy="201168"/>
          </a:xfrm>
          <a:prstGeom prst="rect">
            <a:avLst/>
          </a:prstGeom>
          <a:noFill/>
          <a:ln/>
        </p:spPr>
        <p:txBody>
          <a:bodyPr wrap="none" rtlCol="0" anchor="ctr"/>
          <a:lstStyle/>
          <a:p>
            <a:pPr algn="ctr" indent="0" marL="0">
              <a:buNone/>
            </a:pPr>
            <a:r>
              <a:rPr lang="en-US" sz="850" b="1" dirty="0">
                <a:solidFill>
                  <a:srgbClr val="374151"/>
                </a:solidFill>
                <a:latin typeface="Calibri" pitchFamily="34" charset="0"/>
                <a:ea typeface="Calibri" pitchFamily="34" charset="-122"/>
                <a:cs typeface="Calibri" pitchFamily="34" charset="-120"/>
              </a:rPr>
              <a:t>#9</a:t>
            </a:r>
            <a:endParaRPr lang="en-US" sz="850" dirty="0"/>
          </a:p>
        </p:txBody>
      </p:sp>
      <p:sp>
        <p:nvSpPr>
          <p:cNvPr id="55" name="Text 53"/>
          <p:cNvSpPr/>
          <p:nvPr/>
        </p:nvSpPr>
        <p:spPr>
          <a:xfrm>
            <a:off x="585216" y="3712464"/>
            <a:ext cx="1889760" cy="201168"/>
          </a:xfrm>
          <a:prstGeom prst="rect">
            <a:avLst/>
          </a:prstGeom>
          <a:noFill/>
          <a:ln/>
        </p:spPr>
        <p:txBody>
          <a:bodyPr wrap="none" rtlCol="0" anchor="ctr"/>
          <a:lstStyle/>
          <a:p>
            <a:pPr algn="l" indent="0" marL="0">
              <a:buNone/>
            </a:pPr>
            <a:r>
              <a:rPr lang="en-US" sz="850" b="1" dirty="0">
                <a:solidFill>
                  <a:srgbClr val="374151"/>
                </a:solidFill>
                <a:latin typeface="Calibri" pitchFamily="34" charset="0"/>
                <a:ea typeface="Calibri" pitchFamily="34" charset="-122"/>
                <a:cs typeface="Calibri" pitchFamily="34" charset="-120"/>
              </a:rPr>
              <a:t>TERRA</a:t>
            </a:r>
            <a:endParaRPr lang="en-US" sz="850" dirty="0"/>
          </a:p>
        </p:txBody>
      </p:sp>
      <p:sp>
        <p:nvSpPr>
          <p:cNvPr id="56" name="Text 54"/>
          <p:cNvSpPr/>
          <p:nvPr/>
        </p:nvSpPr>
        <p:spPr>
          <a:xfrm>
            <a:off x="2520696" y="371246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532 188</a:t>
            </a:r>
            <a:endParaRPr lang="en-US" sz="850" dirty="0"/>
          </a:p>
        </p:txBody>
      </p:sp>
      <p:sp>
        <p:nvSpPr>
          <p:cNvPr id="57" name="Text 55"/>
          <p:cNvSpPr/>
          <p:nvPr/>
        </p:nvSpPr>
        <p:spPr>
          <a:xfrm>
            <a:off x="4456176" y="3712464"/>
            <a:ext cx="188976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2,26 %</a:t>
            </a:r>
            <a:endParaRPr lang="en-US" sz="850" dirty="0"/>
          </a:p>
        </p:txBody>
      </p:sp>
      <p:sp>
        <p:nvSpPr>
          <p:cNvPr id="58" name="Shape 56"/>
          <p:cNvSpPr/>
          <p:nvPr/>
        </p:nvSpPr>
        <p:spPr>
          <a:xfrm>
            <a:off x="137160" y="3931920"/>
            <a:ext cx="6217920" cy="256032"/>
          </a:xfrm>
          <a:prstGeom prst="rect">
            <a:avLst/>
          </a:prstGeom>
          <a:solidFill>
            <a:srgbClr val="F8F9FA"/>
          </a:solidFill>
          <a:ln w="3810">
            <a:solidFill>
              <a:srgbClr val="E5E7EB"/>
            </a:solidFill>
            <a:prstDash val="solid"/>
          </a:ln>
        </p:spPr>
      </p:sp>
      <p:sp>
        <p:nvSpPr>
          <p:cNvPr id="59" name="Text 57"/>
          <p:cNvSpPr/>
          <p:nvPr/>
        </p:nvSpPr>
        <p:spPr>
          <a:xfrm>
            <a:off x="173736" y="396849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a:t>
            </a:r>
            <a:endParaRPr lang="en-US" sz="850" dirty="0"/>
          </a:p>
        </p:txBody>
      </p:sp>
      <p:sp>
        <p:nvSpPr>
          <p:cNvPr id="60" name="Text 58"/>
          <p:cNvSpPr/>
          <p:nvPr/>
        </p:nvSpPr>
        <p:spPr>
          <a:xfrm>
            <a:off x="585216" y="3968496"/>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GMT SHIPPING COTE D'IVOIRE SA</a:t>
            </a:r>
            <a:endParaRPr lang="en-US" sz="850" dirty="0"/>
          </a:p>
        </p:txBody>
      </p:sp>
      <p:sp>
        <p:nvSpPr>
          <p:cNvPr id="61" name="Text 59"/>
          <p:cNvSpPr/>
          <p:nvPr/>
        </p:nvSpPr>
        <p:spPr>
          <a:xfrm>
            <a:off x="2520696" y="396849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515 138</a:t>
            </a:r>
            <a:endParaRPr lang="en-US" sz="850" dirty="0"/>
          </a:p>
        </p:txBody>
      </p:sp>
      <p:sp>
        <p:nvSpPr>
          <p:cNvPr id="62" name="Text 60"/>
          <p:cNvSpPr/>
          <p:nvPr/>
        </p:nvSpPr>
        <p:spPr>
          <a:xfrm>
            <a:off x="4456176" y="396849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2,19 %</a:t>
            </a:r>
            <a:endParaRPr lang="en-US" sz="850" dirty="0"/>
          </a:p>
        </p:txBody>
      </p:sp>
      <p:sp>
        <p:nvSpPr>
          <p:cNvPr id="63" name="Text 61"/>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AGL CI – tonnage mensuel manutention 2025</a:t>
            </a:r>
            <a:endParaRPr lang="en-US" sz="1100" dirty="0"/>
          </a:p>
        </p:txBody>
      </p:sp>
      <p:sp>
        <p:nvSpPr>
          <p:cNvPr id="64" name="Shape 62"/>
          <p:cNvSpPr/>
          <p:nvPr/>
        </p:nvSpPr>
        <p:spPr>
          <a:xfrm>
            <a:off x="6629400" y="3539177"/>
            <a:ext cx="388620" cy="209863"/>
          </a:xfrm>
          <a:prstGeom prst="rect">
            <a:avLst/>
          </a:prstGeom>
          <a:solidFill>
            <a:srgbClr val="0D2243"/>
          </a:solidFill>
          <a:ln/>
        </p:spPr>
      </p:sp>
      <p:sp>
        <p:nvSpPr>
          <p:cNvPr id="65" name="Text 63"/>
          <p:cNvSpPr/>
          <p:nvPr/>
        </p:nvSpPr>
        <p:spPr>
          <a:xfrm>
            <a:off x="662940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Jan</a:t>
            </a:r>
            <a:endParaRPr lang="en-US" sz="700" dirty="0"/>
          </a:p>
        </p:txBody>
      </p:sp>
      <p:sp>
        <p:nvSpPr>
          <p:cNvPr id="66" name="Text 64"/>
          <p:cNvSpPr/>
          <p:nvPr/>
        </p:nvSpPr>
        <p:spPr>
          <a:xfrm>
            <a:off x="6537960" y="3310577"/>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16k</a:t>
            </a:r>
            <a:endParaRPr lang="en-US" sz="600" dirty="0"/>
          </a:p>
        </p:txBody>
      </p:sp>
      <p:sp>
        <p:nvSpPr>
          <p:cNvPr id="67" name="Shape 65"/>
          <p:cNvSpPr/>
          <p:nvPr/>
        </p:nvSpPr>
        <p:spPr>
          <a:xfrm>
            <a:off x="7063740" y="2944681"/>
            <a:ext cx="388620" cy="804359"/>
          </a:xfrm>
          <a:prstGeom prst="rect">
            <a:avLst/>
          </a:prstGeom>
          <a:solidFill>
            <a:srgbClr val="0D2243"/>
          </a:solidFill>
          <a:ln/>
        </p:spPr>
      </p:sp>
      <p:sp>
        <p:nvSpPr>
          <p:cNvPr id="68" name="Text 66"/>
          <p:cNvSpPr/>
          <p:nvPr/>
        </p:nvSpPr>
        <p:spPr>
          <a:xfrm>
            <a:off x="706374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Fév</a:t>
            </a:r>
            <a:endParaRPr lang="en-US" sz="700" dirty="0"/>
          </a:p>
        </p:txBody>
      </p:sp>
      <p:sp>
        <p:nvSpPr>
          <p:cNvPr id="69" name="Text 67"/>
          <p:cNvSpPr/>
          <p:nvPr/>
        </p:nvSpPr>
        <p:spPr>
          <a:xfrm>
            <a:off x="6972300" y="2716081"/>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61k</a:t>
            </a:r>
            <a:endParaRPr lang="en-US" sz="600" dirty="0"/>
          </a:p>
        </p:txBody>
      </p:sp>
      <p:sp>
        <p:nvSpPr>
          <p:cNvPr id="70" name="Shape 68"/>
          <p:cNvSpPr/>
          <p:nvPr/>
        </p:nvSpPr>
        <p:spPr>
          <a:xfrm>
            <a:off x="7498080" y="3048076"/>
            <a:ext cx="388620" cy="700964"/>
          </a:xfrm>
          <a:prstGeom prst="rect">
            <a:avLst/>
          </a:prstGeom>
          <a:solidFill>
            <a:srgbClr val="0D2243"/>
          </a:solidFill>
          <a:ln/>
        </p:spPr>
      </p:sp>
      <p:sp>
        <p:nvSpPr>
          <p:cNvPr id="71" name="Text 69"/>
          <p:cNvSpPr/>
          <p:nvPr/>
        </p:nvSpPr>
        <p:spPr>
          <a:xfrm>
            <a:off x="749808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Mar</a:t>
            </a:r>
            <a:endParaRPr lang="en-US" sz="700" dirty="0"/>
          </a:p>
        </p:txBody>
      </p:sp>
      <p:sp>
        <p:nvSpPr>
          <p:cNvPr id="72" name="Text 70"/>
          <p:cNvSpPr/>
          <p:nvPr/>
        </p:nvSpPr>
        <p:spPr>
          <a:xfrm>
            <a:off x="7406640" y="2819476"/>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53k</a:t>
            </a:r>
            <a:endParaRPr lang="en-US" sz="600" dirty="0"/>
          </a:p>
        </p:txBody>
      </p:sp>
      <p:sp>
        <p:nvSpPr>
          <p:cNvPr id="73" name="Shape 71"/>
          <p:cNvSpPr/>
          <p:nvPr/>
        </p:nvSpPr>
        <p:spPr>
          <a:xfrm>
            <a:off x="7932420" y="3244494"/>
            <a:ext cx="388620" cy="504546"/>
          </a:xfrm>
          <a:prstGeom prst="rect">
            <a:avLst/>
          </a:prstGeom>
          <a:solidFill>
            <a:srgbClr val="0D2243"/>
          </a:solidFill>
          <a:ln/>
        </p:spPr>
      </p:sp>
      <p:sp>
        <p:nvSpPr>
          <p:cNvPr id="74" name="Text 72"/>
          <p:cNvSpPr/>
          <p:nvPr/>
        </p:nvSpPr>
        <p:spPr>
          <a:xfrm>
            <a:off x="793242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Avr</a:t>
            </a:r>
            <a:endParaRPr lang="en-US" sz="700" dirty="0"/>
          </a:p>
        </p:txBody>
      </p:sp>
      <p:sp>
        <p:nvSpPr>
          <p:cNvPr id="75" name="Text 73"/>
          <p:cNvSpPr/>
          <p:nvPr/>
        </p:nvSpPr>
        <p:spPr>
          <a:xfrm>
            <a:off x="7840980" y="3015894"/>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38k</a:t>
            </a:r>
            <a:endParaRPr lang="en-US" sz="600" dirty="0"/>
          </a:p>
        </p:txBody>
      </p:sp>
      <p:sp>
        <p:nvSpPr>
          <p:cNvPr id="76" name="Shape 74"/>
          <p:cNvSpPr/>
          <p:nvPr/>
        </p:nvSpPr>
        <p:spPr>
          <a:xfrm>
            <a:off x="8366760" y="1554480"/>
            <a:ext cx="388620" cy="2194560"/>
          </a:xfrm>
          <a:prstGeom prst="rect">
            <a:avLst/>
          </a:prstGeom>
          <a:solidFill>
            <a:srgbClr val="0D2243"/>
          </a:solidFill>
          <a:ln/>
        </p:spPr>
      </p:sp>
      <p:sp>
        <p:nvSpPr>
          <p:cNvPr id="77" name="Text 75"/>
          <p:cNvSpPr/>
          <p:nvPr/>
        </p:nvSpPr>
        <p:spPr>
          <a:xfrm>
            <a:off x="836676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Mai</a:t>
            </a:r>
            <a:endParaRPr lang="en-US" sz="700" dirty="0"/>
          </a:p>
        </p:txBody>
      </p:sp>
      <p:sp>
        <p:nvSpPr>
          <p:cNvPr id="78" name="Text 76"/>
          <p:cNvSpPr/>
          <p:nvPr/>
        </p:nvSpPr>
        <p:spPr>
          <a:xfrm>
            <a:off x="8275320" y="1325880"/>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166k</a:t>
            </a:r>
            <a:endParaRPr lang="en-US" sz="600" dirty="0"/>
          </a:p>
        </p:txBody>
      </p:sp>
      <p:sp>
        <p:nvSpPr>
          <p:cNvPr id="79" name="Shape 77"/>
          <p:cNvSpPr/>
          <p:nvPr/>
        </p:nvSpPr>
        <p:spPr>
          <a:xfrm>
            <a:off x="8801100" y="3114677"/>
            <a:ext cx="388620" cy="634363"/>
          </a:xfrm>
          <a:prstGeom prst="rect">
            <a:avLst/>
          </a:prstGeom>
          <a:solidFill>
            <a:srgbClr val="0D2243"/>
          </a:solidFill>
          <a:ln/>
        </p:spPr>
      </p:sp>
      <p:sp>
        <p:nvSpPr>
          <p:cNvPr id="80" name="Text 78"/>
          <p:cNvSpPr/>
          <p:nvPr/>
        </p:nvSpPr>
        <p:spPr>
          <a:xfrm>
            <a:off x="880110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Jun</a:t>
            </a:r>
            <a:endParaRPr lang="en-US" sz="700" dirty="0"/>
          </a:p>
        </p:txBody>
      </p:sp>
      <p:sp>
        <p:nvSpPr>
          <p:cNvPr id="81" name="Text 79"/>
          <p:cNvSpPr/>
          <p:nvPr/>
        </p:nvSpPr>
        <p:spPr>
          <a:xfrm>
            <a:off x="8709660" y="2886077"/>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48k</a:t>
            </a:r>
            <a:endParaRPr lang="en-US" sz="600" dirty="0"/>
          </a:p>
        </p:txBody>
      </p:sp>
      <p:sp>
        <p:nvSpPr>
          <p:cNvPr id="82" name="Shape 80"/>
          <p:cNvSpPr/>
          <p:nvPr/>
        </p:nvSpPr>
        <p:spPr>
          <a:xfrm>
            <a:off x="9235440" y="2439627"/>
            <a:ext cx="388620" cy="1309413"/>
          </a:xfrm>
          <a:prstGeom prst="rect">
            <a:avLst/>
          </a:prstGeom>
          <a:solidFill>
            <a:srgbClr val="0D2243"/>
          </a:solidFill>
          <a:ln/>
        </p:spPr>
      </p:sp>
      <p:sp>
        <p:nvSpPr>
          <p:cNvPr id="83" name="Text 81"/>
          <p:cNvSpPr/>
          <p:nvPr/>
        </p:nvSpPr>
        <p:spPr>
          <a:xfrm>
            <a:off x="923544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Jul</a:t>
            </a:r>
            <a:endParaRPr lang="en-US" sz="700" dirty="0"/>
          </a:p>
        </p:txBody>
      </p:sp>
      <p:sp>
        <p:nvSpPr>
          <p:cNvPr id="84" name="Text 82"/>
          <p:cNvSpPr/>
          <p:nvPr/>
        </p:nvSpPr>
        <p:spPr>
          <a:xfrm>
            <a:off x="9144000" y="2211027"/>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99k</a:t>
            </a:r>
            <a:endParaRPr lang="en-US" sz="600" dirty="0"/>
          </a:p>
        </p:txBody>
      </p:sp>
      <p:sp>
        <p:nvSpPr>
          <p:cNvPr id="85" name="Shape 83"/>
          <p:cNvSpPr/>
          <p:nvPr/>
        </p:nvSpPr>
        <p:spPr>
          <a:xfrm>
            <a:off x="9669780" y="3179706"/>
            <a:ext cx="388620" cy="569334"/>
          </a:xfrm>
          <a:prstGeom prst="rect">
            <a:avLst/>
          </a:prstGeom>
          <a:solidFill>
            <a:srgbClr val="0D2243"/>
          </a:solidFill>
          <a:ln/>
        </p:spPr>
      </p:sp>
      <p:sp>
        <p:nvSpPr>
          <p:cNvPr id="86" name="Text 84"/>
          <p:cNvSpPr/>
          <p:nvPr/>
        </p:nvSpPr>
        <p:spPr>
          <a:xfrm>
            <a:off x="966978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Aoû</a:t>
            </a:r>
            <a:endParaRPr lang="en-US" sz="700" dirty="0"/>
          </a:p>
        </p:txBody>
      </p:sp>
      <p:sp>
        <p:nvSpPr>
          <p:cNvPr id="87" name="Text 85"/>
          <p:cNvSpPr/>
          <p:nvPr/>
        </p:nvSpPr>
        <p:spPr>
          <a:xfrm>
            <a:off x="9578340" y="2951106"/>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43k</a:t>
            </a:r>
            <a:endParaRPr lang="en-US" sz="600" dirty="0"/>
          </a:p>
        </p:txBody>
      </p:sp>
      <p:sp>
        <p:nvSpPr>
          <p:cNvPr id="88" name="Shape 86"/>
          <p:cNvSpPr/>
          <p:nvPr/>
        </p:nvSpPr>
        <p:spPr>
          <a:xfrm>
            <a:off x="10104120" y="2682670"/>
            <a:ext cx="388620" cy="1066370"/>
          </a:xfrm>
          <a:prstGeom prst="rect">
            <a:avLst/>
          </a:prstGeom>
          <a:solidFill>
            <a:srgbClr val="0D2243"/>
          </a:solidFill>
          <a:ln/>
        </p:spPr>
      </p:sp>
      <p:sp>
        <p:nvSpPr>
          <p:cNvPr id="89" name="Text 87"/>
          <p:cNvSpPr/>
          <p:nvPr/>
        </p:nvSpPr>
        <p:spPr>
          <a:xfrm>
            <a:off x="1010412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Sep</a:t>
            </a:r>
            <a:endParaRPr lang="en-US" sz="700" dirty="0"/>
          </a:p>
        </p:txBody>
      </p:sp>
      <p:sp>
        <p:nvSpPr>
          <p:cNvPr id="90" name="Text 88"/>
          <p:cNvSpPr/>
          <p:nvPr/>
        </p:nvSpPr>
        <p:spPr>
          <a:xfrm>
            <a:off x="10012680" y="2454070"/>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81k</a:t>
            </a:r>
            <a:endParaRPr lang="en-US" sz="600" dirty="0"/>
          </a:p>
        </p:txBody>
      </p:sp>
      <p:sp>
        <p:nvSpPr>
          <p:cNvPr id="91" name="Shape 89"/>
          <p:cNvSpPr/>
          <p:nvPr/>
        </p:nvSpPr>
        <p:spPr>
          <a:xfrm>
            <a:off x="10538460" y="2964773"/>
            <a:ext cx="388620" cy="784267"/>
          </a:xfrm>
          <a:prstGeom prst="rect">
            <a:avLst/>
          </a:prstGeom>
          <a:solidFill>
            <a:srgbClr val="0D2243"/>
          </a:solidFill>
          <a:ln/>
        </p:spPr>
      </p:sp>
      <p:sp>
        <p:nvSpPr>
          <p:cNvPr id="92" name="Text 90"/>
          <p:cNvSpPr/>
          <p:nvPr/>
        </p:nvSpPr>
        <p:spPr>
          <a:xfrm>
            <a:off x="1053846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Oct</a:t>
            </a:r>
            <a:endParaRPr lang="en-US" sz="700" dirty="0"/>
          </a:p>
        </p:txBody>
      </p:sp>
      <p:sp>
        <p:nvSpPr>
          <p:cNvPr id="93" name="Text 91"/>
          <p:cNvSpPr/>
          <p:nvPr/>
        </p:nvSpPr>
        <p:spPr>
          <a:xfrm>
            <a:off x="10447020" y="2736173"/>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59k</a:t>
            </a:r>
            <a:endParaRPr lang="en-US" sz="600" dirty="0"/>
          </a:p>
        </p:txBody>
      </p:sp>
      <p:sp>
        <p:nvSpPr>
          <p:cNvPr id="94" name="Shape 92"/>
          <p:cNvSpPr/>
          <p:nvPr/>
        </p:nvSpPr>
        <p:spPr>
          <a:xfrm>
            <a:off x="10972800" y="2289784"/>
            <a:ext cx="388620" cy="1459256"/>
          </a:xfrm>
          <a:prstGeom prst="rect">
            <a:avLst/>
          </a:prstGeom>
          <a:solidFill>
            <a:srgbClr val="0D2243"/>
          </a:solidFill>
          <a:ln/>
        </p:spPr>
      </p:sp>
      <p:sp>
        <p:nvSpPr>
          <p:cNvPr id="95" name="Text 93"/>
          <p:cNvSpPr/>
          <p:nvPr/>
        </p:nvSpPr>
        <p:spPr>
          <a:xfrm>
            <a:off x="1097280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Nov</a:t>
            </a:r>
            <a:endParaRPr lang="en-US" sz="700" dirty="0"/>
          </a:p>
        </p:txBody>
      </p:sp>
      <p:sp>
        <p:nvSpPr>
          <p:cNvPr id="96" name="Text 94"/>
          <p:cNvSpPr/>
          <p:nvPr/>
        </p:nvSpPr>
        <p:spPr>
          <a:xfrm>
            <a:off x="10881360" y="2061184"/>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110k</a:t>
            </a:r>
            <a:endParaRPr lang="en-US" sz="600" dirty="0"/>
          </a:p>
        </p:txBody>
      </p:sp>
      <p:sp>
        <p:nvSpPr>
          <p:cNvPr id="97" name="Shape 95"/>
          <p:cNvSpPr/>
          <p:nvPr/>
        </p:nvSpPr>
        <p:spPr>
          <a:xfrm>
            <a:off x="11407140" y="3370210"/>
            <a:ext cx="388620" cy="378830"/>
          </a:xfrm>
          <a:prstGeom prst="rect">
            <a:avLst/>
          </a:prstGeom>
          <a:solidFill>
            <a:srgbClr val="0D2243"/>
          </a:solidFill>
          <a:ln/>
        </p:spPr>
      </p:sp>
      <p:sp>
        <p:nvSpPr>
          <p:cNvPr id="98" name="Text 96"/>
          <p:cNvSpPr/>
          <p:nvPr/>
        </p:nvSpPr>
        <p:spPr>
          <a:xfrm>
            <a:off x="1140714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Déc</a:t>
            </a:r>
            <a:endParaRPr lang="en-US" sz="700" dirty="0"/>
          </a:p>
        </p:txBody>
      </p:sp>
      <p:sp>
        <p:nvSpPr>
          <p:cNvPr id="99" name="Text 97"/>
          <p:cNvSpPr/>
          <p:nvPr/>
        </p:nvSpPr>
        <p:spPr>
          <a:xfrm>
            <a:off x="11315700" y="3141610"/>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29k</a:t>
            </a:r>
            <a:endParaRPr lang="en-US" sz="600" dirty="0"/>
          </a:p>
        </p:txBody>
      </p:sp>
      <p:sp>
        <p:nvSpPr>
          <p:cNvPr id="100" name="Shape 98"/>
          <p:cNvSpPr/>
          <p:nvPr/>
        </p:nvSpPr>
        <p:spPr>
          <a:xfrm>
            <a:off x="137160" y="5029200"/>
            <a:ext cx="11795760" cy="868680"/>
          </a:xfrm>
          <a:prstGeom prst="rect">
            <a:avLst/>
          </a:prstGeom>
          <a:solidFill>
            <a:srgbClr val="FFFBEC"/>
          </a:solidFill>
          <a:ln w="6350">
            <a:solidFill>
              <a:srgbClr val="E5C97A"/>
            </a:solidFill>
            <a:prstDash val="solid"/>
          </a:ln>
        </p:spPr>
      </p:sp>
      <p:sp>
        <p:nvSpPr>
          <p:cNvPr id="101" name="Text 99"/>
          <p:cNvSpPr/>
          <p:nvPr/>
        </p:nvSpPr>
        <p:spPr>
          <a:xfrm>
            <a:off x="228600" y="5102352"/>
            <a:ext cx="11612880" cy="75895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STRATÉGIE MANUTENTION : AGL CI #8 sur 10 (3,40 %) — écart important avec leader Sea-Invest (33,29 %) et Côte d'Ivoire Terminal (18,40 %). Levier 2026 : capter manutention vraquiers clinker (CAM PHA → cimenteries) + consolider Global Manutention en partenariat technique. Objectif 6% PDM à 18 mois.</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DSM – CONSIGNATAIRES &amp; PORTS DE CHARGEMENT</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AGL CI #2 consignataire (13,73 % PDM, 3 235 436 T)  |  Top 10 POL Import 2025</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p.27b</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Top 10 Consignataires (Import 2025)</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Rang</a:t>
            </a:r>
            <a:endParaRPr lang="en-US" sz="850" dirty="0"/>
          </a:p>
        </p:txBody>
      </p:sp>
      <p:sp>
        <p:nvSpPr>
          <p:cNvPr id="10" name="Text 8"/>
          <p:cNvSpPr/>
          <p:nvPr/>
        </p:nvSpPr>
        <p:spPr>
          <a:xfrm>
            <a:off x="585216" y="1408176"/>
            <a:ext cx="188976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Consignataire</a:t>
            </a:r>
            <a:endParaRPr lang="en-US" sz="850" dirty="0"/>
          </a:p>
        </p:txBody>
      </p:sp>
      <p:sp>
        <p:nvSpPr>
          <p:cNvPr id="11" name="Text 9"/>
          <p:cNvSpPr/>
          <p:nvPr/>
        </p:nvSpPr>
        <p:spPr>
          <a:xfrm>
            <a:off x="2520696" y="1408176"/>
            <a:ext cx="1889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Tonnage</a:t>
            </a:r>
            <a:endParaRPr lang="en-US" sz="850" dirty="0"/>
          </a:p>
        </p:txBody>
      </p:sp>
      <p:sp>
        <p:nvSpPr>
          <p:cNvPr id="12" name="Text 10"/>
          <p:cNvSpPr/>
          <p:nvPr/>
        </p:nvSpPr>
        <p:spPr>
          <a:xfrm>
            <a:off x="4456176" y="1408176"/>
            <a:ext cx="1889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PDM</a:t>
            </a:r>
            <a:endParaRPr lang="en-US" sz="850" dirty="0"/>
          </a:p>
        </p:txBody>
      </p:sp>
      <p:sp>
        <p:nvSpPr>
          <p:cNvPr id="13" name="Shape 11"/>
          <p:cNvSpPr/>
          <p:nvPr/>
        </p:nvSpPr>
        <p:spPr>
          <a:xfrm>
            <a:off x="137160" y="1627632"/>
            <a:ext cx="6217920" cy="256032"/>
          </a:xfrm>
          <a:prstGeom prst="rect">
            <a:avLst/>
          </a:prstGeom>
          <a:solidFill>
            <a:srgbClr val="FFFFFF"/>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a:t>
            </a:r>
            <a:endParaRPr lang="en-US" sz="850" dirty="0"/>
          </a:p>
        </p:txBody>
      </p:sp>
      <p:sp>
        <p:nvSpPr>
          <p:cNvPr id="15" name="Text 13"/>
          <p:cNvSpPr/>
          <p:nvPr/>
        </p:nvSpPr>
        <p:spPr>
          <a:xfrm>
            <a:off x="585216" y="1664208"/>
            <a:ext cx="1889760" cy="201168"/>
          </a:xfrm>
          <a:prstGeom prst="rect">
            <a:avLst/>
          </a:prstGeom>
          <a:noFill/>
          <a:ln/>
        </p:spPr>
        <p:txBody>
          <a:bodyPr wrap="none" rtlCol="0" anchor="ctr"/>
          <a:lstStyle/>
          <a:p>
            <a:pPr algn="l" indent="0" marL="0">
              <a:buNone/>
            </a:pPr>
            <a:r>
              <a:rPr lang="en-US" sz="850" dirty="0">
                <a:solidFill>
                  <a:srgbClr val="1A7C4F"/>
                </a:solidFill>
                <a:latin typeface="Calibri" pitchFamily="34" charset="0"/>
                <a:ea typeface="Calibri" pitchFamily="34" charset="-122"/>
                <a:cs typeface="Calibri" pitchFamily="34" charset="-120"/>
              </a:rPr>
              <a:t>SEA-INVEST SHIPPING AGENCY</a:t>
            </a:r>
            <a:endParaRPr lang="en-US" sz="850" dirty="0"/>
          </a:p>
        </p:txBody>
      </p:sp>
      <p:sp>
        <p:nvSpPr>
          <p:cNvPr id="16" name="Text 14"/>
          <p:cNvSpPr/>
          <p:nvPr/>
        </p:nvSpPr>
        <p:spPr>
          <a:xfrm>
            <a:off x="2520696" y="166420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4 674 668</a:t>
            </a:r>
            <a:endParaRPr lang="en-US" sz="850" dirty="0"/>
          </a:p>
        </p:txBody>
      </p:sp>
      <p:sp>
        <p:nvSpPr>
          <p:cNvPr id="17" name="Text 15"/>
          <p:cNvSpPr/>
          <p:nvPr/>
        </p:nvSpPr>
        <p:spPr>
          <a:xfrm>
            <a:off x="4456176" y="166420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19,84 %</a:t>
            </a:r>
            <a:endParaRPr lang="en-US" sz="85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a:t>
            </a:r>
            <a:endParaRPr lang="en-US" sz="850" dirty="0"/>
          </a:p>
        </p:txBody>
      </p:sp>
      <p:sp>
        <p:nvSpPr>
          <p:cNvPr id="20" name="Text 18"/>
          <p:cNvSpPr/>
          <p:nvPr/>
        </p:nvSpPr>
        <p:spPr>
          <a:xfrm>
            <a:off x="585216" y="1920240"/>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AGL CI</a:t>
            </a:r>
            <a:endParaRPr lang="en-US" sz="850" dirty="0"/>
          </a:p>
        </p:txBody>
      </p:sp>
      <p:sp>
        <p:nvSpPr>
          <p:cNvPr id="21" name="Text 19"/>
          <p:cNvSpPr/>
          <p:nvPr/>
        </p:nvSpPr>
        <p:spPr>
          <a:xfrm>
            <a:off x="2520696" y="192024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3 235 436</a:t>
            </a:r>
            <a:endParaRPr lang="en-US" sz="850" dirty="0"/>
          </a:p>
        </p:txBody>
      </p:sp>
      <p:sp>
        <p:nvSpPr>
          <p:cNvPr id="22" name="Text 20"/>
          <p:cNvSpPr/>
          <p:nvPr/>
        </p:nvSpPr>
        <p:spPr>
          <a:xfrm>
            <a:off x="4456176" y="192024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13,73 %</a:t>
            </a:r>
            <a:endParaRPr lang="en-US" sz="850" dirty="0"/>
          </a:p>
        </p:txBody>
      </p:sp>
      <p:sp>
        <p:nvSpPr>
          <p:cNvPr id="23" name="Shape 21"/>
          <p:cNvSpPr/>
          <p:nvPr/>
        </p:nvSpPr>
        <p:spPr>
          <a:xfrm>
            <a:off x="137160" y="2139696"/>
            <a:ext cx="6217920" cy="256032"/>
          </a:xfrm>
          <a:prstGeom prst="rect">
            <a:avLst/>
          </a:prstGeom>
          <a:solidFill>
            <a:srgbClr val="FFF9EC"/>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none" rtlCol="0" anchor="ctr"/>
          <a:lstStyle/>
          <a:p>
            <a:pPr algn="ctr" indent="0" marL="0">
              <a:buNone/>
            </a:pPr>
            <a:r>
              <a:rPr lang="en-US" sz="850" b="1" dirty="0">
                <a:solidFill>
                  <a:srgbClr val="374151"/>
                </a:solidFill>
                <a:latin typeface="Calibri" pitchFamily="34" charset="0"/>
                <a:ea typeface="Calibri" pitchFamily="34" charset="-122"/>
                <a:cs typeface="Calibri" pitchFamily="34" charset="-120"/>
              </a:rPr>
              <a:t>#3</a:t>
            </a:r>
            <a:endParaRPr lang="en-US" sz="850" dirty="0"/>
          </a:p>
        </p:txBody>
      </p:sp>
      <p:sp>
        <p:nvSpPr>
          <p:cNvPr id="25" name="Text 23"/>
          <p:cNvSpPr/>
          <p:nvPr/>
        </p:nvSpPr>
        <p:spPr>
          <a:xfrm>
            <a:off x="585216" y="2176272"/>
            <a:ext cx="1889760" cy="201168"/>
          </a:xfrm>
          <a:prstGeom prst="rect">
            <a:avLst/>
          </a:prstGeom>
          <a:noFill/>
          <a:ln/>
        </p:spPr>
        <p:txBody>
          <a:bodyPr wrap="none" rtlCol="0" anchor="ctr"/>
          <a:lstStyle/>
          <a:p>
            <a:pPr algn="l" indent="0" marL="0">
              <a:buNone/>
            </a:pPr>
            <a:r>
              <a:rPr lang="en-US" sz="850" b="1" dirty="0">
                <a:solidFill>
                  <a:srgbClr val="374151"/>
                </a:solidFill>
                <a:latin typeface="Calibri" pitchFamily="34" charset="0"/>
                <a:ea typeface="Calibri" pitchFamily="34" charset="-122"/>
                <a:cs typeface="Calibri" pitchFamily="34" charset="-120"/>
              </a:rPr>
              <a:t>MSC</a:t>
            </a:r>
            <a:endParaRPr lang="en-US" sz="850" dirty="0"/>
          </a:p>
        </p:txBody>
      </p:sp>
      <p:sp>
        <p:nvSpPr>
          <p:cNvPr id="26" name="Text 24"/>
          <p:cNvSpPr/>
          <p:nvPr/>
        </p:nvSpPr>
        <p:spPr>
          <a:xfrm>
            <a:off x="2520696" y="217627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2 566 802</a:t>
            </a:r>
            <a:endParaRPr lang="en-US" sz="850" dirty="0"/>
          </a:p>
        </p:txBody>
      </p:sp>
      <p:sp>
        <p:nvSpPr>
          <p:cNvPr id="27" name="Text 25"/>
          <p:cNvSpPr/>
          <p:nvPr/>
        </p:nvSpPr>
        <p:spPr>
          <a:xfrm>
            <a:off x="4456176" y="2176272"/>
            <a:ext cx="188976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10,90 %</a:t>
            </a:r>
            <a:endParaRPr lang="en-US" sz="85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a:t>
            </a:r>
            <a:endParaRPr lang="en-US" sz="850" dirty="0"/>
          </a:p>
        </p:txBody>
      </p:sp>
      <p:sp>
        <p:nvSpPr>
          <p:cNvPr id="30" name="Text 28"/>
          <p:cNvSpPr/>
          <p:nvPr/>
        </p:nvSpPr>
        <p:spPr>
          <a:xfrm>
            <a:off x="585216" y="2432304"/>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SEA-INVEST SHIPPING AGENCY SPY</a:t>
            </a:r>
            <a:endParaRPr lang="en-US" sz="850" dirty="0"/>
          </a:p>
        </p:txBody>
      </p:sp>
      <p:sp>
        <p:nvSpPr>
          <p:cNvPr id="31" name="Text 29"/>
          <p:cNvSpPr/>
          <p:nvPr/>
        </p:nvSpPr>
        <p:spPr>
          <a:xfrm>
            <a:off x="2520696" y="243230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1 767 250</a:t>
            </a:r>
            <a:endParaRPr lang="en-US" sz="850" dirty="0"/>
          </a:p>
        </p:txBody>
      </p:sp>
      <p:sp>
        <p:nvSpPr>
          <p:cNvPr id="32" name="Text 30"/>
          <p:cNvSpPr/>
          <p:nvPr/>
        </p:nvSpPr>
        <p:spPr>
          <a:xfrm>
            <a:off x="4456176" y="243230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7,50 %</a:t>
            </a:r>
            <a:endParaRPr lang="en-US" sz="85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a:t>
            </a:r>
            <a:endParaRPr lang="en-US" sz="850" dirty="0"/>
          </a:p>
        </p:txBody>
      </p:sp>
      <p:sp>
        <p:nvSpPr>
          <p:cNvPr id="35" name="Text 33"/>
          <p:cNvSpPr/>
          <p:nvPr/>
        </p:nvSpPr>
        <p:spPr>
          <a:xfrm>
            <a:off x="585216" y="2688336"/>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GLOBAL MANUTENCION CI GMCI</a:t>
            </a:r>
            <a:endParaRPr lang="en-US" sz="850" dirty="0"/>
          </a:p>
        </p:txBody>
      </p:sp>
      <p:sp>
        <p:nvSpPr>
          <p:cNvPr id="36" name="Text 34"/>
          <p:cNvSpPr/>
          <p:nvPr/>
        </p:nvSpPr>
        <p:spPr>
          <a:xfrm>
            <a:off x="2520696" y="268833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1 488 870</a:t>
            </a:r>
            <a:endParaRPr lang="en-US" sz="850" dirty="0"/>
          </a:p>
        </p:txBody>
      </p:sp>
      <p:sp>
        <p:nvSpPr>
          <p:cNvPr id="37" name="Text 35"/>
          <p:cNvSpPr/>
          <p:nvPr/>
        </p:nvSpPr>
        <p:spPr>
          <a:xfrm>
            <a:off x="4456176" y="268833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6,32 %</a:t>
            </a:r>
            <a:endParaRPr lang="en-US" sz="850" dirty="0"/>
          </a:p>
        </p:txBody>
      </p:sp>
      <p:sp>
        <p:nvSpPr>
          <p:cNvPr id="38" name="Shape 36"/>
          <p:cNvSpPr/>
          <p:nvPr/>
        </p:nvSpPr>
        <p:spPr>
          <a:xfrm>
            <a:off x="137160" y="2907792"/>
            <a:ext cx="621792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a:t>
            </a:r>
            <a:endParaRPr lang="en-US" sz="850" dirty="0"/>
          </a:p>
        </p:txBody>
      </p:sp>
      <p:sp>
        <p:nvSpPr>
          <p:cNvPr id="40" name="Text 38"/>
          <p:cNvSpPr/>
          <p:nvPr/>
        </p:nvSpPr>
        <p:spPr>
          <a:xfrm>
            <a:off x="585216" y="2944368"/>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CMA CGM</a:t>
            </a:r>
            <a:endParaRPr lang="en-US" sz="850" dirty="0"/>
          </a:p>
        </p:txBody>
      </p:sp>
      <p:sp>
        <p:nvSpPr>
          <p:cNvPr id="41" name="Text 39"/>
          <p:cNvSpPr/>
          <p:nvPr/>
        </p:nvSpPr>
        <p:spPr>
          <a:xfrm>
            <a:off x="2520696" y="294436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1 482 003</a:t>
            </a:r>
            <a:endParaRPr lang="en-US" sz="850" dirty="0"/>
          </a:p>
        </p:txBody>
      </p:sp>
      <p:sp>
        <p:nvSpPr>
          <p:cNvPr id="42" name="Text 40"/>
          <p:cNvSpPr/>
          <p:nvPr/>
        </p:nvSpPr>
        <p:spPr>
          <a:xfrm>
            <a:off x="4456176" y="2944368"/>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6,29 %</a:t>
            </a:r>
            <a:endParaRPr lang="en-US" sz="850" dirty="0"/>
          </a:p>
        </p:txBody>
      </p:sp>
      <p:sp>
        <p:nvSpPr>
          <p:cNvPr id="43" name="Shape 41"/>
          <p:cNvSpPr/>
          <p:nvPr/>
        </p:nvSpPr>
        <p:spPr>
          <a:xfrm>
            <a:off x="137160" y="3163824"/>
            <a:ext cx="621792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a:t>
            </a:r>
            <a:endParaRPr lang="en-US" sz="850" dirty="0"/>
          </a:p>
        </p:txBody>
      </p:sp>
      <p:sp>
        <p:nvSpPr>
          <p:cNvPr id="45" name="Text 43"/>
          <p:cNvSpPr/>
          <p:nvPr/>
        </p:nvSpPr>
        <p:spPr>
          <a:xfrm>
            <a:off x="585216" y="3200400"/>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MAERSK LINES</a:t>
            </a:r>
            <a:endParaRPr lang="en-US" sz="850" dirty="0"/>
          </a:p>
        </p:txBody>
      </p:sp>
      <p:sp>
        <p:nvSpPr>
          <p:cNvPr id="46" name="Text 44"/>
          <p:cNvSpPr/>
          <p:nvPr/>
        </p:nvSpPr>
        <p:spPr>
          <a:xfrm>
            <a:off x="2520696" y="320040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1 468 912</a:t>
            </a:r>
            <a:endParaRPr lang="en-US" sz="850" dirty="0"/>
          </a:p>
        </p:txBody>
      </p:sp>
      <p:sp>
        <p:nvSpPr>
          <p:cNvPr id="47" name="Text 45"/>
          <p:cNvSpPr/>
          <p:nvPr/>
        </p:nvSpPr>
        <p:spPr>
          <a:xfrm>
            <a:off x="4456176" y="3200400"/>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6,24 %</a:t>
            </a:r>
            <a:endParaRPr lang="en-US" sz="850" dirty="0"/>
          </a:p>
        </p:txBody>
      </p:sp>
      <p:sp>
        <p:nvSpPr>
          <p:cNvPr id="48" name="Shape 46"/>
          <p:cNvSpPr/>
          <p:nvPr/>
        </p:nvSpPr>
        <p:spPr>
          <a:xfrm>
            <a:off x="137160" y="3419856"/>
            <a:ext cx="6217920" cy="256032"/>
          </a:xfrm>
          <a:prstGeom prst="rect">
            <a:avLst/>
          </a:prstGeom>
          <a:solidFill>
            <a:srgbClr val="F8F9FA"/>
          </a:solidFill>
          <a:ln w="3810">
            <a:solidFill>
              <a:srgbClr val="E5E7EB"/>
            </a:solidFill>
            <a:prstDash val="solid"/>
          </a:ln>
        </p:spPr>
      </p:sp>
      <p:sp>
        <p:nvSpPr>
          <p:cNvPr id="49" name="Text 47"/>
          <p:cNvSpPr/>
          <p:nvPr/>
        </p:nvSpPr>
        <p:spPr>
          <a:xfrm>
            <a:off x="173736" y="345643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a:t>
            </a:r>
            <a:endParaRPr lang="en-US" sz="850" dirty="0"/>
          </a:p>
        </p:txBody>
      </p:sp>
      <p:sp>
        <p:nvSpPr>
          <p:cNvPr id="50" name="Text 48"/>
          <p:cNvSpPr/>
          <p:nvPr/>
        </p:nvSpPr>
        <p:spPr>
          <a:xfrm>
            <a:off x="585216" y="3456432"/>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SAKINA SHIPS</a:t>
            </a:r>
            <a:endParaRPr lang="en-US" sz="850" dirty="0"/>
          </a:p>
        </p:txBody>
      </p:sp>
      <p:sp>
        <p:nvSpPr>
          <p:cNvPr id="51" name="Text 49"/>
          <p:cNvSpPr/>
          <p:nvPr/>
        </p:nvSpPr>
        <p:spPr>
          <a:xfrm>
            <a:off x="2520696" y="345643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826 270</a:t>
            </a:r>
            <a:endParaRPr lang="en-US" sz="850" dirty="0"/>
          </a:p>
        </p:txBody>
      </p:sp>
      <p:sp>
        <p:nvSpPr>
          <p:cNvPr id="52" name="Text 50"/>
          <p:cNvSpPr/>
          <p:nvPr/>
        </p:nvSpPr>
        <p:spPr>
          <a:xfrm>
            <a:off x="4456176" y="3456432"/>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3,51 %</a:t>
            </a:r>
            <a:endParaRPr lang="en-US" sz="850" dirty="0"/>
          </a:p>
        </p:txBody>
      </p:sp>
      <p:sp>
        <p:nvSpPr>
          <p:cNvPr id="53" name="Shape 51"/>
          <p:cNvSpPr/>
          <p:nvPr/>
        </p:nvSpPr>
        <p:spPr>
          <a:xfrm>
            <a:off x="137160" y="3675888"/>
            <a:ext cx="6217920" cy="256032"/>
          </a:xfrm>
          <a:prstGeom prst="rect">
            <a:avLst/>
          </a:prstGeom>
          <a:solidFill>
            <a:srgbClr val="FFFFFF"/>
          </a:solidFill>
          <a:ln w="3810">
            <a:solidFill>
              <a:srgbClr val="E5E7EB"/>
            </a:solidFill>
            <a:prstDash val="solid"/>
          </a:ln>
        </p:spPr>
      </p:sp>
      <p:sp>
        <p:nvSpPr>
          <p:cNvPr id="54" name="Text 52"/>
          <p:cNvSpPr/>
          <p:nvPr/>
        </p:nvSpPr>
        <p:spPr>
          <a:xfrm>
            <a:off x="173736" y="371246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a:t>
            </a:r>
            <a:endParaRPr lang="en-US" sz="850" dirty="0"/>
          </a:p>
        </p:txBody>
      </p:sp>
      <p:sp>
        <p:nvSpPr>
          <p:cNvPr id="55" name="Text 53"/>
          <p:cNvSpPr/>
          <p:nvPr/>
        </p:nvSpPr>
        <p:spPr>
          <a:xfrm>
            <a:off x="585216" y="3712464"/>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OMA CI</a:t>
            </a:r>
            <a:endParaRPr lang="en-US" sz="850" dirty="0"/>
          </a:p>
        </p:txBody>
      </p:sp>
      <p:sp>
        <p:nvSpPr>
          <p:cNvPr id="56" name="Text 54"/>
          <p:cNvSpPr/>
          <p:nvPr/>
        </p:nvSpPr>
        <p:spPr>
          <a:xfrm>
            <a:off x="2520696" y="371246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580 614</a:t>
            </a:r>
            <a:endParaRPr lang="en-US" sz="850" dirty="0"/>
          </a:p>
        </p:txBody>
      </p:sp>
      <p:sp>
        <p:nvSpPr>
          <p:cNvPr id="57" name="Text 55"/>
          <p:cNvSpPr/>
          <p:nvPr/>
        </p:nvSpPr>
        <p:spPr>
          <a:xfrm>
            <a:off x="4456176" y="3712464"/>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2,46 %</a:t>
            </a:r>
            <a:endParaRPr lang="en-US" sz="850" dirty="0"/>
          </a:p>
        </p:txBody>
      </p:sp>
      <p:sp>
        <p:nvSpPr>
          <p:cNvPr id="58" name="Shape 56"/>
          <p:cNvSpPr/>
          <p:nvPr/>
        </p:nvSpPr>
        <p:spPr>
          <a:xfrm>
            <a:off x="137160" y="3931920"/>
            <a:ext cx="6217920" cy="256032"/>
          </a:xfrm>
          <a:prstGeom prst="rect">
            <a:avLst/>
          </a:prstGeom>
          <a:solidFill>
            <a:srgbClr val="F8F9FA"/>
          </a:solidFill>
          <a:ln w="3810">
            <a:solidFill>
              <a:srgbClr val="E5E7EB"/>
            </a:solidFill>
            <a:prstDash val="solid"/>
          </a:ln>
        </p:spPr>
      </p:sp>
      <p:sp>
        <p:nvSpPr>
          <p:cNvPr id="59" name="Text 57"/>
          <p:cNvSpPr/>
          <p:nvPr/>
        </p:nvSpPr>
        <p:spPr>
          <a:xfrm>
            <a:off x="173736" y="396849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a:t>
            </a:r>
            <a:endParaRPr lang="en-US" sz="850" dirty="0"/>
          </a:p>
        </p:txBody>
      </p:sp>
      <p:sp>
        <p:nvSpPr>
          <p:cNvPr id="60" name="Text 58"/>
          <p:cNvSpPr/>
          <p:nvPr/>
        </p:nvSpPr>
        <p:spPr>
          <a:xfrm>
            <a:off x="585216" y="3968496"/>
            <a:ext cx="1889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GMT SHIPPING</a:t>
            </a:r>
            <a:endParaRPr lang="en-US" sz="850" dirty="0"/>
          </a:p>
        </p:txBody>
      </p:sp>
      <p:sp>
        <p:nvSpPr>
          <p:cNvPr id="61" name="Text 59"/>
          <p:cNvSpPr/>
          <p:nvPr/>
        </p:nvSpPr>
        <p:spPr>
          <a:xfrm>
            <a:off x="2520696" y="396849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559 906</a:t>
            </a:r>
            <a:endParaRPr lang="en-US" sz="850" dirty="0"/>
          </a:p>
        </p:txBody>
      </p:sp>
      <p:sp>
        <p:nvSpPr>
          <p:cNvPr id="62" name="Text 60"/>
          <p:cNvSpPr/>
          <p:nvPr/>
        </p:nvSpPr>
        <p:spPr>
          <a:xfrm>
            <a:off x="4456176" y="3968496"/>
            <a:ext cx="1889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2,38 %</a:t>
            </a:r>
            <a:endParaRPr lang="en-US" sz="850" dirty="0"/>
          </a:p>
        </p:txBody>
      </p:sp>
      <p:sp>
        <p:nvSpPr>
          <p:cNvPr id="63" name="Text 61"/>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Top 10 POL — Origines des imports 2025</a:t>
            </a:r>
            <a:endParaRPr lang="en-US" sz="1100" dirty="0"/>
          </a:p>
        </p:txBody>
      </p:sp>
      <p:sp>
        <p:nvSpPr>
          <p:cNvPr id="64" name="Shape 62"/>
          <p:cNvSpPr/>
          <p:nvPr/>
        </p:nvSpPr>
        <p:spPr>
          <a:xfrm>
            <a:off x="6492240" y="1371600"/>
            <a:ext cx="5486400" cy="256032"/>
          </a:xfrm>
          <a:prstGeom prst="rect">
            <a:avLst/>
          </a:prstGeom>
          <a:solidFill>
            <a:srgbClr val="0D2243"/>
          </a:solidFill>
          <a:ln/>
        </p:spPr>
      </p:sp>
      <p:sp>
        <p:nvSpPr>
          <p:cNvPr id="65" name="Text 63"/>
          <p:cNvSpPr/>
          <p:nvPr/>
        </p:nvSpPr>
        <p:spPr>
          <a:xfrm>
            <a:off x="6528816" y="1408176"/>
            <a:ext cx="365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Rang</a:t>
            </a:r>
            <a:endParaRPr lang="en-US" sz="850" dirty="0"/>
          </a:p>
        </p:txBody>
      </p:sp>
      <p:sp>
        <p:nvSpPr>
          <p:cNvPr id="66" name="Text 64"/>
          <p:cNvSpPr/>
          <p:nvPr/>
        </p:nvSpPr>
        <p:spPr>
          <a:xfrm>
            <a:off x="6940296" y="1408176"/>
            <a:ext cx="164592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Port de chargement</a:t>
            </a:r>
            <a:endParaRPr lang="en-US" sz="850" dirty="0"/>
          </a:p>
        </p:txBody>
      </p:sp>
      <p:sp>
        <p:nvSpPr>
          <p:cNvPr id="67" name="Text 65"/>
          <p:cNvSpPr/>
          <p:nvPr/>
        </p:nvSpPr>
        <p:spPr>
          <a:xfrm>
            <a:off x="8631936" y="1408176"/>
            <a:ext cx="164592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Tonnage</a:t>
            </a:r>
            <a:endParaRPr lang="en-US" sz="850" dirty="0"/>
          </a:p>
        </p:txBody>
      </p:sp>
      <p:sp>
        <p:nvSpPr>
          <p:cNvPr id="68" name="Text 66"/>
          <p:cNvSpPr/>
          <p:nvPr/>
        </p:nvSpPr>
        <p:spPr>
          <a:xfrm>
            <a:off x="10323576" y="1408176"/>
            <a:ext cx="164592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PDM</a:t>
            </a:r>
            <a:endParaRPr lang="en-US" sz="850" dirty="0"/>
          </a:p>
        </p:txBody>
      </p:sp>
      <p:sp>
        <p:nvSpPr>
          <p:cNvPr id="69" name="Shape 67"/>
          <p:cNvSpPr/>
          <p:nvPr/>
        </p:nvSpPr>
        <p:spPr>
          <a:xfrm>
            <a:off x="6492240" y="1627632"/>
            <a:ext cx="5486400" cy="256032"/>
          </a:xfrm>
          <a:prstGeom prst="rect">
            <a:avLst/>
          </a:prstGeom>
          <a:solidFill>
            <a:srgbClr val="FFF9EC"/>
          </a:solidFill>
          <a:ln w="3810">
            <a:solidFill>
              <a:srgbClr val="E5E7EB"/>
            </a:solidFill>
            <a:prstDash val="solid"/>
          </a:ln>
        </p:spPr>
      </p:sp>
      <p:sp>
        <p:nvSpPr>
          <p:cNvPr id="70" name="Text 68"/>
          <p:cNvSpPr/>
          <p:nvPr/>
        </p:nvSpPr>
        <p:spPr>
          <a:xfrm>
            <a:off x="6528816" y="1664208"/>
            <a:ext cx="365760" cy="201168"/>
          </a:xfrm>
          <a:prstGeom prst="rect">
            <a:avLst/>
          </a:prstGeom>
          <a:noFill/>
          <a:ln/>
        </p:spPr>
        <p:txBody>
          <a:bodyPr wrap="none" rtlCol="0" anchor="ctr"/>
          <a:lstStyle/>
          <a:p>
            <a:pPr algn="ctr" indent="0" marL="0">
              <a:buNone/>
            </a:pPr>
            <a:r>
              <a:rPr lang="en-US" sz="850" b="1" dirty="0">
                <a:solidFill>
                  <a:srgbClr val="374151"/>
                </a:solidFill>
                <a:latin typeface="Calibri" pitchFamily="34" charset="0"/>
                <a:ea typeface="Calibri" pitchFamily="34" charset="-122"/>
                <a:cs typeface="Calibri" pitchFamily="34" charset="-120"/>
              </a:rPr>
              <a:t>#1</a:t>
            </a:r>
            <a:endParaRPr lang="en-US" sz="850" dirty="0"/>
          </a:p>
        </p:txBody>
      </p:sp>
      <p:sp>
        <p:nvSpPr>
          <p:cNvPr id="71" name="Text 69"/>
          <p:cNvSpPr/>
          <p:nvPr/>
        </p:nvSpPr>
        <p:spPr>
          <a:xfrm>
            <a:off x="6940296" y="1664208"/>
            <a:ext cx="164592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CAM PHA</a:t>
            </a:r>
            <a:endParaRPr lang="en-US" sz="850" dirty="0"/>
          </a:p>
        </p:txBody>
      </p:sp>
      <p:sp>
        <p:nvSpPr>
          <p:cNvPr id="72" name="Text 70"/>
          <p:cNvSpPr/>
          <p:nvPr/>
        </p:nvSpPr>
        <p:spPr>
          <a:xfrm>
            <a:off x="8631936" y="1664208"/>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2 118 362</a:t>
            </a:r>
            <a:endParaRPr lang="en-US" sz="850" dirty="0"/>
          </a:p>
        </p:txBody>
      </p:sp>
      <p:sp>
        <p:nvSpPr>
          <p:cNvPr id="73" name="Text 71"/>
          <p:cNvSpPr/>
          <p:nvPr/>
        </p:nvSpPr>
        <p:spPr>
          <a:xfrm>
            <a:off x="10323576" y="1664208"/>
            <a:ext cx="164592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8,99 %</a:t>
            </a:r>
            <a:endParaRPr lang="en-US" sz="850" dirty="0"/>
          </a:p>
        </p:txBody>
      </p:sp>
      <p:sp>
        <p:nvSpPr>
          <p:cNvPr id="74" name="Shape 72"/>
          <p:cNvSpPr/>
          <p:nvPr/>
        </p:nvSpPr>
        <p:spPr>
          <a:xfrm>
            <a:off x="6492240" y="1883664"/>
            <a:ext cx="5486400" cy="256032"/>
          </a:xfrm>
          <a:prstGeom prst="rect">
            <a:avLst/>
          </a:prstGeom>
          <a:solidFill>
            <a:srgbClr val="F8F9FA"/>
          </a:solidFill>
          <a:ln w="3810">
            <a:solidFill>
              <a:srgbClr val="E5E7EB"/>
            </a:solidFill>
            <a:prstDash val="solid"/>
          </a:ln>
        </p:spPr>
      </p:sp>
      <p:sp>
        <p:nvSpPr>
          <p:cNvPr id="75" name="Text 73"/>
          <p:cNvSpPr/>
          <p:nvPr/>
        </p:nvSpPr>
        <p:spPr>
          <a:xfrm>
            <a:off x="6528816" y="192024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a:t>
            </a:r>
            <a:endParaRPr lang="en-US" sz="850" dirty="0"/>
          </a:p>
        </p:txBody>
      </p:sp>
      <p:sp>
        <p:nvSpPr>
          <p:cNvPr id="76" name="Text 74"/>
          <p:cNvSpPr/>
          <p:nvPr/>
        </p:nvSpPr>
        <p:spPr>
          <a:xfrm>
            <a:off x="6940296" y="1920240"/>
            <a:ext cx="164592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PORT SAID</a:t>
            </a:r>
            <a:endParaRPr lang="en-US" sz="850" dirty="0"/>
          </a:p>
        </p:txBody>
      </p:sp>
      <p:sp>
        <p:nvSpPr>
          <p:cNvPr id="77" name="Text 75"/>
          <p:cNvSpPr/>
          <p:nvPr/>
        </p:nvSpPr>
        <p:spPr>
          <a:xfrm>
            <a:off x="8631936" y="1920240"/>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1 697 749</a:t>
            </a:r>
            <a:endParaRPr lang="en-US" sz="850" dirty="0"/>
          </a:p>
        </p:txBody>
      </p:sp>
      <p:sp>
        <p:nvSpPr>
          <p:cNvPr id="78" name="Text 76"/>
          <p:cNvSpPr/>
          <p:nvPr/>
        </p:nvSpPr>
        <p:spPr>
          <a:xfrm>
            <a:off x="10323576" y="1920240"/>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7,21 %</a:t>
            </a:r>
            <a:endParaRPr lang="en-US" sz="850" dirty="0"/>
          </a:p>
        </p:txBody>
      </p:sp>
      <p:sp>
        <p:nvSpPr>
          <p:cNvPr id="79" name="Shape 77"/>
          <p:cNvSpPr/>
          <p:nvPr/>
        </p:nvSpPr>
        <p:spPr>
          <a:xfrm>
            <a:off x="6492240" y="2139696"/>
            <a:ext cx="5486400" cy="256032"/>
          </a:xfrm>
          <a:prstGeom prst="rect">
            <a:avLst/>
          </a:prstGeom>
          <a:solidFill>
            <a:srgbClr val="FFFFFF"/>
          </a:solidFill>
          <a:ln w="3810">
            <a:solidFill>
              <a:srgbClr val="E5E7EB"/>
            </a:solidFill>
            <a:prstDash val="solid"/>
          </a:ln>
        </p:spPr>
      </p:sp>
      <p:sp>
        <p:nvSpPr>
          <p:cNvPr id="80" name="Text 78"/>
          <p:cNvSpPr/>
          <p:nvPr/>
        </p:nvSpPr>
        <p:spPr>
          <a:xfrm>
            <a:off x="6528816" y="217627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a:t>
            </a:r>
            <a:endParaRPr lang="en-US" sz="850" dirty="0"/>
          </a:p>
        </p:txBody>
      </p:sp>
      <p:sp>
        <p:nvSpPr>
          <p:cNvPr id="81" name="Text 79"/>
          <p:cNvSpPr/>
          <p:nvPr/>
        </p:nvSpPr>
        <p:spPr>
          <a:xfrm>
            <a:off x="6940296" y="2176272"/>
            <a:ext cx="164592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MINA SAQR U.A.E</a:t>
            </a:r>
            <a:endParaRPr lang="en-US" sz="850" dirty="0"/>
          </a:p>
        </p:txBody>
      </p:sp>
      <p:sp>
        <p:nvSpPr>
          <p:cNvPr id="82" name="Text 80"/>
          <p:cNvSpPr/>
          <p:nvPr/>
        </p:nvSpPr>
        <p:spPr>
          <a:xfrm>
            <a:off x="8631936" y="2176272"/>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834 579</a:t>
            </a:r>
            <a:endParaRPr lang="en-US" sz="850" dirty="0"/>
          </a:p>
        </p:txBody>
      </p:sp>
      <p:sp>
        <p:nvSpPr>
          <p:cNvPr id="83" name="Text 81"/>
          <p:cNvSpPr/>
          <p:nvPr/>
        </p:nvSpPr>
        <p:spPr>
          <a:xfrm>
            <a:off x="10323576" y="2176272"/>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3,54 %</a:t>
            </a:r>
            <a:endParaRPr lang="en-US" sz="850" dirty="0"/>
          </a:p>
        </p:txBody>
      </p:sp>
      <p:sp>
        <p:nvSpPr>
          <p:cNvPr id="84" name="Shape 82"/>
          <p:cNvSpPr/>
          <p:nvPr/>
        </p:nvSpPr>
        <p:spPr>
          <a:xfrm>
            <a:off x="6492240" y="2395728"/>
            <a:ext cx="5486400" cy="256032"/>
          </a:xfrm>
          <a:prstGeom prst="rect">
            <a:avLst/>
          </a:prstGeom>
          <a:solidFill>
            <a:srgbClr val="F8F9FA"/>
          </a:solidFill>
          <a:ln w="3810">
            <a:solidFill>
              <a:srgbClr val="E5E7EB"/>
            </a:solidFill>
            <a:prstDash val="solid"/>
          </a:ln>
        </p:spPr>
      </p:sp>
      <p:sp>
        <p:nvSpPr>
          <p:cNvPr id="85" name="Text 83"/>
          <p:cNvSpPr/>
          <p:nvPr/>
        </p:nvSpPr>
        <p:spPr>
          <a:xfrm>
            <a:off x="6528816" y="243230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a:t>
            </a:r>
            <a:endParaRPr lang="en-US" sz="850" dirty="0"/>
          </a:p>
        </p:txBody>
      </p:sp>
      <p:sp>
        <p:nvSpPr>
          <p:cNvPr id="86" name="Text 84"/>
          <p:cNvSpPr/>
          <p:nvPr/>
        </p:nvSpPr>
        <p:spPr>
          <a:xfrm>
            <a:off x="6940296" y="2432304"/>
            <a:ext cx="164592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HO CHI MINH CITY</a:t>
            </a:r>
            <a:endParaRPr lang="en-US" sz="850" dirty="0"/>
          </a:p>
        </p:txBody>
      </p:sp>
      <p:sp>
        <p:nvSpPr>
          <p:cNvPr id="87" name="Text 85"/>
          <p:cNvSpPr/>
          <p:nvPr/>
        </p:nvSpPr>
        <p:spPr>
          <a:xfrm>
            <a:off x="8631936" y="2432304"/>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759 538</a:t>
            </a:r>
            <a:endParaRPr lang="en-US" sz="850" dirty="0"/>
          </a:p>
        </p:txBody>
      </p:sp>
      <p:sp>
        <p:nvSpPr>
          <p:cNvPr id="88" name="Text 86"/>
          <p:cNvSpPr/>
          <p:nvPr/>
        </p:nvSpPr>
        <p:spPr>
          <a:xfrm>
            <a:off x="10323576" y="2432304"/>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3,22 %</a:t>
            </a:r>
            <a:endParaRPr lang="en-US" sz="850" dirty="0"/>
          </a:p>
        </p:txBody>
      </p:sp>
      <p:sp>
        <p:nvSpPr>
          <p:cNvPr id="89" name="Shape 87"/>
          <p:cNvSpPr/>
          <p:nvPr/>
        </p:nvSpPr>
        <p:spPr>
          <a:xfrm>
            <a:off x="6492240" y="2651760"/>
            <a:ext cx="5486400" cy="256032"/>
          </a:xfrm>
          <a:prstGeom prst="rect">
            <a:avLst/>
          </a:prstGeom>
          <a:solidFill>
            <a:srgbClr val="FFFFFF"/>
          </a:solidFill>
          <a:ln w="3810">
            <a:solidFill>
              <a:srgbClr val="E5E7EB"/>
            </a:solidFill>
            <a:prstDash val="solid"/>
          </a:ln>
        </p:spPr>
      </p:sp>
      <p:sp>
        <p:nvSpPr>
          <p:cNvPr id="90" name="Text 88"/>
          <p:cNvSpPr/>
          <p:nvPr/>
        </p:nvSpPr>
        <p:spPr>
          <a:xfrm>
            <a:off x="6528816" y="268833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a:t>
            </a:r>
            <a:endParaRPr lang="en-US" sz="850" dirty="0"/>
          </a:p>
        </p:txBody>
      </p:sp>
      <p:sp>
        <p:nvSpPr>
          <p:cNvPr id="91" name="Text 89"/>
          <p:cNvSpPr/>
          <p:nvPr/>
        </p:nvSpPr>
        <p:spPr>
          <a:xfrm>
            <a:off x="6940296" y="2688336"/>
            <a:ext cx="164592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TIANJIN</a:t>
            </a:r>
            <a:endParaRPr lang="en-US" sz="850" dirty="0"/>
          </a:p>
        </p:txBody>
      </p:sp>
      <p:sp>
        <p:nvSpPr>
          <p:cNvPr id="92" name="Text 90"/>
          <p:cNvSpPr/>
          <p:nvPr/>
        </p:nvSpPr>
        <p:spPr>
          <a:xfrm>
            <a:off x="8631936" y="2688336"/>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701 646</a:t>
            </a:r>
            <a:endParaRPr lang="en-US" sz="850" dirty="0"/>
          </a:p>
        </p:txBody>
      </p:sp>
      <p:sp>
        <p:nvSpPr>
          <p:cNvPr id="93" name="Text 91"/>
          <p:cNvSpPr/>
          <p:nvPr/>
        </p:nvSpPr>
        <p:spPr>
          <a:xfrm>
            <a:off x="10323576" y="2688336"/>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2,98 %</a:t>
            </a:r>
            <a:endParaRPr lang="en-US" sz="850" dirty="0"/>
          </a:p>
        </p:txBody>
      </p:sp>
      <p:sp>
        <p:nvSpPr>
          <p:cNvPr id="94" name="Shape 92"/>
          <p:cNvSpPr/>
          <p:nvPr/>
        </p:nvSpPr>
        <p:spPr>
          <a:xfrm>
            <a:off x="6492240" y="2907792"/>
            <a:ext cx="5486400" cy="256032"/>
          </a:xfrm>
          <a:prstGeom prst="rect">
            <a:avLst/>
          </a:prstGeom>
          <a:solidFill>
            <a:srgbClr val="F8F9FA"/>
          </a:solidFill>
          <a:ln w="3810">
            <a:solidFill>
              <a:srgbClr val="E5E7EB"/>
            </a:solidFill>
            <a:prstDash val="solid"/>
          </a:ln>
        </p:spPr>
      </p:sp>
      <p:sp>
        <p:nvSpPr>
          <p:cNvPr id="95" name="Text 93"/>
          <p:cNvSpPr/>
          <p:nvPr/>
        </p:nvSpPr>
        <p:spPr>
          <a:xfrm>
            <a:off x="6528816" y="294436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a:t>
            </a:r>
            <a:endParaRPr lang="en-US" sz="850" dirty="0"/>
          </a:p>
        </p:txBody>
      </p:sp>
      <p:sp>
        <p:nvSpPr>
          <p:cNvPr id="96" name="Text 94"/>
          <p:cNvSpPr/>
          <p:nvPr/>
        </p:nvSpPr>
        <p:spPr>
          <a:xfrm>
            <a:off x="6940296" y="2944368"/>
            <a:ext cx="164592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ANTWERPEN</a:t>
            </a:r>
            <a:endParaRPr lang="en-US" sz="850" dirty="0"/>
          </a:p>
        </p:txBody>
      </p:sp>
      <p:sp>
        <p:nvSpPr>
          <p:cNvPr id="97" name="Text 95"/>
          <p:cNvSpPr/>
          <p:nvPr/>
        </p:nvSpPr>
        <p:spPr>
          <a:xfrm>
            <a:off x="8631936" y="2944368"/>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691 164</a:t>
            </a:r>
            <a:endParaRPr lang="en-US" sz="850" dirty="0"/>
          </a:p>
        </p:txBody>
      </p:sp>
      <p:sp>
        <p:nvSpPr>
          <p:cNvPr id="98" name="Text 96"/>
          <p:cNvSpPr/>
          <p:nvPr/>
        </p:nvSpPr>
        <p:spPr>
          <a:xfrm>
            <a:off x="10323576" y="2944368"/>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2,93 %</a:t>
            </a:r>
            <a:endParaRPr lang="en-US" sz="850" dirty="0"/>
          </a:p>
        </p:txBody>
      </p:sp>
      <p:sp>
        <p:nvSpPr>
          <p:cNvPr id="99" name="Shape 97"/>
          <p:cNvSpPr/>
          <p:nvPr/>
        </p:nvSpPr>
        <p:spPr>
          <a:xfrm>
            <a:off x="6492240" y="3163824"/>
            <a:ext cx="5486400" cy="256032"/>
          </a:xfrm>
          <a:prstGeom prst="rect">
            <a:avLst/>
          </a:prstGeom>
          <a:solidFill>
            <a:srgbClr val="FFFFFF"/>
          </a:solidFill>
          <a:ln w="3810">
            <a:solidFill>
              <a:srgbClr val="E5E7EB"/>
            </a:solidFill>
            <a:prstDash val="solid"/>
          </a:ln>
        </p:spPr>
      </p:sp>
      <p:sp>
        <p:nvSpPr>
          <p:cNvPr id="100" name="Text 98"/>
          <p:cNvSpPr/>
          <p:nvPr/>
        </p:nvSpPr>
        <p:spPr>
          <a:xfrm>
            <a:off x="6528816" y="320040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a:t>
            </a:r>
            <a:endParaRPr lang="en-US" sz="850" dirty="0"/>
          </a:p>
        </p:txBody>
      </p:sp>
      <p:sp>
        <p:nvSpPr>
          <p:cNvPr id="101" name="Text 99"/>
          <p:cNvSpPr/>
          <p:nvPr/>
        </p:nvSpPr>
        <p:spPr>
          <a:xfrm>
            <a:off x="6940296" y="3200400"/>
            <a:ext cx="164592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KARACHI</a:t>
            </a:r>
            <a:endParaRPr lang="en-US" sz="850" dirty="0"/>
          </a:p>
        </p:txBody>
      </p:sp>
      <p:sp>
        <p:nvSpPr>
          <p:cNvPr id="102" name="Text 100"/>
          <p:cNvSpPr/>
          <p:nvPr/>
        </p:nvSpPr>
        <p:spPr>
          <a:xfrm>
            <a:off x="8631936" y="3200400"/>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608 376</a:t>
            </a:r>
            <a:endParaRPr lang="en-US" sz="850" dirty="0"/>
          </a:p>
        </p:txBody>
      </p:sp>
      <p:sp>
        <p:nvSpPr>
          <p:cNvPr id="103" name="Text 101"/>
          <p:cNvSpPr/>
          <p:nvPr/>
        </p:nvSpPr>
        <p:spPr>
          <a:xfrm>
            <a:off x="10323576" y="3200400"/>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2,58 %</a:t>
            </a:r>
            <a:endParaRPr lang="en-US" sz="850" dirty="0"/>
          </a:p>
        </p:txBody>
      </p:sp>
      <p:sp>
        <p:nvSpPr>
          <p:cNvPr id="104" name="Shape 102"/>
          <p:cNvSpPr/>
          <p:nvPr/>
        </p:nvSpPr>
        <p:spPr>
          <a:xfrm>
            <a:off x="6492240" y="3419856"/>
            <a:ext cx="5486400" cy="256032"/>
          </a:xfrm>
          <a:prstGeom prst="rect">
            <a:avLst/>
          </a:prstGeom>
          <a:solidFill>
            <a:srgbClr val="F8F9FA"/>
          </a:solidFill>
          <a:ln w="3810">
            <a:solidFill>
              <a:srgbClr val="E5E7EB"/>
            </a:solidFill>
            <a:prstDash val="solid"/>
          </a:ln>
        </p:spPr>
      </p:sp>
      <p:sp>
        <p:nvSpPr>
          <p:cNvPr id="105" name="Text 103"/>
          <p:cNvSpPr/>
          <p:nvPr/>
        </p:nvSpPr>
        <p:spPr>
          <a:xfrm>
            <a:off x="6528816" y="345643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a:t>
            </a:r>
            <a:endParaRPr lang="en-US" sz="850" dirty="0"/>
          </a:p>
        </p:txBody>
      </p:sp>
      <p:sp>
        <p:nvSpPr>
          <p:cNvPr id="106" name="Text 104"/>
          <p:cNvSpPr/>
          <p:nvPr/>
        </p:nvSpPr>
        <p:spPr>
          <a:xfrm>
            <a:off x="6940296" y="3456432"/>
            <a:ext cx="164592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KAKINADA INDIA</a:t>
            </a:r>
            <a:endParaRPr lang="en-US" sz="850" dirty="0"/>
          </a:p>
        </p:txBody>
      </p:sp>
      <p:sp>
        <p:nvSpPr>
          <p:cNvPr id="107" name="Text 105"/>
          <p:cNvSpPr/>
          <p:nvPr/>
        </p:nvSpPr>
        <p:spPr>
          <a:xfrm>
            <a:off x="8631936" y="3456432"/>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527 339</a:t>
            </a:r>
            <a:endParaRPr lang="en-US" sz="850" dirty="0"/>
          </a:p>
        </p:txBody>
      </p:sp>
      <p:sp>
        <p:nvSpPr>
          <p:cNvPr id="108" name="Text 106"/>
          <p:cNvSpPr/>
          <p:nvPr/>
        </p:nvSpPr>
        <p:spPr>
          <a:xfrm>
            <a:off x="10323576" y="3456432"/>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2,24 %</a:t>
            </a:r>
            <a:endParaRPr lang="en-US" sz="850" dirty="0"/>
          </a:p>
        </p:txBody>
      </p:sp>
      <p:sp>
        <p:nvSpPr>
          <p:cNvPr id="109" name="Shape 107"/>
          <p:cNvSpPr/>
          <p:nvPr/>
        </p:nvSpPr>
        <p:spPr>
          <a:xfrm>
            <a:off x="6492240" y="3675888"/>
            <a:ext cx="5486400" cy="256032"/>
          </a:xfrm>
          <a:prstGeom prst="rect">
            <a:avLst/>
          </a:prstGeom>
          <a:solidFill>
            <a:srgbClr val="FFFFFF"/>
          </a:solidFill>
          <a:ln w="3810">
            <a:solidFill>
              <a:srgbClr val="E5E7EB"/>
            </a:solidFill>
            <a:prstDash val="solid"/>
          </a:ln>
        </p:spPr>
      </p:sp>
      <p:sp>
        <p:nvSpPr>
          <p:cNvPr id="110" name="Text 108"/>
          <p:cNvSpPr/>
          <p:nvPr/>
        </p:nvSpPr>
        <p:spPr>
          <a:xfrm>
            <a:off x="6528816" y="371246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a:t>
            </a:r>
            <a:endParaRPr lang="en-US" sz="850" dirty="0"/>
          </a:p>
        </p:txBody>
      </p:sp>
      <p:sp>
        <p:nvSpPr>
          <p:cNvPr id="111" name="Text 109"/>
          <p:cNvSpPr/>
          <p:nvPr/>
        </p:nvSpPr>
        <p:spPr>
          <a:xfrm>
            <a:off x="6940296" y="3712464"/>
            <a:ext cx="164592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YANBU INDUSTRIAL CITY</a:t>
            </a:r>
            <a:endParaRPr lang="en-US" sz="850" dirty="0"/>
          </a:p>
        </p:txBody>
      </p:sp>
      <p:sp>
        <p:nvSpPr>
          <p:cNvPr id="112" name="Text 110"/>
          <p:cNvSpPr/>
          <p:nvPr/>
        </p:nvSpPr>
        <p:spPr>
          <a:xfrm>
            <a:off x="8631936" y="3712464"/>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454 632</a:t>
            </a:r>
            <a:endParaRPr lang="en-US" sz="850" dirty="0"/>
          </a:p>
        </p:txBody>
      </p:sp>
      <p:sp>
        <p:nvSpPr>
          <p:cNvPr id="113" name="Text 111"/>
          <p:cNvSpPr/>
          <p:nvPr/>
        </p:nvSpPr>
        <p:spPr>
          <a:xfrm>
            <a:off x="10323576" y="3712464"/>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1,93 %</a:t>
            </a:r>
            <a:endParaRPr lang="en-US" sz="850" dirty="0"/>
          </a:p>
        </p:txBody>
      </p:sp>
      <p:sp>
        <p:nvSpPr>
          <p:cNvPr id="114" name="Shape 112"/>
          <p:cNvSpPr/>
          <p:nvPr/>
        </p:nvSpPr>
        <p:spPr>
          <a:xfrm>
            <a:off x="6492240" y="3931920"/>
            <a:ext cx="5486400" cy="256032"/>
          </a:xfrm>
          <a:prstGeom prst="rect">
            <a:avLst/>
          </a:prstGeom>
          <a:solidFill>
            <a:srgbClr val="F8F9FA"/>
          </a:solidFill>
          <a:ln w="3810">
            <a:solidFill>
              <a:srgbClr val="E5E7EB"/>
            </a:solidFill>
            <a:prstDash val="solid"/>
          </a:ln>
        </p:spPr>
      </p:sp>
      <p:sp>
        <p:nvSpPr>
          <p:cNvPr id="115" name="Text 113"/>
          <p:cNvSpPr/>
          <p:nvPr/>
        </p:nvSpPr>
        <p:spPr>
          <a:xfrm>
            <a:off x="6528816" y="396849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a:t>
            </a:r>
            <a:endParaRPr lang="en-US" sz="850" dirty="0"/>
          </a:p>
        </p:txBody>
      </p:sp>
      <p:sp>
        <p:nvSpPr>
          <p:cNvPr id="116" name="Text 114"/>
          <p:cNvSpPr/>
          <p:nvPr/>
        </p:nvSpPr>
        <p:spPr>
          <a:xfrm>
            <a:off x="6940296" y="3968496"/>
            <a:ext cx="164592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NANSHA</a:t>
            </a:r>
            <a:endParaRPr lang="en-US" sz="850" dirty="0"/>
          </a:p>
        </p:txBody>
      </p:sp>
      <p:sp>
        <p:nvSpPr>
          <p:cNvPr id="117" name="Text 115"/>
          <p:cNvSpPr/>
          <p:nvPr/>
        </p:nvSpPr>
        <p:spPr>
          <a:xfrm>
            <a:off x="8631936" y="3968496"/>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419 374</a:t>
            </a:r>
            <a:endParaRPr lang="en-US" sz="850" dirty="0"/>
          </a:p>
        </p:txBody>
      </p:sp>
      <p:sp>
        <p:nvSpPr>
          <p:cNvPr id="118" name="Text 116"/>
          <p:cNvSpPr/>
          <p:nvPr/>
        </p:nvSpPr>
        <p:spPr>
          <a:xfrm>
            <a:off x="10323576" y="3968496"/>
            <a:ext cx="164592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1,78 %</a:t>
            </a:r>
            <a:endParaRPr lang="en-US" sz="850" dirty="0"/>
          </a:p>
        </p:txBody>
      </p:sp>
      <p:sp>
        <p:nvSpPr>
          <p:cNvPr id="119" name="Shape 117"/>
          <p:cNvSpPr/>
          <p:nvPr/>
        </p:nvSpPr>
        <p:spPr>
          <a:xfrm>
            <a:off x="137160" y="5029200"/>
            <a:ext cx="11795760" cy="868680"/>
          </a:xfrm>
          <a:prstGeom prst="rect">
            <a:avLst/>
          </a:prstGeom>
          <a:solidFill>
            <a:srgbClr val="FFFBEC"/>
          </a:solidFill>
          <a:ln w="6350">
            <a:solidFill>
              <a:srgbClr val="E5C97A"/>
            </a:solidFill>
            <a:prstDash val="solid"/>
          </a:ln>
        </p:spPr>
      </p:sp>
      <p:sp>
        <p:nvSpPr>
          <p:cNvPr id="120" name="Text 118"/>
          <p:cNvSpPr/>
          <p:nvPr/>
        </p:nvSpPr>
        <p:spPr>
          <a:xfrm>
            <a:off x="228600" y="5102352"/>
            <a:ext cx="11612880" cy="75895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POSITION CONSIGNATAIRE FORTE : AGL CI #2 (13,73 %) — seulement Sea-Invest devant. ROUTES CLÉS : CAM PHA (clinker Vietnam, 8,99 %) + PORT SAID (transbord. Égypte, 7,21 %) + MINA SAQR (clinker UAE). Cible : consolider consignation armateurs spot vraquiers + capter co-consignation MSC/CMA sur lignes Asie-WAF.</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FOCUS SECTORIEL – PÉTROLE  |  Position AGL</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Flux hydrocarbures import / export  |  Opérateurs au B/L  |  ~2,4 M T  |  Jan–Mai 2026</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p.28</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Opérateurs pétroliers actifs – Abidjan (B/L)</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150876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Opérateur</a:t>
            </a:r>
            <a:endParaRPr lang="en-US" sz="850" dirty="0"/>
          </a:p>
        </p:txBody>
      </p:sp>
      <p:sp>
        <p:nvSpPr>
          <p:cNvPr id="10" name="Text 8"/>
          <p:cNvSpPr/>
          <p:nvPr/>
        </p:nvSpPr>
        <p:spPr>
          <a:xfrm>
            <a:off x="172821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Volume T</a:t>
            </a:r>
            <a:endParaRPr lang="en-US" sz="850" dirty="0"/>
          </a:p>
        </p:txBody>
      </p:sp>
      <p:sp>
        <p:nvSpPr>
          <p:cNvPr id="11" name="Text 9"/>
          <p:cNvSpPr/>
          <p:nvPr/>
        </p:nvSpPr>
        <p:spPr>
          <a:xfrm>
            <a:off x="328269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Flux</a:t>
            </a:r>
            <a:endParaRPr lang="en-US" sz="850" dirty="0"/>
          </a:p>
        </p:txBody>
      </p:sp>
      <p:sp>
        <p:nvSpPr>
          <p:cNvPr id="12" name="Text 10"/>
          <p:cNvSpPr/>
          <p:nvPr/>
        </p:nvSpPr>
        <p:spPr>
          <a:xfrm>
            <a:off x="4837176" y="1408176"/>
            <a:ext cx="1508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PDM</a:t>
            </a:r>
            <a:endParaRPr lang="en-US" sz="850" dirty="0"/>
          </a:p>
        </p:txBody>
      </p:sp>
      <p:sp>
        <p:nvSpPr>
          <p:cNvPr id="13" name="Shape 11"/>
          <p:cNvSpPr/>
          <p:nvPr/>
        </p:nvSpPr>
        <p:spPr>
          <a:xfrm>
            <a:off x="137160" y="1627632"/>
            <a:ext cx="6217920" cy="256032"/>
          </a:xfrm>
          <a:prstGeom prst="rect">
            <a:avLst/>
          </a:prstGeom>
          <a:solidFill>
            <a:srgbClr val="FFF9EC"/>
          </a:solidFill>
          <a:ln w="3810">
            <a:solidFill>
              <a:srgbClr val="E5E7EB"/>
            </a:solidFill>
            <a:prstDash val="solid"/>
          </a:ln>
        </p:spPr>
      </p:sp>
      <p:sp>
        <p:nvSpPr>
          <p:cNvPr id="14" name="Text 12"/>
          <p:cNvSpPr/>
          <p:nvPr/>
        </p:nvSpPr>
        <p:spPr>
          <a:xfrm>
            <a:off x="173736" y="1664208"/>
            <a:ext cx="150876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SIR CI (Raffinerie)</a:t>
            </a:r>
            <a:endParaRPr lang="en-US" sz="850" dirty="0"/>
          </a:p>
        </p:txBody>
      </p:sp>
      <p:sp>
        <p:nvSpPr>
          <p:cNvPr id="15" name="Text 13"/>
          <p:cNvSpPr/>
          <p:nvPr/>
        </p:nvSpPr>
        <p:spPr>
          <a:xfrm>
            <a:off x="1728216" y="166420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~480 000</a:t>
            </a:r>
            <a:endParaRPr lang="en-US" sz="850" dirty="0"/>
          </a:p>
        </p:txBody>
      </p:sp>
      <p:sp>
        <p:nvSpPr>
          <p:cNvPr id="16" name="Text 14"/>
          <p:cNvSpPr/>
          <p:nvPr/>
        </p:nvSpPr>
        <p:spPr>
          <a:xfrm>
            <a:off x="3282696" y="166420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Import brut</a:t>
            </a:r>
            <a:endParaRPr lang="en-US" sz="850" dirty="0"/>
          </a:p>
        </p:txBody>
      </p:sp>
      <p:sp>
        <p:nvSpPr>
          <p:cNvPr id="17" name="Text 15"/>
          <p:cNvSpPr/>
          <p:nvPr/>
        </p:nvSpPr>
        <p:spPr>
          <a:xfrm>
            <a:off x="4837176" y="1664208"/>
            <a:ext cx="150876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20,0 %</a:t>
            </a:r>
            <a:endParaRPr lang="en-US" sz="85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TOTAL ENERGIES CI</a:t>
            </a:r>
            <a:endParaRPr lang="en-US" sz="850" dirty="0"/>
          </a:p>
        </p:txBody>
      </p:sp>
      <p:sp>
        <p:nvSpPr>
          <p:cNvPr id="20" name="Text 18"/>
          <p:cNvSpPr/>
          <p:nvPr/>
        </p:nvSpPr>
        <p:spPr>
          <a:xfrm>
            <a:off x="172821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~320 000</a:t>
            </a:r>
            <a:endParaRPr lang="en-US" sz="850" dirty="0"/>
          </a:p>
        </p:txBody>
      </p:sp>
      <p:sp>
        <p:nvSpPr>
          <p:cNvPr id="21" name="Text 19"/>
          <p:cNvSpPr/>
          <p:nvPr/>
        </p:nvSpPr>
        <p:spPr>
          <a:xfrm>
            <a:off x="328269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Import raffinés</a:t>
            </a:r>
            <a:endParaRPr lang="en-US" sz="850" dirty="0"/>
          </a:p>
        </p:txBody>
      </p:sp>
      <p:sp>
        <p:nvSpPr>
          <p:cNvPr id="22" name="Text 20"/>
          <p:cNvSpPr/>
          <p:nvPr/>
        </p:nvSpPr>
        <p:spPr>
          <a:xfrm>
            <a:off x="4837176" y="192024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13,3 %</a:t>
            </a:r>
            <a:endParaRPr lang="en-US" sz="850" dirty="0"/>
          </a:p>
        </p:txBody>
      </p:sp>
      <p:sp>
        <p:nvSpPr>
          <p:cNvPr id="23" name="Shape 21"/>
          <p:cNvSpPr/>
          <p:nvPr/>
        </p:nvSpPr>
        <p:spPr>
          <a:xfrm>
            <a:off x="137160" y="2139696"/>
            <a:ext cx="6217920" cy="256032"/>
          </a:xfrm>
          <a:prstGeom prst="rect">
            <a:avLst/>
          </a:prstGeom>
          <a:solidFill>
            <a:srgbClr val="FFFFFF"/>
          </a:solidFill>
          <a:ln w="3810">
            <a:solidFill>
              <a:srgbClr val="E5E7EB"/>
            </a:solidFill>
            <a:prstDash val="solid"/>
          </a:ln>
        </p:spPr>
      </p:sp>
      <p:sp>
        <p:nvSpPr>
          <p:cNvPr id="24" name="Text 22"/>
          <p:cNvSpPr/>
          <p:nvPr/>
        </p:nvSpPr>
        <p:spPr>
          <a:xfrm>
            <a:off x="173736" y="2176272"/>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VIVO ENERGY (Shell)</a:t>
            </a:r>
            <a:endParaRPr lang="en-US" sz="850" dirty="0"/>
          </a:p>
        </p:txBody>
      </p:sp>
      <p:sp>
        <p:nvSpPr>
          <p:cNvPr id="25" name="Text 23"/>
          <p:cNvSpPr/>
          <p:nvPr/>
        </p:nvSpPr>
        <p:spPr>
          <a:xfrm>
            <a:off x="1728216" y="21762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~280 000</a:t>
            </a:r>
            <a:endParaRPr lang="en-US" sz="850" dirty="0"/>
          </a:p>
        </p:txBody>
      </p:sp>
      <p:sp>
        <p:nvSpPr>
          <p:cNvPr id="26" name="Text 24"/>
          <p:cNvSpPr/>
          <p:nvPr/>
        </p:nvSpPr>
        <p:spPr>
          <a:xfrm>
            <a:off x="3282696" y="21762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Import raffinés</a:t>
            </a:r>
            <a:endParaRPr lang="en-US" sz="850" dirty="0"/>
          </a:p>
        </p:txBody>
      </p:sp>
      <p:sp>
        <p:nvSpPr>
          <p:cNvPr id="27" name="Text 25"/>
          <p:cNvSpPr/>
          <p:nvPr/>
        </p:nvSpPr>
        <p:spPr>
          <a:xfrm>
            <a:off x="4837176" y="2176272"/>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11,7 %</a:t>
            </a:r>
            <a:endParaRPr lang="en-US" sz="85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PETRO IVOIRE</a:t>
            </a:r>
            <a:endParaRPr lang="en-US" sz="850" dirty="0"/>
          </a:p>
        </p:txBody>
      </p:sp>
      <p:sp>
        <p:nvSpPr>
          <p:cNvPr id="30" name="Text 28"/>
          <p:cNvSpPr/>
          <p:nvPr/>
        </p:nvSpPr>
        <p:spPr>
          <a:xfrm>
            <a:off x="1728216" y="24323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~190 000</a:t>
            </a:r>
            <a:endParaRPr lang="en-US" sz="850" dirty="0"/>
          </a:p>
        </p:txBody>
      </p:sp>
      <p:sp>
        <p:nvSpPr>
          <p:cNvPr id="31" name="Text 29"/>
          <p:cNvSpPr/>
          <p:nvPr/>
        </p:nvSpPr>
        <p:spPr>
          <a:xfrm>
            <a:off x="3282696" y="24323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Import + Distrib.</a:t>
            </a:r>
            <a:endParaRPr lang="en-US" sz="850" dirty="0"/>
          </a:p>
        </p:txBody>
      </p:sp>
      <p:sp>
        <p:nvSpPr>
          <p:cNvPr id="32" name="Text 30"/>
          <p:cNvSpPr/>
          <p:nvPr/>
        </p:nvSpPr>
        <p:spPr>
          <a:xfrm>
            <a:off x="4837176" y="2432304"/>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7,9 %</a:t>
            </a:r>
            <a:endParaRPr lang="en-US" sz="85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FOXTROT INTERNATIONAL</a:t>
            </a:r>
            <a:endParaRPr lang="en-US" sz="850" dirty="0"/>
          </a:p>
        </p:txBody>
      </p:sp>
      <p:sp>
        <p:nvSpPr>
          <p:cNvPr id="35" name="Text 33"/>
          <p:cNvSpPr/>
          <p:nvPr/>
        </p:nvSpPr>
        <p:spPr>
          <a:xfrm>
            <a:off x="1728216" y="268833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~160 000</a:t>
            </a:r>
            <a:endParaRPr lang="en-US" sz="850" dirty="0"/>
          </a:p>
        </p:txBody>
      </p:sp>
      <p:sp>
        <p:nvSpPr>
          <p:cNvPr id="36" name="Text 34"/>
          <p:cNvSpPr/>
          <p:nvPr/>
        </p:nvSpPr>
        <p:spPr>
          <a:xfrm>
            <a:off x="3282696" y="268833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Export offshore</a:t>
            </a:r>
            <a:endParaRPr lang="en-US" sz="850" dirty="0"/>
          </a:p>
        </p:txBody>
      </p:sp>
      <p:sp>
        <p:nvSpPr>
          <p:cNvPr id="37" name="Text 35"/>
          <p:cNvSpPr/>
          <p:nvPr/>
        </p:nvSpPr>
        <p:spPr>
          <a:xfrm>
            <a:off x="4837176" y="2688336"/>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6,7 %</a:t>
            </a:r>
            <a:endParaRPr lang="en-US" sz="850" dirty="0"/>
          </a:p>
        </p:txBody>
      </p:sp>
      <p:sp>
        <p:nvSpPr>
          <p:cNvPr id="38" name="Shape 36"/>
          <p:cNvSpPr/>
          <p:nvPr/>
        </p:nvSpPr>
        <p:spPr>
          <a:xfrm>
            <a:off x="137160" y="2907792"/>
            <a:ext cx="6217920" cy="256032"/>
          </a:xfrm>
          <a:prstGeom prst="rect">
            <a:avLst/>
          </a:prstGeom>
          <a:solidFill>
            <a:srgbClr val="F8F9FA"/>
          </a:solidFill>
          <a:ln w="3810">
            <a:solidFill>
              <a:srgbClr val="E5E7EB"/>
            </a:solidFill>
            <a:prstDash val="solid"/>
          </a:ln>
        </p:spPr>
      </p:sp>
      <p:sp>
        <p:nvSpPr>
          <p:cNvPr id="39" name="Text 37"/>
          <p:cNvSpPr/>
          <p:nvPr/>
        </p:nvSpPr>
        <p:spPr>
          <a:xfrm>
            <a:off x="173736" y="2944368"/>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ORYX CI</a:t>
            </a:r>
            <a:endParaRPr lang="en-US" sz="850" dirty="0"/>
          </a:p>
        </p:txBody>
      </p:sp>
      <p:sp>
        <p:nvSpPr>
          <p:cNvPr id="40" name="Text 38"/>
          <p:cNvSpPr/>
          <p:nvPr/>
        </p:nvSpPr>
        <p:spPr>
          <a:xfrm>
            <a:off x="1728216" y="294436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~140 000</a:t>
            </a:r>
            <a:endParaRPr lang="en-US" sz="850" dirty="0"/>
          </a:p>
        </p:txBody>
      </p:sp>
      <p:sp>
        <p:nvSpPr>
          <p:cNvPr id="41" name="Text 39"/>
          <p:cNvSpPr/>
          <p:nvPr/>
        </p:nvSpPr>
        <p:spPr>
          <a:xfrm>
            <a:off x="3282696" y="294436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Import raffinés</a:t>
            </a:r>
            <a:endParaRPr lang="en-US" sz="850" dirty="0"/>
          </a:p>
        </p:txBody>
      </p:sp>
      <p:sp>
        <p:nvSpPr>
          <p:cNvPr id="42" name="Text 40"/>
          <p:cNvSpPr/>
          <p:nvPr/>
        </p:nvSpPr>
        <p:spPr>
          <a:xfrm>
            <a:off x="4837176" y="2944368"/>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5,8 %</a:t>
            </a:r>
            <a:endParaRPr lang="en-US" sz="850" dirty="0"/>
          </a:p>
        </p:txBody>
      </p:sp>
      <p:sp>
        <p:nvSpPr>
          <p:cNvPr id="43" name="Shape 41"/>
          <p:cNvSpPr/>
          <p:nvPr/>
        </p:nvSpPr>
        <p:spPr>
          <a:xfrm>
            <a:off x="137160" y="3163824"/>
            <a:ext cx="6217920" cy="256032"/>
          </a:xfrm>
          <a:prstGeom prst="rect">
            <a:avLst/>
          </a:prstGeom>
          <a:solidFill>
            <a:srgbClr val="FFFFFF"/>
          </a:solidFill>
          <a:ln w="3810">
            <a:solidFill>
              <a:srgbClr val="E5E7EB"/>
            </a:solidFill>
            <a:prstDash val="solid"/>
          </a:ln>
        </p:spPr>
      </p:sp>
      <p:sp>
        <p:nvSpPr>
          <p:cNvPr id="44" name="Text 42"/>
          <p:cNvSpPr/>
          <p:nvPr/>
        </p:nvSpPr>
        <p:spPr>
          <a:xfrm>
            <a:off x="173736" y="3200400"/>
            <a:ext cx="1508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BOLLORÉ ENERGY</a:t>
            </a:r>
            <a:endParaRPr lang="en-US" sz="850" dirty="0"/>
          </a:p>
        </p:txBody>
      </p:sp>
      <p:sp>
        <p:nvSpPr>
          <p:cNvPr id="45" name="Text 43"/>
          <p:cNvSpPr/>
          <p:nvPr/>
        </p:nvSpPr>
        <p:spPr>
          <a:xfrm>
            <a:off x="1728216" y="320040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~120 000</a:t>
            </a:r>
            <a:endParaRPr lang="en-US" sz="850" dirty="0"/>
          </a:p>
        </p:txBody>
      </p:sp>
      <p:sp>
        <p:nvSpPr>
          <p:cNvPr id="46" name="Text 44"/>
          <p:cNvSpPr/>
          <p:nvPr/>
        </p:nvSpPr>
        <p:spPr>
          <a:xfrm>
            <a:off x="3282696" y="320040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Import divers</a:t>
            </a:r>
            <a:endParaRPr lang="en-US" sz="850" dirty="0"/>
          </a:p>
        </p:txBody>
      </p:sp>
      <p:sp>
        <p:nvSpPr>
          <p:cNvPr id="47" name="Text 45"/>
          <p:cNvSpPr/>
          <p:nvPr/>
        </p:nvSpPr>
        <p:spPr>
          <a:xfrm>
            <a:off x="4837176" y="3200400"/>
            <a:ext cx="1508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5,0 %</a:t>
            </a:r>
            <a:endParaRPr lang="en-US" sz="850" dirty="0"/>
          </a:p>
        </p:txBody>
      </p:sp>
      <p:sp>
        <p:nvSpPr>
          <p:cNvPr id="48" name="Text 46"/>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Position AGL dans le secteur pétrolier</a:t>
            </a:r>
            <a:endParaRPr lang="en-US" sz="1100" dirty="0"/>
          </a:p>
        </p:txBody>
      </p:sp>
      <p:sp>
        <p:nvSpPr>
          <p:cNvPr id="49" name="Shape 47"/>
          <p:cNvSpPr/>
          <p:nvPr/>
        </p:nvSpPr>
        <p:spPr>
          <a:xfrm>
            <a:off x="6492240" y="1389888"/>
            <a:ext cx="5486400" cy="457200"/>
          </a:xfrm>
          <a:prstGeom prst="rect">
            <a:avLst/>
          </a:prstGeom>
          <a:solidFill>
            <a:srgbClr val="F8F9FA"/>
          </a:solidFill>
          <a:ln w="3810">
            <a:solidFill>
              <a:srgbClr val="E5E7EB"/>
            </a:solidFill>
            <a:prstDash val="solid"/>
          </a:ln>
        </p:spPr>
      </p:sp>
      <p:sp>
        <p:nvSpPr>
          <p:cNvPr id="50" name="Text 48"/>
          <p:cNvSpPr/>
          <p:nvPr/>
        </p:nvSpPr>
        <p:spPr>
          <a:xfrm>
            <a:off x="6583680" y="1444752"/>
            <a:ext cx="2560320" cy="3474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SIR CI – transit &amp; manut.</a:t>
            </a:r>
            <a:endParaRPr lang="en-US" sz="900" dirty="0"/>
          </a:p>
        </p:txBody>
      </p:sp>
      <p:sp>
        <p:nvSpPr>
          <p:cNvPr id="51" name="Text 49"/>
          <p:cNvSpPr/>
          <p:nvPr/>
        </p:nvSpPr>
        <p:spPr>
          <a:xfrm>
            <a:off x="9189720" y="1444752"/>
            <a:ext cx="1188720" cy="34747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~480 000 T</a:t>
            </a:r>
            <a:endParaRPr lang="en-US" sz="900" dirty="0"/>
          </a:p>
        </p:txBody>
      </p:sp>
      <p:sp>
        <p:nvSpPr>
          <p:cNvPr id="52" name="Text 50"/>
          <p:cNvSpPr/>
          <p:nvPr/>
        </p:nvSpPr>
        <p:spPr>
          <a:xfrm>
            <a:off x="10424160" y="1444752"/>
            <a:ext cx="1508760" cy="347472"/>
          </a:xfrm>
          <a:prstGeom prst="rect">
            <a:avLst/>
          </a:prstGeom>
          <a:noFill/>
          <a:ln/>
        </p:spPr>
        <p:txBody>
          <a:bodyPr wrap="square" rtlCol="0" anchor="ctr"/>
          <a:lstStyle/>
          <a:p>
            <a:pPr algn="r" indent="0" marL="0">
              <a:buNone/>
            </a:pPr>
            <a:r>
              <a:rPr lang="en-US" sz="900" b="1" dirty="0">
                <a:solidFill>
                  <a:srgbClr val="1A7C4F"/>
                </a:solidFill>
                <a:latin typeface="Calibri" pitchFamily="34" charset="0"/>
                <a:ea typeface="Calibri" pitchFamily="34" charset="-122"/>
                <a:cs typeface="Calibri" pitchFamily="34" charset="-120"/>
              </a:rPr>
              <a:t>✓ ACTIF</a:t>
            </a:r>
            <a:endParaRPr lang="en-US" sz="900" dirty="0"/>
          </a:p>
        </p:txBody>
      </p:sp>
      <p:sp>
        <p:nvSpPr>
          <p:cNvPr id="53" name="Shape 51"/>
          <p:cNvSpPr/>
          <p:nvPr/>
        </p:nvSpPr>
        <p:spPr>
          <a:xfrm>
            <a:off x="6492240" y="1920240"/>
            <a:ext cx="5486400" cy="457200"/>
          </a:xfrm>
          <a:prstGeom prst="rect">
            <a:avLst/>
          </a:prstGeom>
          <a:solidFill>
            <a:srgbClr val="F8F9FA"/>
          </a:solidFill>
          <a:ln w="3810">
            <a:solidFill>
              <a:srgbClr val="E5E7EB"/>
            </a:solidFill>
            <a:prstDash val="solid"/>
          </a:ln>
        </p:spPr>
      </p:sp>
      <p:sp>
        <p:nvSpPr>
          <p:cNvPr id="54" name="Text 52"/>
          <p:cNvSpPr/>
          <p:nvPr/>
        </p:nvSpPr>
        <p:spPr>
          <a:xfrm>
            <a:off x="6583680" y="1975104"/>
            <a:ext cx="2560320" cy="3474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FOXTROT – export offshore</a:t>
            </a:r>
            <a:endParaRPr lang="en-US" sz="900" dirty="0"/>
          </a:p>
        </p:txBody>
      </p:sp>
      <p:sp>
        <p:nvSpPr>
          <p:cNvPr id="55" name="Text 53"/>
          <p:cNvSpPr/>
          <p:nvPr/>
        </p:nvSpPr>
        <p:spPr>
          <a:xfrm>
            <a:off x="9189720" y="1975104"/>
            <a:ext cx="1188720" cy="34747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~160 000 T</a:t>
            </a:r>
            <a:endParaRPr lang="en-US" sz="900" dirty="0"/>
          </a:p>
        </p:txBody>
      </p:sp>
      <p:sp>
        <p:nvSpPr>
          <p:cNvPr id="56" name="Text 54"/>
          <p:cNvSpPr/>
          <p:nvPr/>
        </p:nvSpPr>
        <p:spPr>
          <a:xfrm>
            <a:off x="10424160" y="1975104"/>
            <a:ext cx="1508760" cy="347472"/>
          </a:xfrm>
          <a:prstGeom prst="rect">
            <a:avLst/>
          </a:prstGeom>
          <a:noFill/>
          <a:ln/>
        </p:spPr>
        <p:txBody>
          <a:bodyPr wrap="square" rtlCol="0" anchor="ctr"/>
          <a:lstStyle/>
          <a:p>
            <a:pPr algn="r" indent="0" marL="0">
              <a:buNone/>
            </a:pPr>
            <a:r>
              <a:rPr lang="en-US" sz="900" b="1" dirty="0">
                <a:solidFill>
                  <a:srgbClr val="1A7C4F"/>
                </a:solidFill>
                <a:latin typeface="Calibri" pitchFamily="34" charset="0"/>
                <a:ea typeface="Calibri" pitchFamily="34" charset="-122"/>
                <a:cs typeface="Calibri" pitchFamily="34" charset="-120"/>
              </a:rPr>
              <a:t>✓ ACTIF</a:t>
            </a:r>
            <a:endParaRPr lang="en-US" sz="900" dirty="0"/>
          </a:p>
        </p:txBody>
      </p:sp>
      <p:sp>
        <p:nvSpPr>
          <p:cNvPr id="57" name="Shape 55"/>
          <p:cNvSpPr/>
          <p:nvPr/>
        </p:nvSpPr>
        <p:spPr>
          <a:xfrm>
            <a:off x="6492240" y="2450592"/>
            <a:ext cx="5486400" cy="457200"/>
          </a:xfrm>
          <a:prstGeom prst="rect">
            <a:avLst/>
          </a:prstGeom>
          <a:solidFill>
            <a:srgbClr val="F8F9FA"/>
          </a:solidFill>
          <a:ln w="3810">
            <a:solidFill>
              <a:srgbClr val="E5E7EB"/>
            </a:solidFill>
            <a:prstDash val="solid"/>
          </a:ln>
        </p:spPr>
      </p:sp>
      <p:sp>
        <p:nvSpPr>
          <p:cNvPr id="58" name="Text 56"/>
          <p:cNvSpPr/>
          <p:nvPr/>
        </p:nvSpPr>
        <p:spPr>
          <a:xfrm>
            <a:off x="6583680" y="2505456"/>
            <a:ext cx="2560320" cy="3474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TOTAL CI – consign. tankers</a:t>
            </a:r>
            <a:endParaRPr lang="en-US" sz="900" dirty="0"/>
          </a:p>
        </p:txBody>
      </p:sp>
      <p:sp>
        <p:nvSpPr>
          <p:cNvPr id="59" name="Text 57"/>
          <p:cNvSpPr/>
          <p:nvPr/>
        </p:nvSpPr>
        <p:spPr>
          <a:xfrm>
            <a:off x="9189720" y="2505456"/>
            <a:ext cx="1188720" cy="34747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~320 000 T</a:t>
            </a:r>
            <a:endParaRPr lang="en-US" sz="900" dirty="0"/>
          </a:p>
        </p:txBody>
      </p:sp>
      <p:sp>
        <p:nvSpPr>
          <p:cNvPr id="60" name="Text 58"/>
          <p:cNvSpPr/>
          <p:nvPr/>
        </p:nvSpPr>
        <p:spPr>
          <a:xfrm>
            <a:off x="10424160" y="2505456"/>
            <a:ext cx="1508760" cy="347472"/>
          </a:xfrm>
          <a:prstGeom prst="rect">
            <a:avLst/>
          </a:prstGeom>
          <a:noFill/>
          <a:ln/>
        </p:spPr>
        <p:txBody>
          <a:bodyPr wrap="square" rtlCol="0" anchor="ctr"/>
          <a:lstStyle/>
          <a:p>
            <a:pPr algn="r" indent="0" marL="0">
              <a:buNone/>
            </a:pPr>
            <a:r>
              <a:rPr lang="en-US" sz="900" b="1" dirty="0">
                <a:solidFill>
                  <a:srgbClr val="E05A00"/>
                </a:solidFill>
                <a:latin typeface="Calibri" pitchFamily="34" charset="0"/>
                <a:ea typeface="Calibri" pitchFamily="34" charset="-122"/>
                <a:cs typeface="Calibri" pitchFamily="34" charset="-120"/>
              </a:rPr>
              <a:t>PARTIEL</a:t>
            </a:r>
            <a:endParaRPr lang="en-US" sz="900" dirty="0"/>
          </a:p>
        </p:txBody>
      </p:sp>
      <p:sp>
        <p:nvSpPr>
          <p:cNvPr id="61" name="Shape 59"/>
          <p:cNvSpPr/>
          <p:nvPr/>
        </p:nvSpPr>
        <p:spPr>
          <a:xfrm>
            <a:off x="6492240" y="2980944"/>
            <a:ext cx="5486400" cy="457200"/>
          </a:xfrm>
          <a:prstGeom prst="rect">
            <a:avLst/>
          </a:prstGeom>
          <a:solidFill>
            <a:srgbClr val="F8F9FA"/>
          </a:solidFill>
          <a:ln w="3810">
            <a:solidFill>
              <a:srgbClr val="E5E7EB"/>
            </a:solidFill>
            <a:prstDash val="solid"/>
          </a:ln>
        </p:spPr>
      </p:sp>
      <p:sp>
        <p:nvSpPr>
          <p:cNvPr id="62" name="Text 60"/>
          <p:cNvSpPr/>
          <p:nvPr/>
        </p:nvSpPr>
        <p:spPr>
          <a:xfrm>
            <a:off x="6583680" y="3035808"/>
            <a:ext cx="2560320" cy="3474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VIVO ENERGY</a:t>
            </a:r>
            <a:endParaRPr lang="en-US" sz="900" dirty="0"/>
          </a:p>
        </p:txBody>
      </p:sp>
      <p:sp>
        <p:nvSpPr>
          <p:cNvPr id="63" name="Text 61"/>
          <p:cNvSpPr/>
          <p:nvPr/>
        </p:nvSpPr>
        <p:spPr>
          <a:xfrm>
            <a:off x="9189720" y="3035808"/>
            <a:ext cx="1188720" cy="34747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~280 000 T</a:t>
            </a:r>
            <a:endParaRPr lang="en-US" sz="900" dirty="0"/>
          </a:p>
        </p:txBody>
      </p:sp>
      <p:sp>
        <p:nvSpPr>
          <p:cNvPr id="64" name="Text 62"/>
          <p:cNvSpPr/>
          <p:nvPr/>
        </p:nvSpPr>
        <p:spPr>
          <a:xfrm>
            <a:off x="10424160" y="3035808"/>
            <a:ext cx="1508760" cy="347472"/>
          </a:xfrm>
          <a:prstGeom prst="rect">
            <a:avLst/>
          </a:prstGeom>
          <a:noFill/>
          <a:ln/>
        </p:spPr>
        <p:txBody>
          <a:bodyPr wrap="square" rtlCol="0" anchor="ctr"/>
          <a:lstStyle/>
          <a:p>
            <a:pPr algn="r" indent="0" marL="0">
              <a:buNone/>
            </a:pPr>
            <a:r>
              <a:rPr lang="en-US" sz="900" b="1" dirty="0">
                <a:solidFill>
                  <a:srgbClr val="E05A00"/>
                </a:solidFill>
                <a:latin typeface="Calibri" pitchFamily="34" charset="0"/>
                <a:ea typeface="Calibri" pitchFamily="34" charset="-122"/>
                <a:cs typeface="Calibri" pitchFamily="34" charset="-120"/>
              </a:rPr>
              <a:t>PARTIEL</a:t>
            </a:r>
            <a:endParaRPr lang="en-US" sz="900" dirty="0"/>
          </a:p>
        </p:txBody>
      </p:sp>
      <p:sp>
        <p:nvSpPr>
          <p:cNvPr id="65" name="Shape 63"/>
          <p:cNvSpPr/>
          <p:nvPr/>
        </p:nvSpPr>
        <p:spPr>
          <a:xfrm>
            <a:off x="6492240" y="3511296"/>
            <a:ext cx="5486400" cy="457200"/>
          </a:xfrm>
          <a:prstGeom prst="rect">
            <a:avLst/>
          </a:prstGeom>
          <a:solidFill>
            <a:srgbClr val="F8F9FA"/>
          </a:solidFill>
          <a:ln w="3810">
            <a:solidFill>
              <a:srgbClr val="E5E7EB"/>
            </a:solidFill>
            <a:prstDash val="solid"/>
          </a:ln>
        </p:spPr>
      </p:sp>
      <p:sp>
        <p:nvSpPr>
          <p:cNvPr id="66" name="Text 64"/>
          <p:cNvSpPr/>
          <p:nvPr/>
        </p:nvSpPr>
        <p:spPr>
          <a:xfrm>
            <a:off x="6583680" y="3566160"/>
            <a:ext cx="2560320" cy="3474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PETRO IVOIRE</a:t>
            </a:r>
            <a:endParaRPr lang="en-US" sz="900" dirty="0"/>
          </a:p>
        </p:txBody>
      </p:sp>
      <p:sp>
        <p:nvSpPr>
          <p:cNvPr id="67" name="Text 65"/>
          <p:cNvSpPr/>
          <p:nvPr/>
        </p:nvSpPr>
        <p:spPr>
          <a:xfrm>
            <a:off x="9189720" y="3566160"/>
            <a:ext cx="1188720" cy="34747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~190 000 T</a:t>
            </a:r>
            <a:endParaRPr lang="en-US" sz="900" dirty="0"/>
          </a:p>
        </p:txBody>
      </p:sp>
      <p:sp>
        <p:nvSpPr>
          <p:cNvPr id="68" name="Text 66"/>
          <p:cNvSpPr/>
          <p:nvPr/>
        </p:nvSpPr>
        <p:spPr>
          <a:xfrm>
            <a:off x="10424160" y="3566160"/>
            <a:ext cx="1508760" cy="347472"/>
          </a:xfrm>
          <a:prstGeom prst="rect">
            <a:avLst/>
          </a:prstGeom>
          <a:noFill/>
          <a:ln/>
        </p:spPr>
        <p:txBody>
          <a:bodyPr wrap="square" rtlCol="0" anchor="ctr"/>
          <a:lstStyle/>
          <a:p>
            <a:pPr algn="r" indent="0" marL="0">
              <a:buNone/>
            </a:pPr>
            <a:r>
              <a:rPr lang="en-US" sz="900" b="1" dirty="0">
                <a:solidFill>
                  <a:srgbClr val="CC2200"/>
                </a:solidFill>
                <a:latin typeface="Calibri" pitchFamily="34" charset="0"/>
                <a:ea typeface="Calibri" pitchFamily="34" charset="-122"/>
                <a:cs typeface="Calibri" pitchFamily="34" charset="-120"/>
              </a:rPr>
              <a:t>✗ NON CAPTÉ</a:t>
            </a:r>
            <a:endParaRPr lang="en-US" sz="900" dirty="0"/>
          </a:p>
        </p:txBody>
      </p:sp>
      <p:sp>
        <p:nvSpPr>
          <p:cNvPr id="69" name="Shape 67"/>
          <p:cNvSpPr/>
          <p:nvPr/>
        </p:nvSpPr>
        <p:spPr>
          <a:xfrm>
            <a:off x="6492240" y="4041648"/>
            <a:ext cx="5486400" cy="457200"/>
          </a:xfrm>
          <a:prstGeom prst="rect">
            <a:avLst/>
          </a:prstGeom>
          <a:solidFill>
            <a:srgbClr val="F8F9FA"/>
          </a:solidFill>
          <a:ln w="3810">
            <a:solidFill>
              <a:srgbClr val="E5E7EB"/>
            </a:solidFill>
            <a:prstDash val="solid"/>
          </a:ln>
        </p:spPr>
      </p:sp>
      <p:sp>
        <p:nvSpPr>
          <p:cNvPr id="70" name="Text 68"/>
          <p:cNvSpPr/>
          <p:nvPr/>
        </p:nvSpPr>
        <p:spPr>
          <a:xfrm>
            <a:off x="6583680" y="4096512"/>
            <a:ext cx="2560320" cy="3474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ORYX CI</a:t>
            </a:r>
            <a:endParaRPr lang="en-US" sz="900" dirty="0"/>
          </a:p>
        </p:txBody>
      </p:sp>
      <p:sp>
        <p:nvSpPr>
          <p:cNvPr id="71" name="Text 69"/>
          <p:cNvSpPr/>
          <p:nvPr/>
        </p:nvSpPr>
        <p:spPr>
          <a:xfrm>
            <a:off x="9189720" y="4096512"/>
            <a:ext cx="1188720" cy="34747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~140 000 T</a:t>
            </a:r>
            <a:endParaRPr lang="en-US" sz="900" dirty="0"/>
          </a:p>
        </p:txBody>
      </p:sp>
      <p:sp>
        <p:nvSpPr>
          <p:cNvPr id="72" name="Text 70"/>
          <p:cNvSpPr/>
          <p:nvPr/>
        </p:nvSpPr>
        <p:spPr>
          <a:xfrm>
            <a:off x="10424160" y="4096512"/>
            <a:ext cx="1508760" cy="347472"/>
          </a:xfrm>
          <a:prstGeom prst="rect">
            <a:avLst/>
          </a:prstGeom>
          <a:noFill/>
          <a:ln/>
        </p:spPr>
        <p:txBody>
          <a:bodyPr wrap="square" rtlCol="0" anchor="ctr"/>
          <a:lstStyle/>
          <a:p>
            <a:pPr algn="r" indent="0" marL="0">
              <a:buNone/>
            </a:pPr>
            <a:r>
              <a:rPr lang="en-US" sz="900" b="1" dirty="0">
                <a:solidFill>
                  <a:srgbClr val="CC2200"/>
                </a:solidFill>
                <a:latin typeface="Calibri" pitchFamily="34" charset="0"/>
                <a:ea typeface="Calibri" pitchFamily="34" charset="-122"/>
                <a:cs typeface="Calibri" pitchFamily="34" charset="-120"/>
              </a:rPr>
              <a:t>✗ NON CAPTÉ</a:t>
            </a:r>
            <a:endParaRPr lang="en-US" sz="900" dirty="0"/>
          </a:p>
        </p:txBody>
      </p:sp>
      <p:sp>
        <p:nvSpPr>
          <p:cNvPr id="73" name="Shape 71"/>
          <p:cNvSpPr/>
          <p:nvPr/>
        </p:nvSpPr>
        <p:spPr>
          <a:xfrm>
            <a:off x="137160" y="4937760"/>
            <a:ext cx="11795760" cy="777240"/>
          </a:xfrm>
          <a:prstGeom prst="rect">
            <a:avLst/>
          </a:prstGeom>
          <a:solidFill>
            <a:srgbClr val="FFFBEC"/>
          </a:solidFill>
          <a:ln w="6350">
            <a:solidFill>
              <a:srgbClr val="E5C97A"/>
            </a:solidFill>
            <a:prstDash val="solid"/>
          </a:ln>
        </p:spPr>
      </p:sp>
      <p:sp>
        <p:nvSpPr>
          <p:cNvPr id="74" name="Text 72"/>
          <p:cNvSpPr/>
          <p:nvPr/>
        </p:nvSpPr>
        <p:spPr>
          <a:xfrm>
            <a:off x="228600" y="5010912"/>
            <a:ext cx="11612880" cy="66751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CIBLE PÉTROLE : PDM AGL secteur ~4,2%. Présence établie sur SIR CI et Foxtrot. Potentiel non capté : ~330 000 T chez Petro Ivoire + Oryx = +4 pts de PDM secteur. Plan d'approche commercial S2 2026 recommandé (offre intégrée DSM + transit).</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FOCUS SECTORIEL – MINIER  |  Master-list Côte d'Ivoire</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Clients miniers à suivre dans les stats AGL  |  15 comptes CI  |  Or · Manganèse · Nickel · Lithium</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p.29</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1179576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Master-list Mining CI – à croiser systématiquement avec STATCOM / IRIS / GSL</a:t>
            </a:r>
            <a:endParaRPr lang="en-US" sz="1100" dirty="0"/>
          </a:p>
        </p:txBody>
      </p:sp>
      <p:sp>
        <p:nvSpPr>
          <p:cNvPr id="8" name="Shape 6"/>
          <p:cNvSpPr/>
          <p:nvPr/>
        </p:nvSpPr>
        <p:spPr>
          <a:xfrm>
            <a:off x="137160" y="1417320"/>
            <a:ext cx="5806440" cy="256032"/>
          </a:xfrm>
          <a:prstGeom prst="rect">
            <a:avLst/>
          </a:prstGeom>
          <a:solidFill>
            <a:srgbClr val="0D2243"/>
          </a:solidFill>
          <a:ln/>
        </p:spPr>
      </p:sp>
      <p:sp>
        <p:nvSpPr>
          <p:cNvPr id="9" name="Text 7"/>
          <p:cNvSpPr/>
          <p:nvPr/>
        </p:nvSpPr>
        <p:spPr>
          <a:xfrm>
            <a:off x="173736" y="1453896"/>
            <a:ext cx="365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t>
            </a:r>
            <a:endParaRPr lang="en-US" sz="850" dirty="0"/>
          </a:p>
        </p:txBody>
      </p:sp>
      <p:sp>
        <p:nvSpPr>
          <p:cNvPr id="10" name="Text 8"/>
          <p:cNvSpPr/>
          <p:nvPr/>
        </p:nvSpPr>
        <p:spPr>
          <a:xfrm>
            <a:off x="585216" y="1453896"/>
            <a:ext cx="175260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Client CI</a:t>
            </a:r>
            <a:endParaRPr lang="en-US" sz="850" dirty="0"/>
          </a:p>
        </p:txBody>
      </p:sp>
      <p:sp>
        <p:nvSpPr>
          <p:cNvPr id="11" name="Text 9"/>
          <p:cNvSpPr/>
          <p:nvPr/>
        </p:nvSpPr>
        <p:spPr>
          <a:xfrm>
            <a:off x="2383536" y="1453896"/>
            <a:ext cx="175260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Métiers</a:t>
            </a:r>
            <a:endParaRPr lang="en-US" sz="850" dirty="0"/>
          </a:p>
        </p:txBody>
      </p:sp>
      <p:sp>
        <p:nvSpPr>
          <p:cNvPr id="12" name="Text 10"/>
          <p:cNvSpPr/>
          <p:nvPr/>
        </p:nvSpPr>
        <p:spPr>
          <a:xfrm>
            <a:off x="4181856" y="1453896"/>
            <a:ext cx="175260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Flux</a:t>
            </a:r>
            <a:endParaRPr lang="en-US" sz="850" dirty="0"/>
          </a:p>
        </p:txBody>
      </p:sp>
      <p:sp>
        <p:nvSpPr>
          <p:cNvPr id="13" name="Shape 11"/>
          <p:cNvSpPr/>
          <p:nvPr/>
        </p:nvSpPr>
        <p:spPr>
          <a:xfrm>
            <a:off x="137160" y="1673352"/>
            <a:ext cx="5806440" cy="256032"/>
          </a:xfrm>
          <a:prstGeom prst="rect">
            <a:avLst/>
          </a:prstGeom>
          <a:solidFill>
            <a:srgbClr val="FFF9EC"/>
          </a:solidFill>
          <a:ln w="3810">
            <a:solidFill>
              <a:srgbClr val="E5E7EB"/>
            </a:solidFill>
            <a:prstDash val="solid"/>
          </a:ln>
        </p:spPr>
      </p:sp>
      <p:sp>
        <p:nvSpPr>
          <p:cNvPr id="14" name="Text 12"/>
          <p:cNvSpPr/>
          <p:nvPr/>
        </p:nvSpPr>
        <p:spPr>
          <a:xfrm>
            <a:off x="173736" y="1709928"/>
            <a:ext cx="365760" cy="201168"/>
          </a:xfrm>
          <a:prstGeom prst="rect">
            <a:avLst/>
          </a:prstGeom>
          <a:noFill/>
          <a:ln/>
        </p:spPr>
        <p:txBody>
          <a:bodyPr wrap="none" rtlCol="0" anchor="ctr"/>
          <a:lstStyle/>
          <a:p>
            <a:pPr algn="ctr" indent="0" marL="0">
              <a:buNone/>
            </a:pPr>
            <a:r>
              <a:rPr lang="en-US" sz="850" b="1" dirty="0">
                <a:solidFill>
                  <a:srgbClr val="374151"/>
                </a:solidFill>
                <a:latin typeface="Calibri" pitchFamily="34" charset="0"/>
                <a:ea typeface="Calibri" pitchFamily="34" charset="-122"/>
                <a:cs typeface="Calibri" pitchFamily="34" charset="-120"/>
              </a:rPr>
              <a:t>#1</a:t>
            </a:r>
            <a:endParaRPr lang="en-US" sz="850" dirty="0"/>
          </a:p>
        </p:txBody>
      </p:sp>
      <p:sp>
        <p:nvSpPr>
          <p:cNvPr id="15" name="Text 13"/>
          <p:cNvSpPr/>
          <p:nvPr/>
        </p:nvSpPr>
        <p:spPr>
          <a:xfrm>
            <a:off x="585216" y="1709928"/>
            <a:ext cx="175260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AGBAOU GOLD OPERATIONS - AGO</a:t>
            </a:r>
            <a:endParaRPr lang="en-US" sz="850" dirty="0"/>
          </a:p>
        </p:txBody>
      </p:sp>
      <p:sp>
        <p:nvSpPr>
          <p:cNvPr id="16" name="Text 14"/>
          <p:cNvSpPr/>
          <p:nvPr/>
        </p:nvSpPr>
        <p:spPr>
          <a:xfrm>
            <a:off x="2383536" y="1709928"/>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TIM/AER</a:t>
            </a:r>
            <a:endParaRPr lang="en-US" sz="850" dirty="0"/>
          </a:p>
        </p:txBody>
      </p:sp>
      <p:sp>
        <p:nvSpPr>
          <p:cNvPr id="17" name="Text 15"/>
          <p:cNvSpPr/>
          <p:nvPr/>
        </p:nvSpPr>
        <p:spPr>
          <a:xfrm>
            <a:off x="4181856" y="1709928"/>
            <a:ext cx="175260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Import matériels miniers</a:t>
            </a:r>
            <a:endParaRPr lang="en-US" sz="850" dirty="0"/>
          </a:p>
        </p:txBody>
      </p:sp>
      <p:sp>
        <p:nvSpPr>
          <p:cNvPr id="18" name="Shape 16"/>
          <p:cNvSpPr/>
          <p:nvPr/>
        </p:nvSpPr>
        <p:spPr>
          <a:xfrm>
            <a:off x="137160" y="1929384"/>
            <a:ext cx="5806440" cy="256032"/>
          </a:xfrm>
          <a:prstGeom prst="rect">
            <a:avLst/>
          </a:prstGeom>
          <a:solidFill>
            <a:srgbClr val="F8F9FA"/>
          </a:solidFill>
          <a:ln w="3810">
            <a:solidFill>
              <a:srgbClr val="E5E7EB"/>
            </a:solidFill>
            <a:prstDash val="solid"/>
          </a:ln>
        </p:spPr>
      </p:sp>
      <p:sp>
        <p:nvSpPr>
          <p:cNvPr id="19" name="Text 17"/>
          <p:cNvSpPr/>
          <p:nvPr/>
        </p:nvSpPr>
        <p:spPr>
          <a:xfrm>
            <a:off x="173736" y="196596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a:t>
            </a:r>
            <a:endParaRPr lang="en-US" sz="850" dirty="0"/>
          </a:p>
        </p:txBody>
      </p:sp>
      <p:sp>
        <p:nvSpPr>
          <p:cNvPr id="20" name="Text 18"/>
          <p:cNvSpPr/>
          <p:nvPr/>
        </p:nvSpPr>
        <p:spPr>
          <a:xfrm>
            <a:off x="585216" y="1965960"/>
            <a:ext cx="175260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BONIKRO</a:t>
            </a:r>
            <a:endParaRPr lang="en-US" sz="850" dirty="0"/>
          </a:p>
        </p:txBody>
      </p:sp>
      <p:sp>
        <p:nvSpPr>
          <p:cNvPr id="21" name="Text 19"/>
          <p:cNvSpPr/>
          <p:nvPr/>
        </p:nvSpPr>
        <p:spPr>
          <a:xfrm>
            <a:off x="2383536" y="1965960"/>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TIM</a:t>
            </a:r>
            <a:endParaRPr lang="en-US" sz="850" dirty="0"/>
          </a:p>
        </p:txBody>
      </p:sp>
      <p:sp>
        <p:nvSpPr>
          <p:cNvPr id="22" name="Text 20"/>
          <p:cNvSpPr/>
          <p:nvPr/>
        </p:nvSpPr>
        <p:spPr>
          <a:xfrm>
            <a:off x="4181856" y="1965960"/>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Import matériels miniers + consommables</a:t>
            </a:r>
            <a:endParaRPr lang="en-US" sz="850" dirty="0"/>
          </a:p>
        </p:txBody>
      </p:sp>
      <p:sp>
        <p:nvSpPr>
          <p:cNvPr id="23" name="Shape 21"/>
          <p:cNvSpPr/>
          <p:nvPr/>
        </p:nvSpPr>
        <p:spPr>
          <a:xfrm>
            <a:off x="137160" y="2185416"/>
            <a:ext cx="5806440" cy="256032"/>
          </a:xfrm>
          <a:prstGeom prst="rect">
            <a:avLst/>
          </a:prstGeom>
          <a:solidFill>
            <a:srgbClr val="FFFFFF"/>
          </a:solidFill>
          <a:ln w="3810">
            <a:solidFill>
              <a:srgbClr val="E5E7EB"/>
            </a:solidFill>
            <a:prstDash val="solid"/>
          </a:ln>
        </p:spPr>
      </p:sp>
      <p:sp>
        <p:nvSpPr>
          <p:cNvPr id="24" name="Text 22"/>
          <p:cNvSpPr/>
          <p:nvPr/>
        </p:nvSpPr>
        <p:spPr>
          <a:xfrm>
            <a:off x="173736" y="222199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a:t>
            </a:r>
            <a:endParaRPr lang="en-US" sz="850" dirty="0"/>
          </a:p>
        </p:txBody>
      </p:sp>
      <p:sp>
        <p:nvSpPr>
          <p:cNvPr id="25" name="Text 23"/>
          <p:cNvSpPr/>
          <p:nvPr/>
        </p:nvSpPr>
        <p:spPr>
          <a:xfrm>
            <a:off x="585216" y="2221992"/>
            <a:ext cx="175260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SOCIETE MINIERE DE LAFIGUE</a:t>
            </a:r>
            <a:endParaRPr lang="en-US" sz="850" dirty="0"/>
          </a:p>
        </p:txBody>
      </p:sp>
      <p:sp>
        <p:nvSpPr>
          <p:cNvPr id="26" name="Text 24"/>
          <p:cNvSpPr/>
          <p:nvPr/>
        </p:nvSpPr>
        <p:spPr>
          <a:xfrm>
            <a:off x="2383536" y="2221992"/>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TIM</a:t>
            </a:r>
            <a:endParaRPr lang="en-US" sz="850" dirty="0"/>
          </a:p>
        </p:txBody>
      </p:sp>
      <p:sp>
        <p:nvSpPr>
          <p:cNvPr id="27" name="Text 25"/>
          <p:cNvSpPr/>
          <p:nvPr/>
        </p:nvSpPr>
        <p:spPr>
          <a:xfrm>
            <a:off x="4181856" y="2221992"/>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Import exploitation aurifère</a:t>
            </a:r>
            <a:endParaRPr lang="en-US" sz="850" dirty="0"/>
          </a:p>
        </p:txBody>
      </p:sp>
      <p:sp>
        <p:nvSpPr>
          <p:cNvPr id="28" name="Shape 26"/>
          <p:cNvSpPr/>
          <p:nvPr/>
        </p:nvSpPr>
        <p:spPr>
          <a:xfrm>
            <a:off x="137160" y="2441448"/>
            <a:ext cx="5806440" cy="256032"/>
          </a:xfrm>
          <a:prstGeom prst="rect">
            <a:avLst/>
          </a:prstGeom>
          <a:solidFill>
            <a:srgbClr val="F8F9FA"/>
          </a:solidFill>
          <a:ln w="3810">
            <a:solidFill>
              <a:srgbClr val="E5E7EB"/>
            </a:solidFill>
            <a:prstDash val="solid"/>
          </a:ln>
        </p:spPr>
      </p:sp>
      <p:sp>
        <p:nvSpPr>
          <p:cNvPr id="29" name="Text 27"/>
          <p:cNvSpPr/>
          <p:nvPr/>
        </p:nvSpPr>
        <p:spPr>
          <a:xfrm>
            <a:off x="173736" y="247802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a:t>
            </a:r>
            <a:endParaRPr lang="en-US" sz="850" dirty="0"/>
          </a:p>
        </p:txBody>
      </p:sp>
      <p:sp>
        <p:nvSpPr>
          <p:cNvPr id="30" name="Text 28"/>
          <p:cNvSpPr/>
          <p:nvPr/>
        </p:nvSpPr>
        <p:spPr>
          <a:xfrm>
            <a:off x="585216" y="2478024"/>
            <a:ext cx="175260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MINES D'ITY STE</a:t>
            </a:r>
            <a:endParaRPr lang="en-US" sz="850" dirty="0"/>
          </a:p>
        </p:txBody>
      </p:sp>
      <p:sp>
        <p:nvSpPr>
          <p:cNvPr id="31" name="Text 29"/>
          <p:cNvSpPr/>
          <p:nvPr/>
        </p:nvSpPr>
        <p:spPr>
          <a:xfrm>
            <a:off x="2383536" y="2478024"/>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TIM/AER</a:t>
            </a:r>
            <a:endParaRPr lang="en-US" sz="850" dirty="0"/>
          </a:p>
        </p:txBody>
      </p:sp>
      <p:sp>
        <p:nvSpPr>
          <p:cNvPr id="32" name="Text 30"/>
          <p:cNvSpPr/>
          <p:nvPr/>
        </p:nvSpPr>
        <p:spPr>
          <a:xfrm>
            <a:off x="4181856" y="2478024"/>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Import matériels + pièces détachées</a:t>
            </a:r>
            <a:endParaRPr lang="en-US" sz="850" dirty="0"/>
          </a:p>
        </p:txBody>
      </p:sp>
      <p:sp>
        <p:nvSpPr>
          <p:cNvPr id="33" name="Shape 31"/>
          <p:cNvSpPr/>
          <p:nvPr/>
        </p:nvSpPr>
        <p:spPr>
          <a:xfrm>
            <a:off x="137160" y="2697480"/>
            <a:ext cx="5806440" cy="256032"/>
          </a:xfrm>
          <a:prstGeom prst="rect">
            <a:avLst/>
          </a:prstGeom>
          <a:solidFill>
            <a:srgbClr val="FFFFFF"/>
          </a:solidFill>
          <a:ln w="3810">
            <a:solidFill>
              <a:srgbClr val="E5E7EB"/>
            </a:solidFill>
            <a:prstDash val="solid"/>
          </a:ln>
        </p:spPr>
      </p:sp>
      <p:sp>
        <p:nvSpPr>
          <p:cNvPr id="34" name="Text 32"/>
          <p:cNvSpPr/>
          <p:nvPr/>
        </p:nvSpPr>
        <p:spPr>
          <a:xfrm>
            <a:off x="173736" y="273405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a:t>
            </a:r>
            <a:endParaRPr lang="en-US" sz="850" dirty="0"/>
          </a:p>
        </p:txBody>
      </p:sp>
      <p:sp>
        <p:nvSpPr>
          <p:cNvPr id="35" name="Text 33"/>
          <p:cNvSpPr/>
          <p:nvPr/>
        </p:nvSpPr>
        <p:spPr>
          <a:xfrm>
            <a:off x="585216" y="2734056"/>
            <a:ext cx="175260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K1 MINING (MONTAGE GOLD)</a:t>
            </a:r>
            <a:endParaRPr lang="en-US" sz="850" dirty="0"/>
          </a:p>
        </p:txBody>
      </p:sp>
      <p:sp>
        <p:nvSpPr>
          <p:cNvPr id="36" name="Text 34"/>
          <p:cNvSpPr/>
          <p:nvPr/>
        </p:nvSpPr>
        <p:spPr>
          <a:xfrm>
            <a:off x="2383536" y="2734056"/>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TIM/AER</a:t>
            </a:r>
            <a:endParaRPr lang="en-US" sz="850" dirty="0"/>
          </a:p>
        </p:txBody>
      </p:sp>
      <p:sp>
        <p:nvSpPr>
          <p:cNvPr id="37" name="Text 35"/>
          <p:cNvSpPr/>
          <p:nvPr/>
        </p:nvSpPr>
        <p:spPr>
          <a:xfrm>
            <a:off x="4181856" y="2734056"/>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Import projet Montage Gold</a:t>
            </a:r>
            <a:endParaRPr lang="en-US" sz="850" dirty="0"/>
          </a:p>
        </p:txBody>
      </p:sp>
      <p:sp>
        <p:nvSpPr>
          <p:cNvPr id="38" name="Shape 36"/>
          <p:cNvSpPr/>
          <p:nvPr/>
        </p:nvSpPr>
        <p:spPr>
          <a:xfrm>
            <a:off x="137160" y="2953512"/>
            <a:ext cx="5806440" cy="256032"/>
          </a:xfrm>
          <a:prstGeom prst="rect">
            <a:avLst/>
          </a:prstGeom>
          <a:solidFill>
            <a:srgbClr val="F8F9FA"/>
          </a:solidFill>
          <a:ln w="3810">
            <a:solidFill>
              <a:srgbClr val="E5E7EB"/>
            </a:solidFill>
            <a:prstDash val="solid"/>
          </a:ln>
        </p:spPr>
      </p:sp>
      <p:sp>
        <p:nvSpPr>
          <p:cNvPr id="39" name="Text 37"/>
          <p:cNvSpPr/>
          <p:nvPr/>
        </p:nvSpPr>
        <p:spPr>
          <a:xfrm>
            <a:off x="173736" y="299008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a:t>
            </a:r>
            <a:endParaRPr lang="en-US" sz="850" dirty="0"/>
          </a:p>
        </p:txBody>
      </p:sp>
      <p:sp>
        <p:nvSpPr>
          <p:cNvPr id="40" name="Text 38"/>
          <p:cNvSpPr/>
          <p:nvPr/>
        </p:nvSpPr>
        <p:spPr>
          <a:xfrm>
            <a:off x="585216" y="2990088"/>
            <a:ext cx="175260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BUREAU VERITAS CI</a:t>
            </a:r>
            <a:endParaRPr lang="en-US" sz="850" dirty="0"/>
          </a:p>
        </p:txBody>
      </p:sp>
      <p:sp>
        <p:nvSpPr>
          <p:cNvPr id="41" name="Text 39"/>
          <p:cNvSpPr/>
          <p:nvPr/>
        </p:nvSpPr>
        <p:spPr>
          <a:xfrm>
            <a:off x="2383536" y="2990088"/>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AER</a:t>
            </a:r>
            <a:endParaRPr lang="en-US" sz="850" dirty="0"/>
          </a:p>
        </p:txBody>
      </p:sp>
      <p:sp>
        <p:nvSpPr>
          <p:cNvPr id="42" name="Text 40"/>
          <p:cNvSpPr/>
          <p:nvPr/>
        </p:nvSpPr>
        <p:spPr>
          <a:xfrm>
            <a:off x="4181856" y="2990088"/>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Échantillons / laboratoires</a:t>
            </a:r>
            <a:endParaRPr lang="en-US" sz="850" dirty="0"/>
          </a:p>
        </p:txBody>
      </p:sp>
      <p:sp>
        <p:nvSpPr>
          <p:cNvPr id="43" name="Shape 41"/>
          <p:cNvSpPr/>
          <p:nvPr/>
        </p:nvSpPr>
        <p:spPr>
          <a:xfrm>
            <a:off x="137160" y="3209544"/>
            <a:ext cx="5806440" cy="256032"/>
          </a:xfrm>
          <a:prstGeom prst="rect">
            <a:avLst/>
          </a:prstGeom>
          <a:solidFill>
            <a:srgbClr val="FFFFFF"/>
          </a:solidFill>
          <a:ln w="3810">
            <a:solidFill>
              <a:srgbClr val="E5E7EB"/>
            </a:solidFill>
            <a:prstDash val="solid"/>
          </a:ln>
        </p:spPr>
      </p:sp>
      <p:sp>
        <p:nvSpPr>
          <p:cNvPr id="44" name="Text 42"/>
          <p:cNvSpPr/>
          <p:nvPr/>
        </p:nvSpPr>
        <p:spPr>
          <a:xfrm>
            <a:off x="173736" y="324612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a:t>
            </a:r>
            <a:endParaRPr lang="en-US" sz="850" dirty="0"/>
          </a:p>
        </p:txBody>
      </p:sp>
      <p:sp>
        <p:nvSpPr>
          <p:cNvPr id="45" name="Text 43"/>
          <p:cNvSpPr/>
          <p:nvPr/>
        </p:nvSpPr>
        <p:spPr>
          <a:xfrm>
            <a:off x="585216" y="3246120"/>
            <a:ext cx="175260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CORICA</a:t>
            </a:r>
            <a:endParaRPr lang="en-US" sz="850" dirty="0"/>
          </a:p>
        </p:txBody>
      </p:sp>
      <p:sp>
        <p:nvSpPr>
          <p:cNvPr id="46" name="Text 44"/>
          <p:cNvSpPr/>
          <p:nvPr/>
        </p:nvSpPr>
        <p:spPr>
          <a:xfrm>
            <a:off x="2383536" y="3246120"/>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TIM</a:t>
            </a:r>
            <a:endParaRPr lang="en-US" sz="850" dirty="0"/>
          </a:p>
        </p:txBody>
      </p:sp>
      <p:sp>
        <p:nvSpPr>
          <p:cNvPr id="47" name="Text 45"/>
          <p:cNvSpPr/>
          <p:nvPr/>
        </p:nvSpPr>
        <p:spPr>
          <a:xfrm>
            <a:off x="4181856" y="3246120"/>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Manganèse / projets exploration</a:t>
            </a:r>
            <a:endParaRPr lang="en-US" sz="850" dirty="0"/>
          </a:p>
        </p:txBody>
      </p:sp>
      <p:sp>
        <p:nvSpPr>
          <p:cNvPr id="48" name="Shape 46"/>
          <p:cNvSpPr/>
          <p:nvPr/>
        </p:nvSpPr>
        <p:spPr>
          <a:xfrm>
            <a:off x="137160" y="3465576"/>
            <a:ext cx="5806440" cy="256032"/>
          </a:xfrm>
          <a:prstGeom prst="rect">
            <a:avLst/>
          </a:prstGeom>
          <a:solidFill>
            <a:srgbClr val="F8F9FA"/>
          </a:solidFill>
          <a:ln w="3810">
            <a:solidFill>
              <a:srgbClr val="E5E7EB"/>
            </a:solidFill>
            <a:prstDash val="solid"/>
          </a:ln>
        </p:spPr>
      </p:sp>
      <p:sp>
        <p:nvSpPr>
          <p:cNvPr id="49" name="Text 47"/>
          <p:cNvSpPr/>
          <p:nvPr/>
        </p:nvSpPr>
        <p:spPr>
          <a:xfrm>
            <a:off x="173736" y="350215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a:t>
            </a:r>
            <a:endParaRPr lang="en-US" sz="850" dirty="0"/>
          </a:p>
        </p:txBody>
      </p:sp>
      <p:sp>
        <p:nvSpPr>
          <p:cNvPr id="50" name="Text 48"/>
          <p:cNvSpPr/>
          <p:nvPr/>
        </p:nvSpPr>
        <p:spPr>
          <a:xfrm>
            <a:off x="585216" y="3502152"/>
            <a:ext cx="175260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ROXGOLD SANGO</a:t>
            </a:r>
            <a:endParaRPr lang="en-US" sz="850" dirty="0"/>
          </a:p>
        </p:txBody>
      </p:sp>
      <p:sp>
        <p:nvSpPr>
          <p:cNvPr id="51" name="Text 49"/>
          <p:cNvSpPr/>
          <p:nvPr/>
        </p:nvSpPr>
        <p:spPr>
          <a:xfrm>
            <a:off x="2383536" y="3502152"/>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TIM</a:t>
            </a:r>
            <a:endParaRPr lang="en-US" sz="850" dirty="0"/>
          </a:p>
        </p:txBody>
      </p:sp>
      <p:sp>
        <p:nvSpPr>
          <p:cNvPr id="52" name="Text 50"/>
          <p:cNvSpPr/>
          <p:nvPr/>
        </p:nvSpPr>
        <p:spPr>
          <a:xfrm>
            <a:off x="4181856" y="3502152"/>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Or — exploration</a:t>
            </a:r>
            <a:endParaRPr lang="en-US" sz="850" dirty="0"/>
          </a:p>
        </p:txBody>
      </p:sp>
      <p:sp>
        <p:nvSpPr>
          <p:cNvPr id="53" name="Shape 51"/>
          <p:cNvSpPr/>
          <p:nvPr/>
        </p:nvSpPr>
        <p:spPr>
          <a:xfrm>
            <a:off x="6080760" y="1417320"/>
            <a:ext cx="5806440" cy="256032"/>
          </a:xfrm>
          <a:prstGeom prst="rect">
            <a:avLst/>
          </a:prstGeom>
          <a:solidFill>
            <a:srgbClr val="0D2243"/>
          </a:solidFill>
          <a:ln/>
        </p:spPr>
      </p:sp>
      <p:sp>
        <p:nvSpPr>
          <p:cNvPr id="54" name="Text 52"/>
          <p:cNvSpPr/>
          <p:nvPr/>
        </p:nvSpPr>
        <p:spPr>
          <a:xfrm>
            <a:off x="6117336" y="1453896"/>
            <a:ext cx="365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t>
            </a:r>
            <a:endParaRPr lang="en-US" sz="850" dirty="0"/>
          </a:p>
        </p:txBody>
      </p:sp>
      <p:sp>
        <p:nvSpPr>
          <p:cNvPr id="55" name="Text 53"/>
          <p:cNvSpPr/>
          <p:nvPr/>
        </p:nvSpPr>
        <p:spPr>
          <a:xfrm>
            <a:off x="6528816" y="1453896"/>
            <a:ext cx="175260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Client CI</a:t>
            </a:r>
            <a:endParaRPr lang="en-US" sz="850" dirty="0"/>
          </a:p>
        </p:txBody>
      </p:sp>
      <p:sp>
        <p:nvSpPr>
          <p:cNvPr id="56" name="Text 54"/>
          <p:cNvSpPr/>
          <p:nvPr/>
        </p:nvSpPr>
        <p:spPr>
          <a:xfrm>
            <a:off x="8327136" y="1453896"/>
            <a:ext cx="175260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Métiers</a:t>
            </a:r>
            <a:endParaRPr lang="en-US" sz="850" dirty="0"/>
          </a:p>
        </p:txBody>
      </p:sp>
      <p:sp>
        <p:nvSpPr>
          <p:cNvPr id="57" name="Text 55"/>
          <p:cNvSpPr/>
          <p:nvPr/>
        </p:nvSpPr>
        <p:spPr>
          <a:xfrm>
            <a:off x="10125456" y="1453896"/>
            <a:ext cx="175260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Flux</a:t>
            </a:r>
            <a:endParaRPr lang="en-US" sz="850" dirty="0"/>
          </a:p>
        </p:txBody>
      </p:sp>
      <p:sp>
        <p:nvSpPr>
          <p:cNvPr id="58" name="Shape 56"/>
          <p:cNvSpPr/>
          <p:nvPr/>
        </p:nvSpPr>
        <p:spPr>
          <a:xfrm>
            <a:off x="6080760" y="1673352"/>
            <a:ext cx="5806440" cy="256032"/>
          </a:xfrm>
          <a:prstGeom prst="rect">
            <a:avLst/>
          </a:prstGeom>
          <a:solidFill>
            <a:srgbClr val="FFF9EC"/>
          </a:solidFill>
          <a:ln w="3810">
            <a:solidFill>
              <a:srgbClr val="E5E7EB"/>
            </a:solidFill>
            <a:prstDash val="solid"/>
          </a:ln>
        </p:spPr>
      </p:sp>
      <p:sp>
        <p:nvSpPr>
          <p:cNvPr id="59" name="Text 57"/>
          <p:cNvSpPr/>
          <p:nvPr/>
        </p:nvSpPr>
        <p:spPr>
          <a:xfrm>
            <a:off x="6117336" y="1709928"/>
            <a:ext cx="365760" cy="201168"/>
          </a:xfrm>
          <a:prstGeom prst="rect">
            <a:avLst/>
          </a:prstGeom>
          <a:noFill/>
          <a:ln/>
        </p:spPr>
        <p:txBody>
          <a:bodyPr wrap="none" rtlCol="0" anchor="ctr"/>
          <a:lstStyle/>
          <a:p>
            <a:pPr algn="ctr" indent="0" marL="0">
              <a:buNone/>
            </a:pPr>
            <a:r>
              <a:rPr lang="en-US" sz="850" b="1" dirty="0">
                <a:solidFill>
                  <a:srgbClr val="374151"/>
                </a:solidFill>
                <a:latin typeface="Calibri" pitchFamily="34" charset="0"/>
                <a:ea typeface="Calibri" pitchFamily="34" charset="-122"/>
                <a:cs typeface="Calibri" pitchFamily="34" charset="-120"/>
              </a:rPr>
              <a:t>#9</a:t>
            </a:r>
            <a:endParaRPr lang="en-US" sz="850" dirty="0"/>
          </a:p>
        </p:txBody>
      </p:sp>
      <p:sp>
        <p:nvSpPr>
          <p:cNvPr id="60" name="Text 58"/>
          <p:cNvSpPr/>
          <p:nvPr/>
        </p:nvSpPr>
        <p:spPr>
          <a:xfrm>
            <a:off x="6528816" y="1709928"/>
            <a:ext cx="175260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ENDEAVOUR AVIATION</a:t>
            </a:r>
            <a:endParaRPr lang="en-US" sz="850" dirty="0"/>
          </a:p>
        </p:txBody>
      </p:sp>
      <p:sp>
        <p:nvSpPr>
          <p:cNvPr id="61" name="Text 59"/>
          <p:cNvSpPr/>
          <p:nvPr/>
        </p:nvSpPr>
        <p:spPr>
          <a:xfrm>
            <a:off x="8327136" y="1709928"/>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AER</a:t>
            </a:r>
            <a:endParaRPr lang="en-US" sz="850" dirty="0"/>
          </a:p>
        </p:txBody>
      </p:sp>
      <p:sp>
        <p:nvSpPr>
          <p:cNvPr id="62" name="Text 60"/>
          <p:cNvSpPr/>
          <p:nvPr/>
        </p:nvSpPr>
        <p:spPr>
          <a:xfrm>
            <a:off x="10125456" y="1709928"/>
            <a:ext cx="175260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Aéroportage personnel mines</a:t>
            </a:r>
            <a:endParaRPr lang="en-US" sz="850" dirty="0"/>
          </a:p>
        </p:txBody>
      </p:sp>
      <p:sp>
        <p:nvSpPr>
          <p:cNvPr id="63" name="Shape 61"/>
          <p:cNvSpPr/>
          <p:nvPr/>
        </p:nvSpPr>
        <p:spPr>
          <a:xfrm>
            <a:off x="6080760" y="1929384"/>
            <a:ext cx="5806440" cy="256032"/>
          </a:xfrm>
          <a:prstGeom prst="rect">
            <a:avLst/>
          </a:prstGeom>
          <a:solidFill>
            <a:srgbClr val="F8F9FA"/>
          </a:solidFill>
          <a:ln w="3810">
            <a:solidFill>
              <a:srgbClr val="E5E7EB"/>
            </a:solidFill>
            <a:prstDash val="solid"/>
          </a:ln>
        </p:spPr>
      </p:sp>
      <p:sp>
        <p:nvSpPr>
          <p:cNvPr id="64" name="Text 62"/>
          <p:cNvSpPr/>
          <p:nvPr/>
        </p:nvSpPr>
        <p:spPr>
          <a:xfrm>
            <a:off x="6117336" y="196596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a:t>
            </a:r>
            <a:endParaRPr lang="en-US" sz="850" dirty="0"/>
          </a:p>
        </p:txBody>
      </p:sp>
      <p:sp>
        <p:nvSpPr>
          <p:cNvPr id="65" name="Text 63"/>
          <p:cNvSpPr/>
          <p:nvPr/>
        </p:nvSpPr>
        <p:spPr>
          <a:xfrm>
            <a:off x="6528816" y="1965960"/>
            <a:ext cx="175260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3G MINING (MONTAGE GOLD)</a:t>
            </a:r>
            <a:endParaRPr lang="en-US" sz="850" dirty="0"/>
          </a:p>
        </p:txBody>
      </p:sp>
      <p:sp>
        <p:nvSpPr>
          <p:cNvPr id="66" name="Text 64"/>
          <p:cNvSpPr/>
          <p:nvPr/>
        </p:nvSpPr>
        <p:spPr>
          <a:xfrm>
            <a:off x="8327136" y="1965960"/>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TIM</a:t>
            </a:r>
            <a:endParaRPr lang="en-US" sz="850" dirty="0"/>
          </a:p>
        </p:txBody>
      </p:sp>
      <p:sp>
        <p:nvSpPr>
          <p:cNvPr id="67" name="Text 65"/>
          <p:cNvSpPr/>
          <p:nvPr/>
        </p:nvSpPr>
        <p:spPr>
          <a:xfrm>
            <a:off x="10125456" y="1965960"/>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Sous-traitance Montage Gold</a:t>
            </a:r>
            <a:endParaRPr lang="en-US" sz="850" dirty="0"/>
          </a:p>
        </p:txBody>
      </p:sp>
      <p:sp>
        <p:nvSpPr>
          <p:cNvPr id="68" name="Shape 66"/>
          <p:cNvSpPr/>
          <p:nvPr/>
        </p:nvSpPr>
        <p:spPr>
          <a:xfrm>
            <a:off x="6080760" y="2185416"/>
            <a:ext cx="5806440" cy="256032"/>
          </a:xfrm>
          <a:prstGeom prst="rect">
            <a:avLst/>
          </a:prstGeom>
          <a:solidFill>
            <a:srgbClr val="FFFFFF"/>
          </a:solidFill>
          <a:ln w="3810">
            <a:solidFill>
              <a:srgbClr val="E5E7EB"/>
            </a:solidFill>
            <a:prstDash val="solid"/>
          </a:ln>
        </p:spPr>
      </p:sp>
      <p:sp>
        <p:nvSpPr>
          <p:cNvPr id="69" name="Text 67"/>
          <p:cNvSpPr/>
          <p:nvPr/>
        </p:nvSpPr>
        <p:spPr>
          <a:xfrm>
            <a:off x="6117336" y="222199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#11</a:t>
            </a:r>
            <a:endParaRPr lang="en-US" sz="850" dirty="0"/>
          </a:p>
        </p:txBody>
      </p:sp>
      <p:sp>
        <p:nvSpPr>
          <p:cNvPr id="70" name="Text 68"/>
          <p:cNvSpPr/>
          <p:nvPr/>
        </p:nvSpPr>
        <p:spPr>
          <a:xfrm>
            <a:off x="6528816" y="2221992"/>
            <a:ext cx="175260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CMB - COMPAGNIE MINIERE DU BAFING</a:t>
            </a:r>
            <a:endParaRPr lang="en-US" sz="850" dirty="0"/>
          </a:p>
        </p:txBody>
      </p:sp>
      <p:sp>
        <p:nvSpPr>
          <p:cNvPr id="71" name="Text 69"/>
          <p:cNvSpPr/>
          <p:nvPr/>
        </p:nvSpPr>
        <p:spPr>
          <a:xfrm>
            <a:off x="8327136" y="2221992"/>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TIM</a:t>
            </a:r>
            <a:endParaRPr lang="en-US" sz="850" dirty="0"/>
          </a:p>
        </p:txBody>
      </p:sp>
      <p:sp>
        <p:nvSpPr>
          <p:cNvPr id="72" name="Text 70"/>
          <p:cNvSpPr/>
          <p:nvPr/>
        </p:nvSpPr>
        <p:spPr>
          <a:xfrm>
            <a:off x="10125456" y="2221992"/>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Import équipements</a:t>
            </a:r>
            <a:endParaRPr lang="en-US" sz="850" dirty="0"/>
          </a:p>
        </p:txBody>
      </p:sp>
      <p:sp>
        <p:nvSpPr>
          <p:cNvPr id="73" name="Shape 71"/>
          <p:cNvSpPr/>
          <p:nvPr/>
        </p:nvSpPr>
        <p:spPr>
          <a:xfrm>
            <a:off x="6080760" y="2441448"/>
            <a:ext cx="5806440" cy="256032"/>
          </a:xfrm>
          <a:prstGeom prst="rect">
            <a:avLst/>
          </a:prstGeom>
          <a:solidFill>
            <a:srgbClr val="F8F9FA"/>
          </a:solidFill>
          <a:ln w="3810">
            <a:solidFill>
              <a:srgbClr val="E5E7EB"/>
            </a:solidFill>
            <a:prstDash val="solid"/>
          </a:ln>
        </p:spPr>
      </p:sp>
      <p:sp>
        <p:nvSpPr>
          <p:cNvPr id="74" name="Text 72"/>
          <p:cNvSpPr/>
          <p:nvPr/>
        </p:nvSpPr>
        <p:spPr>
          <a:xfrm>
            <a:off x="6117336" y="247802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#12</a:t>
            </a:r>
            <a:endParaRPr lang="en-US" sz="850" dirty="0"/>
          </a:p>
        </p:txBody>
      </p:sp>
      <p:sp>
        <p:nvSpPr>
          <p:cNvPr id="75" name="Text 73"/>
          <p:cNvSpPr/>
          <p:nvPr/>
        </p:nvSpPr>
        <p:spPr>
          <a:xfrm>
            <a:off x="6528816" y="2478024"/>
            <a:ext cx="175260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EQUATORIAL ENGINEERING COTE D'IVOIRE</a:t>
            </a:r>
            <a:endParaRPr lang="en-US" sz="850" dirty="0"/>
          </a:p>
        </p:txBody>
      </p:sp>
      <p:sp>
        <p:nvSpPr>
          <p:cNvPr id="76" name="Text 74"/>
          <p:cNvSpPr/>
          <p:nvPr/>
        </p:nvSpPr>
        <p:spPr>
          <a:xfrm>
            <a:off x="8327136" y="2478024"/>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TIM</a:t>
            </a:r>
            <a:endParaRPr lang="en-US" sz="850" dirty="0"/>
          </a:p>
        </p:txBody>
      </p:sp>
      <p:sp>
        <p:nvSpPr>
          <p:cNvPr id="77" name="Text 75"/>
          <p:cNvSpPr/>
          <p:nvPr/>
        </p:nvSpPr>
        <p:spPr>
          <a:xfrm>
            <a:off x="10125456" y="2478024"/>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Engineering pour mines</a:t>
            </a:r>
            <a:endParaRPr lang="en-US" sz="850" dirty="0"/>
          </a:p>
        </p:txBody>
      </p:sp>
      <p:sp>
        <p:nvSpPr>
          <p:cNvPr id="78" name="Shape 76"/>
          <p:cNvSpPr/>
          <p:nvPr/>
        </p:nvSpPr>
        <p:spPr>
          <a:xfrm>
            <a:off x="6080760" y="2697480"/>
            <a:ext cx="5806440" cy="256032"/>
          </a:xfrm>
          <a:prstGeom prst="rect">
            <a:avLst/>
          </a:prstGeom>
          <a:solidFill>
            <a:srgbClr val="FFFFFF"/>
          </a:solidFill>
          <a:ln w="3810">
            <a:solidFill>
              <a:srgbClr val="E5E7EB"/>
            </a:solidFill>
            <a:prstDash val="solid"/>
          </a:ln>
        </p:spPr>
      </p:sp>
      <p:sp>
        <p:nvSpPr>
          <p:cNvPr id="79" name="Text 77"/>
          <p:cNvSpPr/>
          <p:nvPr/>
        </p:nvSpPr>
        <p:spPr>
          <a:xfrm>
            <a:off x="6117336" y="273405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#13</a:t>
            </a:r>
            <a:endParaRPr lang="en-US" sz="850" dirty="0"/>
          </a:p>
        </p:txBody>
      </p:sp>
      <p:sp>
        <p:nvSpPr>
          <p:cNvPr id="80" name="Text 78"/>
          <p:cNvSpPr/>
          <p:nvPr/>
        </p:nvSpPr>
        <p:spPr>
          <a:xfrm>
            <a:off x="6528816" y="2734056"/>
            <a:ext cx="175260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EXPLORATION AND MINING SUPPLIES</a:t>
            </a:r>
            <a:endParaRPr lang="en-US" sz="850" dirty="0"/>
          </a:p>
        </p:txBody>
      </p:sp>
      <p:sp>
        <p:nvSpPr>
          <p:cNvPr id="81" name="Text 79"/>
          <p:cNvSpPr/>
          <p:nvPr/>
        </p:nvSpPr>
        <p:spPr>
          <a:xfrm>
            <a:off x="8327136" y="2734056"/>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TIM</a:t>
            </a:r>
            <a:endParaRPr lang="en-US" sz="850" dirty="0"/>
          </a:p>
        </p:txBody>
      </p:sp>
      <p:sp>
        <p:nvSpPr>
          <p:cNvPr id="82" name="Text 80"/>
          <p:cNvSpPr/>
          <p:nvPr/>
        </p:nvSpPr>
        <p:spPr>
          <a:xfrm>
            <a:off x="10125456" y="2734056"/>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Fournisseur consommables miniers</a:t>
            </a:r>
            <a:endParaRPr lang="en-US" sz="850" dirty="0"/>
          </a:p>
        </p:txBody>
      </p:sp>
      <p:sp>
        <p:nvSpPr>
          <p:cNvPr id="83" name="Shape 81"/>
          <p:cNvSpPr/>
          <p:nvPr/>
        </p:nvSpPr>
        <p:spPr>
          <a:xfrm>
            <a:off x="6080760" y="2953512"/>
            <a:ext cx="5806440" cy="256032"/>
          </a:xfrm>
          <a:prstGeom prst="rect">
            <a:avLst/>
          </a:prstGeom>
          <a:solidFill>
            <a:srgbClr val="F8F9FA"/>
          </a:solidFill>
          <a:ln w="3810">
            <a:solidFill>
              <a:srgbClr val="E5E7EB"/>
            </a:solidFill>
            <a:prstDash val="solid"/>
          </a:ln>
        </p:spPr>
      </p:sp>
      <p:sp>
        <p:nvSpPr>
          <p:cNvPr id="84" name="Text 82"/>
          <p:cNvSpPr/>
          <p:nvPr/>
        </p:nvSpPr>
        <p:spPr>
          <a:xfrm>
            <a:off x="6117336" y="299008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#14</a:t>
            </a:r>
            <a:endParaRPr lang="en-US" sz="850" dirty="0"/>
          </a:p>
        </p:txBody>
      </p:sp>
      <p:sp>
        <p:nvSpPr>
          <p:cNvPr id="85" name="Text 83"/>
          <p:cNvSpPr/>
          <p:nvPr/>
        </p:nvSpPr>
        <p:spPr>
          <a:xfrm>
            <a:off x="6528816" y="2990088"/>
            <a:ext cx="175260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EPIROC COTE D'IVOIRE</a:t>
            </a:r>
            <a:endParaRPr lang="en-US" sz="850" dirty="0"/>
          </a:p>
        </p:txBody>
      </p:sp>
      <p:sp>
        <p:nvSpPr>
          <p:cNvPr id="86" name="Text 84"/>
          <p:cNvSpPr/>
          <p:nvPr/>
        </p:nvSpPr>
        <p:spPr>
          <a:xfrm>
            <a:off x="8327136" y="2990088"/>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TIM</a:t>
            </a:r>
            <a:endParaRPr lang="en-US" sz="850" dirty="0"/>
          </a:p>
        </p:txBody>
      </p:sp>
      <p:sp>
        <p:nvSpPr>
          <p:cNvPr id="87" name="Text 85"/>
          <p:cNvSpPr/>
          <p:nvPr/>
        </p:nvSpPr>
        <p:spPr>
          <a:xfrm>
            <a:off x="10125456" y="2990088"/>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Équipementier (forage / drilling)</a:t>
            </a:r>
            <a:endParaRPr lang="en-US" sz="850" dirty="0"/>
          </a:p>
        </p:txBody>
      </p:sp>
      <p:sp>
        <p:nvSpPr>
          <p:cNvPr id="88" name="Shape 86"/>
          <p:cNvSpPr/>
          <p:nvPr/>
        </p:nvSpPr>
        <p:spPr>
          <a:xfrm>
            <a:off x="6080760" y="3209544"/>
            <a:ext cx="5806440" cy="256032"/>
          </a:xfrm>
          <a:prstGeom prst="rect">
            <a:avLst/>
          </a:prstGeom>
          <a:solidFill>
            <a:srgbClr val="FFFFFF"/>
          </a:solidFill>
          <a:ln w="3810">
            <a:solidFill>
              <a:srgbClr val="E5E7EB"/>
            </a:solidFill>
            <a:prstDash val="solid"/>
          </a:ln>
        </p:spPr>
      </p:sp>
      <p:sp>
        <p:nvSpPr>
          <p:cNvPr id="89" name="Text 87"/>
          <p:cNvSpPr/>
          <p:nvPr/>
        </p:nvSpPr>
        <p:spPr>
          <a:xfrm>
            <a:off x="6117336" y="324612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#15</a:t>
            </a:r>
            <a:endParaRPr lang="en-US" sz="850" dirty="0"/>
          </a:p>
        </p:txBody>
      </p:sp>
      <p:sp>
        <p:nvSpPr>
          <p:cNvPr id="90" name="Text 88"/>
          <p:cNvSpPr/>
          <p:nvPr/>
        </p:nvSpPr>
        <p:spPr>
          <a:xfrm>
            <a:off x="6528816" y="3246120"/>
            <a:ext cx="175260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SOCIETE DES MINES DE LA LOBO</a:t>
            </a:r>
            <a:endParaRPr lang="en-US" sz="850" dirty="0"/>
          </a:p>
        </p:txBody>
      </p:sp>
      <p:sp>
        <p:nvSpPr>
          <p:cNvPr id="91" name="Text 89"/>
          <p:cNvSpPr/>
          <p:nvPr/>
        </p:nvSpPr>
        <p:spPr>
          <a:xfrm>
            <a:off x="8327136" y="3246120"/>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TIM</a:t>
            </a:r>
            <a:endParaRPr lang="en-US" sz="850" dirty="0"/>
          </a:p>
        </p:txBody>
      </p:sp>
      <p:sp>
        <p:nvSpPr>
          <p:cNvPr id="92" name="Text 90"/>
          <p:cNvSpPr/>
          <p:nvPr/>
        </p:nvSpPr>
        <p:spPr>
          <a:xfrm>
            <a:off x="10125456" y="3246120"/>
            <a:ext cx="175260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Or</a:t>
            </a:r>
            <a:endParaRPr lang="en-US" sz="850" dirty="0"/>
          </a:p>
        </p:txBody>
      </p:sp>
      <p:sp>
        <p:nvSpPr>
          <p:cNvPr id="93" name="Shape 91"/>
          <p:cNvSpPr/>
          <p:nvPr/>
        </p:nvSpPr>
        <p:spPr>
          <a:xfrm>
            <a:off x="137160" y="5074920"/>
            <a:ext cx="11795760" cy="868680"/>
          </a:xfrm>
          <a:prstGeom prst="rect">
            <a:avLst/>
          </a:prstGeom>
          <a:solidFill>
            <a:srgbClr val="FFFBEC"/>
          </a:solidFill>
          <a:ln w="6350">
            <a:solidFill>
              <a:srgbClr val="E5C97A"/>
            </a:solidFill>
            <a:prstDash val="solid"/>
          </a:ln>
        </p:spPr>
      </p:sp>
      <p:sp>
        <p:nvSpPr>
          <p:cNvPr id="94" name="Text 92"/>
          <p:cNvSpPr/>
          <p:nvPr/>
        </p:nvSpPr>
        <p:spPr>
          <a:xfrm>
            <a:off x="228600" y="5148072"/>
            <a:ext cx="11612880" cy="75895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POSITION AGL : 15 clients miniers CI à tracker — TIM dominant (matériels, consommables, drilling) + AER (Bureau Veritas, Endeavour Aviation). Cibles d'enrichissement : SAMA Nickel + Lithium CI absents de la master-list = relai prospection 2026. Stratégie : package minier intégré TIM + AÉRIEN + DSM + HINTERLAND avec contrat-cadre par groupe (Endeavour, Montage Gold).</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FOCUS SECTORIEL – MINIER  |  Hinterland Burkina Faso &amp; Mali</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Clients miniers hinterland à suivre  |  11 comptes BF + 4 comptes MALI  |  Corridor Abidjan → Ouaga / Bamako</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p.29b</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80644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Hinterland Burkina Faso (11 clients)</a:t>
            </a:r>
            <a:endParaRPr lang="en-US" sz="1100" dirty="0"/>
          </a:p>
        </p:txBody>
      </p:sp>
      <p:sp>
        <p:nvSpPr>
          <p:cNvPr id="8" name="Shape 6"/>
          <p:cNvSpPr/>
          <p:nvPr/>
        </p:nvSpPr>
        <p:spPr>
          <a:xfrm>
            <a:off x="137160" y="1371600"/>
            <a:ext cx="580644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t>
            </a:r>
            <a:endParaRPr lang="en-US" sz="850" dirty="0"/>
          </a:p>
        </p:txBody>
      </p:sp>
      <p:sp>
        <p:nvSpPr>
          <p:cNvPr id="10" name="Text 8"/>
          <p:cNvSpPr/>
          <p:nvPr/>
        </p:nvSpPr>
        <p:spPr>
          <a:xfrm>
            <a:off x="585216" y="1408176"/>
            <a:ext cx="265176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Client BF</a:t>
            </a:r>
            <a:endParaRPr lang="en-US" sz="850" dirty="0"/>
          </a:p>
        </p:txBody>
      </p:sp>
      <p:sp>
        <p:nvSpPr>
          <p:cNvPr id="11" name="Text 9"/>
          <p:cNvSpPr/>
          <p:nvPr/>
        </p:nvSpPr>
        <p:spPr>
          <a:xfrm>
            <a:off x="3282696" y="1408176"/>
            <a:ext cx="2651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Activité / Mine</a:t>
            </a:r>
            <a:endParaRPr lang="en-US" sz="850" dirty="0"/>
          </a:p>
        </p:txBody>
      </p:sp>
      <p:sp>
        <p:nvSpPr>
          <p:cNvPr id="12" name="Shape 10"/>
          <p:cNvSpPr/>
          <p:nvPr/>
        </p:nvSpPr>
        <p:spPr>
          <a:xfrm>
            <a:off x="137160" y="1627632"/>
            <a:ext cx="5806440" cy="256032"/>
          </a:xfrm>
          <a:prstGeom prst="rect">
            <a:avLst/>
          </a:prstGeom>
          <a:solidFill>
            <a:srgbClr val="FFF9EC"/>
          </a:solidFill>
          <a:ln w="3810">
            <a:solidFill>
              <a:srgbClr val="E5E7EB"/>
            </a:solidFill>
            <a:prstDash val="solid"/>
          </a:ln>
        </p:spPr>
      </p:sp>
      <p:sp>
        <p:nvSpPr>
          <p:cNvPr id="13" name="Text 11"/>
          <p:cNvSpPr/>
          <p:nvPr/>
        </p:nvSpPr>
        <p:spPr>
          <a:xfrm>
            <a:off x="173736" y="1664208"/>
            <a:ext cx="365760" cy="201168"/>
          </a:xfrm>
          <a:prstGeom prst="rect">
            <a:avLst/>
          </a:prstGeom>
          <a:noFill/>
          <a:ln/>
        </p:spPr>
        <p:txBody>
          <a:bodyPr wrap="none" rtlCol="0" anchor="ctr"/>
          <a:lstStyle/>
          <a:p>
            <a:pPr algn="ctr" indent="0" marL="0">
              <a:buNone/>
            </a:pPr>
            <a:r>
              <a:rPr lang="en-US" sz="850" b="1" dirty="0">
                <a:solidFill>
                  <a:srgbClr val="374151"/>
                </a:solidFill>
                <a:latin typeface="Calibri" pitchFamily="34" charset="0"/>
                <a:ea typeface="Calibri" pitchFamily="34" charset="-122"/>
                <a:cs typeface="Calibri" pitchFamily="34" charset="-120"/>
              </a:rPr>
              <a:t>#1</a:t>
            </a:r>
            <a:endParaRPr lang="en-US" sz="850" dirty="0"/>
          </a:p>
        </p:txBody>
      </p:sp>
      <p:sp>
        <p:nvSpPr>
          <p:cNvPr id="14" name="Text 12"/>
          <p:cNvSpPr/>
          <p:nvPr/>
        </p:nvSpPr>
        <p:spPr>
          <a:xfrm>
            <a:off x="585216" y="1664208"/>
            <a:ext cx="265176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AUMS BURKINA FASO SARL</a:t>
            </a:r>
            <a:endParaRPr lang="en-US" sz="850" dirty="0"/>
          </a:p>
        </p:txBody>
      </p:sp>
      <p:sp>
        <p:nvSpPr>
          <p:cNvPr id="15" name="Text 13"/>
          <p:cNvSpPr/>
          <p:nvPr/>
        </p:nvSpPr>
        <p:spPr>
          <a:xfrm>
            <a:off x="3282696" y="1664208"/>
            <a:ext cx="265176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Import matériels via corridor Abidjan-Ouaga</a:t>
            </a:r>
            <a:endParaRPr lang="en-US" sz="850" dirty="0"/>
          </a:p>
        </p:txBody>
      </p:sp>
      <p:sp>
        <p:nvSpPr>
          <p:cNvPr id="16" name="Shape 14"/>
          <p:cNvSpPr/>
          <p:nvPr/>
        </p:nvSpPr>
        <p:spPr>
          <a:xfrm>
            <a:off x="137160" y="1883664"/>
            <a:ext cx="5806440" cy="256032"/>
          </a:xfrm>
          <a:prstGeom prst="rect">
            <a:avLst/>
          </a:prstGeom>
          <a:solidFill>
            <a:srgbClr val="F8F9FA"/>
          </a:solidFill>
          <a:ln w="3810">
            <a:solidFill>
              <a:srgbClr val="E5E7EB"/>
            </a:solidFill>
            <a:prstDash val="solid"/>
          </a:ln>
        </p:spPr>
      </p:sp>
      <p:sp>
        <p:nvSpPr>
          <p:cNvPr id="17" name="Text 15"/>
          <p:cNvSpPr/>
          <p:nvPr/>
        </p:nvSpPr>
        <p:spPr>
          <a:xfrm>
            <a:off x="173736" y="192024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a:t>
            </a:r>
            <a:endParaRPr lang="en-US" sz="850" dirty="0"/>
          </a:p>
        </p:txBody>
      </p:sp>
      <p:sp>
        <p:nvSpPr>
          <p:cNvPr id="18" name="Text 16"/>
          <p:cNvSpPr/>
          <p:nvPr/>
        </p:nvSpPr>
        <p:spPr>
          <a:xfrm>
            <a:off x="585216" y="1920240"/>
            <a:ext cx="2651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SOMISA SA</a:t>
            </a:r>
            <a:endParaRPr lang="en-US" sz="850" dirty="0"/>
          </a:p>
        </p:txBody>
      </p:sp>
      <p:sp>
        <p:nvSpPr>
          <p:cNvPr id="19" name="Text 17"/>
          <p:cNvSpPr/>
          <p:nvPr/>
        </p:nvSpPr>
        <p:spPr>
          <a:xfrm>
            <a:off x="3282696" y="1920240"/>
            <a:ext cx="2651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Société des Mines de Sanbrado</a:t>
            </a:r>
            <a:endParaRPr lang="en-US" sz="850" dirty="0"/>
          </a:p>
        </p:txBody>
      </p:sp>
      <p:sp>
        <p:nvSpPr>
          <p:cNvPr id="20" name="Shape 18"/>
          <p:cNvSpPr/>
          <p:nvPr/>
        </p:nvSpPr>
        <p:spPr>
          <a:xfrm>
            <a:off x="137160" y="2139696"/>
            <a:ext cx="5806440" cy="256032"/>
          </a:xfrm>
          <a:prstGeom prst="rect">
            <a:avLst/>
          </a:prstGeom>
          <a:solidFill>
            <a:srgbClr val="FFFFFF"/>
          </a:solidFill>
          <a:ln w="3810">
            <a:solidFill>
              <a:srgbClr val="E5E7EB"/>
            </a:solidFill>
            <a:prstDash val="solid"/>
          </a:ln>
        </p:spPr>
      </p:sp>
      <p:sp>
        <p:nvSpPr>
          <p:cNvPr id="21" name="Text 19"/>
          <p:cNvSpPr/>
          <p:nvPr/>
        </p:nvSpPr>
        <p:spPr>
          <a:xfrm>
            <a:off x="173736" y="217627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a:t>
            </a:r>
            <a:endParaRPr lang="en-US" sz="850" dirty="0"/>
          </a:p>
        </p:txBody>
      </p:sp>
      <p:sp>
        <p:nvSpPr>
          <p:cNvPr id="22" name="Text 20"/>
          <p:cNvSpPr/>
          <p:nvPr/>
        </p:nvSpPr>
        <p:spPr>
          <a:xfrm>
            <a:off x="585216" y="2176272"/>
            <a:ext cx="2651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HOUNDE GOLD OPERATION SA</a:t>
            </a:r>
            <a:endParaRPr lang="en-US" sz="850" dirty="0"/>
          </a:p>
        </p:txBody>
      </p:sp>
      <p:sp>
        <p:nvSpPr>
          <p:cNvPr id="23" name="Text 21"/>
          <p:cNvSpPr/>
          <p:nvPr/>
        </p:nvSpPr>
        <p:spPr>
          <a:xfrm>
            <a:off x="3282696" y="2176272"/>
            <a:ext cx="2651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Or — Endeavour</a:t>
            </a:r>
            <a:endParaRPr lang="en-US" sz="850" dirty="0"/>
          </a:p>
        </p:txBody>
      </p:sp>
      <p:sp>
        <p:nvSpPr>
          <p:cNvPr id="24" name="Shape 22"/>
          <p:cNvSpPr/>
          <p:nvPr/>
        </p:nvSpPr>
        <p:spPr>
          <a:xfrm>
            <a:off x="137160" y="2395728"/>
            <a:ext cx="5806440" cy="256032"/>
          </a:xfrm>
          <a:prstGeom prst="rect">
            <a:avLst/>
          </a:prstGeom>
          <a:solidFill>
            <a:srgbClr val="F8F9FA"/>
          </a:solidFill>
          <a:ln w="3810">
            <a:solidFill>
              <a:srgbClr val="E5E7EB"/>
            </a:solidFill>
            <a:prstDash val="solid"/>
          </a:ln>
        </p:spPr>
      </p:sp>
      <p:sp>
        <p:nvSpPr>
          <p:cNvPr id="25" name="Text 23"/>
          <p:cNvSpPr/>
          <p:nvPr/>
        </p:nvSpPr>
        <p:spPr>
          <a:xfrm>
            <a:off x="173736" y="243230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a:t>
            </a:r>
            <a:endParaRPr lang="en-US" sz="850" dirty="0"/>
          </a:p>
        </p:txBody>
      </p:sp>
      <p:sp>
        <p:nvSpPr>
          <p:cNvPr id="26" name="Text 24"/>
          <p:cNvSpPr/>
          <p:nvPr/>
        </p:nvSpPr>
        <p:spPr>
          <a:xfrm>
            <a:off x="585216" y="2432304"/>
            <a:ext cx="2651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OREZONE BOMBORE SA</a:t>
            </a:r>
            <a:endParaRPr lang="en-US" sz="850" dirty="0"/>
          </a:p>
        </p:txBody>
      </p:sp>
      <p:sp>
        <p:nvSpPr>
          <p:cNvPr id="27" name="Text 25"/>
          <p:cNvSpPr/>
          <p:nvPr/>
        </p:nvSpPr>
        <p:spPr>
          <a:xfrm>
            <a:off x="3282696" y="2432304"/>
            <a:ext cx="2651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Or — Bombore</a:t>
            </a:r>
            <a:endParaRPr lang="en-US" sz="850" dirty="0"/>
          </a:p>
        </p:txBody>
      </p:sp>
      <p:sp>
        <p:nvSpPr>
          <p:cNvPr id="28" name="Shape 26"/>
          <p:cNvSpPr/>
          <p:nvPr/>
        </p:nvSpPr>
        <p:spPr>
          <a:xfrm>
            <a:off x="137160" y="2651760"/>
            <a:ext cx="5806440" cy="256032"/>
          </a:xfrm>
          <a:prstGeom prst="rect">
            <a:avLst/>
          </a:prstGeom>
          <a:solidFill>
            <a:srgbClr val="FFFFFF"/>
          </a:solidFill>
          <a:ln w="3810">
            <a:solidFill>
              <a:srgbClr val="E5E7EB"/>
            </a:solidFill>
            <a:prstDash val="solid"/>
          </a:ln>
        </p:spPr>
      </p:sp>
      <p:sp>
        <p:nvSpPr>
          <p:cNvPr id="29" name="Text 27"/>
          <p:cNvSpPr/>
          <p:nvPr/>
        </p:nvSpPr>
        <p:spPr>
          <a:xfrm>
            <a:off x="173736" y="268833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a:t>
            </a:r>
            <a:endParaRPr lang="en-US" sz="850" dirty="0"/>
          </a:p>
        </p:txBody>
      </p:sp>
      <p:sp>
        <p:nvSpPr>
          <p:cNvPr id="30" name="Text 28"/>
          <p:cNvSpPr/>
          <p:nvPr/>
        </p:nvSpPr>
        <p:spPr>
          <a:xfrm>
            <a:off x="585216" y="2688336"/>
            <a:ext cx="2651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BYRNECUT BURKINA FASO SARL</a:t>
            </a:r>
            <a:endParaRPr lang="en-US" sz="850" dirty="0"/>
          </a:p>
        </p:txBody>
      </p:sp>
      <p:sp>
        <p:nvSpPr>
          <p:cNvPr id="31" name="Text 29"/>
          <p:cNvSpPr/>
          <p:nvPr/>
        </p:nvSpPr>
        <p:spPr>
          <a:xfrm>
            <a:off x="3282696" y="2688336"/>
            <a:ext cx="2651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Sous-traitance minière</a:t>
            </a:r>
            <a:endParaRPr lang="en-US" sz="850" dirty="0"/>
          </a:p>
        </p:txBody>
      </p:sp>
      <p:sp>
        <p:nvSpPr>
          <p:cNvPr id="32" name="Shape 30"/>
          <p:cNvSpPr/>
          <p:nvPr/>
        </p:nvSpPr>
        <p:spPr>
          <a:xfrm>
            <a:off x="137160" y="2907792"/>
            <a:ext cx="5806440" cy="256032"/>
          </a:xfrm>
          <a:prstGeom prst="rect">
            <a:avLst/>
          </a:prstGeom>
          <a:solidFill>
            <a:srgbClr val="F8F9FA"/>
          </a:solidFill>
          <a:ln w="3810">
            <a:solidFill>
              <a:srgbClr val="E5E7EB"/>
            </a:solidFill>
            <a:prstDash val="solid"/>
          </a:ln>
        </p:spPr>
      </p:sp>
      <p:sp>
        <p:nvSpPr>
          <p:cNvPr id="33" name="Text 31"/>
          <p:cNvSpPr/>
          <p:nvPr/>
        </p:nvSpPr>
        <p:spPr>
          <a:xfrm>
            <a:off x="173736" y="294436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a:t>
            </a:r>
            <a:endParaRPr lang="en-US" sz="850" dirty="0"/>
          </a:p>
        </p:txBody>
      </p:sp>
      <p:sp>
        <p:nvSpPr>
          <p:cNvPr id="34" name="Text 32"/>
          <p:cNvSpPr/>
          <p:nvPr/>
        </p:nvSpPr>
        <p:spPr>
          <a:xfrm>
            <a:off x="585216" y="2944368"/>
            <a:ext cx="2651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ESSAKANE BF</a:t>
            </a:r>
            <a:endParaRPr lang="en-US" sz="850" dirty="0"/>
          </a:p>
        </p:txBody>
      </p:sp>
      <p:sp>
        <p:nvSpPr>
          <p:cNvPr id="35" name="Text 33"/>
          <p:cNvSpPr/>
          <p:nvPr/>
        </p:nvSpPr>
        <p:spPr>
          <a:xfrm>
            <a:off x="3282696" y="2944368"/>
            <a:ext cx="2651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Iamgold Essakane</a:t>
            </a:r>
            <a:endParaRPr lang="en-US" sz="850" dirty="0"/>
          </a:p>
        </p:txBody>
      </p:sp>
      <p:sp>
        <p:nvSpPr>
          <p:cNvPr id="36" name="Shape 34"/>
          <p:cNvSpPr/>
          <p:nvPr/>
        </p:nvSpPr>
        <p:spPr>
          <a:xfrm>
            <a:off x="137160" y="3163824"/>
            <a:ext cx="5806440" cy="256032"/>
          </a:xfrm>
          <a:prstGeom prst="rect">
            <a:avLst/>
          </a:prstGeom>
          <a:solidFill>
            <a:srgbClr val="FFFFFF"/>
          </a:solidFill>
          <a:ln w="3810">
            <a:solidFill>
              <a:srgbClr val="E5E7EB"/>
            </a:solidFill>
            <a:prstDash val="solid"/>
          </a:ln>
        </p:spPr>
      </p:sp>
      <p:sp>
        <p:nvSpPr>
          <p:cNvPr id="37" name="Text 35"/>
          <p:cNvSpPr/>
          <p:nvPr/>
        </p:nvSpPr>
        <p:spPr>
          <a:xfrm>
            <a:off x="173736" y="320040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a:t>
            </a:r>
            <a:endParaRPr lang="en-US" sz="850" dirty="0"/>
          </a:p>
        </p:txBody>
      </p:sp>
      <p:sp>
        <p:nvSpPr>
          <p:cNvPr id="38" name="Text 36"/>
          <p:cNvSpPr/>
          <p:nvPr/>
        </p:nvSpPr>
        <p:spPr>
          <a:xfrm>
            <a:off x="585216" y="3200400"/>
            <a:ext cx="2651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BURKINA MINING COMPANY SA</a:t>
            </a:r>
            <a:endParaRPr lang="en-US" sz="850" dirty="0"/>
          </a:p>
        </p:txBody>
      </p:sp>
      <p:sp>
        <p:nvSpPr>
          <p:cNvPr id="39" name="Text 37"/>
          <p:cNvSpPr/>
          <p:nvPr/>
        </p:nvSpPr>
        <p:spPr>
          <a:xfrm>
            <a:off x="3282696" y="3200400"/>
            <a:ext cx="2651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Or</a:t>
            </a:r>
            <a:endParaRPr lang="en-US" sz="850" dirty="0"/>
          </a:p>
        </p:txBody>
      </p:sp>
      <p:sp>
        <p:nvSpPr>
          <p:cNvPr id="40" name="Shape 38"/>
          <p:cNvSpPr/>
          <p:nvPr/>
        </p:nvSpPr>
        <p:spPr>
          <a:xfrm>
            <a:off x="137160" y="3419856"/>
            <a:ext cx="5806440" cy="256032"/>
          </a:xfrm>
          <a:prstGeom prst="rect">
            <a:avLst/>
          </a:prstGeom>
          <a:solidFill>
            <a:srgbClr val="F8F9FA"/>
          </a:solidFill>
          <a:ln w="3810">
            <a:solidFill>
              <a:srgbClr val="E5E7EB"/>
            </a:solidFill>
            <a:prstDash val="solid"/>
          </a:ln>
        </p:spPr>
      </p:sp>
      <p:sp>
        <p:nvSpPr>
          <p:cNvPr id="41" name="Text 39"/>
          <p:cNvSpPr/>
          <p:nvPr/>
        </p:nvSpPr>
        <p:spPr>
          <a:xfrm>
            <a:off x="173736" y="345643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a:t>
            </a:r>
            <a:endParaRPr lang="en-US" sz="850" dirty="0"/>
          </a:p>
        </p:txBody>
      </p:sp>
      <p:sp>
        <p:nvSpPr>
          <p:cNvPr id="42" name="Text 40"/>
          <p:cNvSpPr/>
          <p:nvPr/>
        </p:nvSpPr>
        <p:spPr>
          <a:xfrm>
            <a:off x="585216" y="3456432"/>
            <a:ext cx="2651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WAHGNION GOLD OPERATIONS</a:t>
            </a:r>
            <a:endParaRPr lang="en-US" sz="850" dirty="0"/>
          </a:p>
        </p:txBody>
      </p:sp>
      <p:sp>
        <p:nvSpPr>
          <p:cNvPr id="43" name="Text 41"/>
          <p:cNvSpPr/>
          <p:nvPr/>
        </p:nvSpPr>
        <p:spPr>
          <a:xfrm>
            <a:off x="3282696" y="3456432"/>
            <a:ext cx="2651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Or — Endeavour</a:t>
            </a:r>
            <a:endParaRPr lang="en-US" sz="850" dirty="0"/>
          </a:p>
        </p:txBody>
      </p:sp>
      <p:sp>
        <p:nvSpPr>
          <p:cNvPr id="44" name="Shape 42"/>
          <p:cNvSpPr/>
          <p:nvPr/>
        </p:nvSpPr>
        <p:spPr>
          <a:xfrm>
            <a:off x="137160" y="3675888"/>
            <a:ext cx="5806440" cy="256032"/>
          </a:xfrm>
          <a:prstGeom prst="rect">
            <a:avLst/>
          </a:prstGeom>
          <a:solidFill>
            <a:srgbClr val="FFFFFF"/>
          </a:solidFill>
          <a:ln w="3810">
            <a:solidFill>
              <a:srgbClr val="E5E7EB"/>
            </a:solidFill>
            <a:prstDash val="solid"/>
          </a:ln>
        </p:spPr>
      </p:sp>
      <p:sp>
        <p:nvSpPr>
          <p:cNvPr id="45" name="Text 43"/>
          <p:cNvSpPr/>
          <p:nvPr/>
        </p:nvSpPr>
        <p:spPr>
          <a:xfrm>
            <a:off x="173736" y="371246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a:t>
            </a:r>
            <a:endParaRPr lang="en-US" sz="850" dirty="0"/>
          </a:p>
        </p:txBody>
      </p:sp>
      <p:sp>
        <p:nvSpPr>
          <p:cNvPr id="46" name="Text 44"/>
          <p:cNvSpPr/>
          <p:nvPr/>
        </p:nvSpPr>
        <p:spPr>
          <a:xfrm>
            <a:off x="585216" y="3712464"/>
            <a:ext cx="2651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SEMAFO BURKINA FASO</a:t>
            </a:r>
            <a:endParaRPr lang="en-US" sz="850" dirty="0"/>
          </a:p>
        </p:txBody>
      </p:sp>
      <p:sp>
        <p:nvSpPr>
          <p:cNvPr id="47" name="Text 45"/>
          <p:cNvSpPr/>
          <p:nvPr/>
        </p:nvSpPr>
        <p:spPr>
          <a:xfrm>
            <a:off x="3282696" y="3712464"/>
            <a:ext cx="2651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Or — Mana / Boungou</a:t>
            </a:r>
            <a:endParaRPr lang="en-US" sz="850" dirty="0"/>
          </a:p>
        </p:txBody>
      </p:sp>
      <p:sp>
        <p:nvSpPr>
          <p:cNvPr id="48" name="Shape 46"/>
          <p:cNvSpPr/>
          <p:nvPr/>
        </p:nvSpPr>
        <p:spPr>
          <a:xfrm>
            <a:off x="137160" y="3931920"/>
            <a:ext cx="5806440" cy="256032"/>
          </a:xfrm>
          <a:prstGeom prst="rect">
            <a:avLst/>
          </a:prstGeom>
          <a:solidFill>
            <a:srgbClr val="F8F9FA"/>
          </a:solidFill>
          <a:ln w="3810">
            <a:solidFill>
              <a:srgbClr val="E5E7EB"/>
            </a:solidFill>
            <a:prstDash val="solid"/>
          </a:ln>
        </p:spPr>
      </p:sp>
      <p:sp>
        <p:nvSpPr>
          <p:cNvPr id="49" name="Text 47"/>
          <p:cNvSpPr/>
          <p:nvPr/>
        </p:nvSpPr>
        <p:spPr>
          <a:xfrm>
            <a:off x="173736" y="3968496"/>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a:t>
            </a:r>
            <a:endParaRPr lang="en-US" sz="850" dirty="0"/>
          </a:p>
        </p:txBody>
      </p:sp>
      <p:sp>
        <p:nvSpPr>
          <p:cNvPr id="50" name="Text 48"/>
          <p:cNvSpPr/>
          <p:nvPr/>
        </p:nvSpPr>
        <p:spPr>
          <a:xfrm>
            <a:off x="585216" y="3968496"/>
            <a:ext cx="2651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TOEGA SA</a:t>
            </a:r>
            <a:endParaRPr lang="en-US" sz="850" dirty="0"/>
          </a:p>
        </p:txBody>
      </p:sp>
      <p:sp>
        <p:nvSpPr>
          <p:cNvPr id="51" name="Text 49"/>
          <p:cNvSpPr/>
          <p:nvPr/>
        </p:nvSpPr>
        <p:spPr>
          <a:xfrm>
            <a:off x="3282696" y="3968496"/>
            <a:ext cx="2651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Or — projet Toega</a:t>
            </a:r>
            <a:endParaRPr lang="en-US" sz="850" dirty="0"/>
          </a:p>
        </p:txBody>
      </p:sp>
      <p:sp>
        <p:nvSpPr>
          <p:cNvPr id="52" name="Shape 50"/>
          <p:cNvSpPr/>
          <p:nvPr/>
        </p:nvSpPr>
        <p:spPr>
          <a:xfrm>
            <a:off x="137160" y="4187952"/>
            <a:ext cx="5806440" cy="256032"/>
          </a:xfrm>
          <a:prstGeom prst="rect">
            <a:avLst/>
          </a:prstGeom>
          <a:solidFill>
            <a:srgbClr val="FFFFFF"/>
          </a:solidFill>
          <a:ln w="3810">
            <a:solidFill>
              <a:srgbClr val="E5E7EB"/>
            </a:solidFill>
            <a:prstDash val="solid"/>
          </a:ln>
        </p:spPr>
      </p:sp>
      <p:sp>
        <p:nvSpPr>
          <p:cNvPr id="53" name="Text 51"/>
          <p:cNvSpPr/>
          <p:nvPr/>
        </p:nvSpPr>
        <p:spPr>
          <a:xfrm>
            <a:off x="173736" y="4224528"/>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#11</a:t>
            </a:r>
            <a:endParaRPr lang="en-US" sz="850" dirty="0"/>
          </a:p>
        </p:txBody>
      </p:sp>
      <p:sp>
        <p:nvSpPr>
          <p:cNvPr id="54" name="Text 52"/>
          <p:cNvSpPr/>
          <p:nvPr/>
        </p:nvSpPr>
        <p:spPr>
          <a:xfrm>
            <a:off x="585216" y="4224528"/>
            <a:ext cx="2651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UNDERGROUND MINING SERVICES BURKINA</a:t>
            </a:r>
            <a:endParaRPr lang="en-US" sz="850" dirty="0"/>
          </a:p>
        </p:txBody>
      </p:sp>
      <p:sp>
        <p:nvSpPr>
          <p:cNvPr id="55" name="Text 53"/>
          <p:cNvSpPr/>
          <p:nvPr/>
        </p:nvSpPr>
        <p:spPr>
          <a:xfrm>
            <a:off x="3282696" y="4224528"/>
            <a:ext cx="2651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Sous-traitance souterraine</a:t>
            </a:r>
            <a:endParaRPr lang="en-US" sz="850" dirty="0"/>
          </a:p>
        </p:txBody>
      </p:sp>
      <p:sp>
        <p:nvSpPr>
          <p:cNvPr id="56" name="Text 54"/>
          <p:cNvSpPr/>
          <p:nvPr/>
        </p:nvSpPr>
        <p:spPr>
          <a:xfrm>
            <a:off x="6080760" y="1097280"/>
            <a:ext cx="580644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Hinterland Mali (4 clients)</a:t>
            </a:r>
            <a:endParaRPr lang="en-US" sz="1100" dirty="0"/>
          </a:p>
        </p:txBody>
      </p:sp>
      <p:sp>
        <p:nvSpPr>
          <p:cNvPr id="57" name="Shape 55"/>
          <p:cNvSpPr/>
          <p:nvPr/>
        </p:nvSpPr>
        <p:spPr>
          <a:xfrm>
            <a:off x="6080760" y="1371600"/>
            <a:ext cx="5806440" cy="256032"/>
          </a:xfrm>
          <a:prstGeom prst="rect">
            <a:avLst/>
          </a:prstGeom>
          <a:solidFill>
            <a:srgbClr val="0D2243"/>
          </a:solidFill>
          <a:ln/>
        </p:spPr>
      </p:sp>
      <p:sp>
        <p:nvSpPr>
          <p:cNvPr id="58" name="Text 56"/>
          <p:cNvSpPr/>
          <p:nvPr/>
        </p:nvSpPr>
        <p:spPr>
          <a:xfrm>
            <a:off x="6117336" y="1408176"/>
            <a:ext cx="365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t>
            </a:r>
            <a:endParaRPr lang="en-US" sz="850" dirty="0"/>
          </a:p>
        </p:txBody>
      </p:sp>
      <p:sp>
        <p:nvSpPr>
          <p:cNvPr id="59" name="Text 57"/>
          <p:cNvSpPr/>
          <p:nvPr/>
        </p:nvSpPr>
        <p:spPr>
          <a:xfrm>
            <a:off x="6528816" y="1408176"/>
            <a:ext cx="2651760"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Client MALI</a:t>
            </a:r>
            <a:endParaRPr lang="en-US" sz="850" dirty="0"/>
          </a:p>
        </p:txBody>
      </p:sp>
      <p:sp>
        <p:nvSpPr>
          <p:cNvPr id="60" name="Text 58"/>
          <p:cNvSpPr/>
          <p:nvPr/>
        </p:nvSpPr>
        <p:spPr>
          <a:xfrm>
            <a:off x="9226296" y="1408176"/>
            <a:ext cx="2651760"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Activité / Mine</a:t>
            </a:r>
            <a:endParaRPr lang="en-US" sz="850" dirty="0"/>
          </a:p>
        </p:txBody>
      </p:sp>
      <p:sp>
        <p:nvSpPr>
          <p:cNvPr id="61" name="Shape 59"/>
          <p:cNvSpPr/>
          <p:nvPr/>
        </p:nvSpPr>
        <p:spPr>
          <a:xfrm>
            <a:off x="6080760" y="1627632"/>
            <a:ext cx="5806440" cy="256032"/>
          </a:xfrm>
          <a:prstGeom prst="rect">
            <a:avLst/>
          </a:prstGeom>
          <a:solidFill>
            <a:srgbClr val="FFF9EC"/>
          </a:solidFill>
          <a:ln w="3810">
            <a:solidFill>
              <a:srgbClr val="E5E7EB"/>
            </a:solidFill>
            <a:prstDash val="solid"/>
          </a:ln>
        </p:spPr>
      </p:sp>
      <p:sp>
        <p:nvSpPr>
          <p:cNvPr id="62" name="Text 60"/>
          <p:cNvSpPr/>
          <p:nvPr/>
        </p:nvSpPr>
        <p:spPr>
          <a:xfrm>
            <a:off x="6117336" y="1664208"/>
            <a:ext cx="365760" cy="201168"/>
          </a:xfrm>
          <a:prstGeom prst="rect">
            <a:avLst/>
          </a:prstGeom>
          <a:noFill/>
          <a:ln/>
        </p:spPr>
        <p:txBody>
          <a:bodyPr wrap="none" rtlCol="0" anchor="ctr"/>
          <a:lstStyle/>
          <a:p>
            <a:pPr algn="ctr" indent="0" marL="0">
              <a:buNone/>
            </a:pPr>
            <a:r>
              <a:rPr lang="en-US" sz="850" b="1" dirty="0">
                <a:solidFill>
                  <a:srgbClr val="374151"/>
                </a:solidFill>
                <a:latin typeface="Calibri" pitchFamily="34" charset="0"/>
                <a:ea typeface="Calibri" pitchFamily="34" charset="-122"/>
                <a:cs typeface="Calibri" pitchFamily="34" charset="-120"/>
              </a:rPr>
              <a:t>#1</a:t>
            </a:r>
            <a:endParaRPr lang="en-US" sz="850" dirty="0"/>
          </a:p>
        </p:txBody>
      </p:sp>
      <p:sp>
        <p:nvSpPr>
          <p:cNvPr id="63" name="Text 61"/>
          <p:cNvSpPr/>
          <p:nvPr/>
        </p:nvSpPr>
        <p:spPr>
          <a:xfrm>
            <a:off x="6528816" y="1664208"/>
            <a:ext cx="2651760"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BUREAU VERITAS MALI</a:t>
            </a:r>
            <a:endParaRPr lang="en-US" sz="850" dirty="0"/>
          </a:p>
        </p:txBody>
      </p:sp>
      <p:sp>
        <p:nvSpPr>
          <p:cNvPr id="64" name="Text 62"/>
          <p:cNvSpPr/>
          <p:nvPr/>
        </p:nvSpPr>
        <p:spPr>
          <a:xfrm>
            <a:off x="9226296" y="1664208"/>
            <a:ext cx="2651760"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Laboratoires / analyses</a:t>
            </a:r>
            <a:endParaRPr lang="en-US" sz="850" dirty="0"/>
          </a:p>
        </p:txBody>
      </p:sp>
      <p:sp>
        <p:nvSpPr>
          <p:cNvPr id="65" name="Shape 63"/>
          <p:cNvSpPr/>
          <p:nvPr/>
        </p:nvSpPr>
        <p:spPr>
          <a:xfrm>
            <a:off x="6080760" y="1883664"/>
            <a:ext cx="5806440" cy="256032"/>
          </a:xfrm>
          <a:prstGeom prst="rect">
            <a:avLst/>
          </a:prstGeom>
          <a:solidFill>
            <a:srgbClr val="F8F9FA"/>
          </a:solidFill>
          <a:ln w="3810">
            <a:solidFill>
              <a:srgbClr val="E5E7EB"/>
            </a:solidFill>
            <a:prstDash val="solid"/>
          </a:ln>
        </p:spPr>
      </p:sp>
      <p:sp>
        <p:nvSpPr>
          <p:cNvPr id="66" name="Text 64"/>
          <p:cNvSpPr/>
          <p:nvPr/>
        </p:nvSpPr>
        <p:spPr>
          <a:xfrm>
            <a:off x="6117336" y="1920240"/>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a:t>
            </a:r>
            <a:endParaRPr lang="en-US" sz="850" dirty="0"/>
          </a:p>
        </p:txBody>
      </p:sp>
      <p:sp>
        <p:nvSpPr>
          <p:cNvPr id="67" name="Text 65"/>
          <p:cNvSpPr/>
          <p:nvPr/>
        </p:nvSpPr>
        <p:spPr>
          <a:xfrm>
            <a:off x="6528816" y="1920240"/>
            <a:ext cx="2651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SOMISY SA</a:t>
            </a:r>
            <a:endParaRPr lang="en-US" sz="850" dirty="0"/>
          </a:p>
        </p:txBody>
      </p:sp>
      <p:sp>
        <p:nvSpPr>
          <p:cNvPr id="68" name="Text 66"/>
          <p:cNvSpPr/>
          <p:nvPr/>
        </p:nvSpPr>
        <p:spPr>
          <a:xfrm>
            <a:off x="9226296" y="1920240"/>
            <a:ext cx="2651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Or — Syama</a:t>
            </a:r>
            <a:endParaRPr lang="en-US" sz="850" dirty="0"/>
          </a:p>
        </p:txBody>
      </p:sp>
      <p:sp>
        <p:nvSpPr>
          <p:cNvPr id="69" name="Shape 67"/>
          <p:cNvSpPr/>
          <p:nvPr/>
        </p:nvSpPr>
        <p:spPr>
          <a:xfrm>
            <a:off x="6080760" y="2139696"/>
            <a:ext cx="5806440" cy="256032"/>
          </a:xfrm>
          <a:prstGeom prst="rect">
            <a:avLst/>
          </a:prstGeom>
          <a:solidFill>
            <a:srgbClr val="FFFFFF"/>
          </a:solidFill>
          <a:ln w="3810">
            <a:solidFill>
              <a:srgbClr val="E5E7EB"/>
            </a:solidFill>
            <a:prstDash val="solid"/>
          </a:ln>
        </p:spPr>
      </p:sp>
      <p:sp>
        <p:nvSpPr>
          <p:cNvPr id="70" name="Text 68"/>
          <p:cNvSpPr/>
          <p:nvPr/>
        </p:nvSpPr>
        <p:spPr>
          <a:xfrm>
            <a:off x="6117336" y="2176272"/>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a:t>
            </a:r>
            <a:endParaRPr lang="en-US" sz="850" dirty="0"/>
          </a:p>
        </p:txBody>
      </p:sp>
      <p:sp>
        <p:nvSpPr>
          <p:cNvPr id="71" name="Text 69"/>
          <p:cNvSpPr/>
          <p:nvPr/>
        </p:nvSpPr>
        <p:spPr>
          <a:xfrm>
            <a:off x="6528816" y="2176272"/>
            <a:ext cx="2651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TOUBANI RESSOURCES</a:t>
            </a:r>
            <a:endParaRPr lang="en-US" sz="850" dirty="0"/>
          </a:p>
        </p:txBody>
      </p:sp>
      <p:sp>
        <p:nvSpPr>
          <p:cNvPr id="72" name="Text 70"/>
          <p:cNvSpPr/>
          <p:nvPr/>
        </p:nvSpPr>
        <p:spPr>
          <a:xfrm>
            <a:off x="9226296" y="2176272"/>
            <a:ext cx="2651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Or — projet Kobada</a:t>
            </a:r>
            <a:endParaRPr lang="en-US" sz="850" dirty="0"/>
          </a:p>
        </p:txBody>
      </p:sp>
      <p:sp>
        <p:nvSpPr>
          <p:cNvPr id="73" name="Shape 71"/>
          <p:cNvSpPr/>
          <p:nvPr/>
        </p:nvSpPr>
        <p:spPr>
          <a:xfrm>
            <a:off x="6080760" y="2395728"/>
            <a:ext cx="5806440" cy="256032"/>
          </a:xfrm>
          <a:prstGeom prst="rect">
            <a:avLst/>
          </a:prstGeom>
          <a:solidFill>
            <a:srgbClr val="F8F9FA"/>
          </a:solidFill>
          <a:ln w="3810">
            <a:solidFill>
              <a:srgbClr val="E5E7EB"/>
            </a:solidFill>
            <a:prstDash val="solid"/>
          </a:ln>
        </p:spPr>
      </p:sp>
      <p:sp>
        <p:nvSpPr>
          <p:cNvPr id="74" name="Text 72"/>
          <p:cNvSpPr/>
          <p:nvPr/>
        </p:nvSpPr>
        <p:spPr>
          <a:xfrm>
            <a:off x="6117336" y="2432304"/>
            <a:ext cx="365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a:t>
            </a:r>
            <a:endParaRPr lang="en-US" sz="850" dirty="0"/>
          </a:p>
        </p:txBody>
      </p:sp>
      <p:sp>
        <p:nvSpPr>
          <p:cNvPr id="75" name="Text 73"/>
          <p:cNvSpPr/>
          <p:nvPr/>
        </p:nvSpPr>
        <p:spPr>
          <a:xfrm>
            <a:off x="6528816" y="2432304"/>
            <a:ext cx="2651760"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SAMSUNG</a:t>
            </a:r>
            <a:endParaRPr lang="en-US" sz="850" dirty="0"/>
          </a:p>
        </p:txBody>
      </p:sp>
      <p:sp>
        <p:nvSpPr>
          <p:cNvPr id="76" name="Text 74"/>
          <p:cNvSpPr/>
          <p:nvPr/>
        </p:nvSpPr>
        <p:spPr>
          <a:xfrm>
            <a:off x="9226296" y="2432304"/>
            <a:ext cx="2651760"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Matériels lourds via corridor</a:t>
            </a:r>
            <a:endParaRPr lang="en-US" sz="850" dirty="0"/>
          </a:p>
        </p:txBody>
      </p:sp>
      <p:sp>
        <p:nvSpPr>
          <p:cNvPr id="77" name="Text 75"/>
          <p:cNvSpPr/>
          <p:nvPr/>
        </p:nvSpPr>
        <p:spPr>
          <a:xfrm>
            <a:off x="6080760" y="4114800"/>
            <a:ext cx="580644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Ventilation Master-list Mining</a:t>
            </a:r>
            <a:endParaRPr lang="en-US" sz="1100" dirty="0"/>
          </a:p>
        </p:txBody>
      </p:sp>
      <p:sp>
        <p:nvSpPr>
          <p:cNvPr id="78" name="Text 76"/>
          <p:cNvSpPr/>
          <p:nvPr/>
        </p:nvSpPr>
        <p:spPr>
          <a:xfrm>
            <a:off x="6080760" y="438912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CÔTE D'IVOIRE</a:t>
            </a:r>
            <a:endParaRPr lang="en-US" sz="850" dirty="0"/>
          </a:p>
        </p:txBody>
      </p:sp>
      <p:sp>
        <p:nvSpPr>
          <p:cNvPr id="79" name="Text 77"/>
          <p:cNvSpPr/>
          <p:nvPr/>
        </p:nvSpPr>
        <p:spPr>
          <a:xfrm>
            <a:off x="7744968" y="438912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15 clients</a:t>
            </a:r>
            <a:endParaRPr lang="en-US" sz="850" dirty="0"/>
          </a:p>
        </p:txBody>
      </p:sp>
      <p:sp>
        <p:nvSpPr>
          <p:cNvPr id="80" name="Shape 78"/>
          <p:cNvSpPr/>
          <p:nvPr/>
        </p:nvSpPr>
        <p:spPr>
          <a:xfrm>
            <a:off x="8641080" y="4425696"/>
            <a:ext cx="2743200" cy="164592"/>
          </a:xfrm>
          <a:prstGeom prst="rect">
            <a:avLst/>
          </a:prstGeom>
          <a:solidFill>
            <a:srgbClr val="E5E7EB"/>
          </a:solidFill>
          <a:ln/>
        </p:spPr>
      </p:sp>
      <p:sp>
        <p:nvSpPr>
          <p:cNvPr id="81" name="Shape 79"/>
          <p:cNvSpPr/>
          <p:nvPr/>
        </p:nvSpPr>
        <p:spPr>
          <a:xfrm>
            <a:off x="8641080" y="4425696"/>
            <a:ext cx="1371600" cy="164592"/>
          </a:xfrm>
          <a:prstGeom prst="rect">
            <a:avLst/>
          </a:prstGeom>
          <a:solidFill>
            <a:srgbClr val="1A7C4F"/>
          </a:solidFill>
          <a:ln/>
        </p:spPr>
      </p:sp>
      <p:sp>
        <p:nvSpPr>
          <p:cNvPr id="82" name="Text 80"/>
          <p:cNvSpPr/>
          <p:nvPr/>
        </p:nvSpPr>
        <p:spPr>
          <a:xfrm>
            <a:off x="11430000" y="4389120"/>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50%</a:t>
            </a:r>
            <a:endParaRPr lang="en-US" sz="900" dirty="0"/>
          </a:p>
        </p:txBody>
      </p:sp>
      <p:sp>
        <p:nvSpPr>
          <p:cNvPr id="83" name="Text 81"/>
          <p:cNvSpPr/>
          <p:nvPr/>
        </p:nvSpPr>
        <p:spPr>
          <a:xfrm>
            <a:off x="6080760" y="477316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HINTERLAND BURKINA FASO</a:t>
            </a:r>
            <a:endParaRPr lang="en-US" sz="850" dirty="0"/>
          </a:p>
        </p:txBody>
      </p:sp>
      <p:sp>
        <p:nvSpPr>
          <p:cNvPr id="84" name="Text 82"/>
          <p:cNvSpPr/>
          <p:nvPr/>
        </p:nvSpPr>
        <p:spPr>
          <a:xfrm>
            <a:off x="7744968" y="477316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11 clients</a:t>
            </a:r>
            <a:endParaRPr lang="en-US" sz="850" dirty="0"/>
          </a:p>
        </p:txBody>
      </p:sp>
      <p:sp>
        <p:nvSpPr>
          <p:cNvPr id="85" name="Shape 83"/>
          <p:cNvSpPr/>
          <p:nvPr/>
        </p:nvSpPr>
        <p:spPr>
          <a:xfrm>
            <a:off x="8641080" y="4809744"/>
            <a:ext cx="2743200" cy="164592"/>
          </a:xfrm>
          <a:prstGeom prst="rect">
            <a:avLst/>
          </a:prstGeom>
          <a:solidFill>
            <a:srgbClr val="E5E7EB"/>
          </a:solidFill>
          <a:ln/>
        </p:spPr>
      </p:sp>
      <p:sp>
        <p:nvSpPr>
          <p:cNvPr id="86" name="Shape 84"/>
          <p:cNvSpPr/>
          <p:nvPr/>
        </p:nvSpPr>
        <p:spPr>
          <a:xfrm>
            <a:off x="8641080" y="4809744"/>
            <a:ext cx="1014984" cy="164592"/>
          </a:xfrm>
          <a:prstGeom prst="rect">
            <a:avLst/>
          </a:prstGeom>
          <a:solidFill>
            <a:srgbClr val="2563A8"/>
          </a:solidFill>
          <a:ln/>
        </p:spPr>
      </p:sp>
      <p:sp>
        <p:nvSpPr>
          <p:cNvPr id="87" name="Text 85"/>
          <p:cNvSpPr/>
          <p:nvPr/>
        </p:nvSpPr>
        <p:spPr>
          <a:xfrm>
            <a:off x="11430000" y="4773168"/>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37%</a:t>
            </a:r>
            <a:endParaRPr lang="en-US" sz="900" dirty="0"/>
          </a:p>
        </p:txBody>
      </p:sp>
      <p:sp>
        <p:nvSpPr>
          <p:cNvPr id="88" name="Text 86"/>
          <p:cNvSpPr/>
          <p:nvPr/>
        </p:nvSpPr>
        <p:spPr>
          <a:xfrm>
            <a:off x="6080760" y="515721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HINTERLAND MALI</a:t>
            </a:r>
            <a:endParaRPr lang="en-US" sz="850" dirty="0"/>
          </a:p>
        </p:txBody>
      </p:sp>
      <p:sp>
        <p:nvSpPr>
          <p:cNvPr id="89" name="Text 87"/>
          <p:cNvSpPr/>
          <p:nvPr/>
        </p:nvSpPr>
        <p:spPr>
          <a:xfrm>
            <a:off x="7744968" y="515721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4 clients</a:t>
            </a:r>
            <a:endParaRPr lang="en-US" sz="850" dirty="0"/>
          </a:p>
        </p:txBody>
      </p:sp>
      <p:sp>
        <p:nvSpPr>
          <p:cNvPr id="90" name="Shape 88"/>
          <p:cNvSpPr/>
          <p:nvPr/>
        </p:nvSpPr>
        <p:spPr>
          <a:xfrm>
            <a:off x="8641080" y="5193792"/>
            <a:ext cx="2743200" cy="164592"/>
          </a:xfrm>
          <a:prstGeom prst="rect">
            <a:avLst/>
          </a:prstGeom>
          <a:solidFill>
            <a:srgbClr val="E5E7EB"/>
          </a:solidFill>
          <a:ln/>
        </p:spPr>
      </p:sp>
      <p:sp>
        <p:nvSpPr>
          <p:cNvPr id="91" name="Shape 89"/>
          <p:cNvSpPr/>
          <p:nvPr/>
        </p:nvSpPr>
        <p:spPr>
          <a:xfrm>
            <a:off x="8641080" y="5193792"/>
            <a:ext cx="356616" cy="164592"/>
          </a:xfrm>
          <a:prstGeom prst="rect">
            <a:avLst/>
          </a:prstGeom>
          <a:solidFill>
            <a:srgbClr val="E05A00"/>
          </a:solidFill>
          <a:ln/>
        </p:spPr>
      </p:sp>
      <p:sp>
        <p:nvSpPr>
          <p:cNvPr id="92" name="Text 90"/>
          <p:cNvSpPr/>
          <p:nvPr/>
        </p:nvSpPr>
        <p:spPr>
          <a:xfrm>
            <a:off x="11430000" y="5157216"/>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13%</a:t>
            </a:r>
            <a:endParaRPr lang="en-US" sz="900" dirty="0"/>
          </a:p>
        </p:txBody>
      </p:sp>
      <p:sp>
        <p:nvSpPr>
          <p:cNvPr id="93" name="Shape 91"/>
          <p:cNvSpPr/>
          <p:nvPr/>
        </p:nvSpPr>
        <p:spPr>
          <a:xfrm>
            <a:off x="137160" y="5074920"/>
            <a:ext cx="5806440" cy="868680"/>
          </a:xfrm>
          <a:prstGeom prst="rect">
            <a:avLst/>
          </a:prstGeom>
          <a:solidFill>
            <a:srgbClr val="FFFBEC"/>
          </a:solidFill>
          <a:ln w="6350">
            <a:solidFill>
              <a:srgbClr val="E5C97A"/>
            </a:solidFill>
            <a:prstDash val="solid"/>
          </a:ln>
        </p:spPr>
      </p:sp>
      <p:sp>
        <p:nvSpPr>
          <p:cNvPr id="94" name="Text 92"/>
          <p:cNvSpPr/>
          <p:nvPr/>
        </p:nvSpPr>
        <p:spPr>
          <a:xfrm>
            <a:off x="228600" y="5148072"/>
            <a:ext cx="5623560" cy="75895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STRATÉGIE HINTERLAND : 15 clients à conquérir via corridor Abidjan-Ouaga/Bamako. Concentrations : Endeavour Mining (Houndé, Wahgnion, Mana via Semafo), Iamgold (Essakane), Orezone (Bombore). Leviers : trains hinterland AGL + transit douanier optimisé + co-loading matériels lourds (Samsung, Byrnecut, UMS).</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FOCUS TRANSITAIRE – GROUPE AYMAN  |  Synthèse multi-métiers</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Analyse toutes activités (incl. DJAM DKS TRANSIT &amp; HANNYYAH ET SAID)  |  Concurrence directe AGL  |  Jan–Mai 2026</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p.30</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1179576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Activité AYMAN par métier vs position AGL – Jan–Mai 2026</a:t>
            </a:r>
            <a:endParaRPr lang="en-US" sz="1100" dirty="0"/>
          </a:p>
        </p:txBody>
      </p:sp>
      <p:sp>
        <p:nvSpPr>
          <p:cNvPr id="8" name="Shape 6"/>
          <p:cNvSpPr/>
          <p:nvPr/>
        </p:nvSpPr>
        <p:spPr>
          <a:xfrm>
            <a:off x="137160" y="1371600"/>
            <a:ext cx="11795760" cy="256032"/>
          </a:xfrm>
          <a:prstGeom prst="rect">
            <a:avLst/>
          </a:prstGeom>
          <a:solidFill>
            <a:srgbClr val="0D2243"/>
          </a:solidFill>
          <a:ln/>
        </p:spPr>
      </p:sp>
      <p:sp>
        <p:nvSpPr>
          <p:cNvPr id="9" name="Text 7"/>
          <p:cNvSpPr/>
          <p:nvPr/>
        </p:nvSpPr>
        <p:spPr>
          <a:xfrm>
            <a:off x="173736" y="1408176"/>
            <a:ext cx="1639389" cy="201168"/>
          </a:xfrm>
          <a:prstGeom prst="rect">
            <a:avLst/>
          </a:prstGeom>
          <a:noFill/>
          <a:ln/>
        </p:spPr>
        <p:txBody>
          <a:bodyPr wrap="non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Métier</a:t>
            </a:r>
            <a:endParaRPr lang="en-US" sz="850" dirty="0"/>
          </a:p>
        </p:txBody>
      </p:sp>
      <p:sp>
        <p:nvSpPr>
          <p:cNvPr id="10" name="Text 8"/>
          <p:cNvSpPr/>
          <p:nvPr/>
        </p:nvSpPr>
        <p:spPr>
          <a:xfrm>
            <a:off x="1858845" y="1408176"/>
            <a:ext cx="1639389"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Rang Ayman</a:t>
            </a:r>
            <a:endParaRPr lang="en-US" sz="850" dirty="0"/>
          </a:p>
        </p:txBody>
      </p:sp>
      <p:sp>
        <p:nvSpPr>
          <p:cNvPr id="11" name="Text 9"/>
          <p:cNvSpPr/>
          <p:nvPr/>
        </p:nvSpPr>
        <p:spPr>
          <a:xfrm>
            <a:off x="3543953" y="1408176"/>
            <a:ext cx="1639389"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Volume Ayman</a:t>
            </a:r>
            <a:endParaRPr lang="en-US" sz="850" dirty="0"/>
          </a:p>
        </p:txBody>
      </p:sp>
      <p:sp>
        <p:nvSpPr>
          <p:cNvPr id="12" name="Text 10"/>
          <p:cNvSpPr/>
          <p:nvPr/>
        </p:nvSpPr>
        <p:spPr>
          <a:xfrm>
            <a:off x="5229062" y="1408176"/>
            <a:ext cx="1639389"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PDM Ayman</a:t>
            </a:r>
            <a:endParaRPr lang="en-US" sz="850" dirty="0"/>
          </a:p>
        </p:txBody>
      </p:sp>
      <p:sp>
        <p:nvSpPr>
          <p:cNvPr id="13" name="Text 11"/>
          <p:cNvSpPr/>
          <p:nvPr/>
        </p:nvSpPr>
        <p:spPr>
          <a:xfrm>
            <a:off x="6914170" y="1408176"/>
            <a:ext cx="1639389"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Rang AGL</a:t>
            </a:r>
            <a:endParaRPr lang="en-US" sz="850" dirty="0"/>
          </a:p>
        </p:txBody>
      </p:sp>
      <p:sp>
        <p:nvSpPr>
          <p:cNvPr id="14" name="Text 12"/>
          <p:cNvSpPr/>
          <p:nvPr/>
        </p:nvSpPr>
        <p:spPr>
          <a:xfrm>
            <a:off x="8599279" y="1408176"/>
            <a:ext cx="1639389"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PDM AGL</a:t>
            </a:r>
            <a:endParaRPr lang="en-US" sz="850" dirty="0"/>
          </a:p>
        </p:txBody>
      </p:sp>
      <p:sp>
        <p:nvSpPr>
          <p:cNvPr id="15" name="Text 13"/>
          <p:cNvSpPr/>
          <p:nvPr/>
        </p:nvSpPr>
        <p:spPr>
          <a:xfrm>
            <a:off x="10284387" y="1408176"/>
            <a:ext cx="1639389" cy="201168"/>
          </a:xfrm>
          <a:prstGeom prst="rect">
            <a:avLst/>
          </a:prstGeom>
          <a:noFill/>
          <a:ln/>
        </p:spPr>
        <p:txBody>
          <a:bodyPr wrap="non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Écart AGL</a:t>
            </a:r>
            <a:endParaRPr lang="en-US" sz="850" dirty="0"/>
          </a:p>
        </p:txBody>
      </p:sp>
      <p:sp>
        <p:nvSpPr>
          <p:cNvPr id="16" name="Shape 14"/>
          <p:cNvSpPr/>
          <p:nvPr/>
        </p:nvSpPr>
        <p:spPr>
          <a:xfrm>
            <a:off x="137160" y="1627632"/>
            <a:ext cx="11795760" cy="256032"/>
          </a:xfrm>
          <a:prstGeom prst="rect">
            <a:avLst/>
          </a:prstGeom>
          <a:solidFill>
            <a:srgbClr val="FFF9EC"/>
          </a:solidFill>
          <a:ln w="3810">
            <a:solidFill>
              <a:srgbClr val="E5E7EB"/>
            </a:solidFill>
            <a:prstDash val="solid"/>
          </a:ln>
        </p:spPr>
      </p:sp>
      <p:sp>
        <p:nvSpPr>
          <p:cNvPr id="17" name="Text 15"/>
          <p:cNvSpPr/>
          <p:nvPr/>
        </p:nvSpPr>
        <p:spPr>
          <a:xfrm>
            <a:off x="173736" y="1664208"/>
            <a:ext cx="1639389" cy="201168"/>
          </a:xfrm>
          <a:prstGeom prst="rect">
            <a:avLst/>
          </a:prstGeom>
          <a:noFill/>
          <a:ln/>
        </p:spPr>
        <p:txBody>
          <a:bodyPr wrap="none" rtlCol="0" anchor="ctr"/>
          <a:lstStyle/>
          <a:p>
            <a:pPr algn="l" indent="0" marL="0">
              <a:buNone/>
            </a:pPr>
            <a:r>
              <a:rPr lang="en-US" sz="850" b="1" dirty="0">
                <a:solidFill>
                  <a:srgbClr val="1A7C4F"/>
                </a:solidFill>
                <a:latin typeface="Calibri" pitchFamily="34" charset="0"/>
                <a:ea typeface="Calibri" pitchFamily="34" charset="-122"/>
                <a:cs typeface="Calibri" pitchFamily="34" charset="-120"/>
              </a:rPr>
              <a:t>TIM – Import Maritime</a:t>
            </a:r>
            <a:endParaRPr lang="en-US" sz="850" dirty="0"/>
          </a:p>
        </p:txBody>
      </p:sp>
      <p:sp>
        <p:nvSpPr>
          <p:cNvPr id="18" name="Text 16"/>
          <p:cNvSpPr/>
          <p:nvPr/>
        </p:nvSpPr>
        <p:spPr>
          <a:xfrm>
            <a:off x="1858845" y="1664208"/>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a:t>
            </a:r>
            <a:endParaRPr lang="en-US" sz="850" dirty="0"/>
          </a:p>
        </p:txBody>
      </p:sp>
      <p:sp>
        <p:nvSpPr>
          <p:cNvPr id="19" name="Text 17"/>
          <p:cNvSpPr/>
          <p:nvPr/>
        </p:nvSpPr>
        <p:spPr>
          <a:xfrm>
            <a:off x="3543953" y="1664208"/>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10 862 TEU (DJAM DKS)</a:t>
            </a:r>
            <a:endParaRPr lang="en-US" sz="850" dirty="0"/>
          </a:p>
        </p:txBody>
      </p:sp>
      <p:sp>
        <p:nvSpPr>
          <p:cNvPr id="20" name="Text 18"/>
          <p:cNvSpPr/>
          <p:nvPr/>
        </p:nvSpPr>
        <p:spPr>
          <a:xfrm>
            <a:off x="5229062" y="1664208"/>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5,6 %</a:t>
            </a:r>
            <a:endParaRPr lang="en-US" sz="850" dirty="0"/>
          </a:p>
        </p:txBody>
      </p:sp>
      <p:sp>
        <p:nvSpPr>
          <p:cNvPr id="21" name="Text 19"/>
          <p:cNvSpPr/>
          <p:nvPr/>
        </p:nvSpPr>
        <p:spPr>
          <a:xfrm>
            <a:off x="6914170" y="1664208"/>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a:t>
            </a:r>
            <a:endParaRPr lang="en-US" sz="850" dirty="0"/>
          </a:p>
        </p:txBody>
      </p:sp>
      <p:sp>
        <p:nvSpPr>
          <p:cNvPr id="22" name="Text 20"/>
          <p:cNvSpPr/>
          <p:nvPr/>
        </p:nvSpPr>
        <p:spPr>
          <a:xfrm>
            <a:off x="8599279" y="1664208"/>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7,8 %</a:t>
            </a:r>
            <a:endParaRPr lang="en-US" sz="850" dirty="0"/>
          </a:p>
        </p:txBody>
      </p:sp>
      <p:sp>
        <p:nvSpPr>
          <p:cNvPr id="23" name="Text 21"/>
          <p:cNvSpPr/>
          <p:nvPr/>
        </p:nvSpPr>
        <p:spPr>
          <a:xfrm>
            <a:off x="10284387" y="1664208"/>
            <a:ext cx="1639389" cy="201168"/>
          </a:xfrm>
          <a:prstGeom prst="rect">
            <a:avLst/>
          </a:prstGeom>
          <a:noFill/>
          <a:ln/>
        </p:spPr>
        <p:txBody>
          <a:bodyPr wrap="none" rtlCol="0" anchor="ctr"/>
          <a:lstStyle/>
          <a:p>
            <a:pPr algn="ctr" indent="0" marL="0">
              <a:buNone/>
            </a:pPr>
            <a:r>
              <a:rPr lang="en-US" sz="850" dirty="0">
                <a:solidFill>
                  <a:srgbClr val="1A7C4F"/>
                </a:solidFill>
                <a:latin typeface="Calibri" pitchFamily="34" charset="0"/>
                <a:ea typeface="Calibri" pitchFamily="34" charset="-122"/>
                <a:cs typeface="Calibri" pitchFamily="34" charset="-120"/>
              </a:rPr>
              <a:t>+2,2 pts</a:t>
            </a:r>
            <a:endParaRPr lang="en-US" sz="850" dirty="0"/>
          </a:p>
        </p:txBody>
      </p:sp>
      <p:sp>
        <p:nvSpPr>
          <p:cNvPr id="24" name="Shape 22"/>
          <p:cNvSpPr/>
          <p:nvPr/>
        </p:nvSpPr>
        <p:spPr>
          <a:xfrm>
            <a:off x="137160" y="1883664"/>
            <a:ext cx="11795760" cy="256032"/>
          </a:xfrm>
          <a:prstGeom prst="rect">
            <a:avLst/>
          </a:prstGeom>
          <a:solidFill>
            <a:srgbClr val="F8F9FA"/>
          </a:solidFill>
          <a:ln w="3810">
            <a:solidFill>
              <a:srgbClr val="E5E7EB"/>
            </a:solidFill>
            <a:prstDash val="solid"/>
          </a:ln>
        </p:spPr>
      </p:sp>
      <p:sp>
        <p:nvSpPr>
          <p:cNvPr id="25" name="Text 23"/>
          <p:cNvSpPr/>
          <p:nvPr/>
        </p:nvSpPr>
        <p:spPr>
          <a:xfrm>
            <a:off x="173736" y="1920240"/>
            <a:ext cx="1639389"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TEM – Export Maritime</a:t>
            </a:r>
            <a:endParaRPr lang="en-US" sz="850" dirty="0"/>
          </a:p>
        </p:txBody>
      </p:sp>
      <p:sp>
        <p:nvSpPr>
          <p:cNvPr id="26" name="Text 24"/>
          <p:cNvSpPr/>
          <p:nvPr/>
        </p:nvSpPr>
        <p:spPr>
          <a:xfrm>
            <a:off x="1858845" y="1920240"/>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Non classé</a:t>
            </a:r>
            <a:endParaRPr lang="en-US" sz="850" dirty="0"/>
          </a:p>
        </p:txBody>
      </p:sp>
      <p:sp>
        <p:nvSpPr>
          <p:cNvPr id="27" name="Text 25"/>
          <p:cNvSpPr/>
          <p:nvPr/>
        </p:nvSpPr>
        <p:spPr>
          <a:xfrm>
            <a:off x="3543953" y="1920240"/>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~800 TEU</a:t>
            </a:r>
            <a:endParaRPr lang="en-US" sz="850" dirty="0"/>
          </a:p>
        </p:txBody>
      </p:sp>
      <p:sp>
        <p:nvSpPr>
          <p:cNvPr id="28" name="Text 26"/>
          <p:cNvSpPr/>
          <p:nvPr/>
        </p:nvSpPr>
        <p:spPr>
          <a:xfrm>
            <a:off x="5229062" y="1920240"/>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~0,6 %</a:t>
            </a:r>
            <a:endParaRPr lang="en-US" sz="850" dirty="0"/>
          </a:p>
        </p:txBody>
      </p:sp>
      <p:sp>
        <p:nvSpPr>
          <p:cNvPr id="29" name="Text 27"/>
          <p:cNvSpPr/>
          <p:nvPr/>
        </p:nvSpPr>
        <p:spPr>
          <a:xfrm>
            <a:off x="6914170" y="1920240"/>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a:t>
            </a:r>
            <a:endParaRPr lang="en-US" sz="850" dirty="0"/>
          </a:p>
        </p:txBody>
      </p:sp>
      <p:sp>
        <p:nvSpPr>
          <p:cNvPr id="30" name="Text 28"/>
          <p:cNvSpPr/>
          <p:nvPr/>
        </p:nvSpPr>
        <p:spPr>
          <a:xfrm>
            <a:off x="8599279" y="1920240"/>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26,2 %</a:t>
            </a:r>
            <a:endParaRPr lang="en-US" sz="850" dirty="0"/>
          </a:p>
        </p:txBody>
      </p:sp>
      <p:sp>
        <p:nvSpPr>
          <p:cNvPr id="31" name="Text 29"/>
          <p:cNvSpPr/>
          <p:nvPr/>
        </p:nvSpPr>
        <p:spPr>
          <a:xfrm>
            <a:off x="10284387" y="1920240"/>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+25,6 pts</a:t>
            </a:r>
            <a:endParaRPr lang="en-US" sz="850" dirty="0"/>
          </a:p>
        </p:txBody>
      </p:sp>
      <p:sp>
        <p:nvSpPr>
          <p:cNvPr id="32" name="Shape 30"/>
          <p:cNvSpPr/>
          <p:nvPr/>
        </p:nvSpPr>
        <p:spPr>
          <a:xfrm>
            <a:off x="137160" y="2139696"/>
            <a:ext cx="11795760" cy="256032"/>
          </a:xfrm>
          <a:prstGeom prst="rect">
            <a:avLst/>
          </a:prstGeom>
          <a:solidFill>
            <a:srgbClr val="FFFFFF"/>
          </a:solidFill>
          <a:ln w="3810">
            <a:solidFill>
              <a:srgbClr val="E5E7EB"/>
            </a:solidFill>
            <a:prstDash val="solid"/>
          </a:ln>
        </p:spPr>
      </p:sp>
      <p:sp>
        <p:nvSpPr>
          <p:cNvPr id="33" name="Text 31"/>
          <p:cNvSpPr/>
          <p:nvPr/>
        </p:nvSpPr>
        <p:spPr>
          <a:xfrm>
            <a:off x="173736" y="2176272"/>
            <a:ext cx="1639389"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Hinterland Import</a:t>
            </a:r>
            <a:endParaRPr lang="en-US" sz="850" dirty="0"/>
          </a:p>
        </p:txBody>
      </p:sp>
      <p:sp>
        <p:nvSpPr>
          <p:cNvPr id="34" name="Text 32"/>
          <p:cNvSpPr/>
          <p:nvPr/>
        </p:nvSpPr>
        <p:spPr>
          <a:xfrm>
            <a:off x="1858845" y="2176272"/>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~#12</a:t>
            </a:r>
            <a:endParaRPr lang="en-US" sz="850" dirty="0"/>
          </a:p>
        </p:txBody>
      </p:sp>
      <p:sp>
        <p:nvSpPr>
          <p:cNvPr id="35" name="Text 33"/>
          <p:cNvSpPr/>
          <p:nvPr/>
        </p:nvSpPr>
        <p:spPr>
          <a:xfrm>
            <a:off x="3543953" y="2176272"/>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~400 TEU</a:t>
            </a:r>
            <a:endParaRPr lang="en-US" sz="850" dirty="0"/>
          </a:p>
        </p:txBody>
      </p:sp>
      <p:sp>
        <p:nvSpPr>
          <p:cNvPr id="36" name="Text 34"/>
          <p:cNvSpPr/>
          <p:nvPr/>
        </p:nvSpPr>
        <p:spPr>
          <a:xfrm>
            <a:off x="5229062" y="2176272"/>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~1,4 %</a:t>
            </a:r>
            <a:endParaRPr lang="en-US" sz="850" dirty="0"/>
          </a:p>
        </p:txBody>
      </p:sp>
      <p:sp>
        <p:nvSpPr>
          <p:cNvPr id="37" name="Text 35"/>
          <p:cNvSpPr/>
          <p:nvPr/>
        </p:nvSpPr>
        <p:spPr>
          <a:xfrm>
            <a:off x="6914170" y="2176272"/>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a:t>
            </a:r>
            <a:endParaRPr lang="en-US" sz="850" dirty="0"/>
          </a:p>
        </p:txBody>
      </p:sp>
      <p:sp>
        <p:nvSpPr>
          <p:cNvPr id="38" name="Text 36"/>
          <p:cNvSpPr/>
          <p:nvPr/>
        </p:nvSpPr>
        <p:spPr>
          <a:xfrm>
            <a:off x="8599279" y="2176272"/>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11,3 %</a:t>
            </a:r>
            <a:endParaRPr lang="en-US" sz="850" dirty="0"/>
          </a:p>
        </p:txBody>
      </p:sp>
      <p:sp>
        <p:nvSpPr>
          <p:cNvPr id="39" name="Text 37"/>
          <p:cNvSpPr/>
          <p:nvPr/>
        </p:nvSpPr>
        <p:spPr>
          <a:xfrm>
            <a:off x="10284387" y="2176272"/>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+9,9 pts</a:t>
            </a:r>
            <a:endParaRPr lang="en-US" sz="850" dirty="0"/>
          </a:p>
        </p:txBody>
      </p:sp>
      <p:sp>
        <p:nvSpPr>
          <p:cNvPr id="40" name="Shape 38"/>
          <p:cNvSpPr/>
          <p:nvPr/>
        </p:nvSpPr>
        <p:spPr>
          <a:xfrm>
            <a:off x="137160" y="2395728"/>
            <a:ext cx="11795760" cy="256032"/>
          </a:xfrm>
          <a:prstGeom prst="rect">
            <a:avLst/>
          </a:prstGeom>
          <a:solidFill>
            <a:srgbClr val="F8F9FA"/>
          </a:solidFill>
          <a:ln w="3810">
            <a:solidFill>
              <a:srgbClr val="E5E7EB"/>
            </a:solidFill>
            <a:prstDash val="solid"/>
          </a:ln>
        </p:spPr>
      </p:sp>
      <p:sp>
        <p:nvSpPr>
          <p:cNvPr id="41" name="Text 39"/>
          <p:cNvSpPr/>
          <p:nvPr/>
        </p:nvSpPr>
        <p:spPr>
          <a:xfrm>
            <a:off x="173736" y="2432304"/>
            <a:ext cx="1639389"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Hinterland Export</a:t>
            </a:r>
            <a:endParaRPr lang="en-US" sz="850" dirty="0"/>
          </a:p>
        </p:txBody>
      </p:sp>
      <p:sp>
        <p:nvSpPr>
          <p:cNvPr id="42" name="Text 40"/>
          <p:cNvSpPr/>
          <p:nvPr/>
        </p:nvSpPr>
        <p:spPr>
          <a:xfrm>
            <a:off x="1858845" y="2432304"/>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Non présent</a:t>
            </a:r>
            <a:endParaRPr lang="en-US" sz="850" dirty="0"/>
          </a:p>
        </p:txBody>
      </p:sp>
      <p:sp>
        <p:nvSpPr>
          <p:cNvPr id="43" name="Text 41"/>
          <p:cNvSpPr/>
          <p:nvPr/>
        </p:nvSpPr>
        <p:spPr>
          <a:xfrm>
            <a:off x="3543953" y="2432304"/>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a:t>
            </a:r>
            <a:endParaRPr lang="en-US" sz="850" dirty="0"/>
          </a:p>
        </p:txBody>
      </p:sp>
      <p:sp>
        <p:nvSpPr>
          <p:cNvPr id="44" name="Text 42"/>
          <p:cNvSpPr/>
          <p:nvPr/>
        </p:nvSpPr>
        <p:spPr>
          <a:xfrm>
            <a:off x="5229062" y="2432304"/>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a:t>
            </a:r>
            <a:endParaRPr lang="en-US" sz="850" dirty="0"/>
          </a:p>
        </p:txBody>
      </p:sp>
      <p:sp>
        <p:nvSpPr>
          <p:cNvPr id="45" name="Text 43"/>
          <p:cNvSpPr/>
          <p:nvPr/>
        </p:nvSpPr>
        <p:spPr>
          <a:xfrm>
            <a:off x="6914170" y="2432304"/>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a:t>
            </a:r>
            <a:endParaRPr lang="en-US" sz="850" dirty="0"/>
          </a:p>
        </p:txBody>
      </p:sp>
      <p:sp>
        <p:nvSpPr>
          <p:cNvPr id="46" name="Text 44"/>
          <p:cNvSpPr/>
          <p:nvPr/>
        </p:nvSpPr>
        <p:spPr>
          <a:xfrm>
            <a:off x="8599279" y="2432304"/>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66,1 %</a:t>
            </a:r>
            <a:endParaRPr lang="en-US" sz="850" dirty="0"/>
          </a:p>
        </p:txBody>
      </p:sp>
      <p:sp>
        <p:nvSpPr>
          <p:cNvPr id="47" name="Text 45"/>
          <p:cNvSpPr/>
          <p:nvPr/>
        </p:nvSpPr>
        <p:spPr>
          <a:xfrm>
            <a:off x="10284387" y="2432304"/>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a:t>
            </a:r>
            <a:endParaRPr lang="en-US" sz="850" dirty="0"/>
          </a:p>
        </p:txBody>
      </p:sp>
      <p:sp>
        <p:nvSpPr>
          <p:cNvPr id="48" name="Shape 46"/>
          <p:cNvSpPr/>
          <p:nvPr/>
        </p:nvSpPr>
        <p:spPr>
          <a:xfrm>
            <a:off x="137160" y="2651760"/>
            <a:ext cx="11795760" cy="256032"/>
          </a:xfrm>
          <a:prstGeom prst="rect">
            <a:avLst/>
          </a:prstGeom>
          <a:solidFill>
            <a:srgbClr val="FFFFFF"/>
          </a:solidFill>
          <a:ln w="3810">
            <a:solidFill>
              <a:srgbClr val="E5E7EB"/>
            </a:solidFill>
            <a:prstDash val="solid"/>
          </a:ln>
        </p:spPr>
      </p:sp>
      <p:sp>
        <p:nvSpPr>
          <p:cNvPr id="49" name="Text 47"/>
          <p:cNvSpPr/>
          <p:nvPr/>
        </p:nvSpPr>
        <p:spPr>
          <a:xfrm>
            <a:off x="173736" y="2688336"/>
            <a:ext cx="1639389"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Aérien Import</a:t>
            </a:r>
            <a:endParaRPr lang="en-US" sz="850" dirty="0"/>
          </a:p>
        </p:txBody>
      </p:sp>
      <p:sp>
        <p:nvSpPr>
          <p:cNvPr id="50" name="Text 48"/>
          <p:cNvSpPr/>
          <p:nvPr/>
        </p:nvSpPr>
        <p:spPr>
          <a:xfrm>
            <a:off x="1858845" y="2688336"/>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#7</a:t>
            </a:r>
            <a:endParaRPr lang="en-US" sz="850" dirty="0"/>
          </a:p>
        </p:txBody>
      </p:sp>
      <p:sp>
        <p:nvSpPr>
          <p:cNvPr id="51" name="Text 49"/>
          <p:cNvSpPr/>
          <p:nvPr/>
        </p:nvSpPr>
        <p:spPr>
          <a:xfrm>
            <a:off x="3543953" y="2688336"/>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273 092 kg (HANNYYAH)</a:t>
            </a:r>
            <a:endParaRPr lang="en-US" sz="850" dirty="0"/>
          </a:p>
        </p:txBody>
      </p:sp>
      <p:sp>
        <p:nvSpPr>
          <p:cNvPr id="52" name="Text 50"/>
          <p:cNvSpPr/>
          <p:nvPr/>
        </p:nvSpPr>
        <p:spPr>
          <a:xfrm>
            <a:off x="5229062" y="2688336"/>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4,9 %</a:t>
            </a:r>
            <a:endParaRPr lang="en-US" sz="850" dirty="0"/>
          </a:p>
        </p:txBody>
      </p:sp>
      <p:sp>
        <p:nvSpPr>
          <p:cNvPr id="53" name="Text 51"/>
          <p:cNvSpPr/>
          <p:nvPr/>
        </p:nvSpPr>
        <p:spPr>
          <a:xfrm>
            <a:off x="6914170" y="2688336"/>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a:t>
            </a:r>
            <a:endParaRPr lang="en-US" sz="850" dirty="0"/>
          </a:p>
        </p:txBody>
      </p:sp>
      <p:sp>
        <p:nvSpPr>
          <p:cNvPr id="54" name="Text 52"/>
          <p:cNvSpPr/>
          <p:nvPr/>
        </p:nvSpPr>
        <p:spPr>
          <a:xfrm>
            <a:off x="8599279" y="2688336"/>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20,8 %</a:t>
            </a:r>
            <a:endParaRPr lang="en-US" sz="850" dirty="0"/>
          </a:p>
        </p:txBody>
      </p:sp>
      <p:sp>
        <p:nvSpPr>
          <p:cNvPr id="55" name="Text 53"/>
          <p:cNvSpPr/>
          <p:nvPr/>
        </p:nvSpPr>
        <p:spPr>
          <a:xfrm>
            <a:off x="10284387" y="2688336"/>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+15,9 pts</a:t>
            </a:r>
            <a:endParaRPr lang="en-US" sz="850" dirty="0"/>
          </a:p>
        </p:txBody>
      </p:sp>
      <p:sp>
        <p:nvSpPr>
          <p:cNvPr id="56" name="Shape 54"/>
          <p:cNvSpPr/>
          <p:nvPr/>
        </p:nvSpPr>
        <p:spPr>
          <a:xfrm>
            <a:off x="137160" y="2907792"/>
            <a:ext cx="11795760" cy="256032"/>
          </a:xfrm>
          <a:prstGeom prst="rect">
            <a:avLst/>
          </a:prstGeom>
          <a:solidFill>
            <a:srgbClr val="F8F9FA"/>
          </a:solidFill>
          <a:ln w="3810">
            <a:solidFill>
              <a:srgbClr val="E5E7EB"/>
            </a:solidFill>
            <a:prstDash val="solid"/>
          </a:ln>
        </p:spPr>
      </p:sp>
      <p:sp>
        <p:nvSpPr>
          <p:cNvPr id="57" name="Text 55"/>
          <p:cNvSpPr/>
          <p:nvPr/>
        </p:nvSpPr>
        <p:spPr>
          <a:xfrm>
            <a:off x="173736" y="2944368"/>
            <a:ext cx="1639389" cy="201168"/>
          </a:xfrm>
          <a:prstGeom prst="rect">
            <a:avLst/>
          </a:prstGeom>
          <a:noFill/>
          <a:ln/>
        </p:spPr>
        <p:txBody>
          <a:bodyPr wrap="none" rtlCol="0" anchor="ctr"/>
          <a:lstStyle/>
          <a:p>
            <a:pPr algn="l" indent="0" marL="0">
              <a:buNone/>
            </a:pPr>
            <a:r>
              <a:rPr lang="en-US" sz="850" dirty="0">
                <a:solidFill>
                  <a:srgbClr val="374151"/>
                </a:solidFill>
                <a:latin typeface="Calibri" pitchFamily="34" charset="0"/>
                <a:ea typeface="Calibri" pitchFamily="34" charset="-122"/>
                <a:cs typeface="Calibri" pitchFamily="34" charset="-120"/>
              </a:rPr>
              <a:t>DSM – Tramps</a:t>
            </a:r>
            <a:endParaRPr lang="en-US" sz="850" dirty="0"/>
          </a:p>
        </p:txBody>
      </p:sp>
      <p:sp>
        <p:nvSpPr>
          <p:cNvPr id="58" name="Text 56"/>
          <p:cNvSpPr/>
          <p:nvPr/>
        </p:nvSpPr>
        <p:spPr>
          <a:xfrm>
            <a:off x="1858845" y="2944368"/>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~#8</a:t>
            </a:r>
            <a:endParaRPr lang="en-US" sz="850" dirty="0"/>
          </a:p>
        </p:txBody>
      </p:sp>
      <p:sp>
        <p:nvSpPr>
          <p:cNvPr id="59" name="Text 57"/>
          <p:cNvSpPr/>
          <p:nvPr/>
        </p:nvSpPr>
        <p:spPr>
          <a:xfrm>
            <a:off x="3543953" y="2944368"/>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~3 900 T</a:t>
            </a:r>
            <a:endParaRPr lang="en-US" sz="850" dirty="0"/>
          </a:p>
        </p:txBody>
      </p:sp>
      <p:sp>
        <p:nvSpPr>
          <p:cNvPr id="60" name="Text 58"/>
          <p:cNvSpPr/>
          <p:nvPr/>
        </p:nvSpPr>
        <p:spPr>
          <a:xfrm>
            <a:off x="5229062" y="2944368"/>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4,2 %</a:t>
            </a:r>
            <a:endParaRPr lang="en-US" sz="850" dirty="0"/>
          </a:p>
        </p:txBody>
      </p:sp>
      <p:sp>
        <p:nvSpPr>
          <p:cNvPr id="61" name="Text 59"/>
          <p:cNvSpPr/>
          <p:nvPr/>
        </p:nvSpPr>
        <p:spPr>
          <a:xfrm>
            <a:off x="6914170" y="2944368"/>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#3</a:t>
            </a:r>
            <a:endParaRPr lang="en-US" sz="850" dirty="0"/>
          </a:p>
        </p:txBody>
      </p:sp>
      <p:sp>
        <p:nvSpPr>
          <p:cNvPr id="62" name="Text 60"/>
          <p:cNvSpPr/>
          <p:nvPr/>
        </p:nvSpPr>
        <p:spPr>
          <a:xfrm>
            <a:off x="8599279" y="2944368"/>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~11 %</a:t>
            </a:r>
            <a:endParaRPr lang="en-US" sz="850" dirty="0"/>
          </a:p>
        </p:txBody>
      </p:sp>
      <p:sp>
        <p:nvSpPr>
          <p:cNvPr id="63" name="Text 61"/>
          <p:cNvSpPr/>
          <p:nvPr/>
        </p:nvSpPr>
        <p:spPr>
          <a:xfrm>
            <a:off x="10284387" y="2944368"/>
            <a:ext cx="1639389" cy="201168"/>
          </a:xfrm>
          <a:prstGeom prst="rect">
            <a:avLst/>
          </a:prstGeom>
          <a:noFill/>
          <a:ln/>
        </p:spPr>
        <p:txBody>
          <a:bodyPr wrap="none" rtlCol="0" anchor="ctr"/>
          <a:lstStyle/>
          <a:p>
            <a:pPr algn="ctr" indent="0" marL="0">
              <a:buNone/>
            </a:pPr>
            <a:r>
              <a:rPr lang="en-US" sz="850" dirty="0">
                <a:solidFill>
                  <a:srgbClr val="374151"/>
                </a:solidFill>
                <a:latin typeface="Calibri" pitchFamily="34" charset="0"/>
                <a:ea typeface="Calibri" pitchFamily="34" charset="-122"/>
                <a:cs typeface="Calibri" pitchFamily="34" charset="-120"/>
              </a:rPr>
              <a:t>+6,8 pts</a:t>
            </a:r>
            <a:endParaRPr lang="en-US" sz="850" dirty="0"/>
          </a:p>
        </p:txBody>
      </p:sp>
      <p:sp>
        <p:nvSpPr>
          <p:cNvPr id="64" name="Shape 62"/>
          <p:cNvSpPr/>
          <p:nvPr/>
        </p:nvSpPr>
        <p:spPr>
          <a:xfrm>
            <a:off x="137160" y="4434840"/>
            <a:ext cx="11795760" cy="960120"/>
          </a:xfrm>
          <a:prstGeom prst="rect">
            <a:avLst/>
          </a:prstGeom>
          <a:solidFill>
            <a:srgbClr val="FFFBEC"/>
          </a:solidFill>
          <a:ln w="6350">
            <a:solidFill>
              <a:srgbClr val="E5C97A"/>
            </a:solidFill>
            <a:prstDash val="solid"/>
          </a:ln>
        </p:spPr>
      </p:sp>
      <p:sp>
        <p:nvSpPr>
          <p:cNvPr id="65" name="Text 63"/>
          <p:cNvSpPr/>
          <p:nvPr/>
        </p:nvSpPr>
        <p:spPr>
          <a:xfrm>
            <a:off x="228600" y="4507992"/>
            <a:ext cx="11612880" cy="85039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SURVEILLANCE : AYMAN est le concurrent à plus forte croissance (+18% en 2026). Présent dans le TOP 5 sur TIM (#5 via DJAM DKS) et Aérien (#7 via HANNYYAH ET SAID). AGL domine sur tous les métiers, mais l'écart TIM n'est que de +2,2 pts.</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FOCUS AYMAN – ANALYSE DÉTAILLÉE  |  Forces &amp; Réponse AGL</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Profil concurrentiel  |  Face-à-face par segment  |  Recommandations</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p.31</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0292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Profil du Groupe AYMAN</a:t>
            </a:r>
            <a:endParaRPr lang="en-US" sz="1100" dirty="0"/>
          </a:p>
        </p:txBody>
      </p:sp>
      <p:sp>
        <p:nvSpPr>
          <p:cNvPr id="8" name="Shape 6"/>
          <p:cNvSpPr/>
          <p:nvPr/>
        </p:nvSpPr>
        <p:spPr>
          <a:xfrm>
            <a:off x="137160" y="1389888"/>
            <a:ext cx="5029200" cy="347472"/>
          </a:xfrm>
          <a:prstGeom prst="rect">
            <a:avLst/>
          </a:prstGeom>
          <a:solidFill>
            <a:srgbClr val="FFFFFF"/>
          </a:solidFill>
          <a:ln w="3810">
            <a:solidFill>
              <a:srgbClr val="E5E7EB"/>
            </a:solidFill>
            <a:prstDash val="solid"/>
          </a:ln>
        </p:spPr>
      </p:sp>
      <p:sp>
        <p:nvSpPr>
          <p:cNvPr id="9" name="Text 7"/>
          <p:cNvSpPr/>
          <p:nvPr/>
        </p:nvSpPr>
        <p:spPr>
          <a:xfrm>
            <a:off x="182880" y="1444752"/>
            <a:ext cx="1280160" cy="256032"/>
          </a:xfrm>
          <a:prstGeom prst="rect">
            <a:avLst/>
          </a:prstGeom>
          <a:noFill/>
          <a:ln/>
        </p:spPr>
        <p:txBody>
          <a:bodyPr wrap="square" rtlCol="0" anchor="ctr"/>
          <a:lstStyle/>
          <a:p>
            <a:pPr indent="0" marL="0">
              <a:buNone/>
            </a:pPr>
            <a:r>
              <a:rPr lang="en-US" sz="900" b="1" dirty="0">
                <a:solidFill>
                  <a:srgbClr val="0D2243"/>
                </a:solidFill>
                <a:latin typeface="Calibri" pitchFamily="34" charset="0"/>
                <a:ea typeface="Calibri" pitchFamily="34" charset="-122"/>
                <a:cs typeface="Calibri" pitchFamily="34" charset="-120"/>
              </a:rPr>
              <a:t>Création</a:t>
            </a:r>
            <a:endParaRPr lang="en-US" sz="900" dirty="0"/>
          </a:p>
        </p:txBody>
      </p:sp>
      <p:sp>
        <p:nvSpPr>
          <p:cNvPr id="10" name="Text 8"/>
          <p:cNvSpPr/>
          <p:nvPr/>
        </p:nvSpPr>
        <p:spPr>
          <a:xfrm>
            <a:off x="1508760" y="1444752"/>
            <a:ext cx="3474720" cy="25603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~2015 — croissance organique rapide</a:t>
            </a:r>
            <a:endParaRPr lang="en-US" sz="900" dirty="0"/>
          </a:p>
        </p:txBody>
      </p:sp>
      <p:sp>
        <p:nvSpPr>
          <p:cNvPr id="11" name="Shape 9"/>
          <p:cNvSpPr/>
          <p:nvPr/>
        </p:nvSpPr>
        <p:spPr>
          <a:xfrm>
            <a:off x="137160" y="1737360"/>
            <a:ext cx="5029200" cy="347472"/>
          </a:xfrm>
          <a:prstGeom prst="rect">
            <a:avLst/>
          </a:prstGeom>
          <a:solidFill>
            <a:srgbClr val="F8F9FA"/>
          </a:solidFill>
          <a:ln w="3810">
            <a:solidFill>
              <a:srgbClr val="E5E7EB"/>
            </a:solidFill>
            <a:prstDash val="solid"/>
          </a:ln>
        </p:spPr>
      </p:sp>
      <p:sp>
        <p:nvSpPr>
          <p:cNvPr id="12" name="Text 10"/>
          <p:cNvSpPr/>
          <p:nvPr/>
        </p:nvSpPr>
        <p:spPr>
          <a:xfrm>
            <a:off x="182880" y="1792224"/>
            <a:ext cx="1280160" cy="256032"/>
          </a:xfrm>
          <a:prstGeom prst="rect">
            <a:avLst/>
          </a:prstGeom>
          <a:noFill/>
          <a:ln/>
        </p:spPr>
        <p:txBody>
          <a:bodyPr wrap="square" rtlCol="0" anchor="ctr"/>
          <a:lstStyle/>
          <a:p>
            <a:pPr indent="0" marL="0">
              <a:buNone/>
            </a:pPr>
            <a:r>
              <a:rPr lang="en-US" sz="900" b="1" dirty="0">
                <a:solidFill>
                  <a:srgbClr val="0D2243"/>
                </a:solidFill>
                <a:latin typeface="Calibri" pitchFamily="34" charset="0"/>
                <a:ea typeface="Calibri" pitchFamily="34" charset="-122"/>
                <a:cs typeface="Calibri" pitchFamily="34" charset="-120"/>
              </a:rPr>
              <a:t>Cœur de métier</a:t>
            </a:r>
            <a:endParaRPr lang="en-US" sz="900" dirty="0"/>
          </a:p>
        </p:txBody>
      </p:sp>
      <p:sp>
        <p:nvSpPr>
          <p:cNvPr id="13" name="Text 11"/>
          <p:cNvSpPr/>
          <p:nvPr/>
        </p:nvSpPr>
        <p:spPr>
          <a:xfrm>
            <a:off x="1508760" y="1792224"/>
            <a:ext cx="3474720" cy="25603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TIM (fret maritime import) + fret aérien</a:t>
            </a:r>
            <a:endParaRPr lang="en-US" sz="900" dirty="0"/>
          </a:p>
        </p:txBody>
      </p:sp>
      <p:sp>
        <p:nvSpPr>
          <p:cNvPr id="14" name="Shape 12"/>
          <p:cNvSpPr/>
          <p:nvPr/>
        </p:nvSpPr>
        <p:spPr>
          <a:xfrm>
            <a:off x="137160" y="2084832"/>
            <a:ext cx="5029200" cy="347472"/>
          </a:xfrm>
          <a:prstGeom prst="rect">
            <a:avLst/>
          </a:prstGeom>
          <a:solidFill>
            <a:srgbClr val="FFFFFF"/>
          </a:solidFill>
          <a:ln w="3810">
            <a:solidFill>
              <a:srgbClr val="E5E7EB"/>
            </a:solidFill>
            <a:prstDash val="solid"/>
          </a:ln>
        </p:spPr>
      </p:sp>
      <p:sp>
        <p:nvSpPr>
          <p:cNvPr id="15" name="Text 13"/>
          <p:cNvSpPr/>
          <p:nvPr/>
        </p:nvSpPr>
        <p:spPr>
          <a:xfrm>
            <a:off x="182880" y="2139696"/>
            <a:ext cx="1280160" cy="256032"/>
          </a:xfrm>
          <a:prstGeom prst="rect">
            <a:avLst/>
          </a:prstGeom>
          <a:noFill/>
          <a:ln/>
        </p:spPr>
        <p:txBody>
          <a:bodyPr wrap="square" rtlCol="0" anchor="ctr"/>
          <a:lstStyle/>
          <a:p>
            <a:pPr indent="0" marL="0">
              <a:buNone/>
            </a:pPr>
            <a:r>
              <a:rPr lang="en-US" sz="900" b="1" dirty="0">
                <a:solidFill>
                  <a:srgbClr val="0D2243"/>
                </a:solidFill>
                <a:latin typeface="Calibri" pitchFamily="34" charset="0"/>
                <a:ea typeface="Calibri" pitchFamily="34" charset="-122"/>
                <a:cs typeface="Calibri" pitchFamily="34" charset="-120"/>
              </a:rPr>
              <a:t>Réseau</a:t>
            </a:r>
            <a:endParaRPr lang="en-US" sz="900" dirty="0"/>
          </a:p>
        </p:txBody>
      </p:sp>
      <p:sp>
        <p:nvSpPr>
          <p:cNvPr id="16" name="Text 14"/>
          <p:cNvSpPr/>
          <p:nvPr/>
        </p:nvSpPr>
        <p:spPr>
          <a:xfrm>
            <a:off x="1508760" y="2139696"/>
            <a:ext cx="3474720" cy="25603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Abidjan + filiales Mali, Sénégal</a:t>
            </a:r>
            <a:endParaRPr lang="en-US" sz="900" dirty="0"/>
          </a:p>
        </p:txBody>
      </p:sp>
      <p:sp>
        <p:nvSpPr>
          <p:cNvPr id="17" name="Shape 15"/>
          <p:cNvSpPr/>
          <p:nvPr/>
        </p:nvSpPr>
        <p:spPr>
          <a:xfrm>
            <a:off x="137160" y="2432304"/>
            <a:ext cx="5029200" cy="347472"/>
          </a:xfrm>
          <a:prstGeom prst="rect">
            <a:avLst/>
          </a:prstGeom>
          <a:solidFill>
            <a:srgbClr val="F8F9FA"/>
          </a:solidFill>
          <a:ln w="3810">
            <a:solidFill>
              <a:srgbClr val="E5E7EB"/>
            </a:solidFill>
            <a:prstDash val="solid"/>
          </a:ln>
        </p:spPr>
      </p:sp>
      <p:sp>
        <p:nvSpPr>
          <p:cNvPr id="18" name="Text 16"/>
          <p:cNvSpPr/>
          <p:nvPr/>
        </p:nvSpPr>
        <p:spPr>
          <a:xfrm>
            <a:off x="182880" y="2487168"/>
            <a:ext cx="1280160" cy="256032"/>
          </a:xfrm>
          <a:prstGeom prst="rect">
            <a:avLst/>
          </a:prstGeom>
          <a:noFill/>
          <a:ln/>
        </p:spPr>
        <p:txBody>
          <a:bodyPr wrap="square" rtlCol="0" anchor="ctr"/>
          <a:lstStyle/>
          <a:p>
            <a:pPr indent="0" marL="0">
              <a:buNone/>
            </a:pPr>
            <a:r>
              <a:rPr lang="en-US" sz="900" b="1" dirty="0">
                <a:solidFill>
                  <a:srgbClr val="0D2243"/>
                </a:solidFill>
                <a:latin typeface="Calibri" pitchFamily="34" charset="0"/>
                <a:ea typeface="Calibri" pitchFamily="34" charset="-122"/>
                <a:cs typeface="Calibri" pitchFamily="34" charset="-120"/>
              </a:rPr>
              <a:t>Clientèle clé</a:t>
            </a:r>
            <a:endParaRPr lang="en-US" sz="900" dirty="0"/>
          </a:p>
        </p:txBody>
      </p:sp>
      <p:sp>
        <p:nvSpPr>
          <p:cNvPr id="19" name="Text 17"/>
          <p:cNvSpPr/>
          <p:nvPr/>
        </p:nvSpPr>
        <p:spPr>
          <a:xfrm>
            <a:off x="1508760" y="2487168"/>
            <a:ext cx="3474720" cy="25603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PME-PMI importatrices, tech &amp; télécoms</a:t>
            </a:r>
            <a:endParaRPr lang="en-US" sz="900" dirty="0"/>
          </a:p>
        </p:txBody>
      </p:sp>
      <p:sp>
        <p:nvSpPr>
          <p:cNvPr id="20" name="Shape 18"/>
          <p:cNvSpPr/>
          <p:nvPr/>
        </p:nvSpPr>
        <p:spPr>
          <a:xfrm>
            <a:off x="137160" y="2779776"/>
            <a:ext cx="5029200" cy="347472"/>
          </a:xfrm>
          <a:prstGeom prst="rect">
            <a:avLst/>
          </a:prstGeom>
          <a:solidFill>
            <a:srgbClr val="FFFFFF"/>
          </a:solidFill>
          <a:ln w="3810">
            <a:solidFill>
              <a:srgbClr val="E5E7EB"/>
            </a:solidFill>
            <a:prstDash val="solid"/>
          </a:ln>
        </p:spPr>
      </p:sp>
      <p:sp>
        <p:nvSpPr>
          <p:cNvPr id="21" name="Text 19"/>
          <p:cNvSpPr/>
          <p:nvPr/>
        </p:nvSpPr>
        <p:spPr>
          <a:xfrm>
            <a:off x="182880" y="2834640"/>
            <a:ext cx="1280160" cy="256032"/>
          </a:xfrm>
          <a:prstGeom prst="rect">
            <a:avLst/>
          </a:prstGeom>
          <a:noFill/>
          <a:ln/>
        </p:spPr>
        <p:txBody>
          <a:bodyPr wrap="square" rtlCol="0" anchor="ctr"/>
          <a:lstStyle/>
          <a:p>
            <a:pPr indent="0" marL="0">
              <a:buNone/>
            </a:pPr>
            <a:r>
              <a:rPr lang="en-US" sz="900" b="1" dirty="0">
                <a:solidFill>
                  <a:srgbClr val="0D2243"/>
                </a:solidFill>
                <a:latin typeface="Calibri" pitchFamily="34" charset="0"/>
                <a:ea typeface="Calibri" pitchFamily="34" charset="-122"/>
                <a:cs typeface="Calibri" pitchFamily="34" charset="-120"/>
              </a:rPr>
              <a:t>Avantages</a:t>
            </a:r>
            <a:endParaRPr lang="en-US" sz="900" dirty="0"/>
          </a:p>
        </p:txBody>
      </p:sp>
      <p:sp>
        <p:nvSpPr>
          <p:cNvPr id="22" name="Text 20"/>
          <p:cNvSpPr/>
          <p:nvPr/>
        </p:nvSpPr>
        <p:spPr>
          <a:xfrm>
            <a:off x="1508760" y="2834640"/>
            <a:ext cx="3474720" cy="25603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Réactivité, tarifs agressifs, digitalisation</a:t>
            </a:r>
            <a:endParaRPr lang="en-US" sz="900" dirty="0"/>
          </a:p>
        </p:txBody>
      </p:sp>
      <p:sp>
        <p:nvSpPr>
          <p:cNvPr id="23" name="Shape 21"/>
          <p:cNvSpPr/>
          <p:nvPr/>
        </p:nvSpPr>
        <p:spPr>
          <a:xfrm>
            <a:off x="137160" y="3127248"/>
            <a:ext cx="5029200" cy="347472"/>
          </a:xfrm>
          <a:prstGeom prst="rect">
            <a:avLst/>
          </a:prstGeom>
          <a:solidFill>
            <a:srgbClr val="F8F9FA"/>
          </a:solidFill>
          <a:ln w="3810">
            <a:solidFill>
              <a:srgbClr val="E5E7EB"/>
            </a:solidFill>
            <a:prstDash val="solid"/>
          </a:ln>
        </p:spPr>
      </p:sp>
      <p:sp>
        <p:nvSpPr>
          <p:cNvPr id="24" name="Text 22"/>
          <p:cNvSpPr/>
          <p:nvPr/>
        </p:nvSpPr>
        <p:spPr>
          <a:xfrm>
            <a:off x="182880" y="3182112"/>
            <a:ext cx="1280160" cy="256032"/>
          </a:xfrm>
          <a:prstGeom prst="rect">
            <a:avLst/>
          </a:prstGeom>
          <a:noFill/>
          <a:ln/>
        </p:spPr>
        <p:txBody>
          <a:bodyPr wrap="square" rtlCol="0" anchor="ctr"/>
          <a:lstStyle/>
          <a:p>
            <a:pPr indent="0" marL="0">
              <a:buNone/>
            </a:pPr>
            <a:r>
              <a:rPr lang="en-US" sz="900" b="1" dirty="0">
                <a:solidFill>
                  <a:srgbClr val="0D2243"/>
                </a:solidFill>
                <a:latin typeface="Calibri" pitchFamily="34" charset="0"/>
                <a:ea typeface="Calibri" pitchFamily="34" charset="-122"/>
                <a:cs typeface="Calibri" pitchFamily="34" charset="-120"/>
              </a:rPr>
              <a:t>Croissance</a:t>
            </a:r>
            <a:endParaRPr lang="en-US" sz="900" dirty="0"/>
          </a:p>
        </p:txBody>
      </p:sp>
      <p:sp>
        <p:nvSpPr>
          <p:cNvPr id="25" name="Text 23"/>
          <p:cNvSpPr/>
          <p:nvPr/>
        </p:nvSpPr>
        <p:spPr>
          <a:xfrm>
            <a:off x="1508760" y="3182112"/>
            <a:ext cx="3474720" cy="25603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+18 % volumes 2026 vs 2025</a:t>
            </a:r>
            <a:endParaRPr lang="en-US" sz="900" dirty="0"/>
          </a:p>
        </p:txBody>
      </p:sp>
      <p:sp>
        <p:nvSpPr>
          <p:cNvPr id="26" name="Text 24"/>
          <p:cNvSpPr/>
          <p:nvPr/>
        </p:nvSpPr>
        <p:spPr>
          <a:xfrm>
            <a:off x="5349240" y="1097280"/>
            <a:ext cx="66751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Face-à-face par segment : Ayman vs AGL</a:t>
            </a:r>
            <a:endParaRPr lang="en-US" sz="1100" dirty="0"/>
          </a:p>
        </p:txBody>
      </p:sp>
      <p:sp>
        <p:nvSpPr>
          <p:cNvPr id="27" name="Shape 25"/>
          <p:cNvSpPr/>
          <p:nvPr/>
        </p:nvSpPr>
        <p:spPr>
          <a:xfrm>
            <a:off x="5349240" y="1389888"/>
            <a:ext cx="6675120" cy="594360"/>
          </a:xfrm>
          <a:prstGeom prst="rect">
            <a:avLst/>
          </a:prstGeom>
          <a:solidFill>
            <a:srgbClr val="F8F9FA"/>
          </a:solidFill>
          <a:ln w="3810">
            <a:solidFill>
              <a:srgbClr val="E5E7EB"/>
            </a:solidFill>
            <a:prstDash val="solid"/>
          </a:ln>
        </p:spPr>
      </p:sp>
      <p:sp>
        <p:nvSpPr>
          <p:cNvPr id="28" name="Text 26"/>
          <p:cNvSpPr/>
          <p:nvPr/>
        </p:nvSpPr>
        <p:spPr>
          <a:xfrm>
            <a:off x="5440680" y="1426464"/>
            <a:ext cx="4114800" cy="274320"/>
          </a:xfrm>
          <a:prstGeom prst="rect">
            <a:avLst/>
          </a:prstGeom>
          <a:noFill/>
          <a:ln/>
        </p:spPr>
        <p:txBody>
          <a:bodyPr wrap="square" rtlCol="0" anchor="ctr"/>
          <a:lstStyle/>
          <a:p>
            <a:pPr indent="0" marL="0">
              <a:buNone/>
            </a:pPr>
            <a:r>
              <a:rPr lang="en-US" sz="900" b="1" dirty="0">
                <a:solidFill>
                  <a:srgbClr val="374151"/>
                </a:solidFill>
                <a:latin typeface="Calibri" pitchFamily="34" charset="0"/>
                <a:ea typeface="Calibri" pitchFamily="34" charset="-122"/>
                <a:cs typeface="Calibri" pitchFamily="34" charset="-120"/>
              </a:rPr>
              <a:t>TIM – MACHINES / ÉLECTRO</a:t>
            </a:r>
            <a:endParaRPr lang="en-US" sz="900" dirty="0"/>
          </a:p>
        </p:txBody>
      </p:sp>
      <p:sp>
        <p:nvSpPr>
          <p:cNvPr id="29" name="Text 27"/>
          <p:cNvSpPr/>
          <p:nvPr/>
        </p:nvSpPr>
        <p:spPr>
          <a:xfrm>
            <a:off x="5440680" y="1682496"/>
            <a:ext cx="41148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Ay ~18%  vs  AGL 11%</a:t>
            </a:r>
            <a:endParaRPr lang="en-US" sz="900" dirty="0"/>
          </a:p>
        </p:txBody>
      </p:sp>
      <p:sp>
        <p:nvSpPr>
          <p:cNvPr id="30" name="Text 28"/>
          <p:cNvSpPr/>
          <p:nvPr/>
        </p:nvSpPr>
        <p:spPr>
          <a:xfrm>
            <a:off x="9601200" y="1499616"/>
            <a:ext cx="2331720" cy="347472"/>
          </a:xfrm>
          <a:prstGeom prst="rect">
            <a:avLst/>
          </a:prstGeom>
          <a:noFill/>
          <a:ln/>
        </p:spPr>
        <p:txBody>
          <a:bodyPr wrap="square" rtlCol="0" anchor="ctr"/>
          <a:lstStyle/>
          <a:p>
            <a:pPr algn="r" indent="0" marL="0">
              <a:buNone/>
            </a:pPr>
            <a:r>
              <a:rPr lang="en-US" sz="1400" b="1" dirty="0">
                <a:solidFill>
                  <a:srgbClr val="E05A00"/>
                </a:solidFill>
                <a:latin typeface="Calibri" pitchFamily="34" charset="0"/>
                <a:ea typeface="Calibri" pitchFamily="34" charset="-122"/>
                <a:cs typeface="Calibri" pitchFamily="34" charset="-120"/>
              </a:rPr>
              <a:t>AYMAN</a:t>
            </a:r>
            <a:endParaRPr lang="en-US" sz="1400" dirty="0"/>
          </a:p>
        </p:txBody>
      </p:sp>
      <p:sp>
        <p:nvSpPr>
          <p:cNvPr id="31" name="Shape 29"/>
          <p:cNvSpPr/>
          <p:nvPr/>
        </p:nvSpPr>
        <p:spPr>
          <a:xfrm>
            <a:off x="5349240" y="2048256"/>
            <a:ext cx="6675120" cy="594360"/>
          </a:xfrm>
          <a:prstGeom prst="rect">
            <a:avLst/>
          </a:prstGeom>
          <a:solidFill>
            <a:srgbClr val="F8F9FA"/>
          </a:solidFill>
          <a:ln w="3810">
            <a:solidFill>
              <a:srgbClr val="E5E7EB"/>
            </a:solidFill>
            <a:prstDash val="solid"/>
          </a:ln>
        </p:spPr>
      </p:sp>
      <p:sp>
        <p:nvSpPr>
          <p:cNvPr id="32" name="Text 30"/>
          <p:cNvSpPr/>
          <p:nvPr/>
        </p:nvSpPr>
        <p:spPr>
          <a:xfrm>
            <a:off x="5440680" y="2084832"/>
            <a:ext cx="4114800" cy="274320"/>
          </a:xfrm>
          <a:prstGeom prst="rect">
            <a:avLst/>
          </a:prstGeom>
          <a:noFill/>
          <a:ln/>
        </p:spPr>
        <p:txBody>
          <a:bodyPr wrap="square" rtlCol="0" anchor="ctr"/>
          <a:lstStyle/>
          <a:p>
            <a:pPr indent="0" marL="0">
              <a:buNone/>
            </a:pPr>
            <a:r>
              <a:rPr lang="en-US" sz="900" b="1" dirty="0">
                <a:solidFill>
                  <a:srgbClr val="374151"/>
                </a:solidFill>
                <a:latin typeface="Calibri" pitchFamily="34" charset="0"/>
                <a:ea typeface="Calibri" pitchFamily="34" charset="-122"/>
                <a:cs typeface="Calibri" pitchFamily="34" charset="-120"/>
              </a:rPr>
              <a:t>AÉRIEN – PIÈCES DÉTACHÉES</a:t>
            </a:r>
            <a:endParaRPr lang="en-US" sz="900" dirty="0"/>
          </a:p>
        </p:txBody>
      </p:sp>
      <p:sp>
        <p:nvSpPr>
          <p:cNvPr id="33" name="Text 31"/>
          <p:cNvSpPr/>
          <p:nvPr/>
        </p:nvSpPr>
        <p:spPr>
          <a:xfrm>
            <a:off x="5440680" y="2340864"/>
            <a:ext cx="41148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Ay ~12%  vs  AGL 8%</a:t>
            </a:r>
            <a:endParaRPr lang="en-US" sz="900" dirty="0"/>
          </a:p>
        </p:txBody>
      </p:sp>
      <p:sp>
        <p:nvSpPr>
          <p:cNvPr id="34" name="Text 32"/>
          <p:cNvSpPr/>
          <p:nvPr/>
        </p:nvSpPr>
        <p:spPr>
          <a:xfrm>
            <a:off x="9601200" y="2157984"/>
            <a:ext cx="2331720" cy="347472"/>
          </a:xfrm>
          <a:prstGeom prst="rect">
            <a:avLst/>
          </a:prstGeom>
          <a:noFill/>
          <a:ln/>
        </p:spPr>
        <p:txBody>
          <a:bodyPr wrap="square" rtlCol="0" anchor="ctr"/>
          <a:lstStyle/>
          <a:p>
            <a:pPr algn="r" indent="0" marL="0">
              <a:buNone/>
            </a:pPr>
            <a:r>
              <a:rPr lang="en-US" sz="1400" b="1" dirty="0">
                <a:solidFill>
                  <a:srgbClr val="E05A00"/>
                </a:solidFill>
                <a:latin typeface="Calibri" pitchFamily="34" charset="0"/>
                <a:ea typeface="Calibri" pitchFamily="34" charset="-122"/>
                <a:cs typeface="Calibri" pitchFamily="34" charset="-120"/>
              </a:rPr>
              <a:t>AYMAN</a:t>
            </a:r>
            <a:endParaRPr lang="en-US" sz="1400" dirty="0"/>
          </a:p>
        </p:txBody>
      </p:sp>
      <p:sp>
        <p:nvSpPr>
          <p:cNvPr id="35" name="Shape 33"/>
          <p:cNvSpPr/>
          <p:nvPr/>
        </p:nvSpPr>
        <p:spPr>
          <a:xfrm>
            <a:off x="5349240" y="2706624"/>
            <a:ext cx="6675120" cy="594360"/>
          </a:xfrm>
          <a:prstGeom prst="rect">
            <a:avLst/>
          </a:prstGeom>
          <a:solidFill>
            <a:srgbClr val="F8F9FA"/>
          </a:solidFill>
          <a:ln w="3810">
            <a:solidFill>
              <a:srgbClr val="E5E7EB"/>
            </a:solidFill>
            <a:prstDash val="solid"/>
          </a:ln>
        </p:spPr>
      </p:sp>
      <p:sp>
        <p:nvSpPr>
          <p:cNvPr id="36" name="Text 34"/>
          <p:cNvSpPr/>
          <p:nvPr/>
        </p:nvSpPr>
        <p:spPr>
          <a:xfrm>
            <a:off x="5440680" y="2743200"/>
            <a:ext cx="4114800" cy="274320"/>
          </a:xfrm>
          <a:prstGeom prst="rect">
            <a:avLst/>
          </a:prstGeom>
          <a:noFill/>
          <a:ln/>
        </p:spPr>
        <p:txBody>
          <a:bodyPr wrap="square" rtlCol="0" anchor="ctr"/>
          <a:lstStyle/>
          <a:p>
            <a:pPr indent="0" marL="0">
              <a:buNone/>
            </a:pPr>
            <a:r>
              <a:rPr lang="en-US" sz="900" b="1" dirty="0">
                <a:solidFill>
                  <a:srgbClr val="374151"/>
                </a:solidFill>
                <a:latin typeface="Calibri" pitchFamily="34" charset="0"/>
                <a:ea typeface="Calibri" pitchFamily="34" charset="-122"/>
                <a:cs typeface="Calibri" pitchFamily="34" charset="-120"/>
              </a:rPr>
              <a:t>AÉRIEN – TECH / TÉLÉCOMS</a:t>
            </a:r>
            <a:endParaRPr lang="en-US" sz="900" dirty="0"/>
          </a:p>
        </p:txBody>
      </p:sp>
      <p:sp>
        <p:nvSpPr>
          <p:cNvPr id="37" name="Text 35"/>
          <p:cNvSpPr/>
          <p:nvPr/>
        </p:nvSpPr>
        <p:spPr>
          <a:xfrm>
            <a:off x="5440680" y="2999232"/>
            <a:ext cx="41148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Ay ~15%  vs  AGL 33%</a:t>
            </a:r>
            <a:endParaRPr lang="en-US" sz="900" dirty="0"/>
          </a:p>
        </p:txBody>
      </p:sp>
      <p:sp>
        <p:nvSpPr>
          <p:cNvPr id="38" name="Text 36"/>
          <p:cNvSpPr/>
          <p:nvPr/>
        </p:nvSpPr>
        <p:spPr>
          <a:xfrm>
            <a:off x="9601200" y="2816352"/>
            <a:ext cx="2331720" cy="347472"/>
          </a:xfrm>
          <a:prstGeom prst="rect">
            <a:avLst/>
          </a:prstGeom>
          <a:noFill/>
          <a:ln/>
        </p:spPr>
        <p:txBody>
          <a:bodyPr wrap="square" rtlCol="0" anchor="ctr"/>
          <a:lstStyle/>
          <a:p>
            <a:pPr algn="r" indent="0" marL="0">
              <a:buNone/>
            </a:pPr>
            <a:r>
              <a:rPr lang="en-US" sz="1400" b="1" dirty="0">
                <a:solidFill>
                  <a:srgbClr val="1A7C4F"/>
                </a:solidFill>
                <a:latin typeface="Calibri" pitchFamily="34" charset="0"/>
                <a:ea typeface="Calibri" pitchFamily="34" charset="-122"/>
                <a:cs typeface="Calibri" pitchFamily="34" charset="-120"/>
              </a:rPr>
              <a:t>AGL</a:t>
            </a:r>
            <a:endParaRPr lang="en-US" sz="1400" dirty="0"/>
          </a:p>
        </p:txBody>
      </p:sp>
      <p:sp>
        <p:nvSpPr>
          <p:cNvPr id="39" name="Shape 37"/>
          <p:cNvSpPr/>
          <p:nvPr/>
        </p:nvSpPr>
        <p:spPr>
          <a:xfrm>
            <a:off x="5349240" y="3364992"/>
            <a:ext cx="6675120" cy="594360"/>
          </a:xfrm>
          <a:prstGeom prst="rect">
            <a:avLst/>
          </a:prstGeom>
          <a:solidFill>
            <a:srgbClr val="F8F9FA"/>
          </a:solidFill>
          <a:ln w="3810">
            <a:solidFill>
              <a:srgbClr val="E5E7EB"/>
            </a:solidFill>
            <a:prstDash val="solid"/>
          </a:ln>
        </p:spPr>
      </p:sp>
      <p:sp>
        <p:nvSpPr>
          <p:cNvPr id="40" name="Text 38"/>
          <p:cNvSpPr/>
          <p:nvPr/>
        </p:nvSpPr>
        <p:spPr>
          <a:xfrm>
            <a:off x="5440680" y="3401568"/>
            <a:ext cx="4114800" cy="274320"/>
          </a:xfrm>
          <a:prstGeom prst="rect">
            <a:avLst/>
          </a:prstGeom>
          <a:noFill/>
          <a:ln/>
        </p:spPr>
        <p:txBody>
          <a:bodyPr wrap="square" rtlCol="0" anchor="ctr"/>
          <a:lstStyle/>
          <a:p>
            <a:pPr indent="0" marL="0">
              <a:buNone/>
            </a:pPr>
            <a:r>
              <a:rPr lang="en-US" sz="900" b="1" dirty="0">
                <a:solidFill>
                  <a:srgbClr val="374151"/>
                </a:solidFill>
                <a:latin typeface="Calibri" pitchFamily="34" charset="0"/>
                <a:ea typeface="Calibri" pitchFamily="34" charset="-122"/>
                <a:cs typeface="Calibri" pitchFamily="34" charset="-120"/>
              </a:rPr>
              <a:t>TIM – MAT. CONSTRUCTION</a:t>
            </a:r>
            <a:endParaRPr lang="en-US" sz="900" dirty="0"/>
          </a:p>
        </p:txBody>
      </p:sp>
      <p:sp>
        <p:nvSpPr>
          <p:cNvPr id="41" name="Text 39"/>
          <p:cNvSpPr/>
          <p:nvPr/>
        </p:nvSpPr>
        <p:spPr>
          <a:xfrm>
            <a:off x="5440680" y="3657600"/>
            <a:ext cx="41148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Ay ~10%  vs  AGL 18%</a:t>
            </a:r>
            <a:endParaRPr lang="en-US" sz="900" dirty="0"/>
          </a:p>
        </p:txBody>
      </p:sp>
      <p:sp>
        <p:nvSpPr>
          <p:cNvPr id="42" name="Text 40"/>
          <p:cNvSpPr/>
          <p:nvPr/>
        </p:nvSpPr>
        <p:spPr>
          <a:xfrm>
            <a:off x="9601200" y="3474720"/>
            <a:ext cx="2331720" cy="347472"/>
          </a:xfrm>
          <a:prstGeom prst="rect">
            <a:avLst/>
          </a:prstGeom>
          <a:noFill/>
          <a:ln/>
        </p:spPr>
        <p:txBody>
          <a:bodyPr wrap="square" rtlCol="0" anchor="ctr"/>
          <a:lstStyle/>
          <a:p>
            <a:pPr algn="r" indent="0" marL="0">
              <a:buNone/>
            </a:pPr>
            <a:r>
              <a:rPr lang="en-US" sz="1400" b="1" dirty="0">
                <a:solidFill>
                  <a:srgbClr val="1A7C4F"/>
                </a:solidFill>
                <a:latin typeface="Calibri" pitchFamily="34" charset="0"/>
                <a:ea typeface="Calibri" pitchFamily="34" charset="-122"/>
                <a:cs typeface="Calibri" pitchFamily="34" charset="-120"/>
              </a:rPr>
              <a:t>AGL</a:t>
            </a:r>
            <a:endParaRPr lang="en-US" sz="1400" dirty="0"/>
          </a:p>
        </p:txBody>
      </p:sp>
      <p:sp>
        <p:nvSpPr>
          <p:cNvPr id="43" name="Shape 41"/>
          <p:cNvSpPr/>
          <p:nvPr/>
        </p:nvSpPr>
        <p:spPr>
          <a:xfrm>
            <a:off x="5349240" y="4023360"/>
            <a:ext cx="6675120" cy="594360"/>
          </a:xfrm>
          <a:prstGeom prst="rect">
            <a:avLst/>
          </a:prstGeom>
          <a:solidFill>
            <a:srgbClr val="F8F9FA"/>
          </a:solidFill>
          <a:ln w="3810">
            <a:solidFill>
              <a:srgbClr val="E5E7EB"/>
            </a:solidFill>
            <a:prstDash val="solid"/>
          </a:ln>
        </p:spPr>
      </p:sp>
      <p:sp>
        <p:nvSpPr>
          <p:cNvPr id="44" name="Text 42"/>
          <p:cNvSpPr/>
          <p:nvPr/>
        </p:nvSpPr>
        <p:spPr>
          <a:xfrm>
            <a:off x="5440680" y="4059936"/>
            <a:ext cx="4114800" cy="274320"/>
          </a:xfrm>
          <a:prstGeom prst="rect">
            <a:avLst/>
          </a:prstGeom>
          <a:noFill/>
          <a:ln/>
        </p:spPr>
        <p:txBody>
          <a:bodyPr wrap="square" rtlCol="0" anchor="ctr"/>
          <a:lstStyle/>
          <a:p>
            <a:pPr indent="0" marL="0">
              <a:buNone/>
            </a:pPr>
            <a:r>
              <a:rPr lang="en-US" sz="900" b="1" dirty="0">
                <a:solidFill>
                  <a:srgbClr val="374151"/>
                </a:solidFill>
                <a:latin typeface="Calibri" pitchFamily="34" charset="0"/>
                <a:ea typeface="Calibri" pitchFamily="34" charset="-122"/>
                <a:cs typeface="Calibri" pitchFamily="34" charset="-120"/>
              </a:rPr>
              <a:t>TRAMPS – BRBK</a:t>
            </a:r>
            <a:endParaRPr lang="en-US" sz="900" dirty="0"/>
          </a:p>
        </p:txBody>
      </p:sp>
      <p:sp>
        <p:nvSpPr>
          <p:cNvPr id="45" name="Text 43"/>
          <p:cNvSpPr/>
          <p:nvPr/>
        </p:nvSpPr>
        <p:spPr>
          <a:xfrm>
            <a:off x="5440680" y="4315968"/>
            <a:ext cx="41148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Ay ~8%  vs  AGL 18%</a:t>
            </a:r>
            <a:endParaRPr lang="en-US" sz="900" dirty="0"/>
          </a:p>
        </p:txBody>
      </p:sp>
      <p:sp>
        <p:nvSpPr>
          <p:cNvPr id="46" name="Text 44"/>
          <p:cNvSpPr/>
          <p:nvPr/>
        </p:nvSpPr>
        <p:spPr>
          <a:xfrm>
            <a:off x="9601200" y="4133088"/>
            <a:ext cx="2331720" cy="347472"/>
          </a:xfrm>
          <a:prstGeom prst="rect">
            <a:avLst/>
          </a:prstGeom>
          <a:noFill/>
          <a:ln/>
        </p:spPr>
        <p:txBody>
          <a:bodyPr wrap="square" rtlCol="0" anchor="ctr"/>
          <a:lstStyle/>
          <a:p>
            <a:pPr algn="r" indent="0" marL="0">
              <a:buNone/>
            </a:pPr>
            <a:r>
              <a:rPr lang="en-US" sz="1400" b="1" dirty="0">
                <a:solidFill>
                  <a:srgbClr val="1A7C4F"/>
                </a:solidFill>
                <a:latin typeface="Calibri" pitchFamily="34" charset="0"/>
                <a:ea typeface="Calibri" pitchFamily="34" charset="-122"/>
                <a:cs typeface="Calibri" pitchFamily="34" charset="-120"/>
              </a:rPr>
              <a:t>AGL</a:t>
            </a:r>
            <a:endParaRPr lang="en-US" sz="1400" dirty="0"/>
          </a:p>
        </p:txBody>
      </p:sp>
      <p:sp>
        <p:nvSpPr>
          <p:cNvPr id="47" name="Shape 45"/>
          <p:cNvSpPr/>
          <p:nvPr/>
        </p:nvSpPr>
        <p:spPr>
          <a:xfrm>
            <a:off x="137160" y="4892040"/>
            <a:ext cx="11795760" cy="960120"/>
          </a:xfrm>
          <a:prstGeom prst="rect">
            <a:avLst/>
          </a:prstGeom>
          <a:solidFill>
            <a:srgbClr val="FFFBEC"/>
          </a:solidFill>
          <a:ln w="6350">
            <a:solidFill>
              <a:srgbClr val="E5C97A"/>
            </a:solidFill>
            <a:prstDash val="solid"/>
          </a:ln>
        </p:spPr>
      </p:sp>
      <p:sp>
        <p:nvSpPr>
          <p:cNvPr id="48" name="Text 46"/>
          <p:cNvSpPr/>
          <p:nvPr/>
        </p:nvSpPr>
        <p:spPr>
          <a:xfrm>
            <a:off x="228600" y="4965192"/>
            <a:ext cx="11612880" cy="85039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RÉPONSE AGL : 1) Tarification ciblée Machines / Électronique (TIM). 2) Service premium Pièces Détachées avec engagement délais (Aérien). 3) Verrouillage des clients communs (SITAB, importateurs télécoms) par contrats cadres. 4) Surveillance trimestrielle des volumes DJAM DKS et HANNYYAH.</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Text 1"/>
          <p:cNvSpPr/>
          <p:nvPr/>
        </p:nvSpPr>
        <p:spPr>
          <a:xfrm>
            <a:off x="3200400" y="457200"/>
            <a:ext cx="5486400" cy="3657600"/>
          </a:xfrm>
          <a:prstGeom prst="rect">
            <a:avLst/>
          </a:prstGeom>
          <a:noFill/>
          <a:ln/>
        </p:spPr>
        <p:txBody>
          <a:bodyPr wrap="square" rtlCol="0" anchor="ctr"/>
          <a:lstStyle/>
          <a:p>
            <a:pPr algn="ctr" indent="0" marL="0">
              <a:buNone/>
            </a:pPr>
            <a:r>
              <a:rPr lang="en-US" sz="20000" b="1" dirty="0">
                <a:solidFill>
                  <a:srgbClr val="1A2E4A"/>
                </a:solidFill>
                <a:latin typeface="Calibri" pitchFamily="34" charset="0"/>
                <a:ea typeface="Calibri" pitchFamily="34" charset="-122"/>
                <a:cs typeface="Calibri" pitchFamily="34" charset="-120"/>
              </a:rPr>
              <a:t>06</a:t>
            </a:r>
            <a:endParaRPr lang="en-US" sz="20000" dirty="0"/>
          </a:p>
        </p:txBody>
      </p:sp>
      <p:sp>
        <p:nvSpPr>
          <p:cNvPr id="4" name="Shape 2"/>
          <p:cNvSpPr/>
          <p:nvPr/>
        </p:nvSpPr>
        <p:spPr>
          <a:xfrm>
            <a:off x="1097280" y="3520440"/>
            <a:ext cx="7498080" cy="59436"/>
          </a:xfrm>
          <a:prstGeom prst="rect">
            <a:avLst/>
          </a:prstGeom>
          <a:solidFill>
            <a:srgbClr val="C9A84C"/>
          </a:solidFill>
          <a:ln/>
        </p:spPr>
      </p:sp>
      <p:sp>
        <p:nvSpPr>
          <p:cNvPr id="5" name="Text 3"/>
          <p:cNvSpPr/>
          <p:nvPr/>
        </p:nvSpPr>
        <p:spPr>
          <a:xfrm>
            <a:off x="365760" y="2651760"/>
            <a:ext cx="11430000" cy="91440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ACTIONS STRATÉGIQUES PRIORITAIRES</a:t>
            </a:r>
            <a:endParaRPr lang="en-US" sz="3800" dirty="0"/>
          </a:p>
        </p:txBody>
      </p:sp>
      <p:sp>
        <p:nvSpPr>
          <p:cNvPr id="6" name="Text 4"/>
          <p:cNvSpPr/>
          <p:nvPr/>
        </p:nvSpPr>
        <p:spPr>
          <a:xfrm>
            <a:off x="365760" y="3657600"/>
            <a:ext cx="11430000" cy="457200"/>
          </a:xfrm>
          <a:prstGeom prst="rect">
            <a:avLst/>
          </a:prstGeom>
          <a:noFill/>
          <a:ln/>
        </p:spPr>
        <p:txBody>
          <a:bodyPr wrap="square" rtlCol="0" anchor="ctr"/>
          <a:lstStyle/>
          <a:p>
            <a:pPr algn="ctr" indent="0" marL="0">
              <a:buNone/>
            </a:pPr>
            <a:r>
              <a:rPr lang="en-US" sz="1600" i="1" dirty="0">
                <a:solidFill>
                  <a:srgbClr val="C9A84C"/>
                </a:solidFill>
                <a:latin typeface="Calibri" pitchFamily="34" charset="0"/>
                <a:ea typeface="Calibri" pitchFamily="34" charset="-122"/>
                <a:cs typeface="Calibri" pitchFamily="34" charset="-120"/>
              </a:rPr>
              <a:t>Synthèse transversale  |  6 axes  |  Horizon 12 mois</a:t>
            </a:r>
            <a:endParaRPr lang="en-US" sz="1600" dirty="0"/>
          </a:p>
        </p:txBody>
      </p:sp>
      <p:sp>
        <p:nvSpPr>
          <p:cNvPr id="7" name="Text 5"/>
          <p:cNvSpPr/>
          <p:nvPr/>
        </p:nvSpPr>
        <p:spPr>
          <a:xfrm>
            <a:off x="1828800" y="6492240"/>
            <a:ext cx="8229600" cy="25603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a:t>
            </a:r>
            <a:endParaRPr lang="en-US" sz="900" dirty="0"/>
          </a:p>
        </p:txBody>
      </p:sp>
      <p:sp>
        <p:nvSpPr>
          <p:cNvPr id="8" name="Text 6"/>
          <p:cNvSpPr/>
          <p:nvPr/>
        </p:nvSpPr>
        <p:spPr>
          <a:xfrm>
            <a:off x="11430000" y="6473952"/>
            <a:ext cx="640080" cy="292608"/>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SYNTHÈSE – PARTS DE MARCHÉ AGL PAR MÉTIER</a:t>
            </a:r>
            <a:endParaRPr lang="en-US" sz="2200" dirty="0"/>
          </a:p>
        </p:txBody>
      </p:sp>
      <p:sp>
        <p:nvSpPr>
          <p:cNvPr id="4" name="Text 2"/>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p.21</a:t>
            </a:r>
            <a:endParaRPr lang="en-US" sz="900" dirty="0"/>
          </a:p>
        </p:txBody>
      </p:sp>
      <p:sp>
        <p:nvSpPr>
          <p:cNvPr id="5" name="Text 3"/>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6" name="Shape 4"/>
          <p:cNvSpPr/>
          <p:nvPr/>
        </p:nvSpPr>
        <p:spPr>
          <a:xfrm>
            <a:off x="137160" y="1051560"/>
            <a:ext cx="11795760" cy="932688"/>
          </a:xfrm>
          <a:prstGeom prst="rect">
            <a:avLst/>
          </a:prstGeom>
          <a:solidFill>
            <a:srgbClr val="F0F4F8"/>
          </a:solidFill>
          <a:ln w="6350">
            <a:solidFill>
              <a:srgbClr val="E2E8F0"/>
            </a:solidFill>
            <a:prstDash val="solid"/>
          </a:ln>
        </p:spPr>
      </p:sp>
      <p:sp>
        <p:nvSpPr>
          <p:cNvPr id="7" name="Text 5"/>
          <p:cNvSpPr/>
          <p:nvPr/>
        </p:nvSpPr>
        <p:spPr>
          <a:xfrm>
            <a:off x="274320" y="1161288"/>
            <a:ext cx="2743200" cy="347472"/>
          </a:xfrm>
          <a:prstGeom prst="rect">
            <a:avLst/>
          </a:prstGeom>
          <a:noFill/>
          <a:ln/>
        </p:spPr>
        <p:txBody>
          <a:bodyPr wrap="square" rtlCol="0" anchor="ctr"/>
          <a:lstStyle/>
          <a:p>
            <a:pPr indent="0" marL="0">
              <a:buNone/>
            </a:pPr>
            <a:r>
              <a:rPr lang="en-US" sz="1300" b="1" dirty="0">
                <a:solidFill>
                  <a:srgbClr val="0D2243"/>
                </a:solidFill>
                <a:latin typeface="Calibri" pitchFamily="34" charset="0"/>
                <a:ea typeface="Calibri" pitchFamily="34" charset="-122"/>
                <a:cs typeface="Calibri" pitchFamily="34" charset="-120"/>
              </a:rPr>
              <a:t>HINTERLAND EXPORT</a:t>
            </a:r>
            <a:endParaRPr lang="en-US" sz="1300" dirty="0"/>
          </a:p>
        </p:txBody>
      </p:sp>
      <p:sp>
        <p:nvSpPr>
          <p:cNvPr id="8" name="Text 6"/>
          <p:cNvSpPr/>
          <p:nvPr/>
        </p:nvSpPr>
        <p:spPr>
          <a:xfrm>
            <a:off x="274320" y="1527048"/>
            <a:ext cx="27432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4 294 TEU  |  AGL : 2 840 TEU</a:t>
            </a:r>
            <a:endParaRPr lang="en-US" sz="900" dirty="0"/>
          </a:p>
        </p:txBody>
      </p:sp>
      <p:sp>
        <p:nvSpPr>
          <p:cNvPr id="9" name="Shape 7"/>
          <p:cNvSpPr/>
          <p:nvPr/>
        </p:nvSpPr>
        <p:spPr>
          <a:xfrm>
            <a:off x="3108960" y="1307592"/>
            <a:ext cx="6858000" cy="347472"/>
          </a:xfrm>
          <a:prstGeom prst="rect">
            <a:avLst/>
          </a:prstGeom>
          <a:solidFill>
            <a:srgbClr val="D1D5DB"/>
          </a:solidFill>
          <a:ln/>
        </p:spPr>
      </p:sp>
      <p:sp>
        <p:nvSpPr>
          <p:cNvPr id="10" name="Shape 8"/>
          <p:cNvSpPr/>
          <p:nvPr/>
        </p:nvSpPr>
        <p:spPr>
          <a:xfrm>
            <a:off x="3108960" y="1307592"/>
            <a:ext cx="6858000" cy="347472"/>
          </a:xfrm>
          <a:prstGeom prst="rect">
            <a:avLst/>
          </a:prstGeom>
          <a:solidFill>
            <a:srgbClr val="1A7C4F"/>
          </a:solidFill>
          <a:ln/>
        </p:spPr>
      </p:sp>
      <p:sp>
        <p:nvSpPr>
          <p:cNvPr id="11" name="Text 9"/>
          <p:cNvSpPr/>
          <p:nvPr/>
        </p:nvSpPr>
        <p:spPr>
          <a:xfrm>
            <a:off x="10058400" y="1234440"/>
            <a:ext cx="1097280" cy="475488"/>
          </a:xfrm>
          <a:prstGeom prst="rect">
            <a:avLst/>
          </a:prstGeom>
          <a:noFill/>
          <a:ln/>
        </p:spPr>
        <p:txBody>
          <a:bodyPr wrap="square" rtlCol="0" anchor="ctr"/>
          <a:lstStyle/>
          <a:p>
            <a:pPr indent="0" marL="0">
              <a:buNone/>
            </a:pPr>
            <a:r>
              <a:rPr lang="en-US" sz="2000" b="1" dirty="0">
                <a:solidFill>
                  <a:srgbClr val="1A7C4F"/>
                </a:solidFill>
                <a:latin typeface="Calibri" pitchFamily="34" charset="0"/>
                <a:ea typeface="Calibri" pitchFamily="34" charset="-122"/>
                <a:cs typeface="Calibri" pitchFamily="34" charset="-120"/>
              </a:rPr>
              <a:t>66.1 %</a:t>
            </a:r>
            <a:endParaRPr lang="en-US" sz="2000" dirty="0"/>
          </a:p>
        </p:txBody>
      </p:sp>
      <p:sp>
        <p:nvSpPr>
          <p:cNvPr id="12" name="Shape 10"/>
          <p:cNvSpPr/>
          <p:nvPr/>
        </p:nvSpPr>
        <p:spPr>
          <a:xfrm>
            <a:off x="10149840" y="1124712"/>
            <a:ext cx="1691640" cy="292608"/>
          </a:xfrm>
          <a:prstGeom prst="rect">
            <a:avLst/>
          </a:prstGeom>
          <a:solidFill>
            <a:srgbClr val="1A7C4F"/>
          </a:solidFill>
          <a:ln/>
        </p:spPr>
      </p:sp>
      <p:sp>
        <p:nvSpPr>
          <p:cNvPr id="13" name="Text 11"/>
          <p:cNvSpPr/>
          <p:nvPr/>
        </p:nvSpPr>
        <p:spPr>
          <a:xfrm>
            <a:off x="10149840" y="1124712"/>
            <a:ext cx="169164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LEADER</a:t>
            </a:r>
            <a:endParaRPr lang="en-US" sz="900" dirty="0"/>
          </a:p>
        </p:txBody>
      </p:sp>
      <p:sp>
        <p:nvSpPr>
          <p:cNvPr id="14" name="Text 12"/>
          <p:cNvSpPr/>
          <p:nvPr/>
        </p:nvSpPr>
        <p:spPr>
          <a:xfrm>
            <a:off x="10149840" y="1490472"/>
            <a:ext cx="1691640" cy="256032"/>
          </a:xfrm>
          <a:prstGeom prst="rect">
            <a:avLst/>
          </a:prstGeom>
          <a:noFill/>
          <a:ln/>
        </p:spPr>
        <p:txBody>
          <a:bodyPr wrap="square" rtlCol="0" anchor="ctr"/>
          <a:lstStyle/>
          <a:p>
            <a:pPr algn="ctr" indent="0" marL="0">
              <a:buNone/>
            </a:pPr>
            <a:r>
              <a:rPr lang="en-US" sz="900" b="1" dirty="0">
                <a:solidFill>
                  <a:srgbClr val="1A7C4F"/>
                </a:solidFill>
                <a:latin typeface="Calibri" pitchFamily="34" charset="0"/>
                <a:ea typeface="Calibri" pitchFamily="34" charset="-122"/>
                <a:cs typeface="Calibri" pitchFamily="34" charset="-120"/>
              </a:rPr>
              <a:t>#1 ABSOLU</a:t>
            </a:r>
            <a:endParaRPr lang="en-US" sz="900" dirty="0"/>
          </a:p>
        </p:txBody>
      </p:sp>
      <p:sp>
        <p:nvSpPr>
          <p:cNvPr id="15" name="Shape 13"/>
          <p:cNvSpPr/>
          <p:nvPr/>
        </p:nvSpPr>
        <p:spPr>
          <a:xfrm>
            <a:off x="137160" y="2057400"/>
            <a:ext cx="11795760" cy="932688"/>
          </a:xfrm>
          <a:prstGeom prst="rect">
            <a:avLst/>
          </a:prstGeom>
          <a:solidFill>
            <a:srgbClr val="F0F4F8"/>
          </a:solidFill>
          <a:ln w="6350">
            <a:solidFill>
              <a:srgbClr val="E2E8F0"/>
            </a:solidFill>
            <a:prstDash val="solid"/>
          </a:ln>
        </p:spPr>
      </p:sp>
      <p:sp>
        <p:nvSpPr>
          <p:cNvPr id="16" name="Text 14"/>
          <p:cNvSpPr/>
          <p:nvPr/>
        </p:nvSpPr>
        <p:spPr>
          <a:xfrm>
            <a:off x="274320" y="2167128"/>
            <a:ext cx="2743200" cy="347472"/>
          </a:xfrm>
          <a:prstGeom prst="rect">
            <a:avLst/>
          </a:prstGeom>
          <a:noFill/>
          <a:ln/>
        </p:spPr>
        <p:txBody>
          <a:bodyPr wrap="square" rtlCol="0" anchor="ctr"/>
          <a:lstStyle/>
          <a:p>
            <a:pPr indent="0" marL="0">
              <a:buNone/>
            </a:pPr>
            <a:r>
              <a:rPr lang="en-US" sz="1300" b="1" dirty="0">
                <a:solidFill>
                  <a:srgbClr val="0D2243"/>
                </a:solidFill>
                <a:latin typeface="Calibri" pitchFamily="34" charset="0"/>
                <a:ea typeface="Calibri" pitchFamily="34" charset="-122"/>
                <a:cs typeface="Calibri" pitchFamily="34" charset="-120"/>
              </a:rPr>
              <a:t>TRANSIT EXPORT MAR.</a:t>
            </a:r>
            <a:endParaRPr lang="en-US" sz="1300" dirty="0"/>
          </a:p>
        </p:txBody>
      </p:sp>
      <p:sp>
        <p:nvSpPr>
          <p:cNvPr id="17" name="Text 15"/>
          <p:cNvSpPr/>
          <p:nvPr/>
        </p:nvSpPr>
        <p:spPr>
          <a:xfrm>
            <a:off x="274320" y="2532888"/>
            <a:ext cx="27432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137 283 TEU  |  AGL : 35 972 TEU</a:t>
            </a:r>
            <a:endParaRPr lang="en-US" sz="900" dirty="0"/>
          </a:p>
        </p:txBody>
      </p:sp>
      <p:sp>
        <p:nvSpPr>
          <p:cNvPr id="18" name="Shape 16"/>
          <p:cNvSpPr/>
          <p:nvPr/>
        </p:nvSpPr>
        <p:spPr>
          <a:xfrm>
            <a:off x="3108960" y="2313432"/>
            <a:ext cx="6858000" cy="347472"/>
          </a:xfrm>
          <a:prstGeom prst="rect">
            <a:avLst/>
          </a:prstGeom>
          <a:solidFill>
            <a:srgbClr val="D1D5DB"/>
          </a:solidFill>
          <a:ln/>
        </p:spPr>
      </p:sp>
      <p:sp>
        <p:nvSpPr>
          <p:cNvPr id="19" name="Shape 17"/>
          <p:cNvSpPr/>
          <p:nvPr/>
        </p:nvSpPr>
        <p:spPr>
          <a:xfrm>
            <a:off x="3108960" y="2313432"/>
            <a:ext cx="2718300" cy="347472"/>
          </a:xfrm>
          <a:prstGeom prst="rect">
            <a:avLst/>
          </a:prstGeom>
          <a:solidFill>
            <a:srgbClr val="1A7C4F"/>
          </a:solidFill>
          <a:ln/>
        </p:spPr>
      </p:sp>
      <p:sp>
        <p:nvSpPr>
          <p:cNvPr id="20" name="Text 18"/>
          <p:cNvSpPr/>
          <p:nvPr/>
        </p:nvSpPr>
        <p:spPr>
          <a:xfrm>
            <a:off x="5918700" y="2240280"/>
            <a:ext cx="1097280" cy="475488"/>
          </a:xfrm>
          <a:prstGeom prst="rect">
            <a:avLst/>
          </a:prstGeom>
          <a:noFill/>
          <a:ln/>
        </p:spPr>
        <p:txBody>
          <a:bodyPr wrap="square" rtlCol="0" anchor="ctr"/>
          <a:lstStyle/>
          <a:p>
            <a:pPr indent="0" marL="0">
              <a:buNone/>
            </a:pPr>
            <a:r>
              <a:rPr lang="en-US" sz="2000" b="1" dirty="0">
                <a:solidFill>
                  <a:srgbClr val="1A7C4F"/>
                </a:solidFill>
                <a:latin typeface="Calibri" pitchFamily="34" charset="0"/>
                <a:ea typeface="Calibri" pitchFamily="34" charset="-122"/>
                <a:cs typeface="Calibri" pitchFamily="34" charset="-120"/>
              </a:rPr>
              <a:t>26.2 %</a:t>
            </a:r>
            <a:endParaRPr lang="en-US" sz="2000" dirty="0"/>
          </a:p>
        </p:txBody>
      </p:sp>
      <p:sp>
        <p:nvSpPr>
          <p:cNvPr id="21" name="Shape 19"/>
          <p:cNvSpPr/>
          <p:nvPr/>
        </p:nvSpPr>
        <p:spPr>
          <a:xfrm>
            <a:off x="10149840" y="2130552"/>
            <a:ext cx="1691640" cy="292608"/>
          </a:xfrm>
          <a:prstGeom prst="rect">
            <a:avLst/>
          </a:prstGeom>
          <a:solidFill>
            <a:srgbClr val="1A7C4F"/>
          </a:solidFill>
          <a:ln/>
        </p:spPr>
      </p:sp>
      <p:sp>
        <p:nvSpPr>
          <p:cNvPr id="22" name="Text 20"/>
          <p:cNvSpPr/>
          <p:nvPr/>
        </p:nvSpPr>
        <p:spPr>
          <a:xfrm>
            <a:off x="10149840" y="2130552"/>
            <a:ext cx="169164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DOMINANT</a:t>
            </a:r>
            <a:endParaRPr lang="en-US" sz="900" dirty="0"/>
          </a:p>
        </p:txBody>
      </p:sp>
      <p:sp>
        <p:nvSpPr>
          <p:cNvPr id="23" name="Text 21"/>
          <p:cNvSpPr/>
          <p:nvPr/>
        </p:nvSpPr>
        <p:spPr>
          <a:xfrm>
            <a:off x="10149840" y="2496312"/>
            <a:ext cx="1691640" cy="256032"/>
          </a:xfrm>
          <a:prstGeom prst="rect">
            <a:avLst/>
          </a:prstGeom>
          <a:noFill/>
          <a:ln/>
        </p:spPr>
        <p:txBody>
          <a:bodyPr wrap="square" rtlCol="0" anchor="ctr"/>
          <a:lstStyle/>
          <a:p>
            <a:pPr algn="ctr" indent="0" marL="0">
              <a:buNone/>
            </a:pPr>
            <a:r>
              <a:rPr lang="en-US" sz="900" b="1" dirty="0">
                <a:solidFill>
                  <a:srgbClr val="1A7C4F"/>
                </a:solidFill>
                <a:latin typeface="Calibri" pitchFamily="34" charset="0"/>
                <a:ea typeface="Calibri" pitchFamily="34" charset="-122"/>
                <a:cs typeface="Calibri" pitchFamily="34" charset="-120"/>
              </a:rPr>
              <a:t>#1 – ×4,7 le 2ème</a:t>
            </a:r>
            <a:endParaRPr lang="en-US" sz="900" dirty="0"/>
          </a:p>
        </p:txBody>
      </p:sp>
      <p:sp>
        <p:nvSpPr>
          <p:cNvPr id="24" name="Shape 22"/>
          <p:cNvSpPr/>
          <p:nvPr/>
        </p:nvSpPr>
        <p:spPr>
          <a:xfrm>
            <a:off x="137160" y="3063240"/>
            <a:ext cx="11795760" cy="932688"/>
          </a:xfrm>
          <a:prstGeom prst="rect">
            <a:avLst/>
          </a:prstGeom>
          <a:solidFill>
            <a:srgbClr val="F0F4F8"/>
          </a:solidFill>
          <a:ln w="6350">
            <a:solidFill>
              <a:srgbClr val="E2E8F0"/>
            </a:solidFill>
            <a:prstDash val="solid"/>
          </a:ln>
        </p:spPr>
      </p:sp>
      <p:sp>
        <p:nvSpPr>
          <p:cNvPr id="25" name="Text 23"/>
          <p:cNvSpPr/>
          <p:nvPr/>
        </p:nvSpPr>
        <p:spPr>
          <a:xfrm>
            <a:off x="274320" y="3172968"/>
            <a:ext cx="2743200" cy="347472"/>
          </a:xfrm>
          <a:prstGeom prst="rect">
            <a:avLst/>
          </a:prstGeom>
          <a:noFill/>
          <a:ln/>
        </p:spPr>
        <p:txBody>
          <a:bodyPr wrap="square" rtlCol="0" anchor="ctr"/>
          <a:lstStyle/>
          <a:p>
            <a:pPr indent="0" marL="0">
              <a:buNone/>
            </a:pPr>
            <a:r>
              <a:rPr lang="en-US" sz="1300" b="1" dirty="0">
                <a:solidFill>
                  <a:srgbClr val="0D2243"/>
                </a:solidFill>
                <a:latin typeface="Calibri" pitchFamily="34" charset="0"/>
                <a:ea typeface="Calibri" pitchFamily="34" charset="-122"/>
                <a:cs typeface="Calibri" pitchFamily="34" charset="-120"/>
              </a:rPr>
              <a:t>AÉRIEN IMPORT</a:t>
            </a:r>
            <a:endParaRPr lang="en-US" sz="1300" dirty="0"/>
          </a:p>
        </p:txBody>
      </p:sp>
      <p:sp>
        <p:nvSpPr>
          <p:cNvPr id="26" name="Text 24"/>
          <p:cNvSpPr/>
          <p:nvPr/>
        </p:nvSpPr>
        <p:spPr>
          <a:xfrm>
            <a:off x="274320" y="3538728"/>
            <a:ext cx="27432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5 603 T  |  AGL : 1 166 T</a:t>
            </a:r>
            <a:endParaRPr lang="en-US" sz="900" dirty="0"/>
          </a:p>
        </p:txBody>
      </p:sp>
      <p:sp>
        <p:nvSpPr>
          <p:cNvPr id="27" name="Shape 25"/>
          <p:cNvSpPr/>
          <p:nvPr/>
        </p:nvSpPr>
        <p:spPr>
          <a:xfrm>
            <a:off x="3108960" y="3319272"/>
            <a:ext cx="6858000" cy="347472"/>
          </a:xfrm>
          <a:prstGeom prst="rect">
            <a:avLst/>
          </a:prstGeom>
          <a:solidFill>
            <a:srgbClr val="D1D5DB"/>
          </a:solidFill>
          <a:ln/>
        </p:spPr>
      </p:sp>
      <p:sp>
        <p:nvSpPr>
          <p:cNvPr id="28" name="Shape 26"/>
          <p:cNvSpPr/>
          <p:nvPr/>
        </p:nvSpPr>
        <p:spPr>
          <a:xfrm>
            <a:off x="3108960" y="3319272"/>
            <a:ext cx="2158039" cy="347472"/>
          </a:xfrm>
          <a:prstGeom prst="rect">
            <a:avLst/>
          </a:prstGeom>
          <a:solidFill>
            <a:srgbClr val="1A7C4F"/>
          </a:solidFill>
          <a:ln/>
        </p:spPr>
      </p:sp>
      <p:sp>
        <p:nvSpPr>
          <p:cNvPr id="29" name="Text 27"/>
          <p:cNvSpPr/>
          <p:nvPr/>
        </p:nvSpPr>
        <p:spPr>
          <a:xfrm>
            <a:off x="5358439" y="3246120"/>
            <a:ext cx="1097280" cy="475488"/>
          </a:xfrm>
          <a:prstGeom prst="rect">
            <a:avLst/>
          </a:prstGeom>
          <a:noFill/>
          <a:ln/>
        </p:spPr>
        <p:txBody>
          <a:bodyPr wrap="square" rtlCol="0" anchor="ctr"/>
          <a:lstStyle/>
          <a:p>
            <a:pPr indent="0" marL="0">
              <a:buNone/>
            </a:pPr>
            <a:r>
              <a:rPr lang="en-US" sz="2000" b="1" dirty="0">
                <a:solidFill>
                  <a:srgbClr val="1A7C4F"/>
                </a:solidFill>
                <a:latin typeface="Calibri" pitchFamily="34" charset="0"/>
                <a:ea typeface="Calibri" pitchFamily="34" charset="-122"/>
                <a:cs typeface="Calibri" pitchFamily="34" charset="-120"/>
              </a:rPr>
              <a:t>20.8 %</a:t>
            </a:r>
            <a:endParaRPr lang="en-US" sz="2000" dirty="0"/>
          </a:p>
        </p:txBody>
      </p:sp>
      <p:sp>
        <p:nvSpPr>
          <p:cNvPr id="30" name="Shape 28"/>
          <p:cNvSpPr/>
          <p:nvPr/>
        </p:nvSpPr>
        <p:spPr>
          <a:xfrm>
            <a:off x="10149840" y="3136392"/>
            <a:ext cx="1691640" cy="292608"/>
          </a:xfrm>
          <a:prstGeom prst="rect">
            <a:avLst/>
          </a:prstGeom>
          <a:solidFill>
            <a:srgbClr val="1A7C4F"/>
          </a:solidFill>
          <a:ln/>
        </p:spPr>
      </p:sp>
      <p:sp>
        <p:nvSpPr>
          <p:cNvPr id="31" name="Text 29"/>
          <p:cNvSpPr/>
          <p:nvPr/>
        </p:nvSpPr>
        <p:spPr>
          <a:xfrm>
            <a:off x="10149840" y="3136392"/>
            <a:ext cx="169164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EN HAUSSE</a:t>
            </a:r>
            <a:endParaRPr lang="en-US" sz="900" dirty="0"/>
          </a:p>
        </p:txBody>
      </p:sp>
      <p:sp>
        <p:nvSpPr>
          <p:cNvPr id="32" name="Text 30"/>
          <p:cNvSpPr/>
          <p:nvPr/>
        </p:nvSpPr>
        <p:spPr>
          <a:xfrm>
            <a:off x="10149840" y="3502152"/>
            <a:ext cx="1691640" cy="256032"/>
          </a:xfrm>
          <a:prstGeom prst="rect">
            <a:avLst/>
          </a:prstGeom>
          <a:noFill/>
          <a:ln/>
        </p:spPr>
        <p:txBody>
          <a:bodyPr wrap="square" rtlCol="0" anchor="ctr"/>
          <a:lstStyle/>
          <a:p>
            <a:pPr algn="ctr" indent="0" marL="0">
              <a:buNone/>
            </a:pPr>
            <a:r>
              <a:rPr lang="en-US" sz="900" b="1" dirty="0">
                <a:solidFill>
                  <a:srgbClr val="1A7C4F"/>
                </a:solidFill>
                <a:latin typeface="Calibri" pitchFamily="34" charset="0"/>
                <a:ea typeface="Calibri" pitchFamily="34" charset="-122"/>
                <a:cs typeface="Calibri" pitchFamily="34" charset="-120"/>
              </a:rPr>
              <a:t>#1 ABSOLU</a:t>
            </a:r>
            <a:endParaRPr lang="en-US" sz="900" dirty="0"/>
          </a:p>
        </p:txBody>
      </p:sp>
      <p:sp>
        <p:nvSpPr>
          <p:cNvPr id="33" name="Shape 31"/>
          <p:cNvSpPr/>
          <p:nvPr/>
        </p:nvSpPr>
        <p:spPr>
          <a:xfrm>
            <a:off x="137160" y="4069080"/>
            <a:ext cx="11795760" cy="932688"/>
          </a:xfrm>
          <a:prstGeom prst="rect">
            <a:avLst/>
          </a:prstGeom>
          <a:solidFill>
            <a:srgbClr val="F0F4F8"/>
          </a:solidFill>
          <a:ln w="6350">
            <a:solidFill>
              <a:srgbClr val="E2E8F0"/>
            </a:solidFill>
            <a:prstDash val="solid"/>
          </a:ln>
        </p:spPr>
      </p:sp>
      <p:sp>
        <p:nvSpPr>
          <p:cNvPr id="34" name="Text 32"/>
          <p:cNvSpPr/>
          <p:nvPr/>
        </p:nvSpPr>
        <p:spPr>
          <a:xfrm>
            <a:off x="274320" y="4178808"/>
            <a:ext cx="2743200" cy="347472"/>
          </a:xfrm>
          <a:prstGeom prst="rect">
            <a:avLst/>
          </a:prstGeom>
          <a:noFill/>
          <a:ln/>
        </p:spPr>
        <p:txBody>
          <a:bodyPr wrap="square" rtlCol="0" anchor="ctr"/>
          <a:lstStyle/>
          <a:p>
            <a:pPr indent="0" marL="0">
              <a:buNone/>
            </a:pPr>
            <a:r>
              <a:rPr lang="en-US" sz="1300" b="1" dirty="0">
                <a:solidFill>
                  <a:srgbClr val="0D2243"/>
                </a:solidFill>
                <a:latin typeface="Calibri" pitchFamily="34" charset="0"/>
                <a:ea typeface="Calibri" pitchFamily="34" charset="-122"/>
                <a:cs typeface="Calibri" pitchFamily="34" charset="-120"/>
              </a:rPr>
              <a:t>HINTERLAND IMPORT</a:t>
            </a:r>
            <a:endParaRPr lang="en-US" sz="1300" dirty="0"/>
          </a:p>
        </p:txBody>
      </p:sp>
      <p:sp>
        <p:nvSpPr>
          <p:cNvPr id="35" name="Text 33"/>
          <p:cNvSpPr/>
          <p:nvPr/>
        </p:nvSpPr>
        <p:spPr>
          <a:xfrm>
            <a:off x="274320" y="4544568"/>
            <a:ext cx="27432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28 457 TEU  |  AGL : 3 214 TEU</a:t>
            </a:r>
            <a:endParaRPr lang="en-US" sz="900" dirty="0"/>
          </a:p>
        </p:txBody>
      </p:sp>
      <p:sp>
        <p:nvSpPr>
          <p:cNvPr id="36" name="Shape 34"/>
          <p:cNvSpPr/>
          <p:nvPr/>
        </p:nvSpPr>
        <p:spPr>
          <a:xfrm>
            <a:off x="3108960" y="4325112"/>
            <a:ext cx="6858000" cy="347472"/>
          </a:xfrm>
          <a:prstGeom prst="rect">
            <a:avLst/>
          </a:prstGeom>
          <a:solidFill>
            <a:srgbClr val="D1D5DB"/>
          </a:solidFill>
          <a:ln/>
        </p:spPr>
      </p:sp>
      <p:sp>
        <p:nvSpPr>
          <p:cNvPr id="37" name="Shape 35"/>
          <p:cNvSpPr/>
          <p:nvPr/>
        </p:nvSpPr>
        <p:spPr>
          <a:xfrm>
            <a:off x="3108960" y="4325112"/>
            <a:ext cx="1172396" cy="347472"/>
          </a:xfrm>
          <a:prstGeom prst="rect">
            <a:avLst/>
          </a:prstGeom>
          <a:solidFill>
            <a:srgbClr val="E05A00"/>
          </a:solidFill>
          <a:ln/>
        </p:spPr>
      </p:sp>
      <p:sp>
        <p:nvSpPr>
          <p:cNvPr id="38" name="Text 36"/>
          <p:cNvSpPr/>
          <p:nvPr/>
        </p:nvSpPr>
        <p:spPr>
          <a:xfrm>
            <a:off x="4372796" y="4251960"/>
            <a:ext cx="1097280" cy="475488"/>
          </a:xfrm>
          <a:prstGeom prst="rect">
            <a:avLst/>
          </a:prstGeom>
          <a:noFill/>
          <a:ln/>
        </p:spPr>
        <p:txBody>
          <a:bodyPr wrap="square" rtlCol="0" anchor="ctr"/>
          <a:lstStyle/>
          <a:p>
            <a:pPr indent="0" marL="0">
              <a:buNone/>
            </a:pPr>
            <a:r>
              <a:rPr lang="en-US" sz="2000" b="1" dirty="0">
                <a:solidFill>
                  <a:srgbClr val="E05A00"/>
                </a:solidFill>
                <a:latin typeface="Calibri" pitchFamily="34" charset="0"/>
                <a:ea typeface="Calibri" pitchFamily="34" charset="-122"/>
                <a:cs typeface="Calibri" pitchFamily="34" charset="-120"/>
              </a:rPr>
              <a:t>11.3 %</a:t>
            </a:r>
            <a:endParaRPr lang="en-US" sz="2000" dirty="0"/>
          </a:p>
        </p:txBody>
      </p:sp>
      <p:sp>
        <p:nvSpPr>
          <p:cNvPr id="39" name="Shape 37"/>
          <p:cNvSpPr/>
          <p:nvPr/>
        </p:nvSpPr>
        <p:spPr>
          <a:xfrm>
            <a:off x="10149840" y="4142232"/>
            <a:ext cx="1691640" cy="292608"/>
          </a:xfrm>
          <a:prstGeom prst="rect">
            <a:avLst/>
          </a:prstGeom>
          <a:solidFill>
            <a:srgbClr val="E05A00"/>
          </a:solidFill>
          <a:ln/>
        </p:spPr>
      </p:sp>
      <p:sp>
        <p:nvSpPr>
          <p:cNvPr id="40" name="Text 38"/>
          <p:cNvSpPr/>
          <p:nvPr/>
        </p:nvSpPr>
        <p:spPr>
          <a:xfrm>
            <a:off x="10149840" y="4142232"/>
            <a:ext cx="169164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À RENFORCER</a:t>
            </a:r>
            <a:endParaRPr lang="en-US" sz="900" dirty="0"/>
          </a:p>
        </p:txBody>
      </p:sp>
      <p:sp>
        <p:nvSpPr>
          <p:cNvPr id="41" name="Text 39"/>
          <p:cNvSpPr/>
          <p:nvPr/>
        </p:nvSpPr>
        <p:spPr>
          <a:xfrm>
            <a:off x="10149840" y="4507992"/>
            <a:ext cx="1691640" cy="256032"/>
          </a:xfrm>
          <a:prstGeom prst="rect">
            <a:avLst/>
          </a:prstGeom>
          <a:noFill/>
          <a:ln/>
        </p:spPr>
        <p:txBody>
          <a:bodyPr wrap="square" rtlCol="0" anchor="ctr"/>
          <a:lstStyle/>
          <a:p>
            <a:pPr algn="ctr" indent="0" marL="0">
              <a:buNone/>
            </a:pPr>
            <a:r>
              <a:rPr lang="en-US" sz="900" b="1" dirty="0">
                <a:solidFill>
                  <a:srgbClr val="E05A00"/>
                </a:solidFill>
                <a:latin typeface="Calibri" pitchFamily="34" charset="0"/>
                <a:ea typeface="Calibri" pitchFamily="34" charset="-122"/>
                <a:cs typeface="Calibri" pitchFamily="34" charset="-120"/>
              </a:rPr>
              <a:t>#3</a:t>
            </a:r>
            <a:endParaRPr lang="en-US" sz="900" dirty="0"/>
          </a:p>
        </p:txBody>
      </p:sp>
      <p:sp>
        <p:nvSpPr>
          <p:cNvPr id="42" name="Shape 40"/>
          <p:cNvSpPr/>
          <p:nvPr/>
        </p:nvSpPr>
        <p:spPr>
          <a:xfrm>
            <a:off x="137160" y="5074920"/>
            <a:ext cx="11795760" cy="932688"/>
          </a:xfrm>
          <a:prstGeom prst="rect">
            <a:avLst/>
          </a:prstGeom>
          <a:solidFill>
            <a:srgbClr val="F0F4F8"/>
          </a:solidFill>
          <a:ln w="6350">
            <a:solidFill>
              <a:srgbClr val="E2E8F0"/>
            </a:solidFill>
            <a:prstDash val="solid"/>
          </a:ln>
        </p:spPr>
      </p:sp>
      <p:sp>
        <p:nvSpPr>
          <p:cNvPr id="43" name="Text 41"/>
          <p:cNvSpPr/>
          <p:nvPr/>
        </p:nvSpPr>
        <p:spPr>
          <a:xfrm>
            <a:off x="274320" y="5184648"/>
            <a:ext cx="2743200" cy="347472"/>
          </a:xfrm>
          <a:prstGeom prst="rect">
            <a:avLst/>
          </a:prstGeom>
          <a:noFill/>
          <a:ln/>
        </p:spPr>
        <p:txBody>
          <a:bodyPr wrap="square" rtlCol="0" anchor="ctr"/>
          <a:lstStyle/>
          <a:p>
            <a:pPr indent="0" marL="0">
              <a:buNone/>
            </a:pPr>
            <a:r>
              <a:rPr lang="en-US" sz="1300" b="1" dirty="0">
                <a:solidFill>
                  <a:srgbClr val="0D2243"/>
                </a:solidFill>
                <a:latin typeface="Calibri" pitchFamily="34" charset="0"/>
                <a:ea typeface="Calibri" pitchFamily="34" charset="-122"/>
                <a:cs typeface="Calibri" pitchFamily="34" charset="-120"/>
              </a:rPr>
              <a:t>TRANSIT IMPORT MAR.</a:t>
            </a:r>
            <a:endParaRPr lang="en-US" sz="1300" dirty="0"/>
          </a:p>
        </p:txBody>
      </p:sp>
      <p:sp>
        <p:nvSpPr>
          <p:cNvPr id="44" name="Text 42"/>
          <p:cNvSpPr/>
          <p:nvPr/>
        </p:nvSpPr>
        <p:spPr>
          <a:xfrm>
            <a:off x="274320" y="5550408"/>
            <a:ext cx="27432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193 989 TEU  |  AGL : 15 133 TEU</a:t>
            </a:r>
            <a:endParaRPr lang="en-US" sz="900" dirty="0"/>
          </a:p>
        </p:txBody>
      </p:sp>
      <p:sp>
        <p:nvSpPr>
          <p:cNvPr id="45" name="Shape 43"/>
          <p:cNvSpPr/>
          <p:nvPr/>
        </p:nvSpPr>
        <p:spPr>
          <a:xfrm>
            <a:off x="3108960" y="5330952"/>
            <a:ext cx="6858000" cy="347472"/>
          </a:xfrm>
          <a:prstGeom prst="rect">
            <a:avLst/>
          </a:prstGeom>
          <a:solidFill>
            <a:srgbClr val="D1D5DB"/>
          </a:solidFill>
          <a:ln/>
        </p:spPr>
      </p:sp>
      <p:sp>
        <p:nvSpPr>
          <p:cNvPr id="46" name="Shape 44"/>
          <p:cNvSpPr/>
          <p:nvPr/>
        </p:nvSpPr>
        <p:spPr>
          <a:xfrm>
            <a:off x="3108960" y="5330952"/>
            <a:ext cx="809265" cy="347472"/>
          </a:xfrm>
          <a:prstGeom prst="rect">
            <a:avLst/>
          </a:prstGeom>
          <a:solidFill>
            <a:srgbClr val="E05A00"/>
          </a:solidFill>
          <a:ln/>
        </p:spPr>
      </p:sp>
      <p:sp>
        <p:nvSpPr>
          <p:cNvPr id="47" name="Text 45"/>
          <p:cNvSpPr/>
          <p:nvPr/>
        </p:nvSpPr>
        <p:spPr>
          <a:xfrm>
            <a:off x="4009665" y="5257800"/>
            <a:ext cx="1097280" cy="475488"/>
          </a:xfrm>
          <a:prstGeom prst="rect">
            <a:avLst/>
          </a:prstGeom>
          <a:noFill/>
          <a:ln/>
        </p:spPr>
        <p:txBody>
          <a:bodyPr wrap="square" rtlCol="0" anchor="ctr"/>
          <a:lstStyle/>
          <a:p>
            <a:pPr indent="0" marL="0">
              <a:buNone/>
            </a:pPr>
            <a:r>
              <a:rPr lang="en-US" sz="2000" b="1" dirty="0">
                <a:solidFill>
                  <a:srgbClr val="E05A00"/>
                </a:solidFill>
                <a:latin typeface="Calibri" pitchFamily="34" charset="0"/>
                <a:ea typeface="Calibri" pitchFamily="34" charset="-122"/>
                <a:cs typeface="Calibri" pitchFamily="34" charset="-120"/>
              </a:rPr>
              <a:t>7.8 %</a:t>
            </a:r>
            <a:endParaRPr lang="en-US" sz="2000" dirty="0"/>
          </a:p>
        </p:txBody>
      </p:sp>
      <p:sp>
        <p:nvSpPr>
          <p:cNvPr id="48" name="Shape 46"/>
          <p:cNvSpPr/>
          <p:nvPr/>
        </p:nvSpPr>
        <p:spPr>
          <a:xfrm>
            <a:off x="10149840" y="5148072"/>
            <a:ext cx="1691640" cy="292608"/>
          </a:xfrm>
          <a:prstGeom prst="rect">
            <a:avLst/>
          </a:prstGeom>
          <a:solidFill>
            <a:srgbClr val="E05A00"/>
          </a:solidFill>
          <a:ln/>
        </p:spPr>
      </p:sp>
      <p:sp>
        <p:nvSpPr>
          <p:cNvPr id="49" name="Text 47"/>
          <p:cNvSpPr/>
          <p:nvPr/>
        </p:nvSpPr>
        <p:spPr>
          <a:xfrm>
            <a:off x="10149840" y="5148072"/>
            <a:ext cx="169164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SOUS PRESSION</a:t>
            </a:r>
            <a:endParaRPr lang="en-US" sz="900" dirty="0"/>
          </a:p>
        </p:txBody>
      </p:sp>
      <p:sp>
        <p:nvSpPr>
          <p:cNvPr id="50" name="Text 48"/>
          <p:cNvSpPr/>
          <p:nvPr/>
        </p:nvSpPr>
        <p:spPr>
          <a:xfrm>
            <a:off x="10149840" y="5513832"/>
            <a:ext cx="1691640" cy="256032"/>
          </a:xfrm>
          <a:prstGeom prst="rect">
            <a:avLst/>
          </a:prstGeom>
          <a:noFill/>
          <a:ln/>
        </p:spPr>
        <p:txBody>
          <a:bodyPr wrap="square" rtlCol="0" anchor="ctr"/>
          <a:lstStyle/>
          <a:p>
            <a:pPr algn="ctr" indent="0" marL="0">
              <a:buNone/>
            </a:pPr>
            <a:r>
              <a:rPr lang="en-US" sz="900" b="1" dirty="0">
                <a:solidFill>
                  <a:srgbClr val="E05A00"/>
                </a:solidFill>
                <a:latin typeface="Calibri" pitchFamily="34" charset="0"/>
                <a:ea typeface="Calibri" pitchFamily="34" charset="-122"/>
                <a:cs typeface="Calibri" pitchFamily="34" charset="-120"/>
              </a:rPr>
              <a:t>#1 FRAGILE</a:t>
            </a:r>
            <a:endParaRPr lang="en-US" sz="900" dirty="0"/>
          </a:p>
        </p:txBody>
      </p:sp>
      <p:sp>
        <p:nvSpPr>
          <p:cNvPr id="51" name="Shape 49"/>
          <p:cNvSpPr/>
          <p:nvPr/>
        </p:nvSpPr>
        <p:spPr>
          <a:xfrm>
            <a:off x="137160" y="6144768"/>
            <a:ext cx="11795760" cy="292608"/>
          </a:xfrm>
          <a:prstGeom prst="rect">
            <a:avLst/>
          </a:prstGeom>
          <a:solidFill>
            <a:srgbClr val="0D2243"/>
          </a:solidFill>
          <a:ln/>
        </p:spPr>
      </p:sp>
      <p:sp>
        <p:nvSpPr>
          <p:cNvPr id="52" name="Text 50"/>
          <p:cNvSpPr/>
          <p:nvPr/>
        </p:nvSpPr>
        <p:spPr>
          <a:xfrm>
            <a:off x="228600" y="6144768"/>
            <a:ext cx="11612880" cy="292608"/>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3 métiers sur 5 en position #1  |  TIM leader fragile (+558 TEU)  |  Hint.Imp. seul segment à conquérir (#3)  |  Aérien : montée en puissance historique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2026-06-22T10:14:52Z</dcterms:created>
  <dcterms:modified xsi:type="dcterms:W3CDTF">2026-06-22T10:14:52Z</dcterms:modified>
</cp:coreProperties>
</file>